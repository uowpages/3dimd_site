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20" r:id="rId48"/>
    <p:sldId id="321" r:id="rId49"/>
    <p:sldId id="322" r:id="rId50"/>
    <p:sldId id="323" r:id="rId51"/>
    <p:sldId id="319"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2000" cy="6858000"/>
  <p:notesSz cx="6858000" cy="9144000"/>
  <p:embeddedFontLst>
    <p:embeddedFont>
      <p:font typeface="Inter" panose="020B0604020202020204" charset="0"/>
      <p:regular r:id="rId71"/>
      <p:bold r:id="rId72"/>
    </p:embeddedFont>
    <p:embeddedFont>
      <p:font typeface="Quattrocento Sans" panose="020B0502050000020003"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jt025d4otsoky4qdfC04erPQ22j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10A58F-14A4-D7DE-F72C-46A80B16A4A0}" v="411" dt="2025-12-09T12:21:34.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F48FD6C2-4EF0-0D6F-198E-8B5579EEF121}"/>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754849C0-9C2C-0F99-4949-0A14AFFDC8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44C912D3-7D52-66BD-EBA6-4DCA95B22A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A00584C4-050D-23B2-06CB-FA58780D2FD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extLst>
      <p:ext uri="{BB962C8B-B14F-4D97-AF65-F5344CB8AC3E}">
        <p14:creationId xmlns:p14="http://schemas.microsoft.com/office/powerpoint/2010/main" val="5308385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51C4F43A-A27F-11BB-A5CF-F964BDF08F46}"/>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1BF945E-8ABA-064F-8E7A-175FC6B21A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3146E510-1023-1207-87F8-5F89B9BEBC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D08848E2-C37F-C2CF-BEFF-8BD96F5A033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extLst>
      <p:ext uri="{BB962C8B-B14F-4D97-AF65-F5344CB8AC3E}">
        <p14:creationId xmlns:p14="http://schemas.microsoft.com/office/powerpoint/2010/main" val="27309238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A4C1B20C-0B6D-B401-2952-81D07EF990E5}"/>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32182B8-E671-B528-97D8-2360BBA9E3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72F16236-F374-FF6D-59BF-48A080F0CB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0B6F937E-C310-91C0-8695-546DC85D7B1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48</a:t>
            </a:fld>
            <a:endParaRPr/>
          </a:p>
        </p:txBody>
      </p:sp>
    </p:spTree>
    <p:extLst>
      <p:ext uri="{BB962C8B-B14F-4D97-AF65-F5344CB8AC3E}">
        <p14:creationId xmlns:p14="http://schemas.microsoft.com/office/powerpoint/2010/main" val="31207841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180421FF-920D-A6FA-6DE4-1B9829E1D7DD}"/>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2E760A66-A9EE-5846-0A78-392E18F7EC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E241BD43-E3E0-17B0-C776-E2D49C4E5D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67AF8C50-2E1B-2E58-2D62-5C0798F1D79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extLst>
      <p:ext uri="{BB962C8B-B14F-4D97-AF65-F5344CB8AC3E}">
        <p14:creationId xmlns:p14="http://schemas.microsoft.com/office/powerpoint/2010/main" val="42941479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577902F8-C6BA-B9BD-E1B3-8212541D26E1}"/>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5DA400C2-3AFB-97CE-BC78-6510F855BE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EE0CEF14-DBAE-FF53-2C08-2A953A4A57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E65A7D13-D358-ED3B-4D36-434F546E508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extLst>
      <p:ext uri="{BB962C8B-B14F-4D97-AF65-F5344CB8AC3E}">
        <p14:creationId xmlns:p14="http://schemas.microsoft.com/office/powerpoint/2010/main" val="30712528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0FBFD225-A7C7-3E5F-EFF4-B28CBCED4924}"/>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2C52489C-092C-D679-02A5-3D3083832C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28968F9C-A7E2-4906-07CE-B5FA7A4FCE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F78035D2-C46D-E798-119D-684F63D03E2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51</a:t>
            </a:fld>
            <a:endParaRPr/>
          </a:p>
        </p:txBody>
      </p:sp>
    </p:spTree>
    <p:extLst>
      <p:ext uri="{BB962C8B-B14F-4D97-AF65-F5344CB8AC3E}">
        <p14:creationId xmlns:p14="http://schemas.microsoft.com/office/powerpoint/2010/main" val="39722115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C24080D1-DD0E-8CC5-5B6D-3C11F7A8E6A5}"/>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C30BB2E2-EBE3-754A-60D4-7239F09581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0E3C8976-FBB9-E98C-B765-154F0C2652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388A2E4E-6BA2-3E5D-16C4-5560B501C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52</a:t>
            </a:fld>
            <a:endParaRPr/>
          </a:p>
        </p:txBody>
      </p:sp>
    </p:spTree>
    <p:extLst>
      <p:ext uri="{BB962C8B-B14F-4D97-AF65-F5344CB8AC3E}">
        <p14:creationId xmlns:p14="http://schemas.microsoft.com/office/powerpoint/2010/main" val="42866343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8FC172C8-D8D4-E792-4829-2B0705065190}"/>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FE82678-44FE-175B-26F0-29522CB6BD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0835C709-6DD6-EBD1-B03D-04A4F6D906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8D0F6A36-6A24-70AF-2EB3-D04E536DF9E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53</a:t>
            </a:fld>
            <a:endParaRPr/>
          </a:p>
        </p:txBody>
      </p:sp>
    </p:spTree>
    <p:extLst>
      <p:ext uri="{BB962C8B-B14F-4D97-AF65-F5344CB8AC3E}">
        <p14:creationId xmlns:p14="http://schemas.microsoft.com/office/powerpoint/2010/main" val="30496802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1F1E922B-67D6-486D-EC51-CE856334466B}"/>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32D3EF3F-2F17-A42E-4E0C-CCC23F525E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C1C88C4D-768E-ECDC-64ED-1D4312DD8B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A899AA48-9A53-DBA0-CC1C-177C7994E1C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54</a:t>
            </a:fld>
            <a:endParaRPr/>
          </a:p>
        </p:txBody>
      </p:sp>
    </p:spTree>
    <p:extLst>
      <p:ext uri="{BB962C8B-B14F-4D97-AF65-F5344CB8AC3E}">
        <p14:creationId xmlns:p14="http://schemas.microsoft.com/office/powerpoint/2010/main" val="9415934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40C2DD6E-C5E5-939C-CB2E-C72AA6A9C3A4}"/>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0430DFD2-FC61-D46C-D125-C3AED9078F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113C900A-92E7-831A-3D5C-23D281BAA6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57827CDA-B89E-896B-7D2C-DC174E2250A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55</a:t>
            </a:fld>
            <a:endParaRPr/>
          </a:p>
        </p:txBody>
      </p:sp>
    </p:spTree>
    <p:extLst>
      <p:ext uri="{BB962C8B-B14F-4D97-AF65-F5344CB8AC3E}">
        <p14:creationId xmlns:p14="http://schemas.microsoft.com/office/powerpoint/2010/main" val="1972675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D8F6C052-335B-9C3E-C9D4-D0DEC3466BD7}"/>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46781B86-D13F-B971-E4BF-F5C5E5424E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691F342A-A5A5-6F99-282D-A2C6980832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274693F4-42B1-B456-C958-905839CE455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56</a:t>
            </a:fld>
            <a:endParaRPr/>
          </a:p>
        </p:txBody>
      </p:sp>
    </p:spTree>
    <p:extLst>
      <p:ext uri="{BB962C8B-B14F-4D97-AF65-F5344CB8AC3E}">
        <p14:creationId xmlns:p14="http://schemas.microsoft.com/office/powerpoint/2010/main" val="33365568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A0BA7E9B-9DC4-A4D3-8710-D0F42B58C83B}"/>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848FF960-3812-B329-5661-CF8A18EBC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FB27D5CD-6D74-E88F-5CFB-AD2C6BDF26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095F3686-DA73-812E-979A-743E8AD11B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57</a:t>
            </a:fld>
            <a:endParaRPr/>
          </a:p>
        </p:txBody>
      </p:sp>
    </p:spTree>
    <p:extLst>
      <p:ext uri="{BB962C8B-B14F-4D97-AF65-F5344CB8AC3E}">
        <p14:creationId xmlns:p14="http://schemas.microsoft.com/office/powerpoint/2010/main" val="2886130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6635761B-3123-1E44-8CCB-C868946B5BCE}"/>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375BC1E5-51D4-3E3E-2E70-02A45C48CD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66C2AB02-5229-E44E-BB46-2C725ECBC4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2BA38487-0AC3-019D-E867-7E2E2C84C88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58</a:t>
            </a:fld>
            <a:endParaRPr/>
          </a:p>
        </p:txBody>
      </p:sp>
    </p:spTree>
    <p:extLst>
      <p:ext uri="{BB962C8B-B14F-4D97-AF65-F5344CB8AC3E}">
        <p14:creationId xmlns:p14="http://schemas.microsoft.com/office/powerpoint/2010/main" val="35532682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1A8FBCE3-BA59-8ED7-C374-E47EC9DE422C}"/>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1F7068D5-9370-6D88-8B12-ED3DFEB185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D4CB10BF-290C-FFA2-3FEC-E7DAC4D0BB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E39733DD-ECA6-A1F2-A0F2-081E7AB2074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59</a:t>
            </a:fld>
            <a:endParaRPr/>
          </a:p>
        </p:txBody>
      </p:sp>
    </p:spTree>
    <p:extLst>
      <p:ext uri="{BB962C8B-B14F-4D97-AF65-F5344CB8AC3E}">
        <p14:creationId xmlns:p14="http://schemas.microsoft.com/office/powerpoint/2010/main" val="41434545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4248E3C2-DF57-F068-135D-8F2C5B2FA9B9}"/>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A3F45EA-426F-F398-7AEB-598DD161B8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D2836460-3AAB-2A92-5C59-8FAB99FD10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0825D476-BA41-8F99-A7E8-55791BA9A77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60</a:t>
            </a:fld>
            <a:endParaRPr/>
          </a:p>
        </p:txBody>
      </p:sp>
    </p:spTree>
    <p:extLst>
      <p:ext uri="{BB962C8B-B14F-4D97-AF65-F5344CB8AC3E}">
        <p14:creationId xmlns:p14="http://schemas.microsoft.com/office/powerpoint/2010/main" val="23606083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E1D314C3-4353-D053-0691-A6BD4B4BD0CA}"/>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762A40AE-6296-F33E-8275-5A239399AA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A69DE678-0A79-1E0E-7ADB-401750FA8CE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366E52AE-1B42-6AB8-C1C5-DA2114AAF68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61</a:t>
            </a:fld>
            <a:endParaRPr/>
          </a:p>
        </p:txBody>
      </p:sp>
    </p:spTree>
    <p:extLst>
      <p:ext uri="{BB962C8B-B14F-4D97-AF65-F5344CB8AC3E}">
        <p14:creationId xmlns:p14="http://schemas.microsoft.com/office/powerpoint/2010/main" val="28128810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5C8A41C7-6A38-508B-6F9E-0B8717212C91}"/>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52AF1E05-1201-0255-A4B5-CC6E9645A6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437996D4-3BAF-977B-28A9-03313ACC34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7132C334-D5C8-4F40-5C8F-17F17330D0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62</a:t>
            </a:fld>
            <a:endParaRPr/>
          </a:p>
        </p:txBody>
      </p:sp>
    </p:spTree>
    <p:extLst>
      <p:ext uri="{BB962C8B-B14F-4D97-AF65-F5344CB8AC3E}">
        <p14:creationId xmlns:p14="http://schemas.microsoft.com/office/powerpoint/2010/main" val="7131843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4631A3E5-2D4F-A8EB-286D-0C703B32B1CB}"/>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AA93E04-0CA4-20E7-2601-0BA7CC7504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4B7B9B42-EC1E-562B-37ED-E23E588491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4C6E2B02-9764-B7F3-DAD2-9EA7B49A9D1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63</a:t>
            </a:fld>
            <a:endParaRPr/>
          </a:p>
        </p:txBody>
      </p:sp>
    </p:spTree>
    <p:extLst>
      <p:ext uri="{BB962C8B-B14F-4D97-AF65-F5344CB8AC3E}">
        <p14:creationId xmlns:p14="http://schemas.microsoft.com/office/powerpoint/2010/main" val="32277036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C99AD4C2-03E6-EC6E-8538-F41D7DE00845}"/>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C1CB4A56-5259-DF0B-3C9C-9987C97D39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FF10FC3E-02E8-5AC5-8D71-5143774F5F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2B8A022B-CCCD-8F06-57C8-8C8EF152412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64</a:t>
            </a:fld>
            <a:endParaRPr/>
          </a:p>
        </p:txBody>
      </p:sp>
    </p:spTree>
    <p:extLst>
      <p:ext uri="{BB962C8B-B14F-4D97-AF65-F5344CB8AC3E}">
        <p14:creationId xmlns:p14="http://schemas.microsoft.com/office/powerpoint/2010/main" val="20232829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D2324CF0-25AC-E4AB-AFA8-1942A2350237}"/>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230291A0-911A-4232-58B8-4145B98A9A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8BF80A13-41EE-924A-26F2-C1108A9E8C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32BD8070-220C-990F-9E57-0FF20D1D0E9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65</a:t>
            </a:fld>
            <a:endParaRPr/>
          </a:p>
        </p:txBody>
      </p:sp>
    </p:spTree>
    <p:extLst>
      <p:ext uri="{BB962C8B-B14F-4D97-AF65-F5344CB8AC3E}">
        <p14:creationId xmlns:p14="http://schemas.microsoft.com/office/powerpoint/2010/main" val="39858705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92925523-9D00-941E-EFFB-EADC61248ABC}"/>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859D5B16-B399-4A92-12C8-A3E59D8556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871E2420-E00E-4E2D-DB72-ACD6AE4574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8F120217-5E5E-0800-AFEC-5DA11B47A3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66</a:t>
            </a:fld>
            <a:endParaRPr/>
          </a:p>
        </p:txBody>
      </p:sp>
    </p:spTree>
    <p:extLst>
      <p:ext uri="{BB962C8B-B14F-4D97-AF65-F5344CB8AC3E}">
        <p14:creationId xmlns:p14="http://schemas.microsoft.com/office/powerpoint/2010/main" val="7138187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017EDE1F-1655-EACD-CD7C-C827D06A2E16}"/>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954A31CF-0877-1E45-1387-886A0996EF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69459C93-3A58-B39F-2CE7-F0F3B02F85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6EA56198-CDE2-4C70-23A0-452E4B4FFD9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67</a:t>
            </a:fld>
            <a:endParaRPr/>
          </a:p>
        </p:txBody>
      </p:sp>
    </p:spTree>
    <p:extLst>
      <p:ext uri="{BB962C8B-B14F-4D97-AF65-F5344CB8AC3E}">
        <p14:creationId xmlns:p14="http://schemas.microsoft.com/office/powerpoint/2010/main" val="35295598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a:extLst>
            <a:ext uri="{FF2B5EF4-FFF2-40B4-BE49-F238E27FC236}">
              <a16:creationId xmlns:a16="http://schemas.microsoft.com/office/drawing/2014/main" id="{A56BB960-405A-6610-F959-40946F5E9B57}"/>
            </a:ext>
          </a:extLst>
        </p:cNvPr>
        <p:cNvGrpSpPr/>
        <p:nvPr/>
      </p:nvGrpSpPr>
      <p:grpSpPr>
        <a:xfrm>
          <a:off x="0" y="0"/>
          <a:ext cx="0" cy="0"/>
          <a:chOff x="0" y="0"/>
          <a:chExt cx="0" cy="0"/>
        </a:xfrm>
      </p:grpSpPr>
      <p:sp>
        <p:nvSpPr>
          <p:cNvPr id="358" name="Google Shape;358;p45:notes">
            <a:extLst>
              <a:ext uri="{FF2B5EF4-FFF2-40B4-BE49-F238E27FC236}">
                <a16:creationId xmlns:a16="http://schemas.microsoft.com/office/drawing/2014/main" id="{37CE05F4-9B20-561C-A623-BF66B3E042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5:notes">
            <a:extLst>
              <a:ext uri="{FF2B5EF4-FFF2-40B4-BE49-F238E27FC236}">
                <a16:creationId xmlns:a16="http://schemas.microsoft.com/office/drawing/2014/main" id="{65191D20-165F-B190-C13D-407D1ABBD6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5:notes">
            <a:extLst>
              <a:ext uri="{FF2B5EF4-FFF2-40B4-BE49-F238E27FC236}">
                <a16:creationId xmlns:a16="http://schemas.microsoft.com/office/drawing/2014/main" id="{107C6529-90E8-82C3-C4C2-9564FBDF708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68</a:t>
            </a:fld>
            <a:endParaRPr/>
          </a:p>
        </p:txBody>
      </p:sp>
    </p:spTree>
    <p:extLst>
      <p:ext uri="{BB962C8B-B14F-4D97-AF65-F5344CB8AC3E}">
        <p14:creationId xmlns:p14="http://schemas.microsoft.com/office/powerpoint/2010/main" val="353405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48"/>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8"/>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4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5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0"/>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51"/>
          <p:cNvSpPr/>
          <p:nvPr/>
        </p:nvSpPr>
        <p:spPr>
          <a:xfrm>
            <a:off x="6216395" y="1556056"/>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51"/>
          <p:cNvSpPr/>
          <p:nvPr/>
        </p:nvSpPr>
        <p:spPr>
          <a:xfrm>
            <a:off x="638677" y="1556792"/>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5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1"/>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51"/>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51"/>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51"/>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51">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51">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5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52">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47"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47"/>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47">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47">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47"/>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geomerics.com/enlighte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unity3d.com/Manual/GIIntro.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unity3d.com/learn/tutorials/topics/graphics/unity-5-lighting-overview?playlist=17102"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unity3d.com/learn/tutorials/topics/graphics/unity-5-lighting-overview?playlist=17102"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hyperlink" Target="https://docs.unity3d.com/Manual/LinearLighting.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renderman.pixar.com/view/LinearWorkflow"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vJ6IS2iIiQ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fD_ho_ofY6A"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fD_ho_ofY6A"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ocs.unity3d.com/Manual/StandardShaderMaterialCharts.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fD_ho_ofY6A"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vJ6IS2iIiQg"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44.xml.rels><?xml version="1.0" encoding="UTF-8" standalone="yes"?>
<Relationships xmlns="http://schemas.openxmlformats.org/package/2006/relationships"><Relationship Id="rId3" Type="http://schemas.openxmlformats.org/officeDocument/2006/relationships/hyperlink" Target="https://learn.unity.com/tutorial/introduction-to-lighting-and-rendering-2019-3"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www.youtube.com/watch?v=fD_ho_ofY6A"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Ukkiqe_75d0"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hyperlink" Target="https://www.youtube.com/watch?v=h5GFoI38DOg"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dirty="0"/>
          </a:p>
        </p:txBody>
      </p:sp>
      <p:sp>
        <p:nvSpPr>
          <p:cNvPr id="44" name="Google Shape;44;p1"/>
          <p:cNvSpPr txBox="1">
            <a:spLocks noGrp="1"/>
          </p:cNvSpPr>
          <p:nvPr>
            <p:ph type="subTitle" idx="1"/>
          </p:nvPr>
        </p:nvSpPr>
        <p:spPr>
          <a:xfrm>
            <a:off x="918030" y="3144592"/>
            <a:ext cx="10357616" cy="2570408"/>
          </a:xfrm>
          <a:prstGeom prst="rect">
            <a:avLst/>
          </a:prstGeom>
          <a:noFill/>
          <a:ln>
            <a:noFill/>
          </a:ln>
        </p:spPr>
        <p:txBody>
          <a:bodyPr spcFirstLastPara="1" wrap="square" lIns="91425" tIns="45700" rIns="91425" bIns="45700" anchor="t" anchorCtr="0">
            <a:normAutofit/>
          </a:bodyPr>
          <a:lstStyle/>
          <a:p>
            <a:pPr marL="0" indent="0">
              <a:spcBef>
                <a:spcPts val="0"/>
              </a:spcBef>
              <a:buClr>
                <a:srgbClr val="FFFF00"/>
              </a:buClr>
            </a:pPr>
            <a:r>
              <a:rPr lang="en-GB" b="1" dirty="0">
                <a:solidFill>
                  <a:srgbClr val="FFFF00"/>
                </a:solidFill>
              </a:rPr>
              <a:t>5MMCS001W										                 Lecture 12</a:t>
            </a:r>
            <a:endParaRPr dirty="0"/>
          </a:p>
          <a:p>
            <a:pPr marL="0" lvl="0" indent="0" algn="l" rtl="0">
              <a:spcBef>
                <a:spcPts val="560"/>
              </a:spcBef>
              <a:spcAft>
                <a:spcPts val="0"/>
              </a:spcAft>
              <a:buClr>
                <a:schemeClr val="dk1"/>
              </a:buClr>
              <a:buSzPts val="2800"/>
              <a:buNone/>
            </a:pPr>
            <a:endParaRPr b="1">
              <a:solidFill>
                <a:srgbClr val="FFFF00"/>
              </a:solidFill>
            </a:endParaRPr>
          </a:p>
          <a:p>
            <a:pPr marL="0" lvl="0" indent="0" algn="l" rtl="0">
              <a:spcBef>
                <a:spcPts val="560"/>
              </a:spcBef>
              <a:spcAft>
                <a:spcPts val="0"/>
              </a:spcAft>
              <a:buClr>
                <a:schemeClr val="dk1"/>
              </a:buClr>
              <a:buSzPts val="2800"/>
              <a:buNone/>
            </a:pPr>
            <a:endParaRPr b="1">
              <a:solidFill>
                <a:srgbClr val="FFFF00"/>
              </a:solidFill>
            </a:endParaRPr>
          </a:p>
          <a:p>
            <a:pPr marL="0" lvl="0" indent="0" algn="ctr" rtl="0">
              <a:spcBef>
                <a:spcPts val="560"/>
              </a:spcBef>
              <a:spcAft>
                <a:spcPts val="0"/>
              </a:spcAft>
              <a:buClr>
                <a:srgbClr val="FFFF00"/>
              </a:buClr>
              <a:buSzPts val="2800"/>
              <a:buNone/>
            </a:pPr>
            <a:r>
              <a:rPr lang="en-GB" b="1" dirty="0">
                <a:solidFill>
                  <a:srgbClr val="FFFF00"/>
                </a:solidFill>
              </a:rPr>
              <a:t>Unity Lighting and Shaders</a:t>
            </a:r>
            <a:endParaRPr b="1"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51" name="Google Shape;51;p2"/>
          <p:cNvSpPr txBox="1"/>
          <p:nvPr/>
        </p:nvSpPr>
        <p:spPr>
          <a:xfrm>
            <a:off x="609600" y="1421654"/>
            <a:ext cx="1089073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i="0" u="none" strike="noStrike" cap="none">
                <a:solidFill>
                  <a:srgbClr val="FFFF00"/>
                </a:solidFill>
                <a:latin typeface="Quattrocento Sans"/>
                <a:ea typeface="Quattrocento Sans"/>
                <a:cs typeface="Quattrocento Sans"/>
                <a:sym typeface="Quattrocento Sans"/>
              </a:rPr>
              <a:t>Unity Lighting, Shaders</a:t>
            </a: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58" name="Google Shape;58;p3"/>
          <p:cNvSpPr txBox="1"/>
          <p:nvPr/>
        </p:nvSpPr>
        <p:spPr>
          <a:xfrm>
            <a:off x="609600" y="1421654"/>
            <a:ext cx="10890738" cy="32316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Shaders</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Check Smoothness on Model:</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Smoothing group exports in Max Fbx Export</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Calculate Normals and Tangents in Unity </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(Import Setting window with object selected in Project)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65" name="Google Shape;65;p4"/>
          <p:cNvSpPr txBox="1"/>
          <p:nvPr/>
        </p:nvSpPr>
        <p:spPr>
          <a:xfrm>
            <a:off x="609600" y="1421654"/>
            <a:ext cx="10890738"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3 Types</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1. Direct – RealTime</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2. Baked Global Illumination (Lightmaps)</a:t>
            </a:r>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3. Precomputed Realtime Global Illumination</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72" name="Google Shape;72;p5"/>
          <p:cNvSpPr txBox="1"/>
          <p:nvPr/>
        </p:nvSpPr>
        <p:spPr>
          <a:xfrm>
            <a:off x="609600" y="1421654"/>
            <a:ext cx="10890738"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Real Time Lighting in Scene</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Lights in Unity by default are Realtime and Direct</a:t>
            </a:r>
            <a:endParaRPr/>
          </a:p>
          <a:p>
            <a:pPr marL="0" marR="0" lvl="0" indent="0" algn="l" rtl="0">
              <a:spcBef>
                <a:spcPts val="0"/>
              </a:spcBef>
              <a:spcAft>
                <a:spcPts val="0"/>
              </a:spcAft>
              <a:buNone/>
            </a:pPr>
            <a:br>
              <a:rPr lang="en-GB" sz="2400" b="1">
                <a:solidFill>
                  <a:srgbClr val="FFFF00"/>
                </a:solidFill>
                <a:latin typeface="Quattrocento Sans"/>
                <a:ea typeface="Quattrocento Sans"/>
                <a:cs typeface="Quattrocento Sans"/>
                <a:sym typeface="Quattrocento Sans"/>
              </a:rPr>
            </a:br>
            <a:r>
              <a:rPr lang="en-GB" sz="2400" b="1">
                <a:solidFill>
                  <a:srgbClr val="FFFF00"/>
                </a:solidFill>
                <a:latin typeface="Quattrocento Sans"/>
                <a:ea typeface="Quattrocento Sans"/>
                <a:cs typeface="Quattrocento Sans"/>
                <a:sym typeface="Quattrocento Sans"/>
              </a:rPr>
              <a:t>Features of Direct Lighting</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1. Shadows are Black</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2. Active Objects Lit</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3. Light Rays do not bounce</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4. Fast Calculations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5. Real Time</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79" name="Google Shape;79;p6"/>
          <p:cNvSpPr txBox="1"/>
          <p:nvPr/>
        </p:nvSpPr>
        <p:spPr>
          <a:xfrm>
            <a:off x="609600" y="1421654"/>
            <a:ext cx="10890600" cy="3601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Real Time Lighting in Scene</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Lights in Unity by default are Realtime and Direct</a:t>
            </a:r>
            <a:endParaRPr/>
          </a:p>
          <a:p>
            <a:pPr marL="0" marR="0" lvl="0" indent="0" algn="l" rtl="0">
              <a:spcBef>
                <a:spcPts val="0"/>
              </a:spcBef>
              <a:spcAft>
                <a:spcPts val="0"/>
              </a:spcAft>
              <a:buNone/>
            </a:pPr>
            <a:br>
              <a:rPr lang="en-GB" sz="2400" b="1">
                <a:solidFill>
                  <a:srgbClr val="FFFF00"/>
                </a:solidFill>
                <a:latin typeface="Quattrocento Sans"/>
                <a:ea typeface="Quattrocento Sans"/>
                <a:cs typeface="Quattrocento Sans"/>
                <a:sym typeface="Quattrocento Sans"/>
              </a:rPr>
            </a:br>
            <a:r>
              <a:rPr lang="en-GB" sz="2400" b="1">
                <a:solidFill>
                  <a:srgbClr val="FFFF00"/>
                </a:solidFill>
                <a:latin typeface="Quattrocento Sans"/>
                <a:ea typeface="Quattrocento Sans"/>
                <a:cs typeface="Quattrocento Sans"/>
                <a:sym typeface="Quattrocento Sans"/>
              </a:rPr>
              <a:t>Light Component:</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1. Directional – parallel, non-diverging light source, rotational only</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2. Spot – cone of light in +Z direction</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3. Point – point sphere light is emitted in all directions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4. Area – soft light in all directions from one side of plane (Baked only) </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86" name="Google Shape;86;p7"/>
          <p:cNvSpPr txBox="1"/>
          <p:nvPr/>
        </p:nvSpPr>
        <p:spPr>
          <a:xfrm>
            <a:off x="609600" y="1421654"/>
            <a:ext cx="10890738" cy="32316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Real Time Lighting in Scene</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Lights in Unity by default are Realtime and Direct</a:t>
            </a:r>
            <a:endParaRPr/>
          </a:p>
          <a:p>
            <a:pPr marL="0" marR="0" lvl="0" indent="0" algn="l" rtl="0">
              <a:spcBef>
                <a:spcPts val="0"/>
              </a:spcBef>
              <a:spcAft>
                <a:spcPts val="0"/>
              </a:spcAft>
              <a:buNone/>
            </a:pPr>
            <a:br>
              <a:rPr lang="en-GB" sz="2400" b="1">
                <a:solidFill>
                  <a:srgbClr val="FFFF00"/>
                </a:solidFill>
                <a:latin typeface="Quattrocento Sans"/>
                <a:ea typeface="Quattrocento Sans"/>
                <a:cs typeface="Quattrocento Sans"/>
                <a:sym typeface="Quattrocento Sans"/>
              </a:rPr>
            </a:br>
            <a:r>
              <a:rPr lang="en-GB" sz="2400" b="1">
                <a:solidFill>
                  <a:srgbClr val="FFFF00"/>
                </a:solidFill>
                <a:latin typeface="Quattrocento Sans"/>
                <a:ea typeface="Quattrocento Sans"/>
                <a:cs typeface="Quattrocento Sans"/>
                <a:sym typeface="Quattrocento Sans"/>
              </a:rPr>
              <a:t>Others: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1. Ambient</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2. Emissive</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3. Probes</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93" name="Google Shape;93;p8"/>
          <p:cNvSpPr txBox="1"/>
          <p:nvPr/>
        </p:nvSpPr>
        <p:spPr>
          <a:xfrm>
            <a:off x="609600" y="1421654"/>
            <a:ext cx="10890738" cy="38779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Precomputed Lighting</a:t>
            </a:r>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Offers light bouncing on top of  basic Direct lighting:</a:t>
            </a:r>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	1. Soft Shadows</a:t>
            </a:r>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	2. Colour bleed</a:t>
            </a:r>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	3. Light Bouncing – for LightMap or RealTime</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00" name="Google Shape;100;p9"/>
          <p:cNvSpPr txBox="1"/>
          <p:nvPr/>
        </p:nvSpPr>
        <p:spPr>
          <a:xfrm>
            <a:off x="609600" y="1421654"/>
            <a:ext cx="10890600" cy="591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Baked Global Illumination (Lightmaps)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Unity can calculate complex static lighting effects (using a technique called global illumination, or GI) and store them in a reference texture map called a lightmap. This calculation process is referred to as baking.</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When baking a lightmap, the effects of light sources on static objects in the scene are calculated and the results are written to textures which are overlaid on top of scene geometry to create the effect of lighting.</a:t>
            </a: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Features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1. Direct and Indirect Light</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2. Work with Objects’ Shader Information (Color and normals)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3. Static – no moving objects</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4. Cannot react to changes in lighting, movement</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5. Low performance impact</a:t>
            </a:r>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With baked lighting, these light textures (lightmaps) cannot change during gameplay and so are referred to as ‘static’. Realtime lights can be overlaid and used additively on top of a lightmapped scene but cannot interactively change the lightmaps themselves.</a:t>
            </a:r>
            <a:endParaRPr sz="22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07" name="Google Shape;107;p10"/>
          <p:cNvSpPr txBox="1"/>
          <p:nvPr/>
        </p:nvSpPr>
        <p:spPr>
          <a:xfrm>
            <a:off x="609600" y="1421654"/>
            <a:ext cx="11582400" cy="47089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Precomputed Realtime Global Illumination</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Whilst static lightmaps are unable to react to changes in lighting conditions within the scene, precomputed realtime GI does offer us a technique for updating complex scene lighting interactively.</a:t>
            </a:r>
            <a:br>
              <a:rPr lang="en-GB" sz="1800">
                <a:solidFill>
                  <a:schemeClr val="dk1"/>
                </a:solidFill>
                <a:latin typeface="Quattrocento Sans"/>
                <a:ea typeface="Quattrocento Sans"/>
                <a:cs typeface="Quattrocento Sans"/>
                <a:sym typeface="Quattrocento Sans"/>
              </a:rPr>
            </a:b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With this approach it is possible to create lit environments featuring rich global illumination with bounced light which responds, in realtime, to lighting changes. A good example of this would be a time of day system - where the position and color of the light source changes over time. With traditional baked lighting, this is not possible.</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In order to deliver these effects at playable framerates, we need to shift some of the lengthy number-crunching from being a realtime process to one which is precomputed.</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Precomputing shifts the burden of calculating complex light behaviour from something that happens during gameplay, to something which can be calculated when time is no longer so critical. We refer to this as an ‘offline’ process.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14" name="Google Shape;114;p11"/>
          <p:cNvSpPr txBox="1"/>
          <p:nvPr/>
        </p:nvSpPr>
        <p:spPr>
          <a:xfrm>
            <a:off x="179775" y="1259275"/>
            <a:ext cx="12390000" cy="173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Precomputed Realtime Global Illumination</a:t>
            </a:r>
            <a:r>
              <a:rPr lang="en-GB"/>
              <a:t>- </a:t>
            </a:r>
            <a:r>
              <a:rPr lang="en-GB" sz="2900" b="1">
                <a:solidFill>
                  <a:srgbClr val="FFFF00"/>
                </a:solidFill>
                <a:latin typeface="Quattrocento Sans"/>
                <a:ea typeface="Quattrocento Sans"/>
                <a:cs typeface="Quattrocento Sans"/>
                <a:sym typeface="Quattrocento Sans"/>
              </a:rPr>
              <a:t>Geometrics Enlighten System</a:t>
            </a:r>
            <a:endParaRPr sz="29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http://www.geomerics.com/enlighten/</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115" name="Google Shape;115;p11" descr="8_Objective03_lighting"/>
          <p:cNvPicPr preferRelativeResize="0"/>
          <p:nvPr/>
        </p:nvPicPr>
        <p:blipFill rotWithShape="1">
          <a:blip r:embed="rId4">
            <a:alphaModFix/>
          </a:blip>
          <a:srcRect/>
          <a:stretch/>
        </p:blipFill>
        <p:spPr>
          <a:xfrm>
            <a:off x="1078030" y="2739230"/>
            <a:ext cx="9939688" cy="34931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22" name="Google Shape;122;p12"/>
          <p:cNvSpPr txBox="1"/>
          <p:nvPr/>
        </p:nvSpPr>
        <p:spPr>
          <a:xfrm>
            <a:off x="609600" y="1421654"/>
            <a:ext cx="11582400" cy="32316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 Precomputed Realtime Global Illumination</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Features</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1. Direct and Indirect Light</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2. Work with Objects’ Shader Information (Color and normals)</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3. Dynamic for Object and Lights</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4. Reacts to changes in lighting, movement</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5. Some performance impact in Runtime rendering</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	6. Using Baked and Precomputed at same time gives double performance impact</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29" name="Google Shape;129;p13"/>
          <p:cNvSpPr txBox="1"/>
          <p:nvPr/>
        </p:nvSpPr>
        <p:spPr>
          <a:xfrm>
            <a:off x="609600" y="1421654"/>
            <a:ext cx="10890738"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Global Illumination – GI Concepts</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Global Illumination</a:t>
            </a:r>
            <a:r>
              <a:rPr lang="en-GB" sz="1800">
                <a:solidFill>
                  <a:schemeClr val="dk1"/>
                </a:solidFill>
                <a:latin typeface="Quattrocento Sans"/>
                <a:ea typeface="Quattrocento Sans"/>
                <a:cs typeface="Quattrocento Sans"/>
                <a:sym typeface="Quattrocento Sans"/>
              </a:rPr>
              <a:t> (GI) is a system that models how light is bounced off of surfaces onto other surfaces (indirect light) rather than being limited to just the light that hits a surface directly from a light source (direct light). Modelling indirect lighting allows for effects that make the virtual world seem more realistic and connected, since objects affect each other’s appearance. One classic example is ‘color bleeding’ where, for example, sunlight hitting a red sofa will cause red light to be bounced onto the wall behind it. Another is when sunlight hits the floor at the opening of a cave and bounces around inside so the inner parts of the cave are illuminated too.</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Direct Lighting – Faster Calculations, Real Time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Indirect Lighting – Slower calculations</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Offline - Baked - Precalculated</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For Static Objects</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Correct at Runtime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Not Dynamic</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Results in Realtime Soft Shadows and Indirect light</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36" name="Google Shape;136;p14"/>
          <p:cNvSpPr txBox="1"/>
          <p:nvPr/>
        </p:nvSpPr>
        <p:spPr>
          <a:xfrm>
            <a:off x="609600" y="1421654"/>
            <a:ext cx="10890738" cy="41242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GI - Precomputed Realtime GI</a:t>
            </a:r>
            <a:endParaRPr/>
          </a:p>
          <a:p>
            <a:pPr marL="0" marR="0" lvl="0" indent="0" algn="l" rtl="0">
              <a:spcBef>
                <a:spcPts val="0"/>
              </a:spcBef>
              <a:spcAft>
                <a:spcPts val="0"/>
              </a:spcAft>
              <a:buNone/>
            </a:pPr>
            <a:r>
              <a:rPr lang="en-GB" sz="1800" u="sng">
                <a:solidFill>
                  <a:srgbClr val="FFFFFF"/>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https://docs.unity3d.com/Manual/GIIntro.html</a:t>
            </a:r>
            <a:endParaRPr sz="180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Precomputes all possible light bounces and encodes this information for use at runtime</a:t>
            </a:r>
            <a:r>
              <a:rPr lang="en-GB" sz="20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1. Real time GI and baking light maps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	All lights affect with direct and indirect</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	Bounces and takes colours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2. Physically based rendering – PBR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Light is modelled and imitated</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3.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PBR - easy to access</a:t>
            </a: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43" name="Google Shape;143;p15"/>
          <p:cNvSpPr txBox="1"/>
          <p:nvPr/>
        </p:nvSpPr>
        <p:spPr>
          <a:xfrm>
            <a:off x="609600" y="1421654"/>
            <a:ext cx="10890738"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Overview</a:t>
            </a:r>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https://unity3d.com/learn/tutorials/topics/graphics/unity-5-lighting-overview?playlist=17102</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i="1">
                <a:solidFill>
                  <a:srgbClr val="FFFF00"/>
                </a:solidFill>
                <a:latin typeface="Quattrocento Sans"/>
                <a:ea typeface="Quattrocento Sans"/>
                <a:cs typeface="Quattrocento Sans"/>
                <a:sym typeface="Quattrocento Sans"/>
              </a:rPr>
              <a:t>Ambient Light, Reflections and Light sources, working with materials created with the standard Shader are drawn using Physical Based Rendering with Global Illumination to calculate the Indirect Light</a:t>
            </a:r>
            <a:endParaRPr/>
          </a:p>
          <a:p>
            <a:pPr marL="0" marR="0" lvl="0" indent="0" algn="l" rtl="0">
              <a:spcBef>
                <a:spcPts val="0"/>
              </a:spcBef>
              <a:spcAft>
                <a:spcPts val="0"/>
              </a:spcAft>
              <a:buNone/>
            </a:pPr>
            <a:endParaRPr sz="2400" b="1" i="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1. Real Time (Scene) for basic work only – Real Time, Direct, Dynamic</a:t>
            </a:r>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2. Dynamic (RealTime GI) – Precomputed Direct and Indirect, Dynamic</a:t>
            </a:r>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3. Baked (Static GI) – Precomputed Direct and Indirect, Static</a:t>
            </a:r>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	Can have Real Time Emissive Probes for Dynamic objects</a:t>
            </a:r>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Can have mix of lights if desired, but usually best to stick with one system (baked) for mobile.</a:t>
            </a:r>
            <a:endParaRPr/>
          </a:p>
          <a:p>
            <a:pPr marL="0" marR="0" lvl="0" indent="0" algn="l" rtl="0">
              <a:spcBef>
                <a:spcPts val="0"/>
              </a:spcBef>
              <a:spcAft>
                <a:spcPts val="0"/>
              </a:spcAft>
              <a:buNone/>
            </a:pPr>
            <a:endParaRPr sz="20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i="1">
                <a:solidFill>
                  <a:srgbClr val="FFFF00"/>
                </a:solidFill>
                <a:latin typeface="Quattrocento Sans"/>
                <a:ea typeface="Quattrocento Sans"/>
                <a:cs typeface="Quattrocento Sans"/>
                <a:sym typeface="Quattrocento Sans"/>
              </a:rPr>
              <a:t>Ambient Light and Physical Based Rendering takes these and shaders for rendering with light settings.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50" name="Google Shape;150;p16"/>
          <p:cNvSpPr txBox="1"/>
          <p:nvPr/>
        </p:nvSpPr>
        <p:spPr>
          <a:xfrm>
            <a:off x="609600" y="1421654"/>
            <a:ext cx="10890738" cy="33547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Lighting Panel - Ambient</a:t>
            </a:r>
            <a:endParaRPr/>
          </a:p>
          <a:p>
            <a:pPr marL="457200" marR="0" lvl="0" indent="-330200" algn="l" rtl="0">
              <a:spcBef>
                <a:spcPts val="0"/>
              </a:spcBef>
              <a:spcAft>
                <a:spcPts val="0"/>
              </a:spcAft>
              <a:buClr>
                <a:schemeClr val="dk1"/>
              </a:buClr>
              <a:buSzPts val="2000"/>
              <a:buFont typeface="Quattrocento Sans"/>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Directional Light tick box at top turns off ambient light</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Ambient is Skybox, Gradient, or Colour</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Object, Scene, Lightmap Tabs</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Skybox Tutorial</a:t>
            </a:r>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p:txBody>
      </p:sp>
      <p:pic>
        <p:nvPicPr>
          <p:cNvPr id="151" name="Google Shape;151;p16"/>
          <p:cNvPicPr preferRelativeResize="0"/>
          <p:nvPr/>
        </p:nvPicPr>
        <p:blipFill rotWithShape="1">
          <a:blip r:embed="rId3">
            <a:alphaModFix/>
          </a:blip>
          <a:srcRect/>
          <a:stretch/>
        </p:blipFill>
        <p:spPr>
          <a:xfrm>
            <a:off x="8896350" y="0"/>
            <a:ext cx="329565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58" name="Google Shape;158;p17"/>
          <p:cNvSpPr txBox="1"/>
          <p:nvPr/>
        </p:nvSpPr>
        <p:spPr>
          <a:xfrm>
            <a:off x="609600" y="1421654"/>
            <a:ext cx="10890738"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Lighting Panel – RealTime, Baked, Mixed</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Precomputed Realtime GI and Baked GI both Enabled in Lighting Panel </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by Default. Can Chose Realtime GI or Baked GI for each light if this is true</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Indirect Intensity and Bounce can be adjusted here.</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Best to chose one or other and untick one globally here.</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All Baked more appropriate for mobile devices</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Continuous (Auto checkbox ticked)</a:t>
            </a:r>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On Demand (Auto checkbox unticked, click Build)</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p:txBody>
      </p:sp>
      <p:pic>
        <p:nvPicPr>
          <p:cNvPr id="159" name="Google Shape;159;p17"/>
          <p:cNvPicPr preferRelativeResize="0"/>
          <p:nvPr/>
        </p:nvPicPr>
        <p:blipFill rotWithShape="1">
          <a:blip r:embed="rId3">
            <a:alphaModFix/>
          </a:blip>
          <a:srcRect/>
          <a:stretch/>
        </p:blipFill>
        <p:spPr>
          <a:xfrm>
            <a:off x="8896350" y="0"/>
            <a:ext cx="329565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66" name="Google Shape;166;p18"/>
          <p:cNvSpPr txBox="1"/>
          <p:nvPr/>
        </p:nvSpPr>
        <p:spPr>
          <a:xfrm>
            <a:off x="609600" y="1421654"/>
            <a:ext cx="10890600" cy="474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Light Panel – RealTime, Baked, Mixed</a:t>
            </a:r>
            <a:endParaRPr/>
          </a:p>
          <a:p>
            <a:pPr marL="0" marR="0" lvl="0" indent="0" algn="l" rtl="0">
              <a:spcBef>
                <a:spcPts val="0"/>
              </a:spcBef>
              <a:spcAft>
                <a:spcPts val="0"/>
              </a:spcAft>
              <a:buNone/>
            </a:pPr>
            <a:r>
              <a:rPr lang="en-GB" sz="14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https://unity3d.com/learn/tutorials/topics/graphics/unity-5-lighting-overview?playlist=17102</a:t>
            </a:r>
            <a:endParaRPr sz="1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Baking - Select in Lights on per light basis</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Real Time</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Baked</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Mixed</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Light Mapping system - Lighting tab&gt;Scene</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Continuous Baking</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On-Demand Baking</a:t>
            </a:r>
            <a:endParaRPr sz="2400">
              <a:solidFill>
                <a:schemeClr val="dk1"/>
              </a:solidFill>
              <a:latin typeface="Quattrocento Sans"/>
              <a:ea typeface="Quattrocento Sans"/>
              <a:cs typeface="Quattrocento Sans"/>
              <a:sym typeface="Quattrocento Sans"/>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p:txBody>
      </p:sp>
      <p:pic>
        <p:nvPicPr>
          <p:cNvPr id="167" name="Google Shape;167;p18"/>
          <p:cNvPicPr preferRelativeResize="0"/>
          <p:nvPr/>
        </p:nvPicPr>
        <p:blipFill rotWithShape="1">
          <a:blip r:embed="rId4">
            <a:alphaModFix/>
          </a:blip>
          <a:srcRect/>
          <a:stretch/>
        </p:blipFill>
        <p:spPr>
          <a:xfrm>
            <a:off x="8181474" y="1124744"/>
            <a:ext cx="4010526" cy="51290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74" name="Google Shape;174;p19"/>
          <p:cNvSpPr txBox="1"/>
          <p:nvPr/>
        </p:nvSpPr>
        <p:spPr>
          <a:xfrm>
            <a:off x="609600" y="1421654"/>
            <a:ext cx="10890738" cy="38779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Linear</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PBR works best in Linear colour Space in Player Settings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Set color space to linear - default - CHECK</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Most software use gamma</a:t>
            </a:r>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https://docs.unity3d.com/Manual/LinearLighting.html</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https://renderman.pixar.com/view/LinearWorkflow</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81" name="Google Shape;181;p20"/>
          <p:cNvSpPr txBox="1"/>
          <p:nvPr/>
        </p:nvSpPr>
        <p:spPr>
          <a:xfrm>
            <a:off x="609600" y="1421654"/>
            <a:ext cx="10890738" cy="5447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Ambient Light</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Light Objects – Directional Light is default in Scene</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Ambient Light – Skybox is default in Scene, Also Gradient or Single Colour</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Emissive Light</a:t>
            </a:r>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Default Scene</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1. Directional Light</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2. Skybox / Ambient light - default</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	Lighting panel</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	Created with Skybox, gradient, or single color</a:t>
            </a: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	All objects receive unless 0 and/or black</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	All objects reflect - receive from skybox or custom cube map</a:t>
            </a:r>
            <a:endParaRPr/>
          </a:p>
          <a:p>
            <a:pPr marL="0" marR="0" lvl="0" indent="0" algn="l" rtl="0">
              <a:spcBef>
                <a:spcPts val="0"/>
              </a:spcBef>
              <a:spcAft>
                <a:spcPts val="0"/>
              </a:spcAft>
              <a:buNone/>
            </a:pPr>
            <a:r>
              <a:rPr lang="en-GB" sz="2000" b="1">
                <a:solidFill>
                  <a:schemeClr val="dk1"/>
                </a:solidFill>
                <a:latin typeface="Quattrocento Sans"/>
                <a:ea typeface="Quattrocento Sans"/>
                <a:cs typeface="Quattrocento Sans"/>
                <a:sym typeface="Quattrocento Sans"/>
              </a:rPr>
              <a:t>	Delete to remove all reflections</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i="1">
                <a:solidFill>
                  <a:srgbClr val="FFFF00"/>
                </a:solidFill>
                <a:latin typeface="Quattrocento Sans"/>
                <a:ea typeface="Quattrocento Sans"/>
                <a:cs typeface="Quattrocento Sans"/>
                <a:sym typeface="Quattrocento Sans"/>
              </a:rPr>
              <a:t>For full lighting control, set to black and delete.</a:t>
            </a:r>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88" name="Google Shape;188;p21"/>
          <p:cNvSpPr txBox="1"/>
          <p:nvPr/>
        </p:nvSpPr>
        <p:spPr>
          <a:xfrm>
            <a:off x="609600" y="1421654"/>
            <a:ext cx="10890738" cy="47089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Skybox</a:t>
            </a:r>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https://www.youtube.com/watch?v=vJ6IS2iIiQg</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Skybox - new system –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Enlighten - Image based lighting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Changes color, procedural skybox</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accurate sun</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Skybox - update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HDRI instead - for atmosphere - beyond white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Cubic map or 6-sided</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Skybox is ambience</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189" name="Google Shape;189;p21"/>
          <p:cNvPicPr preferRelativeResize="0"/>
          <p:nvPr/>
        </p:nvPicPr>
        <p:blipFill rotWithShape="1">
          <a:blip r:embed="rId4">
            <a:alphaModFix/>
          </a:blip>
          <a:srcRect/>
          <a:stretch/>
        </p:blipFill>
        <p:spPr>
          <a:xfrm>
            <a:off x="5287433" y="2097881"/>
            <a:ext cx="6904567" cy="38838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196" name="Google Shape;196;p22"/>
          <p:cNvSpPr txBox="1"/>
          <p:nvPr/>
        </p:nvSpPr>
        <p:spPr>
          <a:xfrm>
            <a:off x="609600" y="1248404"/>
            <a:ext cx="10890738"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FFFF00"/>
                </a:solidFill>
                <a:latin typeface="Quattrocento Sans"/>
                <a:ea typeface="Quattrocento Sans"/>
                <a:cs typeface="Quattrocento Sans"/>
                <a:sym typeface="Quattrocento Sans"/>
              </a:rPr>
              <a:t>Light Objects Beyond Basic (Sources)</a:t>
            </a:r>
            <a:endParaRPr/>
          </a:p>
          <a:p>
            <a:pPr marL="457200" marR="0" lvl="0" indent="-457200" algn="l" rtl="0">
              <a:spcBef>
                <a:spcPts val="0"/>
              </a:spcBef>
              <a:spcAft>
                <a:spcPts val="0"/>
              </a:spcAft>
              <a:buClr>
                <a:schemeClr val="dk1"/>
              </a:buClr>
              <a:buSzPts val="1800"/>
              <a:buFont typeface="Quattrocento Sans"/>
              <a:buAutoNum type="arabicPeriod"/>
            </a:pPr>
            <a:r>
              <a:rPr lang="en-GB" sz="1800" b="1">
                <a:solidFill>
                  <a:schemeClr val="dk1"/>
                </a:solidFill>
                <a:latin typeface="Quattrocento Sans"/>
                <a:ea typeface="Quattrocento Sans"/>
                <a:cs typeface="Quattrocento Sans"/>
                <a:sym typeface="Quattrocento Sans"/>
              </a:rPr>
              <a:t>Ambient (All)</a:t>
            </a:r>
            <a:endParaRPr/>
          </a:p>
          <a:p>
            <a:pPr marL="1828800" marR="0" lvl="3"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Skybox (Default), Custom Cube</a:t>
            </a:r>
            <a:endParaRPr/>
          </a:p>
          <a:p>
            <a:pPr marL="1828800" marR="0" lvl="3"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Gradient</a:t>
            </a:r>
            <a:endParaRPr/>
          </a:p>
          <a:p>
            <a:pPr marL="1828800" marR="0" lvl="3"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Color</a:t>
            </a:r>
            <a:endParaRPr sz="1800" b="1" i="0" u="none" strike="noStrike" cap="none">
              <a:solidFill>
                <a:schemeClr val="dk1"/>
              </a:solidFill>
              <a:latin typeface="Quattrocento Sans"/>
              <a:ea typeface="Quattrocento Sans"/>
              <a:cs typeface="Quattrocento Sans"/>
              <a:sym typeface="Quattrocento Sans"/>
            </a:endParaRPr>
          </a:p>
          <a:p>
            <a:pPr marL="457200" marR="0" lvl="0" indent="-457200" algn="l" rtl="0">
              <a:spcBef>
                <a:spcPts val="0"/>
              </a:spcBef>
              <a:spcAft>
                <a:spcPts val="0"/>
              </a:spcAft>
              <a:buClr>
                <a:srgbClr val="FFFFFF"/>
              </a:buClr>
              <a:buSzPts val="1800"/>
              <a:buFont typeface="Quattrocento Sans"/>
              <a:buAutoNum type="arabicPeriod"/>
            </a:pPr>
            <a:r>
              <a:rPr lang="en-GB" sz="1800" b="1">
                <a:solidFill>
                  <a:srgbClr val="FFFFFF"/>
                </a:solidFill>
                <a:latin typeface="Quattrocento Sans"/>
                <a:ea typeface="Quattrocento Sans"/>
                <a:cs typeface="Quattrocento Sans"/>
                <a:sym typeface="Quattrocento Sans"/>
              </a:rPr>
              <a:t>Area (Baked GI)</a:t>
            </a:r>
            <a:endParaRPr/>
          </a:p>
          <a:p>
            <a:pPr marL="1371600" marR="0" lvl="2" indent="-457200" algn="l" rtl="0">
              <a:spcBef>
                <a:spcPts val="0"/>
              </a:spcBef>
              <a:spcAft>
                <a:spcPts val="0"/>
              </a:spcAft>
              <a:buClr>
                <a:srgbClr val="FFFFFF"/>
              </a:buClr>
              <a:buSzPts val="1800"/>
              <a:buFont typeface="Quattrocento Sans"/>
              <a:buAutoNum type="arabicPeriod"/>
            </a:pPr>
            <a:r>
              <a:rPr lang="en-GB" sz="1800" b="1" i="0" u="none" strike="noStrike" cap="none">
                <a:solidFill>
                  <a:srgbClr val="FFFFFF"/>
                </a:solidFill>
                <a:latin typeface="Quattrocento Sans"/>
                <a:ea typeface="Quattrocento Sans"/>
                <a:cs typeface="Quattrocento Sans"/>
                <a:sym typeface="Quattrocento Sans"/>
              </a:rPr>
              <a:t>Rectangle emitting soft light from one side, all directions</a:t>
            </a:r>
            <a:endParaRPr/>
          </a:p>
          <a:p>
            <a:pPr marL="1371600" marR="0" lvl="2" indent="-457200" algn="l" rtl="0">
              <a:spcBef>
                <a:spcPts val="0"/>
              </a:spcBef>
              <a:spcAft>
                <a:spcPts val="0"/>
              </a:spcAft>
              <a:buClr>
                <a:srgbClr val="FFFFFF"/>
              </a:buClr>
              <a:buSzPts val="1800"/>
              <a:buFont typeface="Quattrocento Sans"/>
              <a:buAutoNum type="arabicPeriod"/>
            </a:pPr>
            <a:r>
              <a:rPr lang="en-GB" sz="1800" b="1" i="0" u="none" strike="noStrike" cap="none">
                <a:solidFill>
                  <a:srgbClr val="FFFFFF"/>
                </a:solidFill>
                <a:latin typeface="Quattrocento Sans"/>
                <a:ea typeface="Quattrocento Sans"/>
                <a:cs typeface="Quattrocento Sans"/>
                <a:sym typeface="Quattrocento Sans"/>
              </a:rPr>
              <a:t>Not Precomputed Realtime GI (use Emissive)</a:t>
            </a:r>
            <a:endParaRPr/>
          </a:p>
          <a:p>
            <a:pPr marL="457200" marR="0" lvl="0" indent="-457200" algn="l" rtl="0">
              <a:spcBef>
                <a:spcPts val="0"/>
              </a:spcBef>
              <a:spcAft>
                <a:spcPts val="0"/>
              </a:spcAft>
              <a:buClr>
                <a:schemeClr val="dk1"/>
              </a:buClr>
              <a:buSzPts val="1800"/>
              <a:buFont typeface="Quattrocento Sans"/>
              <a:buAutoNum type="arabicPeriod"/>
            </a:pPr>
            <a:r>
              <a:rPr lang="en-GB" sz="1800" b="1">
                <a:solidFill>
                  <a:schemeClr val="dk1"/>
                </a:solidFill>
                <a:latin typeface="Quattrocento Sans"/>
                <a:ea typeface="Quattrocento Sans"/>
                <a:cs typeface="Quattrocento Sans"/>
                <a:sym typeface="Quattrocento Sans"/>
              </a:rPr>
              <a:t>Emissive surfaces (Precomputed GI)</a:t>
            </a:r>
            <a:endParaRPr/>
          </a:p>
          <a:p>
            <a:pPr marL="2286000" marR="0" lvl="4"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Act as indirect light sources </a:t>
            </a:r>
            <a:endParaRPr/>
          </a:p>
          <a:p>
            <a:pPr marL="2286000" marR="0" lvl="4"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Use shader Emission property</a:t>
            </a:r>
            <a:endParaRPr/>
          </a:p>
          <a:p>
            <a:pPr marL="2286000" marR="0" lvl="4"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Realtime light mapping - Can be dynamic, scripted</a:t>
            </a:r>
            <a:endParaRPr/>
          </a:p>
          <a:p>
            <a:pPr marL="457200" marR="0" lvl="0" indent="-457200" algn="l" rtl="0">
              <a:spcBef>
                <a:spcPts val="0"/>
              </a:spcBef>
              <a:spcAft>
                <a:spcPts val="0"/>
              </a:spcAft>
              <a:buClr>
                <a:schemeClr val="dk1"/>
              </a:buClr>
              <a:buSzPts val="1800"/>
              <a:buFont typeface="Quattrocento Sans"/>
              <a:buAutoNum type="arabicPeriod"/>
            </a:pPr>
            <a:r>
              <a:rPr lang="en-GB" sz="1800" b="1">
                <a:solidFill>
                  <a:schemeClr val="dk1"/>
                </a:solidFill>
                <a:latin typeface="Quattrocento Sans"/>
                <a:ea typeface="Quattrocento Sans"/>
                <a:cs typeface="Quattrocento Sans"/>
                <a:sym typeface="Quattrocento Sans"/>
              </a:rPr>
              <a:t>Probes (All)</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Light Probes - Sample scene to light dynamically at lower cost than realtime GI</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Reflection Probes (1 default in every scene for skybox reflection)</a:t>
            </a:r>
            <a:endParaRPr/>
          </a:p>
          <a:p>
            <a:pPr marL="1828800" marR="0" lvl="3"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Reflection reference – cube map</a:t>
            </a:r>
            <a:endParaRPr/>
          </a:p>
          <a:p>
            <a:pPr marL="1828800" marR="0" lvl="3"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Reflective objects in space can reference</a:t>
            </a:r>
            <a:endParaRPr/>
          </a:p>
          <a:p>
            <a:pPr marL="1828800" marR="0" lvl="3" indent="-342900" algn="l" rtl="0">
              <a:spcBef>
                <a:spcPts val="0"/>
              </a:spcBef>
              <a:spcAft>
                <a:spcPts val="0"/>
              </a:spcAft>
              <a:buClr>
                <a:schemeClr val="dk1"/>
              </a:buClr>
              <a:buSzPts val="1800"/>
              <a:buFont typeface="Quattrocento Sans"/>
              <a:buNone/>
            </a:pPr>
            <a:endParaRPr sz="1800" b="1" i="0" u="none" strike="noStrike" cap="none">
              <a:solidFill>
                <a:schemeClr val="dk1"/>
              </a:solidFill>
              <a:latin typeface="Quattrocento Sans"/>
              <a:ea typeface="Quattrocento Sans"/>
              <a:cs typeface="Quattrocento Sans"/>
              <a:sym typeface="Quattrocento Sans"/>
            </a:endParaRPr>
          </a:p>
          <a:p>
            <a:pPr marL="1828800" marR="0" lvl="4" indent="0" algn="l" rtl="0">
              <a:spcBef>
                <a:spcPts val="0"/>
              </a:spcBef>
              <a:spcAft>
                <a:spcPts val="0"/>
              </a:spcAft>
              <a:buNone/>
            </a:pPr>
            <a:endParaRPr sz="2000" b="1" i="0" u="none" strike="noStrike" cap="none">
              <a:solidFill>
                <a:schemeClr val="dk1"/>
              </a:solidFill>
              <a:latin typeface="Quattrocento Sans"/>
              <a:ea typeface="Quattrocento Sans"/>
              <a:cs typeface="Quattrocento Sans"/>
              <a:sym typeface="Quattrocento Sans"/>
            </a:endParaRPr>
          </a:p>
          <a:p>
            <a:pPr marL="457200" marR="0" lvl="0" indent="-304800" algn="l" rtl="0">
              <a:spcBef>
                <a:spcPts val="0"/>
              </a:spcBef>
              <a:spcAft>
                <a:spcPts val="0"/>
              </a:spcAft>
              <a:buClr>
                <a:schemeClr val="dk1"/>
              </a:buClr>
              <a:buSzPts val="2400"/>
              <a:buFont typeface="Quattrocento Sans"/>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03" name="Google Shape;203;p23"/>
          <p:cNvSpPr txBox="1"/>
          <p:nvPr/>
        </p:nvSpPr>
        <p:spPr>
          <a:xfrm>
            <a:off x="609600" y="1421654"/>
            <a:ext cx="10890738"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Render Mode for Dynamic Lights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1">
                <a:solidFill>
                  <a:srgbClr val="FFFF00"/>
                </a:solidFill>
                <a:latin typeface="Quattrocento Sans"/>
                <a:ea typeface="Quattrocento Sans"/>
                <a:cs typeface="Quattrocento Sans"/>
                <a:sym typeface="Quattrocento Sans"/>
              </a:rPr>
              <a:t>RENDER MODE PER LIGHT - component for Dynamic Lights!</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		</a:t>
            </a:r>
            <a:r>
              <a:rPr lang="en-GB" sz="2000">
                <a:solidFill>
                  <a:srgbClr val="FFFF00"/>
                </a:solidFill>
                <a:latin typeface="Quattrocento Sans"/>
                <a:ea typeface="Quattrocento Sans"/>
                <a:cs typeface="Quattrocento Sans"/>
                <a:sym typeface="Quattrocento Sans"/>
              </a:rPr>
              <a:t>Important</a:t>
            </a:r>
            <a:r>
              <a:rPr lang="en-GB" sz="2000">
                <a:solidFill>
                  <a:schemeClr val="dk1"/>
                </a:solidFill>
                <a:latin typeface="Quattrocento Sans"/>
                <a:ea typeface="Quattrocento Sans"/>
                <a:cs typeface="Quattrocento Sans"/>
                <a:sym typeface="Quattrocento Sans"/>
              </a:rPr>
              <a:t> - per pixel</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		</a:t>
            </a:r>
            <a:r>
              <a:rPr lang="en-GB" sz="2000">
                <a:solidFill>
                  <a:srgbClr val="FFFF00"/>
                </a:solidFill>
                <a:latin typeface="Quattrocento Sans"/>
                <a:ea typeface="Quattrocento Sans"/>
                <a:cs typeface="Quattrocento Sans"/>
                <a:sym typeface="Quattrocento Sans"/>
              </a:rPr>
              <a:t>Not important </a:t>
            </a:r>
            <a:r>
              <a:rPr lang="en-GB" sz="2000">
                <a:solidFill>
                  <a:schemeClr val="dk1"/>
                </a:solidFill>
                <a:latin typeface="Quattrocento Sans"/>
                <a:ea typeface="Quattrocento Sans"/>
                <a:cs typeface="Quattrocento Sans"/>
                <a:sym typeface="Quattrocento Sans"/>
              </a:rPr>
              <a:t>- per vertex</a:t>
            </a: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Vertex Lighting – fastest (Not Important)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Calculates at vertices of mesh</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Lighting is interpolated over surface</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Per Pixel Lighting – expensive (Important)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every screen pixel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More advanced effects - normal, cookies, rt shadows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Better effects - spotlight shapes,  specular highlights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Pixel light count property - quality setting</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10" name="Google Shape;210;p24"/>
          <p:cNvSpPr txBox="1"/>
          <p:nvPr/>
        </p:nvSpPr>
        <p:spPr>
          <a:xfrm>
            <a:off x="609600" y="1421654"/>
            <a:ext cx="10890738" cy="5447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Light Effects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Cookie </a:t>
            </a:r>
            <a:r>
              <a:rPr lang="en-GB" sz="1800">
                <a:solidFill>
                  <a:schemeClr val="dk1"/>
                </a:solidFill>
                <a:latin typeface="Quattrocento Sans"/>
                <a:ea typeface="Quattrocento Sans"/>
                <a:cs typeface="Quattrocento Sans"/>
                <a:sym typeface="Quattrocento Sans"/>
              </a:rPr>
              <a:t>- pattern, alpha texture,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Not area</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Baked - spot only</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Shadows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Hard - efficient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Soft - costly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Strength</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Resolution - quality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Bias - distance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Directional - softness and fade</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Flares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Similar to halo</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Lens flare - attached to GO</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Flare layer attached to camera</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Halo</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17" name="Google Shape;217;p25"/>
          <p:cNvSpPr txBox="1"/>
          <p:nvPr/>
        </p:nvSpPr>
        <p:spPr>
          <a:xfrm>
            <a:off x="609600" y="1421654"/>
            <a:ext cx="10890738" cy="57246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Emissive</a:t>
            </a:r>
            <a:endParaRPr/>
          </a:p>
          <a:p>
            <a:pPr marL="0" marR="0" lvl="0" indent="0" algn="l" rtl="0">
              <a:spcBef>
                <a:spcPts val="0"/>
              </a:spcBef>
              <a:spcAft>
                <a:spcPts val="0"/>
              </a:spcAft>
              <a:buNone/>
            </a:pPr>
            <a:r>
              <a:rPr lang="en-GB" sz="1800" b="1">
                <a:solidFill>
                  <a:srgbClr val="FFFFFF"/>
                </a:solidFill>
                <a:latin typeface="Quattrocento Sans"/>
                <a:ea typeface="Quattrocento Sans"/>
                <a:cs typeface="Quattrocento Sans"/>
                <a:sym typeface="Quattrocento Sans"/>
              </a:rPr>
              <a:t>Area lights do not support Precomputed Realtime GI, this is a similar effect over surface of material. Can be dynamic. Property of Standard Shader</a:t>
            </a: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‘Emission’ is a property of the Standard Shader which allows static objects in our scene to emit light. By default the value of ‘Emission’ is set to zero. This means no light will be emitted by objects assigned materials using the Standard Shader. The HDR color picker can be used to select colors with intensities beyond the 0-1 range in order to create bright light effects similar to those of Area Lights.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There is no range value for emissive materials but light emitted will again falloff at a quadratic rate. Emission will only be received by objects marked as ‘Static’ or “Lightmap Static’ from the Inspector. Similarly, emissive materials applied to non-static, or dynamic geometry such as characters will not contribute to scene lighting.</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However, materials with an emission above zero will still appear to glow brightly on-screen even if they are not contributing to scene lighting. This effect can also be produced by selecting ‘None’ from the Standard Shader’s ‘Global Illumination’ Inspector property. Self-illuminating materials like these are a useful way to create effects such as neons or other visible light sources.</a:t>
            </a:r>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24" name="Google Shape;224;p26"/>
          <p:cNvSpPr txBox="1"/>
          <p:nvPr/>
        </p:nvSpPr>
        <p:spPr>
          <a:xfrm>
            <a:off x="609600" y="1421654"/>
            <a:ext cx="10890738" cy="24006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Emissive</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Emissive materials only directly affect static geometry in your scene. If you need dynamic, or non-static geometry - such as characters, to pick up light from emissive materials, Light Probes must be used. Changing emission values at gameplay will update Light Probes interactively and the results will be visible on any objects presently receiving light from those probes.</a:t>
            </a: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31" name="Google Shape;231;p27"/>
          <p:cNvSpPr txBox="1"/>
          <p:nvPr/>
        </p:nvSpPr>
        <p:spPr>
          <a:xfrm>
            <a:off x="609600" y="1402554"/>
            <a:ext cx="10890600" cy="323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Lighting Setup - Probes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Probes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Lighting - for dynamic characters in Baked Lightmap - low-cost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Reflection - HDRI, cuboid boundaries, box projection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Cube map is reference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Default  - uses skybox for basic</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Should add more</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38" name="Google Shape;238;p28"/>
          <p:cNvSpPr txBox="1"/>
          <p:nvPr/>
        </p:nvSpPr>
        <p:spPr>
          <a:xfrm>
            <a:off x="609600" y="1421654"/>
            <a:ext cx="10890738" cy="12926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https://www.youtube.com/watch?v=fD_ho_ofY6A</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45" name="Google Shape;245;p29"/>
          <p:cNvSpPr txBox="1"/>
          <p:nvPr/>
        </p:nvSpPr>
        <p:spPr>
          <a:xfrm>
            <a:off x="609600" y="1421654"/>
            <a:ext cx="10890600" cy="4617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https://www.youtube.com/watch?v=fD_ho_ofY6A</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Objects in scene rendered with Standard Shader</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Physically Based Shader</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Mimics physical conditions of light transmission</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Specularity = Metalness</a:t>
            </a: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Reflections</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1. Skybox/Cubemap – 6 sided box derived from sky</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2. Reflection Probe – renders environment from point, overrides Skybox</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Blended with other lighting and surface data by Material’s Shader</a:t>
            </a: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52" name="Google Shape;252;p30"/>
          <p:cNvSpPr txBox="1"/>
          <p:nvPr/>
        </p:nvSpPr>
        <p:spPr>
          <a:xfrm>
            <a:off x="609600" y="1421654"/>
            <a:ext cx="10890738" cy="46166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Standard</a:t>
            </a:r>
            <a:r>
              <a:rPr lang="en-GB" sz="1800">
                <a:solidFill>
                  <a:schemeClr val="dk1"/>
                </a:solidFill>
                <a:latin typeface="Quattrocento Sans"/>
                <a:ea typeface="Quattrocento Sans"/>
                <a:cs typeface="Quattrocento Sans"/>
                <a:sym typeface="Quattrocento Sans"/>
              </a:rPr>
              <a:t> (metallic, not just metal, describes metallness, or Smoothness)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Metallic</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By texture or value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Black – non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White – completely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Texture will vary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Alpha can define smoothness map</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Smoothness controls micro surface detail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diffuse or sharper reflections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59" name="Google Shape;259;p31"/>
          <p:cNvSpPr txBox="1"/>
          <p:nvPr/>
        </p:nvSpPr>
        <p:spPr>
          <a:xfrm>
            <a:off x="609600" y="1421654"/>
            <a:ext cx="10890738" cy="5447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Two Choices: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	Standard - Metallic</a:t>
            </a:r>
            <a:r>
              <a:rPr lang="en-GB" sz="1800">
                <a:solidFill>
                  <a:schemeClr val="dk1"/>
                </a:solidFill>
                <a:latin typeface="Quattrocento Sans"/>
                <a:ea typeface="Quattrocento Sans"/>
                <a:cs typeface="Quattrocento Sans"/>
                <a:sym typeface="Quattrocento Sans"/>
              </a:rPr>
              <a:t> (metallic, not just metal, describes metalness)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a:solidFill>
                  <a:srgbClr val="FFFF00"/>
                </a:solidFill>
                <a:latin typeface="Quattrocento Sans"/>
                <a:ea typeface="Quattrocento Sans"/>
                <a:cs typeface="Quattrocento Sans"/>
                <a:sym typeface="Quattrocento Sans"/>
              </a:rPr>
              <a:t>Standard Specular - Specular </a:t>
            </a:r>
            <a:r>
              <a:rPr lang="en-GB" sz="1800">
                <a:solidFill>
                  <a:schemeClr val="dk1"/>
                </a:solidFill>
                <a:latin typeface="Quattrocento Sans"/>
                <a:ea typeface="Quattrocento Sans"/>
                <a:cs typeface="Quattrocento Sans"/>
                <a:sym typeface="Quattrocento Sans"/>
              </a:rPr>
              <a:t>(describes specularity, or Reflectivity)</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Metalness vs Specular.</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260" name="Google Shape;260;p31"/>
          <p:cNvPicPr preferRelativeResize="0"/>
          <p:nvPr/>
        </p:nvPicPr>
        <p:blipFill rotWithShape="1">
          <a:blip r:embed="rId3">
            <a:alphaModFix/>
          </a:blip>
          <a:srcRect/>
          <a:stretch/>
        </p:blipFill>
        <p:spPr>
          <a:xfrm>
            <a:off x="660400" y="3410957"/>
            <a:ext cx="10871200" cy="2739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67" name="Google Shape;267;p32"/>
          <p:cNvSpPr txBox="1"/>
          <p:nvPr/>
        </p:nvSpPr>
        <p:spPr>
          <a:xfrm>
            <a:off x="609600" y="1421654"/>
            <a:ext cx="108906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0" i="1">
                <a:solidFill>
                  <a:srgbClr val="FFFF00"/>
                </a:solidFill>
                <a:latin typeface="Inter"/>
                <a:ea typeface="Inter"/>
                <a:cs typeface="Inter"/>
                <a:sym typeface="Inter"/>
              </a:rPr>
              <a:t>Both Metal</a:t>
            </a:r>
            <a:r>
              <a:rPr lang="en-GB" sz="2400" i="1">
                <a:solidFill>
                  <a:srgbClr val="FFFF00"/>
                </a:solidFill>
                <a:latin typeface="Inter"/>
                <a:ea typeface="Inter"/>
                <a:cs typeface="Inter"/>
                <a:sym typeface="Inter"/>
              </a:rPr>
              <a:t>li</a:t>
            </a:r>
            <a:r>
              <a:rPr lang="en-GB" sz="2400" b="0" i="1">
                <a:solidFill>
                  <a:srgbClr val="FFFF00"/>
                </a:solidFill>
                <a:latin typeface="Inter"/>
                <a:ea typeface="Inter"/>
                <a:cs typeface="Inter"/>
                <a:sym typeface="Inter"/>
              </a:rPr>
              <a:t>c and Specular have smoothness.</a:t>
            </a:r>
            <a:endParaRPr/>
          </a:p>
          <a:p>
            <a:pPr marL="0" marR="0" lvl="0" indent="0" algn="l" rtl="0">
              <a:spcBef>
                <a:spcPts val="0"/>
              </a:spcBef>
              <a:spcAft>
                <a:spcPts val="0"/>
              </a:spcAft>
              <a:buNone/>
            </a:pPr>
            <a:endParaRPr sz="2400" i="1">
              <a:solidFill>
                <a:srgbClr val="FFFF00"/>
              </a:solidFill>
              <a:latin typeface="Inter"/>
              <a:ea typeface="Inter"/>
              <a:cs typeface="Inter"/>
              <a:sym typeface="Inter"/>
            </a:endParaRPr>
          </a:p>
          <a:p>
            <a:pPr marL="0" marR="0" lvl="0" indent="0" algn="l" rtl="0">
              <a:spcBef>
                <a:spcPts val="0"/>
              </a:spcBef>
              <a:spcAft>
                <a:spcPts val="0"/>
              </a:spcAft>
              <a:buNone/>
            </a:pPr>
            <a:r>
              <a:rPr lang="en-GB" sz="2400" b="0" i="1">
                <a:solidFill>
                  <a:srgbClr val="FFFF00"/>
                </a:solidFill>
                <a:latin typeface="Inter"/>
                <a:ea typeface="Inter"/>
                <a:cs typeface="Inter"/>
                <a:sym typeface="Inter"/>
              </a:rPr>
              <a:t>This defines sharpness of light reflection.</a:t>
            </a:r>
            <a:endParaRPr/>
          </a:p>
          <a:p>
            <a:pPr marL="0" marR="0" lvl="0" indent="0" algn="l" rtl="0">
              <a:spcBef>
                <a:spcPts val="0"/>
              </a:spcBef>
              <a:spcAft>
                <a:spcPts val="0"/>
              </a:spcAft>
              <a:buNone/>
            </a:pPr>
            <a:endParaRPr sz="2400" i="1">
              <a:solidFill>
                <a:srgbClr val="FFFF00"/>
              </a:solidFill>
              <a:latin typeface="Inter"/>
              <a:ea typeface="Inter"/>
              <a:cs typeface="Inter"/>
              <a:sym typeface="Inter"/>
            </a:endParaRPr>
          </a:p>
          <a:p>
            <a:pPr marL="0" marR="0" lvl="0" indent="0" algn="l" rtl="0">
              <a:spcBef>
                <a:spcPts val="0"/>
              </a:spcBef>
              <a:spcAft>
                <a:spcPts val="0"/>
              </a:spcAft>
              <a:buNone/>
            </a:pPr>
            <a:r>
              <a:rPr lang="en-GB" sz="2400" b="0" i="1">
                <a:solidFill>
                  <a:srgbClr val="FFFF00"/>
                </a:solidFill>
                <a:latin typeface="Inter"/>
                <a:ea typeface="Inter"/>
                <a:cs typeface="Inter"/>
                <a:sym typeface="Inter"/>
              </a:rPr>
              <a:t>In Metallic, the colour value is derived from the Albedo (Diffuse) Colour</a:t>
            </a:r>
            <a:endParaRPr/>
          </a:p>
          <a:p>
            <a:pPr marL="0" marR="0" lvl="0" indent="0" algn="l" rtl="0">
              <a:spcBef>
                <a:spcPts val="0"/>
              </a:spcBef>
              <a:spcAft>
                <a:spcPts val="0"/>
              </a:spcAft>
              <a:buNone/>
            </a:pPr>
            <a:endParaRPr sz="2400" i="1">
              <a:solidFill>
                <a:srgbClr val="FFFF00"/>
              </a:solidFill>
              <a:latin typeface="Inter"/>
              <a:ea typeface="Inter"/>
              <a:cs typeface="Inter"/>
              <a:sym typeface="Inter"/>
            </a:endParaRPr>
          </a:p>
          <a:p>
            <a:pPr marL="0" marR="0" lvl="0" indent="0" algn="l" rtl="0">
              <a:spcBef>
                <a:spcPts val="0"/>
              </a:spcBef>
              <a:spcAft>
                <a:spcPts val="0"/>
              </a:spcAft>
              <a:buNone/>
            </a:pPr>
            <a:r>
              <a:rPr lang="en-GB" sz="2400" b="0" i="1">
                <a:solidFill>
                  <a:srgbClr val="FFFF00"/>
                </a:solidFill>
                <a:latin typeface="Inter"/>
                <a:ea typeface="Inter"/>
                <a:cs typeface="Inter"/>
                <a:sym typeface="Inter"/>
              </a:rPr>
              <a:t>In Specular, it is separated out, so can be adjusted.</a:t>
            </a:r>
            <a:endParaRPr/>
          </a:p>
          <a:p>
            <a:pPr marL="0" marR="0" lvl="0" indent="0" algn="l" rtl="0">
              <a:spcBef>
                <a:spcPts val="0"/>
              </a:spcBef>
              <a:spcAft>
                <a:spcPts val="0"/>
              </a:spcAft>
              <a:buNone/>
            </a:pPr>
            <a:endParaRPr sz="2400" i="1">
              <a:solidFill>
                <a:srgbClr val="FFFF00"/>
              </a:solidFill>
              <a:latin typeface="Inter"/>
              <a:ea typeface="Inter"/>
              <a:cs typeface="Inter"/>
              <a:sym typeface="Inte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74" name="Google Shape;274;p33"/>
          <p:cNvSpPr txBox="1"/>
          <p:nvPr/>
        </p:nvSpPr>
        <p:spPr>
          <a:xfrm>
            <a:off x="609600" y="1421654"/>
            <a:ext cx="10890738"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0" i="1">
                <a:solidFill>
                  <a:srgbClr val="FFFF00"/>
                </a:solidFill>
                <a:latin typeface="Inter"/>
                <a:ea typeface="Inter"/>
                <a:cs typeface="Inter"/>
                <a:sym typeface="Inter"/>
              </a:rPr>
              <a:t>Metallic - </a:t>
            </a:r>
            <a:r>
              <a:rPr lang="en-GB" sz="2400" b="0" i="0">
                <a:solidFill>
                  <a:schemeClr val="dk1"/>
                </a:solidFill>
                <a:latin typeface="Inter"/>
                <a:ea typeface="Inter"/>
                <a:cs typeface="Inter"/>
                <a:sym typeface="Inter"/>
              </a:rPr>
              <a:t>means that one channel defines whether a thing reacts as metallic or non-metallic. Simplified speaking metallic means that the reflected light takes on the colour of the underlying surface because metallic absorbs wavelengths from the light. </a:t>
            </a:r>
            <a:endParaRPr/>
          </a:p>
          <a:p>
            <a:pPr marL="0" marR="0" lvl="0" indent="0" algn="l" rtl="0">
              <a:spcBef>
                <a:spcPts val="0"/>
              </a:spcBef>
              <a:spcAft>
                <a:spcPts val="0"/>
              </a:spcAft>
              <a:buNone/>
            </a:pPr>
            <a:endParaRPr sz="2400">
              <a:solidFill>
                <a:srgbClr val="FFFF00"/>
              </a:solidFill>
              <a:latin typeface="Inter"/>
              <a:ea typeface="Inter"/>
              <a:cs typeface="Inter"/>
              <a:sym typeface="Inter"/>
            </a:endParaRPr>
          </a:p>
          <a:p>
            <a:pPr marL="0" marR="0" lvl="0" indent="0" algn="l" rtl="0">
              <a:spcBef>
                <a:spcPts val="0"/>
              </a:spcBef>
              <a:spcAft>
                <a:spcPts val="0"/>
              </a:spcAft>
              <a:buNone/>
            </a:pPr>
            <a:r>
              <a:rPr lang="en-GB" sz="2400" b="0" i="0">
                <a:solidFill>
                  <a:srgbClr val="FFFF00"/>
                </a:solidFill>
                <a:latin typeface="Inter"/>
                <a:ea typeface="Inter"/>
                <a:cs typeface="Inter"/>
                <a:sym typeface="Inter"/>
              </a:rPr>
              <a:t>Non metallic means that the colour is reflected the same way it hit the surface. So if a christmas tree is reflected from a shiny plastic surface you can still make out the green and all the different colors of the ornaments reflected. Being reflected from a gold surface things could look different.</a:t>
            </a:r>
            <a:endParaRPr/>
          </a:p>
          <a:p>
            <a:pPr marL="0" marR="0" lvl="0" indent="0" algn="l" rtl="0">
              <a:spcBef>
                <a:spcPts val="0"/>
              </a:spcBef>
              <a:spcAft>
                <a:spcPts val="0"/>
              </a:spcAft>
              <a:buNone/>
            </a:pPr>
            <a:br>
              <a:rPr lang="en-GB" sz="2400">
                <a:solidFill>
                  <a:srgbClr val="FFFF00"/>
                </a:solidFill>
                <a:latin typeface="Quattrocento Sans"/>
                <a:ea typeface="Quattrocento Sans"/>
                <a:cs typeface="Quattrocento Sans"/>
                <a:sym typeface="Quattrocento Sans"/>
              </a:rPr>
            </a:br>
            <a:r>
              <a:rPr lang="en-GB" sz="2400" b="0" i="0">
                <a:solidFill>
                  <a:srgbClr val="FFFF00"/>
                </a:solidFill>
                <a:latin typeface="Inter"/>
                <a:ea typeface="Inter"/>
                <a:cs typeface="Inter"/>
                <a:sym typeface="Inter"/>
              </a:rPr>
              <a:t>The smoothness defines (separately) how blurry things get reflected from the surface - no matter if it's metallic or not. A plastic toy can be really shiny or rough - as can metal.</a:t>
            </a: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81" name="Google Shape;281;p34"/>
          <p:cNvSpPr txBox="1"/>
          <p:nvPr/>
        </p:nvSpPr>
        <p:spPr>
          <a:xfrm>
            <a:off x="609600" y="1421654"/>
            <a:ext cx="10890738"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0" i="1">
                <a:solidFill>
                  <a:srgbClr val="FFFF00"/>
                </a:solidFill>
                <a:latin typeface="Inter"/>
                <a:ea typeface="Inter"/>
                <a:cs typeface="Inter"/>
                <a:sym typeface="Inter"/>
              </a:rPr>
              <a:t>Specular -</a:t>
            </a:r>
            <a:r>
              <a:rPr lang="en-GB" sz="2400" b="0" i="0">
                <a:solidFill>
                  <a:srgbClr val="FFFF00"/>
                </a:solidFill>
                <a:latin typeface="Inter"/>
                <a:ea typeface="Inter"/>
                <a:cs typeface="Inter"/>
                <a:sym typeface="Inter"/>
              </a:rPr>
              <a:t> </a:t>
            </a:r>
            <a:r>
              <a:rPr lang="en-GB" sz="2400" b="0" i="0">
                <a:solidFill>
                  <a:schemeClr val="dk1"/>
                </a:solidFill>
                <a:latin typeface="Inter"/>
                <a:ea typeface="Inter"/>
                <a:cs typeface="Inter"/>
                <a:sym typeface="Inter"/>
              </a:rPr>
              <a:t>in the specular texture map you define the colour value of your reflection. So metallic surfaces from Specular Shaders need to have a coloured setting while plastic surfaces don't have a colour value. Opposed to metallic workflow where the colour value is derived from the Albedo. </a:t>
            </a:r>
            <a:endParaRPr/>
          </a:p>
          <a:p>
            <a:pPr marL="0" marR="0" lvl="0" indent="0" algn="l" rtl="0">
              <a:spcBef>
                <a:spcPts val="0"/>
              </a:spcBef>
              <a:spcAft>
                <a:spcPts val="0"/>
              </a:spcAft>
              <a:buNone/>
            </a:pPr>
            <a:endParaRPr sz="2400">
              <a:solidFill>
                <a:srgbClr val="FFFF00"/>
              </a:solidFill>
              <a:latin typeface="Inter"/>
              <a:ea typeface="Inter"/>
              <a:cs typeface="Inter"/>
              <a:sym typeface="Inter"/>
            </a:endParaRPr>
          </a:p>
          <a:p>
            <a:pPr marL="0" marR="0" lvl="0" indent="0" algn="l" rtl="0">
              <a:spcBef>
                <a:spcPts val="0"/>
              </a:spcBef>
              <a:spcAft>
                <a:spcPts val="0"/>
              </a:spcAft>
              <a:buNone/>
            </a:pPr>
            <a:r>
              <a:rPr lang="en-GB" sz="2400" b="0" i="0">
                <a:solidFill>
                  <a:srgbClr val="FFFF00"/>
                </a:solidFill>
                <a:latin typeface="Inter"/>
                <a:ea typeface="Inter"/>
                <a:cs typeface="Inter"/>
                <a:sym typeface="Inter"/>
              </a:rPr>
              <a:t>In the specular setting you define a metallic look from the specular RGB channels. </a:t>
            </a:r>
            <a:endParaRPr/>
          </a:p>
          <a:p>
            <a:pPr marL="0" marR="0" lvl="0" indent="0" algn="l" rtl="0">
              <a:spcBef>
                <a:spcPts val="0"/>
              </a:spcBef>
              <a:spcAft>
                <a:spcPts val="0"/>
              </a:spcAft>
              <a:buNone/>
            </a:pPr>
            <a:endParaRPr sz="2400">
              <a:solidFill>
                <a:srgbClr val="FFFF00"/>
              </a:solidFill>
              <a:latin typeface="Inter"/>
              <a:ea typeface="Inter"/>
              <a:cs typeface="Inter"/>
              <a:sym typeface="Inter"/>
            </a:endParaRPr>
          </a:p>
          <a:p>
            <a:pPr marL="0" marR="0" lvl="0" indent="0" algn="l" rtl="0">
              <a:spcBef>
                <a:spcPts val="0"/>
              </a:spcBef>
              <a:spcAft>
                <a:spcPts val="0"/>
              </a:spcAft>
              <a:buNone/>
            </a:pPr>
            <a:r>
              <a:rPr lang="en-GB" sz="2400" b="0" i="0">
                <a:solidFill>
                  <a:srgbClr val="FFFF00"/>
                </a:solidFill>
                <a:latin typeface="Inter"/>
                <a:ea typeface="Inter"/>
                <a:cs typeface="Inter"/>
                <a:sym typeface="Inter"/>
              </a:rPr>
              <a:t>The colour value defines the reflectance colour (absorption) - not the Albedo. The brightness defines how much is reflected, the colour defines in which color. Additionally there still is a smoothness value because surfaces are defined by being metallic/non-metallic, the color and the roughness. </a:t>
            </a:r>
            <a:endParaRPr/>
          </a:p>
          <a:p>
            <a:pPr marL="0" marR="0" lvl="0" indent="0" algn="l" rtl="0">
              <a:spcBef>
                <a:spcPts val="0"/>
              </a:spcBef>
              <a:spcAft>
                <a:spcPts val="0"/>
              </a:spcAft>
              <a:buNone/>
            </a:pPr>
            <a:endParaRPr sz="2400">
              <a:solidFill>
                <a:srgbClr val="FFFF00"/>
              </a:solidFill>
              <a:latin typeface="Inter"/>
              <a:ea typeface="Inter"/>
              <a:cs typeface="Inter"/>
              <a:sym typeface="Inter"/>
            </a:endParaRPr>
          </a:p>
          <a:p>
            <a:pPr marL="0" marR="0" lvl="0" indent="0" algn="l" rtl="0">
              <a:spcBef>
                <a:spcPts val="0"/>
              </a:spcBef>
              <a:spcAft>
                <a:spcPts val="0"/>
              </a:spcAft>
              <a:buNone/>
            </a:pPr>
            <a:r>
              <a:rPr lang="en-GB" sz="2400" b="0" i="0">
                <a:solidFill>
                  <a:srgbClr val="FFFF00"/>
                </a:solidFill>
                <a:latin typeface="Inter"/>
                <a:ea typeface="Inter"/>
                <a:cs typeface="Inter"/>
                <a:sym typeface="Inter"/>
              </a:rPr>
              <a:t>BUT in specular you have more control over the colour mixing. </a:t>
            </a: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288" name="Google Shape;288;p35"/>
          <p:cNvSpPr txBox="1"/>
          <p:nvPr/>
        </p:nvSpPr>
        <p:spPr>
          <a:xfrm>
            <a:off x="609600" y="1421654"/>
            <a:ext cx="10890738" cy="24929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Physical based Shading should follow realistic settings: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Table</a:t>
            </a:r>
            <a:endParaRPr/>
          </a:p>
          <a:p>
            <a:pPr marL="0" marR="0" lvl="0" indent="0" algn="l" rtl="0">
              <a:spcBef>
                <a:spcPts val="0"/>
              </a:spcBef>
              <a:spcAft>
                <a:spcPts val="0"/>
              </a:spcAft>
              <a:buNone/>
            </a:pPr>
            <a:r>
              <a:rPr lang="en-GB" sz="2400" b="1" u="sng">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https://docs.unity3d.com/Manual/StandardShaderMaterialCharts.html</a:t>
            </a: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36" descr="Reference Chart for Metallic settings"/>
          <p:cNvPicPr preferRelativeResize="0"/>
          <p:nvPr/>
        </p:nvPicPr>
        <p:blipFill rotWithShape="1">
          <a:blip r:embed="rId3">
            <a:alphaModFix/>
          </a:blip>
          <a:srcRect/>
          <a:stretch/>
        </p:blipFill>
        <p:spPr>
          <a:xfrm>
            <a:off x="0" y="0"/>
            <a:ext cx="4846637" cy="6858000"/>
          </a:xfrm>
          <a:prstGeom prst="rect">
            <a:avLst/>
          </a:prstGeom>
          <a:noFill/>
          <a:ln>
            <a:noFill/>
          </a:ln>
        </p:spPr>
      </p:pic>
      <p:pic>
        <p:nvPicPr>
          <p:cNvPr id="295" name="Google Shape;295;p36" descr="Reference Chart for Specular settings"/>
          <p:cNvPicPr preferRelativeResize="0"/>
          <p:nvPr/>
        </p:nvPicPr>
        <p:blipFill rotWithShape="1">
          <a:blip r:embed="rId4">
            <a:alphaModFix/>
          </a:blip>
          <a:srcRect/>
          <a:stretch/>
        </p:blipFill>
        <p:spPr>
          <a:xfrm>
            <a:off x="7345363" y="0"/>
            <a:ext cx="4846637"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02" name="Google Shape;302;p37"/>
          <p:cNvSpPr txBox="1"/>
          <p:nvPr/>
        </p:nvSpPr>
        <p:spPr>
          <a:xfrm>
            <a:off x="609600" y="1421654"/>
            <a:ext cx="108906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Both have…</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Albedo</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If No texture, tinted by colour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Optional Texture and Colour (white does not affect texture)</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Normal Map</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bumpiness of surface</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Height Map</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Slider for strength</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Occlusion</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Ambient Occlusion to darken in hidden areas</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Emission</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Value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Shape – Map, B+W or Colour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Baked or Realtime</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Secondary Map</a:t>
            </a:r>
            <a:r>
              <a:rPr lang="en-GB" sz="1800">
                <a:solidFill>
                  <a:schemeClr val="dk1"/>
                </a:solidFill>
                <a:latin typeface="Quattrocento Sans"/>
                <a:ea typeface="Quattrocento Sans"/>
                <a:cs typeface="Quattrocento Sans"/>
                <a:sym typeface="Quattrocento Sans"/>
              </a:rPr>
              <a:t> - Microdetail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09" name="Google Shape;309;p38"/>
          <p:cNvSpPr txBox="1"/>
          <p:nvPr/>
        </p:nvSpPr>
        <p:spPr>
          <a:xfrm>
            <a:off x="609600" y="1421654"/>
            <a:ext cx="10890738" cy="5447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Standard</a:t>
            </a:r>
            <a:r>
              <a:rPr lang="en-GB" sz="1800">
                <a:solidFill>
                  <a:schemeClr val="dk1"/>
                </a:solidFill>
                <a:latin typeface="Quattrocento Sans"/>
                <a:ea typeface="Quattrocento Sans"/>
                <a:cs typeface="Quattrocento Sans"/>
                <a:sym typeface="Quattrocento Sans"/>
              </a:rPr>
              <a:t> (metallic, not just metal, describes metallness, or Smoothness)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Rendering Mode: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Opaque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Cutout</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Alpha on Diffuse image masks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(If gradient - slider available)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Fade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Similar to transparent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All effects transparent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Fades out game object on screen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Transparent – glass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Alpha on diffuse color - level of trans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Still reflects - Effects non transparent - see Fade above</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16" name="Google Shape;316;p39"/>
          <p:cNvSpPr txBox="1"/>
          <p:nvPr/>
        </p:nvSpPr>
        <p:spPr>
          <a:xfrm>
            <a:off x="609600" y="1421654"/>
            <a:ext cx="10890600" cy="4063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Standard Shader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Standard can be used for all - all default mesh, all new</a:t>
            </a:r>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rgbClr val="FFFF00"/>
                </a:solidFill>
                <a:latin typeface="Quattrocento Sans"/>
                <a:ea typeface="Quattrocento Sans"/>
                <a:cs typeface="Quattrocento Sans"/>
                <a:sym typeface="Quattrocento Sans"/>
              </a:rPr>
              <a:t>Standard</a:t>
            </a:r>
            <a:r>
              <a:rPr lang="en-GB" sz="1800">
                <a:solidFill>
                  <a:schemeClr val="dk1"/>
                </a:solidFill>
                <a:latin typeface="Quattrocento Sans"/>
                <a:ea typeface="Quattrocento Sans"/>
                <a:cs typeface="Quattrocento Sans"/>
                <a:sym typeface="Quattrocento Sans"/>
              </a:rPr>
              <a:t> (Metals with Metallic workflow)</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Specular has smoothness as well, very similar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a:solidFill>
                  <a:srgbClr val="FFFF00"/>
                </a:solidFill>
                <a:latin typeface="Quattrocento Sans"/>
                <a:ea typeface="Quattrocento Sans"/>
                <a:cs typeface="Quattrocento Sans"/>
                <a:sym typeface="Quattrocento Sans"/>
              </a:rPr>
              <a:t>Texture or Color value</a:t>
            </a:r>
            <a:endParaRPr>
              <a:solidFill>
                <a:srgbClr val="FFFF0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Defines reflectivity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Maps usually dark gray</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With no map, set with slider – 0 is porcelain, 1 is mirror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diffusion of surface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23" name="Google Shape;323;p40"/>
          <p:cNvSpPr txBox="1"/>
          <p:nvPr/>
        </p:nvSpPr>
        <p:spPr>
          <a:xfrm>
            <a:off x="609600" y="1421654"/>
            <a:ext cx="10890738"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Materials and Shaders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Material - Asset that ties shader to a GameObject</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1. Right Click and Create material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2. Drag to Object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3. Is assigned to Mesh Renderer in Material Slot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4. Mesh renderer Also has Light, Reflection Probe Slots</a:t>
            </a:r>
            <a:endParaRPr/>
          </a:p>
        </p:txBody>
      </p:sp>
      <p:pic>
        <p:nvPicPr>
          <p:cNvPr id="324" name="Google Shape;324;p40"/>
          <p:cNvPicPr preferRelativeResize="0"/>
          <p:nvPr/>
        </p:nvPicPr>
        <p:blipFill rotWithShape="1">
          <a:blip r:embed="rId3">
            <a:alphaModFix/>
          </a:blip>
          <a:srcRect/>
          <a:stretch/>
        </p:blipFill>
        <p:spPr>
          <a:xfrm>
            <a:off x="7435194" y="1124744"/>
            <a:ext cx="4147206" cy="5156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1"/>
          <p:cNvSpPr/>
          <p:nvPr/>
        </p:nvSpPr>
        <p:spPr>
          <a:xfrm>
            <a:off x="6503718" y="1375095"/>
            <a:ext cx="5029200" cy="4769023"/>
          </a:xfrm>
          <a:prstGeom prst="rect">
            <a:avLst/>
          </a:prstGeom>
          <a:solidFill>
            <a:schemeClr val="accent1"/>
          </a:solidFill>
          <a:ln w="25400" cap="flat" cmpd="sng">
            <a:solidFill>
              <a:srgbClr val="A92E2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331" name="Google Shape;331;p4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32" name="Google Shape;332;p41"/>
          <p:cNvSpPr txBox="1"/>
          <p:nvPr/>
        </p:nvSpPr>
        <p:spPr>
          <a:xfrm>
            <a:off x="609600" y="1421654"/>
            <a:ext cx="10890738"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Materials and Shaders</a:t>
            </a: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Material - Asset that ties shader to a GameObject</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1. Right Click and Create material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2. Drag to Object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3. Is assigned to Mesh Renderer in Material Slot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4. Mesh renderer Also has Light, Reflection Probe Slots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pic>
        <p:nvPicPr>
          <p:cNvPr id="333" name="Google Shape;333;p41" descr="Shader Theory"/>
          <p:cNvPicPr preferRelativeResize="0"/>
          <p:nvPr/>
        </p:nvPicPr>
        <p:blipFill rotWithShape="1">
          <a:blip r:embed="rId3">
            <a:alphaModFix/>
          </a:blip>
          <a:srcRect/>
          <a:stretch/>
        </p:blipFill>
        <p:spPr>
          <a:xfrm>
            <a:off x="6711436" y="1530757"/>
            <a:ext cx="4695825" cy="44577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40" name="Google Shape;340;p42"/>
          <p:cNvSpPr txBox="1"/>
          <p:nvPr/>
        </p:nvSpPr>
        <p:spPr>
          <a:xfrm>
            <a:off x="609600" y="1091452"/>
            <a:ext cx="10890600" cy="634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Tutorial – Standard Shader in Unity</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8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https://www.youtube.com/watch?v=fD_ho_ofY6A</a:t>
            </a:r>
            <a:endParaRPr sz="24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br>
              <a:rPr lang="en-GB" sz="1800">
                <a:solidFill>
                  <a:schemeClr val="dk1"/>
                </a:solidFill>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pic>
        <p:nvPicPr>
          <p:cNvPr id="341" name="Google Shape;341;p42"/>
          <p:cNvPicPr preferRelativeResize="0"/>
          <p:nvPr/>
        </p:nvPicPr>
        <p:blipFill rotWithShape="1">
          <a:blip r:embed="rId4">
            <a:alphaModFix/>
          </a:blip>
          <a:srcRect/>
          <a:stretch/>
        </p:blipFill>
        <p:spPr>
          <a:xfrm>
            <a:off x="2079870" y="1647764"/>
            <a:ext cx="7682198" cy="432123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48" name="Google Shape;348;p43"/>
          <p:cNvSpPr txBox="1"/>
          <p:nvPr/>
        </p:nvSpPr>
        <p:spPr>
          <a:xfrm>
            <a:off x="609600" y="1091452"/>
            <a:ext cx="10890600" cy="634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Tutorial – Skybox GI in Unity</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8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https://www.youtube.com/watch?v=vJ6IS2iIiQg</a:t>
            </a:r>
            <a:endParaRPr sz="180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br>
              <a:rPr lang="en-GB" sz="1800">
                <a:solidFill>
                  <a:schemeClr val="dk1"/>
                </a:solidFill>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pic>
        <p:nvPicPr>
          <p:cNvPr id="349" name="Google Shape;349;p43"/>
          <p:cNvPicPr preferRelativeResize="0"/>
          <p:nvPr/>
        </p:nvPicPr>
        <p:blipFill rotWithShape="1">
          <a:blip r:embed="rId4">
            <a:alphaModFix/>
          </a:blip>
          <a:srcRect/>
          <a:stretch/>
        </p:blipFill>
        <p:spPr>
          <a:xfrm>
            <a:off x="2079870" y="1647764"/>
            <a:ext cx="7682197" cy="432123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56" name="Google Shape;356;p44"/>
          <p:cNvSpPr txBox="1"/>
          <p:nvPr/>
        </p:nvSpPr>
        <p:spPr>
          <a:xfrm>
            <a:off x="609600" y="1121140"/>
            <a:ext cx="11385405" cy="62170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Tutorial – Basic Lighting in Unity - Entire Process</a:t>
            </a:r>
            <a:endParaRPr sz="36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r>
              <a:rPr lang="en-GB" sz="2600" dirty="0">
                <a:solidFill>
                  <a:schemeClr val="hlink"/>
                </a:solidFill>
                <a:ea typeface="Quattrocento Sans"/>
                <a:sym typeface="Quattrocento Sans"/>
                <a:hlinkClick r:id="rId3">
                  <a:extLst>
                    <a:ext uri="{A12FA001-AC4F-418D-AE19-62706E023703}">
                      <ahyp:hlinkClr xmlns:ahyp="http://schemas.microsoft.com/office/drawing/2018/hyperlinkcolor" val="tx"/>
                    </a:ext>
                  </a:extLst>
                </a:hlinkClick>
              </a:rPr>
              <a:t>https://learn.unity.com/tutorial/introduction-to-lighting-and-rendering-2019-3</a:t>
            </a:r>
            <a:r>
              <a:rPr lang="en-GB" sz="2600" dirty="0">
                <a:solidFill>
                  <a:schemeClr val="hlink"/>
                </a:solidFill>
                <a:ea typeface="Quattrocento Sans"/>
                <a:sym typeface="Quattrocento Sans"/>
              </a:rPr>
              <a:t> </a:t>
            </a:r>
            <a:endParaRPr>
              <a:solidFill>
                <a:schemeClr val="hlink"/>
              </a:solidFill>
            </a:endParaRPr>
          </a:p>
          <a:p>
            <a:pPr marL="0" marR="0" lvl="0" indent="0" algn="l" rtl="0">
              <a:spcBef>
                <a:spcPts val="0"/>
              </a:spcBef>
              <a:spcAft>
                <a:spcPts val="0"/>
              </a:spcAft>
              <a:buNone/>
            </a:pPr>
            <a:endParaRPr sz="26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2200" b="1" dirty="0">
                <a:solidFill>
                  <a:srgbClr val="FFFF00"/>
                </a:solidFill>
                <a:latin typeface="Quattrocento Sans"/>
                <a:ea typeface="Quattrocento Sans"/>
                <a:cs typeface="Quattrocento Sans"/>
                <a:sym typeface="Quattrocento Sans"/>
              </a:rPr>
              <a:t>Older:</a:t>
            </a:r>
            <a:endParaRPr sz="2200" b="1" dirty="0">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u="sng"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https://unity3d.com/learn/tutorials/topics/graphics/unity-5-lighting-and-rendering?playlist=17102</a:t>
            </a:r>
            <a:endParaRPr dirty="0">
              <a:solidFill>
                <a:schemeClr val="dk1"/>
              </a:solidFill>
            </a:endParaRPr>
          </a:p>
          <a:p>
            <a:pPr marL="0" marR="0" lvl="0" indent="0" algn="ctr" rtl="0">
              <a:spcBef>
                <a:spcPts val="0"/>
              </a:spcBef>
              <a:spcAft>
                <a:spcPts val="0"/>
              </a:spcAft>
              <a:buNone/>
            </a:pPr>
            <a:r>
              <a:rPr lang="en-GB" sz="1800" u="sng"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https://www.youtube.com/watch?v=fD_ho_ofY6A</a:t>
            </a:r>
            <a:endParaRPr sz="2400" b="1" dirty="0">
              <a:solidFill>
                <a:schemeClr val="dk1"/>
              </a:solidFill>
              <a:latin typeface="Quattrocento Sans"/>
              <a:ea typeface="Quattrocento Sans"/>
              <a:cs typeface="Quattrocento Sans"/>
              <a:sym typeface="Quattrocento Sans"/>
            </a:endParaRPr>
          </a:p>
          <a:p>
            <a:pPr marL="0" marR="0" lvl="0" indent="0" algn="ctr" rtl="0">
              <a:spcBef>
                <a:spcPts val="0"/>
              </a:spcBef>
              <a:spcAft>
                <a:spcPts val="0"/>
              </a:spcAft>
              <a:buNone/>
            </a:pP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p:cNvSpPr txBox="1"/>
          <p:nvPr/>
        </p:nvSpPr>
        <p:spPr>
          <a:xfrm>
            <a:off x="609600" y="1091452"/>
            <a:ext cx="10890738"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Tutorial – Advanced GI in Unity 5 – Probes, Emissive</a:t>
            </a:r>
            <a:endParaRPr sz="36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2800" b="1">
              <a:solidFill>
                <a:srgbClr val="FFFF00"/>
              </a:solidFill>
              <a:latin typeface="Quattrocento Sans"/>
              <a:ea typeface="Quattrocento Sans"/>
              <a:cs typeface="Quattrocento Sans"/>
              <a:sym typeface="Quattrocento Sans"/>
            </a:endParaRPr>
          </a:p>
          <a:p>
            <a:pPr marL="0" marR="0" lvl="0" indent="0" algn="ctr" rtl="0">
              <a:spcBef>
                <a:spcPts val="0"/>
              </a:spcBef>
              <a:spcAft>
                <a:spcPts val="0"/>
              </a:spcAft>
              <a:buNone/>
            </a:pPr>
            <a:r>
              <a:rPr lang="en-GB" sz="1800" u="sng"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https://www.youtube.com/watch?v=Ukkiqe_75d0</a:t>
            </a:r>
            <a:br>
              <a:rPr lang="en-GB" sz="1800" dirty="0">
                <a:latin typeface="Quattrocento Sans"/>
                <a:ea typeface="Quattrocento Sans"/>
                <a:cs typeface="Quattrocento Sans"/>
              </a:rPr>
            </a:br>
            <a:r>
              <a:rPr lang="en-GB" sz="1800" u="sng"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https://www.youtube.com/watch?v=h5GFoI38DOg</a:t>
            </a:r>
            <a:br>
              <a:rPr lang="en-GB" sz="1800"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pic>
        <p:nvPicPr>
          <p:cNvPr id="364" name="Google Shape;364;p45"/>
          <p:cNvPicPr preferRelativeResize="0"/>
          <p:nvPr/>
        </p:nvPicPr>
        <p:blipFill rotWithShape="1">
          <a:blip r:embed="rId5">
            <a:alphaModFix/>
          </a:blip>
          <a:srcRect/>
          <a:stretch/>
        </p:blipFill>
        <p:spPr>
          <a:xfrm>
            <a:off x="2079870" y="1772174"/>
            <a:ext cx="7682197" cy="407241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B2604F2A-780A-AAAF-AE47-82139BFBA100}"/>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9331F7B5-D7A8-2E51-C9B1-2409CB4E9E69}"/>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D6B8DA74-4BD4-16CE-B476-C61F5BA97F66}"/>
              </a:ext>
            </a:extLst>
          </p:cNvPr>
          <p:cNvSpPr txBox="1"/>
          <p:nvPr/>
        </p:nvSpPr>
        <p:spPr>
          <a:xfrm>
            <a:off x="609600" y="1091452"/>
            <a:ext cx="10890738" cy="4616608"/>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latin typeface="Calibri"/>
              </a:rPr>
              <a:t>Quick summary of main steps</a:t>
            </a:r>
          </a:p>
          <a:p>
            <a:r>
              <a:rPr lang="en-US" sz="2400" dirty="0">
                <a:solidFill>
                  <a:schemeClr val="tx1"/>
                </a:solidFill>
                <a:latin typeface="Calibri"/>
              </a:rPr>
              <a:t>1. Backup Project</a:t>
            </a:r>
          </a:p>
          <a:p>
            <a:r>
              <a:rPr lang="en-US" sz="2400" dirty="0">
                <a:solidFill>
                  <a:schemeClr val="tx1"/>
                </a:solidFill>
                <a:latin typeface="Calibri"/>
              </a:rPr>
              <a:t>2. Install URP package.</a:t>
            </a:r>
            <a:endParaRPr lang="en-US" dirty="0">
              <a:solidFill>
                <a:schemeClr val="tx1"/>
              </a:solidFill>
            </a:endParaRPr>
          </a:p>
          <a:p>
            <a:r>
              <a:rPr lang="en-US" sz="2400" dirty="0">
                <a:solidFill>
                  <a:schemeClr val="tx1"/>
                </a:solidFill>
                <a:latin typeface="Calibri"/>
              </a:rPr>
              <a:t>3. Create a URP Pipeline Asset and Forward Renderer.</a:t>
            </a:r>
          </a:p>
          <a:p>
            <a:r>
              <a:rPr lang="en-US" sz="2400" dirty="0">
                <a:solidFill>
                  <a:schemeClr val="tx1"/>
                </a:solidFill>
                <a:latin typeface="Calibri"/>
              </a:rPr>
              <a:t>4-5. Assign the URP Pipeline Asset in Project Settings and Quality settings.</a:t>
            </a:r>
          </a:p>
          <a:p>
            <a:r>
              <a:rPr lang="en-US" sz="2400" dirty="0">
                <a:solidFill>
                  <a:schemeClr val="tx1"/>
                </a:solidFill>
                <a:latin typeface="Calibri"/>
              </a:rPr>
              <a:t>6. Upgrade built-in materials (project/scene) to URP materials.</a:t>
            </a:r>
          </a:p>
          <a:p>
            <a:r>
              <a:rPr lang="en-US" sz="2400" dirty="0">
                <a:solidFill>
                  <a:schemeClr val="tx1"/>
                </a:solidFill>
                <a:latin typeface="Calibri"/>
              </a:rPr>
              <a:t>7. Re-Bake Lighting</a:t>
            </a:r>
          </a:p>
          <a:p>
            <a:r>
              <a:rPr lang="en-US" sz="2400" dirty="0">
                <a:solidFill>
                  <a:schemeClr val="tx1"/>
                </a:solidFill>
                <a:latin typeface="Calibri"/>
              </a:rPr>
              <a:t>8. Quick Check</a:t>
            </a:r>
          </a:p>
          <a:p>
            <a:r>
              <a:rPr lang="en-US" sz="2400" dirty="0">
                <a:solidFill>
                  <a:schemeClr val="tx1"/>
                </a:solidFill>
                <a:latin typeface="Calibri"/>
              </a:rPr>
              <a:t>9. Fixes</a:t>
            </a: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1371065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4131DFB7-DC48-753E-01E4-084E3DB5367B}"/>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16DA87FC-A745-FA0E-056E-E2B2466DB317}"/>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05053DCC-3997-589C-D658-1CAAF7ACCBE9}"/>
              </a:ext>
            </a:extLst>
          </p:cNvPr>
          <p:cNvSpPr txBox="1"/>
          <p:nvPr/>
        </p:nvSpPr>
        <p:spPr>
          <a:xfrm>
            <a:off x="609600" y="1091452"/>
            <a:ext cx="10890738" cy="6155491"/>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a:solidFill>
                <a:schemeClr val="tx1"/>
              </a:solidFill>
              <a:latin typeface="Calibri"/>
              <a:ea typeface="Quattrocento Sans"/>
              <a:cs typeface="Quattrocento Sans"/>
            </a:endParaRPr>
          </a:p>
          <a:p>
            <a:r>
              <a:rPr lang="en-US" sz="2400" dirty="0">
                <a:solidFill>
                  <a:schemeClr val="tx1"/>
                </a:solidFill>
              </a:rPr>
              <a:t>1. Backup your project</a:t>
            </a:r>
            <a:endParaRPr lang="en-US" dirty="0">
              <a:solidFill>
                <a:schemeClr val="tx1"/>
              </a:solidFill>
            </a:endParaRPr>
          </a:p>
          <a:p>
            <a:r>
              <a:rPr lang="en-US" sz="2400" dirty="0">
                <a:solidFill>
                  <a:schemeClr val="tx1"/>
                </a:solidFill>
              </a:rPr>
              <a:t>- Commit to version control or copy the project folder.</a:t>
            </a:r>
            <a:endParaRPr lang="en-US" dirty="0">
              <a:solidFill>
                <a:schemeClr val="tx1"/>
              </a:solidFill>
            </a:endParaRPr>
          </a:p>
          <a:p>
            <a:endParaRPr lang="en-US" dirty="0"/>
          </a:p>
          <a:p>
            <a:r>
              <a:rPr lang="en-US" sz="2400" dirty="0">
                <a:solidFill>
                  <a:schemeClr val="tx1"/>
                </a:solidFill>
              </a:rPr>
              <a:t>2. Install URP</a:t>
            </a:r>
            <a:endParaRPr lang="en-US" dirty="0">
              <a:solidFill>
                <a:schemeClr val="tx1"/>
              </a:solidFill>
            </a:endParaRPr>
          </a:p>
          <a:p>
            <a:r>
              <a:rPr lang="en-US" sz="2400" dirty="0">
                <a:solidFill>
                  <a:schemeClr val="tx1"/>
                </a:solidFill>
              </a:rPr>
              <a:t>- Window &gt; Package Manager</a:t>
            </a:r>
            <a:endParaRPr lang="en-US" dirty="0">
              <a:solidFill>
                <a:schemeClr val="tx1"/>
              </a:solidFill>
            </a:endParaRPr>
          </a:p>
          <a:p>
            <a:r>
              <a:rPr lang="en-US" sz="2400" dirty="0">
                <a:solidFill>
                  <a:schemeClr val="tx1"/>
                </a:solidFill>
              </a:rPr>
              <a:t>- In Package Manager: select "Unity Registry", search "Universal RP" (or "Universal Render Pipeline") → select it → Install.</a:t>
            </a:r>
            <a:br>
              <a:rPr lang="en-US" sz="2400" dirty="0">
                <a:solidFill>
                  <a:schemeClr val="tx1"/>
                </a:solidFill>
              </a:rPr>
            </a:br>
            <a:endParaRPr lang="en-US" sz="2400">
              <a:solidFill>
                <a:schemeClr val="tx1"/>
              </a:solidFill>
            </a:endParaRPr>
          </a:p>
          <a:p>
            <a:r>
              <a:rPr lang="en-US" sz="2400" dirty="0">
                <a:solidFill>
                  <a:schemeClr val="bg2"/>
                </a:solidFill>
              </a:rPr>
              <a:t>3. Check URP Asset is created and used</a:t>
            </a:r>
            <a:endParaRPr lang="en-US" sz="2400">
              <a:solidFill>
                <a:schemeClr val="bg2"/>
              </a:solidFill>
            </a:endParaRPr>
          </a:p>
          <a:p>
            <a:r>
              <a:rPr lang="en-US" sz="2400" dirty="0">
                <a:solidFill>
                  <a:schemeClr val="bg2"/>
                </a:solidFill>
              </a:rPr>
              <a:t>- Edit &gt; Project Settings... &gt; Graphics</a:t>
            </a:r>
            <a:endParaRPr lang="en-US" sz="2400" dirty="0">
              <a:solidFill>
                <a:schemeClr val="tx1"/>
              </a:solidFill>
            </a:endParaRPr>
          </a:p>
          <a:p>
            <a:r>
              <a:rPr lang="en-US" sz="2400" dirty="0">
                <a:solidFill>
                  <a:schemeClr val="bg2"/>
                </a:solidFill>
              </a:rPr>
              <a:t>- In Project Settings &gt; Graphics: Scriptable Render Pipeline Settings → drag the Pipeline Asset here.</a:t>
            </a:r>
            <a:endParaRPr lang="en-US" dirty="0">
              <a:solidFill>
                <a:schemeClr val="bg2"/>
              </a:solidFill>
            </a:endParaRPr>
          </a:p>
          <a:p>
            <a:endParaRPr lang="en-US" dirty="0"/>
          </a:p>
          <a:p>
            <a:pPr marL="0" marR="0" lvl="0" indent="0" algn="l" rtl="0">
              <a:spcBef>
                <a:spcPts val="0"/>
              </a:spcBef>
              <a:spcAft>
                <a:spcPts val="0"/>
              </a:spcAft>
              <a:buNone/>
            </a:pPr>
            <a:endParaRPr lang="en-US" sz="2400" dirty="0">
              <a:solidFill>
                <a:srgbClr val="FF0000"/>
              </a:solidFill>
              <a:ea typeface="Quattrocento Sans"/>
            </a:endParaRPr>
          </a:p>
          <a:p>
            <a:endParaRPr lang="en-GB" sz="1800" dirty="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2574586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7C5BFC6D-56A4-ED82-95CB-91EDA540F678}"/>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A717860D-5311-A5D3-8B4B-928FD0775C70}"/>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052002E1-E213-ADAB-DCDF-74257F464551}"/>
              </a:ext>
            </a:extLst>
          </p:cNvPr>
          <p:cNvSpPr txBox="1"/>
          <p:nvPr/>
        </p:nvSpPr>
        <p:spPr>
          <a:xfrm>
            <a:off x="609600" y="1091452"/>
            <a:ext cx="10890738" cy="446272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rgbClr val="FF0000"/>
                </a:solidFill>
              </a:rPr>
              <a:t>4. If not created, Create URP Pipeline Asset (and Forward Renderer)</a:t>
            </a:r>
            <a:endParaRPr lang="en-US" sz="2400" dirty="0">
              <a:solidFill>
                <a:schemeClr val="bg2"/>
              </a:solidFill>
            </a:endParaRPr>
          </a:p>
          <a:p>
            <a:r>
              <a:rPr lang="en-US" sz="2400" dirty="0">
                <a:solidFill>
                  <a:srgbClr val="FF0000"/>
                </a:solidFill>
              </a:rPr>
              <a:t>- Assets &gt; Create &gt; Rendering &gt; Universal Render Pipeline &gt; Pipeline Asset (Forward Renderer)</a:t>
            </a:r>
            <a:endParaRPr lang="en-US" sz="2400" dirty="0">
              <a:solidFill>
                <a:schemeClr val="bg2"/>
              </a:solidFill>
            </a:endParaRPr>
          </a:p>
          <a:p>
            <a:r>
              <a:rPr lang="en-US" sz="2400" dirty="0">
                <a:solidFill>
                  <a:srgbClr val="FF0000"/>
                </a:solidFill>
              </a:rPr>
              <a:t>- This creates a Pipeline Asset (and a Forward Renderer asset).</a:t>
            </a:r>
            <a:endParaRPr lang="en-US" dirty="0"/>
          </a:p>
          <a:p>
            <a:endParaRPr lang="en-US"/>
          </a:p>
          <a:p>
            <a:r>
              <a:rPr lang="en-US" sz="2400" dirty="0">
                <a:solidFill>
                  <a:schemeClr val="tx1"/>
                </a:solidFill>
              </a:rPr>
              <a:t>5. (Optional) Assign to Quality levels</a:t>
            </a:r>
            <a:endParaRPr lang="en-US" dirty="0">
              <a:solidFill>
                <a:schemeClr val="tx1"/>
              </a:solidFill>
            </a:endParaRPr>
          </a:p>
          <a:p>
            <a:r>
              <a:rPr lang="en-US" sz="2400" dirty="0">
                <a:solidFill>
                  <a:schemeClr val="tx1"/>
                </a:solidFill>
              </a:rPr>
              <a:t>- Edit &gt; Project Settings... &gt; Quality</a:t>
            </a:r>
            <a:endParaRPr lang="en-US" dirty="0">
              <a:solidFill>
                <a:schemeClr val="tx1"/>
              </a:solidFill>
            </a:endParaRPr>
          </a:p>
          <a:p>
            <a:r>
              <a:rPr lang="en-US" sz="2400" dirty="0">
                <a:solidFill>
                  <a:schemeClr val="tx1"/>
                </a:solidFill>
              </a:rPr>
              <a:t>- For each quality level: Render Pipeline Asset column → drag the Pipeline Asset.</a:t>
            </a:r>
            <a:endParaRPr dirty="0">
              <a:solidFill>
                <a:schemeClr val="tx1"/>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7693213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D4E6ED7F-5EDF-C3BA-940C-4E156BD52C75}"/>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E7803F9B-CDB9-C834-1ABD-C5F8319B5D36}"/>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8921EFF9-6352-4EF6-38D5-A92E46D5D11E}"/>
              </a:ext>
            </a:extLst>
          </p:cNvPr>
          <p:cNvSpPr txBox="1"/>
          <p:nvPr/>
        </p:nvSpPr>
        <p:spPr>
          <a:xfrm>
            <a:off x="609600" y="1091452"/>
            <a:ext cx="10890738" cy="483205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rPr>
              <a:t>6. Upgrade built-in materials</a:t>
            </a:r>
            <a:endParaRPr lang="en-US" dirty="0">
              <a:solidFill>
                <a:schemeClr val="tx1"/>
              </a:solidFill>
            </a:endParaRPr>
          </a:p>
          <a:p>
            <a:r>
              <a:rPr lang="en-US" sz="2400" dirty="0">
                <a:solidFill>
                  <a:schemeClr val="tx1"/>
                </a:solidFill>
              </a:rPr>
              <a:t>- Edit &gt; Render Pipeline &gt; Universal Render Pipeline &gt; Upgrade Project Materials to URP Materials</a:t>
            </a:r>
            <a:endParaRPr lang="en-US" dirty="0">
              <a:solidFill>
                <a:schemeClr val="tx1"/>
              </a:solidFill>
            </a:endParaRPr>
          </a:p>
          <a:p>
            <a:r>
              <a:rPr lang="en-US" sz="2400" dirty="0">
                <a:solidFill>
                  <a:schemeClr val="tx1"/>
                </a:solidFill>
              </a:rPr>
              <a:t>- (Or) Edit &gt; Render Pipeline &gt; Universal Render Pipeline &gt; Upgrade Scene Materials to URP Materials</a:t>
            </a:r>
            <a:endParaRPr lang="en-US" dirty="0">
              <a:solidFill>
                <a:schemeClr val="tx1"/>
              </a:solidFill>
            </a:endParaRPr>
          </a:p>
          <a:p>
            <a:endParaRPr lang="en-US"/>
          </a:p>
          <a:p>
            <a:r>
              <a:rPr lang="en-US" sz="2400" dirty="0">
                <a:solidFill>
                  <a:srgbClr val="FF0000"/>
                </a:solidFill>
              </a:rPr>
              <a:t>7. Re-bake lighting (after upgrades)</a:t>
            </a:r>
            <a:endParaRPr lang="en-US">
              <a:solidFill>
                <a:srgbClr val="FF0000"/>
              </a:solidFill>
            </a:endParaRPr>
          </a:p>
          <a:p>
            <a:r>
              <a:rPr lang="en-US" sz="2400" dirty="0">
                <a:solidFill>
                  <a:srgbClr val="FF0000"/>
                </a:solidFill>
              </a:rPr>
              <a:t>- Window &gt; Rendering &gt; Lighting</a:t>
            </a:r>
            <a:endParaRPr lang="en-US">
              <a:solidFill>
                <a:srgbClr val="FF0000"/>
              </a:solidFill>
            </a:endParaRPr>
          </a:p>
          <a:p>
            <a:r>
              <a:rPr lang="en-US" sz="2400" dirty="0">
                <a:solidFill>
                  <a:srgbClr val="FF0000"/>
                </a:solidFill>
              </a:rPr>
              <a:t>- In Lighting window: click "Generate Lighting" (or "Bake") or toggle "Auto Generate" if you prefer automatic baking.</a:t>
            </a:r>
            <a:endParaRPr dirty="0">
              <a:solidFill>
                <a:srgbClr val="FF0000"/>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180737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BB92C2C7-A073-6961-CDDA-AE56F676699C}"/>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721299FE-F032-1F95-2DFC-26C41EB51ECF}"/>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42A14A1E-86DB-C961-979D-E0D63B258F23}"/>
              </a:ext>
            </a:extLst>
          </p:cNvPr>
          <p:cNvSpPr txBox="1"/>
          <p:nvPr/>
        </p:nvSpPr>
        <p:spPr>
          <a:xfrm>
            <a:off x="609600" y="1091452"/>
            <a:ext cx="10890738" cy="483205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rPr>
              <a:t>8. Quick check</a:t>
            </a:r>
            <a:endParaRPr lang="en-US">
              <a:solidFill>
                <a:schemeClr val="tx1"/>
              </a:solidFill>
            </a:endParaRPr>
          </a:p>
          <a:p>
            <a:r>
              <a:rPr lang="en-US" sz="2400" dirty="0">
                <a:solidFill>
                  <a:schemeClr val="tx1"/>
                </a:solidFill>
              </a:rPr>
              <a:t>- Select main Directional Light in Hierarchy → Inspector: ensure Shadows is not "None".</a:t>
            </a:r>
            <a:endParaRPr lang="en-US">
              <a:solidFill>
                <a:schemeClr val="tx1"/>
              </a:solidFill>
            </a:endParaRPr>
          </a:p>
          <a:p>
            <a:r>
              <a:rPr lang="en-US" sz="2400" dirty="0">
                <a:solidFill>
                  <a:schemeClr val="tx1"/>
                </a:solidFill>
              </a:rPr>
              <a:t>- Play scene in Editor and visually confirm lighting.</a:t>
            </a:r>
            <a:endParaRPr lang="en-US">
              <a:solidFill>
                <a:schemeClr val="tx1"/>
              </a:solidFill>
            </a:endParaRPr>
          </a:p>
          <a:p>
            <a:endParaRPr lang="en-US"/>
          </a:p>
          <a:p>
            <a:r>
              <a:rPr lang="en-US" sz="2400" dirty="0">
                <a:solidFill>
                  <a:schemeClr val="tx1"/>
                </a:solidFill>
              </a:rPr>
              <a:t>9. If visuals look off (common quick fixes)</a:t>
            </a:r>
            <a:endParaRPr lang="en-US">
              <a:solidFill>
                <a:schemeClr val="tx1"/>
              </a:solidFill>
            </a:endParaRPr>
          </a:p>
          <a:p>
            <a:r>
              <a:rPr lang="en-US" sz="2400" dirty="0">
                <a:solidFill>
                  <a:schemeClr val="tx1"/>
                </a:solidFill>
              </a:rPr>
              <a:t>- Check Camera exposure/post-processing volumes.</a:t>
            </a:r>
            <a:endParaRPr lang="en-US">
              <a:solidFill>
                <a:schemeClr val="tx1"/>
              </a:solidFill>
            </a:endParaRPr>
          </a:p>
          <a:p>
            <a:r>
              <a:rPr lang="en-US" sz="2400" dirty="0">
                <a:solidFill>
                  <a:schemeClr val="tx1"/>
                </a:solidFill>
              </a:rPr>
              <a:t>- Check converted Material inspector: Shader should show "Universal Render Pipeline/Lit" and Emission or Transparency settings may need re-enabling.</a:t>
            </a:r>
            <a:endParaRPr lang="en-US">
              <a:solidFill>
                <a:schemeClr val="tx1"/>
              </a:solidFill>
            </a:endParaRPr>
          </a:p>
          <a:p>
            <a:r>
              <a:rPr lang="en-US" sz="2400" dirty="0">
                <a:solidFill>
                  <a:schemeClr val="tx1"/>
                </a:solidFill>
              </a:rPr>
              <a:t>- Re-bake lighting if materials changed.</a:t>
            </a:r>
            <a:endParaRPr dirty="0">
              <a:solidFill>
                <a:schemeClr val="tx1"/>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34095268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A3C3BE15-3988-4834-51D2-8CFB4E519D11}"/>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2B73A6B6-027A-C022-9FDE-7E400A7A78A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DA2F13F3-D068-BD6E-D993-DF8C39871122}"/>
              </a:ext>
            </a:extLst>
          </p:cNvPr>
          <p:cNvSpPr txBox="1"/>
          <p:nvPr/>
        </p:nvSpPr>
        <p:spPr>
          <a:xfrm>
            <a:off x="609600" y="1091452"/>
            <a:ext cx="10890738" cy="4616608"/>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latin typeface="Calibri"/>
              </a:rPr>
              <a:t>Quick summary of main steps</a:t>
            </a:r>
          </a:p>
          <a:p>
            <a:r>
              <a:rPr lang="en-US" sz="2400" dirty="0">
                <a:solidFill>
                  <a:schemeClr val="tx1"/>
                </a:solidFill>
                <a:latin typeface="Calibri"/>
              </a:rPr>
              <a:t>1. Install URP package.</a:t>
            </a:r>
          </a:p>
          <a:p>
            <a:r>
              <a:rPr lang="en-US" sz="2400" dirty="0">
                <a:solidFill>
                  <a:schemeClr val="tx1"/>
                </a:solidFill>
                <a:latin typeface="Calibri"/>
              </a:rPr>
              <a:t>2. Create a URP Pipeline Asset and Forward Renderer.</a:t>
            </a:r>
          </a:p>
          <a:p>
            <a:r>
              <a:rPr lang="en-US" sz="2400" dirty="0">
                <a:solidFill>
                  <a:schemeClr val="tx1"/>
                </a:solidFill>
                <a:latin typeface="Calibri"/>
              </a:rPr>
              <a:t>3. Assign the URP Pipeline Asset in Project Settings and Quality settings.</a:t>
            </a:r>
          </a:p>
          <a:p>
            <a:r>
              <a:rPr lang="en-US" sz="2400" dirty="0">
                <a:solidFill>
                  <a:schemeClr val="tx1"/>
                </a:solidFill>
                <a:latin typeface="Calibri"/>
              </a:rPr>
              <a:t>4. Upgrade built-in materials (project/scene) to URP materials.</a:t>
            </a:r>
          </a:p>
          <a:p>
            <a:r>
              <a:rPr lang="en-US" sz="2400" dirty="0">
                <a:solidFill>
                  <a:schemeClr val="tx1"/>
                </a:solidFill>
                <a:latin typeface="Calibri"/>
              </a:rPr>
              <a:t>5. Migrate custom shaders (Surface Shaders → Shader Graph / URP HLSL).</a:t>
            </a:r>
          </a:p>
          <a:p>
            <a:r>
              <a:rPr lang="en-US" sz="2400" dirty="0">
                <a:solidFill>
                  <a:schemeClr val="tx1"/>
                </a:solidFill>
                <a:latin typeface="Calibri"/>
              </a:rPr>
              <a:t>6. Validate lights, shadows, GI, reflection/light probes; re-bake lighting.</a:t>
            </a:r>
          </a:p>
          <a:p>
            <a:r>
              <a:rPr lang="en-US" sz="2400" dirty="0">
                <a:solidFill>
                  <a:schemeClr val="tx1"/>
                </a:solidFill>
                <a:latin typeface="Calibri"/>
              </a:rPr>
              <a:t>7. Tune Renderer Features, SRP Batcher, and performance settings.</a:t>
            </a:r>
          </a:p>
          <a:p>
            <a:r>
              <a:rPr lang="en-US" sz="2400" dirty="0">
                <a:solidFill>
                  <a:schemeClr val="tx1"/>
                </a:solidFill>
                <a:latin typeface="Calibri"/>
              </a:rPr>
              <a:t>8. Test on target platforms; fix visual mismatches.</a:t>
            </a:r>
            <a:endParaRPr sz="2400" dirty="0">
              <a:solidFill>
                <a:schemeClr val="tx1"/>
              </a:solidFill>
              <a:latin typeface="Calibri"/>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5679498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E0F6A1BA-6A36-456F-7574-AD419999925C}"/>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57EBBB49-3EB4-BAF2-852F-536B05667270}"/>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2DF3E80C-737E-F24E-1484-70A39775D844}"/>
              </a:ext>
            </a:extLst>
          </p:cNvPr>
          <p:cNvSpPr txBox="1"/>
          <p:nvPr/>
        </p:nvSpPr>
        <p:spPr>
          <a:xfrm>
            <a:off x="609600" y="1091452"/>
            <a:ext cx="10890738" cy="4247276"/>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rPr>
              <a:t>1) Install URP package</a:t>
            </a:r>
            <a:endParaRPr lang="en-US" dirty="0">
              <a:solidFill>
                <a:schemeClr val="tx1"/>
              </a:solidFill>
            </a:endParaRPr>
          </a:p>
          <a:p>
            <a:r>
              <a:rPr lang="en-US" sz="2400" dirty="0">
                <a:solidFill>
                  <a:schemeClr val="tx1"/>
                </a:solidFill>
              </a:rPr>
              <a:t>- Menu: Window &gt; Package Manager</a:t>
            </a:r>
            <a:endParaRPr lang="en-US" dirty="0">
              <a:solidFill>
                <a:schemeClr val="tx1"/>
              </a:solidFill>
            </a:endParaRPr>
          </a:p>
          <a:p>
            <a:r>
              <a:rPr lang="en-US" sz="2400" dirty="0">
                <a:solidFill>
                  <a:schemeClr val="tx1"/>
                </a:solidFill>
              </a:rPr>
              <a:t>  - Select "Unity Registry" (top-left dropdown).</a:t>
            </a:r>
            <a:endParaRPr lang="en-US" dirty="0">
              <a:solidFill>
                <a:schemeClr val="tx1"/>
              </a:solidFill>
            </a:endParaRPr>
          </a:p>
          <a:p>
            <a:r>
              <a:rPr lang="en-US" sz="2400" dirty="0">
                <a:solidFill>
                  <a:schemeClr val="tx1"/>
                </a:solidFill>
              </a:rPr>
              <a:t>  - Search for "Universal RP" or "Universal Render Pipeline".</a:t>
            </a:r>
            <a:endParaRPr lang="en-US" dirty="0">
              <a:solidFill>
                <a:schemeClr val="tx1"/>
              </a:solidFill>
            </a:endParaRPr>
          </a:p>
          <a:p>
            <a:r>
              <a:rPr lang="en-US" sz="2400" dirty="0">
                <a:solidFill>
                  <a:schemeClr val="tx1"/>
                </a:solidFill>
              </a:rPr>
              <a:t>  - Select the package item "Universal RP" or "Universal Render Pipeline".</a:t>
            </a:r>
            <a:endParaRPr lang="en-US" dirty="0">
              <a:solidFill>
                <a:schemeClr val="tx1"/>
              </a:solidFill>
            </a:endParaRPr>
          </a:p>
          <a:p>
            <a:r>
              <a:rPr lang="en-US" sz="2400" dirty="0">
                <a:solidFill>
                  <a:schemeClr val="tx1"/>
                </a:solidFill>
              </a:rPr>
              <a:t>  - Click the Install button.</a:t>
            </a:r>
            <a:endParaRPr lang="en-US" dirty="0">
              <a:solidFill>
                <a:schemeClr val="tx1"/>
              </a:solidFill>
            </a:endParaRPr>
          </a:p>
          <a:p>
            <a:r>
              <a:rPr lang="en-US" sz="2400" dirty="0">
                <a:solidFill>
                  <a:schemeClr val="tx1"/>
                </a:solidFill>
              </a:rPr>
              <a:t>  - If you see versions, choose the URP version that matches your Unity LTS compatibility (consult Unity docs).</a:t>
            </a:r>
            <a:endParaRPr dirty="0">
              <a:solidFill>
                <a:schemeClr val="tx1"/>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39412135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DC08F2C7-25F5-FB85-59CB-1F023C005297}"/>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0B494659-B29C-62EC-2A63-3889DBA35714}"/>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84121ABE-3F55-9E4F-AF63-AF455C2EB9AC}"/>
              </a:ext>
            </a:extLst>
          </p:cNvPr>
          <p:cNvSpPr txBox="1"/>
          <p:nvPr/>
        </p:nvSpPr>
        <p:spPr>
          <a:xfrm>
            <a:off x="609600" y="1091452"/>
            <a:ext cx="10890738" cy="5724604"/>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tx1"/>
                </a:solidFill>
                <a:latin typeface="Calibri"/>
              </a:rPr>
              <a:t>2) </a:t>
            </a:r>
            <a:r>
              <a:rPr lang="en-US" sz="2400" dirty="0">
                <a:solidFill>
                  <a:srgbClr val="FF0000"/>
                </a:solidFill>
                <a:latin typeface="Calibri"/>
              </a:rPr>
              <a:t>Create URP Pipeline Asset and Renderer</a:t>
            </a:r>
          </a:p>
          <a:p>
            <a:r>
              <a:rPr lang="en-US" sz="2400" dirty="0">
                <a:solidFill>
                  <a:schemeClr val="tx1"/>
                </a:solidFill>
                <a:latin typeface="Calibri"/>
              </a:rPr>
              <a:t>- Menu: Assets &gt; Create &gt; Rendering &gt; Universal Render Pipeline &gt; Pipeline Asset (Forward Renderer)</a:t>
            </a:r>
          </a:p>
          <a:p>
            <a:r>
              <a:rPr lang="en-US" sz="2400" dirty="0">
                <a:solidFill>
                  <a:schemeClr val="tx1"/>
                </a:solidFill>
                <a:latin typeface="Calibri"/>
              </a:rPr>
              <a:t>  - Creates two or more assets: a Pipeline Asset (</a:t>
            </a:r>
            <a:r>
              <a:rPr lang="en-US" sz="2400" err="1">
                <a:solidFill>
                  <a:schemeClr val="tx1"/>
                </a:solidFill>
                <a:latin typeface="Calibri"/>
              </a:rPr>
              <a:t>UniversalRenderPipelineAsset</a:t>
            </a:r>
            <a:r>
              <a:rPr lang="en-US" sz="2400" dirty="0">
                <a:solidFill>
                  <a:schemeClr val="tx1"/>
                </a:solidFill>
                <a:latin typeface="Calibri"/>
              </a:rPr>
              <a:t>) and a Forward Renderer (</a:t>
            </a:r>
            <a:r>
              <a:rPr lang="en-US" sz="2400" err="1">
                <a:solidFill>
                  <a:schemeClr val="tx1"/>
                </a:solidFill>
                <a:latin typeface="Calibri"/>
              </a:rPr>
              <a:t>UniversalRendererAsset</a:t>
            </a:r>
            <a:r>
              <a:rPr lang="en-US" sz="2400" dirty="0">
                <a:solidFill>
                  <a:schemeClr val="tx1"/>
                </a:solidFill>
                <a:latin typeface="Calibri"/>
              </a:rPr>
              <a:t>) depending on Unity version.</a:t>
            </a:r>
          </a:p>
          <a:p>
            <a:r>
              <a:rPr lang="en-US" sz="2400" dirty="0">
                <a:solidFill>
                  <a:schemeClr val="tx1"/>
                </a:solidFill>
                <a:latin typeface="Calibri"/>
              </a:rPr>
              <a:t>  - If prompted, pick the "Pipeline Asset (Forward Renderer)" variant (or create both the Pipeline Asset and a Forward Renderer separately).</a:t>
            </a:r>
          </a:p>
          <a:p>
            <a:pPr marL="0" marR="0" lvl="0" indent="0" algn="l">
              <a:spcBef>
                <a:spcPts val="0"/>
              </a:spcBef>
              <a:spcAft>
                <a:spcPts val="0"/>
              </a:spcAft>
              <a:buNone/>
            </a:pPr>
            <a:endParaRPr lang="en-US" sz="2400" dirty="0">
              <a:solidFill>
                <a:schemeClr val="tx1"/>
              </a:solidFill>
              <a:latin typeface="Calibri"/>
              <a:ea typeface="Quattrocento Sans"/>
            </a:endParaRPr>
          </a:p>
          <a:p>
            <a:r>
              <a:rPr lang="en-US" sz="2400">
                <a:solidFill>
                  <a:schemeClr val="tx1"/>
                </a:solidFill>
                <a:latin typeface="Calibri"/>
              </a:rPr>
              <a:t>- Alternative: Assets &gt; Create &gt; Rendering &gt; Universal Render Pipeline &gt; Forward Renderer</a:t>
            </a:r>
            <a:endParaRPr lang="en-GB" sz="2400">
              <a:solidFill>
                <a:schemeClr val="tx1"/>
              </a:solidFill>
              <a:latin typeface="Calibri"/>
            </a:endParaRPr>
          </a:p>
          <a:p>
            <a:r>
              <a:rPr lang="en-US" sz="2400" dirty="0">
                <a:solidFill>
                  <a:schemeClr val="tx1"/>
                </a:solidFill>
                <a:latin typeface="Calibri"/>
              </a:rPr>
              <a:t>  - Use this to create a named Forward Renderer asset to be referenced by a Pipeline Asset.</a:t>
            </a:r>
            <a:endParaRPr lang="en-GB" sz="2400" dirty="0">
              <a:solidFill>
                <a:schemeClr val="tx1"/>
              </a:solidFill>
              <a:latin typeface="Calibri"/>
            </a:endParaRPr>
          </a:p>
          <a:p>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10715399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EB68A309-DDC6-F8D9-0618-3AEC0BEFF010}"/>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DDB6C164-CB97-7AC6-4645-CBEA3D4DAEC1}"/>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18DED2D8-8B0B-95FC-80A0-975AEE05F19F}"/>
              </a:ext>
            </a:extLst>
          </p:cNvPr>
          <p:cNvSpPr txBox="1"/>
          <p:nvPr/>
        </p:nvSpPr>
        <p:spPr>
          <a:xfrm>
            <a:off x="609600" y="1091452"/>
            <a:ext cx="10890738" cy="350861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rgbClr val="FF0000"/>
                </a:solidFill>
              </a:rPr>
              <a:t>3) Assign URP asset to project &amp; quality levels</a:t>
            </a:r>
            <a:endParaRPr lang="en-US" dirty="0"/>
          </a:p>
          <a:p>
            <a:r>
              <a:rPr lang="en-US" sz="2400" dirty="0">
                <a:solidFill>
                  <a:srgbClr val="FF0000"/>
                </a:solidFill>
              </a:rPr>
              <a:t>- Assign globally:</a:t>
            </a:r>
            <a:endParaRPr lang="en-US" dirty="0"/>
          </a:p>
          <a:p>
            <a:r>
              <a:rPr lang="en-US" sz="2400" dirty="0">
                <a:solidFill>
                  <a:srgbClr val="FF0000"/>
                </a:solidFill>
              </a:rPr>
              <a:t>  - Menu: Edit &gt; Project Settings... &gt; Graphics</a:t>
            </a:r>
            <a:endParaRPr lang="en-US" dirty="0"/>
          </a:p>
          <a:p>
            <a:r>
              <a:rPr lang="en-US" sz="2400" dirty="0">
                <a:solidFill>
                  <a:srgbClr val="FF0000"/>
                </a:solidFill>
              </a:rPr>
              <a:t>    - Field: Scriptable Render Pipeline Settings (or Scriptable Render Pipeline Asset)</a:t>
            </a:r>
            <a:endParaRPr lang="en-US" dirty="0">
              <a:solidFill>
                <a:srgbClr val="FF0000"/>
              </a:solidFill>
            </a:endParaRPr>
          </a:p>
          <a:p>
            <a:r>
              <a:rPr lang="en-US" sz="2400" dirty="0">
                <a:solidFill>
                  <a:srgbClr val="FF0000"/>
                </a:solidFill>
              </a:rPr>
              <a:t>    - Drag the Pipeline Asset (</a:t>
            </a:r>
            <a:r>
              <a:rPr lang="en-US" sz="2400" dirty="0" err="1">
                <a:solidFill>
                  <a:srgbClr val="FF0000"/>
                </a:solidFill>
              </a:rPr>
              <a:t>UniversalRenderPipelineAsset</a:t>
            </a:r>
            <a:r>
              <a:rPr lang="en-US" sz="2400" dirty="0">
                <a:solidFill>
                  <a:srgbClr val="FF0000"/>
                </a:solidFill>
              </a:rPr>
              <a:t>) into this field.</a:t>
            </a:r>
            <a:endParaRPr dirty="0">
              <a:solidFill>
                <a:srgbClr val="FF0000"/>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19109624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9E2A9465-2ACD-9BB4-6168-975453128CEC}"/>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DDDE31A0-69B6-5D7E-315E-78D75A3FF5F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26AC11FA-C9BB-C4B6-FCAA-DCA1259FA4CA}"/>
              </a:ext>
            </a:extLst>
          </p:cNvPr>
          <p:cNvSpPr txBox="1"/>
          <p:nvPr/>
        </p:nvSpPr>
        <p:spPr>
          <a:xfrm>
            <a:off x="609600" y="1091452"/>
            <a:ext cx="10890738" cy="350861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 Assign per-quality:</a:t>
            </a:r>
            <a:endParaRPr lang="en-US" dirty="0">
              <a:solidFill>
                <a:schemeClr val="bg2"/>
              </a:solidFill>
            </a:endParaRPr>
          </a:p>
          <a:p>
            <a:r>
              <a:rPr lang="en-US" sz="2400" dirty="0">
                <a:solidFill>
                  <a:schemeClr val="bg2"/>
                </a:solidFill>
              </a:rPr>
              <a:t>  - Menu: Edit &gt; Project Settings... &gt; Quality</a:t>
            </a:r>
            <a:endParaRPr lang="en-US" dirty="0">
              <a:solidFill>
                <a:schemeClr val="bg2"/>
              </a:solidFill>
            </a:endParaRPr>
          </a:p>
          <a:p>
            <a:r>
              <a:rPr lang="en-US" sz="2400" dirty="0">
                <a:solidFill>
                  <a:schemeClr val="bg2"/>
                </a:solidFill>
              </a:rPr>
              <a:t>    - For each Quality level you use, in the "Render Pipeline Asset" (or "Scriptable Render Pipeline Settings") column, drag the same </a:t>
            </a:r>
            <a:r>
              <a:rPr lang="en-US" sz="2400" dirty="0" err="1">
                <a:solidFill>
                  <a:schemeClr val="bg2"/>
                </a:solidFill>
              </a:rPr>
              <a:t>UniversalRenderPipelineAsset</a:t>
            </a:r>
            <a:r>
              <a:rPr lang="en-US" sz="2400" dirty="0">
                <a:solidFill>
                  <a:schemeClr val="bg2"/>
                </a:solidFill>
              </a:rPr>
              <a:t>.</a:t>
            </a:r>
            <a:endParaRPr lang="en-US" dirty="0">
              <a:solidFill>
                <a:schemeClr val="bg2"/>
              </a:solidFill>
            </a:endParaRPr>
          </a:p>
          <a:p>
            <a:r>
              <a:rPr lang="en-US" sz="2400" dirty="0">
                <a:solidFill>
                  <a:schemeClr val="bg2"/>
                </a:solidFill>
              </a:rPr>
              <a:t>    - Note: Many projects assign it to all quality levels.</a:t>
            </a:r>
            <a:endParaRPr dirty="0">
              <a:solidFill>
                <a:schemeClr val="bg2"/>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802243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BD8FA417-256D-B858-BAC9-EB9882894152}"/>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1A5D357C-1562-1456-6FE1-299B1ACAE8F4}"/>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CB5859D4-B7C8-A350-C094-A841DFBCCE5C}"/>
              </a:ext>
            </a:extLst>
          </p:cNvPr>
          <p:cNvSpPr txBox="1"/>
          <p:nvPr/>
        </p:nvSpPr>
        <p:spPr>
          <a:xfrm>
            <a:off x="609600" y="1091452"/>
            <a:ext cx="10890738" cy="498594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4) Use the Material Upgrade utility</a:t>
            </a:r>
            <a:endParaRPr lang="en-US" dirty="0"/>
          </a:p>
          <a:p>
            <a:r>
              <a:rPr lang="en-US" sz="2400" dirty="0">
                <a:solidFill>
                  <a:schemeClr val="bg2"/>
                </a:solidFill>
              </a:rPr>
              <a:t>- Menu: Edit &gt; Render Pipeline &gt; Universal Render Pipeline</a:t>
            </a:r>
            <a:endParaRPr lang="en-US" dirty="0"/>
          </a:p>
          <a:p>
            <a:r>
              <a:rPr lang="en-US" sz="2400" dirty="0">
                <a:solidFill>
                  <a:schemeClr val="bg2"/>
                </a:solidFill>
              </a:rPr>
              <a:t>  - Options you will see (depending on version):</a:t>
            </a:r>
            <a:endParaRPr lang="en-US" dirty="0"/>
          </a:p>
          <a:p>
            <a:r>
              <a:rPr lang="en-US" sz="2400" dirty="0">
                <a:solidFill>
                  <a:schemeClr val="bg2"/>
                </a:solidFill>
              </a:rPr>
              <a:t>    - Upgrade Project Materials to URP Materials</a:t>
            </a:r>
            <a:endParaRPr lang="en-US" dirty="0"/>
          </a:p>
          <a:p>
            <a:r>
              <a:rPr lang="en-US" sz="2400" dirty="0">
                <a:solidFill>
                  <a:schemeClr val="bg2"/>
                </a:solidFill>
              </a:rPr>
              <a:t>    - Upgrade Scene Materials to URP Materials</a:t>
            </a:r>
            <a:endParaRPr lang="en-US" dirty="0"/>
          </a:p>
          <a:p>
            <a:r>
              <a:rPr lang="en-US" sz="2400" dirty="0">
                <a:solidFill>
                  <a:schemeClr val="bg2"/>
                </a:solidFill>
              </a:rPr>
              <a:t>  - Actions:</a:t>
            </a:r>
            <a:endParaRPr lang="en-US" dirty="0"/>
          </a:p>
          <a:p>
            <a:r>
              <a:rPr lang="en-US" sz="2400" dirty="0">
                <a:solidFill>
                  <a:schemeClr val="bg2"/>
                </a:solidFill>
              </a:rPr>
              <a:t>    - Click "Upgrade Project Materials to URP Materials" to convert built-in materials across the project (recommended, but ensure VCS backup).</a:t>
            </a:r>
            <a:endParaRPr lang="en-US" dirty="0">
              <a:solidFill>
                <a:schemeClr val="bg2"/>
              </a:solidFill>
            </a:endParaRPr>
          </a:p>
          <a:p>
            <a:r>
              <a:rPr lang="en-US" sz="2400" dirty="0">
                <a:solidFill>
                  <a:schemeClr val="bg2"/>
                </a:solidFill>
              </a:rPr>
              <a:t>    - Optionally click "Upgrade Scene Materials to URP Materials" for an immediate scene-only conversion, if you want staged migration.</a:t>
            </a:r>
            <a:endParaRPr dirty="0">
              <a:solidFill>
                <a:schemeClr val="bg2"/>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13583462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10D0CF21-3057-6DA2-F5B1-12FA58766DB8}"/>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CF9FD3BB-4A80-4C57-06E4-10AC8FD035B0}"/>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034DD36E-9A44-8671-3327-50970D6773C8}"/>
              </a:ext>
            </a:extLst>
          </p:cNvPr>
          <p:cNvSpPr txBox="1"/>
          <p:nvPr/>
        </p:nvSpPr>
        <p:spPr>
          <a:xfrm>
            <a:off x="609600" y="1091452"/>
            <a:ext cx="10890738" cy="3508612"/>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What the upgrade does:</a:t>
            </a:r>
            <a:endParaRPr lang="en-US" dirty="0">
              <a:solidFill>
                <a:schemeClr val="bg2"/>
              </a:solidFill>
            </a:endParaRPr>
          </a:p>
          <a:p>
            <a:r>
              <a:rPr lang="en-US" sz="2400" dirty="0">
                <a:solidFill>
                  <a:schemeClr val="bg2"/>
                </a:solidFill>
              </a:rPr>
              <a:t>- Converts Standard shader materials to URP Lit or URP Simple Lit equivalents.</a:t>
            </a:r>
            <a:endParaRPr lang="en-US" dirty="0">
              <a:solidFill>
                <a:schemeClr val="bg2"/>
              </a:solidFill>
            </a:endParaRPr>
          </a:p>
          <a:p>
            <a:r>
              <a:rPr lang="en-US" sz="2400" dirty="0">
                <a:solidFill>
                  <a:schemeClr val="bg2"/>
                </a:solidFill>
              </a:rPr>
              <a:t>- Converts many built-in shader references to URP equivalents.</a:t>
            </a:r>
            <a:endParaRPr lang="en-US" dirty="0">
              <a:solidFill>
                <a:schemeClr val="bg2"/>
              </a:solidFill>
            </a:endParaRPr>
          </a:p>
          <a:p>
            <a:r>
              <a:rPr lang="en-US" sz="2400" dirty="0">
                <a:solidFill>
                  <a:schemeClr val="bg2"/>
                </a:solidFill>
              </a:rPr>
              <a:t>- It does NOT convert custom shaders (Surface Shader / custom CG/HLSL) — you must convert those manually.</a:t>
            </a:r>
            <a:endParaRPr dirty="0">
              <a:solidFill>
                <a:schemeClr val="bg2"/>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3540726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E3AB70A9-95EF-19AA-D01F-E4F1C919FE0A}"/>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64504B53-9DB4-9F50-0A14-15FF8FC5BB75}"/>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BA13E39D-4305-F26A-8A0A-533891A105E8}"/>
              </a:ext>
            </a:extLst>
          </p:cNvPr>
          <p:cNvSpPr txBox="1"/>
          <p:nvPr/>
        </p:nvSpPr>
        <p:spPr>
          <a:xfrm>
            <a:off x="609600" y="1091452"/>
            <a:ext cx="10890738" cy="5078273"/>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5) Convert custom shaders and Surface Shaders</a:t>
            </a:r>
            <a:endParaRPr lang="en-US" dirty="0"/>
          </a:p>
          <a:p>
            <a:r>
              <a:rPr lang="en-US" sz="2400" dirty="0">
                <a:solidFill>
                  <a:schemeClr val="bg2"/>
                </a:solidFill>
              </a:rPr>
              <a:t>- Surface Shaders are not supported by URP. Options:</a:t>
            </a:r>
            <a:endParaRPr lang="en-US" dirty="0"/>
          </a:p>
          <a:p>
            <a:r>
              <a:rPr lang="en-US" sz="2400" dirty="0">
                <a:solidFill>
                  <a:schemeClr val="bg2"/>
                </a:solidFill>
              </a:rPr>
              <a:t>  - Recreate shaders in Shader Graph:</a:t>
            </a:r>
            <a:endParaRPr lang="en-US" dirty="0">
              <a:solidFill>
                <a:schemeClr val="bg2"/>
              </a:solidFill>
            </a:endParaRPr>
          </a:p>
          <a:p>
            <a:r>
              <a:rPr lang="en-US" sz="2400" dirty="0">
                <a:solidFill>
                  <a:schemeClr val="bg2"/>
                </a:solidFill>
              </a:rPr>
              <a:t>    - Menu: Assets &gt; Create &gt; Shader &gt; Universal Render Pipeline &gt; Lit Shader Graph (or "Shader Graph" &gt; "URP Lit")</a:t>
            </a:r>
            <a:endParaRPr lang="en-US"/>
          </a:p>
          <a:p>
            <a:r>
              <a:rPr lang="en-US" sz="2400" dirty="0">
                <a:solidFill>
                  <a:schemeClr val="bg2"/>
                </a:solidFill>
              </a:rPr>
              <a:t>    - Create a new Material from the Shader Graph:</a:t>
            </a:r>
            <a:endParaRPr lang="en-US" dirty="0"/>
          </a:p>
          <a:p>
            <a:r>
              <a:rPr lang="en-US" sz="2400" dirty="0">
                <a:solidFill>
                  <a:schemeClr val="bg2"/>
                </a:solidFill>
              </a:rPr>
              <a:t>      - Right-click </a:t>
            </a:r>
            <a:r>
              <a:rPr lang="en-US" sz="2400" dirty="0" err="1">
                <a:solidFill>
                  <a:schemeClr val="bg2"/>
                </a:solidFill>
              </a:rPr>
              <a:t>ShaderGraph</a:t>
            </a:r>
            <a:r>
              <a:rPr lang="en-US" sz="2400" dirty="0">
                <a:solidFill>
                  <a:schemeClr val="bg2"/>
                </a:solidFill>
              </a:rPr>
              <a:t> asset &gt; Create &gt; Material OR create new material and assign the Shader Graph under Shader dropdown.</a:t>
            </a:r>
            <a:endParaRPr lang="en-US" dirty="0"/>
          </a:p>
          <a:p>
            <a:r>
              <a:rPr lang="en-US" sz="2400" dirty="0">
                <a:solidFill>
                  <a:schemeClr val="bg2"/>
                </a:solidFill>
              </a:rPr>
              <a:t>    - Replicate inputs (Albedo, Normal, Metallic, Smoothness, Emission, etc.) in the graph.</a:t>
            </a:r>
            <a:endParaRPr lang="en-US"/>
          </a:p>
          <a:p>
            <a:r>
              <a:rPr lang="en-US" sz="2400" dirty="0">
                <a:solidFill>
                  <a:schemeClr val="bg2"/>
                </a:solidFill>
              </a:rPr>
              <a:t>   </a:t>
            </a:r>
            <a:endParaRPr lang="en-US" sz="2400" dirty="0">
              <a:solidFill>
                <a:schemeClr val="bg2"/>
              </a:solidFill>
              <a:ea typeface="Quattrocento Sans"/>
            </a:endParaRPr>
          </a:p>
        </p:txBody>
      </p:sp>
    </p:spTree>
    <p:extLst>
      <p:ext uri="{BB962C8B-B14F-4D97-AF65-F5344CB8AC3E}">
        <p14:creationId xmlns:p14="http://schemas.microsoft.com/office/powerpoint/2010/main" val="32869149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06E46391-584D-0E7F-8BB6-FD3EC6369D4D}"/>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4C68B95D-8637-BEA5-BF84-BC3B74AECACF}"/>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C52B6A9A-8751-5D22-2422-1E7EE16DF6B8}"/>
              </a:ext>
            </a:extLst>
          </p:cNvPr>
          <p:cNvSpPr txBox="1"/>
          <p:nvPr/>
        </p:nvSpPr>
        <p:spPr>
          <a:xfrm>
            <a:off x="609600" y="1091452"/>
            <a:ext cx="10890738" cy="498594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5) Convert custom shaders and Surface Shaders</a:t>
            </a:r>
            <a:endParaRPr lang="en-US" dirty="0">
              <a:solidFill>
                <a:schemeClr val="bg2"/>
              </a:solidFill>
            </a:endParaRPr>
          </a:p>
          <a:p>
            <a:endParaRPr lang="en-US" sz="2400" dirty="0">
              <a:solidFill>
                <a:schemeClr val="bg2"/>
              </a:solidFill>
            </a:endParaRPr>
          </a:p>
          <a:p>
            <a:r>
              <a:rPr lang="en-US" sz="2400" dirty="0">
                <a:solidFill>
                  <a:schemeClr val="bg2"/>
                </a:solidFill>
              </a:rPr>
              <a:t>    - For advanced HLSL, place code into a Custom Function node or author a custom HLSL include and use Shader Graph's Custom Function nodes.</a:t>
            </a:r>
            <a:endParaRPr lang="en-US" dirty="0">
              <a:solidFill>
                <a:schemeClr val="bg2"/>
              </a:solidFill>
            </a:endParaRPr>
          </a:p>
          <a:p>
            <a:r>
              <a:rPr lang="en-US" sz="2400" dirty="0">
                <a:solidFill>
                  <a:schemeClr val="bg2"/>
                </a:solidFill>
              </a:rPr>
              <a:t>  - Reauthor as URP HLSL/Shader (hand-written):</a:t>
            </a:r>
            <a:endParaRPr lang="en-US" dirty="0">
              <a:solidFill>
                <a:schemeClr val="bg2"/>
              </a:solidFill>
            </a:endParaRPr>
          </a:p>
          <a:p>
            <a:r>
              <a:rPr lang="en-US" sz="2400" dirty="0">
                <a:solidFill>
                  <a:schemeClr val="bg2"/>
                </a:solidFill>
              </a:rPr>
              <a:t>    - Create an unlit/lit URP-compatible shader using URP shader includes.</a:t>
            </a:r>
            <a:endParaRPr lang="en-US" dirty="0">
              <a:solidFill>
                <a:schemeClr val="bg2"/>
              </a:solidFill>
            </a:endParaRPr>
          </a:p>
          <a:p>
            <a:r>
              <a:rPr lang="en-US" sz="2400" dirty="0">
                <a:solidFill>
                  <a:schemeClr val="bg2"/>
                </a:solidFill>
              </a:rPr>
              <a:t>    - Use the URP shader include files (e.g., "Packages/</a:t>
            </a:r>
            <a:r>
              <a:rPr lang="en-US" sz="2400" dirty="0" err="1">
                <a:solidFill>
                  <a:schemeClr val="bg2"/>
                </a:solidFill>
              </a:rPr>
              <a:t>com.unity.render-pipelines.universal</a:t>
            </a:r>
            <a:r>
              <a:rPr lang="en-US" sz="2400" dirty="0">
                <a:solidFill>
                  <a:schemeClr val="bg2"/>
                </a:solidFill>
              </a:rPr>
              <a:t>/</a:t>
            </a:r>
            <a:r>
              <a:rPr lang="en-US" sz="2400" dirty="0" err="1">
                <a:solidFill>
                  <a:schemeClr val="bg2"/>
                </a:solidFill>
              </a:rPr>
              <a:t>ShaderLibrary</a:t>
            </a:r>
            <a:r>
              <a:rPr lang="en-US" sz="2400" dirty="0">
                <a:solidFill>
                  <a:schemeClr val="bg2"/>
                </a:solidFill>
              </a:rPr>
              <a:t>/...") — exact include paths vary by version.</a:t>
            </a:r>
            <a:endParaRPr lang="en-US" dirty="0">
              <a:solidFill>
                <a:schemeClr val="bg2"/>
              </a:solidFill>
            </a:endParaRPr>
          </a:p>
          <a:p>
            <a:r>
              <a:rPr lang="en-US" sz="2400" dirty="0">
                <a:solidFill>
                  <a:schemeClr val="bg2"/>
                </a:solidFill>
              </a:rPr>
              <a:t>  - Use automated conversion tools (rarely perfect). Always test visuals after conversion.</a:t>
            </a:r>
            <a:endParaRPr dirty="0">
              <a:solidFill>
                <a:schemeClr val="bg2"/>
              </a:solidFill>
            </a:endParaRPr>
          </a:p>
          <a:p>
            <a:pPr marL="0" marR="0" lvl="0" indent="0" algn="l" rtl="0">
              <a:spcBef>
                <a:spcPts val="0"/>
              </a:spcBef>
              <a:spcAft>
                <a:spcPts val="0"/>
              </a:spcAft>
              <a:buNone/>
            </a:pPr>
            <a:endParaRPr lang="en-GB" sz="1800">
              <a:solidFill>
                <a:srgbClr val="FFFFFF"/>
              </a:solidFill>
              <a:latin typeface="Quattrocento Sans"/>
              <a:ea typeface="Quattrocento Sans"/>
              <a:cs typeface="Quattrocento Sans"/>
            </a:endParaRPr>
          </a:p>
        </p:txBody>
      </p:sp>
    </p:spTree>
    <p:extLst>
      <p:ext uri="{BB962C8B-B14F-4D97-AF65-F5344CB8AC3E}">
        <p14:creationId xmlns:p14="http://schemas.microsoft.com/office/powerpoint/2010/main" val="22988893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175309C1-31D7-0559-9573-F74AEB849241}"/>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645CFAB9-05AD-44D7-27F6-142365257CA2}"/>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529AE9D4-7C0D-B929-C929-6A9396F093E5}"/>
              </a:ext>
            </a:extLst>
          </p:cNvPr>
          <p:cNvSpPr txBox="1"/>
          <p:nvPr/>
        </p:nvSpPr>
        <p:spPr>
          <a:xfrm>
            <a:off x="609600" y="1091452"/>
            <a:ext cx="10890738" cy="397027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6) URP-specific renderer settings (Pipeline Asset &amp; Forward Renderer)</a:t>
            </a:r>
            <a:endParaRPr lang="en-US" dirty="0">
              <a:solidFill>
                <a:schemeClr val="bg2"/>
              </a:solidFill>
            </a:endParaRPr>
          </a:p>
          <a:p>
            <a:r>
              <a:rPr lang="en-US" sz="2400" dirty="0">
                <a:solidFill>
                  <a:schemeClr val="bg2"/>
                </a:solidFill>
              </a:rPr>
              <a:t>- Open the Pipeline Asset by selecting it in Project window.</a:t>
            </a:r>
            <a:endParaRPr lang="en-US" dirty="0">
              <a:solidFill>
                <a:schemeClr val="bg2"/>
              </a:solidFill>
            </a:endParaRPr>
          </a:p>
          <a:p>
            <a:r>
              <a:rPr lang="en-US" sz="2400" dirty="0">
                <a:solidFill>
                  <a:schemeClr val="bg2"/>
                </a:solidFill>
              </a:rPr>
              <a:t>  - Inspector fields you should review / toggle:</a:t>
            </a:r>
            <a:endParaRPr lang="en-US" dirty="0">
              <a:solidFill>
                <a:schemeClr val="bg2"/>
              </a:solidFill>
            </a:endParaRPr>
          </a:p>
          <a:p>
            <a:r>
              <a:rPr lang="en-US" sz="2400" dirty="0">
                <a:solidFill>
                  <a:schemeClr val="bg2"/>
                </a:solidFill>
              </a:rPr>
              <a:t>    - "General" or "Rendering" group (names vary): supports "SRP Batcher" (checkbox) — enable SRP Batcher for CPU performance.</a:t>
            </a:r>
            <a:endParaRPr lang="en-US" dirty="0">
              <a:solidFill>
                <a:schemeClr val="bg2"/>
              </a:solidFill>
            </a:endParaRPr>
          </a:p>
          <a:p>
            <a:r>
              <a:rPr lang="en-US" sz="2400" dirty="0">
                <a:solidFill>
                  <a:schemeClr val="bg2"/>
                </a:solidFill>
              </a:rPr>
              <a:t>    - "Supports Camera Depth Texture" / "Supports Opaque Texture" (toggle) — enable if post-processing or effects require them.</a:t>
            </a:r>
            <a:endParaRPr lang="en-US" dirty="0">
              <a:solidFill>
                <a:schemeClr val="bg2"/>
              </a:solidFill>
            </a:endParaRPr>
          </a:p>
          <a:p>
            <a:r>
              <a:rPr lang="en-US" sz="2400" dirty="0">
                <a:solidFill>
                  <a:schemeClr val="bg2"/>
                </a:solidFill>
              </a:rPr>
              <a:t>    </a:t>
            </a:r>
            <a:endParaRPr lang="en-US" dirty="0">
              <a:solidFill>
                <a:schemeClr val="bg2"/>
              </a:solidFill>
              <a:ea typeface="Quattrocento Sans"/>
            </a:endParaRPr>
          </a:p>
        </p:txBody>
      </p:sp>
    </p:spTree>
    <p:extLst>
      <p:ext uri="{BB962C8B-B14F-4D97-AF65-F5344CB8AC3E}">
        <p14:creationId xmlns:p14="http://schemas.microsoft.com/office/powerpoint/2010/main" val="499332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401A58A3-CC60-0C41-9AE6-FC41A6133BF8}"/>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FF662681-7641-751F-4EC4-8FE6888DA803}"/>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B2C67608-0A03-8F65-23F3-115D9DB5CDDE}"/>
              </a:ext>
            </a:extLst>
          </p:cNvPr>
          <p:cNvSpPr txBox="1"/>
          <p:nvPr/>
        </p:nvSpPr>
        <p:spPr>
          <a:xfrm>
            <a:off x="609600" y="1091452"/>
            <a:ext cx="10890738" cy="581693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6) URP-specific renderer settings (Pipeline Asset &amp; Forward Renderer)</a:t>
            </a:r>
            <a:endParaRPr lang="en-US" dirty="0">
              <a:solidFill>
                <a:schemeClr val="bg2"/>
              </a:solidFill>
            </a:endParaRPr>
          </a:p>
          <a:p>
            <a:r>
              <a:rPr lang="en-US" sz="2400" dirty="0">
                <a:solidFill>
                  <a:schemeClr val="bg2"/>
                </a:solidFill>
              </a:rPr>
              <a:t>    - "Shadow" group:</a:t>
            </a:r>
            <a:endParaRPr lang="en-US" dirty="0">
              <a:solidFill>
                <a:schemeClr val="bg2"/>
              </a:solidFill>
            </a:endParaRPr>
          </a:p>
          <a:p>
            <a:r>
              <a:rPr lang="en-US" sz="2400" dirty="0">
                <a:solidFill>
                  <a:schemeClr val="bg2"/>
                </a:solidFill>
              </a:rPr>
              <a:t>      - "Main Light Shadows" (toggle)</a:t>
            </a:r>
            <a:endParaRPr lang="en-US" dirty="0">
              <a:solidFill>
                <a:schemeClr val="bg2"/>
              </a:solidFill>
            </a:endParaRPr>
          </a:p>
          <a:p>
            <a:r>
              <a:rPr lang="en-US" sz="2400" dirty="0">
                <a:solidFill>
                  <a:schemeClr val="bg2"/>
                </a:solidFill>
              </a:rPr>
              <a:t>      - "Additional Lights Shadows" (toggle)</a:t>
            </a:r>
            <a:endParaRPr lang="en-US" dirty="0">
              <a:solidFill>
                <a:schemeClr val="bg2"/>
              </a:solidFill>
            </a:endParaRPr>
          </a:p>
          <a:p>
            <a:r>
              <a:rPr lang="en-US" sz="2400" dirty="0">
                <a:solidFill>
                  <a:schemeClr val="bg2"/>
                </a:solidFill>
              </a:rPr>
              <a:t>      - "Shadow Distance" (numeric)</a:t>
            </a:r>
            <a:endParaRPr lang="en-US" dirty="0">
              <a:solidFill>
                <a:schemeClr val="bg2"/>
              </a:solidFill>
            </a:endParaRPr>
          </a:p>
          <a:p>
            <a:r>
              <a:rPr lang="en-US" sz="2400" dirty="0">
                <a:solidFill>
                  <a:schemeClr val="bg2"/>
                </a:solidFill>
              </a:rPr>
              <a:t>      - "Directional Light Cascades" or "Cascade Count" (dropdown)</a:t>
            </a:r>
            <a:endParaRPr lang="en-US" dirty="0">
              <a:solidFill>
                <a:schemeClr val="bg2"/>
              </a:solidFill>
            </a:endParaRPr>
          </a:p>
          <a:p>
            <a:r>
              <a:rPr lang="en-US" sz="2400" dirty="0">
                <a:solidFill>
                  <a:schemeClr val="bg2"/>
                </a:solidFill>
              </a:rPr>
              <a:t>      - "Shadow Atlas Resolution" (dropdown)</a:t>
            </a:r>
            <a:endParaRPr lang="en-US" dirty="0">
              <a:solidFill>
                <a:schemeClr val="bg2"/>
              </a:solidFill>
            </a:endParaRPr>
          </a:p>
          <a:p>
            <a:r>
              <a:rPr lang="en-US" sz="2400" dirty="0">
                <a:solidFill>
                  <a:schemeClr val="bg2"/>
                </a:solidFill>
              </a:rPr>
              <a:t>    - "Lighting" group:</a:t>
            </a:r>
            <a:endParaRPr lang="en-US" dirty="0">
              <a:solidFill>
                <a:schemeClr val="bg2"/>
              </a:solidFill>
            </a:endParaRPr>
          </a:p>
          <a:p>
            <a:r>
              <a:rPr lang="en-US" sz="2400" dirty="0">
                <a:solidFill>
                  <a:schemeClr val="bg2"/>
                </a:solidFill>
              </a:rPr>
              <a:t>      - "Support Runtime/Realtime Global Illumination" options vary by version.</a:t>
            </a:r>
            <a:endParaRPr lang="en-US" dirty="0">
              <a:solidFill>
                <a:schemeClr val="bg2"/>
              </a:solidFill>
            </a:endParaRPr>
          </a:p>
          <a:p>
            <a:r>
              <a:rPr lang="en-US" sz="2400" dirty="0">
                <a:solidFill>
                  <a:schemeClr val="bg2"/>
                </a:solidFill>
              </a:rPr>
              <a:t>    - "MSAA" setting: may be under Pipeline Asset or per-Renderer. If present, set per your target hardware.</a:t>
            </a:r>
            <a:endParaRPr lang="en-US" dirty="0">
              <a:solidFill>
                <a:schemeClr val="bg2"/>
              </a:solidFill>
            </a:endParaRPr>
          </a:p>
          <a:p>
            <a:r>
              <a:rPr lang="en-US" sz="2400" dirty="0">
                <a:solidFill>
                  <a:schemeClr val="bg2"/>
                </a:solidFill>
              </a:rPr>
              <a:t>    - "Render Scale" or "Render Scale (Dynamic Resolution)" (if available).</a:t>
            </a:r>
            <a:endParaRPr lang="en-US" dirty="0">
              <a:solidFill>
                <a:schemeClr val="bg2"/>
              </a:solidFill>
            </a:endParaRPr>
          </a:p>
          <a:p>
            <a:r>
              <a:rPr lang="en-US" sz="2400" dirty="0">
                <a:solidFill>
                  <a:schemeClr val="bg2"/>
                </a:solidFill>
              </a:rPr>
              <a:t>  - Enable SRP Batcher: check "SRP Batcher" (or "Use SRP Batcher").</a:t>
            </a:r>
            <a:endParaRPr dirty="0">
              <a:solidFill>
                <a:schemeClr val="bg2"/>
              </a:solidFill>
            </a:endParaRPr>
          </a:p>
        </p:txBody>
      </p:sp>
    </p:spTree>
    <p:extLst>
      <p:ext uri="{BB962C8B-B14F-4D97-AF65-F5344CB8AC3E}">
        <p14:creationId xmlns:p14="http://schemas.microsoft.com/office/powerpoint/2010/main" val="22827069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7324BA5A-6604-C213-0F92-05FAF762CC59}"/>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EE8DFFE7-718F-F293-C490-A7CF6DA81547}"/>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C142B48E-4256-E603-68A2-E14B74379D62}"/>
              </a:ext>
            </a:extLst>
          </p:cNvPr>
          <p:cNvSpPr txBox="1"/>
          <p:nvPr/>
        </p:nvSpPr>
        <p:spPr>
          <a:xfrm>
            <a:off x="609600" y="1091452"/>
            <a:ext cx="10890738" cy="581693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6) URP-specific renderer settings (Pipeline Asset &amp; Forward Renderer)</a:t>
            </a:r>
            <a:endParaRPr lang="en-US" dirty="0">
              <a:solidFill>
                <a:schemeClr val="bg2"/>
              </a:solidFill>
            </a:endParaRPr>
          </a:p>
          <a:p>
            <a:r>
              <a:rPr lang="en-US" sz="2400" dirty="0">
                <a:solidFill>
                  <a:schemeClr val="bg2"/>
                </a:solidFill>
              </a:rPr>
              <a:t>    - "Shadow" group:</a:t>
            </a:r>
            <a:endParaRPr lang="en-US" dirty="0">
              <a:solidFill>
                <a:schemeClr val="bg2"/>
              </a:solidFill>
            </a:endParaRPr>
          </a:p>
          <a:p>
            <a:r>
              <a:rPr lang="en-US" sz="2400" dirty="0">
                <a:solidFill>
                  <a:schemeClr val="bg2"/>
                </a:solidFill>
              </a:rPr>
              <a:t>      - "Main Light Shadows" (toggle)</a:t>
            </a:r>
            <a:endParaRPr lang="en-US" dirty="0">
              <a:solidFill>
                <a:schemeClr val="bg2"/>
              </a:solidFill>
            </a:endParaRPr>
          </a:p>
          <a:p>
            <a:r>
              <a:rPr lang="en-US" sz="2400" dirty="0">
                <a:solidFill>
                  <a:schemeClr val="bg2"/>
                </a:solidFill>
              </a:rPr>
              <a:t>      - "Additional Lights Shadows" (toggle)</a:t>
            </a:r>
            <a:endParaRPr lang="en-US" dirty="0">
              <a:solidFill>
                <a:schemeClr val="bg2"/>
              </a:solidFill>
            </a:endParaRPr>
          </a:p>
          <a:p>
            <a:r>
              <a:rPr lang="en-US" sz="2400" dirty="0">
                <a:solidFill>
                  <a:schemeClr val="bg2"/>
                </a:solidFill>
              </a:rPr>
              <a:t>      - "Shadow Distance" (numeric)</a:t>
            </a:r>
            <a:endParaRPr lang="en-US" dirty="0">
              <a:solidFill>
                <a:schemeClr val="bg2"/>
              </a:solidFill>
            </a:endParaRPr>
          </a:p>
          <a:p>
            <a:r>
              <a:rPr lang="en-US" sz="2400" dirty="0">
                <a:solidFill>
                  <a:schemeClr val="bg2"/>
                </a:solidFill>
              </a:rPr>
              <a:t>      - "Directional Light Cascades" or "Cascade Count" (dropdown)</a:t>
            </a:r>
            <a:endParaRPr lang="en-US" dirty="0">
              <a:solidFill>
                <a:schemeClr val="bg2"/>
              </a:solidFill>
            </a:endParaRPr>
          </a:p>
          <a:p>
            <a:r>
              <a:rPr lang="en-US" sz="2400" dirty="0">
                <a:solidFill>
                  <a:schemeClr val="bg2"/>
                </a:solidFill>
              </a:rPr>
              <a:t>      - "Shadow Atlas Resolution" (dropdown)</a:t>
            </a:r>
            <a:endParaRPr lang="en-US" dirty="0">
              <a:solidFill>
                <a:schemeClr val="bg2"/>
              </a:solidFill>
            </a:endParaRPr>
          </a:p>
          <a:p>
            <a:r>
              <a:rPr lang="en-US" sz="2400" dirty="0">
                <a:solidFill>
                  <a:schemeClr val="bg2"/>
                </a:solidFill>
              </a:rPr>
              <a:t>    - "Lighting" group:</a:t>
            </a:r>
            <a:endParaRPr lang="en-US" dirty="0">
              <a:solidFill>
                <a:schemeClr val="bg2"/>
              </a:solidFill>
            </a:endParaRPr>
          </a:p>
          <a:p>
            <a:r>
              <a:rPr lang="en-US" sz="2400" dirty="0">
                <a:solidFill>
                  <a:schemeClr val="bg2"/>
                </a:solidFill>
              </a:rPr>
              <a:t>      - "Support Runtime/Realtime Global Illumination" options vary by version.</a:t>
            </a:r>
            <a:endParaRPr lang="en-US" dirty="0">
              <a:solidFill>
                <a:schemeClr val="bg2"/>
              </a:solidFill>
            </a:endParaRPr>
          </a:p>
          <a:p>
            <a:r>
              <a:rPr lang="en-US" sz="2400" dirty="0">
                <a:solidFill>
                  <a:schemeClr val="bg2"/>
                </a:solidFill>
              </a:rPr>
              <a:t>    - "MSAA" setting: may be under Pipeline Asset or per-Renderer. If present, set per your target hardware.</a:t>
            </a:r>
            <a:endParaRPr lang="en-US" dirty="0">
              <a:solidFill>
                <a:schemeClr val="bg2"/>
              </a:solidFill>
            </a:endParaRPr>
          </a:p>
          <a:p>
            <a:r>
              <a:rPr lang="en-US" sz="2400" dirty="0">
                <a:solidFill>
                  <a:schemeClr val="bg2"/>
                </a:solidFill>
              </a:rPr>
              <a:t>    - "Render Scale" or "Render Scale (Dynamic Resolution)" (if available).</a:t>
            </a:r>
            <a:endParaRPr lang="en-US" dirty="0">
              <a:solidFill>
                <a:schemeClr val="bg2"/>
              </a:solidFill>
            </a:endParaRPr>
          </a:p>
          <a:p>
            <a:r>
              <a:rPr lang="en-US" sz="2400" dirty="0">
                <a:solidFill>
                  <a:schemeClr val="bg2"/>
                </a:solidFill>
              </a:rPr>
              <a:t>  - Enable SRP Batcher: check "SRP Batcher" (or "Use SRP Batcher").</a:t>
            </a:r>
            <a:endParaRPr dirty="0">
              <a:solidFill>
                <a:schemeClr val="bg2"/>
              </a:solidFill>
            </a:endParaRPr>
          </a:p>
        </p:txBody>
      </p:sp>
    </p:spTree>
    <p:extLst>
      <p:ext uri="{BB962C8B-B14F-4D97-AF65-F5344CB8AC3E}">
        <p14:creationId xmlns:p14="http://schemas.microsoft.com/office/powerpoint/2010/main" val="1562439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C76EFC5C-155A-204F-AD7F-2A94FDCC1402}"/>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4E4136AE-C078-33A7-916F-6FD8A4C47821}"/>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CBBE2904-0A01-859C-7713-121AEC51919C}"/>
              </a:ext>
            </a:extLst>
          </p:cNvPr>
          <p:cNvSpPr txBox="1"/>
          <p:nvPr/>
        </p:nvSpPr>
        <p:spPr>
          <a:xfrm>
            <a:off x="609600" y="1091452"/>
            <a:ext cx="10890738" cy="5447605"/>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 Open the Forward Renderer asset (select it):</a:t>
            </a:r>
            <a:endParaRPr lang="en-US" dirty="0">
              <a:solidFill>
                <a:schemeClr val="bg2"/>
              </a:solidFill>
            </a:endParaRPr>
          </a:p>
          <a:p>
            <a:r>
              <a:rPr lang="en-US" sz="2400" dirty="0">
                <a:solidFill>
                  <a:schemeClr val="bg2"/>
                </a:solidFill>
              </a:rPr>
              <a:t>  - Inspector fields:</a:t>
            </a:r>
            <a:endParaRPr lang="en-US" dirty="0">
              <a:solidFill>
                <a:schemeClr val="bg2"/>
              </a:solidFill>
            </a:endParaRPr>
          </a:p>
          <a:p>
            <a:r>
              <a:rPr lang="en-US" sz="2400" dirty="0">
                <a:solidFill>
                  <a:schemeClr val="bg2"/>
                </a:solidFill>
              </a:rPr>
              <a:t>    - Toggles: "Depth Texture" / "Opaque Texture" / "MSAA" / "HDR" (names may vary: e.g., "Depth Texture (Enabled)", "Opaque Texture")</a:t>
            </a:r>
            <a:endParaRPr lang="en-US" dirty="0">
              <a:solidFill>
                <a:schemeClr val="bg2"/>
              </a:solidFill>
            </a:endParaRPr>
          </a:p>
          <a:p>
            <a:r>
              <a:rPr lang="en-US" sz="2400" dirty="0">
                <a:solidFill>
                  <a:schemeClr val="bg2"/>
                </a:solidFill>
              </a:rPr>
              <a:t>    - "Add Renderer Feature" button: click this to add features like:</a:t>
            </a:r>
            <a:endParaRPr lang="en-US" dirty="0">
              <a:solidFill>
                <a:schemeClr val="bg2"/>
              </a:solidFill>
            </a:endParaRPr>
          </a:p>
          <a:p>
            <a:r>
              <a:rPr lang="en-US" sz="2400" dirty="0">
                <a:solidFill>
                  <a:schemeClr val="bg2"/>
                </a:solidFill>
              </a:rPr>
              <a:t>      - Screen Space Ambient Occlusion (if supported)</a:t>
            </a:r>
            <a:endParaRPr lang="en-US" dirty="0">
              <a:solidFill>
                <a:schemeClr val="bg2"/>
              </a:solidFill>
            </a:endParaRPr>
          </a:p>
          <a:p>
            <a:r>
              <a:rPr lang="en-US" sz="2400" dirty="0">
                <a:solidFill>
                  <a:schemeClr val="bg2"/>
                </a:solidFill>
              </a:rPr>
              <a:t>      - Decal</a:t>
            </a:r>
            <a:endParaRPr lang="en-US" dirty="0">
              <a:solidFill>
                <a:schemeClr val="bg2"/>
              </a:solidFill>
            </a:endParaRPr>
          </a:p>
          <a:p>
            <a:r>
              <a:rPr lang="en-US" sz="2400" dirty="0">
                <a:solidFill>
                  <a:schemeClr val="bg2"/>
                </a:solidFill>
              </a:rPr>
              <a:t>      - Render Objects (to render specific objects with a specific material or shader pass)</a:t>
            </a:r>
            <a:endParaRPr lang="en-US" dirty="0">
              <a:solidFill>
                <a:schemeClr val="bg2"/>
              </a:solidFill>
            </a:endParaRPr>
          </a:p>
          <a:p>
            <a:r>
              <a:rPr lang="en-US" sz="2400" dirty="0">
                <a:solidFill>
                  <a:schemeClr val="bg2"/>
                </a:solidFill>
              </a:rPr>
              <a:t>      - </a:t>
            </a:r>
            <a:r>
              <a:rPr lang="en-US" sz="2400" dirty="0" err="1">
                <a:solidFill>
                  <a:schemeClr val="bg2"/>
                </a:solidFill>
              </a:rPr>
              <a:t>Blit</a:t>
            </a:r>
            <a:r>
              <a:rPr lang="en-US" sz="2400" dirty="0">
                <a:solidFill>
                  <a:schemeClr val="bg2"/>
                </a:solidFill>
              </a:rPr>
              <a:t>, Full-screen passes, Custom Post-processing</a:t>
            </a:r>
            <a:endParaRPr lang="en-US" dirty="0">
              <a:solidFill>
                <a:schemeClr val="bg2"/>
              </a:solidFill>
            </a:endParaRPr>
          </a:p>
          <a:p>
            <a:r>
              <a:rPr lang="en-US" sz="2400" dirty="0">
                <a:solidFill>
                  <a:schemeClr val="bg2"/>
                </a:solidFill>
              </a:rPr>
              <a:t>    - Use the "Add Renderer Feature" button to attach custom passes or decals/SSR/etc.</a:t>
            </a:r>
            <a:endParaRPr dirty="0">
              <a:solidFill>
                <a:schemeClr val="bg2"/>
              </a:solidFill>
            </a:endParaRPr>
          </a:p>
        </p:txBody>
      </p:sp>
    </p:spTree>
    <p:extLst>
      <p:ext uri="{BB962C8B-B14F-4D97-AF65-F5344CB8AC3E}">
        <p14:creationId xmlns:p14="http://schemas.microsoft.com/office/powerpoint/2010/main" val="10825211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C92059E1-3267-3B59-7FF3-8FD8DBC0975C}"/>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3963B75A-EFE7-18D9-0805-9315A39F563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0F5F5F2E-F905-9595-8417-11D67232592B}"/>
              </a:ext>
            </a:extLst>
          </p:cNvPr>
          <p:cNvSpPr txBox="1"/>
          <p:nvPr/>
        </p:nvSpPr>
        <p:spPr>
          <a:xfrm>
            <a:off x="609600" y="1091452"/>
            <a:ext cx="10890738" cy="397027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7) Per-Light settings (Light component)</a:t>
            </a:r>
            <a:endParaRPr lang="en-US" dirty="0">
              <a:solidFill>
                <a:schemeClr val="bg2"/>
              </a:solidFill>
            </a:endParaRPr>
          </a:p>
          <a:p>
            <a:r>
              <a:rPr lang="en-US" sz="2400" dirty="0">
                <a:solidFill>
                  <a:schemeClr val="bg2"/>
                </a:solidFill>
              </a:rPr>
              <a:t>- Select a Light in the Scene / Hierarchy.</a:t>
            </a:r>
            <a:endParaRPr lang="en-US" dirty="0">
              <a:solidFill>
                <a:schemeClr val="bg2"/>
              </a:solidFill>
            </a:endParaRPr>
          </a:p>
          <a:p>
            <a:r>
              <a:rPr lang="en-US" sz="2400" dirty="0">
                <a:solidFill>
                  <a:schemeClr val="bg2"/>
                </a:solidFill>
              </a:rPr>
              <a:t>  - Inspector — Light component:</a:t>
            </a:r>
            <a:endParaRPr lang="en-US" dirty="0">
              <a:solidFill>
                <a:schemeClr val="bg2"/>
              </a:solidFill>
            </a:endParaRPr>
          </a:p>
          <a:p>
            <a:r>
              <a:rPr lang="en-US" sz="2400" dirty="0">
                <a:solidFill>
                  <a:schemeClr val="bg2"/>
                </a:solidFill>
              </a:rPr>
              <a:t>    - Type: Directional, Point, Spot, Area (Area lights are baked only)</a:t>
            </a:r>
            <a:endParaRPr lang="en-US" dirty="0">
              <a:solidFill>
                <a:schemeClr val="bg2"/>
              </a:solidFill>
            </a:endParaRPr>
          </a:p>
          <a:p>
            <a:r>
              <a:rPr lang="en-US" sz="2400" dirty="0">
                <a:solidFill>
                  <a:schemeClr val="bg2"/>
                </a:solidFill>
              </a:rPr>
              <a:t>    - Mode: Realtime / Mixed / Baked</a:t>
            </a:r>
            <a:endParaRPr lang="en-US" dirty="0">
              <a:solidFill>
                <a:schemeClr val="bg2"/>
              </a:solidFill>
            </a:endParaRPr>
          </a:p>
          <a:p>
            <a:r>
              <a:rPr lang="en-US" sz="2400" dirty="0">
                <a:solidFill>
                  <a:schemeClr val="bg2"/>
                </a:solidFill>
              </a:rPr>
              <a:t>    - Color, Intensity (lux/lumen vs Unity intensity units differ; URP expects standard units but double-check)</a:t>
            </a:r>
            <a:endParaRPr lang="en-US" dirty="0">
              <a:solidFill>
                <a:schemeClr val="bg2"/>
              </a:solidFill>
            </a:endParaRPr>
          </a:p>
          <a:p>
            <a:r>
              <a:rPr lang="en-US" sz="2400" dirty="0">
                <a:solidFill>
                  <a:schemeClr val="bg2"/>
                </a:solidFill>
              </a:rPr>
              <a:t>    - Range (for Point and Spot)</a:t>
            </a:r>
            <a:endParaRPr dirty="0">
              <a:solidFill>
                <a:schemeClr val="bg2"/>
              </a:solidFill>
            </a:endParaRPr>
          </a:p>
        </p:txBody>
      </p:sp>
    </p:spTree>
    <p:extLst>
      <p:ext uri="{BB962C8B-B14F-4D97-AF65-F5344CB8AC3E}">
        <p14:creationId xmlns:p14="http://schemas.microsoft.com/office/powerpoint/2010/main" val="5818407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107A80D4-34B0-0EA5-1408-2D3B1A271354}"/>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78571A7D-7442-9263-04E2-FB4D2EC757DB}"/>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7E4B807C-909E-B778-98D3-232652D95833}"/>
              </a:ext>
            </a:extLst>
          </p:cNvPr>
          <p:cNvSpPr txBox="1"/>
          <p:nvPr/>
        </p:nvSpPr>
        <p:spPr>
          <a:xfrm>
            <a:off x="609600" y="1091452"/>
            <a:ext cx="10890738" cy="581693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7) Per-Light settings (Light component)</a:t>
            </a:r>
            <a:endParaRPr lang="en-US" dirty="0">
              <a:solidFill>
                <a:schemeClr val="bg2"/>
              </a:solidFill>
            </a:endParaRPr>
          </a:p>
          <a:p>
            <a:r>
              <a:rPr lang="en-US" sz="2400" dirty="0">
                <a:solidFill>
                  <a:schemeClr val="bg2"/>
                </a:solidFill>
              </a:rPr>
              <a:t>    - Shadows:</a:t>
            </a:r>
            <a:endParaRPr lang="en-US" dirty="0">
              <a:solidFill>
                <a:schemeClr val="bg2"/>
              </a:solidFill>
            </a:endParaRPr>
          </a:p>
          <a:p>
            <a:r>
              <a:rPr lang="en-US" sz="2400" dirty="0">
                <a:solidFill>
                  <a:schemeClr val="bg2"/>
                </a:solidFill>
              </a:rPr>
              <a:t>      - Shadow Type: None / Hard Shadows / Soft Shadows (or "Cast Shadows" + dropdown)</a:t>
            </a:r>
            <a:endParaRPr lang="en-US" dirty="0">
              <a:solidFill>
                <a:schemeClr val="bg2"/>
              </a:solidFill>
            </a:endParaRPr>
          </a:p>
          <a:p>
            <a:r>
              <a:rPr lang="en-US" sz="2400" dirty="0">
                <a:solidFill>
                  <a:schemeClr val="bg2"/>
                </a:solidFill>
              </a:rPr>
              <a:t>      - "Shadow Resolution" (Per-light override in some versions)</a:t>
            </a:r>
            <a:endParaRPr lang="en-US" dirty="0">
              <a:solidFill>
                <a:schemeClr val="bg2"/>
              </a:solidFill>
            </a:endParaRPr>
          </a:p>
          <a:p>
            <a:r>
              <a:rPr lang="en-US" sz="2400" dirty="0">
                <a:solidFill>
                  <a:schemeClr val="bg2"/>
                </a:solidFill>
              </a:rPr>
              <a:t>      - "Bias" and "Normal Bias" (to reduce acne)</a:t>
            </a:r>
            <a:endParaRPr lang="en-US" dirty="0">
              <a:solidFill>
                <a:schemeClr val="bg2"/>
              </a:solidFill>
            </a:endParaRPr>
          </a:p>
          <a:p>
            <a:r>
              <a:rPr lang="en-US" sz="2400" dirty="0">
                <a:solidFill>
                  <a:schemeClr val="bg2"/>
                </a:solidFill>
              </a:rPr>
              <a:t>      - "Shadow Strength" (opacity)</a:t>
            </a:r>
            <a:endParaRPr lang="en-US" dirty="0">
              <a:solidFill>
                <a:schemeClr val="bg2"/>
              </a:solidFill>
            </a:endParaRPr>
          </a:p>
          <a:p>
            <a:r>
              <a:rPr lang="en-US" sz="2400" dirty="0">
                <a:solidFill>
                  <a:schemeClr val="bg2"/>
                </a:solidFill>
              </a:rPr>
              <a:t>    - Render Mode: Auto / Important / Not Important (affects additional lights performance)</a:t>
            </a:r>
            <a:endParaRPr lang="en-US" dirty="0">
              <a:solidFill>
                <a:schemeClr val="bg2"/>
              </a:solidFill>
            </a:endParaRPr>
          </a:p>
          <a:p>
            <a:r>
              <a:rPr lang="en-US" sz="2400" dirty="0">
                <a:solidFill>
                  <a:schemeClr val="bg2"/>
                </a:solidFill>
              </a:rPr>
              <a:t>- For main directional light you intend to represent the sun:</a:t>
            </a:r>
            <a:endParaRPr lang="en-US" dirty="0">
              <a:solidFill>
                <a:schemeClr val="bg2"/>
              </a:solidFill>
            </a:endParaRPr>
          </a:p>
          <a:p>
            <a:r>
              <a:rPr lang="en-US" sz="2400" dirty="0">
                <a:solidFill>
                  <a:schemeClr val="bg2"/>
                </a:solidFill>
              </a:rPr>
              <a:t>  - Ensure it is set as "Main Light" for </a:t>
            </a:r>
            <a:r>
              <a:rPr lang="en-US" sz="2400" dirty="0" err="1">
                <a:solidFill>
                  <a:schemeClr val="bg2"/>
                </a:solidFill>
              </a:rPr>
              <a:t>Lightmapper</a:t>
            </a:r>
            <a:r>
              <a:rPr lang="en-US" sz="2400" dirty="0">
                <a:solidFill>
                  <a:schemeClr val="bg2"/>
                </a:solidFill>
              </a:rPr>
              <a:t> optimization (URP often treats the brightest directional light as main light; check the URP lighting documentation for "Main Light" selection methods).</a:t>
            </a:r>
            <a:endParaRPr dirty="0">
              <a:solidFill>
                <a:schemeClr val="bg2"/>
              </a:solidFill>
            </a:endParaRPr>
          </a:p>
        </p:txBody>
      </p:sp>
    </p:spTree>
    <p:extLst>
      <p:ext uri="{BB962C8B-B14F-4D97-AF65-F5344CB8AC3E}">
        <p14:creationId xmlns:p14="http://schemas.microsoft.com/office/powerpoint/2010/main" val="40800627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99A0C671-6DD8-B645-B3AF-F13056052BC3}"/>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92736EAE-5C86-E5EA-6857-B8FAD7497B5B}"/>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105B6F16-C547-6D3B-A07A-3A37F31ABA33}"/>
              </a:ext>
            </a:extLst>
          </p:cNvPr>
          <p:cNvSpPr txBox="1"/>
          <p:nvPr/>
        </p:nvSpPr>
        <p:spPr>
          <a:xfrm>
            <a:off x="609600" y="1091452"/>
            <a:ext cx="10890738" cy="5816937"/>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7) Per-Light settings (Light component)</a:t>
            </a:r>
            <a:endParaRPr lang="en-US" dirty="0">
              <a:solidFill>
                <a:schemeClr val="bg2"/>
              </a:solidFill>
            </a:endParaRPr>
          </a:p>
          <a:p>
            <a:r>
              <a:rPr lang="en-US" sz="2400" dirty="0">
                <a:solidFill>
                  <a:schemeClr val="bg2"/>
                </a:solidFill>
              </a:rPr>
              <a:t>    - Shadows:</a:t>
            </a:r>
            <a:endParaRPr lang="en-US" dirty="0">
              <a:solidFill>
                <a:schemeClr val="bg2"/>
              </a:solidFill>
            </a:endParaRPr>
          </a:p>
          <a:p>
            <a:r>
              <a:rPr lang="en-US" sz="2400" dirty="0">
                <a:solidFill>
                  <a:schemeClr val="bg2"/>
                </a:solidFill>
              </a:rPr>
              <a:t>      - Shadow Type: None / Hard Shadows / Soft Shadows (or "Cast Shadows" + dropdown)</a:t>
            </a:r>
            <a:endParaRPr lang="en-US" dirty="0">
              <a:solidFill>
                <a:schemeClr val="bg2"/>
              </a:solidFill>
            </a:endParaRPr>
          </a:p>
          <a:p>
            <a:r>
              <a:rPr lang="en-US" sz="2400" dirty="0">
                <a:solidFill>
                  <a:schemeClr val="bg2"/>
                </a:solidFill>
              </a:rPr>
              <a:t>      - "Shadow Resolution" (Per-light override in some versions)</a:t>
            </a:r>
            <a:endParaRPr lang="en-US" dirty="0">
              <a:solidFill>
                <a:schemeClr val="bg2"/>
              </a:solidFill>
            </a:endParaRPr>
          </a:p>
          <a:p>
            <a:r>
              <a:rPr lang="en-US" sz="2400" dirty="0">
                <a:solidFill>
                  <a:schemeClr val="bg2"/>
                </a:solidFill>
              </a:rPr>
              <a:t>      - "Bias" and "Normal Bias" (to reduce acne)</a:t>
            </a:r>
            <a:endParaRPr lang="en-US" dirty="0">
              <a:solidFill>
                <a:schemeClr val="bg2"/>
              </a:solidFill>
            </a:endParaRPr>
          </a:p>
          <a:p>
            <a:r>
              <a:rPr lang="en-US" sz="2400" dirty="0">
                <a:solidFill>
                  <a:schemeClr val="bg2"/>
                </a:solidFill>
              </a:rPr>
              <a:t>      - "Shadow Strength" (opacity)</a:t>
            </a:r>
            <a:endParaRPr lang="en-US" dirty="0">
              <a:solidFill>
                <a:schemeClr val="bg2"/>
              </a:solidFill>
            </a:endParaRPr>
          </a:p>
          <a:p>
            <a:r>
              <a:rPr lang="en-US" sz="2400" dirty="0">
                <a:solidFill>
                  <a:schemeClr val="bg2"/>
                </a:solidFill>
              </a:rPr>
              <a:t>    - Render Mode: Auto / Important / Not Important (affects additional lights performance)</a:t>
            </a:r>
            <a:endParaRPr lang="en-US" dirty="0">
              <a:solidFill>
                <a:schemeClr val="bg2"/>
              </a:solidFill>
            </a:endParaRPr>
          </a:p>
          <a:p>
            <a:r>
              <a:rPr lang="en-US" sz="2400" dirty="0">
                <a:solidFill>
                  <a:schemeClr val="bg2"/>
                </a:solidFill>
              </a:rPr>
              <a:t>- For main directional light you intend to represent the sun:</a:t>
            </a:r>
            <a:endParaRPr lang="en-US" dirty="0">
              <a:solidFill>
                <a:schemeClr val="bg2"/>
              </a:solidFill>
            </a:endParaRPr>
          </a:p>
          <a:p>
            <a:r>
              <a:rPr lang="en-US" sz="2400" dirty="0">
                <a:solidFill>
                  <a:schemeClr val="bg2"/>
                </a:solidFill>
              </a:rPr>
              <a:t>  - Ensure it is set as "Main Light" for </a:t>
            </a:r>
            <a:r>
              <a:rPr lang="en-US" sz="2400" dirty="0" err="1">
                <a:solidFill>
                  <a:schemeClr val="bg2"/>
                </a:solidFill>
              </a:rPr>
              <a:t>Lightmapper</a:t>
            </a:r>
            <a:r>
              <a:rPr lang="en-US" sz="2400" dirty="0">
                <a:solidFill>
                  <a:schemeClr val="bg2"/>
                </a:solidFill>
              </a:rPr>
              <a:t> optimization (URP often treats the brightest directional light as main light; check the URP lighting documentation for "Main Light" selection methods).</a:t>
            </a:r>
            <a:endParaRPr dirty="0">
              <a:solidFill>
                <a:schemeClr val="bg2"/>
              </a:solidFill>
            </a:endParaRPr>
          </a:p>
        </p:txBody>
      </p:sp>
    </p:spTree>
    <p:extLst>
      <p:ext uri="{BB962C8B-B14F-4D97-AF65-F5344CB8AC3E}">
        <p14:creationId xmlns:p14="http://schemas.microsoft.com/office/powerpoint/2010/main" val="37437011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AC692DC1-8E3C-F7CD-AB95-ED76D94D689C}"/>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C9D0B7E6-0AA0-50F6-C79B-6DA88E50FA86}"/>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E43213C7-165A-FB8C-9969-625C2C8C45C6}"/>
              </a:ext>
            </a:extLst>
          </p:cNvPr>
          <p:cNvSpPr txBox="1"/>
          <p:nvPr/>
        </p:nvSpPr>
        <p:spPr>
          <a:xfrm>
            <a:off x="609600" y="1091452"/>
            <a:ext cx="10890738" cy="5078273"/>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8) Shadows: URP-specific controls &amp; performance</a:t>
            </a:r>
            <a:endParaRPr lang="en-US" dirty="0">
              <a:solidFill>
                <a:schemeClr val="bg2"/>
              </a:solidFill>
            </a:endParaRPr>
          </a:p>
          <a:p>
            <a:r>
              <a:rPr lang="en-US" sz="2400" dirty="0">
                <a:solidFill>
                  <a:schemeClr val="bg2"/>
                </a:solidFill>
              </a:rPr>
              <a:t>- Pipeline Asset / Forward Renderer control global shadow toggles, shadow distance, cascade settings and atlas size (see step 6).</a:t>
            </a:r>
            <a:endParaRPr lang="en-US" dirty="0">
              <a:solidFill>
                <a:schemeClr val="bg2"/>
              </a:solidFill>
            </a:endParaRPr>
          </a:p>
          <a:p>
            <a:r>
              <a:rPr lang="en-US" sz="2400" dirty="0">
                <a:solidFill>
                  <a:schemeClr val="bg2"/>
                </a:solidFill>
              </a:rPr>
              <a:t>- Per-light shadow toggles remain on the Light component.</a:t>
            </a:r>
            <a:endParaRPr lang="en-US" dirty="0">
              <a:solidFill>
                <a:schemeClr val="bg2"/>
              </a:solidFill>
            </a:endParaRPr>
          </a:p>
          <a:p>
            <a:r>
              <a:rPr lang="en-US" sz="2400" dirty="0">
                <a:solidFill>
                  <a:schemeClr val="bg2"/>
                </a:solidFill>
              </a:rPr>
              <a:t>- Performance tips (menu buttons not required):</a:t>
            </a:r>
            <a:endParaRPr lang="en-US" dirty="0">
              <a:solidFill>
                <a:schemeClr val="bg2"/>
              </a:solidFill>
            </a:endParaRPr>
          </a:p>
          <a:p>
            <a:r>
              <a:rPr lang="en-US" sz="2400" dirty="0">
                <a:solidFill>
                  <a:schemeClr val="bg2"/>
                </a:solidFill>
              </a:rPr>
              <a:t>  - Lower "Shadow Distance" (Project Settings &gt; Quality or URP Pipeline Asset) to reduce number of shadow casters.</a:t>
            </a:r>
            <a:endParaRPr lang="en-US" dirty="0">
              <a:solidFill>
                <a:schemeClr val="bg2"/>
              </a:solidFill>
            </a:endParaRPr>
          </a:p>
          <a:p>
            <a:r>
              <a:rPr lang="en-US" sz="2400" dirty="0">
                <a:solidFill>
                  <a:schemeClr val="bg2"/>
                </a:solidFill>
              </a:rPr>
              <a:t>  - Reduce "Directional Cascades" count (in Pipeline Asset).</a:t>
            </a:r>
            <a:endParaRPr lang="en-US" dirty="0">
              <a:solidFill>
                <a:schemeClr val="bg2"/>
              </a:solidFill>
            </a:endParaRPr>
          </a:p>
          <a:p>
            <a:r>
              <a:rPr lang="en-US" sz="2400" dirty="0">
                <a:solidFill>
                  <a:schemeClr val="bg2"/>
                </a:solidFill>
              </a:rPr>
              <a:t>  - Reduce "Shadow Atlas Resolution" or per-light shadow resolution.</a:t>
            </a:r>
            <a:endParaRPr lang="en-US" dirty="0">
              <a:solidFill>
                <a:schemeClr val="bg2"/>
              </a:solidFill>
            </a:endParaRPr>
          </a:p>
          <a:p>
            <a:r>
              <a:rPr lang="en-US" sz="2400" dirty="0">
                <a:solidFill>
                  <a:schemeClr val="bg2"/>
                </a:solidFill>
              </a:rPr>
              <a:t>  - Disable additional light shadows (in Pipeline Asset) if you only need main directional shadows.</a:t>
            </a:r>
            <a:endParaRPr dirty="0">
              <a:solidFill>
                <a:schemeClr val="bg2"/>
              </a:solidFill>
            </a:endParaRPr>
          </a:p>
        </p:txBody>
      </p:sp>
    </p:spTree>
    <p:extLst>
      <p:ext uri="{BB962C8B-B14F-4D97-AF65-F5344CB8AC3E}">
        <p14:creationId xmlns:p14="http://schemas.microsoft.com/office/powerpoint/2010/main" val="19215720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Shape 361">
          <a:extLst>
            <a:ext uri="{FF2B5EF4-FFF2-40B4-BE49-F238E27FC236}">
              <a16:creationId xmlns:a16="http://schemas.microsoft.com/office/drawing/2014/main" id="{E9AB225E-469A-0809-393E-509D0D437FCB}"/>
            </a:ext>
          </a:extLst>
        </p:cNvPr>
        <p:cNvGrpSpPr/>
        <p:nvPr/>
      </p:nvGrpSpPr>
      <p:grpSpPr>
        <a:xfrm>
          <a:off x="0" y="0"/>
          <a:ext cx="0" cy="0"/>
          <a:chOff x="0" y="0"/>
          <a:chExt cx="0" cy="0"/>
        </a:xfrm>
      </p:grpSpPr>
      <p:sp>
        <p:nvSpPr>
          <p:cNvPr id="362" name="Google Shape;362;p45">
            <a:extLst>
              <a:ext uri="{FF2B5EF4-FFF2-40B4-BE49-F238E27FC236}">
                <a16:creationId xmlns:a16="http://schemas.microsoft.com/office/drawing/2014/main" id="{3B00186E-BF69-1151-81FE-DA1868F1B0D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dirty="0"/>
              <a:t>Unity Lighting</a:t>
            </a:r>
            <a:endParaRPr lang="en-US" dirty="0"/>
          </a:p>
        </p:txBody>
      </p:sp>
      <p:sp>
        <p:nvSpPr>
          <p:cNvPr id="363" name="Google Shape;363;p45">
            <a:extLst>
              <a:ext uri="{FF2B5EF4-FFF2-40B4-BE49-F238E27FC236}">
                <a16:creationId xmlns:a16="http://schemas.microsoft.com/office/drawing/2014/main" id="{6AD6AA9E-7EAE-9DB5-E677-34C7F3CFA496}"/>
              </a:ext>
            </a:extLst>
          </p:cNvPr>
          <p:cNvSpPr txBox="1"/>
          <p:nvPr/>
        </p:nvSpPr>
        <p:spPr>
          <a:xfrm>
            <a:off x="609600" y="1091452"/>
            <a:ext cx="10890738" cy="5078273"/>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URP Updates, Conversions</a:t>
            </a:r>
            <a:endParaRPr lang="en-GB" sz="3600" b="1" dirty="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dirty="0">
              <a:solidFill>
                <a:schemeClr val="tx1"/>
              </a:solidFill>
              <a:latin typeface="Calibri"/>
              <a:ea typeface="Quattrocento Sans"/>
              <a:cs typeface="Quattrocento Sans"/>
            </a:endParaRPr>
          </a:p>
          <a:p>
            <a:r>
              <a:rPr lang="en-US" sz="2400" dirty="0">
                <a:solidFill>
                  <a:schemeClr val="bg2"/>
                </a:solidFill>
              </a:rPr>
              <a:t>8) Shadows: URP-specific controls &amp; performance</a:t>
            </a:r>
            <a:endParaRPr lang="en-US" dirty="0">
              <a:solidFill>
                <a:schemeClr val="bg2"/>
              </a:solidFill>
            </a:endParaRPr>
          </a:p>
          <a:p>
            <a:r>
              <a:rPr lang="en-US" sz="2400" dirty="0">
                <a:solidFill>
                  <a:schemeClr val="bg2"/>
                </a:solidFill>
              </a:rPr>
              <a:t>- Pipeline Asset / Forward Renderer control global shadow toggles, shadow distance, cascade settings and atlas size (see step 6).</a:t>
            </a:r>
            <a:endParaRPr lang="en-US" dirty="0">
              <a:solidFill>
                <a:schemeClr val="bg2"/>
              </a:solidFill>
            </a:endParaRPr>
          </a:p>
          <a:p>
            <a:r>
              <a:rPr lang="en-US" sz="2400" dirty="0">
                <a:solidFill>
                  <a:schemeClr val="bg2"/>
                </a:solidFill>
              </a:rPr>
              <a:t>- Per-light shadow toggles remain on the Light component.</a:t>
            </a:r>
            <a:endParaRPr lang="en-US" dirty="0">
              <a:solidFill>
                <a:schemeClr val="bg2"/>
              </a:solidFill>
            </a:endParaRPr>
          </a:p>
          <a:p>
            <a:r>
              <a:rPr lang="en-US" sz="2400" dirty="0">
                <a:solidFill>
                  <a:schemeClr val="bg2"/>
                </a:solidFill>
              </a:rPr>
              <a:t>- Performance tips (menu buttons not required):</a:t>
            </a:r>
            <a:endParaRPr lang="en-US" dirty="0">
              <a:solidFill>
                <a:schemeClr val="bg2"/>
              </a:solidFill>
            </a:endParaRPr>
          </a:p>
          <a:p>
            <a:r>
              <a:rPr lang="en-US" sz="2400" dirty="0">
                <a:solidFill>
                  <a:schemeClr val="bg2"/>
                </a:solidFill>
              </a:rPr>
              <a:t>  - Lower "Shadow Distance" (Project Settings &gt; Quality or URP Pipeline Asset) to reduce number of shadow casters.</a:t>
            </a:r>
            <a:endParaRPr lang="en-US" dirty="0">
              <a:solidFill>
                <a:schemeClr val="bg2"/>
              </a:solidFill>
            </a:endParaRPr>
          </a:p>
          <a:p>
            <a:r>
              <a:rPr lang="en-US" sz="2400" dirty="0">
                <a:solidFill>
                  <a:schemeClr val="bg2"/>
                </a:solidFill>
              </a:rPr>
              <a:t>  - Reduce "Directional Cascades" count (in Pipeline Asset).</a:t>
            </a:r>
            <a:endParaRPr lang="en-US" dirty="0">
              <a:solidFill>
                <a:schemeClr val="bg2"/>
              </a:solidFill>
            </a:endParaRPr>
          </a:p>
          <a:p>
            <a:r>
              <a:rPr lang="en-US" sz="2400" dirty="0">
                <a:solidFill>
                  <a:schemeClr val="bg2"/>
                </a:solidFill>
              </a:rPr>
              <a:t>  - Reduce "Shadow Atlas Resolution" or per-light shadow resolution.</a:t>
            </a:r>
            <a:endParaRPr lang="en-US" dirty="0">
              <a:solidFill>
                <a:schemeClr val="bg2"/>
              </a:solidFill>
            </a:endParaRPr>
          </a:p>
          <a:p>
            <a:r>
              <a:rPr lang="en-US" sz="2400" dirty="0">
                <a:solidFill>
                  <a:schemeClr val="bg2"/>
                </a:solidFill>
              </a:rPr>
              <a:t>  - Disable additional light shadows (in Pipeline Asset) if you only need main directional shadows.</a:t>
            </a:r>
            <a:endParaRPr dirty="0">
              <a:solidFill>
                <a:schemeClr val="bg2"/>
              </a:solidFill>
            </a:endParaRPr>
          </a:p>
        </p:txBody>
      </p:sp>
    </p:spTree>
    <p:extLst>
      <p:ext uri="{BB962C8B-B14F-4D97-AF65-F5344CB8AC3E}">
        <p14:creationId xmlns:p14="http://schemas.microsoft.com/office/powerpoint/2010/main" val="2447480274"/>
      </p:ext>
    </p:extLst>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68</Slides>
  <Notes>68</Notes>
  <HiddenSlides>18</HiddenSlide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1_Office Theme</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PowerPoint Presentation</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lpstr>Unity Lighting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ferguson</dc:creator>
  <cp:revision>131</cp:revision>
  <dcterms:created xsi:type="dcterms:W3CDTF">2016-10-08T10:37:01Z</dcterms:created>
  <dcterms:modified xsi:type="dcterms:W3CDTF">2026-08-10T09:51:44Z</dcterms:modified>
</cp:coreProperties>
</file>