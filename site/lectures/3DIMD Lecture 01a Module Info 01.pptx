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327" r:id="rId33"/>
    <p:sldId id="290" r:id="rId34"/>
    <p:sldId id="326" r:id="rId35"/>
    <p:sldId id="324" r:id="rId36"/>
    <p:sldId id="325" r:id="rId37"/>
    <p:sldId id="328" r:id="rId38"/>
  </p:sldIdLst>
  <p:sldSz cx="9144000" cy="6858000" type="screen4x3"/>
  <p:notesSz cx="6858000" cy="9144000"/>
  <p:embeddedFontLst>
    <p:embeddedFont>
      <p:font typeface="Quattrocento Sans" panose="020B0502050000020003"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8" roundtripDataSignature="AMtx7mgmUbp3chIAAz8HzzZf8STgNLNsX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D5BE9B-C5FC-37EB-1798-1AD8EB61E3BB}" v="91" dt="2025-09-22T12:58:42.498"/>
  </p1510:revLst>
</p1510:revInfo>
</file>

<file path=ppt/tableStyles.xml><?xml version="1.0" encoding="utf-8"?>
<a:tblStyleLst xmlns:a="http://schemas.openxmlformats.org/drawingml/2006/main" def="{A73913B1-C328-437C-8A50-3C01E9A4A6E1}">
  <a:tblStyle styleId="{A73913B1-C328-437C-8A50-3C01E9A4A6E1}" styleName="Table_0">
    <a:wholeTbl>
      <a:tcTxStyle b="off" i="off">
        <a:font>
          <a:latin typeface="Segoe UI Light"/>
          <a:ea typeface="Segoe UI Light"/>
          <a:cs typeface="Segoe UI Ligh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BE8E7"/>
          </a:solidFill>
        </a:fill>
      </a:tcStyle>
    </a:wholeTbl>
    <a:band1H>
      <a:tcTxStyle/>
      <a:tcStyle>
        <a:tcBdr/>
        <a:fill>
          <a:solidFill>
            <a:srgbClr val="F6CDCC"/>
          </a:solidFill>
        </a:fill>
      </a:tcStyle>
    </a:band1H>
    <a:band2H>
      <a:tcTxStyle/>
      <a:tcStyle>
        <a:tcBdr/>
      </a:tcStyle>
    </a:band2H>
    <a:band1V>
      <a:tcTxStyle/>
      <a:tcStyle>
        <a:tcBdr/>
        <a:fill>
          <a:solidFill>
            <a:srgbClr val="F6CDCC"/>
          </a:solidFill>
        </a:fill>
      </a:tcStyle>
    </a:band1V>
    <a:band2V>
      <a:tcTxStyle/>
      <a:tcStyle>
        <a:tcBdr/>
      </a:tcStyle>
    </a:band2V>
    <a:lastCol>
      <a:tcTxStyle b="on" i="off">
        <a:font>
          <a:latin typeface="Segoe UI Light"/>
          <a:ea typeface="Segoe UI Light"/>
          <a:cs typeface="Segoe UI Light"/>
        </a:font>
        <a:schemeClr val="lt1"/>
      </a:tcTxStyle>
      <a:tcStyle>
        <a:tcBdr/>
        <a:fill>
          <a:solidFill>
            <a:schemeClr val="accent1"/>
          </a:solidFill>
        </a:fill>
      </a:tcStyle>
    </a:lastCol>
    <a:firstCol>
      <a:tcTxStyle b="on" i="off">
        <a:font>
          <a:latin typeface="Segoe UI Light"/>
          <a:ea typeface="Segoe UI Light"/>
          <a:cs typeface="Segoe UI Light"/>
        </a:font>
        <a:schemeClr val="lt1"/>
      </a:tcTxStyle>
      <a:tcStyle>
        <a:tcBdr/>
        <a:fill>
          <a:solidFill>
            <a:schemeClr val="accent1"/>
          </a:solidFill>
        </a:fill>
      </a:tcStyle>
    </a:firstCol>
    <a:lastRow>
      <a:tcTxStyle b="on" i="off">
        <a:font>
          <a:latin typeface="Segoe UI Light"/>
          <a:ea typeface="Segoe UI Light"/>
          <a:cs typeface="Segoe UI Ligh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Segoe UI Light"/>
          <a:ea typeface="Segoe UI Light"/>
          <a:cs typeface="Segoe UI Ligh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8" Type="http://schemas.openxmlformats.org/officeDocument/2006/relationships/slide" Target="slides/slide7.xml"/><Relationship Id="rId93"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font" Target="fonts/font2.fntdata"/><Relationship Id="rId88" Type="http://customschemas.google.com/relationships/presentationmetadata" Target="meta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id86HeV-Vb8"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mail:j.ferguson@westminster.ac.uk/"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Email:h.kondaramamoorthy@westminster.ac.uk/"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spcBef>
                <a:spcPts val="560"/>
              </a:spcBef>
            </a:pPr>
            <a:r>
              <a:rPr lang="en-GB" dirty="0">
                <a:hlinkClick r:id="rId3"/>
              </a:rPr>
              <a:t>https://www.youtube.com/watch?v=id86HeV-Vb8</a:t>
            </a:r>
            <a:r>
              <a:rPr lang="en-GB" dirty="0"/>
              <a:t> </a:t>
            </a:r>
            <a:endParaRPr lang="en-US" dirty="0"/>
          </a:p>
          <a:p>
            <a:pPr marL="0" indent="0">
              <a:spcBef>
                <a:spcPts val="480"/>
              </a:spcBef>
            </a:pPr>
            <a:r>
              <a:rPr lang="en-GB"/>
              <a:t>Example of fully Immersive Virtual Environments with 3D input</a:t>
            </a:r>
            <a:endParaRPr lang="en-US"/>
          </a:p>
          <a:p>
            <a:pPr marL="0" lvl="0" indent="0" algn="l">
              <a:spcBef>
                <a:spcPts val="0"/>
              </a:spcBef>
              <a:spcAft>
                <a:spcPts val="0"/>
              </a:spcAft>
              <a:buNone/>
            </a:pPr>
            <a:endParaRPr dirty="0"/>
          </a:p>
        </p:txBody>
      </p:sp>
      <p:sp>
        <p:nvSpPr>
          <p:cNvPr id="41" name="Google Shape;41;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br>
              <a:rPr lang="en-US" dirty="0"/>
            </a:br>
            <a:r>
              <a:rPr lang="en-US" b="1" dirty="0"/>
              <a:t>Jeff Ferguson</a:t>
            </a:r>
            <a:r>
              <a:rPr lang="en-US" dirty="0"/>
              <a:t> - Lectures, Tutorials, Module Leader</a:t>
            </a:r>
          </a:p>
          <a:p>
            <a:r>
              <a:rPr lang="en-US" u="sng" dirty="0">
                <a:hlinkClick r:id="rId3"/>
              </a:rPr>
              <a:t>Email: j.ferguson@westminster.ac.uk</a:t>
            </a:r>
            <a:endParaRPr lang="en-US"/>
          </a:p>
          <a:p>
            <a:r>
              <a:rPr lang="en-US" dirty="0"/>
              <a:t>Lectures Fridays 9:00-11:00</a:t>
            </a:r>
          </a:p>
          <a:p>
            <a:r>
              <a:rPr lang="en-US" dirty="0"/>
              <a:t>Tutorials Fridays 11:00-13:00, 14:00-16:00</a:t>
            </a:r>
          </a:p>
          <a:p>
            <a:r>
              <a:rPr lang="en-US" dirty="0"/>
              <a:t>Office Hours: Fridays 13:00-14:00, 16:00-17:00, Appointments by email request</a:t>
            </a:r>
          </a:p>
          <a:p>
            <a:br>
              <a:rPr lang="en-US" dirty="0"/>
            </a:br>
            <a:endParaRPr lang="en-US" dirty="0"/>
          </a:p>
          <a:p>
            <a:r>
              <a:rPr lang="en-US" b="1" dirty="0"/>
              <a:t>Hari Konda Ramamoorthy </a:t>
            </a:r>
            <a:r>
              <a:rPr lang="en-US" dirty="0"/>
              <a:t>- Tutorials</a:t>
            </a:r>
          </a:p>
          <a:p>
            <a:r>
              <a:rPr lang="en-US" u="sng" dirty="0">
                <a:hlinkClick r:id="rId4"/>
              </a:rPr>
              <a:t>Email: h.kondaramamoorthy@westminster.ac.uk</a:t>
            </a:r>
            <a:endParaRPr lang="en-US"/>
          </a:p>
          <a:p>
            <a:r>
              <a:rPr lang="en-US" dirty="0"/>
              <a:t>Tutorials Fridays 11:00-13:00</a:t>
            </a:r>
          </a:p>
          <a:p>
            <a:pPr marL="0" lvl="0" indent="0" algn="l">
              <a:spcBef>
                <a:spcPts val="0"/>
              </a:spcBef>
              <a:spcAft>
                <a:spcPts val="0"/>
              </a:spcAft>
              <a:buNone/>
            </a:pPr>
            <a:endParaRPr dirty="0"/>
          </a:p>
        </p:txBody>
      </p:sp>
      <p:sp>
        <p:nvSpPr>
          <p:cNvPr id="48" name="Google Shape;48;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32</a:t>
            </a:fld>
            <a:endParaRPr/>
          </a:p>
        </p:txBody>
      </p:sp>
    </p:spTree>
    <p:extLst>
      <p:ext uri="{BB962C8B-B14F-4D97-AF65-F5344CB8AC3E}">
        <p14:creationId xmlns:p14="http://schemas.microsoft.com/office/powerpoint/2010/main" val="37709774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r>
              <a:rPr lang="en-GB"/>
              <a:t>Spatial.io</a:t>
            </a:r>
          </a:p>
          <a:p>
            <a:pPr marL="0" indent="0"/>
            <a:r>
              <a:rPr lang="en-GB"/>
              <a:t>Hyperfy</a:t>
            </a:r>
          </a:p>
          <a:p>
            <a:pPr marL="0" indent="0"/>
            <a:r>
              <a:rPr lang="en-US"/>
              <a:t>Hytopia session - (Roblox Style Modding)</a:t>
            </a:r>
            <a:endParaRPr lang="en-GB"/>
          </a:p>
          <a:p>
            <a:pPr marL="0" indent="0"/>
            <a:r>
              <a:rPr lang="en-US"/>
              <a:t>New Art City Session for groups (at beginning?)</a:t>
            </a:r>
            <a:endParaRPr lang="en-GB"/>
          </a:p>
          <a:p>
            <a:pPr marL="0" indent="0"/>
            <a:r>
              <a:rPr lang="en-US"/>
              <a:t>8th Wall Niantic</a:t>
            </a:r>
            <a:endParaRPr lang="en-GB"/>
          </a:p>
          <a:p>
            <a:pPr marL="0" indent="0"/>
            <a:r>
              <a:rPr lang="en-US"/>
              <a:t>OnCyber</a:t>
            </a:r>
          </a:p>
          <a:p>
            <a:pPr marL="0" indent="0"/>
            <a:endParaRPr lang="en-GB" dirty="0"/>
          </a:p>
        </p:txBody>
      </p:sp>
      <p:sp>
        <p:nvSpPr>
          <p:cNvPr id="342" name="Google Shape;342;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33</a:t>
            </a:fld>
            <a:endParaRPr>
              <a:solidFill>
                <a:srgbClr val="000000"/>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34</a:t>
            </a:fld>
            <a:endParaRPr>
              <a:solidFill>
                <a:srgbClr val="000000"/>
              </a:solidFill>
            </a:endParaRPr>
          </a:p>
        </p:txBody>
      </p:sp>
    </p:spTree>
    <p:extLst>
      <p:ext uri="{BB962C8B-B14F-4D97-AF65-F5344CB8AC3E}">
        <p14:creationId xmlns:p14="http://schemas.microsoft.com/office/powerpoint/2010/main" val="1328185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5" name="Google Shape;605;p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 name="Google Shape;611;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2" name="Google Shape;612;p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 name="Google Shape;611;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2" name="Google Shape;612;p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37</a:t>
            </a:fld>
            <a:endParaRPr/>
          </a:p>
        </p:txBody>
      </p:sp>
    </p:spTree>
    <p:extLst>
      <p:ext uri="{BB962C8B-B14F-4D97-AF65-F5344CB8AC3E}">
        <p14:creationId xmlns:p14="http://schemas.microsoft.com/office/powerpoint/2010/main" val="2592522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685800" y="2130425"/>
            <a:ext cx="7772400" cy="1010543"/>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683568" y="3212976"/>
            <a:ext cx="7776864" cy="1752600"/>
          </a:xfrm>
          <a:prstGeom prst="rect">
            <a:avLst/>
          </a:prstGeom>
          <a:noFill/>
          <a:ln>
            <a:noFill/>
          </a:ln>
        </p:spPr>
        <p:txBody>
          <a:bodyPr spcFirstLastPara="1" wrap="square" lIns="91425" tIns="45700" rIns="91425" bIns="45700" anchor="t" anchorCtr="0">
            <a:normAutofit/>
          </a:bodyPr>
          <a:lstStyle>
            <a:lvl1pPr lvl="0" algn="l">
              <a:spcBef>
                <a:spcPts val="560"/>
              </a:spcBef>
              <a:spcAft>
                <a:spcPts val="0"/>
              </a:spcAft>
              <a:buClr>
                <a:schemeClr val="dk1"/>
              </a:buClr>
              <a:buSzPts val="2800"/>
              <a:buNone/>
              <a:defRPr sz="2800">
                <a:solidFill>
                  <a:schemeClr val="dk1"/>
                </a:solidFill>
                <a:latin typeface="Quattrocento Sans"/>
                <a:ea typeface="Quattrocento Sans"/>
                <a:cs typeface="Quattrocento Sans"/>
                <a:sym typeface="Quattrocento Sans"/>
              </a:defRPr>
            </a:lvl1pPr>
            <a:lvl2pPr lvl="1" algn="ctr">
              <a:spcBef>
                <a:spcPts val="480"/>
              </a:spcBef>
              <a:spcAft>
                <a:spcPts val="0"/>
              </a:spcAft>
              <a:buClr>
                <a:schemeClr val="dk1"/>
              </a:buClr>
              <a:buSzPts val="2400"/>
              <a:buNone/>
              <a:defRPr>
                <a:solidFill>
                  <a:schemeClr val="dk1"/>
                </a:solidFill>
              </a:defRPr>
            </a:lvl2pPr>
            <a:lvl3pPr lvl="2" algn="ctr">
              <a:spcBef>
                <a:spcPts val="400"/>
              </a:spcBef>
              <a:spcAft>
                <a:spcPts val="0"/>
              </a:spcAft>
              <a:buClr>
                <a:schemeClr val="dk1"/>
              </a:buClr>
              <a:buSzPts val="2000"/>
              <a:buNone/>
              <a:defRPr>
                <a:solidFill>
                  <a:schemeClr val="dk1"/>
                </a:solidFill>
              </a:defRPr>
            </a:lvl3pPr>
            <a:lvl4pPr lvl="3" algn="ctr">
              <a:spcBef>
                <a:spcPts val="360"/>
              </a:spcBef>
              <a:spcAft>
                <a:spcPts val="0"/>
              </a:spcAft>
              <a:buClr>
                <a:schemeClr val="dk1"/>
              </a:buClr>
              <a:buSzPts val="1800"/>
              <a:buNone/>
              <a:defRPr>
                <a:solidFill>
                  <a:schemeClr val="dk1"/>
                </a:solidFill>
              </a:defRPr>
            </a:lvl4pPr>
            <a:lvl5pPr lvl="4" algn="ctr">
              <a:spcBef>
                <a:spcPts val="360"/>
              </a:spcBef>
              <a:spcAft>
                <a:spcPts val="0"/>
              </a:spcAft>
              <a:buClr>
                <a:schemeClr val="dk1"/>
              </a:buClr>
              <a:buSzPts val="1800"/>
              <a:buNone/>
              <a:defRPr>
                <a:solidFill>
                  <a:schemeClr val="dk1"/>
                </a:solidFill>
              </a:defRPr>
            </a:lvl5pPr>
            <a:lvl6pPr lvl="5" algn="ctr">
              <a:spcBef>
                <a:spcPts val="400"/>
              </a:spcBef>
              <a:spcAft>
                <a:spcPts val="0"/>
              </a:spcAft>
              <a:buClr>
                <a:schemeClr val="dk1"/>
              </a:buClr>
              <a:buSzPts val="2000"/>
              <a:buNone/>
              <a:defRPr>
                <a:solidFill>
                  <a:schemeClr val="dk1"/>
                </a:solidFill>
              </a:defRPr>
            </a:lvl6pPr>
            <a:lvl7pPr lvl="6" algn="ctr">
              <a:spcBef>
                <a:spcPts val="400"/>
              </a:spcBef>
              <a:spcAft>
                <a:spcPts val="0"/>
              </a:spcAft>
              <a:buClr>
                <a:schemeClr val="dk1"/>
              </a:buClr>
              <a:buSzPts val="2000"/>
              <a:buNone/>
              <a:defRPr>
                <a:solidFill>
                  <a:schemeClr val="dk1"/>
                </a:solidFill>
              </a:defRPr>
            </a:lvl7pPr>
            <a:lvl8pPr lvl="7" algn="ctr">
              <a:spcBef>
                <a:spcPts val="400"/>
              </a:spcBef>
              <a:spcAft>
                <a:spcPts val="0"/>
              </a:spcAft>
              <a:buClr>
                <a:schemeClr val="dk1"/>
              </a:buClr>
              <a:buSzPts val="2000"/>
              <a:buNone/>
              <a:defRPr>
                <a:solidFill>
                  <a:schemeClr val="dk1"/>
                </a:solidFill>
              </a:defRPr>
            </a:lvl8pPr>
            <a:lvl9pPr lvl="8" algn="ctr">
              <a:spcBef>
                <a:spcPts val="400"/>
              </a:spcBef>
              <a:spcAft>
                <a:spcPts val="0"/>
              </a:spcAft>
              <a:buClr>
                <a:schemeClr val="dk1"/>
              </a:buClr>
              <a:buSzPts val="2000"/>
              <a:buNone/>
              <a:defRPr>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0"/>
        <p:cNvGrpSpPr/>
        <p:nvPr/>
      </p:nvGrpSpPr>
      <p:grpSpPr>
        <a:xfrm>
          <a:off x="0" y="0"/>
          <a:ext cx="0" cy="0"/>
          <a:chOff x="0" y="0"/>
          <a:chExt cx="0" cy="0"/>
        </a:xfrm>
      </p:grpSpPr>
      <p:sp>
        <p:nvSpPr>
          <p:cNvPr id="21" name="Google Shape;21;p78"/>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7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79"/>
          <p:cNvSpPr txBox="1">
            <a:spLocks noGrp="1"/>
          </p:cNvSpPr>
          <p:nvPr>
            <p:ph type="body" idx="1"/>
          </p:nvPr>
        </p:nvSpPr>
        <p:spPr>
          <a:xfrm>
            <a:off x="457200" y="1268760"/>
            <a:ext cx="8229600" cy="532859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a:solidFill>
                  <a:schemeClr val="dk1"/>
                </a:solidFill>
              </a:defRPr>
            </a:lvl1pPr>
            <a:lvl2pPr marL="914400" lvl="1" indent="-381000" algn="l">
              <a:spcBef>
                <a:spcPts val="480"/>
              </a:spcBef>
              <a:spcAft>
                <a:spcPts val="0"/>
              </a:spcAft>
              <a:buClr>
                <a:schemeClr val="dk1"/>
              </a:buClr>
              <a:buSzPts val="2400"/>
              <a:buChar char="–"/>
              <a:defRPr>
                <a:solidFill>
                  <a:schemeClr val="dk1"/>
                </a:solidFill>
              </a:defRPr>
            </a:lvl2pPr>
            <a:lvl3pPr marL="1371600" lvl="2" indent="-355600" algn="l">
              <a:spcBef>
                <a:spcPts val="400"/>
              </a:spcBef>
              <a:spcAft>
                <a:spcPts val="0"/>
              </a:spcAft>
              <a:buClr>
                <a:schemeClr val="dk1"/>
              </a:buClr>
              <a:buSzPts val="2000"/>
              <a:buChar char="•"/>
              <a:defRPr>
                <a:solidFill>
                  <a:schemeClr val="dk1"/>
                </a:solidFill>
              </a:defRPr>
            </a:lvl3pPr>
            <a:lvl4pPr marL="1828800" lvl="3" indent="-342900" algn="l">
              <a:spcBef>
                <a:spcPts val="360"/>
              </a:spcBef>
              <a:spcAft>
                <a:spcPts val="0"/>
              </a:spcAft>
              <a:buClr>
                <a:schemeClr val="dk1"/>
              </a:buClr>
              <a:buSzPts val="1800"/>
              <a:buChar char="–"/>
              <a:defRPr>
                <a:solidFill>
                  <a:schemeClr val="dk1"/>
                </a:solidFill>
              </a:defRPr>
            </a:lvl4pPr>
            <a:lvl5pPr marL="2286000" lvl="4" indent="-342900" algn="l">
              <a:spcBef>
                <a:spcPts val="360"/>
              </a:spcBef>
              <a:spcAft>
                <a:spcPts val="0"/>
              </a:spcAft>
              <a:buClr>
                <a:schemeClr val="dk1"/>
              </a:buClr>
              <a:buSzPts val="18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80"/>
          <p:cNvSpPr/>
          <p:nvPr/>
        </p:nvSpPr>
        <p:spPr>
          <a:xfrm>
            <a:off x="4662296" y="1556056"/>
            <a:ext cx="4020984"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7" name="Google Shape;27;p80"/>
          <p:cNvSpPr/>
          <p:nvPr/>
        </p:nvSpPr>
        <p:spPr>
          <a:xfrm>
            <a:off x="479008" y="1556792"/>
            <a:ext cx="4020984"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8" name="Google Shape;28;p80"/>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8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0" name="Google Shape;30;p8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1" name="Google Shape;31;p8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2" name="Google Shape;32;p8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pic>
        <p:nvPicPr>
          <p:cNvPr id="33" name="Google Shape;33;p80">
            <a:hlinkClick r:id="" action="ppaction://hlinkshowjump?jump=nextslide"/>
          </p:cNvPr>
          <p:cNvPicPr preferRelativeResize="0"/>
          <p:nvPr/>
        </p:nvPicPr>
        <p:blipFill rotWithShape="1">
          <a:blip r:embed="rId2">
            <a:alphaModFix/>
          </a:blip>
          <a:srcRect/>
          <a:stretch/>
        </p:blipFill>
        <p:spPr>
          <a:xfrm>
            <a:off x="8785386" y="6309320"/>
            <a:ext cx="303997" cy="450964"/>
          </a:xfrm>
          <a:prstGeom prst="rect">
            <a:avLst/>
          </a:prstGeom>
          <a:noFill/>
          <a:ln>
            <a:noFill/>
          </a:ln>
        </p:spPr>
      </p:pic>
      <p:pic>
        <p:nvPicPr>
          <p:cNvPr id="34" name="Google Shape;34;p80">
            <a:hlinkClick r:id="" action="ppaction://hlinkshowjump?jump=previousslide"/>
          </p:cNvPr>
          <p:cNvPicPr preferRelativeResize="0"/>
          <p:nvPr/>
        </p:nvPicPr>
        <p:blipFill rotWithShape="1">
          <a:blip r:embed="rId2">
            <a:alphaModFix/>
          </a:blip>
          <a:srcRect/>
          <a:stretch/>
        </p:blipFill>
        <p:spPr>
          <a:xfrm flipH="1">
            <a:off x="46966" y="6309320"/>
            <a:ext cx="303997" cy="4509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type="titleOnly">
  <p:cSld name="TITLE_ONLY">
    <p:spTree>
      <p:nvGrpSpPr>
        <p:cNvPr id="1" name="Shape 35"/>
        <p:cNvGrpSpPr/>
        <p:nvPr/>
      </p:nvGrpSpPr>
      <p:grpSpPr>
        <a:xfrm>
          <a:off x="0" y="0"/>
          <a:ext cx="0" cy="0"/>
          <a:chOff x="0" y="0"/>
          <a:chExt cx="0" cy="0"/>
        </a:xfrm>
      </p:grpSpPr>
      <p:sp>
        <p:nvSpPr>
          <p:cNvPr id="36" name="Google Shape;36;p8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 name="Google Shape;37;p81">
            <a:hlinkClick r:id="" action="ppaction://hlinkshowjump?jump=previousslide"/>
          </p:cNvPr>
          <p:cNvPicPr preferRelativeResize="0"/>
          <p:nvPr/>
        </p:nvPicPr>
        <p:blipFill rotWithShape="1">
          <a:blip r:embed="rId2">
            <a:alphaModFix/>
          </a:blip>
          <a:srcRect/>
          <a:stretch/>
        </p:blipFill>
        <p:spPr>
          <a:xfrm flipH="1">
            <a:off x="46966" y="6309320"/>
            <a:ext cx="303997" cy="4509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80000">
              <a:srgbClr val="0F243E"/>
            </a:gs>
            <a:gs pos="100000">
              <a:srgbClr val="538CD5"/>
            </a:gs>
          </a:gsLst>
          <a:lin ang="5400000" scaled="0"/>
        </a:gradFill>
        <a:effectLst/>
      </p:bgPr>
    </p:bg>
    <p:spTree>
      <p:nvGrpSpPr>
        <p:cNvPr id="1" name="Shape 9"/>
        <p:cNvGrpSpPr/>
        <p:nvPr/>
      </p:nvGrpSpPr>
      <p:grpSpPr>
        <a:xfrm>
          <a:off x="0" y="0"/>
          <a:ext cx="0" cy="0"/>
          <a:chOff x="0" y="0"/>
          <a:chExt cx="0" cy="0"/>
        </a:xfrm>
      </p:grpSpPr>
      <p:sp>
        <p:nvSpPr>
          <p:cNvPr id="10" name="Google Shape;10;p7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4400"/>
              <a:buFont typeface="Quattrocento Sans"/>
              <a:buNone/>
              <a:defRPr sz="4400" b="0"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6"/>
          <p:cNvSpPr txBox="1">
            <a:spLocks noGrp="1"/>
          </p:cNvSpPr>
          <p:nvPr>
            <p:ph type="body" idx="1"/>
          </p:nvPr>
        </p:nvSpPr>
        <p:spPr>
          <a:xfrm>
            <a:off x="457200" y="1268760"/>
            <a:ext cx="8229600" cy="5328592"/>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2" name="Google Shape;12;p76" descr="C:\Users\jw\Documents\Visual Studio 2010\Projects\JSBubbles\JSBubbles.Game\images\themes\metro\Next.png">
            <a:hlinkClick r:id="" action="ppaction://hlinkshowjump?jump=nextslide"/>
          </p:cNvPr>
          <p:cNvPicPr preferRelativeResize="0"/>
          <p:nvPr/>
        </p:nvPicPr>
        <p:blipFill rotWithShape="1">
          <a:blip r:embed="rId7">
            <a:alphaModFix/>
          </a:blip>
          <a:srcRect/>
          <a:stretch/>
        </p:blipFill>
        <p:spPr>
          <a:xfrm>
            <a:off x="8004029" y="6348019"/>
            <a:ext cx="400050" cy="400050"/>
          </a:xfrm>
          <a:prstGeom prst="rect">
            <a:avLst/>
          </a:prstGeom>
          <a:noFill/>
          <a:ln>
            <a:noFill/>
          </a:ln>
        </p:spPr>
      </p:pic>
      <p:pic>
        <p:nvPicPr>
          <p:cNvPr id="13" name="Google Shape;13;p76"/>
          <p:cNvPicPr preferRelativeResize="0"/>
          <p:nvPr/>
        </p:nvPicPr>
        <p:blipFill rotWithShape="1">
          <a:blip r:embed="rId8">
            <a:alphaModFix/>
          </a:blip>
          <a:srcRect/>
          <a:stretch/>
        </p:blipFill>
        <p:spPr>
          <a:xfrm>
            <a:off x="8558640" y="6343213"/>
            <a:ext cx="400106" cy="400106"/>
          </a:xfrm>
          <a:prstGeom prst="rect">
            <a:avLst/>
          </a:prstGeom>
          <a:noFill/>
          <a:ln>
            <a:noFill/>
          </a:ln>
        </p:spPr>
      </p:pic>
      <p:pic>
        <p:nvPicPr>
          <p:cNvPr id="14" name="Google Shape;14;p76">
            <a:hlinkClick r:id="" action="ppaction://hlinkshowjump?jump=firstslide"/>
          </p:cNvPr>
          <p:cNvPicPr preferRelativeResize="0"/>
          <p:nvPr/>
        </p:nvPicPr>
        <p:blipFill rotWithShape="1">
          <a:blip r:embed="rId9">
            <a:alphaModFix/>
          </a:blip>
          <a:srcRect/>
          <a:stretch/>
        </p:blipFill>
        <p:spPr>
          <a:xfrm>
            <a:off x="7448908" y="6347991"/>
            <a:ext cx="400106" cy="400106"/>
          </a:xfrm>
          <a:prstGeom prst="rect">
            <a:avLst/>
          </a:prstGeom>
          <a:noFill/>
          <a:ln>
            <a:noFill/>
          </a:ln>
        </p:spPr>
      </p:pic>
      <p:pic>
        <p:nvPicPr>
          <p:cNvPr id="15" name="Google Shape;15;p76">
            <a:hlinkClick r:id="" action="ppaction://hlinkshowjump?jump=previousslide"/>
          </p:cNvPr>
          <p:cNvPicPr preferRelativeResize="0"/>
          <p:nvPr/>
        </p:nvPicPr>
        <p:blipFill rotWithShape="1">
          <a:blip r:embed="rId10">
            <a:alphaModFix/>
          </a:blip>
          <a:srcRect/>
          <a:stretch/>
        </p:blipFill>
        <p:spPr>
          <a:xfrm>
            <a:off x="6904800" y="6338465"/>
            <a:ext cx="419159" cy="419159"/>
          </a:xfrm>
          <a:prstGeom prst="rect">
            <a:avLst/>
          </a:prstGeom>
          <a:noFill/>
          <a:ln>
            <a:noFill/>
          </a:ln>
        </p:spPr>
      </p:pic>
      <p:sp>
        <p:nvSpPr>
          <p:cNvPr id="16" name="Google Shape;16;p76"/>
          <p:cNvSpPr/>
          <p:nvPr/>
        </p:nvSpPr>
        <p:spPr>
          <a:xfrm>
            <a:off x="4061508" y="6525344"/>
            <a:ext cx="1113381" cy="360040"/>
          </a:xfrm>
          <a:prstGeom prst="rect">
            <a:avLst/>
          </a:prstGeom>
          <a:blipFill rotWithShape="1">
            <a:blip r:embed="rId11">
              <a:alphaModFix amt="3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uowdigital.padlet.org/fergusj/web-web3d-and-web3-ecosystem-9xv91ovkasaaviu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uowdigital.padlet.org/fergusj/3dimd-cw-samples-5ohcvanq1wlcq0h9"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mailto:j.ferguson@westminster.ac.u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Email:pumudu.f@iit.ac.lk/"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westminster.ac.uk/study/current-students/resources/academic-regulations/academic-misconduct"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universityofwestminster-my.sharepoint.com/:w:/g/personal/fergusj_westminster_ac_uk/Ed2c6bcLOhBFi5fYh6qGqkwBQ9RW4N-FhiM7ZPxe8d6YDw?e=Fn2JG5"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uowdigital.padlet.org/fergusj/3dimd-cw-samples-2025-1f4w3m19lc80m9cf"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library-collections-search.westminster.ac.uk/primo_library/libweb/action/search.do?vl(freeText0)=Doug+A+Bowman&amp;vl(7494726UI0)=creator&amp;vl(146172859UI1)=all_items&amp;fn=search&amp;tab=local&amp;mode=Basic&amp;vid=WST_VU1&amp;scp.scps=scope:(CALM_WST),scope:(LMS_WST),scope:(SFX_WST),scope:(ML_WST),scope:(CAV),scope:(REG),scope:(MRD),scope:(HRW)&amp;ct=lateralLinking"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www.autodeskresearch.com/projects/3dnav" TargetMode="External"/><Relationship Id="rId3" Type="http://schemas.openxmlformats.org/officeDocument/2006/relationships/image" Target="../media/image10.png"/><Relationship Id="rId7" Type="http://schemas.openxmlformats.org/officeDocument/2006/relationships/hyperlink" Target="http://people.cs.vt.edu/~bowman/3dui.org/Resources.html"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people.cs.vt.edu/~bowman/3dui.org/Home.html" TargetMode="External"/><Relationship Id="rId5" Type="http://schemas.openxmlformats.org/officeDocument/2006/relationships/hyperlink" Target="https://people.cs.vt.edu/bowman/3dui.org/Home.html" TargetMode="External"/><Relationship Id="rId4" Type="http://schemas.openxmlformats.org/officeDocument/2006/relationships/hyperlink" Target="http://3dui.org/"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www.pluralsight.com/courses/procedural-generation-3ds-max-2080#play-49466%E2%80%8B" TargetMode="External"/><Relationship Id="rId3" Type="http://schemas.openxmlformats.org/officeDocument/2006/relationships/image" Target="../media/image9.png"/><Relationship Id="rId7" Type="http://schemas.openxmlformats.org/officeDocument/2006/relationships/hyperlink" Target="http://www.aclockworkberry.com/world-coordinate-systems-in-3ds-max-unity-and-unreal-engine/"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www.youtube.com/channel/UClFsEsF33aNadnLUn-tqpRQ" TargetMode="External"/><Relationship Id="rId5" Type="http://schemas.openxmlformats.org/officeDocument/2006/relationships/hyperlink" Target="https://www.youtube.com/watch?v=3ZuLmd9OSYc" TargetMode="External"/><Relationship Id="rId4" Type="http://schemas.openxmlformats.org/officeDocument/2006/relationships/hyperlink" Target="http://help.autodesk.com/view/3DSMAX/2017/ENU/?guid=GUID-68FFEEDA-3801-444E-B450-942E03A7523D" TargetMode="External"/><Relationship Id="rId9" Type="http://schemas.openxmlformats.org/officeDocument/2006/relationships/hyperlink" Target="https://www.youtube.com/watch?v=u9wghSWKf-c"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www.youtube.com/playlist?list=PL_eGgISVYZkdtClbuMbZqlNJ-xLo_OTwc" TargetMode="External"/><Relationship Id="rId3" Type="http://schemas.openxmlformats.org/officeDocument/2006/relationships/image" Target="../media/image8.png"/><Relationship Id="rId7" Type="http://schemas.openxmlformats.org/officeDocument/2006/relationships/hyperlink" Target="http://static1.squarespace.com/static/5019271be4b0807297e8f404/t/55e8091ee4b0b7a615665de5/1441270046307/CSharp+Book+2015+Final.pdf"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github.com/head-first-csharp/fifth-edition" TargetMode="External"/><Relationship Id="rId5" Type="http://schemas.openxmlformats.org/officeDocument/2006/relationships/hyperlink" Target="http://www.microsoftvirtualacademy.com/training-courses/c-fundamentals-for-absolute-beginners" TargetMode="External"/><Relationship Id="rId4" Type="http://schemas.openxmlformats.org/officeDocument/2006/relationships/hyperlink" Target="http://www.tutorialspoint.com/csharp/" TargetMode="External"/><Relationship Id="rId9" Type="http://schemas.openxmlformats.org/officeDocument/2006/relationships/hyperlink" Target="https://www.packtpub.com/"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wiki.unity3d.com/index.php/Main_Page" TargetMode="External"/><Relationship Id="rId3" Type="http://schemas.openxmlformats.org/officeDocument/2006/relationships/image" Target="../media/image7.png"/><Relationship Id="rId7" Type="http://schemas.openxmlformats.org/officeDocument/2006/relationships/hyperlink" Target="https://unity3d.com/learn/tutorials/topics/user-interface-ui" TargetMode="External"/><Relationship Id="rId12" Type="http://schemas.openxmlformats.org/officeDocument/2006/relationships/hyperlink" Target="https://www.youtube.com/channel/UCOIcO8Lsk1MERedhOnew73A"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learn.unity.com/" TargetMode="External"/><Relationship Id="rId11" Type="http://schemas.openxmlformats.org/officeDocument/2006/relationships/hyperlink" Target="https://www.youtube.com/channel/UClFsEsF33aNadnLUn-tqpRQ" TargetMode="External"/><Relationship Id="rId5" Type="http://schemas.openxmlformats.org/officeDocument/2006/relationships/hyperlink" Target="https://unity3d.com/learn/tutorials/topics/scripting" TargetMode="External"/><Relationship Id="rId10" Type="http://schemas.openxmlformats.org/officeDocument/2006/relationships/hyperlink" Target="https://www.packtpub.com/" TargetMode="External"/><Relationship Id="rId4" Type="http://schemas.openxmlformats.org/officeDocument/2006/relationships/hyperlink" Target="https://unity.com/learn" TargetMode="External"/><Relationship Id="rId9" Type="http://schemas.openxmlformats.org/officeDocument/2006/relationships/hyperlink" Target="https://docs.unity3d.com/2023.2/Documentation/Manual/index.html"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uowdigital.padlet.org/fergusj/3dimd-intro-2025-uow-b51inegc8wf3wwc1"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uowdigital.padlet.org/fergusj/3dimd-intro-2025-iit-7uspoqpdrfcpk107"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jpg"/></Relationships>
</file>

<file path=ppt/slides/_rels/slide32.xml.rels><?xml version="1.0" encoding="UTF-8" standalone="yes"?>
<Relationships xmlns="http://schemas.openxmlformats.org/package/2006/relationships"><Relationship Id="rId8" Type="http://schemas.openxmlformats.org/officeDocument/2006/relationships/hyperlink" Target="https://learning.westminster.ac.uk/ultra/organizations/_68884_1/cl/outline" TargetMode="External"/><Relationship Id="rId3" Type="http://schemas.openxmlformats.org/officeDocument/2006/relationships/hyperlink" Target="https://uowdigital.padlet.org/fergusj/3dimd-cw-samples-5ohcvanq1wlcq0h9" TargetMode="External"/><Relationship Id="rId7" Type="http://schemas.openxmlformats.org/officeDocument/2006/relationships/hyperlink" Target="https://xrlab.london/"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hyperlink" Target="https://uowdigital.padlet.org/fergusj/XRinIndustry" TargetMode="External"/><Relationship Id="rId5" Type="http://schemas.openxmlformats.org/officeDocument/2006/relationships/hyperlink" Target="https://padlet.com/sselwood1/VirtualMeeting" TargetMode="External"/><Relationship Id="rId4" Type="http://schemas.openxmlformats.org/officeDocument/2006/relationships/hyperlink" Target="https://docs.google.com/spreadsheets/d/1wicTinoLjP5M3bATj3ZbtuN4H6vpqgIT/edit#gid=207650032" TargetMode="External"/><Relationship Id="rId9" Type="http://schemas.openxmlformats.org/officeDocument/2006/relationships/hyperlink" Target="https://uowdigital.padlet.org/fergusj/xr-lab-demo-material-vf1u4jwz92800dvo" TargetMode="External"/></Relationships>
</file>

<file path=ppt/slides/_rels/slide33.xml.rels><?xml version="1.0" encoding="UTF-8" standalone="yes"?>
<Relationships xmlns="http://schemas.openxmlformats.org/package/2006/relationships"><Relationship Id="rId8" Type="http://schemas.openxmlformats.org/officeDocument/2006/relationships/hyperlink" Target="http://jobsimulatorgame.com/" TargetMode="External"/><Relationship Id="rId3" Type="http://schemas.openxmlformats.org/officeDocument/2006/relationships/hyperlink" Target="https://www.theguardian.com/world/ng-interactive/2016/apr/27/6x9-a-virtual-experience-of-solitary-confinement" TargetMode="External"/><Relationship Id="rId7" Type="http://schemas.openxmlformats.org/officeDocument/2006/relationships/hyperlink" Target="http://www.bbc.co.uk/taster/"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hyperlink" Target="https://www.holobuilder.com/" TargetMode="External"/><Relationship Id="rId11" Type="http://schemas.openxmlformats.org/officeDocument/2006/relationships/hyperlink" Target="https://www.youtube.com/watch?v=GSbkn6mCfXE" TargetMode="External"/><Relationship Id="rId5" Type="http://schemas.openxmlformats.org/officeDocument/2006/relationships/hyperlink" Target="https://saydnaya.amnesty.org/" TargetMode="External"/><Relationship Id="rId10" Type="http://schemas.openxmlformats.org/officeDocument/2006/relationships/hyperlink" Target="https://www.youtube.com/watch?v=aocLCCvJTBU" TargetMode="External"/><Relationship Id="rId4" Type="http://schemas.openxmlformats.org/officeDocument/2006/relationships/hyperlink" Target="http://www.desmoinesregister.com/story/money/agriculture/2014/09/17/harvest-of-change-virtual-farm-virtual-reality/15785377/" TargetMode="External"/><Relationship Id="rId9" Type="http://schemas.openxmlformats.org/officeDocument/2006/relationships/hyperlink" Target="https://www.youtube.com/watch?v=1S0GO5kbMYo"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uowdigital.padlet.org/fergusj/web3d-and-web3-ecosystem-9xv91ovkasaaviua"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people.cs.vt.edu/~bowman/3dui.org/CHI_2008.ht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hyperlink" Target="https://cdn.intechopen.com/pdfs/5463/InTech-The_three_dimensional_user_interface.pdf"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uowdigital.padlet.org/fergusj/2025-3dimd-brainstorm-3igzgiru8o4neldo"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ctrTitle"/>
          </p:nvPr>
        </p:nvSpPr>
        <p:spPr>
          <a:xfrm>
            <a:off x="685800" y="2130425"/>
            <a:ext cx="7772400" cy="1010543"/>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ct val="100000"/>
              <a:buFont typeface="Quattrocento Sans"/>
              <a:buNone/>
            </a:pPr>
            <a:r>
              <a:rPr lang="en-GB" sz="3600" dirty="0"/>
              <a:t>3D Interactive Media Development</a:t>
            </a:r>
            <a:endParaRPr sz="3600" dirty="0"/>
          </a:p>
        </p:txBody>
      </p:sp>
      <p:sp>
        <p:nvSpPr>
          <p:cNvPr id="44" name="Google Shape;44;p1"/>
          <p:cNvSpPr txBox="1">
            <a:spLocks noGrp="1"/>
          </p:cNvSpPr>
          <p:nvPr>
            <p:ph type="subTitle" idx="1"/>
          </p:nvPr>
        </p:nvSpPr>
        <p:spPr>
          <a:xfrm>
            <a:off x="683568" y="3212976"/>
            <a:ext cx="8459418" cy="28083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FFFF00"/>
              </a:buClr>
              <a:buSzPts val="2800"/>
              <a:buNone/>
            </a:pPr>
            <a:r>
              <a:rPr lang="en-GB" b="1" dirty="0">
                <a:solidFill>
                  <a:srgbClr val="FFFF00"/>
                </a:solidFill>
              </a:rPr>
              <a:t>5MMCS007W					Lecture 01a</a:t>
            </a:r>
            <a:endParaRPr dirty="0"/>
          </a:p>
          <a:p>
            <a:pPr marL="0" lvl="0" indent="0" algn="l" rtl="0">
              <a:spcBef>
                <a:spcPts val="560"/>
              </a:spcBef>
              <a:spcAft>
                <a:spcPts val="0"/>
              </a:spcAft>
              <a:buClr>
                <a:schemeClr val="dk1"/>
              </a:buClr>
              <a:buSzPts val="2800"/>
              <a:buNone/>
            </a:pPr>
            <a:endParaRPr>
              <a:solidFill>
                <a:srgbClr val="FF0000"/>
              </a:solidFill>
            </a:endParaRPr>
          </a:p>
          <a:p>
            <a:pPr marL="0" indent="0">
              <a:buClr>
                <a:srgbClr val="FF0000"/>
              </a:buClr>
            </a:pPr>
            <a:r>
              <a:rPr lang="en-GB" dirty="0">
                <a:solidFill>
                  <a:srgbClr val="FF0000"/>
                </a:solidFill>
              </a:rPr>
              <a:t>Intermission – 3D Examples</a:t>
            </a:r>
          </a:p>
          <a:p>
            <a:pPr marL="0" indent="0"/>
            <a:r>
              <a:rPr lang="en-GB" sz="1600" dirty="0">
                <a:solidFill>
                  <a:srgbClr val="FF0000"/>
                </a:solidFill>
                <a:hlinkClick r:id="rId3"/>
              </a:rPr>
              <a:t>https://uowdigital.padlet.org/fergusj/web-web3d-and-web3-ecosystem-9xv91ovkasaaviua</a:t>
            </a:r>
          </a:p>
          <a:p>
            <a:pPr marL="0" indent="0"/>
            <a:r>
              <a:rPr lang="en-GB" sz="1600" dirty="0">
                <a:solidFill>
                  <a:srgbClr val="FF0000"/>
                </a:solidFill>
                <a:hlinkClick r:id="rId4"/>
              </a:rPr>
              <a:t>https://uowdigital.padlet.org/fergusj/3dimd-cw-samples-5ohcvanq1wlcq0h9</a:t>
            </a:r>
            <a:r>
              <a:rPr lang="en-GB" sz="1600" dirty="0">
                <a:solidFill>
                  <a:srgbClr val="FF0000"/>
                </a:solidFill>
              </a:rPr>
              <a:t> </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51" name="Google Shape;51;p3"/>
          <p:cNvSpPr txBox="1"/>
          <p:nvPr/>
        </p:nvSpPr>
        <p:spPr>
          <a:xfrm>
            <a:off x="395523" y="1412775"/>
            <a:ext cx="8493704" cy="43396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i="0" u="none" strike="noStrike" cap="none" dirty="0">
                <a:solidFill>
                  <a:srgbClr val="FFFF00"/>
                </a:solidFill>
                <a:latin typeface="Quattrocento Sans"/>
                <a:ea typeface="Quattrocento Sans"/>
                <a:cs typeface="Quattrocento Sans"/>
                <a:sym typeface="Quattrocento Sans"/>
              </a:rPr>
              <a:t>Lecturers</a:t>
            </a:r>
            <a:endParaRPr dirty="0"/>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r>
              <a:rPr lang="en-GB" sz="1800" b="1" dirty="0">
                <a:solidFill>
                  <a:srgbClr val="FFFF00"/>
                </a:solidFill>
                <a:latin typeface="Quattrocento Sans"/>
                <a:ea typeface="Quattrocento Sans"/>
                <a:cs typeface="Quattrocento Sans"/>
                <a:sym typeface="Quattrocento Sans"/>
              </a:rPr>
              <a:t>Jeff Ferguson (Module Leader)</a:t>
            </a:r>
            <a:br>
              <a:rPr lang="en-GB" sz="1800" b="1" dirty="0">
                <a:solidFill>
                  <a:srgbClr val="FFFF00"/>
                </a:solidFill>
                <a:latin typeface="Quattrocento Sans"/>
                <a:ea typeface="Quattrocento Sans"/>
                <a:cs typeface="Quattrocento Sans"/>
              </a:rPr>
            </a:br>
            <a:r>
              <a:rPr lang="en-GB" sz="1800" b="1" dirty="0">
                <a:solidFill>
                  <a:srgbClr val="FFFF00"/>
                </a:solidFill>
                <a:latin typeface="Quattrocento Sans"/>
                <a:ea typeface="Quattrocento Sans"/>
                <a:cs typeface="Calibri"/>
                <a:sym typeface="Quattrocento Sans"/>
              </a:rPr>
              <a:t>Lectures Tuesdays 11:00-13:00</a:t>
            </a:r>
            <a:endParaRPr lang="en-GB" sz="1800">
              <a:solidFill>
                <a:srgbClr val="FFFFFF"/>
              </a:solidFill>
              <a:latin typeface="Quattrocento Sans"/>
              <a:ea typeface="Quattrocento Sans"/>
              <a:cs typeface="Calibri"/>
            </a:endParaRPr>
          </a:p>
          <a:p>
            <a:r>
              <a:rPr lang="en-GB" sz="1800" b="1" dirty="0">
                <a:solidFill>
                  <a:srgbClr val="FFFF00"/>
                </a:solidFill>
                <a:latin typeface="Quattrocento Sans"/>
                <a:ea typeface="Quattrocento Sans"/>
                <a:cs typeface="Calibri"/>
                <a:sym typeface="Quattrocento Sans"/>
              </a:rPr>
              <a:t>Tutorials Tuesdays 14:00-16:00, 16:00-18:00</a:t>
            </a:r>
            <a:endParaRPr lang="en-GB" sz="1800">
              <a:solidFill>
                <a:srgbClr val="FFFFFF"/>
              </a:solidFill>
              <a:latin typeface="Quattrocento Sans"/>
            </a:endParaRPr>
          </a:p>
          <a:p>
            <a:pPr marL="0" marR="0" lvl="0" indent="0" algn="l">
              <a:spcBef>
                <a:spcPts val="0"/>
              </a:spcBef>
              <a:spcAft>
                <a:spcPts val="0"/>
              </a:spcAft>
              <a:buNone/>
            </a:pPr>
            <a:r>
              <a:rPr lang="en-GB" sz="1800" dirty="0">
                <a:solidFill>
                  <a:schemeClr val="dk1"/>
                </a:solidFill>
                <a:latin typeface="Quattrocento Sans"/>
                <a:ea typeface="Quattrocento Sans"/>
                <a:cs typeface="Quattrocento Sans"/>
                <a:sym typeface="Quattrocento Sans"/>
              </a:rPr>
              <a:t>Email: </a:t>
            </a:r>
            <a:r>
              <a:rPr lang="en-GB" sz="1800"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j.ferguson@westminster.ac.uk</a:t>
            </a:r>
            <a:endParaRPr lang="en-US" sz="1800">
              <a:solidFill>
                <a:schemeClr val="dk1"/>
              </a:solidFill>
              <a:latin typeface="Quattrocento Sans"/>
              <a:ea typeface="Quattrocento Sans"/>
              <a:cs typeface="Quattrocento Sans"/>
            </a:endParaRPr>
          </a:p>
          <a:p>
            <a:r>
              <a:rPr lang="en-GB" sz="1800" dirty="0">
                <a:solidFill>
                  <a:srgbClr val="FFFFFF"/>
                </a:solidFill>
                <a:latin typeface="Quattrocento Sans"/>
                <a:ea typeface="Quattrocento Sans"/>
                <a:cs typeface="Calibri"/>
                <a:sym typeface="Quattrocento Sans"/>
              </a:rPr>
              <a:t>Office Hours: Tuesdays 10:00-11:00, 13:00-14:00</a:t>
            </a:r>
            <a:endParaRPr lang="en-GB" sz="1800" dirty="0">
              <a:solidFill>
                <a:srgbClr val="FFFFFF"/>
              </a:solidFill>
              <a:latin typeface="Quattrocento Sans"/>
              <a:ea typeface="Quattrocento Sans"/>
              <a:cs typeface="Calibri"/>
            </a:endParaRPr>
          </a:p>
          <a:p>
            <a:r>
              <a:rPr lang="en-GB" sz="1800" dirty="0">
                <a:solidFill>
                  <a:srgbClr val="FFFFFF"/>
                </a:solidFill>
                <a:latin typeface="Quattrocento Sans"/>
                <a:ea typeface="Quattrocento Sans"/>
                <a:cs typeface="Calibri"/>
                <a:sym typeface="Quattrocento Sans"/>
              </a:rPr>
              <a:t>Appointments by email request</a:t>
            </a:r>
            <a:endParaRPr lang="en-GB" sz="1800">
              <a:solidFill>
                <a:srgbClr val="FFFFFF"/>
              </a:solidFill>
              <a:latin typeface="Quattrocento Sans"/>
            </a:endParaRPr>
          </a:p>
          <a:p>
            <a:pPr marL="0" marR="0" lvl="0" indent="0" algn="l">
              <a:spcBef>
                <a:spcPts val="0"/>
              </a:spcBef>
              <a:spcAft>
                <a:spcPts val="0"/>
              </a:spcAft>
              <a:buNone/>
            </a:pPr>
            <a:r>
              <a:rPr lang="en-GB" sz="1800" dirty="0">
                <a:solidFill>
                  <a:schemeClr val="dk1"/>
                </a:solidFill>
                <a:latin typeface="Quattrocento Sans"/>
                <a:ea typeface="Quattrocento Sans"/>
                <a:cs typeface="Quattrocento Sans"/>
                <a:sym typeface="Quattrocento Sans"/>
              </a:rPr>
              <a:t>Please contact for module related issues</a:t>
            </a:r>
            <a:endParaRPr dirty="0">
              <a:solidFill>
                <a:schemeClr val="dk1"/>
              </a:solidFill>
            </a:endParaRPr>
          </a:p>
          <a:p>
            <a:pPr marL="0" marR="0" lvl="0" indent="0" algn="l">
              <a:spcBef>
                <a:spcPts val="0"/>
              </a:spcBef>
              <a:spcAft>
                <a:spcPts val="0"/>
              </a:spcAft>
              <a:buNone/>
            </a:pPr>
            <a:endParaRPr lang="en-GB" sz="1800" dirty="0">
              <a:solidFill>
                <a:schemeClr val="dk1"/>
              </a:solidFill>
              <a:latin typeface="Quattrocento Sans"/>
              <a:ea typeface="Quattrocento Sans"/>
            </a:endParaRPr>
          </a:p>
          <a:p>
            <a:endParaRPr lang="en-GB" sz="1800">
              <a:solidFill>
                <a:srgbClr val="FF0000"/>
              </a:solidFill>
              <a:ea typeface="Quattrocento Sans"/>
              <a:sym typeface="Quattrocento Sans"/>
            </a:endParaRPr>
          </a:p>
          <a:p>
            <a:r>
              <a:rPr lang="en-GB" sz="1800" b="1" dirty="0" err="1">
                <a:solidFill>
                  <a:srgbClr val="FFFF00"/>
                </a:solidFill>
                <a:latin typeface="Quattrocento Sans"/>
                <a:ea typeface="Quattrocento Sans"/>
                <a:cs typeface="Quattrocento Sans"/>
                <a:sym typeface="Quattrocento Sans"/>
              </a:rPr>
              <a:t>Pumudu</a:t>
            </a:r>
            <a:r>
              <a:rPr lang="en-GB" sz="1800" b="1" dirty="0">
                <a:solidFill>
                  <a:srgbClr val="FFFF00"/>
                </a:solidFill>
                <a:latin typeface="Quattrocento Sans"/>
                <a:ea typeface="Quattrocento Sans"/>
                <a:cs typeface="Quattrocento Sans"/>
                <a:sym typeface="Quattrocento Sans"/>
              </a:rPr>
              <a:t> Fernando (IIT Module Delivery)</a:t>
            </a:r>
            <a:endParaRPr dirty="0"/>
          </a:p>
          <a:p>
            <a:r>
              <a:rPr lang="en-GB" sz="1800" dirty="0">
                <a:solidFill>
                  <a:schemeClr val="dk1"/>
                </a:solidFill>
                <a:latin typeface="Quattrocento Sans"/>
                <a:ea typeface="Quattrocento Sans"/>
                <a:cs typeface="Quattrocento Sans"/>
                <a:sym typeface="Quattrocento Sans"/>
              </a:rPr>
              <a:t>Email: </a:t>
            </a:r>
            <a:r>
              <a:rPr lang="en-GB" sz="1800" u="sng" dirty="0">
                <a:solidFill>
                  <a:srgbClr val="2075A3"/>
                </a:solidFill>
                <a:ea typeface="Quattrocento Sans"/>
                <a:sym typeface="Quattrocento Sans"/>
                <a:hlinkClick r:id="rId4"/>
              </a:rPr>
              <a:t>pumudu.f@iit.ac.lk</a:t>
            </a:r>
            <a:endParaRPr lang="en-GB" sz="1800" u="sng">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Office Hours: email for contact</a:t>
            </a:r>
            <a:endParaRPr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58" name="Google Shape;58;p4"/>
          <p:cNvSpPr txBox="1"/>
          <p:nvPr/>
        </p:nvSpPr>
        <p:spPr>
          <a:xfrm>
            <a:off x="414197" y="1412776"/>
            <a:ext cx="8747138" cy="42780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Proforma Overview:</a:t>
            </a:r>
            <a:endParaRPr dirty="0"/>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r>
              <a:rPr lang="en-GB" sz="2200" dirty="0">
                <a:solidFill>
                  <a:schemeClr val="dk1"/>
                </a:solidFill>
                <a:latin typeface="Quattrocento Sans"/>
                <a:ea typeface="Quattrocento Sans"/>
                <a:cs typeface="Quattrocento Sans"/>
                <a:sym typeface="Quattrocento Sans"/>
              </a:rPr>
              <a:t>This module introduces students to concepts of 3D user interfaces </a:t>
            </a:r>
            <a:endParaRPr lang="en-GB" sz="2200">
              <a:solidFill>
                <a:schemeClr val="dk1"/>
              </a:solidFill>
              <a:ea typeface="Quattrocento Sans"/>
            </a:endParaRPr>
          </a:p>
          <a:p>
            <a:pPr marL="0" marR="0" lvl="0" indent="0" algn="l" rtl="0">
              <a:spcBef>
                <a:spcPts val="0"/>
              </a:spcBef>
              <a:spcAft>
                <a:spcPts val="0"/>
              </a:spcAft>
              <a:buNone/>
            </a:pPr>
            <a:r>
              <a:rPr lang="en-GB" sz="2200" dirty="0">
                <a:solidFill>
                  <a:schemeClr val="dk1"/>
                </a:solidFill>
                <a:latin typeface="Quattrocento Sans"/>
                <a:ea typeface="Quattrocento Sans"/>
                <a:cs typeface="Quattrocento Sans"/>
                <a:sym typeface="Quattrocento Sans"/>
              </a:rPr>
              <a:t>and 3D animated and interactive media. It covers essential topics </a:t>
            </a:r>
            <a:endParaRPr sz="2200">
              <a:solidFill>
                <a:schemeClr val="dk1"/>
              </a:solidFill>
            </a:endParaRPr>
          </a:p>
          <a:p>
            <a:r>
              <a:rPr lang="en-GB" sz="2200" dirty="0">
                <a:solidFill>
                  <a:schemeClr val="dk1"/>
                </a:solidFill>
                <a:latin typeface="Quattrocento Sans"/>
                <a:ea typeface="Quattrocento Sans"/>
                <a:cs typeface="Quattrocento Sans"/>
                <a:sym typeface="Quattrocento Sans"/>
              </a:rPr>
              <a:t>including 3D modelling principles, methods and techniques, </a:t>
            </a:r>
            <a:endParaRPr sz="2200">
              <a:solidFill>
                <a:schemeClr val="dk1"/>
              </a:solidFill>
            </a:endParaRPr>
          </a:p>
          <a:p>
            <a:r>
              <a:rPr lang="en-GB" sz="2200" dirty="0">
                <a:solidFill>
                  <a:schemeClr val="dk1"/>
                </a:solidFill>
                <a:latin typeface="Quattrocento Sans"/>
                <a:ea typeface="Quattrocento Sans"/>
                <a:cs typeface="Quattrocento Sans"/>
                <a:sym typeface="Quattrocento Sans"/>
              </a:rPr>
              <a:t>complex 3D objects creation, deformation and transformations, </a:t>
            </a:r>
            <a:endParaRPr sz="2200">
              <a:solidFill>
                <a:schemeClr val="dk1"/>
              </a:solidFill>
            </a:endParaRPr>
          </a:p>
          <a:p>
            <a:r>
              <a:rPr lang="en-GB" sz="2200" dirty="0">
                <a:solidFill>
                  <a:schemeClr val="dk1"/>
                </a:solidFill>
                <a:latin typeface="Quattrocento Sans"/>
                <a:ea typeface="Quattrocento Sans"/>
                <a:cs typeface="Quattrocento Sans"/>
                <a:sym typeface="Quattrocento Sans"/>
              </a:rPr>
              <a:t>texture mapping methods, colour and lighting. It uses an industry </a:t>
            </a:r>
            <a:endParaRPr sz="2200">
              <a:solidFill>
                <a:schemeClr val="dk1"/>
              </a:solidFill>
            </a:endParaRPr>
          </a:p>
          <a:p>
            <a:r>
              <a:rPr lang="en-GB" sz="2200" dirty="0">
                <a:solidFill>
                  <a:schemeClr val="dk1"/>
                </a:solidFill>
                <a:latin typeface="Quattrocento Sans"/>
                <a:ea typeface="Quattrocento Sans"/>
                <a:cs typeface="Quattrocento Sans"/>
                <a:sym typeface="Quattrocento Sans"/>
              </a:rPr>
              <a:t>standard games engine to demonstrate 3D animation concepts, </a:t>
            </a:r>
            <a:endParaRPr sz="2200">
              <a:solidFill>
                <a:schemeClr val="dk1"/>
              </a:solidFill>
            </a:endParaRPr>
          </a:p>
          <a:p>
            <a:r>
              <a:rPr lang="en-GB" sz="2200" dirty="0">
                <a:solidFill>
                  <a:schemeClr val="dk1"/>
                </a:solidFill>
                <a:latin typeface="Quattrocento Sans"/>
                <a:ea typeface="Quattrocento Sans"/>
                <a:cs typeface="Quattrocento Sans"/>
                <a:sym typeface="Quattrocento Sans"/>
              </a:rPr>
              <a:t>properties, controllers and scripting to create 3D animated, </a:t>
            </a:r>
            <a:endParaRPr sz="2200">
              <a:solidFill>
                <a:schemeClr val="dk1"/>
              </a:solidFill>
            </a:endParaRPr>
          </a:p>
          <a:p>
            <a:pPr marL="0" marR="0" lvl="0" indent="0" algn="l" rtl="0">
              <a:spcBef>
                <a:spcPts val="0"/>
              </a:spcBef>
              <a:spcAft>
                <a:spcPts val="0"/>
              </a:spcAft>
              <a:buNone/>
            </a:pPr>
            <a:r>
              <a:rPr lang="en-GB" sz="2200" dirty="0">
                <a:solidFill>
                  <a:schemeClr val="dk1"/>
                </a:solidFill>
                <a:latin typeface="Quattrocento Sans"/>
                <a:ea typeface="Quattrocento Sans"/>
                <a:cs typeface="Quattrocento Sans"/>
                <a:sym typeface="Quattrocento Sans"/>
              </a:rPr>
              <a:t>interactive media content.</a:t>
            </a:r>
            <a:endParaRPr sz="2200" dirty="0">
              <a:solidFill>
                <a:schemeClr val="dk1"/>
              </a:solidFill>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5"/>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65" name="Google Shape;65;p5"/>
          <p:cNvSpPr txBox="1"/>
          <p:nvPr/>
        </p:nvSpPr>
        <p:spPr>
          <a:xfrm>
            <a:off x="361071" y="1412776"/>
            <a:ext cx="8255465"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Learning Outcomes:</a:t>
            </a:r>
            <a:endParaRPr/>
          </a:p>
          <a:p>
            <a:pPr marL="0" marR="0" lvl="0" indent="0" algn="l"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600" b="1">
                <a:solidFill>
                  <a:schemeClr val="dk1"/>
                </a:solidFill>
                <a:latin typeface="Quattrocento Sans"/>
                <a:ea typeface="Quattrocento Sans"/>
                <a:cs typeface="Quattrocento Sans"/>
                <a:sym typeface="Quattrocento Sans"/>
              </a:rPr>
              <a:t>LO1: </a:t>
            </a:r>
            <a:r>
              <a:rPr lang="en-GB" sz="1600">
                <a:solidFill>
                  <a:schemeClr val="dk1"/>
                </a:solidFill>
                <a:latin typeface="Quattrocento Sans"/>
                <a:ea typeface="Quattrocento Sans"/>
                <a:cs typeface="Quattrocento Sans"/>
                <a:sym typeface="Quattrocento Sans"/>
              </a:rPr>
              <a:t>Demonstrate an applied understanding of 3D modelling concepts and the </a:t>
            </a:r>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underlying geometrical principles and apply appropriate techniques and tools to </a:t>
            </a:r>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create 3D interactive media;</a:t>
            </a:r>
            <a:endParaRPr/>
          </a:p>
          <a:p>
            <a:pPr marL="0" marR="0" lvl="0" indent="0" algn="l"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600" b="1">
                <a:solidFill>
                  <a:schemeClr val="dk1"/>
                </a:solidFill>
                <a:latin typeface="Quattrocento Sans"/>
                <a:ea typeface="Quattrocento Sans"/>
                <a:cs typeface="Quattrocento Sans"/>
                <a:sym typeface="Quattrocento Sans"/>
              </a:rPr>
              <a:t>LO2: </a:t>
            </a:r>
            <a:r>
              <a:rPr lang="en-GB" sz="1600">
                <a:solidFill>
                  <a:schemeClr val="dk1"/>
                </a:solidFill>
                <a:latin typeface="Quattrocento Sans"/>
                <a:ea typeface="Quattrocento Sans"/>
                <a:cs typeface="Quattrocento Sans"/>
                <a:sym typeface="Quattrocento Sans"/>
              </a:rPr>
              <a:t>Incorporate 3D content in an industry standard games platform/engine;</a:t>
            </a:r>
            <a:endParaRPr/>
          </a:p>
          <a:p>
            <a:pPr marL="0" marR="0" lvl="0" indent="0" algn="l"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600" b="1">
                <a:solidFill>
                  <a:schemeClr val="dk1"/>
                </a:solidFill>
                <a:latin typeface="Quattrocento Sans"/>
                <a:ea typeface="Quattrocento Sans"/>
                <a:cs typeface="Quattrocento Sans"/>
                <a:sym typeface="Quattrocento Sans"/>
              </a:rPr>
              <a:t>LO3: </a:t>
            </a:r>
            <a:r>
              <a:rPr lang="en-GB" sz="1600">
                <a:solidFill>
                  <a:schemeClr val="dk1"/>
                </a:solidFill>
                <a:latin typeface="Quattrocento Sans"/>
                <a:ea typeface="Quattrocento Sans"/>
                <a:cs typeface="Quattrocento Sans"/>
                <a:sym typeface="Quattrocento Sans"/>
              </a:rPr>
              <a:t>Demonstrate an applied understanding of 3D animation concept, properties, </a:t>
            </a:r>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controllers and use of scripting techniques to create in 3D animation;</a:t>
            </a:r>
            <a:endParaRPr/>
          </a:p>
          <a:p>
            <a:pPr marL="0" marR="0" lvl="0" indent="0" algn="l"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600" b="1">
                <a:solidFill>
                  <a:schemeClr val="dk1"/>
                </a:solidFill>
                <a:latin typeface="Quattrocento Sans"/>
                <a:ea typeface="Quattrocento Sans"/>
                <a:cs typeface="Quattrocento Sans"/>
                <a:sym typeface="Quattrocento Sans"/>
              </a:rPr>
              <a:t>LO4: </a:t>
            </a:r>
            <a:r>
              <a:rPr lang="en-GB" sz="1600">
                <a:solidFill>
                  <a:schemeClr val="dk1"/>
                </a:solidFill>
                <a:latin typeface="Quattrocento Sans"/>
                <a:ea typeface="Quattrocento Sans"/>
                <a:cs typeface="Quattrocento Sans"/>
                <a:sym typeface="Quattrocento Sans"/>
              </a:rPr>
              <a:t>Demonstrate an applied understanding of scripting techniques to incorporate </a:t>
            </a:r>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interactive behaviours on 3D concept;</a:t>
            </a:r>
            <a:endParaRPr/>
          </a:p>
          <a:p>
            <a:pPr marL="0" marR="0" lvl="0" indent="0" algn="l"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600" b="1">
                <a:solidFill>
                  <a:schemeClr val="dk1"/>
                </a:solidFill>
                <a:latin typeface="Quattrocento Sans"/>
                <a:ea typeface="Quattrocento Sans"/>
                <a:cs typeface="Quattrocento Sans"/>
                <a:sym typeface="Quattrocento Sans"/>
              </a:rPr>
              <a:t>LO5: </a:t>
            </a:r>
            <a:r>
              <a:rPr lang="en-GB" sz="1600">
                <a:solidFill>
                  <a:schemeClr val="dk1"/>
                </a:solidFill>
                <a:latin typeface="Quattrocento Sans"/>
                <a:ea typeface="Quattrocento Sans"/>
                <a:cs typeface="Quattrocento Sans"/>
                <a:sym typeface="Quattrocento Sans"/>
              </a:rPr>
              <a:t>Work individually, as well as an effective team member to develop a common 3D </a:t>
            </a:r>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interactive media product;</a:t>
            </a:r>
            <a:endParaRPr/>
          </a:p>
          <a:p>
            <a:pPr marL="0" marR="0" lvl="0" indent="0" algn="l"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600" b="1">
                <a:solidFill>
                  <a:schemeClr val="dk1"/>
                </a:solidFill>
                <a:latin typeface="Quattrocento Sans"/>
                <a:ea typeface="Quattrocento Sans"/>
                <a:cs typeface="Quattrocento Sans"/>
                <a:sym typeface="Quattrocento Sans"/>
              </a:rPr>
              <a:t>LO6: </a:t>
            </a:r>
            <a:r>
              <a:rPr lang="en-GB" sz="1600">
                <a:solidFill>
                  <a:schemeClr val="dk1"/>
                </a:solidFill>
                <a:latin typeface="Quattrocento Sans"/>
                <a:ea typeface="Quattrocento Sans"/>
                <a:cs typeface="Quattrocento Sans"/>
                <a:sym typeface="Quattrocento Sans"/>
              </a:rPr>
              <a:t>Communicate design concepts by oral and visual means and provide documentation for </a:t>
            </a:r>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a 3D interactive media product in written form.</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72" name="Google Shape;72;p6"/>
          <p:cNvSpPr txBox="1"/>
          <p:nvPr/>
        </p:nvSpPr>
        <p:spPr>
          <a:xfrm>
            <a:off x="361071" y="1412776"/>
            <a:ext cx="8538107" cy="46166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Module Aims:</a:t>
            </a:r>
            <a:endParaRPr sz="2000" dirty="0">
              <a:solidFill>
                <a:srgbClr val="FFFF00"/>
              </a:solidFill>
              <a:latin typeface="Quattrocento Sans"/>
              <a:ea typeface="Quattrocento Sans"/>
              <a:cs typeface="Quattrocento Sans"/>
              <a:sym typeface="Quattrocento Sans"/>
            </a:endParaRPr>
          </a:p>
          <a:p>
            <a:r>
              <a:rPr lang="en-GB" sz="1800" dirty="0">
                <a:solidFill>
                  <a:schemeClr val="dk1"/>
                </a:solidFill>
                <a:latin typeface="Quattrocento Sans"/>
                <a:ea typeface="Quattrocento Sans"/>
                <a:cs typeface="Quattrocento Sans"/>
                <a:sym typeface="Quattrocento Sans"/>
              </a:rPr>
              <a:t>L5-M-LO1-MC - Specify, design, develop and test IMPs to solve real-life </a:t>
            </a:r>
            <a:endParaRPr sz="1800">
              <a:solidFill>
                <a:schemeClr val="dk1"/>
              </a:solidFill>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medium-scale problems with appropriate techniques.</a:t>
            </a:r>
            <a:endParaRPr sz="1800">
              <a:solidFill>
                <a:schemeClr val="dk1"/>
              </a:solidFill>
            </a:endParaRPr>
          </a:p>
          <a:p>
            <a:pPr marL="0" marR="0" lvl="0" indent="0" algn="l" rtl="0">
              <a:spcBef>
                <a:spcPts val="0"/>
              </a:spcBef>
              <a:spcAft>
                <a:spcPts val="0"/>
              </a:spcAft>
              <a:buNone/>
            </a:pPr>
            <a:endParaRPr sz="1800" dirty="0">
              <a:solidFill>
                <a:schemeClr val="dk1"/>
              </a:solidFill>
              <a:latin typeface="Quattrocento Sans"/>
              <a:ea typeface="Quattrocento Sans"/>
              <a:cs typeface="Quattrocento Sans"/>
            </a:endParaRPr>
          </a:p>
          <a:p>
            <a:r>
              <a:rPr lang="en-GB" sz="1800" dirty="0">
                <a:solidFill>
                  <a:schemeClr val="dk1"/>
                </a:solidFill>
                <a:latin typeface="Quattrocento Sans"/>
                <a:ea typeface="Quattrocento Sans"/>
                <a:cs typeface="Quattrocento Sans"/>
                <a:sym typeface="Quattrocento Sans"/>
              </a:rPr>
              <a:t>L5-M-LO5-CS - Demonstrate competency in object-oriented design and </a:t>
            </a:r>
            <a:endParaRPr sz="1800">
              <a:solidFill>
                <a:schemeClr val="dk1"/>
              </a:solidFill>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algorithmic and mathematical approaches to solve medium scale problems.</a:t>
            </a:r>
            <a:endParaRPr sz="1800">
              <a:solidFill>
                <a:schemeClr val="dk1"/>
              </a:solidFill>
            </a:endParaRPr>
          </a:p>
          <a:p>
            <a:pPr marL="0" marR="0" lvl="0" indent="0" algn="l" rtl="0">
              <a:spcBef>
                <a:spcPts val="0"/>
              </a:spcBef>
              <a:spcAft>
                <a:spcPts val="0"/>
              </a:spcAft>
              <a:buNone/>
            </a:pPr>
            <a:endParaRPr sz="1800" dirty="0">
              <a:solidFill>
                <a:schemeClr val="dk1"/>
              </a:solidFill>
              <a:latin typeface="Quattrocento Sans"/>
              <a:ea typeface="Quattrocento Sans"/>
              <a:cs typeface="Quattrocento Sans"/>
            </a:endParaRPr>
          </a:p>
          <a:p>
            <a:r>
              <a:rPr lang="en-GB" sz="1800" dirty="0">
                <a:solidFill>
                  <a:schemeClr val="dk1"/>
                </a:solidFill>
                <a:latin typeface="Quattrocento Sans"/>
                <a:ea typeface="Quattrocento Sans"/>
                <a:cs typeface="Quattrocento Sans"/>
                <a:sym typeface="Quattrocento Sans"/>
              </a:rPr>
              <a:t>L5-P-LO3-MC - Produce assets for the development of an IMP through </a:t>
            </a:r>
            <a:endParaRPr sz="1800">
              <a:solidFill>
                <a:schemeClr val="dk1"/>
              </a:solidFill>
            </a:endParaRPr>
          </a:p>
          <a:p>
            <a:r>
              <a:rPr lang="en-GB" sz="1800" dirty="0">
                <a:solidFill>
                  <a:schemeClr val="dk1"/>
                </a:solidFill>
                <a:latin typeface="Quattrocento Sans"/>
                <a:ea typeface="Quattrocento Sans"/>
                <a:cs typeface="Quattrocento Sans"/>
                <a:sym typeface="Quattrocento Sans"/>
              </a:rPr>
              <a:t>appropriate professional digital content creation, following an object oriented </a:t>
            </a:r>
            <a:endParaRPr sz="1800">
              <a:solidFill>
                <a:schemeClr val="dk1"/>
              </a:solidFill>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approach.</a:t>
            </a:r>
            <a:endParaRPr sz="1800">
              <a:solidFill>
                <a:schemeClr val="dk1"/>
              </a:solidFill>
            </a:endParaRPr>
          </a:p>
          <a:p>
            <a:pPr marL="0" marR="0" lvl="0" indent="0" algn="l" rtl="0">
              <a:spcBef>
                <a:spcPts val="0"/>
              </a:spcBef>
              <a:spcAft>
                <a:spcPts val="0"/>
              </a:spcAft>
              <a:buNone/>
            </a:pPr>
            <a:endParaRPr sz="1800" dirty="0">
              <a:solidFill>
                <a:schemeClr val="dk1"/>
              </a:solidFill>
              <a:latin typeface="Quattrocento Sans"/>
              <a:ea typeface="Quattrocento Sans"/>
              <a:cs typeface="Quattrocento Sans"/>
            </a:endParaRPr>
          </a:p>
          <a:p>
            <a:r>
              <a:rPr lang="en-GB" sz="1800" dirty="0">
                <a:solidFill>
                  <a:schemeClr val="dk1"/>
                </a:solidFill>
                <a:latin typeface="Quattrocento Sans"/>
                <a:ea typeface="Quattrocento Sans"/>
                <a:cs typeface="Quattrocento Sans"/>
                <a:sym typeface="Quattrocento Sans"/>
              </a:rPr>
              <a:t>L5-P-LO8-CS - Utilise, compare and contrast software frameworks and </a:t>
            </a:r>
            <a:endParaRPr sz="1800">
              <a:solidFill>
                <a:schemeClr val="dk1"/>
              </a:solidFill>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architectures and implement solutions using object-oriented programming.</a:t>
            </a:r>
            <a:endParaRPr sz="1800">
              <a:solidFill>
                <a:schemeClr val="dk1"/>
              </a:solidFill>
            </a:endParaRPr>
          </a:p>
          <a:p>
            <a:pPr marL="0" marR="0" lvl="0" indent="0" algn="l" rtl="0">
              <a:spcBef>
                <a:spcPts val="0"/>
              </a:spcBef>
              <a:spcAft>
                <a:spcPts val="0"/>
              </a:spcAft>
              <a:buNone/>
            </a:pPr>
            <a:endParaRPr sz="1800" dirty="0">
              <a:solidFill>
                <a:schemeClr val="dk1"/>
              </a:solidFill>
              <a:latin typeface="Quattrocento Sans"/>
              <a:ea typeface="Quattrocento Sans"/>
              <a:cs typeface="Quattrocento Sans"/>
            </a:endParaRPr>
          </a:p>
          <a:p>
            <a:r>
              <a:rPr lang="en-GB" sz="1800" dirty="0">
                <a:solidFill>
                  <a:schemeClr val="dk1"/>
                </a:solidFill>
                <a:latin typeface="Quattrocento Sans"/>
                <a:ea typeface="Quattrocento Sans"/>
                <a:cs typeface="Quattrocento Sans"/>
                <a:sym typeface="Quattrocento Sans"/>
              </a:rPr>
              <a:t>L5-D-LO6-MC - Employ a standard process such as storyboarding to design, </a:t>
            </a:r>
            <a:endParaRPr sz="1800">
              <a:solidFill>
                <a:schemeClr val="dk1"/>
              </a:solidFill>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represent and formally communicate the specification of an IMP.</a:t>
            </a:r>
            <a:endParaRPr sz="1800"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79" name="Google Shape;79;p7"/>
          <p:cNvSpPr txBox="1"/>
          <p:nvPr/>
        </p:nvSpPr>
        <p:spPr>
          <a:xfrm>
            <a:off x="361071" y="1412776"/>
            <a:ext cx="8863709" cy="46473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Module Aims Continued:</a:t>
            </a:r>
            <a:endParaRPr dirty="0"/>
          </a:p>
          <a:p>
            <a:r>
              <a:rPr lang="en-GB" sz="1600" dirty="0">
                <a:solidFill>
                  <a:schemeClr val="dk1"/>
                </a:solidFill>
                <a:latin typeface="Quattrocento Sans"/>
                <a:ea typeface="Quattrocento Sans"/>
                <a:cs typeface="Quattrocento Sans"/>
                <a:sym typeface="Quattrocento Sans"/>
              </a:rPr>
              <a:t>L5-D-LO4-CS - Employ a standard design language for the design, representation and </a:t>
            </a:r>
            <a:endParaRPr sz="160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formal specification of software.</a:t>
            </a:r>
            <a:endParaRPr sz="1600">
              <a:solidFill>
                <a:schemeClr val="dk1"/>
              </a:solidFill>
            </a:endParaRPr>
          </a:p>
          <a:p>
            <a:pPr marL="0" marR="0" lvl="0" indent="0" algn="l" rtl="0">
              <a:spcBef>
                <a:spcPts val="0"/>
              </a:spcBef>
              <a:spcAft>
                <a:spcPts val="0"/>
              </a:spcAft>
              <a:buNone/>
            </a:pPr>
            <a:endParaRPr sz="1600" dirty="0">
              <a:solidFill>
                <a:schemeClr val="dk1"/>
              </a:solidFill>
              <a:latin typeface="Quattrocento Sans"/>
              <a:ea typeface="Quattrocento Sans"/>
              <a:cs typeface="Quattrocento Sans"/>
            </a:endParaRPr>
          </a:p>
          <a:p>
            <a:r>
              <a:rPr lang="en-GB" sz="1600" dirty="0">
                <a:solidFill>
                  <a:schemeClr val="dk1"/>
                </a:solidFill>
                <a:latin typeface="Quattrocento Sans"/>
                <a:ea typeface="Quattrocento Sans"/>
                <a:cs typeface="Quattrocento Sans"/>
                <a:sym typeface="Quattrocento Sans"/>
              </a:rPr>
              <a:t>L5-O-LO7-MC - Explain the life cycle of IMPs in the constraints of its operating technical </a:t>
            </a:r>
            <a:endParaRPr sz="160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environment.</a:t>
            </a:r>
            <a:endParaRPr sz="1600">
              <a:solidFill>
                <a:schemeClr val="dk1"/>
              </a:solidFill>
            </a:endParaRPr>
          </a:p>
          <a:p>
            <a:pPr marL="0" marR="0" lvl="0" indent="0" algn="l" rtl="0">
              <a:spcBef>
                <a:spcPts val="0"/>
              </a:spcBef>
              <a:spcAft>
                <a:spcPts val="0"/>
              </a:spcAft>
              <a:buNone/>
            </a:pPr>
            <a:endParaRPr sz="1600" dirty="0">
              <a:solidFill>
                <a:schemeClr val="dk1"/>
              </a:solidFill>
              <a:latin typeface="Quattrocento Sans"/>
              <a:ea typeface="Quattrocento Sans"/>
              <a:cs typeface="Quattrocento Sans"/>
            </a:endParaRPr>
          </a:p>
          <a:p>
            <a:r>
              <a:rPr lang="en-GB" sz="1600" dirty="0">
                <a:solidFill>
                  <a:schemeClr val="dk1"/>
                </a:solidFill>
                <a:latin typeface="Quattrocento Sans"/>
                <a:ea typeface="Quattrocento Sans"/>
                <a:cs typeface="Quattrocento Sans"/>
                <a:sym typeface="Quattrocento Sans"/>
              </a:rPr>
              <a:t>L5-O-LO7-CS - Explain the basic principles of modern operating systems and how they </a:t>
            </a:r>
            <a:endParaRPr sz="160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serve operational needs.</a:t>
            </a:r>
            <a:endParaRPr sz="1600">
              <a:solidFill>
                <a:schemeClr val="dk1"/>
              </a:solidFill>
            </a:endParaRPr>
          </a:p>
          <a:p>
            <a:pPr marL="0" marR="0" lvl="0" indent="0" algn="l" rtl="0">
              <a:spcBef>
                <a:spcPts val="0"/>
              </a:spcBef>
              <a:spcAft>
                <a:spcPts val="0"/>
              </a:spcAft>
              <a:buNone/>
            </a:pPr>
            <a:endParaRPr sz="1600" dirty="0">
              <a:solidFill>
                <a:schemeClr val="dk1"/>
              </a:solidFill>
              <a:latin typeface="Quattrocento Sans"/>
              <a:ea typeface="Quattrocento Sans"/>
              <a:cs typeface="Quattrocento Sans"/>
            </a:endParaRPr>
          </a:p>
          <a:p>
            <a:r>
              <a:rPr lang="en-GB" sz="1600" dirty="0">
                <a:solidFill>
                  <a:schemeClr val="dk1"/>
                </a:solidFill>
                <a:latin typeface="Quattrocento Sans"/>
                <a:ea typeface="Quattrocento Sans"/>
                <a:cs typeface="Quattrocento Sans"/>
                <a:sym typeface="Quattrocento Sans"/>
              </a:rPr>
              <a:t>L5-S-LO11-MC - Demonstrate professional responsibility in the development of quality </a:t>
            </a:r>
            <a:endParaRPr sz="1600">
              <a:solidFill>
                <a:schemeClr val="dk1"/>
              </a:solidFill>
            </a:endParaRPr>
          </a:p>
          <a:p>
            <a:r>
              <a:rPr lang="en-GB" sz="1600" dirty="0">
                <a:solidFill>
                  <a:schemeClr val="dk1"/>
                </a:solidFill>
                <a:latin typeface="Quattrocento Sans"/>
                <a:ea typeface="Quattrocento Sans"/>
                <a:cs typeface="Quattrocento Sans"/>
                <a:sym typeface="Quattrocento Sans"/>
              </a:rPr>
              <a:t>interactive media solutions in a global context and the presentation and defence of these </a:t>
            </a:r>
            <a:endParaRPr sz="160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in multiple communication forms, supported by methodical research.</a:t>
            </a:r>
            <a:endParaRPr sz="1600">
              <a:solidFill>
                <a:schemeClr val="dk1"/>
              </a:solidFill>
            </a:endParaRPr>
          </a:p>
          <a:p>
            <a:pPr marL="0" marR="0" lvl="0" indent="0" algn="l" rtl="0">
              <a:spcBef>
                <a:spcPts val="0"/>
              </a:spcBef>
              <a:spcAft>
                <a:spcPts val="0"/>
              </a:spcAft>
              <a:buNone/>
            </a:pPr>
            <a:endParaRPr sz="1600" dirty="0">
              <a:solidFill>
                <a:schemeClr val="dk1"/>
              </a:solidFill>
              <a:latin typeface="Quattrocento Sans"/>
              <a:ea typeface="Quattrocento Sans"/>
              <a:cs typeface="Quattrocento Sans"/>
            </a:endParaRPr>
          </a:p>
          <a:p>
            <a:r>
              <a:rPr lang="en-GB" sz="1600" dirty="0">
                <a:solidFill>
                  <a:schemeClr val="dk1"/>
                </a:solidFill>
                <a:latin typeface="Quattrocento Sans"/>
                <a:ea typeface="Quattrocento Sans"/>
                <a:cs typeface="Quattrocento Sans"/>
                <a:sym typeface="Quattrocento Sans"/>
              </a:rPr>
              <a:t>L5-S-LO10-CS - Demonstrate professional responsibility in the development of quality </a:t>
            </a:r>
            <a:endParaRPr sz="1600">
              <a:solidFill>
                <a:schemeClr val="dk1"/>
              </a:solidFill>
            </a:endParaRPr>
          </a:p>
          <a:p>
            <a:r>
              <a:rPr lang="en-GB" sz="1600" dirty="0">
                <a:solidFill>
                  <a:schemeClr val="dk1"/>
                </a:solidFill>
                <a:latin typeface="Quattrocento Sans"/>
                <a:ea typeface="Quattrocento Sans"/>
                <a:cs typeface="Quattrocento Sans"/>
                <a:sym typeface="Quattrocento Sans"/>
              </a:rPr>
              <a:t>computer science solutions in a global context and the presentation and defence of these </a:t>
            </a:r>
            <a:endParaRPr sz="160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in multiple communication forms, supported by methodical research.</a:t>
            </a:r>
            <a:endParaRPr sz="1600">
              <a:solidFill>
                <a:schemeClr val="dk1"/>
              </a:solidFill>
            </a:endParaRPr>
          </a:p>
          <a:p>
            <a:pPr marL="0" marR="0" lvl="0" indent="0" algn="l" rtl="0">
              <a:spcBef>
                <a:spcPts val="0"/>
              </a:spcBef>
              <a:spcAft>
                <a:spcPts val="0"/>
              </a:spcAft>
              <a:buNone/>
            </a:pPr>
            <a:endParaRPr sz="1600" b="1" dirty="0">
              <a:solidFill>
                <a:srgbClr val="FF0000"/>
              </a:solidFill>
              <a:latin typeface="Quattrocento Sans"/>
              <a:ea typeface="Quattrocento Sans"/>
              <a:cs typeface="Quattrocen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8"/>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86" name="Google Shape;86;p8"/>
          <p:cNvSpPr txBox="1"/>
          <p:nvPr/>
        </p:nvSpPr>
        <p:spPr>
          <a:xfrm>
            <a:off x="467544" y="1340768"/>
            <a:ext cx="8208912" cy="54476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Coursework (Group work)</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Coursework 1 </a:t>
            </a:r>
            <a:r>
              <a:rPr lang="en-GB" sz="1800">
                <a:solidFill>
                  <a:schemeClr val="dk1"/>
                </a:solidFill>
                <a:latin typeface="Quattrocento Sans"/>
                <a:ea typeface="Quattrocento Sans"/>
                <a:cs typeface="Quattrocento Sans"/>
                <a:sym typeface="Quattrocento Sans"/>
              </a:rPr>
              <a:t>- Assesses the student skills in working as a team to plan and visualise a given 3D interactive media concept that addresses specific technical requirements, translate these into a practical sequence and compose the required 3D scene and content (the content will be later animated and interactive by adding appropriate behaviours to it) using industry standard tools. In addition, it assesses the student’s skills presenting and communicating their design concept efficiently. (Learning outcomes 1, 2, 5, 6)</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Coursework 2 </a:t>
            </a:r>
            <a:r>
              <a:rPr lang="en-GB" sz="1800">
                <a:solidFill>
                  <a:schemeClr val="dk1"/>
                </a:solidFill>
                <a:latin typeface="Quattrocento Sans"/>
                <a:ea typeface="Quattrocento Sans"/>
                <a:cs typeface="Quattrocento Sans"/>
                <a:sym typeface="Quattrocento Sans"/>
              </a:rPr>
              <a:t>- Assesses the student practical ability to use appropriate scripting language to create required animation and interactivity to a proposed 3D interactive media product. In addition, it assesses the student’s skills documenting their implementation in a report using a professional style and their entrepreneurial skills by the creation of a working video demo of their project.  (Learning outcomes 3-6).</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93" name="Google Shape;93;p9"/>
          <p:cNvSpPr txBox="1"/>
          <p:nvPr/>
        </p:nvSpPr>
        <p:spPr>
          <a:xfrm>
            <a:off x="458650" y="1340768"/>
            <a:ext cx="8609183" cy="57246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Coursework (Group work)</a:t>
            </a:r>
            <a:endParaRPr dirty="0"/>
          </a:p>
          <a:p>
            <a:pPr marL="0" marR="0" lvl="0" indent="0" algn="l" rtl="0">
              <a:spcBef>
                <a:spcPts val="0"/>
              </a:spcBef>
              <a:spcAft>
                <a:spcPts val="0"/>
              </a:spcAft>
              <a:buNone/>
            </a:pPr>
            <a:r>
              <a:rPr lang="en-GB" sz="1800" b="1" dirty="0">
                <a:solidFill>
                  <a:srgbClr val="FFFF00"/>
                </a:solidFill>
                <a:latin typeface="Quattrocento Sans"/>
                <a:ea typeface="Quattrocento Sans"/>
                <a:cs typeface="Quattrocento Sans"/>
                <a:sym typeface="Quattrocento Sans"/>
              </a:rPr>
              <a:t>Note: </a:t>
            </a:r>
            <a:r>
              <a:rPr lang="en-GB" sz="1800" dirty="0">
                <a:solidFill>
                  <a:schemeClr val="dk1"/>
                </a:solidFill>
                <a:latin typeface="Quattrocento Sans"/>
                <a:ea typeface="Quattrocento Sans"/>
                <a:cs typeface="Quattrocento Sans"/>
                <a:sym typeface="Quattrocento Sans"/>
              </a:rPr>
              <a:t>– Groups will consist of equal numbers of CS, DM, CG, and other students. This has worked well in the past to play to each others strengths and also facilitate knowledge transfer.</a:t>
            </a:r>
            <a:endParaRPr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dirty="0">
                <a:solidFill>
                  <a:srgbClr val="FFFF00"/>
                </a:solidFill>
                <a:latin typeface="Quattrocento Sans"/>
                <a:ea typeface="Quattrocento Sans"/>
                <a:cs typeface="Quattrocento Sans"/>
                <a:sym typeface="Quattrocento Sans"/>
              </a:rPr>
              <a:t>Special Note: </a:t>
            </a:r>
            <a:r>
              <a:rPr lang="en-GB" sz="1800" dirty="0">
                <a:solidFill>
                  <a:schemeClr val="dk1"/>
                </a:solidFill>
                <a:latin typeface="Quattrocento Sans"/>
                <a:ea typeface="Quattrocento Sans"/>
                <a:cs typeface="Quattrocento Sans"/>
                <a:sym typeface="Quattrocento Sans"/>
              </a:rPr>
              <a:t>– </a:t>
            </a:r>
            <a:r>
              <a:rPr lang="en-GB" sz="1600" dirty="0">
                <a:solidFill>
                  <a:schemeClr val="dk1"/>
                </a:solidFill>
                <a:latin typeface="Quattrocento Sans"/>
                <a:ea typeface="Quattrocento Sans"/>
                <a:cs typeface="Quattrocento Sans"/>
                <a:sym typeface="Quattrocento Sans"/>
              </a:rPr>
              <a:t>This means your groups will not be in your tutorial sessions. This is normal, and does not affect your ability to plan and work together. Tutorials are for individual development. Group work is to be done outside of tutorials as part of “independent study”. All proformas indicate hours of independent study are required to complete the module outside of the normal lecture and tutorial time. The hours for independent study are normally </a:t>
            </a:r>
            <a:r>
              <a:rPr lang="en-GB" sz="1600" i="1" dirty="0">
                <a:solidFill>
                  <a:schemeClr val="dk1"/>
                </a:solidFill>
                <a:latin typeface="Quattrocento Sans"/>
                <a:ea typeface="Quattrocento Sans"/>
                <a:cs typeface="Quattrocento Sans"/>
                <a:sym typeface="Quattrocento Sans"/>
              </a:rPr>
              <a:t>more</a:t>
            </a:r>
            <a:r>
              <a:rPr lang="en-GB" sz="1600" dirty="0">
                <a:solidFill>
                  <a:schemeClr val="dk1"/>
                </a:solidFill>
                <a:latin typeface="Quattrocento Sans"/>
                <a:ea typeface="Quattrocento Sans"/>
                <a:cs typeface="Quattrocento Sans"/>
                <a:sym typeface="Quattrocento Sans"/>
              </a:rPr>
              <a:t> that those of lectures and tutorials combined, and are seen as the only way to complete the module successfully. The independent study hours for this module are as follows:</a:t>
            </a:r>
            <a:endParaRPr dirty="0">
              <a:solidFill>
                <a:schemeClr val="dk1"/>
              </a:solidFill>
            </a:endParaRPr>
          </a:p>
          <a:p>
            <a:pPr marL="0" marR="0" lvl="0" indent="0" algn="l" rtl="0">
              <a:spcBef>
                <a:spcPts val="0"/>
              </a:spcBef>
              <a:spcAft>
                <a:spcPts val="0"/>
              </a:spcAft>
              <a:buNone/>
            </a:pPr>
            <a:r>
              <a:rPr lang="en-GB" sz="1800" dirty="0">
                <a:solidFill>
                  <a:srgbClr val="FFFF00"/>
                </a:solidFill>
                <a:latin typeface="Quattrocento Sans"/>
                <a:ea typeface="Quattrocento Sans"/>
                <a:cs typeface="Quattrocento Sans"/>
                <a:sym typeface="Quattrocento Sans"/>
              </a:rPr>
              <a:t>Lecture: 	24</a:t>
            </a:r>
            <a:endParaRPr dirty="0"/>
          </a:p>
          <a:p>
            <a:r>
              <a:rPr lang="en-GB" sz="1800" dirty="0">
                <a:solidFill>
                  <a:srgbClr val="FFFF00"/>
                </a:solidFill>
                <a:latin typeface="Quattrocento Sans"/>
                <a:ea typeface="Quattrocento Sans"/>
                <a:cs typeface="Quattrocento Sans"/>
                <a:sym typeface="Quattrocento Sans"/>
              </a:rPr>
              <a:t>Tutorial: 	24 </a:t>
            </a:r>
            <a:endParaRPr/>
          </a:p>
          <a:p>
            <a:pPr marL="0" marR="0" lvl="0" indent="0" algn="l" rtl="0">
              <a:spcBef>
                <a:spcPts val="0"/>
              </a:spcBef>
              <a:spcAft>
                <a:spcPts val="0"/>
              </a:spcAft>
              <a:buNone/>
            </a:pPr>
            <a:r>
              <a:rPr lang="en-GB" sz="1800" b="1" dirty="0">
                <a:solidFill>
                  <a:srgbClr val="FFFF00"/>
                </a:solidFill>
                <a:latin typeface="Quattrocento Sans"/>
                <a:ea typeface="Quattrocento Sans"/>
                <a:cs typeface="Quattrocento Sans"/>
                <a:sym typeface="Quattrocento Sans"/>
              </a:rPr>
              <a:t>Module and course based general study: 104</a:t>
            </a:r>
            <a:endParaRPr dirty="0"/>
          </a:p>
          <a:p>
            <a:pPr marL="0" marR="0" lvl="0" indent="0" algn="l" rtl="0">
              <a:spcBef>
                <a:spcPts val="0"/>
              </a:spcBef>
              <a:spcAft>
                <a:spcPts val="0"/>
              </a:spcAft>
              <a:buNone/>
            </a:pPr>
            <a:r>
              <a:rPr lang="en-GB" sz="1800" b="1" dirty="0">
                <a:solidFill>
                  <a:srgbClr val="FFFF00"/>
                </a:solidFill>
                <a:latin typeface="Quattrocento Sans"/>
                <a:ea typeface="Quattrocento Sans"/>
                <a:cs typeface="Quattrocento Sans"/>
                <a:sym typeface="Quattrocento Sans"/>
              </a:rPr>
              <a:t>Preparation for assessment: 48</a:t>
            </a:r>
            <a:endParaRPr dirty="0"/>
          </a:p>
          <a:p>
            <a:r>
              <a:rPr lang="en-GB" sz="1800" b="1" dirty="0">
                <a:solidFill>
                  <a:srgbClr val="FFFF00"/>
                </a:solidFill>
                <a:latin typeface="Quattrocento Sans"/>
                <a:ea typeface="Quattrocento Sans"/>
                <a:cs typeface="Quattrocento Sans"/>
                <a:sym typeface="Quattrocento Sans"/>
              </a:rPr>
              <a:t>Total outside of class: 152 !	(This is what we look for in marking)</a:t>
            </a:r>
            <a:endParaRPr dirty="0"/>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0"/>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00" name="Google Shape;100;p10"/>
          <p:cNvSpPr txBox="1"/>
          <p:nvPr/>
        </p:nvSpPr>
        <p:spPr>
          <a:xfrm>
            <a:off x="458650" y="1196752"/>
            <a:ext cx="8755813" cy="43088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Assessment criteria:</a:t>
            </a:r>
            <a:endParaRPr sz="2400" dirty="0">
              <a:solidFill>
                <a:srgbClr val="FFFF00"/>
              </a:solidFill>
              <a:latin typeface="Quattrocento Sans"/>
              <a:ea typeface="Quattrocento Sans"/>
              <a:cs typeface="Quattrocento Sans"/>
              <a:sym typeface="Quattrocento Sans"/>
            </a:endParaRPr>
          </a:p>
          <a:p>
            <a:endParaRPr lang="en-GB" sz="1800" dirty="0">
              <a:solidFill>
                <a:schemeClr val="dk1"/>
              </a:solidFill>
              <a:latin typeface="Quattrocento Sans"/>
              <a:ea typeface="Quattrocento Sans"/>
              <a:cs typeface="Quattrocento Sans"/>
              <a:sym typeface="Quattrocento Sans"/>
            </a:endParaRPr>
          </a:p>
          <a:p>
            <a:pPr marL="0" marR="0" lvl="0" indent="0" algn="l">
              <a:spcBef>
                <a:spcPts val="0"/>
              </a:spcBef>
              <a:spcAft>
                <a:spcPts val="0"/>
              </a:spcAft>
              <a:buNone/>
            </a:pPr>
            <a:r>
              <a:rPr lang="en-GB" sz="1600" dirty="0">
                <a:solidFill>
                  <a:schemeClr val="dk1"/>
                </a:solidFill>
                <a:latin typeface="Quattrocento Sans"/>
                <a:ea typeface="Quattrocento Sans"/>
                <a:cs typeface="Quattrocento Sans"/>
                <a:sym typeface="Quattrocento Sans"/>
              </a:rPr>
              <a:t>The student will demonstrate achievement of the learning outcomes by being able to:</a:t>
            </a:r>
            <a:endParaRPr sz="1600">
              <a:solidFill>
                <a:schemeClr val="dk1"/>
              </a:solidFill>
            </a:endParaRPr>
          </a:p>
          <a:p>
            <a:endParaRPr lang="en-GB" sz="1800" dirty="0">
              <a:solidFill>
                <a:schemeClr val="dk1"/>
              </a:solidFill>
              <a:latin typeface="Quattrocento Sans"/>
              <a:ea typeface="Quattrocento Sans"/>
              <a:cs typeface="Quattrocento Sans"/>
            </a:endParaRPr>
          </a:p>
          <a:p>
            <a:pPr marL="285750" indent="-285750">
              <a:buClr>
                <a:schemeClr val="dk1"/>
              </a:buClr>
              <a:buSzPts val="1800"/>
              <a:buFont typeface="Arial"/>
              <a:buChar char="•"/>
            </a:pPr>
            <a:r>
              <a:rPr lang="en-GB" sz="1800" dirty="0">
                <a:solidFill>
                  <a:schemeClr val="dk1"/>
                </a:solidFill>
                <a:latin typeface="Quattrocento Sans"/>
                <a:ea typeface="Quattrocento Sans"/>
                <a:cs typeface="Quattrocento Sans"/>
                <a:sym typeface="Quattrocento Sans"/>
              </a:rPr>
              <a:t>Compose a 3D interactive media product following given technical requirements </a:t>
            </a:r>
            <a:endParaRPr lang="en-GB" sz="1800">
              <a:solidFill>
                <a:schemeClr val="dk1"/>
              </a:solidFill>
              <a:ea typeface="Quattrocento Sans"/>
            </a:endParaRPr>
          </a:p>
          <a:p>
            <a:pPr marL="285750" marR="0" lvl="0" indent="-285750" algn="l" rtl="0">
              <a:spcBef>
                <a:spcPts val="0"/>
              </a:spcBef>
              <a:spcAft>
                <a:spcPts val="0"/>
              </a:spcAft>
              <a:buClr>
                <a:schemeClr val="dk1"/>
              </a:buClr>
              <a:buSzPts val="1800"/>
              <a:buFont typeface="Arial"/>
              <a:buChar char="•"/>
            </a:pPr>
            <a:r>
              <a:rPr lang="en-GB" sz="1800" dirty="0">
                <a:solidFill>
                  <a:schemeClr val="dk1"/>
                </a:solidFill>
                <a:latin typeface="Quattrocento Sans"/>
                <a:ea typeface="Quattrocento Sans"/>
                <a:cs typeface="Quattrocento Sans"/>
                <a:sym typeface="Quattrocento Sans"/>
              </a:rPr>
              <a:t>without restricting creativity; </a:t>
            </a:r>
            <a:endParaRPr sz="1800">
              <a:solidFill>
                <a:schemeClr val="dk1"/>
              </a:solidFill>
            </a:endParaRPr>
          </a:p>
          <a:p>
            <a:pPr marL="285750" indent="-285750">
              <a:buClr>
                <a:schemeClr val="dk1"/>
              </a:buClr>
              <a:buSzPts val="1800"/>
              <a:buFont typeface="Arial"/>
              <a:buChar char="•"/>
            </a:pPr>
            <a:r>
              <a:rPr lang="en-GB" sz="1800" dirty="0">
                <a:solidFill>
                  <a:schemeClr val="dk1"/>
                </a:solidFill>
                <a:latin typeface="Quattrocento Sans"/>
                <a:ea typeface="Quattrocento Sans"/>
                <a:cs typeface="Quattrocento Sans"/>
                <a:sym typeface="Quattrocento Sans"/>
              </a:rPr>
              <a:t>Using appropriate tools and scripting language to create 3D animated, interactive media content, smoothly integrate it in a 3D interactive media product and deploy it for multiple platforms and devices;</a:t>
            </a:r>
            <a:endParaRPr sz="1800" dirty="0">
              <a:solidFill>
                <a:schemeClr val="dk1"/>
              </a:solidFill>
            </a:endParaRPr>
          </a:p>
          <a:p>
            <a:pPr marL="285750" indent="-285750">
              <a:buClr>
                <a:schemeClr val="dk1"/>
              </a:buClr>
              <a:buSzPts val="1800"/>
              <a:buFont typeface="Arial"/>
              <a:buChar char="•"/>
            </a:pPr>
            <a:r>
              <a:rPr lang="en-GB" sz="1800" dirty="0">
                <a:solidFill>
                  <a:schemeClr val="dk1"/>
                </a:solidFill>
                <a:latin typeface="Quattrocento Sans"/>
                <a:ea typeface="Quattrocento Sans"/>
                <a:cs typeface="Quattrocento Sans"/>
                <a:sym typeface="Quattrocento Sans"/>
              </a:rPr>
              <a:t>Demonstrate professional behaviour in identifying roles, delegating tasks to group  members, recognising obligations, working individually, as well as a member of a team, in the development of a quality assured solutions to a medium scale interactive media product;</a:t>
            </a:r>
            <a:endParaRPr sz="1800">
              <a:solidFill>
                <a:schemeClr val="dk1"/>
              </a:solidFill>
            </a:endParaRPr>
          </a:p>
          <a:p>
            <a:pPr marL="285750" marR="0" lvl="0" indent="-285750" algn="l" rtl="0">
              <a:spcBef>
                <a:spcPts val="0"/>
              </a:spcBef>
              <a:spcAft>
                <a:spcPts val="0"/>
              </a:spcAft>
              <a:buClr>
                <a:schemeClr val="dk1"/>
              </a:buClr>
              <a:buSzPts val="1800"/>
              <a:buFont typeface="Arial"/>
              <a:buChar char="•"/>
            </a:pPr>
            <a:r>
              <a:rPr lang="en-GB" sz="1800" dirty="0">
                <a:solidFill>
                  <a:schemeClr val="dk1"/>
                </a:solidFill>
                <a:latin typeface="Quattrocento Sans"/>
                <a:ea typeface="Quattrocento Sans"/>
                <a:cs typeface="Quattrocento Sans"/>
                <a:sym typeface="Quattrocento Sans"/>
              </a:rPr>
              <a:t>Communicate design concepts by oral and visual means;</a:t>
            </a:r>
            <a:endParaRPr sz="1800">
              <a:solidFill>
                <a:schemeClr val="dk1"/>
              </a:solidFill>
              <a:latin typeface="Quattrocento Sans"/>
              <a:ea typeface="Quattrocento Sans"/>
              <a:cs typeface="Quattrocento Sans"/>
            </a:endParaRPr>
          </a:p>
          <a:p>
            <a:pPr marL="285750" marR="0" lvl="0" indent="-285750" algn="l" rtl="0">
              <a:spcBef>
                <a:spcPts val="0"/>
              </a:spcBef>
              <a:spcAft>
                <a:spcPts val="0"/>
              </a:spcAft>
              <a:buClr>
                <a:schemeClr val="dk1"/>
              </a:buClr>
              <a:buSzPts val="1800"/>
              <a:buFont typeface="Arial"/>
              <a:buChar char="•"/>
            </a:pPr>
            <a:r>
              <a:rPr lang="en-GB" sz="1800" dirty="0">
                <a:solidFill>
                  <a:schemeClr val="dk1"/>
                </a:solidFill>
                <a:latin typeface="Quattrocento Sans"/>
                <a:ea typeface="Quattrocento Sans"/>
                <a:cs typeface="Quattrocento Sans"/>
                <a:sym typeface="Quattrocento Sans"/>
              </a:rPr>
              <a:t>Write documentation of a 3D interactive media product.</a:t>
            </a:r>
            <a:endParaRPr sz="1800"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07" name="Google Shape;107;p11"/>
          <p:cNvSpPr txBox="1"/>
          <p:nvPr/>
        </p:nvSpPr>
        <p:spPr>
          <a:xfrm>
            <a:off x="467554" y="1412775"/>
            <a:ext cx="83145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Assessment Methods and Weighting:</a:t>
            </a:r>
            <a:endParaRPr sz="18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p:txBody>
      </p:sp>
      <p:graphicFrame>
        <p:nvGraphicFramePr>
          <p:cNvPr id="108" name="Google Shape;108;p11"/>
          <p:cNvGraphicFramePr/>
          <p:nvPr/>
        </p:nvGraphicFramePr>
        <p:xfrm>
          <a:off x="467544" y="1988840"/>
          <a:ext cx="8208875" cy="3888425"/>
        </p:xfrm>
        <a:graphic>
          <a:graphicData uri="http://schemas.openxmlformats.org/drawingml/2006/table">
            <a:tbl>
              <a:tblPr firstRow="1" firstCol="1" bandRow="1">
                <a:noFill/>
                <a:tableStyleId>{A73913B1-C328-437C-8A50-3C01E9A4A6E1}</a:tableStyleId>
              </a:tblPr>
              <a:tblGrid>
                <a:gridCol w="2052000">
                  <a:extLst>
                    <a:ext uri="{9D8B030D-6E8A-4147-A177-3AD203B41FA5}">
                      <a16:colId xmlns:a16="http://schemas.microsoft.com/office/drawing/2014/main" val="20000"/>
                    </a:ext>
                  </a:extLst>
                </a:gridCol>
                <a:gridCol w="1155150">
                  <a:extLst>
                    <a:ext uri="{9D8B030D-6E8A-4147-A177-3AD203B41FA5}">
                      <a16:colId xmlns:a16="http://schemas.microsoft.com/office/drawing/2014/main" val="20001"/>
                    </a:ext>
                  </a:extLst>
                </a:gridCol>
                <a:gridCol w="1155150">
                  <a:extLst>
                    <a:ext uri="{9D8B030D-6E8A-4147-A177-3AD203B41FA5}">
                      <a16:colId xmlns:a16="http://schemas.microsoft.com/office/drawing/2014/main" val="20002"/>
                    </a:ext>
                  </a:extLst>
                </a:gridCol>
                <a:gridCol w="1155150">
                  <a:extLst>
                    <a:ext uri="{9D8B030D-6E8A-4147-A177-3AD203B41FA5}">
                      <a16:colId xmlns:a16="http://schemas.microsoft.com/office/drawing/2014/main" val="20003"/>
                    </a:ext>
                  </a:extLst>
                </a:gridCol>
                <a:gridCol w="2691425">
                  <a:extLst>
                    <a:ext uri="{9D8B030D-6E8A-4147-A177-3AD203B41FA5}">
                      <a16:colId xmlns:a16="http://schemas.microsoft.com/office/drawing/2014/main" val="20004"/>
                    </a:ext>
                  </a:extLst>
                </a:gridCol>
              </a:tblGrid>
              <a:tr h="900375">
                <a:tc>
                  <a:txBody>
                    <a:bodyPr/>
                    <a:lstStyle/>
                    <a:p>
                      <a:pPr marL="0" marR="0" lvl="0" indent="0" algn="l" rtl="0">
                        <a:lnSpc>
                          <a:spcPct val="115000"/>
                        </a:lnSpc>
                        <a:spcBef>
                          <a:spcPts val="0"/>
                        </a:spcBef>
                        <a:spcAft>
                          <a:spcPts val="0"/>
                        </a:spcAft>
                        <a:buNone/>
                      </a:pPr>
                      <a:r>
                        <a:rPr lang="en-GB" sz="1200" u="none" strike="noStrike" cap="none">
                          <a:solidFill>
                            <a:schemeClr val="dk1"/>
                          </a:solidFill>
                          <a:latin typeface="Calibri"/>
                          <a:ea typeface="Calibri"/>
                          <a:cs typeface="Calibri"/>
                          <a:sym typeface="Calibri"/>
                        </a:rPr>
                        <a:t>Assessment name </a:t>
                      </a:r>
                      <a:endParaRPr sz="1200" u="none" strike="noStrike" cap="none">
                        <a:solidFill>
                          <a:schemeClr val="dk1"/>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GB" sz="1200" u="none" strike="noStrike" cap="none">
                          <a:solidFill>
                            <a:schemeClr val="dk1"/>
                          </a:solidFill>
                          <a:latin typeface="Calibri"/>
                          <a:ea typeface="Calibri"/>
                          <a:cs typeface="Calibri"/>
                          <a:sym typeface="Calibri"/>
                        </a:rPr>
                        <a:t>Weighting %</a:t>
                      </a:r>
                      <a:endParaRPr sz="1200" u="none" strike="noStrike" cap="none">
                        <a:solidFill>
                          <a:schemeClr val="dk1"/>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GB" sz="1200" u="none" strike="noStrike" cap="none">
                          <a:solidFill>
                            <a:schemeClr val="dk1"/>
                          </a:solidFill>
                          <a:latin typeface="Calibri"/>
                          <a:ea typeface="Calibri"/>
                          <a:cs typeface="Calibri"/>
                          <a:sym typeface="Calibri"/>
                        </a:rPr>
                        <a:t>Qualifying mark %</a:t>
                      </a:r>
                      <a:endParaRPr sz="1200" u="none" strike="noStrike" cap="none">
                        <a:solidFill>
                          <a:schemeClr val="dk1"/>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GB" sz="1200" u="none" strike="noStrike" cap="none">
                          <a:solidFill>
                            <a:schemeClr val="dk1"/>
                          </a:solidFill>
                          <a:latin typeface="Calibri"/>
                          <a:ea typeface="Calibri"/>
                          <a:cs typeface="Calibri"/>
                          <a:sym typeface="Calibri"/>
                        </a:rPr>
                        <a:t>Qualifying set</a:t>
                      </a:r>
                      <a:endParaRPr sz="1200" u="none" strike="noStrike" cap="none">
                        <a:solidFill>
                          <a:schemeClr val="dk1"/>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GB" sz="1200" u="none" strike="noStrike" cap="none">
                          <a:solidFill>
                            <a:schemeClr val="dk1"/>
                          </a:solidFill>
                          <a:latin typeface="Calibri"/>
                          <a:ea typeface="Calibri"/>
                          <a:cs typeface="Calibri"/>
                          <a:sym typeface="Calibri"/>
                        </a:rPr>
                        <a:t>Assessment type (e.g. essay, presentation, open exam or closed exam) </a:t>
                      </a:r>
                      <a:endParaRPr sz="1200"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900375">
                <a:tc>
                  <a:txBody>
                    <a:bodyPr/>
                    <a:lstStyle/>
                    <a:p>
                      <a:pPr marL="0" marR="0" lvl="0" indent="0" algn="l" rtl="0">
                        <a:lnSpc>
                          <a:spcPct val="115000"/>
                        </a:lnSpc>
                        <a:spcBef>
                          <a:spcPts val="0"/>
                        </a:spcBef>
                        <a:spcAft>
                          <a:spcPts val="0"/>
                        </a:spcAft>
                        <a:buNone/>
                      </a:pPr>
                      <a:r>
                        <a:rPr lang="en-GB" sz="1200" u="none" strike="noStrike" cap="none">
                          <a:solidFill>
                            <a:schemeClr val="dk1"/>
                          </a:solidFill>
                          <a:latin typeface="Calibri"/>
                          <a:ea typeface="Calibri"/>
                          <a:cs typeface="Calibri"/>
                          <a:sym typeface="Calibri"/>
                        </a:rPr>
                        <a:t>Group coursework 1 – 3D modelling and composition</a:t>
                      </a:r>
                      <a:endParaRPr sz="12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2400" b="1" u="none" strike="noStrike" cap="none">
                          <a:solidFill>
                            <a:srgbClr val="0F243E"/>
                          </a:solidFill>
                          <a:latin typeface="Calibri"/>
                          <a:ea typeface="Calibri"/>
                          <a:cs typeface="Calibri"/>
                          <a:sym typeface="Calibri"/>
                        </a:rPr>
                        <a:t>50</a:t>
                      </a:r>
                      <a:endParaRPr sz="2400" b="1" u="none" strike="noStrike" cap="none">
                        <a:solidFill>
                          <a:srgbClr val="0F243E"/>
                        </a:solidFill>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2400" b="1" u="none" strike="noStrike" cap="none">
                          <a:solidFill>
                            <a:srgbClr val="0F243E"/>
                          </a:solidFill>
                          <a:latin typeface="Calibri"/>
                          <a:ea typeface="Calibri"/>
                          <a:cs typeface="Calibri"/>
                          <a:sym typeface="Calibri"/>
                        </a:rPr>
                        <a:t>30</a:t>
                      </a:r>
                      <a:endParaRPr sz="2400" b="1" u="none" strike="noStrike" cap="none">
                        <a:solidFill>
                          <a:srgbClr val="0F243E"/>
                        </a:solidFill>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1200" u="none" strike="noStrike" cap="none">
                          <a:latin typeface="Calibri"/>
                          <a:ea typeface="Calibri"/>
                          <a:cs typeface="Calibri"/>
                          <a:sym typeface="Calibri"/>
                        </a:rPr>
                        <a:t> </a:t>
                      </a:r>
                      <a:endParaRPr sz="1200" u="none" strike="noStrike" cap="none">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1200" b="1" u="none" strike="noStrike" cap="none">
                          <a:solidFill>
                            <a:srgbClr val="0F243E"/>
                          </a:solidFill>
                          <a:latin typeface="Calibri"/>
                          <a:ea typeface="Calibri"/>
                          <a:cs typeface="Calibri"/>
                          <a:sym typeface="Calibri"/>
                        </a:rPr>
                        <a:t>Formative, Coursework (3D interactive media product), presentation</a:t>
                      </a:r>
                      <a:endParaRPr sz="1200" b="1" u="none" strike="noStrike" cap="none">
                        <a:solidFill>
                          <a:srgbClr val="0F243E"/>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1"/>
                  </a:ext>
                </a:extLst>
              </a:tr>
              <a:tr h="593650">
                <a:tc>
                  <a:txBody>
                    <a:bodyPr/>
                    <a:lstStyle/>
                    <a:p>
                      <a:pPr marL="0" marR="0" lvl="0" indent="0" algn="l" rtl="0">
                        <a:lnSpc>
                          <a:spcPct val="115000"/>
                        </a:lnSpc>
                        <a:spcBef>
                          <a:spcPts val="0"/>
                        </a:spcBef>
                        <a:spcAft>
                          <a:spcPts val="0"/>
                        </a:spcAft>
                        <a:buNone/>
                      </a:pPr>
                      <a:r>
                        <a:rPr lang="en-GB" sz="1200" u="none" strike="noStrike" cap="none">
                          <a:solidFill>
                            <a:schemeClr val="dk1"/>
                          </a:solidFill>
                          <a:latin typeface="Calibri"/>
                          <a:ea typeface="Calibri"/>
                          <a:cs typeface="Calibri"/>
                          <a:sym typeface="Calibri"/>
                        </a:rPr>
                        <a:t>Preparation for Assessment</a:t>
                      </a:r>
                      <a:endParaRPr sz="12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2400" b="1" u="none" strike="noStrike" cap="none">
                          <a:solidFill>
                            <a:srgbClr val="0F243E"/>
                          </a:solidFill>
                          <a:latin typeface="Calibri"/>
                          <a:ea typeface="Calibri"/>
                          <a:cs typeface="Calibri"/>
                          <a:sym typeface="Calibri"/>
                        </a:rPr>
                        <a:t> </a:t>
                      </a:r>
                      <a:endParaRPr sz="2400" b="1" u="none" strike="noStrike" cap="none">
                        <a:solidFill>
                          <a:srgbClr val="0F243E"/>
                        </a:solidFill>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2400" b="1" u="none" strike="noStrike" cap="none">
                          <a:solidFill>
                            <a:srgbClr val="0F243E"/>
                          </a:solidFill>
                          <a:latin typeface="Calibri"/>
                          <a:ea typeface="Calibri"/>
                          <a:cs typeface="Calibri"/>
                          <a:sym typeface="Calibri"/>
                        </a:rPr>
                        <a:t> </a:t>
                      </a:r>
                      <a:endParaRPr sz="2400" b="1" u="none" strike="noStrike" cap="none">
                        <a:solidFill>
                          <a:srgbClr val="0F243E"/>
                        </a:solidFill>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1200" u="none" strike="noStrike" cap="none">
                          <a:latin typeface="Calibri"/>
                          <a:ea typeface="Calibri"/>
                          <a:cs typeface="Calibri"/>
                          <a:sym typeface="Calibri"/>
                        </a:rPr>
                        <a:t> </a:t>
                      </a:r>
                      <a:endParaRPr sz="1200" u="none" strike="noStrike" cap="none">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1200" b="1" u="none" strike="noStrike" cap="none">
                          <a:solidFill>
                            <a:srgbClr val="0F243E"/>
                          </a:solidFill>
                          <a:latin typeface="Calibri"/>
                          <a:ea typeface="Calibri"/>
                          <a:cs typeface="Calibri"/>
                          <a:sym typeface="Calibri"/>
                        </a:rPr>
                        <a:t>24hrs</a:t>
                      </a:r>
                      <a:endParaRPr sz="1200" b="1" u="none" strike="noStrike" cap="none">
                        <a:solidFill>
                          <a:srgbClr val="0F243E"/>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2"/>
                  </a:ext>
                </a:extLst>
              </a:tr>
              <a:tr h="900375">
                <a:tc>
                  <a:txBody>
                    <a:bodyPr/>
                    <a:lstStyle/>
                    <a:p>
                      <a:pPr marL="0" marR="0" lvl="0" indent="0" algn="l" rtl="0">
                        <a:lnSpc>
                          <a:spcPct val="115000"/>
                        </a:lnSpc>
                        <a:spcBef>
                          <a:spcPts val="0"/>
                        </a:spcBef>
                        <a:spcAft>
                          <a:spcPts val="0"/>
                        </a:spcAft>
                        <a:buNone/>
                      </a:pPr>
                      <a:r>
                        <a:rPr lang="en-GB" sz="1200" u="none" strike="noStrike" cap="none">
                          <a:solidFill>
                            <a:schemeClr val="dk1"/>
                          </a:solidFill>
                          <a:latin typeface="Calibri"/>
                          <a:ea typeface="Calibri"/>
                          <a:cs typeface="Calibri"/>
                          <a:sym typeface="Calibri"/>
                        </a:rPr>
                        <a:t>Group coursework 2 – 3D animation and interactivity</a:t>
                      </a:r>
                      <a:endParaRPr sz="12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2400" b="1" u="none" strike="noStrike" cap="none">
                          <a:solidFill>
                            <a:srgbClr val="0F243E"/>
                          </a:solidFill>
                          <a:latin typeface="Calibri"/>
                          <a:ea typeface="Calibri"/>
                          <a:cs typeface="Calibri"/>
                          <a:sym typeface="Calibri"/>
                        </a:rPr>
                        <a:t>50</a:t>
                      </a:r>
                      <a:endParaRPr sz="2400" b="1" u="none" strike="noStrike" cap="none">
                        <a:solidFill>
                          <a:srgbClr val="0F243E"/>
                        </a:solidFill>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2400" b="1" u="none" strike="noStrike" cap="none">
                          <a:solidFill>
                            <a:srgbClr val="0F243E"/>
                          </a:solidFill>
                          <a:latin typeface="Calibri"/>
                          <a:ea typeface="Calibri"/>
                          <a:cs typeface="Calibri"/>
                          <a:sym typeface="Calibri"/>
                        </a:rPr>
                        <a:t>30</a:t>
                      </a:r>
                      <a:endParaRPr sz="2400" b="1" u="none" strike="noStrike" cap="none">
                        <a:solidFill>
                          <a:srgbClr val="0F243E"/>
                        </a:solidFill>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1200" u="none" strike="noStrike" cap="none">
                          <a:latin typeface="Calibri"/>
                          <a:ea typeface="Calibri"/>
                          <a:cs typeface="Calibri"/>
                          <a:sym typeface="Calibri"/>
                        </a:rPr>
                        <a:t> </a:t>
                      </a:r>
                      <a:endParaRPr sz="1200" u="none" strike="noStrike" cap="none">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1200" b="1" u="none" strike="noStrike" cap="none">
                          <a:solidFill>
                            <a:srgbClr val="0F243E"/>
                          </a:solidFill>
                          <a:latin typeface="Calibri"/>
                          <a:ea typeface="Calibri"/>
                          <a:cs typeface="Calibri"/>
                          <a:sym typeface="Calibri"/>
                        </a:rPr>
                        <a:t>Coursework (3D interactive media product), report (800 words)</a:t>
                      </a:r>
                      <a:endParaRPr sz="1200" b="1" u="none" strike="noStrike" cap="none">
                        <a:solidFill>
                          <a:srgbClr val="0F243E"/>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3"/>
                  </a:ext>
                </a:extLst>
              </a:tr>
              <a:tr h="593650">
                <a:tc>
                  <a:txBody>
                    <a:bodyPr/>
                    <a:lstStyle/>
                    <a:p>
                      <a:pPr marL="0" marR="0" lvl="0" indent="0" algn="l" rtl="0">
                        <a:lnSpc>
                          <a:spcPct val="115000"/>
                        </a:lnSpc>
                        <a:spcBef>
                          <a:spcPts val="0"/>
                        </a:spcBef>
                        <a:spcAft>
                          <a:spcPts val="0"/>
                        </a:spcAft>
                        <a:buNone/>
                      </a:pPr>
                      <a:r>
                        <a:rPr lang="en-GB" sz="1200" u="none" strike="noStrike" cap="none">
                          <a:solidFill>
                            <a:schemeClr val="dk1"/>
                          </a:solidFill>
                          <a:latin typeface="Calibri"/>
                          <a:ea typeface="Calibri"/>
                          <a:cs typeface="Calibri"/>
                          <a:sym typeface="Calibri"/>
                        </a:rPr>
                        <a:t>Preparation for Assessment</a:t>
                      </a:r>
                      <a:endParaRPr sz="12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1200" u="none" strike="noStrike" cap="none">
                          <a:latin typeface="Calibri"/>
                          <a:ea typeface="Calibri"/>
                          <a:cs typeface="Calibri"/>
                          <a:sym typeface="Calibri"/>
                        </a:rPr>
                        <a:t> </a:t>
                      </a:r>
                      <a:endParaRPr sz="1200" u="none" strike="noStrike" cap="none">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1200" u="none" strike="noStrike" cap="none">
                          <a:latin typeface="Calibri"/>
                          <a:ea typeface="Calibri"/>
                          <a:cs typeface="Calibri"/>
                          <a:sym typeface="Calibri"/>
                        </a:rPr>
                        <a:t> </a:t>
                      </a:r>
                      <a:endParaRPr sz="1200" u="none" strike="noStrike" cap="none">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1200" u="none" strike="noStrike" cap="none">
                          <a:latin typeface="Calibri"/>
                          <a:ea typeface="Calibri"/>
                          <a:cs typeface="Calibri"/>
                          <a:sym typeface="Calibri"/>
                        </a:rPr>
                        <a:t> </a:t>
                      </a:r>
                      <a:endParaRPr sz="1200" u="none" strike="noStrike" cap="none">
                        <a:latin typeface="Calibri"/>
                        <a:ea typeface="Calibri"/>
                        <a:cs typeface="Calibri"/>
                        <a:sym typeface="Calibri"/>
                      </a:endParaRPr>
                    </a:p>
                  </a:txBody>
                  <a:tcPr marL="68575" marR="68575" marT="0" marB="0" anchor="ctr"/>
                </a:tc>
                <a:tc>
                  <a:txBody>
                    <a:bodyPr/>
                    <a:lstStyle/>
                    <a:p>
                      <a:pPr marL="0" marR="0" lvl="0" indent="0" algn="l" rtl="0">
                        <a:lnSpc>
                          <a:spcPct val="115000"/>
                        </a:lnSpc>
                        <a:spcBef>
                          <a:spcPts val="0"/>
                        </a:spcBef>
                        <a:spcAft>
                          <a:spcPts val="0"/>
                        </a:spcAft>
                        <a:buNone/>
                      </a:pPr>
                      <a:r>
                        <a:rPr lang="en-GB" sz="1200" b="1" u="none" strike="noStrike" cap="none">
                          <a:solidFill>
                            <a:srgbClr val="0F243E"/>
                          </a:solidFill>
                          <a:latin typeface="Calibri"/>
                          <a:ea typeface="Calibri"/>
                          <a:cs typeface="Calibri"/>
                          <a:sym typeface="Calibri"/>
                        </a:rPr>
                        <a:t>24hrs</a:t>
                      </a:r>
                      <a:endParaRPr sz="1200" b="1" u="none" strike="noStrike" cap="none">
                        <a:solidFill>
                          <a:srgbClr val="0F243E"/>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15" name="Google Shape;115;p12"/>
          <p:cNvSpPr txBox="1"/>
          <p:nvPr/>
        </p:nvSpPr>
        <p:spPr>
          <a:xfrm>
            <a:off x="467544" y="1412776"/>
            <a:ext cx="8294194" cy="4062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Assessment criteria:</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rgbClr val="FFFF00"/>
              </a:solidFill>
              <a:latin typeface="Quattrocento Sans"/>
              <a:ea typeface="Quattrocento Sans"/>
              <a:cs typeface="Quattrocento Sans"/>
              <a:sym typeface="Quattrocento Sans"/>
            </a:endParaRPr>
          </a:p>
          <a:p>
            <a:r>
              <a:rPr lang="en-GB" sz="2400" b="1" i="1" dirty="0">
                <a:solidFill>
                  <a:srgbClr val="FFFF00"/>
                </a:solidFill>
                <a:latin typeface="Quattrocento Sans"/>
                <a:ea typeface="Quattrocento Sans"/>
                <a:cs typeface="Quattrocento Sans"/>
                <a:sym typeface="Quattrocento Sans"/>
              </a:rPr>
              <a:t>To achieve higher marks, students must demonstrate a greater degree of expertise and knowledge, and in particular to demonstrate knowledge of economic programming skills, </a:t>
            </a:r>
            <a:endParaRPr/>
          </a:p>
          <a:p>
            <a:pPr marL="0" marR="0" lvl="0" indent="0" algn="l" rtl="0">
              <a:spcBef>
                <a:spcPts val="0"/>
              </a:spcBef>
              <a:spcAft>
                <a:spcPts val="0"/>
              </a:spcAft>
              <a:buNone/>
            </a:pPr>
            <a:r>
              <a:rPr lang="en-GB" sz="2400" b="1" i="1" dirty="0">
                <a:solidFill>
                  <a:srgbClr val="FFFF00"/>
                </a:solidFill>
                <a:latin typeface="Quattrocento Sans"/>
                <a:ea typeface="Quattrocento Sans"/>
                <a:cs typeface="Quattrocento Sans"/>
                <a:sym typeface="Quattrocento Sans"/>
              </a:rPr>
              <a:t>creative skills, as well as the ability to effectively work in a group.</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3"/>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22" name="Google Shape;122;p13"/>
          <p:cNvSpPr txBox="1"/>
          <p:nvPr/>
        </p:nvSpPr>
        <p:spPr>
          <a:xfrm>
            <a:off x="386155" y="1628800"/>
            <a:ext cx="8290301" cy="51090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Marking:</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70 or above : </a:t>
            </a:r>
            <a:r>
              <a:rPr lang="en-GB" sz="1400">
                <a:solidFill>
                  <a:schemeClr val="dk1"/>
                </a:solidFill>
                <a:latin typeface="Quattrocento Sans"/>
                <a:ea typeface="Quattrocento Sans"/>
                <a:cs typeface="Quattrocento Sans"/>
                <a:sym typeface="Quattrocento Sans"/>
              </a:rPr>
              <a:t>Work which shows exceptional effort, meeting all the requirements, but also demonstrates understanding and work beyond topics covered in class.</a:t>
            </a:r>
            <a:endParaRPr/>
          </a:p>
          <a:p>
            <a:pPr marL="0" marR="0" lvl="0" indent="0" algn="l" rtl="0">
              <a:spcBef>
                <a:spcPts val="0"/>
              </a:spcBef>
              <a:spcAft>
                <a:spcPts val="0"/>
              </a:spcAft>
              <a:buNone/>
            </a:pPr>
            <a:r>
              <a:rPr lang="en-GB" sz="14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60 – 70 : </a:t>
            </a:r>
            <a:r>
              <a:rPr lang="en-GB" sz="1400">
                <a:solidFill>
                  <a:schemeClr val="dk1"/>
                </a:solidFill>
                <a:latin typeface="Quattrocento Sans"/>
                <a:ea typeface="Quattrocento Sans"/>
                <a:cs typeface="Quattrocento Sans"/>
                <a:sym typeface="Quattrocento Sans"/>
              </a:rPr>
              <a:t>Work which demonstrates considerable effort, meeting all the requirements, but not going beyond topics covered in class.</a:t>
            </a:r>
            <a:endParaRPr/>
          </a:p>
          <a:p>
            <a:pPr marL="0" marR="0" lvl="0" indent="0" algn="l" rtl="0">
              <a:spcBef>
                <a:spcPts val="0"/>
              </a:spcBef>
              <a:spcAft>
                <a:spcPts val="0"/>
              </a:spcAft>
              <a:buNone/>
            </a:pPr>
            <a:r>
              <a:rPr lang="en-GB" sz="14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50-60 : </a:t>
            </a:r>
            <a:r>
              <a:rPr lang="en-GB" sz="1400">
                <a:solidFill>
                  <a:schemeClr val="dk1"/>
                </a:solidFill>
                <a:latin typeface="Quattrocento Sans"/>
                <a:ea typeface="Quattrocento Sans"/>
                <a:cs typeface="Quattrocento Sans"/>
                <a:sym typeface="Quattrocento Sans"/>
              </a:rPr>
              <a:t>Work which demonstrates some effort, and meeting most of the above requirements, or meeting requirements with little effort or understanding.</a:t>
            </a:r>
            <a:endParaRPr/>
          </a:p>
          <a:p>
            <a:pPr marL="0" marR="0" lvl="0" indent="0" algn="l" rtl="0">
              <a:spcBef>
                <a:spcPts val="0"/>
              </a:spcBef>
              <a:spcAft>
                <a:spcPts val="0"/>
              </a:spcAft>
              <a:buNone/>
            </a:pPr>
            <a:r>
              <a:rPr lang="en-GB" sz="14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40-50 : </a:t>
            </a:r>
            <a:r>
              <a:rPr lang="en-GB" sz="1400">
                <a:solidFill>
                  <a:schemeClr val="dk1"/>
                </a:solidFill>
                <a:latin typeface="Quattrocento Sans"/>
                <a:ea typeface="Quattrocento Sans"/>
                <a:cs typeface="Quattrocento Sans"/>
                <a:sym typeface="Quattrocento Sans"/>
              </a:rPr>
              <a:t>Work which does not demonstrate great effort, and meets only a few of the above requirements, or meets most but with extremely poor effort and understanding. Work which is borderline in terms of suitability for submission.</a:t>
            </a:r>
            <a:endParaRPr/>
          </a:p>
          <a:p>
            <a:pPr marL="0" marR="0" lvl="0" indent="0" algn="l" rtl="0">
              <a:spcBef>
                <a:spcPts val="0"/>
              </a:spcBef>
              <a:spcAft>
                <a:spcPts val="0"/>
              </a:spcAft>
              <a:buNone/>
            </a:pPr>
            <a:r>
              <a:rPr lang="en-GB" sz="14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Below 40 : </a:t>
            </a:r>
            <a:r>
              <a:rPr lang="en-GB" sz="1400">
                <a:solidFill>
                  <a:schemeClr val="dk1"/>
                </a:solidFill>
                <a:latin typeface="Quattrocento Sans"/>
                <a:ea typeface="Quattrocento Sans"/>
                <a:cs typeface="Quattrocento Sans"/>
                <a:sym typeface="Quattrocento Sans"/>
              </a:rPr>
              <a:t>FAIL - Work which has not been adequately attempted, demonstrates little effort and an insufficient understanding.</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29" name="Google Shape;129;p14"/>
          <p:cNvSpPr txBox="1"/>
          <p:nvPr/>
        </p:nvSpPr>
        <p:spPr>
          <a:xfrm>
            <a:off x="467544" y="1484784"/>
            <a:ext cx="8208912"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chemeClr val="dk1"/>
                </a:solidFill>
                <a:latin typeface="Quattrocento Sans"/>
                <a:ea typeface="Quattrocento Sans"/>
                <a:cs typeface="Quattrocento Sans"/>
                <a:sym typeface="Quattrocento Sans"/>
              </a:rPr>
              <a:t>Areas to ensure for CW:</a:t>
            </a:r>
            <a:endParaRPr dirty="0">
              <a:solidFill>
                <a:schemeClr val="dk1"/>
              </a:solidFill>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00"/>
              </a:buClr>
              <a:buSzPts val="2400"/>
              <a:buFont typeface="Arial"/>
              <a:buChar char="•"/>
            </a:pPr>
            <a:r>
              <a:rPr lang="en-GB" sz="2400" b="1" dirty="0">
                <a:solidFill>
                  <a:srgbClr val="FFFF00"/>
                </a:solidFill>
                <a:latin typeface="Quattrocento Sans"/>
                <a:ea typeface="Quattrocento Sans"/>
                <a:cs typeface="Quattrocento Sans"/>
                <a:sym typeface="Quattrocento Sans"/>
              </a:rPr>
              <a:t>Research, Design and Planning</a:t>
            </a:r>
            <a:endParaRPr dirty="0"/>
          </a:p>
          <a:p>
            <a:pPr marL="342900" marR="0" lvl="0" indent="-342900" algn="l" rtl="0">
              <a:spcBef>
                <a:spcPts val="0"/>
              </a:spcBef>
              <a:spcAft>
                <a:spcPts val="0"/>
              </a:spcAft>
              <a:buClr>
                <a:srgbClr val="FFFF00"/>
              </a:buClr>
              <a:buSzPts val="2400"/>
              <a:buFont typeface="Arial"/>
              <a:buChar char="•"/>
            </a:pPr>
            <a:r>
              <a:rPr lang="en-GB" sz="2400" b="1" dirty="0">
                <a:solidFill>
                  <a:srgbClr val="FFFF00"/>
                </a:solidFill>
                <a:latin typeface="Quattrocento Sans"/>
                <a:ea typeface="Quattrocento Sans"/>
                <a:cs typeface="Quattrocento Sans"/>
                <a:sym typeface="Quattrocento Sans"/>
              </a:rPr>
              <a:t>Methodology and Management</a:t>
            </a:r>
            <a:endParaRPr dirty="0"/>
          </a:p>
          <a:p>
            <a:pPr marL="342900" marR="0" lvl="0" indent="-342900" algn="l" rtl="0">
              <a:spcBef>
                <a:spcPts val="0"/>
              </a:spcBef>
              <a:spcAft>
                <a:spcPts val="0"/>
              </a:spcAft>
              <a:buClr>
                <a:srgbClr val="FFFF00"/>
              </a:buClr>
              <a:buSzPts val="2400"/>
              <a:buFont typeface="Arial"/>
              <a:buChar char="•"/>
            </a:pPr>
            <a:r>
              <a:rPr lang="en-GB" sz="2400" b="1" dirty="0">
                <a:solidFill>
                  <a:srgbClr val="FFFF00"/>
                </a:solidFill>
                <a:latin typeface="Quattrocento Sans"/>
                <a:ea typeface="Quattrocento Sans"/>
                <a:cs typeface="Quattrocento Sans"/>
                <a:sym typeface="Quattrocento Sans"/>
              </a:rPr>
              <a:t>Implementation and Deployment</a:t>
            </a:r>
            <a:endParaRPr dirty="0"/>
          </a:p>
          <a:p>
            <a:pPr marL="342900" indent="-342900">
              <a:buClr>
                <a:srgbClr val="FFFF00"/>
              </a:buClr>
              <a:buSzPts val="2400"/>
              <a:buFont typeface="Arial"/>
              <a:buChar char="•"/>
            </a:pPr>
            <a:r>
              <a:rPr lang="en-GB" sz="2400" b="1" dirty="0">
                <a:solidFill>
                  <a:srgbClr val="FFFF00"/>
                </a:solidFill>
                <a:latin typeface="Quattrocento Sans"/>
                <a:ea typeface="Quattrocento Sans"/>
                <a:cs typeface="Quattrocento Sans"/>
                <a:sym typeface="Quattrocento Sans"/>
              </a:rPr>
              <a:t>Analysis and Evaluation </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dirty="0">
                <a:solidFill>
                  <a:schemeClr val="dk1"/>
                </a:solidFill>
                <a:latin typeface="Quattrocento Sans"/>
                <a:ea typeface="Quattrocento Sans"/>
                <a:cs typeface="Quattrocento Sans"/>
                <a:sym typeface="Quattrocento Sans"/>
              </a:rPr>
              <a:t>Assessment:</a:t>
            </a:r>
            <a:endParaRPr dirty="0">
              <a:solidFill>
                <a:schemeClr val="dk1"/>
              </a:solidFill>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342900" indent="-342900">
              <a:buClr>
                <a:srgbClr val="FFFF00"/>
              </a:buClr>
              <a:buSzPts val="2400"/>
              <a:buFont typeface="Arial"/>
              <a:buChar char="•"/>
            </a:pPr>
            <a:r>
              <a:rPr lang="en-GB" sz="2400" b="1" dirty="0">
                <a:solidFill>
                  <a:srgbClr val="FFFF00"/>
                </a:solidFill>
                <a:latin typeface="Quattrocento Sans"/>
                <a:ea typeface="Quattrocento Sans"/>
                <a:cs typeface="Quattrocento Sans"/>
                <a:sym typeface="Quattrocento Sans"/>
              </a:rPr>
              <a:t>Video Presentations submitted to Blackboard</a:t>
            </a:r>
            <a:endParaRPr dirty="0"/>
          </a:p>
          <a:p>
            <a:pPr marL="342900" indent="-342900">
              <a:buClr>
                <a:srgbClr val="FFFF00"/>
              </a:buClr>
              <a:buSzPts val="2400"/>
              <a:buFont typeface="Arial"/>
              <a:buChar char="•"/>
            </a:pPr>
            <a:r>
              <a:rPr lang="en-GB" sz="2400" b="1" dirty="0">
                <a:solidFill>
                  <a:srgbClr val="FFFF00"/>
                </a:solidFill>
                <a:latin typeface="Quattrocento Sans"/>
                <a:ea typeface="Quattrocento Sans"/>
                <a:cs typeface="Quattrocento Sans"/>
                <a:sym typeface="Quattrocento Sans"/>
              </a:rPr>
              <a:t>Presentations and Discussions in class</a:t>
            </a:r>
            <a:endParaRPr dirty="0"/>
          </a:p>
          <a:p>
            <a:pPr marL="342900" indent="-342900">
              <a:buClr>
                <a:srgbClr val="FFFF00"/>
              </a:buClr>
              <a:buSzPts val="2400"/>
              <a:buFont typeface="Arial"/>
              <a:buChar char="•"/>
            </a:pPr>
            <a:r>
              <a:rPr lang="en-GB" sz="2400" b="1" dirty="0">
                <a:solidFill>
                  <a:srgbClr val="FFFF00"/>
                </a:solidFill>
                <a:latin typeface="Quattrocento Sans"/>
                <a:ea typeface="Quattrocento Sans"/>
                <a:cs typeface="Quattrocento Sans"/>
                <a:sym typeface="Quattrocento Sans"/>
              </a:rPr>
              <a:t>Peer Review in video and in class</a:t>
            </a:r>
            <a:endParaRPr dirty="0"/>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p:txBody>
      </p:sp>
      <p:sp>
        <p:nvSpPr>
          <p:cNvPr id="130" name="Google Shape;130;p14"/>
          <p:cNvSpPr/>
          <p:nvPr/>
        </p:nvSpPr>
        <p:spPr>
          <a:xfrm>
            <a:off x="7308304" y="2780928"/>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131" name="Google Shape;131;p14"/>
          <p:cNvSpPr/>
          <p:nvPr/>
        </p:nvSpPr>
        <p:spPr>
          <a:xfrm>
            <a:off x="7526645" y="299934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45" name="Google Shape;145;p16"/>
          <p:cNvSpPr txBox="1"/>
          <p:nvPr/>
        </p:nvSpPr>
        <p:spPr>
          <a:xfrm>
            <a:off x="361071" y="1340768"/>
            <a:ext cx="8789400" cy="2678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Penalty for Late Submissions: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Coursework submitted </a:t>
            </a:r>
            <a:r>
              <a:rPr lang="en-GB" sz="2400" b="1">
                <a:solidFill>
                  <a:schemeClr val="dk1"/>
                </a:solidFill>
                <a:latin typeface="Quattrocento Sans"/>
                <a:ea typeface="Quattrocento Sans"/>
                <a:cs typeface="Quattrocento Sans"/>
                <a:sym typeface="Quattrocento Sans"/>
              </a:rPr>
              <a:t>up to 24 hours late</a:t>
            </a:r>
            <a:r>
              <a:rPr lang="en-GB" sz="2400">
                <a:solidFill>
                  <a:schemeClr val="dk1"/>
                </a:solidFill>
                <a:latin typeface="Quattrocento Sans"/>
                <a:ea typeface="Quattrocento Sans"/>
                <a:cs typeface="Quattrocento Sans"/>
                <a:sym typeface="Quattrocento Sans"/>
              </a:rPr>
              <a:t> will receive a deduction of </a:t>
            </a:r>
            <a:r>
              <a:rPr lang="en-GB" sz="2400" b="1">
                <a:solidFill>
                  <a:schemeClr val="dk1"/>
                </a:solidFill>
                <a:latin typeface="Quattrocento Sans"/>
                <a:ea typeface="Quattrocento Sans"/>
                <a:cs typeface="Quattrocento Sans"/>
                <a:sym typeface="Quattrocento Sans"/>
              </a:rPr>
              <a:t>10 marks</a:t>
            </a:r>
            <a:r>
              <a:rPr lang="en-GB" sz="2400">
                <a:solidFill>
                  <a:schemeClr val="dk1"/>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Coursework submitted </a:t>
            </a:r>
            <a:r>
              <a:rPr lang="en-GB" sz="2400" b="1">
                <a:solidFill>
                  <a:schemeClr val="dk1"/>
                </a:solidFill>
                <a:latin typeface="Quattrocento Sans"/>
                <a:ea typeface="Quattrocento Sans"/>
                <a:cs typeface="Quattrocento Sans"/>
                <a:sym typeface="Quattrocento Sans"/>
              </a:rPr>
              <a:t>after 24 hours</a:t>
            </a:r>
            <a:r>
              <a:rPr lang="en-GB" sz="2400">
                <a:solidFill>
                  <a:schemeClr val="dk1"/>
                </a:solidFill>
                <a:latin typeface="Quattrocento Sans"/>
                <a:ea typeface="Quattrocento Sans"/>
                <a:cs typeface="Quattrocento Sans"/>
                <a:sym typeface="Quattrocento Sans"/>
              </a:rPr>
              <a:t> will receive a mark of </a:t>
            </a:r>
            <a:r>
              <a:rPr lang="en-GB" sz="2400" b="1">
                <a:solidFill>
                  <a:schemeClr val="dk1"/>
                </a:solidFill>
                <a:latin typeface="Quattrocento Sans"/>
                <a:ea typeface="Quattrocento Sans"/>
                <a:cs typeface="Quattrocento Sans"/>
                <a:sym typeface="Quattrocento Sans"/>
              </a:rPr>
              <a:t>zero</a:t>
            </a:r>
            <a:r>
              <a:rPr lang="en-GB" sz="2400">
                <a:solidFill>
                  <a:schemeClr val="dk1"/>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52" name="Google Shape;152;p17"/>
          <p:cNvSpPr txBox="1"/>
          <p:nvPr/>
        </p:nvSpPr>
        <p:spPr>
          <a:xfrm>
            <a:off x="361070" y="1340768"/>
            <a:ext cx="8315385" cy="47089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Mitigating Circumstances:</a:t>
            </a:r>
            <a:endParaRPr sz="2400" dirty="0">
              <a:solidFill>
                <a:schemeClr val="dk1"/>
              </a:solidFill>
              <a:latin typeface="Quattrocento Sans"/>
              <a:ea typeface="Quattrocento Sans"/>
              <a:cs typeface="Quattrocento Sans"/>
              <a:sym typeface="Quattrocento Sans"/>
            </a:endParaRPr>
          </a:p>
          <a:p>
            <a:r>
              <a:rPr lang="en-GB" sz="1800" dirty="0">
                <a:solidFill>
                  <a:schemeClr val="dk1"/>
                </a:solidFill>
                <a:latin typeface="Quattrocento Sans"/>
                <a:ea typeface="Quattrocento Sans"/>
                <a:cs typeface="Quattrocento Sans"/>
                <a:sym typeface="Quattrocento Sans"/>
              </a:rPr>
              <a:t>If you are unable to submit your coursework or attend an assessment due to unforeseen, unpreventable, serious circumstances you may be eligible to claim for Mitigating Circumstances. </a:t>
            </a:r>
            <a:endParaRPr sz="1800"/>
          </a:p>
          <a:p>
            <a:pPr marL="0" marR="0" lvl="0" indent="0" algn="l" rtl="0">
              <a:spcBef>
                <a:spcPts val="0"/>
              </a:spcBef>
              <a:spcAft>
                <a:spcPts val="0"/>
              </a:spcAft>
              <a:buNone/>
            </a:pPr>
            <a:endParaRPr sz="1800" dirty="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The University operates a ‘fit to sit’ policy which means if you submit a piece of coursework or sit an exam and/or in class test, you have deemed yourself fit to do so. You cannot submit a claim for mitigating circumstances in this case.</a:t>
            </a:r>
            <a:endParaRPr sz="1800" dirty="0">
              <a:solidFill>
                <a:schemeClr val="dk1"/>
              </a:solidFill>
            </a:endParaRPr>
          </a:p>
          <a:p>
            <a:pPr marL="0" marR="0" lvl="0" indent="0" algn="l" rtl="0">
              <a:spcBef>
                <a:spcPts val="0"/>
              </a:spcBef>
              <a:spcAft>
                <a:spcPts val="0"/>
              </a:spcAft>
              <a:buNone/>
            </a:pPr>
            <a:endParaRPr sz="1800" dirty="0">
              <a:solidFill>
                <a:schemeClr val="dk1"/>
              </a:solidFill>
              <a:latin typeface="Quattrocento Sans"/>
              <a:ea typeface="Quattrocento Sans"/>
              <a:cs typeface="Quattrocento Sans"/>
            </a:endParaRPr>
          </a:p>
          <a:p>
            <a:r>
              <a:rPr lang="en-GB" sz="1800" dirty="0">
                <a:solidFill>
                  <a:schemeClr val="dk1"/>
                </a:solidFill>
                <a:latin typeface="Quattrocento Sans"/>
                <a:ea typeface="Quattrocento Sans"/>
                <a:cs typeface="Quattrocento Sans"/>
                <a:sym typeface="Quattrocento Sans"/>
              </a:rPr>
              <a:t>Claims should be submitted as close to the deadline for the item of work as possible. Please follow the guidelines and complete the MC form fully, this helps the Registry in administering your claim correctly and efficiently. </a:t>
            </a:r>
            <a:endParaRPr sz="1800"/>
          </a:p>
          <a:p>
            <a:pPr marL="0" marR="0" lvl="0" indent="0" algn="l" rtl="0">
              <a:spcBef>
                <a:spcPts val="0"/>
              </a:spcBef>
              <a:spcAft>
                <a:spcPts val="0"/>
              </a:spcAft>
              <a:buNone/>
            </a:pPr>
            <a:endParaRPr sz="1800" dirty="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Unfortunately, claims with missing information may not be considered and may have to be returned to you.</a:t>
            </a:r>
            <a:endParaRPr sz="1800" dirty="0">
              <a:solidFill>
                <a:schemeClr val="dk1"/>
              </a:solidFill>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8"/>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59" name="Google Shape;159;p18"/>
          <p:cNvSpPr txBox="1"/>
          <p:nvPr/>
        </p:nvSpPr>
        <p:spPr>
          <a:xfrm>
            <a:off x="361071" y="1340768"/>
            <a:ext cx="8354210" cy="20005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Academic Misconduct - Plagiarism, Collusion:</a:t>
            </a:r>
            <a:endParaRPr dirty="0"/>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dirty="0">
                <a:solidFill>
                  <a:schemeClr val="dk1"/>
                </a:solidFill>
                <a:latin typeface="Quattrocento Sans"/>
                <a:ea typeface="Quattrocento Sans"/>
                <a:cs typeface="Quattrocento Sans"/>
                <a:sym typeface="Quattrocento Sans"/>
              </a:rPr>
              <a:t>Can result in a Zero or Suspension</a:t>
            </a:r>
            <a:endParaRPr dirty="0">
              <a:solidFill>
                <a:schemeClr val="dk1"/>
              </a:solidFill>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r>
              <a:rPr lang="en-GB" sz="1400" b="1"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https://www.westminster.ac.uk/study/current-students/resources/academic-regulations/academic-misconduct</a:t>
            </a:r>
            <a:r>
              <a:rPr lang="en-GB" b="1" dirty="0">
                <a:solidFill>
                  <a:schemeClr val="dk1"/>
                </a:solidFill>
                <a:latin typeface="Quattrocento Sans"/>
                <a:ea typeface="Quattrocento Sans"/>
                <a:cs typeface="Quattrocento Sans"/>
                <a:sym typeface="Quattrocento Sans"/>
              </a:rPr>
              <a:t> </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66" name="Google Shape;166;p19"/>
          <p:cNvSpPr txBox="1"/>
          <p:nvPr/>
        </p:nvSpPr>
        <p:spPr>
          <a:xfrm>
            <a:off x="442796" y="1196752"/>
            <a:ext cx="8233660" cy="50167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FFFF00"/>
                </a:solidFill>
                <a:latin typeface="Quattrocento Sans"/>
                <a:ea typeface="Quattrocento Sans"/>
                <a:cs typeface="Quattrocento Sans"/>
                <a:sym typeface="Quattrocento Sans"/>
              </a:rPr>
              <a:t>Syllabus:</a:t>
            </a:r>
            <a:endParaRPr dirty="0"/>
          </a:p>
          <a:p>
            <a:br>
              <a:rPr lang="en-GB" sz="2000" b="1" dirty="0">
                <a:latin typeface="Quattrocento Sans"/>
                <a:ea typeface="Quattrocento Sans"/>
                <a:cs typeface="Quattrocento Sans"/>
              </a:rPr>
            </a:br>
            <a:r>
              <a:rPr lang="en-GB" sz="2000" b="1">
                <a:solidFill>
                  <a:srgbClr val="FFFF00"/>
                </a:solidFill>
                <a:latin typeface="Quattrocento Sans"/>
                <a:ea typeface="Quattrocento Sans"/>
                <a:cs typeface="Quattrocento Sans"/>
                <a:sym typeface="Quattrocento Sans"/>
              </a:rPr>
              <a:t>3D User Interfaces (UIs) and interaction styles:</a:t>
            </a:r>
            <a:endParaRPr lang="en-GB" dirty="0">
              <a:solidFill>
                <a:srgbClr val="FFFFFF"/>
              </a:solidFill>
              <a:ea typeface="Quattrocento Sans"/>
              <a:sym typeface="Quattrocento Sans"/>
            </a:endParaRPr>
          </a:p>
          <a:p>
            <a:pPr marL="0" marR="0" lvl="0" indent="0" algn="l">
              <a:spcBef>
                <a:spcPts val="0"/>
              </a:spcBef>
              <a:spcAft>
                <a:spcPts val="0"/>
              </a:spcAft>
              <a:buNone/>
            </a:pPr>
            <a:r>
              <a:rPr lang="en-GB" sz="2000">
                <a:solidFill>
                  <a:schemeClr val="dk1"/>
                </a:solidFill>
                <a:latin typeface="Quattrocento Sans"/>
                <a:ea typeface="Quattrocento Sans"/>
                <a:cs typeface="Quattrocento Sans"/>
                <a:sym typeface="Quattrocento Sans"/>
              </a:rPr>
              <a:t>introduce applications of </a:t>
            </a:r>
            <a:r>
              <a:rPr lang="en-GB" sz="2000" dirty="0">
                <a:solidFill>
                  <a:schemeClr val="dk1"/>
                </a:solidFill>
                <a:latin typeface="Quattrocento Sans"/>
                <a:ea typeface="Quattrocento Sans"/>
                <a:cs typeface="Quattrocento Sans"/>
                <a:sym typeface="Quattrocento Sans"/>
              </a:rPr>
              <a:t>3D UIs, video gaming, large displays, mobile applications, etc. Discuss principles of designing Usable 3D UIs. Understand the design space.</a:t>
            </a:r>
            <a:endParaRPr>
              <a:solidFill>
                <a:schemeClr val="dk1"/>
              </a:solidFill>
            </a:endParaRPr>
          </a:p>
          <a:p>
            <a:pPr marL="0" marR="0" lvl="0" indent="0" algn="l" rtl="0">
              <a:spcBef>
                <a:spcPts val="0"/>
              </a:spcBef>
              <a:spcAft>
                <a:spcPts val="0"/>
              </a:spcAft>
              <a:buNone/>
            </a:pPr>
            <a:br>
              <a:rPr lang="en-GB" sz="2000" b="1" dirty="0">
                <a:latin typeface="Quattrocento Sans"/>
                <a:ea typeface="Quattrocento Sans"/>
                <a:cs typeface="Quattrocento Sans"/>
              </a:rPr>
            </a:br>
            <a:r>
              <a:rPr lang="en-GB" sz="2000" b="1" dirty="0">
                <a:solidFill>
                  <a:srgbClr val="FFFF00"/>
                </a:solidFill>
                <a:latin typeface="Quattrocento Sans"/>
                <a:ea typeface="Quattrocento Sans"/>
                <a:cs typeface="Quattrocento Sans"/>
                <a:sym typeface="Quattrocento Sans"/>
              </a:rPr>
              <a:t>3D world representation and 3D space transformation</a:t>
            </a:r>
            <a:endParaRPr lang="en-GB" sz="2000">
              <a:solidFill>
                <a:srgbClr val="FFFF00"/>
              </a:solidFill>
              <a:latin typeface="Quattrocento Sans"/>
            </a:endParaRPr>
          </a:p>
          <a:p>
            <a:br>
              <a:rPr lang="en-GB" sz="2000" b="1" dirty="0">
                <a:latin typeface="Quattrocento Sans"/>
                <a:ea typeface="Quattrocento Sans"/>
                <a:cs typeface="Quattrocento Sans"/>
              </a:rPr>
            </a:br>
            <a:r>
              <a:rPr lang="en-GB" sz="2000" b="1">
                <a:solidFill>
                  <a:srgbClr val="FFFF00"/>
                </a:solidFill>
                <a:latin typeface="Quattrocento Sans"/>
                <a:ea typeface="Quattrocento Sans"/>
                <a:cs typeface="Quattrocento Sans"/>
                <a:sym typeface="Quattrocento Sans"/>
              </a:rPr>
              <a:t>Key concept of 3D modelling, primitives:</a:t>
            </a:r>
            <a:endParaRPr lang="en-GB">
              <a:solidFill>
                <a:schemeClr val="dk1"/>
              </a:solidFill>
              <a:ea typeface="Quattrocento Sans"/>
              <a:sym typeface="Quattrocento Sans"/>
            </a:endParaRPr>
          </a:p>
          <a:p>
            <a:r>
              <a:rPr lang="en-GB" sz="2000" b="0" i="0" u="none" strike="noStrike" cap="none" dirty="0">
                <a:solidFill>
                  <a:schemeClr val="dk1"/>
                </a:solidFill>
                <a:latin typeface="Quattrocento Sans"/>
                <a:ea typeface="Quattrocento Sans"/>
                <a:cs typeface="Quattrocento Sans"/>
                <a:sym typeface="Quattrocento Sans"/>
              </a:rPr>
              <a:t>polygonal mesh representation (vertices, edges, faces), creating and editing a scene from primitives, polygon </a:t>
            </a:r>
            <a:r>
              <a:rPr lang="en-GB" sz="2000" dirty="0">
                <a:solidFill>
                  <a:schemeClr val="dk1"/>
                </a:solidFill>
                <a:latin typeface="Quattrocento Sans"/>
                <a:ea typeface="Quattrocento Sans"/>
                <a:cs typeface="Quattrocento Sans"/>
                <a:sym typeface="Quattrocento Sans"/>
              </a:rPr>
              <a:t>editing, parametric</a:t>
            </a:r>
            <a:r>
              <a:rPr lang="en-GB" sz="2000" b="0" i="0" u="none" strike="noStrike" cap="none" dirty="0">
                <a:solidFill>
                  <a:schemeClr val="dk1"/>
                </a:solidFill>
                <a:latin typeface="Quattrocento Sans"/>
                <a:ea typeface="Quattrocento Sans"/>
                <a:cs typeface="Quattrocento Sans"/>
                <a:sym typeface="Quattrocento Sans"/>
              </a:rPr>
              <a:t> curves, NURBs and spline-based modelling </a:t>
            </a:r>
            <a:r>
              <a:rPr lang="en-GB" sz="2000" dirty="0">
                <a:solidFill>
                  <a:schemeClr val="dk1"/>
                </a:solidFill>
                <a:latin typeface="Quattrocento Sans"/>
                <a:ea typeface="Quattrocento Sans"/>
                <a:cs typeface="Quattrocento Sans"/>
                <a:sym typeface="Quattrocento Sans"/>
              </a:rPr>
              <a:t>concepts, lathing</a:t>
            </a:r>
            <a:r>
              <a:rPr lang="en-GB" sz="2000" b="0" i="0" u="none" strike="noStrike" cap="none" dirty="0">
                <a:solidFill>
                  <a:schemeClr val="dk1"/>
                </a:solidFill>
                <a:latin typeface="Quattrocento Sans"/>
                <a:ea typeface="Quattrocento Sans"/>
                <a:cs typeface="Quattrocento Sans"/>
                <a:sym typeface="Quattrocento Sans"/>
              </a:rPr>
              <a:t>, extruding and Boolean modelling techniques to create complex </a:t>
            </a:r>
            <a:r>
              <a:rPr lang="en-GB" sz="2000" dirty="0">
                <a:solidFill>
                  <a:schemeClr val="dk1"/>
                </a:solidFill>
                <a:latin typeface="Quattrocento Sans"/>
                <a:ea typeface="Quattrocento Sans"/>
                <a:cs typeface="Quattrocento Sans"/>
                <a:sym typeface="Quattrocento Sans"/>
              </a:rPr>
              <a:t>models groups</a:t>
            </a:r>
            <a:r>
              <a:rPr lang="en-GB" sz="2000" b="0" i="0" u="none" strike="noStrike" cap="none" dirty="0">
                <a:solidFill>
                  <a:schemeClr val="dk1"/>
                </a:solidFill>
                <a:latin typeface="Quattrocento Sans"/>
                <a:ea typeface="Quattrocento Sans"/>
                <a:cs typeface="Quattrocento Sans"/>
                <a:sym typeface="Quattrocento Sans"/>
              </a:rPr>
              <a:t> and hierarchies, construction history</a:t>
            </a:r>
            <a:r>
              <a:rPr lang="en-GB" sz="2000" dirty="0">
                <a:solidFill>
                  <a:schemeClr val="dk1"/>
                </a:solidFill>
                <a:latin typeface="Quattrocento Sans"/>
                <a:ea typeface="Quattrocento Sans"/>
                <a:cs typeface="Quattrocento Sans"/>
                <a:sym typeface="Quattrocento Sans"/>
              </a:rPr>
              <a:t>.</a:t>
            </a:r>
            <a:endParaRPr dirty="0">
              <a:solidFill>
                <a:schemeClr val="dk1"/>
              </a:solidFill>
            </a:endParaRPr>
          </a:p>
          <a:p>
            <a:pPr marL="457200" marR="0" lvl="1" indent="0" algn="l" rtl="0">
              <a:spcBef>
                <a:spcPts val="0"/>
              </a:spcBef>
              <a:spcAft>
                <a:spcPts val="0"/>
              </a:spcAft>
              <a:buNone/>
            </a:pPr>
            <a:endParaRPr sz="20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0"/>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73" name="Google Shape;173;p20"/>
          <p:cNvSpPr txBox="1"/>
          <p:nvPr/>
        </p:nvSpPr>
        <p:spPr>
          <a:xfrm>
            <a:off x="442796" y="1196752"/>
            <a:ext cx="8233660" cy="550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Syllabus:</a:t>
            </a:r>
            <a:endParaRPr/>
          </a:p>
          <a:p>
            <a:pPr marL="0" marR="0" lvl="0" indent="0" algn="l" rtl="0">
              <a:spcBef>
                <a:spcPts val="0"/>
              </a:spcBef>
              <a:spcAft>
                <a:spcPts val="0"/>
              </a:spcAft>
              <a:buNone/>
            </a:pPr>
            <a:endParaRPr sz="1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Understanding Visual effects</a:t>
            </a:r>
            <a:r>
              <a:rPr lang="en-GB" sz="2000" b="1">
                <a:solidFill>
                  <a:schemeClr val="dk1"/>
                </a:solidFill>
                <a:latin typeface="Quattrocento Sans"/>
                <a:ea typeface="Quattrocento Sans"/>
                <a:cs typeface="Quattrocento Sans"/>
                <a:sym typeface="Quattrocento Sans"/>
              </a:rPr>
              <a:t>, </a:t>
            </a:r>
            <a:r>
              <a:rPr lang="en-GB" sz="2000">
                <a:solidFill>
                  <a:schemeClr val="dk1"/>
                </a:solidFill>
                <a:latin typeface="Quattrocento Sans"/>
                <a:ea typeface="Quattrocento Sans"/>
                <a:cs typeface="Quattrocento Sans"/>
                <a:sym typeface="Quattrocento Sans"/>
              </a:rPr>
              <a:t>shading (composing and colour grading), texturing mapping (UV texture layout, coordinates, mapping) and paint effects. Brief introduction to lighting (illumination model, light types and properties) and shading (mental ray shading).</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Preparation for animation</a:t>
            </a:r>
            <a:r>
              <a:rPr lang="en-GB" sz="2000">
                <a:solidFill>
                  <a:schemeClr val="dk1"/>
                </a:solidFill>
                <a:latin typeface="Quattrocento Sans"/>
                <a:ea typeface="Quattrocento Sans"/>
                <a:cs typeface="Quattrocento Sans"/>
                <a:sym typeface="Quattrocento Sans"/>
              </a:rPr>
              <a:t>, basic skeletons (not full body character) and basic rigging techniques (not to the extent of character animation).</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Animation techniques</a:t>
            </a:r>
            <a:r>
              <a:rPr lang="en-GB" sz="2000">
                <a:solidFill>
                  <a:schemeClr val="dk1"/>
                </a:solidFill>
                <a:latin typeface="Quattrocento Sans"/>
                <a:ea typeface="Quattrocento Sans"/>
                <a:cs typeface="Quattrocento Sans"/>
                <a:sym typeface="Quattrocento Sans"/>
              </a:rPr>
              <a:t>, timeline based animation; motion paths; basic relationships: constraints, set driven keys. Standard 3D UI for 3D interactive games engines.</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Interactivity</a:t>
            </a:r>
            <a:r>
              <a:rPr lang="en-GB" sz="2000">
                <a:solidFill>
                  <a:schemeClr val="dk1"/>
                </a:solidFill>
                <a:latin typeface="Quattrocento Sans"/>
                <a:ea typeface="Quattrocento Sans"/>
                <a:cs typeface="Quattrocento Sans"/>
                <a:sym typeface="Quattrocento Sans"/>
              </a:rPr>
              <a:t>, control a 3D geometry and animation properties with the use of appropriate scripting language.</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Current 3D UI Research</a:t>
            </a:r>
            <a:r>
              <a:rPr lang="en-GB" sz="2000">
                <a:solidFill>
                  <a:schemeClr val="dk1"/>
                </a:solidFill>
                <a:latin typeface="Quattrocento Sans"/>
                <a:ea typeface="Quattrocento Sans"/>
                <a:cs typeface="Quattrocento Sans"/>
                <a:sym typeface="Quattrocento Sans"/>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87" name="Google Shape;187;p22"/>
          <p:cNvSpPr txBox="1"/>
          <p:nvPr/>
        </p:nvSpPr>
        <p:spPr>
          <a:xfrm>
            <a:off x="442796" y="1196752"/>
            <a:ext cx="8593700" cy="12310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a:p>
            <a:r>
              <a:rPr lang="en-GB" sz="2000" b="1" dirty="0">
                <a:solidFill>
                  <a:srgbClr val="FFFF00"/>
                </a:solidFill>
                <a:latin typeface="Quattrocento Sans"/>
                <a:ea typeface="Quattrocento Sans"/>
                <a:cs typeface="Quattrocento Sans"/>
                <a:sym typeface="Quattrocento Sans"/>
              </a:rPr>
              <a:t>Schedule:</a:t>
            </a:r>
            <a:r>
              <a:rPr lang="en-GB" sz="2000" b="1" dirty="0">
                <a:solidFill>
                  <a:srgbClr val="FFFF00"/>
                </a:solidFill>
                <a:latin typeface="Quattrocento Sans"/>
              </a:rPr>
              <a:t> </a:t>
            </a:r>
            <a:r>
              <a:rPr lang="en-GB" sz="2000" dirty="0">
                <a:solidFill>
                  <a:srgbClr val="FFFF00"/>
                </a:solidFill>
                <a:hlinkClick r:id="rId3"/>
              </a:rPr>
              <a:t>Schedule 3DIMD 2025.docx</a:t>
            </a:r>
            <a:endParaRPr lang="en-GB" sz="2000">
              <a:solidFill>
                <a:srgbClr val="FFFF00"/>
              </a:solidFill>
            </a:endParaRPr>
          </a:p>
          <a:p>
            <a:pPr marL="0" marR="0" lvl="0" indent="0" algn="l" rtl="0">
              <a:spcBef>
                <a:spcPts val="0"/>
              </a:spcBef>
              <a:spcAft>
                <a:spcPts val="0"/>
              </a:spcAft>
              <a:buNone/>
            </a:pPr>
            <a:endParaRPr lang="en-GB" sz="2000" dirty="0">
              <a:solidFill>
                <a:srgbClr val="FFFF00"/>
              </a:solidFill>
              <a:ea typeface="Quattrocento Sans"/>
            </a:endParaRPr>
          </a:p>
          <a:p>
            <a:endParaRPr lang="en-GB" b="1">
              <a:solidFill>
                <a:schemeClr val="dk1"/>
              </a:solidFill>
              <a:latin typeface="Quattrocento Sans"/>
              <a:ea typeface="Quattrocento Sans"/>
              <a:cs typeface="Quattrocen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Padlet with Examples!</a:t>
            </a:r>
            <a:endParaRPr dirty="0"/>
          </a:p>
        </p:txBody>
      </p:sp>
      <p:sp>
        <p:nvSpPr>
          <p:cNvPr id="193" name="Google Shape;193;p24"/>
          <p:cNvSpPr txBox="1"/>
          <p:nvPr/>
        </p:nvSpPr>
        <p:spPr>
          <a:xfrm>
            <a:off x="422950" y="1579349"/>
            <a:ext cx="8263800"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CW Details, Previous CW, Real world examples</a:t>
            </a:r>
            <a:endParaRPr dirty="0"/>
          </a:p>
          <a:p>
            <a:r>
              <a:rPr lang="en-GB" sz="2400" dirty="0">
                <a:solidFill>
                  <a:srgbClr val="FFFF00"/>
                </a:solidFill>
                <a:ea typeface="Quattrocento Sans"/>
                <a:sym typeface="Quattrocento Sans"/>
                <a:hlinkClick r:id="rId3"/>
              </a:rPr>
              <a:t>https://uowdigital.padlet.org/fergusj/3dimd-cw-samples-2025-1f4w3m19lc80m9cf</a:t>
            </a:r>
            <a:r>
              <a:rPr lang="en-GB" sz="2400" dirty="0">
                <a:solidFill>
                  <a:srgbClr val="FFFF00"/>
                </a:solidFill>
                <a:ea typeface="Quattrocento Sans"/>
                <a:sym typeface="Quattrocento Sans"/>
              </a:rPr>
              <a:t> </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5"/>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Quattrocento Sans"/>
              <a:buNone/>
            </a:pPr>
            <a:r>
              <a:rPr lang="en-GB" sz="4000"/>
              <a:t>Mobile Learning – iPads, Devices, Web</a:t>
            </a:r>
            <a:endParaRPr/>
          </a:p>
        </p:txBody>
      </p:sp>
      <p:sp>
        <p:nvSpPr>
          <p:cNvPr id="200" name="Google Shape;200;p25"/>
          <p:cNvSpPr/>
          <p:nvPr/>
        </p:nvSpPr>
        <p:spPr>
          <a:xfrm>
            <a:off x="481560" y="2852936"/>
            <a:ext cx="1296000" cy="1296144"/>
          </a:xfrm>
          <a:prstGeom prst="rect">
            <a:avLst/>
          </a:prstGeom>
          <a:solidFill>
            <a:srgbClr val="F58D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01" name="Google Shape;201;p25"/>
          <p:cNvSpPr/>
          <p:nvPr/>
        </p:nvSpPr>
        <p:spPr>
          <a:xfrm>
            <a:off x="2310719" y="2852936"/>
            <a:ext cx="1296000" cy="129614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02" name="Google Shape;202;p25"/>
          <p:cNvSpPr/>
          <p:nvPr/>
        </p:nvSpPr>
        <p:spPr>
          <a:xfrm>
            <a:off x="4125969" y="285293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03" name="Google Shape;203;p25"/>
          <p:cNvSpPr/>
          <p:nvPr/>
        </p:nvSpPr>
        <p:spPr>
          <a:xfrm>
            <a:off x="769520" y="3140968"/>
            <a:ext cx="720080" cy="720080"/>
          </a:xfrm>
          <a:prstGeom prst="ellipse">
            <a:avLst/>
          </a:prstGeom>
          <a:no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4000" b="1">
                <a:solidFill>
                  <a:schemeClr val="dk1"/>
                </a:solidFill>
                <a:latin typeface="Quattrocento Sans"/>
                <a:ea typeface="Quattrocento Sans"/>
                <a:cs typeface="Quattrocento Sans"/>
                <a:sym typeface="Quattrocento Sans"/>
              </a:rPr>
              <a:t>1</a:t>
            </a:r>
            <a:endParaRPr/>
          </a:p>
        </p:txBody>
      </p:sp>
      <p:sp>
        <p:nvSpPr>
          <p:cNvPr id="204" name="Google Shape;204;p25"/>
          <p:cNvSpPr/>
          <p:nvPr/>
        </p:nvSpPr>
        <p:spPr>
          <a:xfrm>
            <a:off x="2597733" y="3140968"/>
            <a:ext cx="720080" cy="720080"/>
          </a:xfrm>
          <a:prstGeom prst="ellipse">
            <a:avLst/>
          </a:prstGeom>
          <a:no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4000" b="1">
                <a:solidFill>
                  <a:schemeClr val="dk1"/>
                </a:solidFill>
                <a:latin typeface="Quattrocento Sans"/>
                <a:ea typeface="Quattrocento Sans"/>
                <a:cs typeface="Quattrocento Sans"/>
                <a:sym typeface="Quattrocento Sans"/>
              </a:rPr>
              <a:t>2</a:t>
            </a:r>
            <a:endParaRPr/>
          </a:p>
        </p:txBody>
      </p:sp>
      <p:sp>
        <p:nvSpPr>
          <p:cNvPr id="205" name="Google Shape;205;p25"/>
          <p:cNvSpPr/>
          <p:nvPr/>
        </p:nvSpPr>
        <p:spPr>
          <a:xfrm>
            <a:off x="4427984" y="3140968"/>
            <a:ext cx="720080" cy="720080"/>
          </a:xfrm>
          <a:prstGeom prst="ellipse">
            <a:avLst/>
          </a:prstGeom>
          <a:no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4000" b="1">
                <a:solidFill>
                  <a:schemeClr val="dk1"/>
                </a:solidFill>
                <a:latin typeface="Quattrocento Sans"/>
                <a:ea typeface="Quattrocento Sans"/>
                <a:cs typeface="Quattrocento Sans"/>
                <a:sym typeface="Quattrocento Sans"/>
              </a:rPr>
              <a:t>3</a:t>
            </a:r>
            <a:endParaRPr/>
          </a:p>
        </p:txBody>
      </p:sp>
      <p:sp>
        <p:nvSpPr>
          <p:cNvPr id="206" name="Google Shape;206;p25"/>
          <p:cNvSpPr txBox="1"/>
          <p:nvPr/>
        </p:nvSpPr>
        <p:spPr>
          <a:xfrm>
            <a:off x="343675" y="1556800"/>
            <a:ext cx="1614900"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GB" sz="1800" b="1" dirty="0" err="1">
                <a:solidFill>
                  <a:srgbClr val="FFFF00"/>
                </a:solidFill>
                <a:latin typeface="Quattrocento Sans"/>
                <a:ea typeface="Quattrocento Sans"/>
                <a:cs typeface="Quattrocento Sans"/>
                <a:sym typeface="Quattrocento Sans"/>
              </a:rPr>
              <a:t>Powerpoint</a:t>
            </a:r>
            <a:endParaRPr lang="en-GB" sz="1800" b="1">
              <a:solidFill>
                <a:srgbClr val="FFFF00"/>
              </a:solidFill>
              <a:latin typeface="Quattrocento Sans"/>
              <a:ea typeface="Quattrocento Sans"/>
              <a:cs typeface="Quattrocento Sans"/>
            </a:endParaRPr>
          </a:p>
          <a:p>
            <a:pPr algn="ctr"/>
            <a:endParaRPr lang="en-GB" sz="1800" b="1" dirty="0">
              <a:solidFill>
                <a:srgbClr val="FFFF00"/>
              </a:solidFill>
              <a:latin typeface="Quattrocento Sans"/>
              <a:ea typeface="Quattrocento Sans"/>
              <a:cs typeface="Quattrocento Sans"/>
            </a:endParaRPr>
          </a:p>
          <a:p>
            <a:pPr marL="0" marR="0" lvl="0" indent="0" algn="ctr" rtl="0">
              <a:spcBef>
                <a:spcPts val="0"/>
              </a:spcBef>
              <a:spcAft>
                <a:spcPts val="0"/>
              </a:spcAft>
              <a:buNone/>
            </a:pPr>
            <a:r>
              <a:rPr lang="en-GB" sz="1800" dirty="0">
                <a:solidFill>
                  <a:schemeClr val="dk1"/>
                </a:solidFill>
                <a:latin typeface="Quattrocento Sans"/>
                <a:ea typeface="Quattrocento Sans"/>
                <a:cs typeface="Quattrocento Sans"/>
                <a:sym typeface="Quattrocento Sans"/>
              </a:rPr>
              <a:t>Lectures</a:t>
            </a:r>
            <a:endParaRPr>
              <a:solidFill>
                <a:schemeClr val="dk1"/>
              </a:solidFill>
            </a:endParaRPr>
          </a:p>
        </p:txBody>
      </p:sp>
      <p:sp>
        <p:nvSpPr>
          <p:cNvPr id="207" name="Google Shape;207;p25"/>
          <p:cNvSpPr txBox="1"/>
          <p:nvPr/>
        </p:nvSpPr>
        <p:spPr>
          <a:xfrm>
            <a:off x="3838175" y="1844825"/>
            <a:ext cx="1886100" cy="923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dirty="0">
                <a:solidFill>
                  <a:srgbClr val="FFFF00"/>
                </a:solidFill>
                <a:latin typeface="Quattrocento Sans"/>
                <a:ea typeface="Quattrocento Sans"/>
                <a:cs typeface="Quattrocento Sans"/>
              </a:rPr>
              <a:t>Padlet,</a:t>
            </a:r>
            <a:endParaRPr lang="en-US" sz="1800" b="1">
              <a:solidFill>
                <a:srgbClr val="FFFF00"/>
              </a:solidFill>
              <a:latin typeface="Quattrocento Sans"/>
              <a:ea typeface="Quattrocento Sans"/>
              <a:cs typeface="Quattrocento Sans"/>
            </a:endParaRPr>
          </a:p>
          <a:p>
            <a:pPr algn="ctr"/>
            <a:r>
              <a:rPr lang="en-US" sz="1800" b="1" dirty="0">
                <a:solidFill>
                  <a:srgbClr val="FFFF00"/>
                </a:solidFill>
                <a:latin typeface="Quattrocento Sans"/>
                <a:ea typeface="Quattrocento Sans"/>
                <a:cs typeface="Quattrocento Sans"/>
              </a:rPr>
              <a:t>Excel Sheets</a:t>
            </a:r>
            <a:endParaRPr sz="1800" b="1" dirty="0">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GB" sz="1800" dirty="0">
                <a:solidFill>
                  <a:schemeClr val="dk1"/>
                </a:solidFill>
                <a:latin typeface="Quattrocento Sans"/>
                <a:ea typeface="Quattrocento Sans"/>
                <a:cs typeface="Quattrocento Sans"/>
                <a:sym typeface="Quattrocento Sans"/>
              </a:rPr>
              <a:t>Group Work</a:t>
            </a:r>
            <a:endParaRPr dirty="0">
              <a:solidFill>
                <a:schemeClr val="dk1"/>
              </a:solidFill>
            </a:endParaRPr>
          </a:p>
        </p:txBody>
      </p:sp>
      <p:sp>
        <p:nvSpPr>
          <p:cNvPr id="208" name="Google Shape;208;p25"/>
          <p:cNvSpPr txBox="1"/>
          <p:nvPr/>
        </p:nvSpPr>
        <p:spPr>
          <a:xfrm>
            <a:off x="2132950" y="1844825"/>
            <a:ext cx="1779000" cy="923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dirty="0">
                <a:solidFill>
                  <a:srgbClr val="FFFF00"/>
                </a:solidFill>
                <a:latin typeface="Quattrocento Sans"/>
                <a:ea typeface="Quattrocento Sans"/>
                <a:cs typeface="Quattrocento Sans"/>
                <a:sym typeface="Quattrocento Sans"/>
              </a:rPr>
              <a:t>BB </a:t>
            </a:r>
            <a:r>
              <a:rPr lang="en-GB" sz="1800" b="1" dirty="0" err="1">
                <a:solidFill>
                  <a:srgbClr val="FFFF00"/>
                </a:solidFill>
                <a:latin typeface="Quattrocento Sans"/>
                <a:ea typeface="Quattrocento Sans"/>
                <a:cs typeface="Quattrocento Sans"/>
                <a:sym typeface="Quattrocento Sans"/>
              </a:rPr>
              <a:t>Panpoto</a:t>
            </a:r>
            <a:endParaRPr sz="1800" b="1" dirty="0" err="1">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US" sz="1800" b="1" dirty="0">
                <a:solidFill>
                  <a:srgbClr val="FFFF00"/>
                </a:solidFill>
                <a:latin typeface="Quattrocento Sans"/>
                <a:ea typeface="Quattrocento Sans"/>
                <a:cs typeface="Quattrocento Sans"/>
              </a:rPr>
              <a:t>Video</a:t>
            </a:r>
            <a:endParaRPr sz="1800">
              <a:solidFill>
                <a:srgbClr val="FFFFFF"/>
              </a:solidFill>
              <a:latin typeface="Quattrocento Sans"/>
              <a:ea typeface="Quattrocento Sans"/>
              <a:cs typeface="Quattrocento Sans"/>
            </a:endParaRPr>
          </a:p>
          <a:p>
            <a:pPr marL="0" marR="0" lvl="0" indent="0" algn="ctr" rtl="0">
              <a:spcBef>
                <a:spcPts val="0"/>
              </a:spcBef>
              <a:spcAft>
                <a:spcPts val="0"/>
              </a:spcAft>
              <a:buNone/>
            </a:pPr>
            <a:r>
              <a:rPr lang="en-GB" sz="1800" dirty="0">
                <a:solidFill>
                  <a:schemeClr val="dk1"/>
                </a:solidFill>
                <a:latin typeface="Quattrocento Sans"/>
                <a:ea typeface="Quattrocento Sans"/>
                <a:cs typeface="Quattrocento Sans"/>
                <a:sym typeface="Quattrocento Sans"/>
              </a:rPr>
              <a:t>Lectures</a:t>
            </a:r>
            <a:endParaRPr dirty="0">
              <a:solidFill>
                <a:schemeClr val="dk1"/>
              </a:solidFill>
            </a:endParaRPr>
          </a:p>
        </p:txBody>
      </p:sp>
      <p:sp>
        <p:nvSpPr>
          <p:cNvPr id="209" name="Google Shape;209;p25"/>
          <p:cNvSpPr txBox="1"/>
          <p:nvPr/>
        </p:nvSpPr>
        <p:spPr>
          <a:xfrm>
            <a:off x="5711600" y="1806881"/>
            <a:ext cx="3275856" cy="23082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dirty="0">
                <a:solidFill>
                  <a:srgbClr val="FFFF00"/>
                </a:solidFill>
                <a:latin typeface="Quattrocento Sans"/>
                <a:ea typeface="Quattrocento Sans"/>
                <a:cs typeface="Quattrocento Sans"/>
                <a:sym typeface="Quattrocento Sans"/>
              </a:rPr>
              <a:t>Always Use University </a:t>
            </a:r>
            <a:endParaRPr/>
          </a:p>
          <a:p>
            <a:pPr marL="0" marR="0" lvl="0" indent="0" algn="ctr" rtl="0">
              <a:spcBef>
                <a:spcPts val="0"/>
              </a:spcBef>
              <a:spcAft>
                <a:spcPts val="0"/>
              </a:spcAft>
              <a:buNone/>
            </a:pPr>
            <a:r>
              <a:rPr lang="en-GB" sz="1800" b="1" dirty="0">
                <a:solidFill>
                  <a:srgbClr val="FFFF00"/>
                </a:solidFill>
                <a:latin typeface="Quattrocento Sans"/>
                <a:ea typeface="Quattrocento Sans"/>
                <a:cs typeface="Quattrocento Sans"/>
                <a:sym typeface="Quattrocento Sans"/>
              </a:rPr>
              <a:t>Email Accounts for access,</a:t>
            </a:r>
            <a:endParaRPr/>
          </a:p>
          <a:p>
            <a:pPr marL="0" marR="0" lvl="0" indent="0" algn="ctr"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algn="ctr"/>
            <a:r>
              <a:rPr lang="en-GB" sz="1800" b="1" dirty="0">
                <a:solidFill>
                  <a:srgbClr val="FFFF00"/>
                </a:solidFill>
                <a:latin typeface="Quattrocento Sans"/>
                <a:ea typeface="Quattrocento Sans"/>
                <a:cs typeface="Quattrocento Sans"/>
                <a:sym typeface="Quattrocento Sans"/>
              </a:rPr>
              <a:t>If denied access on learning documents or platforms, this is likely the cause, try switching web browser logins to Uni email.</a:t>
            </a:r>
            <a:endParaRPr dirty="0"/>
          </a:p>
        </p:txBody>
      </p:sp>
      <p:sp>
        <p:nvSpPr>
          <p:cNvPr id="210" name="Google Shape;210;p25"/>
          <p:cNvSpPr txBox="1"/>
          <p:nvPr/>
        </p:nvSpPr>
        <p:spPr>
          <a:xfrm>
            <a:off x="343538" y="4183360"/>
            <a:ext cx="1614929" cy="18158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b="1" dirty="0">
                <a:solidFill>
                  <a:srgbClr val="FFFF00"/>
                </a:solidFill>
                <a:latin typeface="Quattrocento Sans"/>
                <a:ea typeface="Quattrocento Sans"/>
                <a:cs typeface="Quattrocento Sans"/>
                <a:sym typeface="Quattrocento Sans"/>
              </a:rPr>
              <a:t>On Blackboard</a:t>
            </a:r>
            <a:endParaRPr dirty="0"/>
          </a:p>
          <a:p>
            <a:pPr marL="0" marR="0" lvl="0" indent="0" algn="ctr" rtl="0">
              <a:spcBef>
                <a:spcPts val="0"/>
              </a:spcBef>
              <a:spcAft>
                <a:spcPts val="0"/>
              </a:spcAft>
              <a:buNone/>
            </a:pPr>
            <a:r>
              <a:rPr lang="en-GB" sz="1600" b="1" dirty="0">
                <a:solidFill>
                  <a:srgbClr val="FFFF00"/>
                </a:solidFill>
                <a:latin typeface="Quattrocento Sans"/>
                <a:ea typeface="Quattrocento Sans"/>
                <a:cs typeface="Quattrocento Sans"/>
                <a:sym typeface="Quattrocento Sans"/>
              </a:rPr>
              <a:t>Ultra</a:t>
            </a:r>
            <a:endParaRPr dirty="0"/>
          </a:p>
          <a:p>
            <a:pPr marL="0" marR="0" lvl="0" indent="0" algn="ctr"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GB" sz="1600" dirty="0">
                <a:solidFill>
                  <a:schemeClr val="dk1"/>
                </a:solidFill>
                <a:latin typeface="Quattrocento Sans"/>
                <a:ea typeface="Quattrocento Sans"/>
                <a:cs typeface="Quattrocento Sans"/>
                <a:sym typeface="Quattrocento Sans"/>
              </a:rPr>
              <a:t>University Outlook</a:t>
            </a:r>
            <a:endParaRPr dirty="0"/>
          </a:p>
          <a:p>
            <a:pPr marL="0" marR="0" lvl="0" indent="0" algn="ctr" rtl="0">
              <a:spcBef>
                <a:spcPts val="0"/>
              </a:spcBef>
              <a:spcAft>
                <a:spcPts val="0"/>
              </a:spcAft>
              <a:buNone/>
            </a:pPr>
            <a:r>
              <a:rPr lang="en-GB" sz="1600" dirty="0">
                <a:solidFill>
                  <a:schemeClr val="dk1"/>
                </a:solidFill>
                <a:latin typeface="Quattrocento Sans"/>
                <a:ea typeface="Quattrocento Sans"/>
                <a:cs typeface="Quattrocento Sans"/>
                <a:sym typeface="Quattrocento Sans"/>
              </a:rPr>
              <a:t>Account Login</a:t>
            </a:r>
            <a:endParaRPr dirty="0">
              <a:solidFill>
                <a:schemeClr val="dk1"/>
              </a:solidFill>
            </a:endParaRPr>
          </a:p>
        </p:txBody>
      </p:sp>
      <p:sp>
        <p:nvSpPr>
          <p:cNvPr id="211" name="Google Shape;211;p25"/>
          <p:cNvSpPr txBox="1"/>
          <p:nvPr/>
        </p:nvSpPr>
        <p:spPr>
          <a:xfrm>
            <a:off x="2172163" y="4174320"/>
            <a:ext cx="1614929" cy="20620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b="1" dirty="0">
                <a:solidFill>
                  <a:srgbClr val="FFFF00"/>
                </a:solidFill>
                <a:latin typeface="Quattrocento Sans"/>
                <a:ea typeface="Quattrocento Sans"/>
                <a:cs typeface="Quattrocento Sans"/>
                <a:sym typeface="Quattrocento Sans"/>
              </a:rPr>
              <a:t>On Blackboard</a:t>
            </a:r>
            <a:endParaRPr dirty="0"/>
          </a:p>
          <a:p>
            <a:pPr marL="0" marR="0" lvl="0" indent="0" algn="ctr" rtl="0">
              <a:spcBef>
                <a:spcPts val="0"/>
              </a:spcBef>
              <a:spcAft>
                <a:spcPts val="0"/>
              </a:spcAft>
              <a:buNone/>
            </a:pPr>
            <a:r>
              <a:rPr lang="en-GB" sz="1600" b="1" dirty="0">
                <a:solidFill>
                  <a:srgbClr val="FFFF00"/>
                </a:solidFill>
                <a:latin typeface="Quattrocento Sans"/>
                <a:ea typeface="Quattrocento Sans"/>
                <a:cs typeface="Quattrocento Sans"/>
                <a:sym typeface="Quattrocento Sans"/>
              </a:rPr>
              <a:t>Ultra</a:t>
            </a:r>
            <a:endParaRPr dirty="0"/>
          </a:p>
          <a:p>
            <a:pPr marL="0" marR="0" lvl="0" indent="0" algn="ctr" rtl="0">
              <a:spcBef>
                <a:spcPts val="0"/>
              </a:spcBef>
              <a:spcAft>
                <a:spcPts val="0"/>
              </a:spcAft>
              <a:buNone/>
            </a:pPr>
            <a:endParaRPr lang="en-GB" sz="1600" b="1" dirty="0">
              <a:solidFill>
                <a:srgbClr val="FFFF00"/>
              </a:solidFill>
              <a:latin typeface="Quattrocento Sans"/>
            </a:endParaRPr>
          </a:p>
          <a:p>
            <a:pPr marL="0" marR="0" lvl="0" indent="0" algn="ctr"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GB" sz="1600" dirty="0">
                <a:solidFill>
                  <a:schemeClr val="dk1"/>
                </a:solidFill>
                <a:latin typeface="Quattrocento Sans"/>
                <a:ea typeface="Quattrocento Sans"/>
                <a:cs typeface="Quattrocento Sans"/>
                <a:sym typeface="Quattrocento Sans"/>
              </a:rPr>
              <a:t>University Outlook</a:t>
            </a:r>
            <a:endParaRPr dirty="0"/>
          </a:p>
          <a:p>
            <a:pPr marL="0" marR="0" lvl="0" indent="0" algn="ctr" rtl="0">
              <a:spcBef>
                <a:spcPts val="0"/>
              </a:spcBef>
              <a:spcAft>
                <a:spcPts val="0"/>
              </a:spcAft>
              <a:buNone/>
            </a:pPr>
            <a:r>
              <a:rPr lang="en-GB" sz="1600" dirty="0">
                <a:solidFill>
                  <a:schemeClr val="dk1"/>
                </a:solidFill>
                <a:latin typeface="Quattrocento Sans"/>
                <a:ea typeface="Quattrocento Sans"/>
                <a:cs typeface="Quattrocento Sans"/>
                <a:sym typeface="Quattrocento Sans"/>
              </a:rPr>
              <a:t>Account Login</a:t>
            </a:r>
            <a:endParaRPr dirty="0">
              <a:solidFill>
                <a:schemeClr val="dk1"/>
              </a:solidFill>
            </a:endParaRPr>
          </a:p>
          <a:p>
            <a:pPr marL="0" marR="0" lvl="0" indent="0" algn="ctr" rtl="0">
              <a:spcBef>
                <a:spcPts val="0"/>
              </a:spcBef>
              <a:spcAft>
                <a:spcPts val="0"/>
              </a:spcAft>
              <a:buNone/>
            </a:pPr>
            <a:endParaRPr sz="1600">
              <a:solidFill>
                <a:schemeClr val="dk1"/>
              </a:solidFill>
              <a:latin typeface="Quattrocento Sans"/>
              <a:ea typeface="Quattrocento Sans"/>
              <a:cs typeface="Quattrocento Sans"/>
              <a:sym typeface="Quattrocento Sans"/>
            </a:endParaRPr>
          </a:p>
        </p:txBody>
      </p:sp>
      <p:sp>
        <p:nvSpPr>
          <p:cNvPr id="212" name="Google Shape;212;p25"/>
          <p:cNvSpPr txBox="1"/>
          <p:nvPr/>
        </p:nvSpPr>
        <p:spPr>
          <a:xfrm>
            <a:off x="3837972" y="4170566"/>
            <a:ext cx="1886157" cy="35393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b="1" dirty="0">
                <a:solidFill>
                  <a:srgbClr val="FFFF00"/>
                </a:solidFill>
                <a:latin typeface="Quattrocento Sans"/>
                <a:ea typeface="Quattrocento Sans"/>
                <a:cs typeface="Quattrocento Sans"/>
                <a:sym typeface="Quattrocento Sans"/>
              </a:rPr>
              <a:t>On Blackboard</a:t>
            </a:r>
            <a:endParaRPr dirty="0"/>
          </a:p>
          <a:p>
            <a:pPr algn="ctr"/>
            <a:r>
              <a:rPr lang="en-GB" sz="1600" b="1" dirty="0">
                <a:solidFill>
                  <a:srgbClr val="FFFF00"/>
                </a:solidFill>
                <a:latin typeface="Quattrocento Sans"/>
                <a:ea typeface="Quattrocento Sans"/>
                <a:cs typeface="Quattrocento Sans"/>
                <a:sym typeface="Quattrocento Sans"/>
              </a:rPr>
              <a:t>Ultra: </a:t>
            </a:r>
            <a:endParaRPr/>
          </a:p>
          <a:p>
            <a:pPr algn="ctr"/>
            <a:r>
              <a:rPr lang="en-GB" sz="1600" b="1" dirty="0">
                <a:solidFill>
                  <a:srgbClr val="FFFF00"/>
                </a:solidFill>
                <a:latin typeface="Quattrocento Sans"/>
                <a:ea typeface="Quattrocento Sans"/>
                <a:cs typeface="Quattrocento Sans"/>
                <a:sym typeface="Quattrocento Sans"/>
              </a:rPr>
              <a:t>Discussion, </a:t>
            </a:r>
            <a:r>
              <a:rPr lang="en-GB" sz="1600" b="1" dirty="0" err="1">
                <a:solidFill>
                  <a:srgbClr val="FFFF00"/>
                </a:solidFill>
                <a:latin typeface="Quattrocento Sans"/>
                <a:ea typeface="Quattrocento Sans"/>
                <a:cs typeface="Quattrocento Sans"/>
                <a:sym typeface="Quattrocento Sans"/>
              </a:rPr>
              <a:t>Padlets</a:t>
            </a:r>
            <a:r>
              <a:rPr lang="en-GB" sz="1600" b="1" dirty="0">
                <a:solidFill>
                  <a:srgbClr val="FFFF00"/>
                </a:solidFill>
                <a:latin typeface="Quattrocento Sans"/>
                <a:ea typeface="Quattrocento Sans"/>
                <a:cs typeface="Quattrocento Sans"/>
                <a:sym typeface="Quattrocento Sans"/>
              </a:rPr>
              <a:t>, Discord</a:t>
            </a:r>
            <a:endParaRPr sz="1600" dirty="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algn="ctr"/>
            <a:r>
              <a:rPr lang="en-GB" sz="1600" dirty="0">
                <a:solidFill>
                  <a:schemeClr val="dk1"/>
                </a:solidFill>
                <a:latin typeface="Quattrocento Sans"/>
                <a:ea typeface="Quattrocento Sans"/>
                <a:cs typeface="Quattrocento Sans"/>
                <a:sym typeface="Quattrocento Sans"/>
              </a:rPr>
              <a:t>University MS </a:t>
            </a:r>
            <a:endParaRPr dirty="0">
              <a:solidFill>
                <a:schemeClr val="dk1"/>
              </a:solidFill>
            </a:endParaRPr>
          </a:p>
          <a:p>
            <a:pPr marL="0" marR="0" lvl="0" indent="0" algn="ctr" rtl="0">
              <a:spcBef>
                <a:spcPts val="0"/>
              </a:spcBef>
              <a:spcAft>
                <a:spcPts val="0"/>
              </a:spcAft>
              <a:buNone/>
            </a:pPr>
            <a:r>
              <a:rPr lang="en-GB" sz="1600" dirty="0">
                <a:solidFill>
                  <a:schemeClr val="dk1"/>
                </a:solidFill>
                <a:latin typeface="Quattrocento Sans"/>
                <a:ea typeface="Quattrocento Sans"/>
                <a:cs typeface="Quattrocento Sans"/>
                <a:sym typeface="Quattrocento Sans"/>
              </a:rPr>
              <a:t>Account Login</a:t>
            </a:r>
            <a:endParaRPr dirty="0">
              <a:solidFill>
                <a:schemeClr val="dk1"/>
              </a:solidFill>
            </a:endParaRPr>
          </a:p>
          <a:p>
            <a:pPr marL="0" marR="0" lvl="0" indent="0" algn="ctr" rtl="0">
              <a:spcBef>
                <a:spcPts val="0"/>
              </a:spcBef>
              <a:spcAft>
                <a:spcPts val="0"/>
              </a:spcAft>
              <a:buNone/>
            </a:pPr>
            <a:r>
              <a:rPr lang="en-GB" sz="1600" dirty="0">
                <a:solidFill>
                  <a:schemeClr val="dk1"/>
                </a:solidFill>
                <a:latin typeface="Quattrocento Sans"/>
                <a:ea typeface="Quattrocento Sans"/>
                <a:cs typeface="Quattrocento Sans"/>
                <a:sym typeface="Quattrocento Sans"/>
              </a:rPr>
              <a:t>Group Work</a:t>
            </a:r>
            <a:endParaRPr dirty="0">
              <a:solidFill>
                <a:schemeClr val="dk1"/>
              </a:solidFill>
            </a:endParaRPr>
          </a:p>
          <a:p>
            <a:pPr marL="0" marR="0" lvl="0" indent="0" algn="ctr" rtl="0">
              <a:spcBef>
                <a:spcPts val="0"/>
              </a:spcBef>
              <a:spcAft>
                <a:spcPts val="0"/>
              </a:spcAft>
              <a:buNone/>
            </a:pPr>
            <a:r>
              <a:rPr lang="en-GB" sz="1600" dirty="0">
                <a:solidFill>
                  <a:schemeClr val="dk1"/>
                </a:solidFill>
                <a:latin typeface="Quattrocento Sans"/>
                <a:ea typeface="Quattrocento Sans"/>
                <a:cs typeface="Quattrocento Sans"/>
                <a:sym typeface="Quattrocento Sans"/>
              </a:rPr>
              <a:t>Video Presentations</a:t>
            </a:r>
            <a:endParaRPr dirty="0">
              <a:solidFill>
                <a:schemeClr val="dk1"/>
              </a:solidFill>
            </a:endParaRPr>
          </a:p>
          <a:p>
            <a:pPr marL="0" marR="0" lvl="0" indent="0" algn="ctr" rtl="0">
              <a:spcBef>
                <a:spcPts val="0"/>
              </a:spcBef>
              <a:spcAft>
                <a:spcPts val="0"/>
              </a:spcAft>
              <a:buNone/>
            </a:pPr>
            <a:r>
              <a:rPr lang="en-GB" sz="1600" dirty="0">
                <a:solidFill>
                  <a:schemeClr val="dk1"/>
                </a:solidFill>
                <a:latin typeface="Quattrocento Sans"/>
                <a:ea typeface="Quattrocento Sans"/>
                <a:cs typeface="Quattrocento Sans"/>
                <a:sym typeface="Quattrocento Sans"/>
              </a:rPr>
              <a:t>Peer Review</a:t>
            </a:r>
            <a:endParaRPr dirty="0">
              <a:solidFill>
                <a:schemeClr val="dk1"/>
              </a:solidFill>
            </a:endParaRPr>
          </a:p>
          <a:p>
            <a:pPr marL="0" marR="0" lvl="0" indent="0" algn="ctr"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6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Quattrocento Sans"/>
              <a:buNone/>
            </a:pPr>
            <a:r>
              <a:rPr lang="en-GB"/>
              <a:t>Further Reading List and Reference</a:t>
            </a:r>
            <a:endParaRPr/>
          </a:p>
        </p:txBody>
      </p:sp>
      <p:sp>
        <p:nvSpPr>
          <p:cNvPr id="219" name="Google Shape;219;p26"/>
          <p:cNvSpPr/>
          <p:nvPr/>
        </p:nvSpPr>
        <p:spPr>
          <a:xfrm>
            <a:off x="481560" y="2041368"/>
            <a:ext cx="1296000" cy="1296144"/>
          </a:xfrm>
          <a:prstGeom prst="rect">
            <a:avLst/>
          </a:prstGeom>
          <a:solidFill>
            <a:srgbClr val="F58D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20" name="Google Shape;220;p26"/>
          <p:cNvSpPr/>
          <p:nvPr/>
        </p:nvSpPr>
        <p:spPr>
          <a:xfrm>
            <a:off x="481560" y="3573016"/>
            <a:ext cx="1296000" cy="129614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21" name="Google Shape;221;p26"/>
          <p:cNvSpPr/>
          <p:nvPr/>
        </p:nvSpPr>
        <p:spPr>
          <a:xfrm>
            <a:off x="4725587" y="2041368"/>
            <a:ext cx="1296000" cy="1296000"/>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22" name="Google Shape;222;p26"/>
          <p:cNvSpPr/>
          <p:nvPr/>
        </p:nvSpPr>
        <p:spPr>
          <a:xfrm>
            <a:off x="4725587" y="3573016"/>
            <a:ext cx="1296000" cy="1296144"/>
          </a:xfrm>
          <a:prstGeom prst="rect">
            <a:avLst/>
          </a:prstGeom>
          <a:solidFill>
            <a:srgbClr val="4645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23" name="Google Shape;223;p26"/>
          <p:cNvSpPr/>
          <p:nvPr/>
        </p:nvSpPr>
        <p:spPr>
          <a:xfrm>
            <a:off x="1779134" y="2041368"/>
            <a:ext cx="2664296" cy="1296000"/>
          </a:xfrm>
          <a:prstGeom prst="rect">
            <a:avLst/>
          </a:prstGeom>
          <a:solidFill>
            <a:srgbClr val="F58D0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3DUI</a:t>
            </a:r>
            <a:endParaRPr/>
          </a:p>
        </p:txBody>
      </p:sp>
      <p:sp>
        <p:nvSpPr>
          <p:cNvPr id="224" name="Google Shape;224;p26"/>
          <p:cNvSpPr/>
          <p:nvPr/>
        </p:nvSpPr>
        <p:spPr>
          <a:xfrm>
            <a:off x="6022504" y="2041368"/>
            <a:ext cx="2664296" cy="1296000"/>
          </a:xfrm>
          <a:prstGeom prst="rect">
            <a:avLst/>
          </a:prstGeom>
          <a:solidFill>
            <a:srgbClr val="009F3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3DUI Research</a:t>
            </a:r>
            <a:endParaRPr/>
          </a:p>
        </p:txBody>
      </p:sp>
      <p:sp>
        <p:nvSpPr>
          <p:cNvPr id="225" name="Google Shape;225;p26"/>
          <p:cNvSpPr/>
          <p:nvPr/>
        </p:nvSpPr>
        <p:spPr>
          <a:xfrm>
            <a:off x="1777560" y="3573016"/>
            <a:ext cx="2664296" cy="12960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3DSMax</a:t>
            </a:r>
            <a:endParaRPr/>
          </a:p>
        </p:txBody>
      </p:sp>
      <p:sp>
        <p:nvSpPr>
          <p:cNvPr id="226" name="Google Shape;226;p26"/>
          <p:cNvSpPr/>
          <p:nvPr/>
        </p:nvSpPr>
        <p:spPr>
          <a:xfrm>
            <a:off x="6022504" y="3573016"/>
            <a:ext cx="2664296" cy="1296000"/>
          </a:xfrm>
          <a:prstGeom prst="rect">
            <a:avLst/>
          </a:prstGeom>
          <a:solidFill>
            <a:srgbClr val="4645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Unity3D</a:t>
            </a:r>
            <a:endParaRPr/>
          </a:p>
        </p:txBody>
      </p:sp>
      <p:sp>
        <p:nvSpPr>
          <p:cNvPr id="227" name="Google Shape;227;p26"/>
          <p:cNvSpPr/>
          <p:nvPr/>
        </p:nvSpPr>
        <p:spPr>
          <a:xfrm>
            <a:off x="2555776" y="5085184"/>
            <a:ext cx="1296000" cy="1296144"/>
          </a:xfrm>
          <a:prstGeom prst="rect">
            <a:avLst/>
          </a:prstGeom>
          <a:solidFill>
            <a:srgbClr val="4645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28" name="Google Shape;228;p26"/>
          <p:cNvSpPr/>
          <p:nvPr/>
        </p:nvSpPr>
        <p:spPr>
          <a:xfrm>
            <a:off x="3852693" y="5085184"/>
            <a:ext cx="2664296" cy="1296000"/>
          </a:xfrm>
          <a:prstGeom prst="rect">
            <a:avLst/>
          </a:prstGeom>
          <a:solidFill>
            <a:srgbClr val="4645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C#</a:t>
            </a:r>
            <a:endParaRPr/>
          </a:p>
        </p:txBody>
      </p:sp>
      <p:pic>
        <p:nvPicPr>
          <p:cNvPr id="229" name="Google Shape;229;p26"/>
          <p:cNvPicPr preferRelativeResize="0"/>
          <p:nvPr/>
        </p:nvPicPr>
        <p:blipFill rotWithShape="1">
          <a:blip r:embed="rId3">
            <a:alphaModFix/>
          </a:blip>
          <a:srcRect/>
          <a:stretch/>
        </p:blipFill>
        <p:spPr>
          <a:xfrm>
            <a:off x="4752663" y="3599319"/>
            <a:ext cx="1269841" cy="1269841"/>
          </a:xfrm>
          <a:prstGeom prst="rect">
            <a:avLst/>
          </a:prstGeom>
          <a:noFill/>
          <a:ln>
            <a:noFill/>
          </a:ln>
        </p:spPr>
      </p:pic>
      <p:pic>
        <p:nvPicPr>
          <p:cNvPr id="230" name="Google Shape;230;p26"/>
          <p:cNvPicPr preferRelativeResize="0"/>
          <p:nvPr/>
        </p:nvPicPr>
        <p:blipFill rotWithShape="1">
          <a:blip r:embed="rId4">
            <a:alphaModFix/>
          </a:blip>
          <a:srcRect/>
          <a:stretch/>
        </p:blipFill>
        <p:spPr>
          <a:xfrm>
            <a:off x="2627784" y="5071426"/>
            <a:ext cx="1309758" cy="1309758"/>
          </a:xfrm>
          <a:prstGeom prst="rect">
            <a:avLst/>
          </a:prstGeom>
          <a:noFill/>
          <a:ln>
            <a:noFill/>
          </a:ln>
        </p:spPr>
      </p:pic>
      <p:pic>
        <p:nvPicPr>
          <p:cNvPr id="231" name="Google Shape;231;p26"/>
          <p:cNvPicPr preferRelativeResize="0"/>
          <p:nvPr/>
        </p:nvPicPr>
        <p:blipFill rotWithShape="1">
          <a:blip r:embed="rId5">
            <a:alphaModFix/>
          </a:blip>
          <a:srcRect/>
          <a:stretch/>
        </p:blipFill>
        <p:spPr>
          <a:xfrm>
            <a:off x="535560" y="3627016"/>
            <a:ext cx="1188000" cy="1188000"/>
          </a:xfrm>
          <a:prstGeom prst="rect">
            <a:avLst/>
          </a:prstGeom>
          <a:noFill/>
          <a:ln>
            <a:noFill/>
          </a:ln>
        </p:spPr>
      </p:pic>
      <p:pic>
        <p:nvPicPr>
          <p:cNvPr id="232" name="Google Shape;232;p26"/>
          <p:cNvPicPr preferRelativeResize="0"/>
          <p:nvPr/>
        </p:nvPicPr>
        <p:blipFill rotWithShape="1">
          <a:blip r:embed="rId6">
            <a:alphaModFix/>
          </a:blip>
          <a:srcRect l="-2" r="68014"/>
          <a:stretch/>
        </p:blipFill>
        <p:spPr>
          <a:xfrm>
            <a:off x="4883703" y="2074565"/>
            <a:ext cx="1188720" cy="1368354"/>
          </a:xfrm>
          <a:prstGeom prst="rect">
            <a:avLst/>
          </a:prstGeom>
          <a:noFill/>
          <a:ln>
            <a:noFill/>
          </a:ln>
        </p:spPr>
      </p:pic>
      <p:pic>
        <p:nvPicPr>
          <p:cNvPr id="233" name="Google Shape;233;p26"/>
          <p:cNvPicPr preferRelativeResize="0"/>
          <p:nvPr/>
        </p:nvPicPr>
        <p:blipFill rotWithShape="1">
          <a:blip r:embed="rId6">
            <a:alphaModFix/>
          </a:blip>
          <a:srcRect l="-2" r="68014"/>
          <a:stretch/>
        </p:blipFill>
        <p:spPr>
          <a:xfrm>
            <a:off x="646976" y="2074565"/>
            <a:ext cx="1188720" cy="136835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Quattrocento Sans"/>
              <a:buNone/>
            </a:pPr>
            <a:r>
              <a:rPr lang="en-GB"/>
              <a:t>Further Reading List and Reference</a:t>
            </a:r>
            <a:endParaRPr/>
          </a:p>
        </p:txBody>
      </p:sp>
      <p:sp>
        <p:nvSpPr>
          <p:cNvPr id="240" name="Google Shape;240;p27"/>
          <p:cNvSpPr/>
          <p:nvPr/>
        </p:nvSpPr>
        <p:spPr>
          <a:xfrm>
            <a:off x="481560" y="2041368"/>
            <a:ext cx="1296000" cy="1296144"/>
          </a:xfrm>
          <a:prstGeom prst="rect">
            <a:avLst/>
          </a:prstGeom>
          <a:solidFill>
            <a:srgbClr val="F58D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41" name="Google Shape;241;p27"/>
          <p:cNvSpPr/>
          <p:nvPr/>
        </p:nvSpPr>
        <p:spPr>
          <a:xfrm>
            <a:off x="1779125" y="2041375"/>
            <a:ext cx="2972100" cy="1296000"/>
          </a:xfrm>
          <a:prstGeom prst="rect">
            <a:avLst/>
          </a:prstGeom>
          <a:solidFill>
            <a:srgbClr val="F58D0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3DUI</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3DUI:Theory and Practice</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eBook in Library</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Reading List in BB</a:t>
            </a:r>
            <a:endParaRPr/>
          </a:p>
        </p:txBody>
      </p:sp>
      <p:pic>
        <p:nvPicPr>
          <p:cNvPr id="242" name="Google Shape;242;p27"/>
          <p:cNvPicPr preferRelativeResize="0"/>
          <p:nvPr/>
        </p:nvPicPr>
        <p:blipFill rotWithShape="1">
          <a:blip r:embed="rId3">
            <a:alphaModFix/>
          </a:blip>
          <a:srcRect l="-2" r="68014"/>
          <a:stretch/>
        </p:blipFill>
        <p:spPr>
          <a:xfrm>
            <a:off x="646976" y="2074565"/>
            <a:ext cx="1188720" cy="1368354"/>
          </a:xfrm>
          <a:prstGeom prst="rect">
            <a:avLst/>
          </a:prstGeom>
          <a:noFill/>
          <a:ln>
            <a:noFill/>
          </a:ln>
        </p:spPr>
      </p:pic>
      <p:sp>
        <p:nvSpPr>
          <p:cNvPr id="243" name="Google Shape;243;p27"/>
          <p:cNvSpPr/>
          <p:nvPr/>
        </p:nvSpPr>
        <p:spPr>
          <a:xfrm>
            <a:off x="7308304" y="2780928"/>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44" name="Google Shape;244;p27"/>
          <p:cNvSpPr/>
          <p:nvPr/>
        </p:nvSpPr>
        <p:spPr>
          <a:xfrm>
            <a:off x="7526645" y="299934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45" name="Google Shape;245;p27"/>
          <p:cNvSpPr txBox="1"/>
          <p:nvPr/>
        </p:nvSpPr>
        <p:spPr>
          <a:xfrm>
            <a:off x="503799" y="3717032"/>
            <a:ext cx="5071388"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rgbClr val="FFFF00"/>
                </a:solidFill>
                <a:latin typeface="Calibri"/>
                <a:ea typeface="Calibri"/>
                <a:cs typeface="Calibri"/>
                <a:sym typeface="Calibri"/>
              </a:rPr>
              <a:t>THIS IS THE KEY TEXT, YOU SHOULD ALL READ THIS:</a:t>
            </a:r>
            <a:br>
              <a:rPr lang="en-GB" sz="1800" b="1">
                <a:solidFill>
                  <a:srgbClr val="FFFF00"/>
                </a:solidFill>
                <a:latin typeface="Calibri"/>
                <a:ea typeface="Calibri"/>
                <a:cs typeface="Calibri"/>
                <a:sym typeface="Calibri"/>
              </a:rPr>
            </a:br>
            <a:r>
              <a:rPr lang="en-GB" sz="1800" b="1" i="1">
                <a:solidFill>
                  <a:srgbClr val="FFFF00"/>
                </a:solidFill>
                <a:latin typeface="Calibri"/>
                <a:ea typeface="Calibri"/>
                <a:cs typeface="Calibri"/>
                <a:sym typeface="Calibri"/>
              </a:rPr>
              <a:t>(Doug Bowman is now head of AR/VR at Apple)</a:t>
            </a:r>
            <a:endParaRPr sz="1800" b="1" i="1">
              <a:solidFill>
                <a:schemeClr val="dk1"/>
              </a:solidFill>
              <a:latin typeface="Calibri"/>
              <a:ea typeface="Calibri"/>
              <a:cs typeface="Calibri"/>
              <a:sym typeface="Calibri"/>
            </a:endParaRPr>
          </a:p>
          <a:p>
            <a:pPr marL="0" marR="0" lvl="0" indent="0" algn="l" rtl="0">
              <a:spcBef>
                <a:spcPts val="0"/>
              </a:spcBef>
              <a:spcAft>
                <a:spcPts val="0"/>
              </a:spcAft>
              <a:buNone/>
            </a:pPr>
            <a:r>
              <a:rPr lang="en-GB" sz="1800" b="1">
                <a:solidFill>
                  <a:schemeClr val="dk1"/>
                </a:solidFill>
                <a:latin typeface="Calibri"/>
                <a:ea typeface="Calibri"/>
                <a:cs typeface="Calibri"/>
                <a:sym typeface="Calibri"/>
              </a:rPr>
              <a:t>Title:</a:t>
            </a:r>
            <a:r>
              <a:rPr lang="en-GB" sz="1800">
                <a:solidFill>
                  <a:schemeClr val="dk1"/>
                </a:solidFill>
                <a:latin typeface="Calibri"/>
                <a:ea typeface="Calibri"/>
                <a:cs typeface="Calibri"/>
                <a:sym typeface="Calibri"/>
              </a:rPr>
              <a:t> 3D User Interfaces: Theory and Practice</a:t>
            </a:r>
            <a:endParaRPr/>
          </a:p>
          <a:p>
            <a:pPr marL="0" marR="0" lvl="0" indent="0" algn="l" rtl="0">
              <a:spcBef>
                <a:spcPts val="0"/>
              </a:spcBef>
              <a:spcAft>
                <a:spcPts val="0"/>
              </a:spcAft>
              <a:buNone/>
            </a:pPr>
            <a:r>
              <a:rPr lang="en-GB" sz="1800" b="1">
                <a:solidFill>
                  <a:schemeClr val="dk1"/>
                </a:solidFill>
                <a:latin typeface="Calibri"/>
                <a:ea typeface="Calibri"/>
                <a:cs typeface="Calibri"/>
                <a:sym typeface="Calibri"/>
              </a:rPr>
              <a:t>Author:</a:t>
            </a:r>
            <a:r>
              <a:rPr lang="en-GB" sz="1800">
                <a:solidFill>
                  <a:schemeClr val="dk1"/>
                </a:solidFill>
                <a:latin typeface="Calibri"/>
                <a:ea typeface="Calibri"/>
                <a:cs typeface="Calibri"/>
                <a:sym typeface="Calibri"/>
              </a:rPr>
              <a:t> </a:t>
            </a:r>
            <a:r>
              <a:rPr lang="en-GB" sz="18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Doug A Bowman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1800" b="1">
                <a:solidFill>
                  <a:schemeClr val="dk1"/>
                </a:solidFill>
                <a:latin typeface="Calibri"/>
                <a:ea typeface="Calibri"/>
                <a:cs typeface="Calibri"/>
                <a:sym typeface="Calibri"/>
              </a:rPr>
              <a:t>Publisher: </a:t>
            </a:r>
            <a:r>
              <a:rPr lang="en-GB" sz="1800">
                <a:solidFill>
                  <a:schemeClr val="dk1"/>
                </a:solidFill>
                <a:latin typeface="Calibri"/>
                <a:ea typeface="Calibri"/>
                <a:cs typeface="Calibri"/>
                <a:sym typeface="Calibri"/>
              </a:rPr>
              <a:t>Addison-Wesley Professional </a:t>
            </a:r>
            <a:endParaRPr/>
          </a:p>
          <a:p>
            <a:pPr marL="0" marR="0" lvl="0" indent="0" algn="l" rtl="0">
              <a:spcBef>
                <a:spcPts val="0"/>
              </a:spcBef>
              <a:spcAft>
                <a:spcPts val="0"/>
              </a:spcAft>
              <a:buNone/>
            </a:pPr>
            <a:r>
              <a:rPr lang="en-GB" sz="1800" b="1">
                <a:solidFill>
                  <a:schemeClr val="dk1"/>
                </a:solidFill>
                <a:latin typeface="Calibri"/>
                <a:ea typeface="Calibri"/>
                <a:cs typeface="Calibri"/>
                <a:sym typeface="Calibri"/>
              </a:rPr>
              <a:t>Identifier: </a:t>
            </a:r>
            <a:r>
              <a:rPr lang="en-GB" sz="1800">
                <a:solidFill>
                  <a:schemeClr val="dk1"/>
                </a:solidFill>
                <a:latin typeface="Calibri"/>
                <a:ea typeface="Calibri"/>
                <a:cs typeface="Calibri"/>
                <a:sym typeface="Calibri"/>
              </a:rPr>
              <a:t>ISBN0-13-339059-4 </a:t>
            </a:r>
            <a:endParaRPr/>
          </a:p>
          <a:p>
            <a:pPr marL="0" marR="0" lvl="0" indent="0" algn="l" rtl="0">
              <a:spcBef>
                <a:spcPts val="0"/>
              </a:spcBef>
              <a:spcAft>
                <a:spcPts val="0"/>
              </a:spcAft>
              <a:buNone/>
            </a:pPr>
            <a:r>
              <a:rPr lang="en-GB" sz="1800" b="1">
                <a:solidFill>
                  <a:schemeClr val="dk1"/>
                </a:solidFill>
                <a:latin typeface="Calibri"/>
                <a:ea typeface="Calibri"/>
                <a:cs typeface="Calibri"/>
                <a:sym typeface="Calibri"/>
              </a:rPr>
              <a:t>Creation Date: </a:t>
            </a:r>
            <a:r>
              <a:rPr lang="en-GB" sz="1800">
                <a:solidFill>
                  <a:schemeClr val="dk1"/>
                </a:solidFill>
                <a:latin typeface="Calibri"/>
                <a:ea typeface="Calibri"/>
                <a:cs typeface="Calibri"/>
                <a:sym typeface="Calibri"/>
              </a:rPr>
              <a:t>2004 </a:t>
            </a:r>
            <a:endParaRPr/>
          </a:p>
          <a:p>
            <a:pPr marL="0" marR="0" lvl="0" indent="0" algn="l" rtl="0">
              <a:spcBef>
                <a:spcPts val="0"/>
              </a:spcBef>
              <a:spcAft>
                <a:spcPts val="0"/>
              </a:spcAft>
              <a:buNone/>
            </a:pPr>
            <a:r>
              <a:rPr lang="en-GB" sz="1800" b="1">
                <a:solidFill>
                  <a:schemeClr val="dk1"/>
                </a:solidFill>
                <a:latin typeface="Calibri"/>
                <a:ea typeface="Calibri"/>
                <a:cs typeface="Calibri"/>
                <a:sym typeface="Calibri"/>
              </a:rPr>
              <a:t>Language: </a:t>
            </a:r>
            <a:r>
              <a:rPr lang="en-GB" sz="1800">
                <a:solidFill>
                  <a:schemeClr val="dk1"/>
                </a:solidFill>
                <a:latin typeface="Calibri"/>
                <a:ea typeface="Calibri"/>
                <a:cs typeface="Calibri"/>
                <a:sym typeface="Calibri"/>
              </a:rPr>
              <a:t>English</a:t>
            </a:r>
            <a:endParaRPr/>
          </a:p>
          <a:p>
            <a:pPr marL="0" marR="0" lvl="0" indent="0" algn="l" rtl="0">
              <a:spcBef>
                <a:spcPts val="0"/>
              </a:spcBef>
              <a:spcAft>
                <a:spcPts val="0"/>
              </a:spcAft>
              <a:buNone/>
            </a:pPr>
            <a:r>
              <a:rPr lang="en-GB" sz="1800" b="1">
                <a:solidFill>
                  <a:schemeClr val="dk1"/>
                </a:solidFill>
                <a:latin typeface="Calibri"/>
                <a:ea typeface="Calibri"/>
                <a:cs typeface="Calibri"/>
                <a:sym typeface="Calibri"/>
              </a:rPr>
              <a:t>Source: </a:t>
            </a:r>
            <a:r>
              <a:rPr lang="en-GB" sz="1800">
                <a:solidFill>
                  <a:schemeClr val="dk1"/>
                </a:solidFill>
                <a:latin typeface="Calibri"/>
                <a:ea typeface="Calibri"/>
                <a:cs typeface="Calibri"/>
                <a:sym typeface="Calibri"/>
              </a:rPr>
              <a:t>infoLinX </a:t>
            </a:r>
            <a:br>
              <a:rPr lang="en-GB" sz="1800">
                <a:solidFill>
                  <a:schemeClr val="dk1"/>
                </a:solidFill>
                <a:latin typeface="Calibri"/>
                <a:ea typeface="Calibri"/>
                <a:cs typeface="Calibri"/>
                <a:sym typeface="Calibri"/>
              </a:rPr>
            </a:br>
            <a:r>
              <a:rPr lang="en-GB" sz="1800">
                <a:solidFill>
                  <a:schemeClr val="dk1"/>
                </a:solidFill>
                <a:latin typeface="Calibri"/>
                <a:ea typeface="Calibri"/>
                <a:cs typeface="Calibri"/>
                <a:sym typeface="Calibri"/>
              </a:rPr>
              <a:t>infoLinX </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8"/>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Quattrocento Sans"/>
              <a:buNone/>
            </a:pPr>
            <a:r>
              <a:rPr lang="en-GB"/>
              <a:t>Further Reading List and Reference</a:t>
            </a:r>
            <a:endParaRPr/>
          </a:p>
        </p:txBody>
      </p:sp>
      <p:sp>
        <p:nvSpPr>
          <p:cNvPr id="252" name="Google Shape;252;p28"/>
          <p:cNvSpPr/>
          <p:nvPr/>
        </p:nvSpPr>
        <p:spPr>
          <a:xfrm>
            <a:off x="4725587" y="1409070"/>
            <a:ext cx="1296000" cy="1296000"/>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53" name="Google Shape;253;p28"/>
          <p:cNvSpPr/>
          <p:nvPr/>
        </p:nvSpPr>
        <p:spPr>
          <a:xfrm>
            <a:off x="6022504" y="1409070"/>
            <a:ext cx="2664296" cy="1296000"/>
          </a:xfrm>
          <a:prstGeom prst="rect">
            <a:avLst/>
          </a:prstGeom>
          <a:solidFill>
            <a:srgbClr val="009F3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3DUI</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Conference and book</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Research Journal</a:t>
            </a:r>
            <a:br>
              <a:rPr lang="en-GB" sz="1800">
                <a:solidFill>
                  <a:schemeClr val="dk1"/>
                </a:solidFill>
                <a:latin typeface="Quattrocento Sans"/>
                <a:ea typeface="Quattrocento Sans"/>
                <a:cs typeface="Quattrocento Sans"/>
                <a:sym typeface="Quattrocento Sans"/>
              </a:rPr>
            </a:br>
            <a:r>
              <a:rPr lang="en-GB" sz="1800">
                <a:solidFill>
                  <a:schemeClr val="dk1"/>
                </a:solidFill>
                <a:latin typeface="Quattrocento Sans"/>
                <a:ea typeface="Quattrocento Sans"/>
                <a:cs typeface="Quattrocento Sans"/>
                <a:sym typeface="Quattrocento Sans"/>
              </a:rPr>
              <a:t>Link-Library</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pic>
        <p:nvPicPr>
          <p:cNvPr id="254" name="Google Shape;254;p28"/>
          <p:cNvPicPr preferRelativeResize="0"/>
          <p:nvPr/>
        </p:nvPicPr>
        <p:blipFill rotWithShape="1">
          <a:blip r:embed="rId3">
            <a:alphaModFix/>
          </a:blip>
          <a:srcRect l="-2" r="68014"/>
          <a:stretch/>
        </p:blipFill>
        <p:spPr>
          <a:xfrm>
            <a:off x="4883703" y="1442267"/>
            <a:ext cx="1188720" cy="1368354"/>
          </a:xfrm>
          <a:prstGeom prst="rect">
            <a:avLst/>
          </a:prstGeom>
          <a:noFill/>
          <a:ln>
            <a:noFill/>
          </a:ln>
        </p:spPr>
      </p:pic>
      <p:sp>
        <p:nvSpPr>
          <p:cNvPr id="255" name="Google Shape;255;p28"/>
          <p:cNvSpPr txBox="1"/>
          <p:nvPr/>
        </p:nvSpPr>
        <p:spPr>
          <a:xfrm>
            <a:off x="540407" y="2564904"/>
            <a:ext cx="4551439"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u="sng" dirty="0">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Conference</a:t>
            </a:r>
            <a:endParaRPr dirty="0">
              <a:solidFill>
                <a:schemeClr val="dk1"/>
              </a:solidFill>
            </a:endParaRPr>
          </a:p>
          <a:p>
            <a:r>
              <a:rPr lang="en-GB" dirty="0">
                <a:solidFill>
                  <a:schemeClr val="dk1"/>
                </a:solidFill>
                <a:ea typeface="Calibri"/>
                <a:sym typeface="Calibri"/>
                <a:hlinkClick r:id="rId5">
                  <a:extLst>
                    <a:ext uri="{A12FA001-AC4F-418D-AE19-62706E023703}">
                      <ahyp:hlinkClr xmlns:ahyp="http://schemas.microsoft.com/office/drawing/2018/hyperlinkcolor" val="tx"/>
                    </a:ext>
                  </a:extLst>
                </a:hlinkClick>
              </a:rPr>
              <a:t>https</a:t>
            </a:r>
            <a:r>
              <a:rPr lang="en-GB" sz="1400" dirty="0">
                <a:solidFill>
                  <a:schemeClr val="dk1"/>
                </a:solidFill>
                <a:ea typeface="Calibri"/>
                <a:sym typeface="Calibri"/>
                <a:hlinkClick r:id="rId5">
                  <a:extLst>
                    <a:ext uri="{A12FA001-AC4F-418D-AE19-62706E023703}">
                      <ahyp:hlinkClr xmlns:ahyp="http://schemas.microsoft.com/office/drawing/2018/hyperlinkcolor" val="tx"/>
                    </a:ext>
                  </a:extLst>
                </a:hlinkClick>
              </a:rPr>
              <a:t>://</a:t>
            </a:r>
            <a:r>
              <a:rPr lang="en-GB" dirty="0">
                <a:solidFill>
                  <a:schemeClr val="dk1"/>
                </a:solidFill>
                <a:ea typeface="Calibri"/>
                <a:sym typeface="Calibri"/>
                <a:hlinkClick r:id="rId5">
                  <a:extLst>
                    <a:ext uri="{A12FA001-AC4F-418D-AE19-62706E023703}">
                      <ahyp:hlinkClr xmlns:ahyp="http://schemas.microsoft.com/office/drawing/2018/hyperlinkcolor" val="tx"/>
                    </a:ext>
                  </a:extLst>
                </a:hlinkClick>
              </a:rPr>
              <a:t>people.cs.vt.edu/bowman/</a:t>
            </a:r>
            <a:r>
              <a:rPr lang="en-GB" sz="1400" dirty="0">
                <a:solidFill>
                  <a:schemeClr val="dk1"/>
                </a:solidFill>
                <a:ea typeface="Calibri"/>
                <a:sym typeface="Calibri"/>
                <a:hlinkClick r:id="rId5">
                  <a:extLst>
                    <a:ext uri="{A12FA001-AC4F-418D-AE19-62706E023703}">
                      <ahyp:hlinkClr xmlns:ahyp="http://schemas.microsoft.com/office/drawing/2018/hyperlinkcolor" val="tx"/>
                    </a:ext>
                  </a:extLst>
                </a:hlinkClick>
              </a:rPr>
              <a:t>3dui.org/</a:t>
            </a:r>
            <a:r>
              <a:rPr lang="en-GB" dirty="0">
                <a:solidFill>
                  <a:schemeClr val="dk1"/>
                </a:solidFill>
                <a:ea typeface="Calibri"/>
                <a:sym typeface="Calibri"/>
                <a:hlinkClick r:id="rId5">
                  <a:extLst>
                    <a:ext uri="{A12FA001-AC4F-418D-AE19-62706E023703}">
                      <ahyp:hlinkClr xmlns:ahyp="http://schemas.microsoft.com/office/drawing/2018/hyperlinkcolor" val="tx"/>
                    </a:ext>
                  </a:extLst>
                </a:hlinkClick>
              </a:rPr>
              <a:t>Home.html</a:t>
            </a:r>
            <a:r>
              <a:rPr lang="en-GB" dirty="0">
                <a:solidFill>
                  <a:schemeClr val="dk1"/>
                </a:solidFill>
                <a:ea typeface="Calibri"/>
                <a:sym typeface="Calibri"/>
              </a:rPr>
              <a:t> </a:t>
            </a:r>
            <a:endParaRPr>
              <a:solidFill>
                <a:schemeClr val="dk1"/>
              </a:solidFill>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n-GB" sz="1400" b="1" dirty="0">
                <a:solidFill>
                  <a:srgbClr val="FFFF00"/>
                </a:solidFill>
                <a:latin typeface="Calibri"/>
                <a:ea typeface="Calibri"/>
                <a:cs typeface="Calibri"/>
                <a:sym typeface="Calibri"/>
              </a:rPr>
              <a:t>Committee Resource:</a:t>
            </a:r>
            <a:endParaRPr dirty="0"/>
          </a:p>
          <a:p>
            <a:pPr marL="0" marR="0" lvl="0" indent="0" algn="l" rtl="0">
              <a:spcBef>
                <a:spcPts val="0"/>
              </a:spcBef>
              <a:spcAft>
                <a:spcPts val="0"/>
              </a:spcAft>
              <a:buNone/>
            </a:pPr>
            <a:r>
              <a:rPr lang="en-GB" sz="1400" b="1" i="1" dirty="0">
                <a:solidFill>
                  <a:srgbClr val="FFFF00"/>
                </a:solidFill>
                <a:latin typeface="Calibri"/>
                <a:ea typeface="Calibri"/>
                <a:cs typeface="Calibri"/>
                <a:sym typeface="Calibri"/>
              </a:rPr>
              <a:t>This has some key summaries of the book in the Resources</a:t>
            </a:r>
            <a:endParaRPr dirty="0"/>
          </a:p>
          <a:p>
            <a:pPr marL="0" marR="0" lvl="0" indent="0" algn="l" rtl="0">
              <a:spcBef>
                <a:spcPts val="0"/>
              </a:spcBef>
              <a:spcAft>
                <a:spcPts val="0"/>
              </a:spcAft>
              <a:buNone/>
            </a:pPr>
            <a:r>
              <a:rPr lang="en-GB" sz="1400" u="sng" dirty="0">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http://people.cs.vt.edu/~bowman/3dui.org/Home.html</a:t>
            </a:r>
            <a:endParaRPr sz="1400" dirty="0">
              <a:solidFill>
                <a:schemeClr val="dk1"/>
              </a:solidFill>
              <a:latin typeface="Calibri"/>
              <a:ea typeface="Calibri"/>
              <a:cs typeface="Calibri"/>
              <a:sym typeface="Calibri"/>
            </a:endParaRPr>
          </a:p>
          <a:p>
            <a:pPr marL="0" marR="0" lvl="0" indent="0" algn="l" rtl="0">
              <a:spcBef>
                <a:spcPts val="0"/>
              </a:spcBef>
              <a:spcAft>
                <a:spcPts val="0"/>
              </a:spcAft>
              <a:buNone/>
            </a:pPr>
            <a:r>
              <a:rPr lang="en-GB" sz="1400" u="sng" dirty="0">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http://people.cs.vt.edu/~bowman/3dui.org/Resources.html</a:t>
            </a:r>
            <a:endParaRPr sz="1400" dirty="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n-GB" sz="1400" dirty="0">
                <a:solidFill>
                  <a:schemeClr val="dk1"/>
                </a:solidFill>
                <a:latin typeface="Calibri"/>
                <a:ea typeface="Calibri"/>
                <a:cs typeface="Calibri"/>
                <a:sym typeface="Calibri"/>
              </a:rPr>
              <a:t>Journal</a:t>
            </a:r>
            <a:endParaRPr dirty="0">
              <a:solidFill>
                <a:schemeClr val="dk1"/>
              </a:solidFill>
            </a:endParaRPr>
          </a:p>
          <a:p>
            <a:pPr marL="0" marR="0" lvl="0" indent="0" algn="l" rtl="0">
              <a:spcBef>
                <a:spcPts val="0"/>
              </a:spcBef>
              <a:spcAft>
                <a:spcPts val="0"/>
              </a:spcAft>
              <a:buNone/>
            </a:pPr>
            <a:r>
              <a:rPr lang="en-GB" sz="1400" b="1" dirty="0">
                <a:solidFill>
                  <a:schemeClr val="dk1"/>
                </a:solidFill>
                <a:latin typeface="Calibri"/>
                <a:ea typeface="Calibri"/>
                <a:cs typeface="Calibri"/>
                <a:sym typeface="Calibri"/>
              </a:rPr>
              <a:t>Title:</a:t>
            </a:r>
            <a:r>
              <a:rPr lang="en-GB" sz="1400" dirty="0">
                <a:solidFill>
                  <a:schemeClr val="dk1"/>
                </a:solidFill>
                <a:latin typeface="Calibri"/>
                <a:ea typeface="Calibri"/>
                <a:cs typeface="Calibri"/>
                <a:sym typeface="Calibri"/>
              </a:rPr>
              <a:t> 2016 IEEE Symposium on 3D User Interfaces (3DUI)</a:t>
            </a:r>
            <a:endParaRPr dirty="0">
              <a:solidFill>
                <a:schemeClr val="dk1"/>
              </a:solidFill>
            </a:endParaRPr>
          </a:p>
          <a:p>
            <a:pPr marL="0" marR="0" lvl="0" indent="0" algn="l" rtl="0">
              <a:spcBef>
                <a:spcPts val="0"/>
              </a:spcBef>
              <a:spcAft>
                <a:spcPts val="0"/>
              </a:spcAft>
              <a:buNone/>
            </a:pPr>
            <a:r>
              <a:rPr lang="en-GB" sz="1400" b="1" dirty="0">
                <a:solidFill>
                  <a:schemeClr val="dk1"/>
                </a:solidFill>
                <a:latin typeface="Calibri"/>
                <a:ea typeface="Calibri"/>
                <a:cs typeface="Calibri"/>
                <a:sym typeface="Calibri"/>
              </a:rPr>
              <a:t>Publisher: </a:t>
            </a:r>
            <a:r>
              <a:rPr lang="en-GB" sz="1400" dirty="0">
                <a:solidFill>
                  <a:schemeClr val="dk1"/>
                </a:solidFill>
                <a:latin typeface="Calibri"/>
                <a:ea typeface="Calibri"/>
                <a:cs typeface="Calibri"/>
                <a:sym typeface="Calibri"/>
              </a:rPr>
              <a:t>IEEE </a:t>
            </a:r>
            <a:endParaRPr dirty="0">
              <a:solidFill>
                <a:schemeClr val="dk1"/>
              </a:solidFill>
            </a:endParaRPr>
          </a:p>
          <a:p>
            <a:pPr marL="0" marR="0" lvl="0" indent="0" algn="l" rtl="0">
              <a:spcBef>
                <a:spcPts val="0"/>
              </a:spcBef>
              <a:spcAft>
                <a:spcPts val="0"/>
              </a:spcAft>
              <a:buNone/>
            </a:pPr>
            <a:r>
              <a:rPr lang="en-GB" sz="1400" b="1" dirty="0">
                <a:solidFill>
                  <a:schemeClr val="dk1"/>
                </a:solidFill>
                <a:latin typeface="Calibri"/>
                <a:ea typeface="Calibri"/>
                <a:cs typeface="Calibri"/>
                <a:sym typeface="Calibri"/>
              </a:rPr>
              <a:t>Creation Date: </a:t>
            </a:r>
            <a:r>
              <a:rPr lang="en-GB" sz="1400" dirty="0">
                <a:solidFill>
                  <a:schemeClr val="dk1"/>
                </a:solidFill>
                <a:latin typeface="Calibri"/>
                <a:ea typeface="Calibri"/>
                <a:cs typeface="Calibri"/>
                <a:sym typeface="Calibri"/>
              </a:rPr>
              <a:t>2016 </a:t>
            </a:r>
            <a:endParaRPr dirty="0">
              <a:solidFill>
                <a:schemeClr val="dk1"/>
              </a:solidFill>
            </a:endParaRPr>
          </a:p>
          <a:p>
            <a:pPr marL="0" marR="0" lvl="0" indent="0" algn="l" rtl="0">
              <a:spcBef>
                <a:spcPts val="0"/>
              </a:spcBef>
              <a:spcAft>
                <a:spcPts val="0"/>
              </a:spcAft>
              <a:buNone/>
            </a:pPr>
            <a:r>
              <a:rPr lang="en-GB" sz="1400" b="1" dirty="0">
                <a:solidFill>
                  <a:schemeClr val="dk1"/>
                </a:solidFill>
                <a:latin typeface="Calibri"/>
                <a:ea typeface="Calibri"/>
                <a:cs typeface="Calibri"/>
                <a:sym typeface="Calibri"/>
              </a:rPr>
              <a:t>Language: </a:t>
            </a:r>
            <a:r>
              <a:rPr lang="en-GB" sz="1400" dirty="0">
                <a:solidFill>
                  <a:schemeClr val="dk1"/>
                </a:solidFill>
                <a:latin typeface="Calibri"/>
                <a:ea typeface="Calibri"/>
                <a:cs typeface="Calibri"/>
                <a:sym typeface="Calibri"/>
              </a:rPr>
              <a:t>English</a:t>
            </a:r>
            <a:endParaRPr dirty="0">
              <a:solidFill>
                <a:schemeClr val="dk1"/>
              </a:solidFill>
            </a:endParaRPr>
          </a:p>
          <a:p>
            <a:pPr marL="0" marR="0" lvl="0" indent="0" algn="l" rtl="0">
              <a:spcBef>
                <a:spcPts val="0"/>
              </a:spcBef>
              <a:spcAft>
                <a:spcPts val="0"/>
              </a:spcAft>
              <a:buNone/>
            </a:pPr>
            <a:r>
              <a:rPr lang="en-GB" sz="1400" b="1" dirty="0">
                <a:solidFill>
                  <a:schemeClr val="dk1"/>
                </a:solidFill>
                <a:latin typeface="Calibri"/>
                <a:ea typeface="Calibri"/>
                <a:cs typeface="Calibri"/>
                <a:sym typeface="Calibri"/>
              </a:rPr>
              <a:t>Source: </a:t>
            </a:r>
            <a:r>
              <a:rPr lang="en-GB" sz="1400" dirty="0" err="1">
                <a:solidFill>
                  <a:schemeClr val="dk1"/>
                </a:solidFill>
                <a:latin typeface="Calibri"/>
                <a:ea typeface="Calibri"/>
                <a:cs typeface="Calibri"/>
                <a:sym typeface="Calibri"/>
              </a:rPr>
              <a:t>infoLinX</a:t>
            </a:r>
            <a:r>
              <a:rPr lang="en-GB" sz="1400" dirty="0">
                <a:solidFill>
                  <a:schemeClr val="dk1"/>
                </a:solidFill>
                <a:latin typeface="Calibri"/>
                <a:ea typeface="Calibri"/>
                <a:cs typeface="Calibri"/>
                <a:sym typeface="Calibri"/>
              </a:rPr>
              <a:t> </a:t>
            </a:r>
            <a:endParaRPr dirty="0">
              <a:solidFill>
                <a:schemeClr val="dk1"/>
              </a:solidFill>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n-GB" sz="1400" dirty="0">
                <a:solidFill>
                  <a:srgbClr val="FFFF00"/>
                </a:solidFill>
                <a:latin typeface="Calibri"/>
                <a:ea typeface="Calibri"/>
                <a:cs typeface="Calibri"/>
                <a:sym typeface="Calibri"/>
              </a:rPr>
              <a:t>Microsoft</a:t>
            </a:r>
            <a:endParaRPr dirty="0"/>
          </a:p>
          <a:p>
            <a:pPr marL="0" marR="0" lvl="0" indent="0" algn="l" rtl="0">
              <a:spcBef>
                <a:spcPts val="0"/>
              </a:spcBef>
              <a:spcAft>
                <a:spcPts val="0"/>
              </a:spcAft>
              <a:buNone/>
            </a:pPr>
            <a:r>
              <a:rPr lang="en-GB" sz="1400" u="sng" dirty="0">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https://www.autodeskresearch.com/projects/3dnav</a:t>
            </a:r>
            <a:endParaRPr sz="1400" dirty="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Quattrocento Sans"/>
              <a:buNone/>
            </a:pPr>
            <a:r>
              <a:rPr lang="en-GB"/>
              <a:t>Further Reading List and Reference</a:t>
            </a:r>
            <a:endParaRPr/>
          </a:p>
        </p:txBody>
      </p:sp>
      <p:sp>
        <p:nvSpPr>
          <p:cNvPr id="262" name="Google Shape;262;p29"/>
          <p:cNvSpPr/>
          <p:nvPr/>
        </p:nvSpPr>
        <p:spPr>
          <a:xfrm>
            <a:off x="481560" y="3573016"/>
            <a:ext cx="1296000" cy="1296144"/>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63" name="Google Shape;263;p29"/>
          <p:cNvSpPr/>
          <p:nvPr/>
        </p:nvSpPr>
        <p:spPr>
          <a:xfrm>
            <a:off x="1777560" y="3573016"/>
            <a:ext cx="2664296" cy="12960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3DSMax</a:t>
            </a:r>
            <a:endParaRPr/>
          </a:p>
        </p:txBody>
      </p:sp>
      <p:pic>
        <p:nvPicPr>
          <p:cNvPr id="264" name="Google Shape;264;p29"/>
          <p:cNvPicPr preferRelativeResize="0"/>
          <p:nvPr/>
        </p:nvPicPr>
        <p:blipFill rotWithShape="1">
          <a:blip r:embed="rId3">
            <a:alphaModFix/>
          </a:blip>
          <a:srcRect/>
          <a:stretch/>
        </p:blipFill>
        <p:spPr>
          <a:xfrm>
            <a:off x="535560" y="3627016"/>
            <a:ext cx="1188000" cy="1188000"/>
          </a:xfrm>
          <a:prstGeom prst="rect">
            <a:avLst/>
          </a:prstGeom>
          <a:noFill/>
          <a:ln>
            <a:noFill/>
          </a:ln>
        </p:spPr>
      </p:pic>
      <p:sp>
        <p:nvSpPr>
          <p:cNvPr id="265" name="Google Shape;265;p29"/>
          <p:cNvSpPr/>
          <p:nvPr/>
        </p:nvSpPr>
        <p:spPr>
          <a:xfrm>
            <a:off x="457624" y="1268760"/>
            <a:ext cx="3816424" cy="212365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rgbClr val="FFFF00"/>
                </a:solidFill>
                <a:latin typeface="Calibri"/>
                <a:ea typeface="Calibri"/>
                <a:cs typeface="Calibri"/>
                <a:sym typeface="Calibri"/>
              </a:rPr>
              <a:t>Online Autodesk Tutorials</a:t>
            </a:r>
            <a:endParaRPr/>
          </a:p>
          <a:p>
            <a:pPr marL="0" marR="0" lvl="0" indent="0" algn="l" rtl="0">
              <a:spcBef>
                <a:spcPts val="0"/>
              </a:spcBef>
              <a:spcAft>
                <a:spcPts val="0"/>
              </a:spcAft>
              <a:buNone/>
            </a:pPr>
            <a:r>
              <a:rPr lang="en-GB" sz="12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http://help.autodesk.com/view/3DSMAX/2017/ENU/?guid=GUID-68FFEEDA-3801-444E-B450-942E03A7523D</a:t>
            </a:r>
            <a:br>
              <a:rPr lang="en-GB"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GB" sz="1200">
                <a:solidFill>
                  <a:srgbClr val="FFFF00"/>
                </a:solidFill>
                <a:latin typeface="Calibri"/>
                <a:ea typeface="Calibri"/>
                <a:cs typeface="Calibri"/>
                <a:sym typeface="Calibri"/>
              </a:rPr>
              <a:t>Pluralsight, Digital Tutors</a:t>
            </a:r>
            <a:br>
              <a:rPr lang="en-GB" sz="1200">
                <a:solidFill>
                  <a:srgbClr val="FFFF00"/>
                </a:solidFill>
                <a:latin typeface="Calibri"/>
                <a:ea typeface="Calibri"/>
                <a:cs typeface="Calibri"/>
                <a:sym typeface="Calibri"/>
              </a:rPr>
            </a:br>
            <a:r>
              <a:rPr lang="en-GB" sz="1200" i="1">
                <a:solidFill>
                  <a:schemeClr val="dk1"/>
                </a:solidFill>
                <a:latin typeface="Calibri"/>
                <a:ea typeface="Calibri"/>
                <a:cs typeface="Calibri"/>
                <a:sym typeface="Calibri"/>
              </a:rPr>
              <a:t>(Try temporary License)</a:t>
            </a:r>
            <a:br>
              <a:rPr lang="en-GB" sz="1200" i="1">
                <a:solidFill>
                  <a:srgbClr val="FFFF00"/>
                </a:solidFill>
                <a:latin typeface="Calibri"/>
                <a:ea typeface="Calibri"/>
                <a:cs typeface="Calibri"/>
                <a:sym typeface="Calibri"/>
              </a:rPr>
            </a:br>
            <a:endParaRPr sz="1200" i="1">
              <a:solidFill>
                <a:srgbClr val="FFFF00"/>
              </a:solidFill>
              <a:latin typeface="Calibri"/>
              <a:ea typeface="Calibri"/>
              <a:cs typeface="Calibri"/>
              <a:sym typeface="Calibri"/>
            </a:endParaRPr>
          </a:p>
          <a:p>
            <a:pPr marL="0" marR="0" lvl="0" indent="0" algn="l" rtl="0">
              <a:spcBef>
                <a:spcPts val="0"/>
              </a:spcBef>
              <a:spcAft>
                <a:spcPts val="0"/>
              </a:spcAft>
              <a:buNone/>
            </a:pPr>
            <a:r>
              <a:rPr lang="en-GB" sz="1200">
                <a:solidFill>
                  <a:srgbClr val="FFFF00"/>
                </a:solidFill>
                <a:latin typeface="Calibri"/>
                <a:ea typeface="Calibri"/>
                <a:cs typeface="Calibri"/>
                <a:sym typeface="Calibri"/>
              </a:rPr>
              <a:t>Lynda.com (now Linkedin)</a:t>
            </a:r>
            <a:endParaRPr/>
          </a:p>
          <a:p>
            <a:pPr marL="0" marR="0" lvl="0" indent="0" algn="l" rtl="0">
              <a:spcBef>
                <a:spcPts val="0"/>
              </a:spcBef>
              <a:spcAft>
                <a:spcPts val="0"/>
              </a:spcAft>
              <a:buNone/>
            </a:pPr>
            <a:r>
              <a:rPr lang="en-GB" sz="1200" i="1">
                <a:solidFill>
                  <a:schemeClr val="dk1"/>
                </a:solidFill>
                <a:latin typeface="Calibri"/>
                <a:ea typeface="Calibri"/>
                <a:cs typeface="Calibri"/>
                <a:sym typeface="Calibri"/>
              </a:rPr>
              <a:t>(University now has subscription)</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GB" sz="1200">
                <a:solidFill>
                  <a:schemeClr val="dk1"/>
                </a:solidFill>
                <a:latin typeface="Calibri"/>
                <a:ea typeface="Calibri"/>
                <a:cs typeface="Calibri"/>
                <a:sym typeface="Calibri"/>
              </a:rPr>
              <a:t>Module Tutorial Sheets</a:t>
            </a:r>
            <a:endParaRPr/>
          </a:p>
        </p:txBody>
      </p:sp>
      <p:sp>
        <p:nvSpPr>
          <p:cNvPr id="266" name="Google Shape;266;p29"/>
          <p:cNvSpPr txBox="1"/>
          <p:nvPr/>
        </p:nvSpPr>
        <p:spPr>
          <a:xfrm>
            <a:off x="371399" y="3627016"/>
            <a:ext cx="8544519" cy="233906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200" b="1" dirty="0">
                <a:solidFill>
                  <a:schemeClr val="dk1"/>
                </a:solidFill>
                <a:latin typeface="Calibri"/>
                <a:ea typeface="Calibri"/>
                <a:cs typeface="Calibri"/>
                <a:sym typeface="Calibri"/>
              </a:rPr>
              <a:t>Box Modelling</a:t>
            </a:r>
            <a:endParaRPr sz="1200" dirty="0">
              <a:solidFill>
                <a:schemeClr val="dk1"/>
              </a:solidFill>
              <a:latin typeface="Calibri"/>
              <a:ea typeface="Calibri"/>
              <a:cs typeface="Calibri"/>
              <a:sym typeface="Calibri"/>
            </a:endParaRPr>
          </a:p>
          <a:p>
            <a:pPr marL="0" marR="0" lvl="0" indent="0" algn="r" rtl="0">
              <a:spcBef>
                <a:spcPts val="0"/>
              </a:spcBef>
              <a:spcAft>
                <a:spcPts val="0"/>
              </a:spcAft>
              <a:buNone/>
            </a:pPr>
            <a:r>
              <a:rPr lang="en-GB" sz="1200" u="sng" dirty="0">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https://www.youtube.com/watch?v=3ZuLmd9OSYc</a:t>
            </a:r>
            <a:endParaRPr sz="1200" dirty="0">
              <a:solidFill>
                <a:schemeClr val="dk1"/>
              </a:solidFill>
              <a:latin typeface="Calibri"/>
              <a:ea typeface="Calibri"/>
              <a:cs typeface="Calibri"/>
              <a:sym typeface="Calibri"/>
            </a:endParaRPr>
          </a:p>
          <a:p>
            <a:pPr marL="0" marR="0" lvl="0" indent="0" algn="r" rtl="0">
              <a:spcBef>
                <a:spcPts val="0"/>
              </a:spcBef>
              <a:spcAft>
                <a:spcPts val="0"/>
              </a:spcAft>
              <a:buNone/>
            </a:pPr>
            <a:endParaRPr/>
          </a:p>
          <a:p>
            <a:pPr marL="0" marR="0" lvl="0" indent="0" algn="r" rtl="0">
              <a:spcBef>
                <a:spcPts val="0"/>
              </a:spcBef>
              <a:spcAft>
                <a:spcPts val="0"/>
              </a:spcAft>
              <a:buNone/>
            </a:pPr>
            <a:r>
              <a:rPr lang="en-GB" sz="1200" b="1" dirty="0">
                <a:solidFill>
                  <a:schemeClr val="dk1"/>
                </a:solidFill>
                <a:latin typeface="Calibri"/>
                <a:ea typeface="Calibri"/>
                <a:cs typeface="Calibri"/>
                <a:sym typeface="Calibri"/>
              </a:rPr>
              <a:t>Edge Modelling</a:t>
            </a:r>
            <a:endParaRPr sz="1200" dirty="0">
              <a:solidFill>
                <a:schemeClr val="dk1"/>
              </a:solidFill>
              <a:latin typeface="Calibri"/>
              <a:ea typeface="Calibri"/>
              <a:cs typeface="Calibri"/>
              <a:sym typeface="Calibri"/>
            </a:endParaRPr>
          </a:p>
          <a:p>
            <a:pPr marL="0" marR="0" lvl="0" indent="0" algn="r" rtl="0">
              <a:spcBef>
                <a:spcPts val="0"/>
              </a:spcBef>
              <a:spcAft>
                <a:spcPts val="0"/>
              </a:spcAft>
              <a:buNone/>
            </a:pPr>
            <a:r>
              <a:rPr lang="en-GB" sz="1200" u="sng" dirty="0">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https://www.youtube.com/channel/UClFsEsF33aNadnLUn-tqpRQ</a:t>
            </a:r>
            <a:endParaRPr sz="1200" dirty="0">
              <a:solidFill>
                <a:schemeClr val="dk1"/>
              </a:solidFill>
              <a:latin typeface="Calibri"/>
              <a:ea typeface="Calibri"/>
              <a:cs typeface="Calibri"/>
              <a:sym typeface="Calibri"/>
            </a:endParaRPr>
          </a:p>
          <a:p>
            <a:pPr marL="0" marR="0" lvl="0" indent="0" algn="r" rtl="0">
              <a:spcBef>
                <a:spcPts val="0"/>
              </a:spcBef>
              <a:spcAft>
                <a:spcPts val="0"/>
              </a:spcAft>
              <a:buNone/>
            </a:pPr>
            <a:endParaRPr sz="1200">
              <a:solidFill>
                <a:schemeClr val="dk1"/>
              </a:solidFill>
              <a:latin typeface="Calibri"/>
              <a:ea typeface="Calibri"/>
              <a:cs typeface="Calibri"/>
              <a:sym typeface="Calibri"/>
            </a:endParaRPr>
          </a:p>
          <a:p>
            <a:pPr marL="0" marR="0" lvl="0" indent="0" algn="r" rtl="0">
              <a:spcBef>
                <a:spcPts val="0"/>
              </a:spcBef>
              <a:spcAft>
                <a:spcPts val="0"/>
              </a:spcAft>
              <a:buNone/>
            </a:pPr>
            <a:r>
              <a:rPr lang="en-GB" sz="1200" b="1" dirty="0">
                <a:solidFill>
                  <a:schemeClr val="dk1"/>
                </a:solidFill>
                <a:latin typeface="Calibri"/>
                <a:ea typeface="Calibri"/>
                <a:cs typeface="Calibri"/>
                <a:sym typeface="Calibri"/>
              </a:rPr>
              <a:t>Pivots</a:t>
            </a:r>
            <a:endParaRPr b="1">
              <a:solidFill>
                <a:schemeClr val="dk1"/>
              </a:solidFill>
            </a:endParaRPr>
          </a:p>
          <a:p>
            <a:pPr marL="0" marR="0" lvl="0" indent="0" algn="r" rtl="0">
              <a:spcBef>
                <a:spcPts val="0"/>
              </a:spcBef>
              <a:spcAft>
                <a:spcPts val="0"/>
              </a:spcAft>
              <a:buNone/>
            </a:pPr>
            <a:r>
              <a:rPr lang="en-GB" sz="1200" u="sng" dirty="0">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http://www.aclockworkberry.com/world-coordinate-systems-in-3ds-max-unity-and-unreal-engine/</a:t>
            </a:r>
            <a:br>
              <a:rPr lang="en-GB" sz="1200" dirty="0">
                <a:latin typeface="Calibri"/>
                <a:ea typeface="Calibri"/>
                <a:cs typeface="Calibri"/>
              </a:rPr>
            </a:br>
            <a:r>
              <a:rPr lang="en-GB" sz="1200" dirty="0">
                <a:solidFill>
                  <a:schemeClr val="dk1"/>
                </a:solidFill>
                <a:latin typeface="Calibri"/>
                <a:ea typeface="Calibri"/>
                <a:cs typeface="Calibri"/>
                <a:sym typeface="Calibri"/>
              </a:rPr>
              <a:t> </a:t>
            </a:r>
            <a:endParaRPr dirty="0">
              <a:solidFill>
                <a:schemeClr val="dk1"/>
              </a:solidFill>
            </a:endParaRPr>
          </a:p>
          <a:p>
            <a:pPr algn="r"/>
            <a:r>
              <a:rPr lang="en-GB" sz="1200" b="1" dirty="0">
                <a:solidFill>
                  <a:schemeClr val="dk1"/>
                </a:solidFill>
                <a:latin typeface="Calibri"/>
                <a:ea typeface="Calibri"/>
                <a:cs typeface="Calibri"/>
                <a:sym typeface="Calibri"/>
              </a:rPr>
              <a:t>Procedural work</a:t>
            </a:r>
            <a:endParaRPr dirty="0"/>
          </a:p>
          <a:p>
            <a:pPr marL="0" marR="0" lvl="0" indent="0" algn="r">
              <a:spcBef>
                <a:spcPts val="0"/>
              </a:spcBef>
              <a:spcAft>
                <a:spcPts val="0"/>
              </a:spcAft>
              <a:buNone/>
            </a:pPr>
            <a:r>
              <a:rPr lang="en-GB" sz="1200" dirty="0">
                <a:solidFill>
                  <a:schemeClr val="dk1"/>
                </a:solidFill>
                <a:ea typeface="Calibri"/>
                <a:sym typeface="Calibri"/>
                <a:hlinkClick r:id="rId8">
                  <a:extLst>
                    <a:ext uri="{A12FA001-AC4F-418D-AE19-62706E023703}">
                      <ahyp:hlinkClr xmlns:ahyp="http://schemas.microsoft.com/office/drawing/2018/hyperlinkcolor" val="tx"/>
                    </a:ext>
                  </a:extLst>
                </a:hlinkClick>
              </a:rPr>
              <a:t>https://www.pluralsight.com/courses/procedural-generation-3ds-max-2080#play-49466%E2%80%8B</a:t>
            </a:r>
            <a:endParaRPr lang="en-GB">
              <a:ea typeface="Calibri"/>
            </a:endParaRPr>
          </a:p>
          <a:p>
            <a:pPr algn="r"/>
            <a:endParaRPr lang="en-GB" sz="1200" dirty="0">
              <a:solidFill>
                <a:schemeClr val="dk1"/>
              </a:solidFill>
              <a:ea typeface="Calibri"/>
            </a:endParaRPr>
          </a:p>
        </p:txBody>
      </p:sp>
      <p:sp>
        <p:nvSpPr>
          <p:cNvPr id="267" name="Google Shape;267;p29"/>
          <p:cNvSpPr txBox="1"/>
          <p:nvPr/>
        </p:nvSpPr>
        <p:spPr>
          <a:xfrm>
            <a:off x="5491100" y="3068960"/>
            <a:ext cx="3401380"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200">
                <a:solidFill>
                  <a:schemeClr val="dk1"/>
                </a:solidFill>
                <a:latin typeface="Calibri"/>
                <a:ea typeface="Calibri"/>
                <a:cs typeface="Calibri"/>
                <a:sym typeface="Calibri"/>
              </a:rPr>
              <a:t>Lego Man</a:t>
            </a:r>
            <a:endParaRPr sz="1200" u="sng">
              <a:solidFill>
                <a:schemeClr val="dk1"/>
              </a:solidFill>
              <a:latin typeface="Calibri"/>
              <a:ea typeface="Calibri"/>
              <a:cs typeface="Calibri"/>
              <a:sym typeface="Calibri"/>
              <a:hlinkClick r:id="rId9">
                <a:extLst>
                  <a:ext uri="{A12FA001-AC4F-418D-AE19-62706E023703}">
                    <ahyp:hlinkClr xmlns:ahyp="http://schemas.microsoft.com/office/drawing/2018/hyperlinkcolor" val="tx"/>
                  </a:ext>
                </a:extLst>
              </a:hlinkClick>
            </a:endParaRPr>
          </a:p>
          <a:p>
            <a:pPr marL="0" marR="0" lvl="0" indent="0" algn="l" rtl="0">
              <a:spcBef>
                <a:spcPts val="0"/>
              </a:spcBef>
              <a:spcAft>
                <a:spcPts val="0"/>
              </a:spcAft>
              <a:buNone/>
            </a:pPr>
            <a:r>
              <a:rPr lang="en-GB" sz="1200" u="sng">
                <a:solidFill>
                  <a:schemeClr val="dk1"/>
                </a:solidFill>
                <a:latin typeface="Calibri"/>
                <a:ea typeface="Calibri"/>
                <a:cs typeface="Calibri"/>
                <a:sym typeface="Calibri"/>
                <a:hlinkClick r:id="rId9">
                  <a:extLst>
                    <a:ext uri="{A12FA001-AC4F-418D-AE19-62706E023703}">
                      <ahyp:hlinkClr xmlns:ahyp="http://schemas.microsoft.com/office/drawing/2018/hyperlinkcolor" val="tx"/>
                    </a:ext>
                  </a:extLst>
                </a:hlinkClick>
              </a:rPr>
              <a:t>https://www.youtube.com/watch?v=u9wghSWKf-c</a:t>
            </a:r>
            <a:endParaRPr sz="12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0"/>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Quattrocento Sans"/>
              <a:buNone/>
            </a:pPr>
            <a:r>
              <a:rPr lang="en-GB"/>
              <a:t>Further Reading List and Reference</a:t>
            </a:r>
            <a:endParaRPr/>
          </a:p>
        </p:txBody>
      </p:sp>
      <p:sp>
        <p:nvSpPr>
          <p:cNvPr id="274" name="Google Shape;274;p30"/>
          <p:cNvSpPr/>
          <p:nvPr/>
        </p:nvSpPr>
        <p:spPr>
          <a:xfrm>
            <a:off x="2555776" y="5085184"/>
            <a:ext cx="1296000" cy="1296144"/>
          </a:xfrm>
          <a:prstGeom prst="rect">
            <a:avLst/>
          </a:prstGeom>
          <a:solidFill>
            <a:srgbClr val="4645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75" name="Google Shape;275;p30"/>
          <p:cNvSpPr/>
          <p:nvPr/>
        </p:nvSpPr>
        <p:spPr>
          <a:xfrm>
            <a:off x="3852693" y="5085184"/>
            <a:ext cx="2664296" cy="1296000"/>
          </a:xfrm>
          <a:prstGeom prst="rect">
            <a:avLst/>
          </a:prstGeom>
          <a:solidFill>
            <a:srgbClr val="4645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C#</a:t>
            </a:r>
            <a:endParaRPr/>
          </a:p>
          <a:p>
            <a:pPr marL="0" marR="0" lvl="0" indent="0" algn="l" rtl="0">
              <a:spcBef>
                <a:spcPts val="0"/>
              </a:spcBef>
              <a:spcAft>
                <a:spcPts val="0"/>
              </a:spcAft>
              <a:buNone/>
            </a:pPr>
            <a:endParaRPr sz="1200">
              <a:solidFill>
                <a:schemeClr val="dk1"/>
              </a:solidFill>
              <a:latin typeface="Quattrocento Sans"/>
              <a:ea typeface="Quattrocento Sans"/>
              <a:cs typeface="Quattrocento Sans"/>
              <a:sym typeface="Quattrocento Sans"/>
            </a:endParaRPr>
          </a:p>
        </p:txBody>
      </p:sp>
      <p:pic>
        <p:nvPicPr>
          <p:cNvPr id="276" name="Google Shape;276;p30"/>
          <p:cNvPicPr preferRelativeResize="0"/>
          <p:nvPr/>
        </p:nvPicPr>
        <p:blipFill rotWithShape="1">
          <a:blip r:embed="rId3">
            <a:alphaModFix/>
          </a:blip>
          <a:srcRect/>
          <a:stretch/>
        </p:blipFill>
        <p:spPr>
          <a:xfrm>
            <a:off x="2627784" y="5071426"/>
            <a:ext cx="1309758" cy="1309758"/>
          </a:xfrm>
          <a:prstGeom prst="rect">
            <a:avLst/>
          </a:prstGeom>
          <a:noFill/>
          <a:ln>
            <a:noFill/>
          </a:ln>
        </p:spPr>
      </p:pic>
      <p:sp>
        <p:nvSpPr>
          <p:cNvPr id="277" name="Google Shape;277;p30"/>
          <p:cNvSpPr/>
          <p:nvPr/>
        </p:nvSpPr>
        <p:spPr>
          <a:xfrm>
            <a:off x="467544" y="1412776"/>
            <a:ext cx="8280920"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dirty="0">
                <a:solidFill>
                  <a:srgbClr val="FFFF00"/>
                </a:solidFill>
                <a:latin typeface="Calibri"/>
                <a:ea typeface="Calibri"/>
                <a:cs typeface="Calibri"/>
                <a:sym typeface="Calibri"/>
              </a:rPr>
              <a:t>Tutorials Point</a:t>
            </a:r>
            <a:endParaRPr dirty="0"/>
          </a:p>
          <a:p>
            <a:pPr marL="0" marR="0" lvl="0" indent="0" algn="l" rtl="0">
              <a:spcBef>
                <a:spcPts val="0"/>
              </a:spcBef>
              <a:spcAft>
                <a:spcPts val="0"/>
              </a:spcAft>
              <a:buNone/>
            </a:pPr>
            <a:r>
              <a:rPr lang="en-GB" sz="1200" u="sng" dirty="0">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http://www.tutorialspoint.com/csharp/</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GB" sz="1200" dirty="0">
                <a:solidFill>
                  <a:srgbClr val="FFFF00"/>
                </a:solidFill>
                <a:latin typeface="Calibri"/>
                <a:ea typeface="Calibri"/>
                <a:cs typeface="Calibri"/>
                <a:sym typeface="Calibri"/>
              </a:rPr>
              <a:t>MSDN</a:t>
            </a:r>
            <a:endParaRPr dirty="0"/>
          </a:p>
          <a:p>
            <a:pPr marL="0" marR="0" lvl="0" indent="0" algn="l" rtl="0">
              <a:spcBef>
                <a:spcPts val="0"/>
              </a:spcBef>
              <a:spcAft>
                <a:spcPts val="0"/>
              </a:spcAft>
              <a:buNone/>
            </a:pPr>
            <a:r>
              <a:rPr lang="en-GB" sz="1200" u="sng" dirty="0">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http://www.microsoftvirtualacademy.com/training-courses/c-fundamentals-for-absolute-beginners</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GB" sz="1200" dirty="0">
                <a:solidFill>
                  <a:srgbClr val="FFFF00"/>
                </a:solidFill>
                <a:latin typeface="Calibri"/>
                <a:ea typeface="Calibri"/>
                <a:cs typeface="Calibri"/>
                <a:sym typeface="Calibri"/>
              </a:rPr>
              <a:t>Head First C#</a:t>
            </a:r>
            <a:endParaRPr dirty="0"/>
          </a:p>
          <a:p>
            <a:r>
              <a:rPr lang="en-GB" sz="1200" dirty="0">
                <a:solidFill>
                  <a:schemeClr val="dk1"/>
                </a:solidFill>
                <a:ea typeface="Calibri"/>
                <a:sym typeface="Calibri"/>
                <a:hlinkClick r:id="rId6"/>
              </a:rPr>
              <a:t>https://github.com/head-first-csharp/fifth-edition</a:t>
            </a:r>
            <a:r>
              <a:rPr lang="en-GB" sz="1200" dirty="0">
                <a:solidFill>
                  <a:schemeClr val="dk1"/>
                </a:solidFill>
                <a:ea typeface="Calibri"/>
                <a:sym typeface="Calibri"/>
              </a:rPr>
              <a:t> </a:t>
            </a:r>
            <a:endParaRPr dirty="0">
              <a:solidFill>
                <a:schemeClr val="dk1"/>
              </a:solidFill>
            </a:endParaRPr>
          </a:p>
          <a:p>
            <a:pPr marL="0" marR="0" lvl="0" indent="0" algn="l" rtl="0">
              <a:spcBef>
                <a:spcPts val="0"/>
              </a:spcBef>
              <a:spcAft>
                <a:spcPts val="0"/>
              </a:spcAft>
              <a:buNone/>
            </a:pPr>
            <a:br>
              <a:rPr lang="en-GB" sz="1200" dirty="0">
                <a:latin typeface="Calibri"/>
                <a:ea typeface="Calibri"/>
                <a:cs typeface="Calibri"/>
              </a:rPr>
            </a:br>
            <a:r>
              <a:rPr lang="en-GB" sz="1200" dirty="0">
                <a:solidFill>
                  <a:srgbClr val="FFFF00"/>
                </a:solidFill>
                <a:latin typeface="Calibri"/>
                <a:ea typeface="Calibri"/>
                <a:cs typeface="Calibri"/>
                <a:sym typeface="Calibri"/>
              </a:rPr>
              <a:t>C# Programming Yellow Book</a:t>
            </a:r>
            <a:br>
              <a:rPr lang="en-GB" sz="1200" dirty="0">
                <a:latin typeface="Calibri"/>
                <a:ea typeface="Calibri"/>
                <a:cs typeface="Calibri"/>
              </a:rPr>
            </a:br>
            <a:r>
              <a:rPr lang="en-GB" sz="1200" u="sng" dirty="0">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http://static1.squarespace.com/static/5019271be4b0807297e8f404/t/55e8091ee4b0b7a615665de5/1441270046307/CSharp+Book+2015+Final.pdf</a:t>
            </a:r>
            <a:br>
              <a:rPr lang="en-GB" sz="1200" i="1" dirty="0">
                <a:latin typeface="Calibri"/>
                <a:ea typeface="Calibri"/>
                <a:cs typeface="Calibri"/>
              </a:rPr>
            </a:br>
            <a:endParaRPr sz="1200" i="1">
              <a:solidFill>
                <a:srgbClr val="FFFF00"/>
              </a:solidFill>
              <a:latin typeface="Calibri"/>
              <a:ea typeface="Calibri"/>
              <a:cs typeface="Calibri"/>
              <a:sym typeface="Calibri"/>
            </a:endParaRPr>
          </a:p>
          <a:p>
            <a:pPr marL="0" marR="0" lvl="0" indent="0" algn="l" rtl="0">
              <a:spcBef>
                <a:spcPts val="0"/>
              </a:spcBef>
              <a:spcAft>
                <a:spcPts val="0"/>
              </a:spcAft>
              <a:buNone/>
            </a:pPr>
            <a:r>
              <a:rPr lang="en-GB" sz="1200" dirty="0" err="1">
                <a:solidFill>
                  <a:srgbClr val="FFFF00"/>
                </a:solidFill>
                <a:latin typeface="Calibri"/>
                <a:ea typeface="Calibri"/>
                <a:cs typeface="Calibri"/>
                <a:sym typeface="Calibri"/>
              </a:rPr>
              <a:t>Youtube</a:t>
            </a:r>
            <a:endParaRPr sz="1200" dirty="0" err="1">
              <a:solidFill>
                <a:srgbClr val="FFFF00"/>
              </a:solidFill>
              <a:latin typeface="Calibri"/>
              <a:ea typeface="Calibri"/>
              <a:cs typeface="Calibri"/>
              <a:sym typeface="Calibri"/>
            </a:endParaRPr>
          </a:p>
          <a:p>
            <a:r>
              <a:rPr lang="en-GB" sz="1200" dirty="0">
                <a:solidFill>
                  <a:schemeClr val="dk1"/>
                </a:solidFill>
                <a:latin typeface="Calibri"/>
                <a:ea typeface="Calibri"/>
                <a:cs typeface="Calibri"/>
                <a:sym typeface="Calibri"/>
                <a:hlinkClick r:id="rId8"/>
              </a:rPr>
              <a:t>https://www.youtube.com/playlist?list=PL_eGgISVYZkdtClbuMbZqlNJ-xLo_OTwc</a:t>
            </a:r>
            <a:r>
              <a:rPr lang="en-GB" sz="1200" dirty="0">
                <a:solidFill>
                  <a:schemeClr val="dk1"/>
                </a:solidFill>
                <a:latin typeface="Calibri"/>
                <a:ea typeface="Calibri"/>
                <a:cs typeface="Calibri"/>
                <a:sym typeface="Calibri"/>
              </a:rPr>
              <a:t> </a:t>
            </a:r>
            <a:endParaRPr dirty="0">
              <a:solidFill>
                <a:schemeClr val="dk1"/>
              </a:solidFill>
            </a:endParaRPr>
          </a:p>
          <a:p>
            <a:pPr marL="0" marR="0" lvl="0" indent="0" algn="l" rtl="0">
              <a:spcBef>
                <a:spcPts val="0"/>
              </a:spcBef>
              <a:spcAft>
                <a:spcPts val="0"/>
              </a:spcAft>
              <a:buNone/>
            </a:pPr>
            <a:endParaRPr sz="1200" i="1">
              <a:solidFill>
                <a:srgbClr val="FFFF00"/>
              </a:solidFill>
              <a:latin typeface="Calibri"/>
              <a:ea typeface="Calibri"/>
              <a:cs typeface="Calibri"/>
              <a:sym typeface="Calibri"/>
            </a:endParaRPr>
          </a:p>
          <a:p>
            <a:pPr marL="0" marR="0" lvl="0" indent="0" algn="l" rtl="0">
              <a:spcBef>
                <a:spcPts val="0"/>
              </a:spcBef>
              <a:spcAft>
                <a:spcPts val="0"/>
              </a:spcAft>
              <a:buNone/>
            </a:pPr>
            <a:r>
              <a:rPr lang="en-GB" sz="1200" dirty="0">
                <a:solidFill>
                  <a:srgbClr val="FFFF00"/>
                </a:solidFill>
                <a:latin typeface="Calibri"/>
                <a:ea typeface="Calibri"/>
                <a:cs typeface="Calibri"/>
                <a:sym typeface="Calibri"/>
              </a:rPr>
              <a:t>Lynda.com/ </a:t>
            </a:r>
            <a:r>
              <a:rPr lang="en-GB" sz="1200" dirty="0" err="1">
                <a:solidFill>
                  <a:srgbClr val="FFFF00"/>
                </a:solidFill>
                <a:latin typeface="Calibri"/>
                <a:ea typeface="Calibri"/>
                <a:cs typeface="Calibri"/>
                <a:sym typeface="Calibri"/>
              </a:rPr>
              <a:t>Linkedin</a:t>
            </a:r>
            <a:endParaRPr dirty="0" err="1"/>
          </a:p>
          <a:p>
            <a:pPr marL="0" marR="0" lvl="0" indent="0" algn="l" rtl="0">
              <a:spcBef>
                <a:spcPts val="0"/>
              </a:spcBef>
              <a:spcAft>
                <a:spcPts val="0"/>
              </a:spcAft>
              <a:buNone/>
            </a:pPr>
            <a:r>
              <a:rPr lang="en-GB" sz="1200" i="1" dirty="0">
                <a:solidFill>
                  <a:schemeClr val="dk1"/>
                </a:solidFill>
                <a:latin typeface="Calibri"/>
                <a:ea typeface="Calibri"/>
                <a:cs typeface="Calibri"/>
                <a:sym typeface="Calibri"/>
              </a:rPr>
              <a:t>(University now has subscription)</a:t>
            </a:r>
            <a:endParaRPr dirty="0">
              <a:solidFill>
                <a:schemeClr val="dk1"/>
              </a:solidFill>
            </a:endParaRPr>
          </a:p>
          <a:p>
            <a:pPr marL="0" marR="0" lvl="0" indent="0" algn="l" rtl="0">
              <a:spcBef>
                <a:spcPts val="0"/>
              </a:spcBef>
              <a:spcAft>
                <a:spcPts val="0"/>
              </a:spcAft>
              <a:buNone/>
            </a:pPr>
            <a:endParaRPr sz="1200" i="1">
              <a:solidFill>
                <a:schemeClr val="dk1"/>
              </a:solidFill>
              <a:latin typeface="Calibri"/>
              <a:ea typeface="Calibri"/>
              <a:cs typeface="Calibri"/>
              <a:sym typeface="Calibri"/>
            </a:endParaRPr>
          </a:p>
          <a:p>
            <a:pPr marL="0" marR="0" lvl="0" indent="0" algn="l" rtl="0">
              <a:spcBef>
                <a:spcPts val="0"/>
              </a:spcBef>
              <a:spcAft>
                <a:spcPts val="0"/>
              </a:spcAft>
              <a:buNone/>
            </a:pPr>
            <a:r>
              <a:rPr lang="en-GB" sz="1200" dirty="0">
                <a:solidFill>
                  <a:srgbClr val="FFFF00"/>
                </a:solidFill>
                <a:latin typeface="Calibri"/>
                <a:ea typeface="Calibri"/>
                <a:cs typeface="Calibri"/>
                <a:sym typeface="Calibri"/>
              </a:rPr>
              <a:t>Pluralsight, Digital Tutors</a:t>
            </a:r>
            <a:br>
              <a:rPr lang="en-GB" sz="1200" dirty="0">
                <a:latin typeface="Calibri"/>
                <a:ea typeface="Calibri"/>
                <a:cs typeface="Calibri"/>
              </a:rPr>
            </a:br>
            <a:r>
              <a:rPr lang="en-GB" sz="1200" i="1" dirty="0">
                <a:solidFill>
                  <a:schemeClr val="dk1"/>
                </a:solidFill>
                <a:latin typeface="Calibri"/>
                <a:ea typeface="Calibri"/>
                <a:cs typeface="Calibri"/>
                <a:sym typeface="Calibri"/>
              </a:rPr>
              <a:t>(Try temporary License)</a:t>
            </a:r>
            <a:endParaRPr dirty="0">
              <a:solidFill>
                <a:schemeClr val="dk1"/>
              </a:solidFill>
            </a:endParaRPr>
          </a:p>
          <a:p>
            <a:pPr marL="0" marR="0" lvl="0" indent="0" algn="l" rtl="0">
              <a:spcBef>
                <a:spcPts val="0"/>
              </a:spcBef>
              <a:spcAft>
                <a:spcPts val="0"/>
              </a:spcAft>
              <a:buNone/>
            </a:pPr>
            <a:endParaRPr sz="1200" i="1">
              <a:solidFill>
                <a:schemeClr val="dk1"/>
              </a:solidFill>
              <a:latin typeface="Calibri"/>
              <a:ea typeface="Calibri"/>
              <a:cs typeface="Calibri"/>
              <a:sym typeface="Calibri"/>
            </a:endParaRPr>
          </a:p>
          <a:p>
            <a:pPr marL="0" marR="0" lvl="0" indent="0" algn="l" rtl="0">
              <a:spcBef>
                <a:spcPts val="0"/>
              </a:spcBef>
              <a:spcAft>
                <a:spcPts val="0"/>
              </a:spcAft>
              <a:buNone/>
            </a:pPr>
            <a:r>
              <a:rPr lang="en-GB" sz="1200" dirty="0" err="1">
                <a:solidFill>
                  <a:srgbClr val="FFFF00"/>
                </a:solidFill>
                <a:latin typeface="Calibri"/>
                <a:ea typeface="Calibri"/>
                <a:cs typeface="Calibri"/>
                <a:sym typeface="Calibri"/>
              </a:rPr>
              <a:t>Packt</a:t>
            </a:r>
            <a:r>
              <a:rPr lang="en-GB" sz="1200" dirty="0">
                <a:solidFill>
                  <a:srgbClr val="FFFF00"/>
                </a:solidFill>
                <a:latin typeface="Calibri"/>
                <a:ea typeface="Calibri"/>
                <a:cs typeface="Calibri"/>
                <a:sym typeface="Calibri"/>
              </a:rPr>
              <a:t> C#, Unity Scripting</a:t>
            </a:r>
            <a:endParaRPr dirty="0"/>
          </a:p>
          <a:p>
            <a:pPr marL="0" marR="0" lvl="0" indent="0" algn="l" rtl="0">
              <a:spcBef>
                <a:spcPts val="0"/>
              </a:spcBef>
              <a:spcAft>
                <a:spcPts val="0"/>
              </a:spcAft>
              <a:buNone/>
            </a:pPr>
            <a:r>
              <a:rPr lang="en-GB" sz="1200" u="sng" dirty="0">
                <a:solidFill>
                  <a:schemeClr val="dk1"/>
                </a:solidFill>
                <a:latin typeface="Calibri"/>
                <a:ea typeface="Calibri"/>
                <a:cs typeface="Calibri"/>
                <a:sym typeface="Calibri"/>
                <a:hlinkClick r:id="rId9">
                  <a:extLst>
                    <a:ext uri="{A12FA001-AC4F-418D-AE19-62706E023703}">
                      <ahyp:hlinkClr xmlns:ahyp="http://schemas.microsoft.com/office/drawing/2018/hyperlinkcolor" val="tx"/>
                    </a:ext>
                  </a:extLst>
                </a:hlinkClick>
              </a:rPr>
              <a:t>https://www.packtpub.com/</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endParaRPr sz="1200" i="1">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Quattrocento Sans"/>
              <a:buNone/>
            </a:pPr>
            <a:r>
              <a:rPr lang="en-GB"/>
              <a:t>Further Reading List and Reference</a:t>
            </a:r>
            <a:endParaRPr/>
          </a:p>
        </p:txBody>
      </p:sp>
      <p:sp>
        <p:nvSpPr>
          <p:cNvPr id="284" name="Google Shape;284;p31"/>
          <p:cNvSpPr/>
          <p:nvPr/>
        </p:nvSpPr>
        <p:spPr>
          <a:xfrm>
            <a:off x="4725587" y="2572317"/>
            <a:ext cx="1296000" cy="1296144"/>
          </a:xfrm>
          <a:prstGeom prst="rect">
            <a:avLst/>
          </a:prstGeom>
          <a:solidFill>
            <a:srgbClr val="4645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285" name="Google Shape;285;p31"/>
          <p:cNvSpPr/>
          <p:nvPr/>
        </p:nvSpPr>
        <p:spPr>
          <a:xfrm>
            <a:off x="6022504" y="2572317"/>
            <a:ext cx="2664296" cy="1296000"/>
          </a:xfrm>
          <a:prstGeom prst="rect">
            <a:avLst/>
          </a:prstGeom>
          <a:solidFill>
            <a:srgbClr val="4645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Unity3D</a:t>
            </a:r>
            <a:endParaRPr/>
          </a:p>
        </p:txBody>
      </p:sp>
      <p:pic>
        <p:nvPicPr>
          <p:cNvPr id="286" name="Google Shape;286;p31"/>
          <p:cNvPicPr preferRelativeResize="0"/>
          <p:nvPr/>
        </p:nvPicPr>
        <p:blipFill rotWithShape="1">
          <a:blip r:embed="rId3">
            <a:alphaModFix/>
          </a:blip>
          <a:srcRect/>
          <a:stretch/>
        </p:blipFill>
        <p:spPr>
          <a:xfrm>
            <a:off x="4752663" y="2598620"/>
            <a:ext cx="1269841" cy="1269841"/>
          </a:xfrm>
          <a:prstGeom prst="rect">
            <a:avLst/>
          </a:prstGeom>
          <a:noFill/>
          <a:ln>
            <a:noFill/>
          </a:ln>
        </p:spPr>
      </p:pic>
      <p:sp>
        <p:nvSpPr>
          <p:cNvPr id="287" name="Google Shape;287;p31"/>
          <p:cNvSpPr/>
          <p:nvPr/>
        </p:nvSpPr>
        <p:spPr>
          <a:xfrm>
            <a:off x="457624" y="1268760"/>
            <a:ext cx="4834456" cy="5447605"/>
          </a:xfrm>
          <a:prstGeom prst="rect">
            <a:avLst/>
          </a:prstGeom>
          <a:noFill/>
          <a:ln>
            <a:noFill/>
          </a:ln>
        </p:spPr>
        <p:txBody>
          <a:bodyPr spcFirstLastPara="1" wrap="square" lIns="91425" tIns="45700" rIns="91425" bIns="45700" anchor="t" anchorCtr="0">
            <a:spAutoFit/>
          </a:bodyPr>
          <a:lstStyle/>
          <a:p>
            <a:r>
              <a:rPr lang="en-GB" sz="1200" dirty="0">
                <a:solidFill>
                  <a:srgbClr val="FFFF00"/>
                </a:solidFill>
                <a:latin typeface="Calibri"/>
                <a:ea typeface="Calibri"/>
                <a:cs typeface="Calibri"/>
                <a:sym typeface="Calibri"/>
              </a:rPr>
              <a:t>Unity Hub/Unity Learn</a:t>
            </a:r>
            <a:endParaRPr dirty="0"/>
          </a:p>
          <a:p>
            <a:pPr marL="0" marR="0" lvl="0" indent="0" algn="l" rtl="0">
              <a:spcBef>
                <a:spcPts val="0"/>
              </a:spcBef>
              <a:spcAft>
                <a:spcPts val="0"/>
              </a:spcAft>
              <a:buNone/>
            </a:pPr>
            <a:r>
              <a:rPr lang="en-GB" sz="1200" i="1" dirty="0">
                <a:solidFill>
                  <a:schemeClr val="dk1"/>
                </a:solidFill>
                <a:latin typeface="Calibri"/>
                <a:ea typeface="Calibri"/>
                <a:cs typeface="Calibri"/>
                <a:sym typeface="Calibri"/>
              </a:rPr>
              <a:t>(Gameplay Scripting, </a:t>
            </a:r>
            <a:r>
              <a:rPr lang="en-GB" sz="1200" i="1" dirty="0" err="1">
                <a:solidFill>
                  <a:schemeClr val="dk1"/>
                </a:solidFill>
                <a:latin typeface="Calibri"/>
                <a:ea typeface="Calibri"/>
                <a:cs typeface="Calibri"/>
                <a:sym typeface="Calibri"/>
              </a:rPr>
              <a:t>Rollaball</a:t>
            </a:r>
            <a:r>
              <a:rPr lang="en-GB" sz="1200" i="1" dirty="0">
                <a:solidFill>
                  <a:schemeClr val="dk1"/>
                </a:solidFill>
                <a:latin typeface="Calibri"/>
                <a:ea typeface="Calibri"/>
                <a:cs typeface="Calibri"/>
                <a:sym typeface="Calibri"/>
              </a:rPr>
              <a:t>)</a:t>
            </a:r>
            <a:endParaRPr dirty="0">
              <a:solidFill>
                <a:schemeClr val="dk1"/>
              </a:solidFill>
            </a:endParaRPr>
          </a:p>
          <a:p>
            <a:pPr marL="0" marR="0" lvl="0" indent="0" algn="l" rtl="0">
              <a:spcBef>
                <a:spcPts val="0"/>
              </a:spcBef>
              <a:spcAft>
                <a:spcPts val="0"/>
              </a:spcAft>
              <a:buNone/>
            </a:pPr>
            <a:r>
              <a:rPr lang="en-GB" sz="1200" u="sng" dirty="0">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https://unity.com/learn</a:t>
            </a:r>
            <a:endParaRPr sz="1200" i="1" dirty="0">
              <a:solidFill>
                <a:schemeClr val="dk1"/>
              </a:solidFill>
              <a:latin typeface="Calibri"/>
              <a:ea typeface="Calibri"/>
              <a:cs typeface="Calibri"/>
              <a:sym typeface="Calibri"/>
            </a:endParaRPr>
          </a:p>
          <a:p>
            <a:pPr marL="0" marR="0" lvl="0" indent="0" algn="l" rtl="0">
              <a:spcBef>
                <a:spcPts val="0"/>
              </a:spcBef>
              <a:spcAft>
                <a:spcPts val="0"/>
              </a:spcAft>
              <a:buNone/>
            </a:pPr>
            <a:r>
              <a:rPr lang="en-GB" sz="1200" u="sng" dirty="0">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https://unity3d.com/learn/tutorials/topics/scripting</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r>
              <a:rPr lang="en-GB" sz="1200" dirty="0">
                <a:solidFill>
                  <a:srgbClr val="FFFF00"/>
                </a:solidFill>
                <a:latin typeface="Calibri"/>
                <a:ea typeface="Calibri"/>
                <a:cs typeface="Calibri"/>
                <a:sym typeface="Calibri"/>
              </a:rPr>
              <a:t>Learn Unity </a:t>
            </a:r>
            <a:endParaRPr dirty="0"/>
          </a:p>
          <a:p>
            <a:r>
              <a:rPr lang="en-GB" sz="1200" dirty="0">
                <a:solidFill>
                  <a:schemeClr val="dk1"/>
                </a:solidFill>
                <a:ea typeface="Calibri"/>
                <a:sym typeface="Calibri"/>
                <a:hlinkClick r:id="rId6">
                  <a:extLst>
                    <a:ext uri="{A12FA001-AC4F-418D-AE19-62706E023703}">
                      <ahyp:hlinkClr xmlns:ahyp="http://schemas.microsoft.com/office/drawing/2018/hyperlinkcolor" val="tx"/>
                    </a:ext>
                  </a:extLst>
                </a:hlinkClick>
              </a:rPr>
              <a:t>https://learn.unity.com/</a:t>
            </a:r>
            <a:r>
              <a:rPr lang="en-GB" sz="1200" dirty="0">
                <a:solidFill>
                  <a:schemeClr val="dk1"/>
                </a:solidFill>
                <a:ea typeface="Calibri"/>
                <a:sym typeface="Calibri"/>
              </a:rPr>
              <a:t> </a:t>
            </a:r>
            <a:endParaRPr>
              <a:solidFill>
                <a:schemeClr val="dk1"/>
              </a:solidFill>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GB" sz="1200" dirty="0">
                <a:solidFill>
                  <a:srgbClr val="FFFF00"/>
                </a:solidFill>
                <a:latin typeface="Calibri"/>
                <a:ea typeface="Calibri"/>
                <a:cs typeface="Calibri"/>
                <a:sym typeface="Calibri"/>
              </a:rPr>
              <a:t>Unity UI Tutorials</a:t>
            </a:r>
            <a:br>
              <a:rPr lang="en-GB" sz="1200" dirty="0">
                <a:latin typeface="Calibri"/>
                <a:ea typeface="Calibri"/>
                <a:cs typeface="Calibri"/>
              </a:rPr>
            </a:br>
            <a:r>
              <a:rPr lang="en-GB" sz="1200" u="sng" dirty="0">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https://unity3d.com/learn/tutorials/topics/user-interface-ui</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GB" sz="1200" dirty="0">
                <a:solidFill>
                  <a:srgbClr val="FFFF00"/>
                </a:solidFill>
                <a:latin typeface="Calibri"/>
                <a:ea typeface="Calibri"/>
                <a:cs typeface="Calibri"/>
                <a:sym typeface="Calibri"/>
              </a:rPr>
              <a:t>Wiki.Unity3D.com</a:t>
            </a:r>
            <a:endParaRPr dirty="0"/>
          </a:p>
          <a:p>
            <a:pPr marL="0" marR="0" lvl="0" indent="0" algn="l" rtl="0">
              <a:spcBef>
                <a:spcPts val="0"/>
              </a:spcBef>
              <a:spcAft>
                <a:spcPts val="0"/>
              </a:spcAft>
              <a:buNone/>
            </a:pPr>
            <a:r>
              <a:rPr lang="en-GB" sz="1200" u="sng" dirty="0">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http://wiki.unity3d.com/index.php/Main_Page</a:t>
            </a:r>
            <a:endParaRPr sz="1200" dirty="0">
              <a:solidFill>
                <a:schemeClr val="dk1"/>
              </a:solidFill>
              <a:latin typeface="Calibri"/>
              <a:ea typeface="Calibri"/>
              <a:cs typeface="Calibri"/>
              <a:sym typeface="Calibri"/>
            </a:endParaRPr>
          </a:p>
          <a:p>
            <a:pPr marL="0" marR="0" lvl="0" indent="0" algn="l">
              <a:spcBef>
                <a:spcPts val="0"/>
              </a:spcBef>
              <a:spcAft>
                <a:spcPts val="0"/>
              </a:spcAft>
              <a:buNone/>
            </a:pPr>
            <a:endParaRPr lang="en-GB" sz="1200" u="sng" dirty="0">
              <a:solidFill>
                <a:schemeClr val="dk1"/>
              </a:solidFill>
              <a:latin typeface="Calibri"/>
              <a:ea typeface="Calibri"/>
              <a:cs typeface="Calibri"/>
            </a:endParaRPr>
          </a:p>
          <a:p>
            <a:r>
              <a:rPr lang="en-GB" sz="1200" dirty="0">
                <a:solidFill>
                  <a:srgbClr val="FFFF00"/>
                </a:solidFill>
                <a:latin typeface="Calibri"/>
                <a:ea typeface="Calibri"/>
                <a:cs typeface="Calibri"/>
              </a:rPr>
              <a:t>Unity Manual</a:t>
            </a:r>
          </a:p>
          <a:p>
            <a:r>
              <a:rPr lang="en-GB" sz="1200" dirty="0">
                <a:solidFill>
                  <a:schemeClr val="dk1"/>
                </a:solidFill>
                <a:ea typeface="Calibri"/>
                <a:hlinkClick r:id="rId9">
                  <a:extLst>
                    <a:ext uri="{A12FA001-AC4F-418D-AE19-62706E023703}">
                      <ahyp:hlinkClr xmlns:ahyp="http://schemas.microsoft.com/office/drawing/2018/hyperlinkcolor" val="tx"/>
                    </a:ext>
                  </a:extLst>
                </a:hlinkClick>
              </a:rPr>
              <a:t>https://docs.unity3d.com/2023.2/Documentation/Manual/index.html</a:t>
            </a:r>
            <a:r>
              <a:rPr lang="en-GB" sz="1200" dirty="0">
                <a:solidFill>
                  <a:schemeClr val="dk1"/>
                </a:solidFill>
                <a:ea typeface="Calibri"/>
              </a:rPr>
              <a:t> </a:t>
            </a:r>
            <a:endParaRPr lang="en-GB">
              <a:solidFill>
                <a:schemeClr val="dk1"/>
              </a:solidFill>
            </a:endParaRPr>
          </a:p>
          <a:p>
            <a:endParaRPr lang="en-GB" sz="1200">
              <a:solidFill>
                <a:srgbClr val="FFFFFF"/>
              </a:solidFill>
              <a:latin typeface="Calibri"/>
              <a:ea typeface="Calibri"/>
              <a:cs typeface="Calibri"/>
              <a:sym typeface="Calibri"/>
            </a:endParaRPr>
          </a:p>
          <a:p>
            <a:pPr marL="0" marR="0" lvl="0" indent="0" algn="l" rtl="0">
              <a:spcBef>
                <a:spcPts val="0"/>
              </a:spcBef>
              <a:spcAft>
                <a:spcPts val="0"/>
              </a:spcAft>
              <a:buNone/>
            </a:pPr>
            <a:r>
              <a:rPr lang="en-GB" sz="1200" err="1">
                <a:solidFill>
                  <a:srgbClr val="FFFF00"/>
                </a:solidFill>
                <a:latin typeface="Calibri"/>
                <a:ea typeface="Calibri"/>
                <a:cs typeface="Calibri"/>
                <a:sym typeface="Calibri"/>
              </a:rPr>
              <a:t>Packt</a:t>
            </a:r>
            <a:r>
              <a:rPr lang="en-GB" sz="1200" dirty="0">
                <a:solidFill>
                  <a:srgbClr val="FFFF00"/>
                </a:solidFill>
                <a:latin typeface="Calibri"/>
                <a:ea typeface="Calibri"/>
                <a:cs typeface="Calibri"/>
                <a:sym typeface="Calibri"/>
              </a:rPr>
              <a:t> Publishing</a:t>
            </a:r>
            <a:endParaRPr dirty="0">
              <a:solidFill>
                <a:srgbClr val="FFFF00"/>
              </a:solidFill>
            </a:endParaRPr>
          </a:p>
          <a:p>
            <a:pPr marL="0" marR="0" lvl="0" indent="0" algn="l" rtl="0">
              <a:spcBef>
                <a:spcPts val="0"/>
              </a:spcBef>
              <a:spcAft>
                <a:spcPts val="0"/>
              </a:spcAft>
              <a:buNone/>
            </a:pPr>
            <a:r>
              <a:rPr lang="en-GB" sz="1200" u="sng" dirty="0">
                <a:solidFill>
                  <a:schemeClr val="dk1"/>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https://www.packtpub.com/</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GB" sz="1200" dirty="0" err="1">
                <a:solidFill>
                  <a:srgbClr val="FFFF00"/>
                </a:solidFill>
                <a:latin typeface="Calibri"/>
                <a:ea typeface="Calibri"/>
                <a:cs typeface="Calibri"/>
                <a:sym typeface="Calibri"/>
              </a:rPr>
              <a:t>Youtube</a:t>
            </a:r>
            <a:r>
              <a:rPr lang="en-GB" sz="1200" dirty="0">
                <a:solidFill>
                  <a:srgbClr val="FFFF00"/>
                </a:solidFill>
                <a:latin typeface="Calibri"/>
                <a:ea typeface="Calibri"/>
                <a:cs typeface="Calibri"/>
                <a:sym typeface="Calibri"/>
              </a:rPr>
              <a:t> Ctrl Alt Del</a:t>
            </a:r>
            <a:r>
              <a:rPr lang="en-GB" sz="1200" dirty="0">
                <a:solidFill>
                  <a:schemeClr val="dk1"/>
                </a:solidFill>
                <a:latin typeface="Calibri"/>
                <a:ea typeface="Calibri"/>
                <a:cs typeface="Calibri"/>
                <a:sym typeface="Calibri"/>
              </a:rPr>
              <a:t> </a:t>
            </a:r>
            <a:r>
              <a:rPr lang="en-GB" sz="1200" u="sng" dirty="0">
                <a:solidFill>
                  <a:schemeClr val="dk1"/>
                </a:solidFill>
                <a:latin typeface="Calibri"/>
                <a:ea typeface="Calibri"/>
                <a:cs typeface="Calibri"/>
                <a:sym typeface="Calibri"/>
                <a:hlinkClick r:id="rId11">
                  <a:extLst>
                    <a:ext uri="{A12FA001-AC4F-418D-AE19-62706E023703}">
                      <ahyp:hlinkClr xmlns:ahyp="http://schemas.microsoft.com/office/drawing/2018/hyperlinkcolor" val="tx"/>
                    </a:ext>
                  </a:extLst>
                </a:hlinkClick>
              </a:rPr>
              <a:t>https://www.youtube.com/channel/UClFsEsF33aNadnLUn-tqpRQ</a:t>
            </a:r>
            <a:endParaRPr sz="1200" dirty="0">
              <a:solidFill>
                <a:schemeClr val="dk1"/>
              </a:solidFill>
              <a:latin typeface="Calibri"/>
              <a:ea typeface="Calibri"/>
              <a:cs typeface="Calibri"/>
              <a:sym typeface="Calibri"/>
            </a:endParaRPr>
          </a:p>
          <a:p>
            <a:r>
              <a:rPr lang="en-GB" sz="1200" err="1">
                <a:solidFill>
                  <a:srgbClr val="FFFF00"/>
                </a:solidFill>
                <a:latin typeface="Calibri"/>
                <a:ea typeface="Calibri"/>
                <a:cs typeface="Calibri"/>
              </a:rPr>
              <a:t>Youtube</a:t>
            </a:r>
            <a:r>
              <a:rPr lang="en-GB" sz="1200" dirty="0">
                <a:solidFill>
                  <a:srgbClr val="FFFF00"/>
                </a:solidFill>
                <a:latin typeface="Calibri"/>
                <a:ea typeface="Calibri"/>
                <a:cs typeface="Calibri"/>
              </a:rPr>
              <a:t> </a:t>
            </a:r>
            <a:r>
              <a:rPr lang="en-GB" sz="1200" err="1">
                <a:solidFill>
                  <a:srgbClr val="FFFF00"/>
                </a:solidFill>
                <a:latin typeface="Calibri"/>
                <a:ea typeface="Calibri"/>
                <a:cs typeface="Calibri"/>
              </a:rPr>
              <a:t>BergZurg</a:t>
            </a:r>
            <a:endParaRPr lang="en-GB" sz="1200" err="1">
              <a:solidFill>
                <a:srgbClr val="FFFF00"/>
              </a:solidFill>
              <a:latin typeface="Calibri"/>
              <a:ea typeface="Calibri"/>
              <a:cs typeface="Calibri"/>
              <a:sym typeface="Calibri"/>
            </a:endParaRPr>
          </a:p>
          <a:p>
            <a:pPr marL="0" marR="0" lvl="0" indent="0" algn="l" rtl="0">
              <a:spcBef>
                <a:spcPts val="0"/>
              </a:spcBef>
              <a:spcAft>
                <a:spcPts val="0"/>
              </a:spcAft>
              <a:buNone/>
            </a:pPr>
            <a:r>
              <a:rPr lang="en-GB" sz="1200" u="sng" dirty="0">
                <a:solidFill>
                  <a:schemeClr val="dk1"/>
                </a:solidFill>
                <a:latin typeface="Calibri"/>
                <a:ea typeface="Calibri"/>
                <a:cs typeface="Calibri"/>
                <a:sym typeface="Calibri"/>
                <a:hlinkClick r:id="rId12">
                  <a:extLst>
                    <a:ext uri="{A12FA001-AC4F-418D-AE19-62706E023703}">
                      <ahyp:hlinkClr xmlns:ahyp="http://schemas.microsoft.com/office/drawing/2018/hyperlinkcolor" val="tx"/>
                    </a:ext>
                  </a:extLst>
                </a:hlinkClick>
              </a:rPr>
              <a:t>https://www.youtube.com/channel/UCOIcO8Lsk1MERedhOnew73A</a:t>
            </a:r>
            <a:endParaRPr sz="1200" dirty="0">
              <a:solidFill>
                <a:schemeClr val="dk1"/>
              </a:solidFill>
              <a:latin typeface="Calibri"/>
              <a:ea typeface="Calibri"/>
              <a:cs typeface="Calibri"/>
              <a:sym typeface="Calibri"/>
            </a:endParaRPr>
          </a:p>
          <a:p>
            <a:endParaRPr lang="en-GB" sz="1200" u="sng" dirty="0">
              <a:solidFill>
                <a:schemeClr val="dk1"/>
              </a:solidFill>
              <a:latin typeface="Calibri"/>
              <a:ea typeface="Calibri"/>
              <a:cs typeface="Calibri"/>
            </a:endParaRPr>
          </a:p>
          <a:p>
            <a:pPr marL="0" marR="0" lvl="0" indent="0" algn="l" rtl="0">
              <a:spcBef>
                <a:spcPts val="0"/>
              </a:spcBef>
              <a:spcAft>
                <a:spcPts val="0"/>
              </a:spcAft>
              <a:buNone/>
            </a:pPr>
            <a:r>
              <a:rPr lang="en-GB" sz="1200" dirty="0">
                <a:solidFill>
                  <a:srgbClr val="FFFF00"/>
                </a:solidFill>
                <a:latin typeface="Calibri"/>
                <a:ea typeface="Calibri"/>
                <a:cs typeface="Calibri"/>
                <a:sym typeface="Calibri"/>
              </a:rPr>
              <a:t>Pluralsight, Digital Tutors </a:t>
            </a:r>
            <a:r>
              <a:rPr lang="en-GB" sz="1200" i="1" dirty="0">
                <a:solidFill>
                  <a:schemeClr val="dk1"/>
                </a:solidFill>
                <a:latin typeface="Calibri"/>
                <a:ea typeface="Calibri"/>
                <a:cs typeface="Calibri"/>
                <a:sym typeface="Calibri"/>
              </a:rPr>
              <a:t>(Try temporary License)</a:t>
            </a:r>
            <a:endParaRPr sz="1200" i="1" dirty="0">
              <a:solidFill>
                <a:schemeClr val="dk1"/>
              </a:solidFill>
              <a:latin typeface="Calibri"/>
              <a:ea typeface="Calibri"/>
              <a:cs typeface="Calibri"/>
              <a:sym typeface="Calibri"/>
            </a:endParaRPr>
          </a:p>
          <a:p>
            <a:r>
              <a:rPr lang="en-GB" sz="1200" dirty="0">
                <a:solidFill>
                  <a:srgbClr val="FFFF00"/>
                </a:solidFill>
                <a:latin typeface="Calibri"/>
                <a:ea typeface="Calibri"/>
                <a:cs typeface="Calibri"/>
                <a:sym typeface="Calibri"/>
              </a:rPr>
              <a:t>Lynda.com</a:t>
            </a:r>
            <a:r>
              <a:rPr lang="en-GB" sz="1200" dirty="0">
                <a:solidFill>
                  <a:schemeClr val="dk1"/>
                </a:solidFill>
                <a:latin typeface="Calibri"/>
                <a:ea typeface="Calibri"/>
                <a:cs typeface="Calibri"/>
                <a:sym typeface="Calibri"/>
              </a:rPr>
              <a:t> </a:t>
            </a:r>
            <a:r>
              <a:rPr lang="en-GB" sz="1200" i="1" dirty="0">
                <a:solidFill>
                  <a:schemeClr val="dk1"/>
                </a:solidFill>
                <a:latin typeface="Calibri"/>
                <a:ea typeface="Calibri"/>
                <a:cs typeface="Calibri"/>
                <a:sym typeface="Calibri"/>
              </a:rPr>
              <a:t>(University now has subscription via </a:t>
            </a:r>
            <a:r>
              <a:rPr lang="en-GB" sz="1200" i="1" err="1">
                <a:solidFill>
                  <a:schemeClr val="dk1"/>
                </a:solidFill>
                <a:latin typeface="Calibri"/>
                <a:ea typeface="Calibri"/>
                <a:cs typeface="Calibri"/>
                <a:sym typeface="Calibri"/>
              </a:rPr>
              <a:t>Linkedin</a:t>
            </a:r>
            <a:r>
              <a:rPr lang="en-GB" sz="1200" i="1" dirty="0">
                <a:solidFill>
                  <a:schemeClr val="dk1"/>
                </a:solidFill>
                <a:latin typeface="Calibri"/>
                <a:ea typeface="Calibri"/>
                <a:cs typeface="Calibri"/>
                <a:sym typeface="Calibri"/>
              </a:rPr>
              <a:t>)</a:t>
            </a:r>
            <a:endParaRPr sz="1200" dirty="0">
              <a:solidFill>
                <a:schemeClr val="dk1"/>
              </a:solidFill>
              <a:latin typeface="Calibri"/>
              <a:ea typeface="Calibri"/>
              <a:cs typeface="Calibri"/>
              <a:sym typeface="Calibri"/>
            </a:endParaRPr>
          </a:p>
          <a:p>
            <a:endParaRPr lang="en-GB" sz="1200" i="1" dirty="0">
              <a:solidFill>
                <a:schemeClr val="dk1"/>
              </a:solidFill>
              <a:latin typeface="Calibri"/>
              <a:ea typeface="Calibri"/>
              <a:cs typeface="Calibri"/>
              <a:sym typeface="Calibri"/>
            </a:endParaRPr>
          </a:p>
          <a:p>
            <a:pPr marL="0" marR="0" lvl="0" indent="0" algn="l" rtl="0">
              <a:spcBef>
                <a:spcPts val="0"/>
              </a:spcBef>
              <a:spcAft>
                <a:spcPts val="0"/>
              </a:spcAft>
              <a:buNone/>
            </a:pPr>
            <a:r>
              <a:rPr lang="en-GB" sz="1200" dirty="0">
                <a:solidFill>
                  <a:srgbClr val="FFFF00"/>
                </a:solidFill>
                <a:latin typeface="Calibri"/>
                <a:ea typeface="Calibri"/>
                <a:cs typeface="Calibri"/>
                <a:sym typeface="Calibri"/>
              </a:rPr>
              <a:t>Module Tutorial Sheets</a:t>
            </a:r>
            <a:endParaRPr dirty="0">
              <a:solidFill>
                <a:srgbClr val="FFFF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Quattrocento Sans"/>
              <a:buNone/>
            </a:pPr>
            <a:r>
              <a:rPr lang="en-GB"/>
              <a:t>Further Reading List and Reference</a:t>
            </a:r>
            <a:endParaRPr/>
          </a:p>
        </p:txBody>
      </p:sp>
      <p:sp>
        <p:nvSpPr>
          <p:cNvPr id="294" name="Google Shape;294;p32"/>
          <p:cNvSpPr txBox="1"/>
          <p:nvPr/>
        </p:nvSpPr>
        <p:spPr>
          <a:xfrm>
            <a:off x="460221" y="1460623"/>
            <a:ext cx="4903580" cy="3693278"/>
          </a:xfrm>
          <a:prstGeom prst="rect">
            <a:avLst/>
          </a:prstGeom>
          <a:noFill/>
          <a:ln>
            <a:noFill/>
          </a:ln>
        </p:spPr>
        <p:txBody>
          <a:bodyPr spcFirstLastPara="1" wrap="square" lIns="91425" tIns="45700" rIns="91425" bIns="45700" anchor="t" anchorCtr="0">
            <a:spAutoFit/>
          </a:bodyPr>
          <a:lstStyle/>
          <a:p>
            <a:r>
              <a:rPr lang="en-GB" sz="2400" b="1" dirty="0">
                <a:solidFill>
                  <a:srgbClr val="FFFF00"/>
                </a:solidFill>
                <a:latin typeface="Quattrocento Sans"/>
                <a:ea typeface="Quattrocento Sans"/>
                <a:cs typeface="Quattrocento Sans"/>
                <a:sym typeface="Quattrocento Sans"/>
              </a:rPr>
              <a:t>Experience Survey UOW Only:</a:t>
            </a:r>
            <a:r>
              <a:rPr lang="en-GB" sz="2400" b="1" dirty="0">
                <a:solidFill>
                  <a:srgbClr val="FF0000"/>
                </a:solidFill>
                <a:latin typeface="Quattrocento Sans"/>
                <a:ea typeface="Quattrocento Sans"/>
                <a:cs typeface="Quattrocento Sans"/>
                <a:sym typeface="Quattrocento Sans"/>
              </a:rPr>
              <a:t> &gt;&gt;&gt;</a:t>
            </a:r>
            <a:endParaRPr sz="2400" b="1" dirty="0">
              <a:solidFill>
                <a:schemeClr val="dk1"/>
              </a:solidFill>
              <a:latin typeface="Quattrocento Sans"/>
              <a:ea typeface="Quattrocento Sans"/>
              <a:cs typeface="Quattrocento Sans"/>
              <a:sym typeface="Quattrocento Sans"/>
            </a:endParaRPr>
          </a:p>
          <a:p>
            <a:r>
              <a:rPr lang="en-GB" sz="1800" dirty="0">
                <a:solidFill>
                  <a:schemeClr val="dk1"/>
                </a:solidFill>
                <a:hlinkClick r:id="rId3">
                  <a:extLst>
                    <a:ext uri="{A12FA001-AC4F-418D-AE19-62706E023703}">
                      <ahyp:hlinkClr xmlns:ahyp="http://schemas.microsoft.com/office/drawing/2018/hyperlinkcolor" val="tx"/>
                    </a:ext>
                  </a:extLst>
                </a:hlinkClick>
              </a:rPr>
              <a:t>https://uowdigital.padlet.org/fergusj/3dimd-intro-2025-uow-b51inegc8wf3wwc1</a:t>
            </a:r>
            <a:r>
              <a:rPr lang="en-GB" sz="1800" dirty="0">
                <a:solidFill>
                  <a:schemeClr val="dk1"/>
                </a:solidFill>
              </a:rPr>
              <a:t> </a:t>
            </a:r>
            <a:endParaRPr lang="en-GB">
              <a:solidFill>
                <a:schemeClr val="dk1"/>
              </a:solidFill>
            </a:endParaRPr>
          </a:p>
          <a:p>
            <a:endParaRPr lang="en-GB" sz="1800" dirty="0">
              <a:solidFill>
                <a:schemeClr val="dk1"/>
              </a:solidFill>
            </a:endParaRPr>
          </a:p>
          <a:p>
            <a:endParaRPr lang="en-GB" sz="2400" b="1" dirty="0">
              <a:solidFill>
                <a:srgbClr val="FFFF00"/>
              </a:solidFill>
              <a:latin typeface="Quattrocento Sans"/>
            </a:endParaRPr>
          </a:p>
          <a:p>
            <a:endParaRPr lang="en-GB" sz="2400" b="1" dirty="0">
              <a:solidFill>
                <a:srgbClr val="FFFF00"/>
              </a:solidFill>
              <a:latin typeface="Quattrocento Sans"/>
            </a:endParaRPr>
          </a:p>
          <a:p>
            <a:endParaRPr lang="en-GB" sz="2400" b="1" dirty="0">
              <a:solidFill>
                <a:srgbClr val="FFFF00"/>
              </a:solidFill>
              <a:latin typeface="Quattrocento Sans"/>
            </a:endParaRPr>
          </a:p>
          <a:p>
            <a:endParaRPr lang="en-GB" sz="2400" b="1" dirty="0">
              <a:solidFill>
                <a:srgbClr val="FFFF00"/>
              </a:solidFill>
              <a:latin typeface="Quattrocento Sans"/>
            </a:endParaRPr>
          </a:p>
          <a:p>
            <a:r>
              <a:rPr lang="en-GB" sz="2400" b="1" dirty="0">
                <a:solidFill>
                  <a:srgbClr val="FFFF00"/>
                </a:solidFill>
                <a:latin typeface="Quattrocento Sans"/>
              </a:rPr>
              <a:t>Experience Survey IIT Only:</a:t>
            </a:r>
            <a:r>
              <a:rPr lang="en-GB" sz="2400" b="1" dirty="0">
                <a:solidFill>
                  <a:srgbClr val="FF0000"/>
                </a:solidFill>
                <a:latin typeface="Quattrocento Sans"/>
              </a:rPr>
              <a:t>  &gt;&gt;&gt;</a:t>
            </a:r>
            <a:endParaRPr lang="en-GB" dirty="0"/>
          </a:p>
          <a:p>
            <a:r>
              <a:rPr lang="en-US" sz="1800" dirty="0">
                <a:solidFill>
                  <a:schemeClr val="dk1"/>
                </a:solidFill>
                <a:hlinkClick r:id="rId4"/>
              </a:rPr>
              <a:t>https://uowdigital.padlet.org/fergusj/3dimd-intro-2025-iit-7uspoqpdrfcpk107</a:t>
            </a:r>
            <a:r>
              <a:rPr lang="en-US" sz="1800" dirty="0">
                <a:solidFill>
                  <a:schemeClr val="dk1"/>
                </a:solidFill>
              </a:rPr>
              <a:t> </a:t>
            </a:r>
            <a:endParaRPr lang="en-US" sz="1800">
              <a:solidFill>
                <a:schemeClr val="dk1"/>
              </a:solidFill>
            </a:endParaRPr>
          </a:p>
        </p:txBody>
      </p:sp>
      <p:pic>
        <p:nvPicPr>
          <p:cNvPr id="3" name="Picture 2" descr="A qr code on a white background&#10;&#10;AI-generated content may be incorrect.">
            <a:extLst>
              <a:ext uri="{FF2B5EF4-FFF2-40B4-BE49-F238E27FC236}">
                <a16:creationId xmlns:a16="http://schemas.microsoft.com/office/drawing/2014/main" id="{34C209EE-67F0-3533-B330-F9152BDA7EC3}"/>
              </a:ext>
            </a:extLst>
          </p:cNvPr>
          <p:cNvPicPr>
            <a:picLocks noChangeAspect="1"/>
          </p:cNvPicPr>
          <p:nvPr/>
        </p:nvPicPr>
        <p:blipFill>
          <a:blip r:embed="rId5"/>
          <a:stretch>
            <a:fillRect/>
          </a:stretch>
        </p:blipFill>
        <p:spPr>
          <a:xfrm>
            <a:off x="5487615" y="1299859"/>
            <a:ext cx="2332207" cy="2332207"/>
          </a:xfrm>
          <a:prstGeom prst="rect">
            <a:avLst/>
          </a:prstGeom>
        </p:spPr>
      </p:pic>
      <p:pic>
        <p:nvPicPr>
          <p:cNvPr id="4" name="Picture 3" descr="A qr code on a white background&#10;&#10;AI-generated content may be incorrect.">
            <a:extLst>
              <a:ext uri="{FF2B5EF4-FFF2-40B4-BE49-F238E27FC236}">
                <a16:creationId xmlns:a16="http://schemas.microsoft.com/office/drawing/2014/main" id="{B0A9DD5E-2BAA-9EF1-C05C-B910B701902B}"/>
              </a:ext>
            </a:extLst>
          </p:cNvPr>
          <p:cNvPicPr>
            <a:picLocks noChangeAspect="1"/>
          </p:cNvPicPr>
          <p:nvPr/>
        </p:nvPicPr>
        <p:blipFill>
          <a:blip r:embed="rId6"/>
          <a:stretch>
            <a:fillRect/>
          </a:stretch>
        </p:blipFill>
        <p:spPr>
          <a:xfrm>
            <a:off x="5487616" y="3994420"/>
            <a:ext cx="2332207" cy="233220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3"/>
          <p:cNvSpPr/>
          <p:nvPr/>
        </p:nvSpPr>
        <p:spPr>
          <a:xfrm>
            <a:off x="3851920" y="2565048"/>
            <a:ext cx="1296556" cy="1296000"/>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301" name="Google Shape;301;p33"/>
          <p:cNvSpPr/>
          <p:nvPr/>
        </p:nvSpPr>
        <p:spPr>
          <a:xfrm>
            <a:off x="6876256" y="2564904"/>
            <a:ext cx="1296556" cy="1296000"/>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302" name="Google Shape;302;p33"/>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Quattrocento Sans"/>
              <a:buNone/>
            </a:pPr>
            <a:r>
              <a:rPr lang="en-GB"/>
              <a:t>Workflow – 3DUI for Interactive VE*</a:t>
            </a:r>
            <a:endParaRPr/>
          </a:p>
        </p:txBody>
      </p:sp>
      <p:pic>
        <p:nvPicPr>
          <p:cNvPr id="303" name="Google Shape;303;p33"/>
          <p:cNvPicPr preferRelativeResize="0"/>
          <p:nvPr/>
        </p:nvPicPr>
        <p:blipFill rotWithShape="1">
          <a:blip r:embed="rId3">
            <a:alphaModFix/>
          </a:blip>
          <a:srcRect/>
          <a:stretch/>
        </p:blipFill>
        <p:spPr>
          <a:xfrm>
            <a:off x="791832" y="2564904"/>
            <a:ext cx="1296000" cy="1296000"/>
          </a:xfrm>
          <a:prstGeom prst="rect">
            <a:avLst/>
          </a:prstGeom>
          <a:noFill/>
          <a:ln>
            <a:noFill/>
          </a:ln>
        </p:spPr>
      </p:pic>
      <p:sp>
        <p:nvSpPr>
          <p:cNvPr id="304" name="Google Shape;304;p33"/>
          <p:cNvSpPr/>
          <p:nvPr/>
        </p:nvSpPr>
        <p:spPr>
          <a:xfrm>
            <a:off x="2745053" y="2996880"/>
            <a:ext cx="432048" cy="432048"/>
          </a:xfrm>
          <a:prstGeom prst="rightArrow">
            <a:avLst>
              <a:gd name="adj1" fmla="val 50000"/>
              <a:gd name="adj2" fmla="val 50000"/>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305" name="Google Shape;305;p33"/>
          <p:cNvSpPr/>
          <p:nvPr/>
        </p:nvSpPr>
        <p:spPr>
          <a:xfrm>
            <a:off x="5787543" y="2996880"/>
            <a:ext cx="432048" cy="432048"/>
          </a:xfrm>
          <a:prstGeom prst="rightArrow">
            <a:avLst>
              <a:gd name="adj1" fmla="val 50000"/>
              <a:gd name="adj2" fmla="val 50000"/>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306" name="Google Shape;306;p33"/>
          <p:cNvSpPr/>
          <p:nvPr/>
        </p:nvSpPr>
        <p:spPr>
          <a:xfrm>
            <a:off x="791832" y="3860904"/>
            <a:ext cx="2268000" cy="1296000"/>
          </a:xfrm>
          <a:prstGeom prst="rect">
            <a:avLst/>
          </a:prstGeom>
          <a:noFill/>
          <a:ln>
            <a:noFill/>
          </a:ln>
        </p:spPr>
        <p:txBody>
          <a:bodyPr spcFirstLastPara="1" wrap="square" lIns="0" tIns="45700" rIns="0"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3DS Max</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Modelling</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Texturing</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Fbx</a:t>
            </a:r>
            <a:endParaRPr sz="1800" b="1">
              <a:solidFill>
                <a:schemeClr val="dk1"/>
              </a:solidFill>
              <a:latin typeface="Quattrocento Sans"/>
              <a:ea typeface="Quattrocento Sans"/>
              <a:cs typeface="Quattrocento Sans"/>
              <a:sym typeface="Quattrocento Sans"/>
            </a:endParaRPr>
          </a:p>
        </p:txBody>
      </p:sp>
      <p:sp>
        <p:nvSpPr>
          <p:cNvPr id="307" name="Google Shape;307;p33"/>
          <p:cNvSpPr/>
          <p:nvPr/>
        </p:nvSpPr>
        <p:spPr>
          <a:xfrm>
            <a:off x="3834322" y="4077216"/>
            <a:ext cx="2268000" cy="1296000"/>
          </a:xfrm>
          <a:prstGeom prst="rect">
            <a:avLst/>
          </a:prstGeom>
          <a:noFill/>
          <a:ln>
            <a:noFill/>
          </a:ln>
        </p:spPr>
        <p:txBody>
          <a:bodyPr spcFirstLastPara="1" wrap="square" lIns="0" tIns="45700" rIns="0"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Unity3D</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Shaders</a:t>
            </a: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Lighting</a:t>
            </a:r>
            <a:br>
              <a:rPr lang="en-GB" sz="1800" b="1">
                <a:solidFill>
                  <a:schemeClr val="dk1"/>
                </a:solidFill>
                <a:latin typeface="Quattrocento Sans"/>
                <a:ea typeface="Quattrocento Sans"/>
                <a:cs typeface="Quattrocento Sans"/>
                <a:sym typeface="Quattrocento Sans"/>
              </a:rPr>
            </a:br>
            <a:r>
              <a:rPr lang="en-GB" sz="1800" b="1">
                <a:solidFill>
                  <a:schemeClr val="dk1"/>
                </a:solidFill>
                <a:latin typeface="Quattrocento Sans"/>
                <a:ea typeface="Quattrocento Sans"/>
                <a:cs typeface="Quattrocento Sans"/>
                <a:sym typeface="Quattrocento Sans"/>
              </a:rPr>
              <a:t>C# Interaction</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C# Navigation</a:t>
            </a:r>
            <a:br>
              <a:rPr lang="en-GB" sz="1800" b="1">
                <a:solidFill>
                  <a:schemeClr val="dk1"/>
                </a:solidFill>
                <a:latin typeface="Quattrocento Sans"/>
                <a:ea typeface="Quattrocento Sans"/>
                <a:cs typeface="Quattrocento Sans"/>
                <a:sym typeface="Quattrocento Sans"/>
              </a:rPr>
            </a:br>
            <a:r>
              <a:rPr lang="en-GB" sz="1800" b="1">
                <a:solidFill>
                  <a:schemeClr val="dk1"/>
                </a:solidFill>
                <a:latin typeface="Quattrocento Sans"/>
                <a:ea typeface="Quattrocento Sans"/>
                <a:cs typeface="Quattrocento Sans"/>
                <a:sym typeface="Quattrocento Sans"/>
              </a:rPr>
              <a:t>C# System States</a:t>
            </a:r>
            <a:endParaRPr sz="1800">
              <a:solidFill>
                <a:schemeClr val="dk1"/>
              </a:solidFill>
              <a:latin typeface="Quattrocento Sans"/>
              <a:ea typeface="Quattrocento Sans"/>
              <a:cs typeface="Quattrocento Sans"/>
              <a:sym typeface="Quattrocento Sans"/>
            </a:endParaRPr>
          </a:p>
        </p:txBody>
      </p:sp>
      <p:sp>
        <p:nvSpPr>
          <p:cNvPr id="308" name="Google Shape;308;p33"/>
          <p:cNvSpPr/>
          <p:nvPr/>
        </p:nvSpPr>
        <p:spPr>
          <a:xfrm>
            <a:off x="6876256" y="3860904"/>
            <a:ext cx="2267744" cy="1296000"/>
          </a:xfrm>
          <a:prstGeom prst="rect">
            <a:avLst/>
          </a:prstGeom>
          <a:noFill/>
          <a:ln>
            <a:noFill/>
          </a:ln>
        </p:spPr>
        <p:txBody>
          <a:bodyPr spcFirstLastPara="1" wrap="square" lIns="0" tIns="45700" rIns="0" bIns="45700" anchor="ctr" anchorCtr="0">
            <a:noAutofit/>
          </a:bodyPr>
          <a:lstStyle/>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WebGL</a:t>
            </a: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Chrome or Firefox</a:t>
            </a:r>
            <a:br>
              <a:rPr lang="en-GB" sz="1800" b="1">
                <a:solidFill>
                  <a:schemeClr val="dk1"/>
                </a:solidFill>
                <a:latin typeface="Quattrocento Sans"/>
                <a:ea typeface="Quattrocento Sans"/>
                <a:cs typeface="Quattrocento Sans"/>
                <a:sym typeface="Quattrocento Sans"/>
              </a:rPr>
            </a:br>
            <a:r>
              <a:rPr lang="en-GB" sz="1800" b="1">
                <a:solidFill>
                  <a:schemeClr val="dk1"/>
                </a:solidFill>
                <a:latin typeface="Quattrocento Sans"/>
                <a:ea typeface="Quattrocento Sans"/>
                <a:cs typeface="Quattrocento Sans"/>
                <a:sym typeface="Quattrocento Sans"/>
              </a:rPr>
              <a:t>Keyboard Input</a:t>
            </a:r>
            <a:br>
              <a:rPr lang="en-GB" sz="1800" b="1">
                <a:solidFill>
                  <a:schemeClr val="dk1"/>
                </a:solidFill>
                <a:latin typeface="Quattrocento Sans"/>
                <a:ea typeface="Quattrocento Sans"/>
                <a:cs typeface="Quattrocento Sans"/>
                <a:sym typeface="Quattrocento Sans"/>
              </a:rPr>
            </a:br>
            <a:r>
              <a:rPr lang="en-GB" sz="1800" b="1">
                <a:solidFill>
                  <a:schemeClr val="dk1"/>
                </a:solidFill>
                <a:latin typeface="Quattrocento Sans"/>
                <a:ea typeface="Quattrocento Sans"/>
                <a:cs typeface="Quattrocento Sans"/>
                <a:sym typeface="Quattrocento Sans"/>
              </a:rPr>
              <a:t>Mouse Input</a:t>
            </a:r>
            <a:endParaRPr sz="1800">
              <a:solidFill>
                <a:schemeClr val="dk1"/>
              </a:solidFill>
              <a:latin typeface="Quattrocento Sans"/>
              <a:ea typeface="Quattrocento Sans"/>
              <a:cs typeface="Quattrocento Sans"/>
              <a:sym typeface="Quattrocento Sans"/>
            </a:endParaRPr>
          </a:p>
        </p:txBody>
      </p:sp>
      <p:sp>
        <p:nvSpPr>
          <p:cNvPr id="309" name="Google Shape;309;p33"/>
          <p:cNvSpPr txBox="1"/>
          <p:nvPr/>
        </p:nvSpPr>
        <p:spPr>
          <a:xfrm>
            <a:off x="2703442" y="3573016"/>
            <a:ext cx="5152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Fbx</a:t>
            </a:r>
            <a:endParaRPr sz="1800">
              <a:solidFill>
                <a:schemeClr val="dk1"/>
              </a:solidFill>
              <a:latin typeface="Quattrocento Sans"/>
              <a:ea typeface="Quattrocento Sans"/>
              <a:cs typeface="Quattrocento Sans"/>
              <a:sym typeface="Quattrocento Sans"/>
            </a:endParaRPr>
          </a:p>
        </p:txBody>
      </p:sp>
      <p:pic>
        <p:nvPicPr>
          <p:cNvPr id="310" name="Google Shape;310;p33"/>
          <p:cNvPicPr preferRelativeResize="0"/>
          <p:nvPr/>
        </p:nvPicPr>
        <p:blipFill rotWithShape="1">
          <a:blip r:embed="rId4">
            <a:alphaModFix/>
          </a:blip>
          <a:srcRect/>
          <a:stretch/>
        </p:blipFill>
        <p:spPr>
          <a:xfrm>
            <a:off x="845832" y="2618904"/>
            <a:ext cx="1188000" cy="1188000"/>
          </a:xfrm>
          <a:prstGeom prst="rect">
            <a:avLst/>
          </a:prstGeom>
          <a:noFill/>
          <a:ln>
            <a:noFill/>
          </a:ln>
        </p:spPr>
      </p:pic>
      <p:pic>
        <p:nvPicPr>
          <p:cNvPr id="311" name="Google Shape;311;p33"/>
          <p:cNvPicPr preferRelativeResize="0"/>
          <p:nvPr/>
        </p:nvPicPr>
        <p:blipFill rotWithShape="1">
          <a:blip r:embed="rId5">
            <a:alphaModFix/>
          </a:blip>
          <a:srcRect/>
          <a:stretch/>
        </p:blipFill>
        <p:spPr>
          <a:xfrm>
            <a:off x="3851920" y="2591207"/>
            <a:ext cx="1269841" cy="1269841"/>
          </a:xfrm>
          <a:prstGeom prst="rect">
            <a:avLst/>
          </a:prstGeom>
          <a:noFill/>
          <a:ln>
            <a:noFill/>
          </a:ln>
        </p:spPr>
      </p:pic>
      <p:pic>
        <p:nvPicPr>
          <p:cNvPr id="312" name="Google Shape;312;p33"/>
          <p:cNvPicPr preferRelativeResize="0"/>
          <p:nvPr/>
        </p:nvPicPr>
        <p:blipFill rotWithShape="1">
          <a:blip r:embed="rId6">
            <a:alphaModFix/>
          </a:blip>
          <a:srcRect/>
          <a:stretch/>
        </p:blipFill>
        <p:spPr>
          <a:xfrm>
            <a:off x="6804248" y="2876761"/>
            <a:ext cx="1405651" cy="584773"/>
          </a:xfrm>
          <a:prstGeom prst="rect">
            <a:avLst/>
          </a:prstGeom>
          <a:noFill/>
          <a:ln>
            <a:noFill/>
          </a:ln>
        </p:spPr>
      </p:pic>
      <p:sp>
        <p:nvSpPr>
          <p:cNvPr id="313" name="Google Shape;313;p33"/>
          <p:cNvSpPr/>
          <p:nvPr/>
        </p:nvSpPr>
        <p:spPr>
          <a:xfrm>
            <a:off x="6319991" y="1556792"/>
            <a:ext cx="2401875"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800" b="1">
                <a:solidFill>
                  <a:schemeClr val="dk1"/>
                </a:solidFill>
                <a:latin typeface="Quattrocento Sans"/>
                <a:ea typeface="Quattrocento Sans"/>
                <a:cs typeface="Quattrocento Sans"/>
                <a:sym typeface="Quattrocento Sans"/>
              </a:rPr>
              <a:t>*Virtual Environment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Quattrocento Sans"/>
              <a:buNone/>
            </a:pPr>
            <a:r>
              <a:rPr lang="en-GB"/>
              <a:t>Virtual Environment – 3DUI Needed</a:t>
            </a:r>
            <a:endParaRPr/>
          </a:p>
        </p:txBody>
      </p:sp>
      <p:sp>
        <p:nvSpPr>
          <p:cNvPr id="320" name="Google Shape;320;p34"/>
          <p:cNvSpPr txBox="1"/>
          <p:nvPr/>
        </p:nvSpPr>
        <p:spPr>
          <a:xfrm>
            <a:off x="422951" y="1340768"/>
            <a:ext cx="8253505" cy="3785652"/>
          </a:xfrm>
          <a:prstGeom prst="rect">
            <a:avLst/>
          </a:prstGeom>
          <a:noFill/>
          <a:ln>
            <a:noFill/>
          </a:ln>
        </p:spPr>
        <p:txBody>
          <a:bodyPr spcFirstLastPara="1" wrap="square" lIns="91425" tIns="45700" rIns="91425" bIns="45700" anchor="t" anchorCtr="0">
            <a:spAutoFit/>
          </a:bodyPr>
          <a:lstStyle/>
          <a:p>
            <a:pPr marL="342900" marR="0" lvl="0" indent="-190500" algn="l" rtl="0">
              <a:spcBef>
                <a:spcPts val="0"/>
              </a:spcBef>
              <a:spcAft>
                <a:spcPts val="0"/>
              </a:spcAft>
              <a:buClr>
                <a:schemeClr val="dk1"/>
              </a:buClr>
              <a:buSzPts val="2400"/>
              <a:buFont typeface="Arial"/>
              <a:buNone/>
            </a:pPr>
            <a:endParaRPr sz="2400" b="1">
              <a:solidFill>
                <a:schemeClr val="dk1"/>
              </a:solidFill>
              <a:latin typeface="Quattrocento Sans"/>
              <a:ea typeface="Quattrocento Sans"/>
              <a:cs typeface="Quattrocento Sans"/>
              <a:sym typeface="Quattrocento Sans"/>
            </a:endParaRPr>
          </a:p>
          <a:p>
            <a:pPr marL="342900" marR="0" lvl="0" indent="-342900" algn="l" rtl="0">
              <a:spcBef>
                <a:spcPts val="0"/>
              </a:spcBef>
              <a:spcAft>
                <a:spcPts val="0"/>
              </a:spcAft>
              <a:buClr>
                <a:schemeClr val="dk1"/>
              </a:buClr>
              <a:buSzPts val="2400"/>
              <a:buFont typeface="Arial"/>
              <a:buChar char="•"/>
            </a:pPr>
            <a:r>
              <a:rPr lang="en-GB" sz="2400" b="1">
                <a:solidFill>
                  <a:schemeClr val="dk1"/>
                </a:solidFill>
                <a:latin typeface="Quattrocento Sans"/>
                <a:ea typeface="Quattrocento Sans"/>
                <a:cs typeface="Quattrocento Sans"/>
                <a:sym typeface="Quattrocento Sans"/>
              </a:rPr>
              <a:t>At its most basic, we need some sort of 3D UI to interact with a Virtual Environment.</a:t>
            </a:r>
            <a:endParaRPr/>
          </a:p>
          <a:p>
            <a:pPr marL="342900" marR="0" lvl="0" indent="-190500" algn="l" rtl="0">
              <a:spcBef>
                <a:spcPts val="0"/>
              </a:spcBef>
              <a:spcAft>
                <a:spcPts val="0"/>
              </a:spcAft>
              <a:buClr>
                <a:schemeClr val="dk1"/>
              </a:buClr>
              <a:buSzPts val="2400"/>
              <a:buFont typeface="Arial"/>
              <a:buNone/>
            </a:pPr>
            <a:endParaRPr sz="2400" b="1">
              <a:solidFill>
                <a:schemeClr val="dk1"/>
              </a:solidFill>
              <a:latin typeface="Quattrocento Sans"/>
              <a:ea typeface="Quattrocento Sans"/>
              <a:cs typeface="Quattrocento Sans"/>
              <a:sym typeface="Quattrocento Sans"/>
            </a:endParaRPr>
          </a:p>
          <a:p>
            <a:pPr marL="342900" marR="0" lvl="0" indent="-342900" algn="l" rtl="0">
              <a:spcBef>
                <a:spcPts val="0"/>
              </a:spcBef>
              <a:spcAft>
                <a:spcPts val="0"/>
              </a:spcAft>
              <a:buClr>
                <a:schemeClr val="dk1"/>
              </a:buClr>
              <a:buSzPts val="2400"/>
              <a:buFont typeface="Arial"/>
              <a:buChar char="•"/>
            </a:pPr>
            <a:r>
              <a:rPr lang="en-GB" sz="2400" b="1">
                <a:solidFill>
                  <a:schemeClr val="dk1"/>
                </a:solidFill>
                <a:latin typeface="Quattrocento Sans"/>
                <a:ea typeface="Quattrocento Sans"/>
                <a:cs typeface="Quattrocento Sans"/>
                <a:sym typeface="Quattrocento Sans"/>
              </a:rPr>
              <a:t>We may think we know instinctively what a VE is, but to correctly define and use 3D UI concepts, we must know what flavour of VE we are using or need.</a:t>
            </a:r>
            <a:endParaRPr/>
          </a:p>
          <a:p>
            <a:pPr marL="342900" marR="0" lvl="0" indent="-190500" algn="l" rtl="0">
              <a:spcBef>
                <a:spcPts val="0"/>
              </a:spcBef>
              <a:spcAft>
                <a:spcPts val="0"/>
              </a:spcAft>
              <a:buClr>
                <a:schemeClr val="dk1"/>
              </a:buClr>
              <a:buSzPts val="2400"/>
              <a:buFont typeface="Arial"/>
              <a:buNone/>
            </a:pPr>
            <a:endParaRPr sz="2400" b="1">
              <a:solidFill>
                <a:schemeClr val="dk1"/>
              </a:solidFill>
              <a:latin typeface="Quattrocento Sans"/>
              <a:ea typeface="Quattrocento Sans"/>
              <a:cs typeface="Quattrocento Sans"/>
              <a:sym typeface="Quattrocento Sans"/>
            </a:endParaRPr>
          </a:p>
          <a:p>
            <a:pPr marL="342900" marR="0" lvl="0" indent="-342900" algn="l" rtl="0">
              <a:spcBef>
                <a:spcPts val="0"/>
              </a:spcBef>
              <a:spcAft>
                <a:spcPts val="0"/>
              </a:spcAft>
              <a:buClr>
                <a:schemeClr val="dk1"/>
              </a:buClr>
              <a:buSzPts val="2400"/>
              <a:buFont typeface="Arial"/>
              <a:buChar char="•"/>
            </a:pPr>
            <a:r>
              <a:rPr lang="en-GB" sz="2400" b="1">
                <a:solidFill>
                  <a:schemeClr val="dk1"/>
                </a:solidFill>
                <a:latin typeface="Quattrocento Sans"/>
                <a:ea typeface="Quattrocento Sans"/>
                <a:cs typeface="Quattrocento Sans"/>
                <a:sym typeface="Quattrocento Sans"/>
              </a:rPr>
              <a:t>This is complicated greatly by public perceptions of VEs and the misnaming and misconceptions that happens.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5"/>
          <p:cNvSpPr/>
          <p:nvPr/>
        </p:nvSpPr>
        <p:spPr>
          <a:xfrm>
            <a:off x="458260" y="1376772"/>
            <a:ext cx="8218195" cy="4860284"/>
          </a:xfrm>
          <a:prstGeom prst="rect">
            <a:avLst/>
          </a:prstGeom>
          <a:solidFill>
            <a:srgbClr val="F18B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
        <p:nvSpPr>
          <p:cNvPr id="327" name="Google Shape;327;p35"/>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Basic - Mixed Reality Scale</a:t>
            </a:r>
            <a:endParaRPr/>
          </a:p>
        </p:txBody>
      </p:sp>
      <p:pic>
        <p:nvPicPr>
          <p:cNvPr id="328" name="Google Shape;328;p35" descr="https://wiki.mq.edu.au/download/attachments/132089141/slide-15-728.jpg?version=1&amp;modificationDate=1375330923000&amp;api=v2"/>
          <p:cNvPicPr preferRelativeResize="0"/>
          <p:nvPr/>
        </p:nvPicPr>
        <p:blipFill rotWithShape="1">
          <a:blip r:embed="rId3">
            <a:alphaModFix/>
          </a:blip>
          <a:srcRect/>
          <a:stretch/>
        </p:blipFill>
        <p:spPr>
          <a:xfrm>
            <a:off x="539552" y="3434922"/>
            <a:ext cx="2497339" cy="1873005"/>
          </a:xfrm>
          <a:prstGeom prst="rect">
            <a:avLst/>
          </a:prstGeom>
          <a:noFill/>
          <a:ln>
            <a:noFill/>
          </a:ln>
        </p:spPr>
      </p:pic>
      <p:pic>
        <p:nvPicPr>
          <p:cNvPr id="329" name="Google Shape;329;p35" descr="https://wiki.mq.edu.au/download/attachments/132089141/slide-14-728.jpg?version=1&amp;modificationDate=1375330930000&amp;api=v2"/>
          <p:cNvPicPr preferRelativeResize="0"/>
          <p:nvPr/>
        </p:nvPicPr>
        <p:blipFill rotWithShape="1">
          <a:blip r:embed="rId4">
            <a:alphaModFix/>
          </a:blip>
          <a:srcRect/>
          <a:stretch/>
        </p:blipFill>
        <p:spPr>
          <a:xfrm>
            <a:off x="3315626" y="3428598"/>
            <a:ext cx="2497339" cy="1873005"/>
          </a:xfrm>
          <a:prstGeom prst="rect">
            <a:avLst/>
          </a:prstGeom>
          <a:noFill/>
          <a:ln>
            <a:noFill/>
          </a:ln>
        </p:spPr>
      </p:pic>
      <p:pic>
        <p:nvPicPr>
          <p:cNvPr id="330" name="Google Shape;330;p35" descr="https://wiki.mq.edu.au/download/attachments/132089141/slide-12-728.jpg?version=1&amp;modificationDate=1375330939000&amp;api=v2"/>
          <p:cNvPicPr preferRelativeResize="0"/>
          <p:nvPr/>
        </p:nvPicPr>
        <p:blipFill rotWithShape="1">
          <a:blip r:embed="rId5">
            <a:alphaModFix/>
          </a:blip>
          <a:srcRect/>
          <a:stretch/>
        </p:blipFill>
        <p:spPr>
          <a:xfrm>
            <a:off x="6084168" y="3422676"/>
            <a:ext cx="2504709" cy="1878532"/>
          </a:xfrm>
          <a:prstGeom prst="rect">
            <a:avLst/>
          </a:prstGeom>
          <a:noFill/>
          <a:ln>
            <a:noFill/>
          </a:ln>
        </p:spPr>
      </p:pic>
      <p:pic>
        <p:nvPicPr>
          <p:cNvPr id="331" name="Google Shape;331;p35" descr="https://wiki.mq.edu.au/download/attachments/132089141/AR%20mixed%20reality%20continuum.png?version=1&amp;modificationDate=1373427126000&amp;api=v2"/>
          <p:cNvPicPr preferRelativeResize="0"/>
          <p:nvPr/>
        </p:nvPicPr>
        <p:blipFill rotWithShape="1">
          <a:blip r:embed="rId6">
            <a:alphaModFix/>
          </a:blip>
          <a:srcRect/>
          <a:stretch/>
        </p:blipFill>
        <p:spPr>
          <a:xfrm>
            <a:off x="437331" y="1484784"/>
            <a:ext cx="8239125" cy="15716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Basic – VE Permutations – Part 1</a:t>
            </a:r>
            <a:endParaRPr/>
          </a:p>
        </p:txBody>
      </p:sp>
      <p:sp>
        <p:nvSpPr>
          <p:cNvPr id="338" name="Google Shape;338;p36"/>
          <p:cNvSpPr txBox="1"/>
          <p:nvPr/>
        </p:nvSpPr>
        <p:spPr>
          <a:xfrm>
            <a:off x="395524" y="1340775"/>
            <a:ext cx="8365200" cy="5693826"/>
          </a:xfrm>
          <a:prstGeom prst="rect">
            <a:avLst/>
          </a:prstGeom>
          <a:noFill/>
          <a:ln>
            <a:noFill/>
          </a:ln>
        </p:spPr>
        <p:txBody>
          <a:bodyPr spcFirstLastPara="1" wrap="square" lIns="91425" tIns="45700" rIns="91425" bIns="45700" anchor="t" anchorCtr="0">
            <a:spAutoFit/>
          </a:bodyPr>
          <a:lstStyle/>
          <a:p>
            <a:r>
              <a:rPr lang="en-GB" sz="2000" dirty="0">
                <a:solidFill>
                  <a:srgbClr val="FFFF00"/>
                </a:solidFill>
                <a:latin typeface="Quattrocento Sans"/>
                <a:ea typeface="Quattrocento Sans"/>
                <a:cs typeface="Quattrocento Sans"/>
                <a:sym typeface="Quattrocento Sans"/>
              </a:rPr>
              <a:t>Real world examples </a:t>
            </a:r>
            <a:endParaRPr lang="en-US" sz="2000"/>
          </a:p>
          <a:p>
            <a:r>
              <a:rPr lang="en-GB" sz="2000" dirty="0">
                <a:solidFill>
                  <a:srgbClr val="FF0000"/>
                </a:solidFill>
                <a:ea typeface="Quattrocento Sans"/>
                <a:sym typeface="Quattrocento Sans"/>
                <a:hlinkClick r:id="rId3"/>
              </a:rPr>
              <a:t>https://uowdigital.padlet.org/fergusj/3dimd-cw-samples-5ohcvanq1wlcq0h9</a:t>
            </a:r>
            <a:r>
              <a:rPr lang="en-GB" sz="2000" dirty="0">
                <a:solidFill>
                  <a:srgbClr val="FF0000"/>
                </a:solidFill>
                <a:ea typeface="Quattrocento Sans"/>
                <a:sym typeface="Quattrocento Sans"/>
              </a:rPr>
              <a:t> </a:t>
            </a:r>
            <a:endParaRPr sz="2000"/>
          </a:p>
          <a:p>
            <a:endParaRPr lang="en-GB" sz="2000" u="sng" dirty="0">
              <a:solidFill>
                <a:srgbClr val="FFFF00"/>
              </a:solidFill>
              <a:latin typeface="Quattrocento Sans"/>
              <a:ea typeface="Quattrocento Sans"/>
              <a:cs typeface="Quattrocento Sans"/>
              <a:sym typeface="Quattrocento Sans"/>
            </a:endParaRPr>
          </a:p>
          <a:p>
            <a:pPr marL="0" marR="0" lvl="0" indent="0" algn="l">
              <a:spcBef>
                <a:spcPts val="0"/>
              </a:spcBef>
              <a:spcAft>
                <a:spcPts val="0"/>
              </a:spcAft>
              <a:buNone/>
            </a:pPr>
            <a:r>
              <a:rPr lang="en-GB" sz="2000" u="sng" dirty="0">
                <a:solidFill>
                  <a:srgbClr val="FFFF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VR Platforms</a:t>
            </a:r>
            <a:endParaRPr sz="20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000" u="sng" dirty="0">
                <a:solidFill>
                  <a:srgbClr val="FF0000"/>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https://padlet.com/sselwood1/VirtualMeeting</a:t>
            </a:r>
            <a:endParaRPr sz="2000">
              <a:solidFill>
                <a:srgbClr val="FF0000"/>
              </a:solidFill>
              <a:latin typeface="Quattrocento Sans"/>
              <a:ea typeface="Quattrocento Sans"/>
              <a:cs typeface="Quattrocento Sans"/>
            </a:endParaRPr>
          </a:p>
          <a:p>
            <a:endParaRPr lang="en-GB" sz="2000" dirty="0">
              <a:solidFill>
                <a:srgbClr val="FFFF00"/>
              </a:solidFill>
              <a:latin typeface="Quattrocento Sans"/>
              <a:ea typeface="Quattrocento Sans"/>
              <a:cs typeface="Quattrocento Sans"/>
              <a:sym typeface="Quattrocento Sans"/>
            </a:endParaRPr>
          </a:p>
          <a:p>
            <a:pPr marL="0" marR="0" lvl="0" indent="0" algn="l">
              <a:spcBef>
                <a:spcPts val="0"/>
              </a:spcBef>
              <a:spcAft>
                <a:spcPts val="0"/>
              </a:spcAft>
              <a:buNone/>
            </a:pPr>
            <a:r>
              <a:rPr lang="en-GB" sz="2000" dirty="0">
                <a:solidFill>
                  <a:srgbClr val="FFFF00"/>
                </a:solidFill>
                <a:latin typeface="Quattrocento Sans"/>
                <a:ea typeface="Quattrocento Sans"/>
                <a:cs typeface="Quattrocento Sans"/>
                <a:sym typeface="Quattrocento Sans"/>
              </a:rPr>
              <a:t>XR In Industry</a:t>
            </a:r>
            <a:endParaRPr sz="2000" dirty="0"/>
          </a:p>
          <a:p>
            <a:pPr marL="0" marR="0" lvl="0" indent="0" algn="l" rtl="0">
              <a:spcBef>
                <a:spcPts val="0"/>
              </a:spcBef>
              <a:spcAft>
                <a:spcPts val="0"/>
              </a:spcAft>
              <a:buNone/>
            </a:pPr>
            <a:r>
              <a:rPr lang="en-GB" sz="2000" u="sng" dirty="0">
                <a:solidFill>
                  <a:schemeClr val="dk2"/>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https://uowdigital.padlet.org/fergusj/XRinIndustry</a:t>
            </a:r>
            <a:endParaRPr sz="2000" u="sng">
              <a:solidFill>
                <a:schemeClr val="dk2"/>
              </a:solidFill>
              <a:latin typeface="Quattrocento Sans"/>
              <a:ea typeface="Quattrocento Sans"/>
              <a:cs typeface="Quattrocento Sans"/>
              <a:hlinkClick r:id="" action="ppaction://noaction">
                <a:extLst>
                  <a:ext uri="{A12FA001-AC4F-418D-AE19-62706E023703}">
                    <ahyp:hlinkClr xmlns:ahyp="http://schemas.microsoft.com/office/drawing/2018/hyperlinkcolor" val="tx"/>
                  </a:ext>
                </a:extLst>
              </a:hlinkClick>
            </a:endParaRPr>
          </a:p>
          <a:p>
            <a:endParaRPr lang="en-GB" sz="2000" u="sng" dirty="0">
              <a:solidFill>
                <a:srgbClr val="FFFF00"/>
              </a:solidFill>
              <a:latin typeface="Quattrocento Sans"/>
              <a:ea typeface="Quattrocento Sans"/>
              <a:cs typeface="Quattrocento Sans"/>
              <a:sym typeface="Quattrocento Sans"/>
            </a:endParaRPr>
          </a:p>
          <a:p>
            <a:pPr marL="0" marR="0" lvl="0" indent="0" algn="l">
              <a:spcBef>
                <a:spcPts val="0"/>
              </a:spcBef>
              <a:spcAft>
                <a:spcPts val="0"/>
              </a:spcAft>
              <a:buNone/>
            </a:pPr>
            <a:r>
              <a:rPr lang="en-GB" sz="2000" u="sng" dirty="0">
                <a:solidFill>
                  <a:srgbClr val="FF0000"/>
                </a:solidFill>
                <a:latin typeface="Quattrocento Sans"/>
                <a:ea typeface="Quattrocento Sans"/>
                <a:cs typeface="Quattrocento Sans"/>
                <a:sym typeface="Quattrocento Sans"/>
                <a:hlinkClick r:id="rId7">
                  <a:extLst>
                    <a:ext uri="{A12FA001-AC4F-418D-AE19-62706E023703}">
                      <ahyp:hlinkClr xmlns:ahyp="http://schemas.microsoft.com/office/drawing/2018/hyperlinkcolor" val="tx"/>
                    </a:ext>
                  </a:extLst>
                </a:hlinkClick>
              </a:rPr>
              <a:t>XR Lab Website</a:t>
            </a:r>
            <a:endParaRPr sz="2000">
              <a:solidFill>
                <a:srgbClr val="FF0000"/>
              </a:solidFill>
              <a:latin typeface="Quattrocento Sans"/>
              <a:ea typeface="Quattrocento Sans"/>
              <a:cs typeface="Quattrocento Sans"/>
            </a:endParaRPr>
          </a:p>
          <a:p>
            <a:pPr marL="0" marR="0" lvl="0" indent="0" algn="l" rtl="0">
              <a:spcBef>
                <a:spcPts val="0"/>
              </a:spcBef>
              <a:spcAft>
                <a:spcPts val="0"/>
              </a:spcAft>
              <a:buNone/>
            </a:pPr>
            <a:r>
              <a:rPr lang="en-GB" sz="2000" u="sng" dirty="0">
                <a:solidFill>
                  <a:srgbClr val="FF0000"/>
                </a:solidFill>
                <a:latin typeface="Quattrocento Sans"/>
                <a:ea typeface="Quattrocento Sans"/>
                <a:cs typeface="Quattrocento Sans"/>
                <a:sym typeface="Quattrocento Sans"/>
                <a:hlinkClick r:id="rId8">
                  <a:extLst>
                    <a:ext uri="{A12FA001-AC4F-418D-AE19-62706E023703}">
                      <ahyp:hlinkClr xmlns:ahyp="http://schemas.microsoft.com/office/drawing/2018/hyperlinkcolor" val="tx"/>
                    </a:ext>
                  </a:extLst>
                </a:hlinkClick>
              </a:rPr>
              <a:t>XR Lab on Blackboard</a:t>
            </a:r>
            <a:endParaRPr sz="2000">
              <a:solidFill>
                <a:srgbClr val="FF0000"/>
              </a:solidFill>
              <a:latin typeface="Quattrocento Sans"/>
              <a:ea typeface="Quattrocento Sans"/>
              <a:cs typeface="Quattrocento Sans"/>
            </a:endParaRPr>
          </a:p>
          <a:p>
            <a:r>
              <a:rPr lang="en-GB" sz="2000" u="sng" dirty="0">
                <a:solidFill>
                  <a:schemeClr val="dk2"/>
                </a:solidFill>
                <a:latin typeface="Quattrocento Sans"/>
                <a:ea typeface="Quattrocento Sans"/>
                <a:cs typeface="Quattrocento Sans"/>
                <a:sym typeface="Quattrocento Sans"/>
              </a:rPr>
              <a:t>XR Lab Examples</a:t>
            </a:r>
            <a:endParaRPr sz="2000">
              <a:solidFill>
                <a:schemeClr val="dk2"/>
              </a:solidFill>
              <a:latin typeface="Quattrocento Sans"/>
              <a:ea typeface="Quattrocento Sans"/>
              <a:cs typeface="Quattrocento Sans"/>
            </a:endParaRPr>
          </a:p>
          <a:p>
            <a:r>
              <a:rPr lang="en-GB" sz="2000" dirty="0">
                <a:solidFill>
                  <a:srgbClr val="FFFF00"/>
                </a:solidFill>
                <a:latin typeface="Quattrocento Sans"/>
                <a:ea typeface="Quattrocento Sans"/>
                <a:cs typeface="Quattrocento Sans"/>
                <a:hlinkClick r:id="rId9"/>
              </a:rPr>
              <a:t>XR Lab Demo Videos</a:t>
            </a:r>
            <a:endParaRPr lang="en-GB" sz="2000" dirty="0">
              <a:solidFill>
                <a:srgbClr val="FFFF00"/>
              </a:solidFill>
              <a:latin typeface="Quattrocento Sans"/>
              <a:ea typeface="Quattrocento Sans"/>
              <a:cs typeface="Quattrocento Sans"/>
              <a:sym typeface="Quattrocento Sans"/>
            </a:endParaRPr>
          </a:p>
          <a:p>
            <a:pPr marL="0" marR="0" lvl="0" indent="0" algn="l">
              <a:spcBef>
                <a:spcPts val="0"/>
              </a:spcBef>
              <a:spcAft>
                <a:spcPts val="0"/>
              </a:spcAft>
              <a:buNone/>
            </a:pPr>
            <a:r>
              <a:rPr lang="en-GB" sz="2000" dirty="0">
                <a:solidFill>
                  <a:srgbClr val="FFFF00"/>
                </a:solidFill>
                <a:latin typeface="Quattrocento Sans"/>
                <a:ea typeface="Quattrocento Sans"/>
                <a:cs typeface="Quattrocento Sans"/>
                <a:sym typeface="Quattrocento Sans"/>
              </a:rPr>
              <a:t>…and some misnomers</a:t>
            </a:r>
            <a:endParaRPr lang="en-US" sz="2000" dirty="0"/>
          </a:p>
          <a:p>
            <a:pPr marL="0" marR="0" lvl="0" indent="0" algn="l" rtl="0">
              <a:spcBef>
                <a:spcPts val="0"/>
              </a:spcBef>
              <a:spcAft>
                <a:spcPts val="0"/>
              </a:spcAft>
              <a:buNone/>
            </a:pPr>
            <a:r>
              <a:rPr lang="en-GB" sz="2000" dirty="0">
                <a:solidFill>
                  <a:srgbClr val="FFFF00"/>
                </a:solidFill>
                <a:latin typeface="Quattrocento Sans"/>
                <a:ea typeface="Quattrocento Sans"/>
                <a:cs typeface="Quattrocento Sans"/>
                <a:sym typeface="Quattrocento Sans"/>
              </a:rPr>
              <a:t>Holograms</a:t>
            </a:r>
            <a:r>
              <a:rPr lang="en-US" sz="2000" dirty="0">
                <a:solidFill>
                  <a:srgbClr val="FFFF00"/>
                </a:solidFill>
                <a:latin typeface="Quattrocento Sans"/>
                <a:ea typeface="Quattrocento Sans"/>
                <a:cs typeface="Quattrocento Sans"/>
                <a:sym typeface="Quattrocento Sans"/>
              </a:rPr>
              <a:t> - No</a:t>
            </a:r>
            <a:endParaRPr lang="en-US" sz="2000"/>
          </a:p>
          <a:p>
            <a:pPr marL="0" marR="0" lvl="0" indent="0" algn="l" rtl="0">
              <a:spcBef>
                <a:spcPts val="0"/>
              </a:spcBef>
              <a:spcAft>
                <a:spcPts val="0"/>
              </a:spcAft>
              <a:buNone/>
            </a:pPr>
            <a:r>
              <a:rPr lang="en-GB" sz="2000" dirty="0">
                <a:solidFill>
                  <a:srgbClr val="FFFF00"/>
                </a:solidFill>
                <a:latin typeface="Quattrocento Sans"/>
                <a:ea typeface="Quattrocento Sans"/>
                <a:cs typeface="Quattrocento Sans"/>
                <a:sym typeface="Quattrocento Sans"/>
              </a:rPr>
              <a:t>Virtual</a:t>
            </a:r>
            <a:r>
              <a:rPr lang="en-US" sz="2000" dirty="0">
                <a:solidFill>
                  <a:srgbClr val="FFFF00"/>
                </a:solidFill>
                <a:latin typeface="Quattrocento Sans"/>
                <a:ea typeface="Quattrocento Sans"/>
                <a:cs typeface="Quattrocento Sans"/>
                <a:sym typeface="Quattrocento Sans"/>
              </a:rPr>
              <a:t> Reality (360 Video)</a:t>
            </a:r>
            <a:endParaRPr lang="en-US" sz="2000" dirty="0"/>
          </a:p>
          <a:p>
            <a:pPr marL="0" marR="0" lvl="0" indent="0" algn="l" rtl="0">
              <a:spcBef>
                <a:spcPts val="0"/>
              </a:spcBef>
              <a:spcAft>
                <a:spcPts val="0"/>
              </a:spcAft>
              <a:buNone/>
            </a:pPr>
            <a:endParaRPr lang="en-US" sz="2400" b="1">
              <a:solidFill>
                <a:srgbClr val="FF0000"/>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2240062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VR </a:t>
            </a:r>
            <a:endParaRPr/>
          </a:p>
        </p:txBody>
      </p:sp>
      <p:sp>
        <p:nvSpPr>
          <p:cNvPr id="345" name="Google Shape;345;p37"/>
          <p:cNvSpPr/>
          <p:nvPr/>
        </p:nvSpPr>
        <p:spPr>
          <a:xfrm>
            <a:off x="467550" y="1124751"/>
            <a:ext cx="8496900" cy="5679600"/>
          </a:xfrm>
          <a:prstGeom prst="rect">
            <a:avLst/>
          </a:prstGeom>
          <a:noFill/>
          <a:ln>
            <a:noFill/>
          </a:ln>
        </p:spPr>
        <p:txBody>
          <a:bodyPr spcFirstLastPara="1" wrap="square" lIns="0" tIns="45700" rIns="0" bIns="45700" anchor="t" anchorCtr="0">
            <a:noAutofit/>
          </a:bodyPr>
          <a:lstStyle/>
          <a:p>
            <a:endParaRPr lang="en-GB" sz="1500" dirty="0">
              <a:solidFill>
                <a:srgbClr val="FF0000"/>
              </a:solidFill>
              <a:latin typeface="Quattrocento Sans"/>
              <a:ea typeface="Quattrocento Sans"/>
              <a:cs typeface="Quattrocento Sans"/>
            </a:endParaRPr>
          </a:p>
          <a:p>
            <a:r>
              <a:rPr lang="en-GB" sz="1700" dirty="0">
                <a:solidFill>
                  <a:srgbClr val="FF0000"/>
                </a:solidFill>
                <a:latin typeface="Quattrocento Sans"/>
                <a:ea typeface="Quattrocento Sans"/>
                <a:cs typeface="Quattrocento Sans"/>
                <a:sym typeface="Quattrocento Sans"/>
              </a:rPr>
              <a:t>Immersive (VR) Journalism</a:t>
            </a:r>
            <a:endParaRPr sz="1700">
              <a:solidFill>
                <a:srgbClr val="FF0000"/>
              </a:solidFill>
            </a:endParaRPr>
          </a:p>
          <a:p>
            <a:pPr marL="914400" marR="0" lvl="2" indent="0" algn="l" rtl="0">
              <a:spcBef>
                <a:spcPts val="0"/>
              </a:spcBef>
              <a:spcAft>
                <a:spcPts val="0"/>
              </a:spcAft>
              <a:buNone/>
            </a:pPr>
            <a:r>
              <a:rPr lang="en-GB" sz="1700" i="0" u="none" strike="noStrike" cap="none" dirty="0">
                <a:solidFill>
                  <a:srgbClr val="FF0000"/>
                </a:solidFill>
                <a:latin typeface="Quattrocento Sans"/>
                <a:ea typeface="Quattrocento Sans"/>
                <a:cs typeface="Quattrocento Sans"/>
                <a:sym typeface="Quattrocento Sans"/>
              </a:rPr>
              <a:t>Fishtank VR - Google Cardboard 6 x 9</a:t>
            </a:r>
            <a:endParaRPr sz="1700">
              <a:solidFill>
                <a:srgbClr val="FF0000"/>
              </a:solidFill>
            </a:endParaRPr>
          </a:p>
          <a:p>
            <a:pPr marL="914400" lvl="2"/>
            <a:r>
              <a:rPr lang="en-GB" sz="1700" i="0" strike="noStrike" cap="none" dirty="0">
                <a:solidFill>
                  <a:srgbClr val="FF0000"/>
                </a:solidFill>
                <a:ea typeface="Quattrocento Sans"/>
                <a:sym typeface="Quattrocento Sans"/>
                <a:hlinkClick r:id="rId3">
                  <a:extLst>
                    <a:ext uri="{A12FA001-AC4F-418D-AE19-62706E023703}">
                      <ahyp:hlinkClr xmlns:ahyp="http://schemas.microsoft.com/office/drawing/2018/hyperlinkcolor" val="tx"/>
                    </a:ext>
                  </a:extLst>
                </a:hlinkClick>
              </a:rPr>
              <a:t>https://www.theguardian.com/world/ng-interactive/2016/apr/27/6x9-a-virtual-experience-of-solitary-confinement</a:t>
            </a:r>
            <a:r>
              <a:rPr lang="en-GB" sz="1700" dirty="0">
                <a:solidFill>
                  <a:srgbClr val="FF0000"/>
                </a:solidFill>
                <a:ea typeface="Quattrocento Sans"/>
                <a:sym typeface="Quattrocento Sans"/>
              </a:rPr>
              <a:t> </a:t>
            </a:r>
            <a:endParaRPr sz="1700">
              <a:solidFill>
                <a:srgbClr val="FF0000"/>
              </a:solidFill>
            </a:endParaRPr>
          </a:p>
          <a:p>
            <a:pPr marL="914400" lvl="2"/>
            <a:r>
              <a:rPr lang="en-GB" sz="1700" i="0" u="none" strike="noStrike" cap="none" dirty="0">
                <a:solidFill>
                  <a:srgbClr val="FF0000"/>
                </a:solidFill>
                <a:latin typeface="Quattrocento Sans"/>
                <a:ea typeface="Quattrocento Sans"/>
                <a:cs typeface="Quattrocento Sans"/>
                <a:sym typeface="Quattrocento Sans"/>
              </a:rPr>
              <a:t>Desktop VR – Harvest of Change</a:t>
            </a:r>
            <a:r>
              <a:rPr lang="en-GB" sz="1700" dirty="0">
                <a:solidFill>
                  <a:srgbClr val="FF0000"/>
                </a:solidFill>
                <a:latin typeface="Quattrocento Sans"/>
                <a:ea typeface="Quattrocento Sans"/>
                <a:cs typeface="Quattrocento Sans"/>
                <a:sym typeface="Quattrocento Sans"/>
              </a:rPr>
              <a:t> </a:t>
            </a:r>
            <a:endParaRPr lang="en-GB" sz="1700">
              <a:solidFill>
                <a:srgbClr val="FF0000"/>
              </a:solidFill>
              <a:ea typeface="Quattrocento Sans"/>
            </a:endParaRPr>
          </a:p>
          <a:p>
            <a:pPr marL="914400" marR="0" lvl="2" indent="0" algn="l" rtl="0">
              <a:spcBef>
                <a:spcPts val="0"/>
              </a:spcBef>
              <a:spcAft>
                <a:spcPts val="0"/>
              </a:spcAft>
              <a:buNone/>
            </a:pPr>
            <a:r>
              <a:rPr lang="en-GB" sz="1700" i="0" u="sng" strike="noStrike" cap="none" dirty="0">
                <a:solidFill>
                  <a:srgbClr val="FF00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http://www.desmoinesregister.com/story/money/agriculture/2014/09/17/harvest-of-change-virtual-farm-virtual-reality/15785377/</a:t>
            </a:r>
            <a:endParaRPr sz="1700" i="0" u="none" strike="noStrike" cap="none" dirty="0">
              <a:solidFill>
                <a:srgbClr val="FF0000"/>
              </a:solidFill>
              <a:latin typeface="Quattrocento Sans"/>
              <a:ea typeface="Quattrocento Sans"/>
              <a:cs typeface="Quattrocento Sans"/>
            </a:endParaRPr>
          </a:p>
          <a:p>
            <a:pPr marL="914400" marR="0" lvl="2" indent="0" algn="l" rtl="0">
              <a:spcBef>
                <a:spcPts val="0"/>
              </a:spcBef>
              <a:spcAft>
                <a:spcPts val="0"/>
              </a:spcAft>
              <a:buNone/>
            </a:pPr>
            <a:r>
              <a:rPr lang="en-GB" sz="1700" i="0" u="none" strike="noStrike" cap="none" dirty="0">
                <a:solidFill>
                  <a:srgbClr val="FF0000"/>
                </a:solidFill>
                <a:latin typeface="Quattrocento Sans"/>
                <a:ea typeface="Quattrocento Sans"/>
                <a:cs typeface="Quattrocento Sans"/>
                <a:sym typeface="Quattrocento Sans"/>
              </a:rPr>
              <a:t>Syrian Prison</a:t>
            </a:r>
            <a:endParaRPr sz="1700">
              <a:solidFill>
                <a:srgbClr val="FF0000"/>
              </a:solidFill>
            </a:endParaRPr>
          </a:p>
          <a:p>
            <a:pPr marL="914400" marR="0" lvl="2" indent="0" algn="l" rtl="0">
              <a:spcBef>
                <a:spcPts val="0"/>
              </a:spcBef>
              <a:spcAft>
                <a:spcPts val="0"/>
              </a:spcAft>
              <a:buNone/>
            </a:pPr>
            <a:r>
              <a:rPr lang="en-GB" sz="1700" i="0" u="sng" strike="noStrike" cap="none" dirty="0">
                <a:solidFill>
                  <a:srgbClr val="FF0000"/>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https://saydnaya.amnesty.org/</a:t>
            </a:r>
            <a:endParaRPr sz="1700" i="0" u="none" strike="noStrike" cap="none" dirty="0">
              <a:solidFill>
                <a:srgbClr val="FF0000"/>
              </a:solidFill>
              <a:latin typeface="Quattrocento Sans"/>
              <a:ea typeface="Quattrocento Sans"/>
              <a:cs typeface="Quattrocento Sans"/>
            </a:endParaRPr>
          </a:p>
          <a:p>
            <a:pPr marL="0" marR="0" lvl="0" indent="0" algn="l" rtl="0">
              <a:spcBef>
                <a:spcPts val="0"/>
              </a:spcBef>
              <a:spcAft>
                <a:spcPts val="0"/>
              </a:spcAft>
              <a:buNone/>
            </a:pPr>
            <a:endParaRPr sz="1700" dirty="0">
              <a:solidFill>
                <a:srgbClr val="FF0000"/>
              </a:solidFill>
              <a:latin typeface="Quattrocento Sans"/>
              <a:ea typeface="Quattrocento Sans"/>
              <a:cs typeface="Quattrocento Sans"/>
            </a:endParaRPr>
          </a:p>
          <a:p>
            <a:r>
              <a:rPr lang="en-GB" sz="1700" dirty="0">
                <a:solidFill>
                  <a:srgbClr val="FF0000"/>
                </a:solidFill>
                <a:latin typeface="Quattrocento Sans"/>
                <a:ea typeface="Quattrocento Sans"/>
                <a:cs typeface="Quattrocento Sans"/>
                <a:sym typeface="Quattrocento Sans"/>
              </a:rPr>
              <a:t>360 Image/Video w/ 3DUI </a:t>
            </a:r>
            <a:endParaRPr sz="1700">
              <a:solidFill>
                <a:srgbClr val="FF0000"/>
              </a:solidFill>
            </a:endParaRPr>
          </a:p>
          <a:p>
            <a:r>
              <a:rPr lang="en-GB" sz="1700" dirty="0">
                <a:solidFill>
                  <a:srgbClr val="FF0000"/>
                </a:solidFill>
                <a:latin typeface="Quattrocento Sans"/>
                <a:ea typeface="Quattrocento Sans"/>
                <a:cs typeface="Quattrocento Sans"/>
                <a:sym typeface="Quattrocento Sans"/>
              </a:rPr>
              <a:t>	</a:t>
            </a:r>
            <a:r>
              <a:rPr lang="en-GB" sz="1700" err="1">
                <a:solidFill>
                  <a:srgbClr val="FF0000"/>
                </a:solidFill>
                <a:latin typeface="Quattrocento Sans"/>
                <a:ea typeface="Quattrocento Sans"/>
                <a:cs typeface="Quattrocento Sans"/>
                <a:sym typeface="Quattrocento Sans"/>
              </a:rPr>
              <a:t>HoloBuilder</a:t>
            </a:r>
            <a:r>
              <a:rPr lang="en-GB" sz="1700" dirty="0">
                <a:solidFill>
                  <a:srgbClr val="FF0000"/>
                </a:solidFill>
                <a:latin typeface="Quattrocento Sans"/>
                <a:ea typeface="Quattrocento Sans"/>
                <a:cs typeface="Quattrocento Sans"/>
                <a:sym typeface="Quattrocento Sans"/>
              </a:rPr>
              <a:t> </a:t>
            </a:r>
            <a:r>
              <a:rPr lang="en-GB" sz="1700" dirty="0">
                <a:solidFill>
                  <a:srgbClr val="FF0000"/>
                </a:solidFill>
                <a:ea typeface="Quattrocento Sans"/>
                <a:sym typeface="Quattrocento Sans"/>
                <a:hlinkClick r:id="rId6">
                  <a:extLst>
                    <a:ext uri="{A12FA001-AC4F-418D-AE19-62706E023703}">
                      <ahyp:hlinkClr xmlns:ahyp="http://schemas.microsoft.com/office/drawing/2018/hyperlinkcolor" val="tx"/>
                    </a:ext>
                  </a:extLst>
                </a:hlinkClick>
              </a:rPr>
              <a:t>https://www.holobuilder.com/</a:t>
            </a:r>
            <a:r>
              <a:rPr lang="en-GB" sz="1700" dirty="0">
                <a:solidFill>
                  <a:srgbClr val="FF0000"/>
                </a:solidFill>
                <a:ea typeface="Quattrocento Sans"/>
                <a:sym typeface="Quattrocento Sans"/>
              </a:rPr>
              <a:t> </a:t>
            </a:r>
            <a:endParaRPr sz="1700">
              <a:solidFill>
                <a:srgbClr val="FF0000"/>
              </a:solidFill>
              <a:ea typeface="Quattrocento Sans"/>
            </a:endParaRPr>
          </a:p>
          <a:p>
            <a:r>
              <a:rPr lang="en-GB" sz="1700" dirty="0">
                <a:solidFill>
                  <a:srgbClr val="FF0000"/>
                </a:solidFill>
                <a:latin typeface="Quattrocento Sans"/>
                <a:ea typeface="Quattrocento Sans"/>
                <a:cs typeface="Quattrocento Sans"/>
                <a:sym typeface="Quattrocento Sans"/>
              </a:rPr>
              <a:t>VR with POV </a:t>
            </a:r>
            <a:endParaRPr sz="1700">
              <a:solidFill>
                <a:srgbClr val="FF0000"/>
              </a:solidFill>
            </a:endParaRPr>
          </a:p>
          <a:p>
            <a:pPr marL="0" marR="0" lvl="0" indent="0" algn="l" rtl="0">
              <a:spcBef>
                <a:spcPts val="0"/>
              </a:spcBef>
              <a:spcAft>
                <a:spcPts val="0"/>
              </a:spcAft>
              <a:buNone/>
            </a:pPr>
            <a:r>
              <a:rPr lang="en-GB" sz="1700" dirty="0">
                <a:solidFill>
                  <a:srgbClr val="FF0000"/>
                </a:solidFill>
                <a:latin typeface="Quattrocento Sans"/>
                <a:ea typeface="Quattrocento Sans"/>
                <a:cs typeface="Quattrocento Sans"/>
                <a:sym typeface="Quattrocento Sans"/>
              </a:rPr>
              <a:t>	BBC Taster </a:t>
            </a:r>
            <a:r>
              <a:rPr lang="en-GB" sz="1700" u="sng" dirty="0">
                <a:solidFill>
                  <a:srgbClr val="FF0000"/>
                </a:solidFill>
                <a:latin typeface="Quattrocento Sans"/>
                <a:ea typeface="Quattrocento Sans"/>
                <a:cs typeface="Quattrocento Sans"/>
                <a:sym typeface="Quattrocento Sans"/>
                <a:hlinkClick r:id="rId7">
                  <a:extLst>
                    <a:ext uri="{A12FA001-AC4F-418D-AE19-62706E023703}">
                      <ahyp:hlinkClr xmlns:ahyp="http://schemas.microsoft.com/office/drawing/2018/hyperlinkcolor" val="tx"/>
                    </a:ext>
                  </a:extLst>
                </a:hlinkClick>
              </a:rPr>
              <a:t>http://www.bbc.co.uk/taster/</a:t>
            </a:r>
            <a:endParaRPr sz="1700" dirty="0">
              <a:solidFill>
                <a:srgbClr val="FF0000"/>
              </a:solidFill>
              <a:latin typeface="Quattrocento Sans"/>
              <a:ea typeface="Quattrocento Sans"/>
              <a:cs typeface="Quattrocento Sans"/>
            </a:endParaRPr>
          </a:p>
          <a:p>
            <a:pPr marL="0" marR="0" lvl="0" indent="0" algn="l" rtl="0">
              <a:spcBef>
                <a:spcPts val="0"/>
              </a:spcBef>
              <a:spcAft>
                <a:spcPts val="0"/>
              </a:spcAft>
              <a:buNone/>
            </a:pPr>
            <a:r>
              <a:rPr lang="en-GB" sz="1700" dirty="0">
                <a:solidFill>
                  <a:srgbClr val="FF0000"/>
                </a:solidFill>
                <a:latin typeface="Quattrocento Sans"/>
                <a:ea typeface="Quattrocento Sans"/>
                <a:cs typeface="Quattrocento Sans"/>
                <a:sym typeface="Quattrocento Sans"/>
              </a:rPr>
              <a:t>VR with 3D Input</a:t>
            </a:r>
            <a:endParaRPr sz="1700">
              <a:solidFill>
                <a:srgbClr val="FF0000"/>
              </a:solidFill>
            </a:endParaRPr>
          </a:p>
          <a:p>
            <a:r>
              <a:rPr lang="en-GB" sz="1700" dirty="0">
                <a:solidFill>
                  <a:srgbClr val="FF0000"/>
                </a:solidFill>
                <a:latin typeface="Quattrocento Sans"/>
                <a:ea typeface="Quattrocento Sans"/>
                <a:cs typeface="Quattrocento Sans"/>
                <a:sym typeface="Quattrocento Sans"/>
              </a:rPr>
              <a:t>	</a:t>
            </a:r>
            <a:r>
              <a:rPr lang="en-GB" sz="1700" err="1">
                <a:solidFill>
                  <a:srgbClr val="FF0000"/>
                </a:solidFill>
                <a:latin typeface="Quattrocento Sans"/>
                <a:ea typeface="Quattrocento Sans"/>
                <a:cs typeface="Quattrocento Sans"/>
                <a:sym typeface="Quattrocento Sans"/>
              </a:rPr>
              <a:t>Vive</a:t>
            </a:r>
            <a:r>
              <a:rPr lang="en-GB" sz="1700" dirty="0">
                <a:solidFill>
                  <a:srgbClr val="FF0000"/>
                </a:solidFill>
                <a:latin typeface="Quattrocento Sans"/>
                <a:ea typeface="Quattrocento Sans"/>
                <a:cs typeface="Quattrocento Sans"/>
                <a:sym typeface="Quattrocento Sans"/>
              </a:rPr>
              <a:t> Job Simulator  </a:t>
            </a:r>
            <a:r>
              <a:rPr lang="en-GB" sz="1700" u="sng" dirty="0">
                <a:solidFill>
                  <a:srgbClr val="FF0000"/>
                </a:solidFill>
                <a:latin typeface="Quattrocento Sans"/>
                <a:ea typeface="Quattrocento Sans"/>
                <a:cs typeface="Quattrocento Sans"/>
                <a:sym typeface="Quattrocento Sans"/>
                <a:hlinkClick r:id="rId8">
                  <a:extLst>
                    <a:ext uri="{A12FA001-AC4F-418D-AE19-62706E023703}">
                      <ahyp:hlinkClr xmlns:ahyp="http://schemas.microsoft.com/office/drawing/2018/hyperlinkcolor" val="tx"/>
                    </a:ext>
                  </a:extLst>
                </a:hlinkClick>
              </a:rPr>
              <a:t>http://jobsimulatorgame.com/</a:t>
            </a:r>
            <a:endParaRPr sz="1700" dirty="0">
              <a:solidFill>
                <a:srgbClr val="FF0000"/>
              </a:solidFill>
              <a:latin typeface="Quattrocento Sans"/>
              <a:ea typeface="Quattrocento Sans"/>
              <a:cs typeface="Quattrocento Sans"/>
            </a:endParaRPr>
          </a:p>
          <a:p>
            <a:pPr marL="0" marR="0" lvl="0" indent="0" algn="l" rtl="0">
              <a:spcBef>
                <a:spcPts val="0"/>
              </a:spcBef>
              <a:spcAft>
                <a:spcPts val="0"/>
              </a:spcAft>
              <a:buNone/>
            </a:pPr>
            <a:r>
              <a:rPr lang="en-GB" sz="1700" dirty="0">
                <a:solidFill>
                  <a:srgbClr val="FF0000"/>
                </a:solidFill>
                <a:latin typeface="Quattrocento Sans"/>
                <a:ea typeface="Quattrocento Sans"/>
                <a:cs typeface="Quattrocento Sans"/>
                <a:sym typeface="Quattrocento Sans"/>
              </a:rPr>
              <a:t>	Ikea VR </a:t>
            </a:r>
            <a:r>
              <a:rPr lang="en-GB" sz="1700" u="sng" dirty="0">
                <a:solidFill>
                  <a:srgbClr val="FF0000"/>
                </a:solidFill>
                <a:latin typeface="Quattrocento Sans"/>
                <a:ea typeface="Quattrocento Sans"/>
                <a:cs typeface="Quattrocento Sans"/>
                <a:sym typeface="Quattrocento Sans"/>
                <a:hlinkClick r:id="rId9">
                  <a:extLst>
                    <a:ext uri="{A12FA001-AC4F-418D-AE19-62706E023703}">
                      <ahyp:hlinkClr xmlns:ahyp="http://schemas.microsoft.com/office/drawing/2018/hyperlinkcolor" val="tx"/>
                    </a:ext>
                  </a:extLst>
                </a:hlinkClick>
              </a:rPr>
              <a:t>https://www.youtube.com/watch?v=1S0GO5kbMYo</a:t>
            </a:r>
            <a:endParaRPr sz="1700" dirty="0">
              <a:solidFill>
                <a:srgbClr val="FF0000"/>
              </a:solidFill>
              <a:latin typeface="Quattrocento Sans"/>
              <a:ea typeface="Quattrocento Sans"/>
              <a:cs typeface="Quattrocento Sans"/>
            </a:endParaRPr>
          </a:p>
          <a:p>
            <a:r>
              <a:rPr lang="en-GB" sz="1700" dirty="0">
                <a:solidFill>
                  <a:srgbClr val="FF0000"/>
                </a:solidFill>
                <a:latin typeface="Quattrocento Sans"/>
                <a:ea typeface="Quattrocento Sans"/>
                <a:cs typeface="Quattrocento Sans"/>
                <a:sym typeface="Quattrocento Sans"/>
              </a:rPr>
              <a:t>	</a:t>
            </a:r>
            <a:r>
              <a:rPr lang="en-GB" sz="1700" err="1">
                <a:solidFill>
                  <a:srgbClr val="FF0000"/>
                </a:solidFill>
                <a:latin typeface="Quattrocento Sans"/>
                <a:ea typeface="Quattrocento Sans"/>
                <a:cs typeface="Quattrocento Sans"/>
                <a:sym typeface="Quattrocento Sans"/>
              </a:rPr>
              <a:t>Vive</a:t>
            </a:r>
            <a:r>
              <a:rPr lang="en-GB" sz="1700" dirty="0">
                <a:solidFill>
                  <a:srgbClr val="FF0000"/>
                </a:solidFill>
                <a:latin typeface="Quattrocento Sans"/>
                <a:ea typeface="Quattrocento Sans"/>
                <a:cs typeface="Quattrocento Sans"/>
                <a:sym typeface="Quattrocento Sans"/>
              </a:rPr>
              <a:t> Tilt Brush </a:t>
            </a:r>
            <a:r>
              <a:rPr lang="en-GB" sz="1700" u="sng" dirty="0">
                <a:solidFill>
                  <a:srgbClr val="FF0000"/>
                </a:solidFill>
                <a:latin typeface="Quattrocento Sans"/>
                <a:ea typeface="Quattrocento Sans"/>
                <a:cs typeface="Quattrocento Sans"/>
                <a:sym typeface="Quattrocento Sans"/>
                <a:hlinkClick r:id="rId10">
                  <a:extLst>
                    <a:ext uri="{A12FA001-AC4F-418D-AE19-62706E023703}">
                      <ahyp:hlinkClr xmlns:ahyp="http://schemas.microsoft.com/office/drawing/2018/hyperlinkcolor" val="tx"/>
                    </a:ext>
                  </a:extLst>
                </a:hlinkClick>
              </a:rPr>
              <a:t>https://www.youtube.com/watch?v=aocLCCvJTBU</a:t>
            </a:r>
            <a:endParaRPr lang="en-GB" sz="1700" dirty="0">
              <a:solidFill>
                <a:srgbClr val="FF0000"/>
              </a:solidFill>
              <a:latin typeface="Quattrocento Sans"/>
              <a:ea typeface="Quattrocento Sans"/>
              <a:cs typeface="Quattrocento Sans"/>
            </a:endParaRPr>
          </a:p>
          <a:p>
            <a:r>
              <a:rPr lang="en-GB" sz="1700" dirty="0">
                <a:solidFill>
                  <a:srgbClr val="FF0000"/>
                </a:solidFill>
                <a:latin typeface="Quattrocento Sans"/>
                <a:ea typeface="Quattrocento Sans"/>
                <a:cs typeface="Quattrocento Sans"/>
                <a:sym typeface="Quattrocento Sans"/>
              </a:rPr>
              <a:t>        </a:t>
            </a:r>
            <a:r>
              <a:rPr lang="en-GB" sz="1700" dirty="0">
                <a:solidFill>
                  <a:srgbClr val="FF0000"/>
                </a:solidFill>
                <a:latin typeface="Quattrocento Sans"/>
                <a:ea typeface="Quattrocento Sans"/>
                <a:cs typeface="Quattrocento Sans"/>
                <a:sym typeface="Quattrocento Sans"/>
                <a:hlinkClick r:id="rId11">
                  <a:extLst>
                    <a:ext uri="{A12FA001-AC4F-418D-AE19-62706E023703}">
                      <ahyp:hlinkClr xmlns:ahyp="http://schemas.microsoft.com/office/drawing/2018/hyperlinkcolor" val="tx"/>
                    </a:ext>
                  </a:extLst>
                </a:hlinkClick>
              </a:rPr>
              <a:t>https://www.youtube.com/watch?v=GSbkn6mCfXE</a:t>
            </a:r>
            <a:endParaRPr lang="en-GB" sz="1700" dirty="0">
              <a:solidFill>
                <a:srgbClr val="FF0000"/>
              </a:solidFill>
              <a:latin typeface="Quattrocento Sans"/>
              <a:ea typeface="Quattrocento Sans"/>
              <a:cs typeface="Quattrocento Sans"/>
            </a:endParaRPr>
          </a:p>
          <a:p>
            <a:pPr marR="0" lvl="0" algn="l">
              <a:spcBef>
                <a:spcPts val="0"/>
              </a:spcBef>
              <a:spcAft>
                <a:spcPts val="0"/>
              </a:spcAft>
            </a:pPr>
            <a:endParaRPr lang="en-GB" sz="1500" u="sng" dirty="0">
              <a:solidFill>
                <a:srgbClr val="FFFF00"/>
              </a:solidFill>
              <a:latin typeface="Quattrocento Sans"/>
              <a:ea typeface="Quattrocento Sans"/>
              <a:cs typeface="Quattrocento Sans"/>
            </a:endParaRPr>
          </a:p>
          <a:p>
            <a:pPr marR="0" lvl="0" algn="l" rtl="0">
              <a:spcBef>
                <a:spcPts val="0"/>
              </a:spcBef>
              <a:spcAft>
                <a:spcPts val="0"/>
              </a:spcAft>
              <a:buNone/>
            </a:pPr>
            <a:endParaRPr lang="en-GB" sz="2400" b="1">
              <a:solidFill>
                <a:srgbClr val="FFFFFF"/>
              </a:solidFill>
              <a:latin typeface="Quattrocento Sans"/>
              <a:ea typeface="Quattrocento Sans"/>
              <a:cs typeface="Quattrocento Sans"/>
            </a:endParaRPr>
          </a:p>
          <a:p>
            <a:pPr marL="800100" marR="0" lvl="1" indent="-190500" algn="l" rtl="0">
              <a:spcBef>
                <a:spcPts val="0"/>
              </a:spcBef>
              <a:spcAft>
                <a:spcPts val="0"/>
              </a:spcAft>
              <a:buClr>
                <a:srgbClr val="FFFFFF"/>
              </a:buClr>
              <a:buSzPts val="2400"/>
              <a:buNone/>
            </a:pPr>
            <a:endParaRPr sz="2400" b="1">
              <a:solidFill>
                <a:srgbClr val="FFFFFF"/>
              </a:solidFill>
              <a:latin typeface="Quattrocento Sans"/>
              <a:ea typeface="Quattrocento Sans"/>
              <a:cs typeface="Quattrocento Sans"/>
            </a:endParaRPr>
          </a:p>
          <a:p>
            <a:pPr marR="0" algn="l" rtl="0">
              <a:spcBef>
                <a:spcPts val="0"/>
              </a:spcBef>
              <a:spcAft>
                <a:spcPts val="0"/>
              </a:spcAft>
              <a:buNone/>
            </a:pPr>
            <a:endParaRPr sz="1800" b="1">
              <a:solidFill>
                <a:srgbClr val="FFFFFF"/>
              </a:solidFill>
              <a:latin typeface="Quattrocento Sans"/>
              <a:ea typeface="Quattrocento Sans"/>
              <a:cs typeface="Quattrocento Sans"/>
            </a:endParaRPr>
          </a:p>
          <a:p>
            <a:pPr marR="0" algn="l" rtl="0">
              <a:spcBef>
                <a:spcPts val="0"/>
              </a:spcBef>
              <a:spcAft>
                <a:spcPts val="0"/>
              </a:spcAft>
              <a:buNone/>
            </a:pPr>
            <a:endParaRPr sz="1800" b="1" i="0" u="none" strike="noStrike" cap="none">
              <a:solidFill>
                <a:srgbClr val="FFFFFF"/>
              </a:solidFill>
              <a:latin typeface="Quattrocento Sans"/>
              <a:ea typeface="Quattrocento Sans"/>
              <a:cs typeface="Quattrocento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a:buSzPts val="4400"/>
            </a:pPr>
            <a:r>
              <a:rPr lang="en-GB" dirty="0"/>
              <a:t>3DUI New Platforms </a:t>
            </a:r>
            <a:endParaRPr dirty="0"/>
          </a:p>
        </p:txBody>
      </p:sp>
      <p:sp>
        <p:nvSpPr>
          <p:cNvPr id="345" name="Google Shape;345;p37"/>
          <p:cNvSpPr/>
          <p:nvPr/>
        </p:nvSpPr>
        <p:spPr>
          <a:xfrm>
            <a:off x="467550" y="1124751"/>
            <a:ext cx="8496900" cy="56796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endParaRPr lang="en-GB" sz="2400" dirty="0">
              <a:solidFill>
                <a:srgbClr val="FFFF00"/>
              </a:solidFill>
              <a:latin typeface="Calibri"/>
            </a:endParaRPr>
          </a:p>
          <a:p>
            <a:r>
              <a:rPr lang="en-GB" sz="2400" dirty="0">
                <a:solidFill>
                  <a:srgbClr val="FFFF00"/>
                </a:solidFill>
                <a:latin typeface="Calibri"/>
                <a:ea typeface="Quattrocento Sans"/>
              </a:rPr>
              <a:t>Larger Recent Ecosystem:</a:t>
            </a:r>
          </a:p>
          <a:p>
            <a:pPr marR="0" algn="l">
              <a:spcBef>
                <a:spcPts val="0"/>
              </a:spcBef>
              <a:spcAft>
                <a:spcPts val="0"/>
              </a:spcAft>
              <a:buNone/>
            </a:pPr>
            <a:endParaRPr lang="en-GB" sz="1500" dirty="0">
              <a:solidFill>
                <a:srgbClr val="FFFF00"/>
              </a:solidFill>
              <a:ea typeface="Quattrocento Sans"/>
            </a:endParaRPr>
          </a:p>
          <a:p>
            <a:pPr marR="0" algn="l">
              <a:spcBef>
                <a:spcPts val="0"/>
              </a:spcBef>
              <a:spcAft>
                <a:spcPts val="0"/>
              </a:spcAft>
              <a:buNone/>
            </a:pPr>
            <a:r>
              <a:rPr lang="en-GB" sz="1500" dirty="0">
                <a:solidFill>
                  <a:srgbClr val="FFFF00"/>
                </a:solidFill>
                <a:hlinkClick r:id="rId3"/>
              </a:rPr>
              <a:t>https://uowdigital.padlet.org/fergusj/web3d-and-web3-ecosystem-9xv91ovkasaaviua</a:t>
            </a:r>
            <a:endParaRPr lang="en-GB"/>
          </a:p>
          <a:p>
            <a:pPr marR="0" algn="l">
              <a:spcBef>
                <a:spcPts val="0"/>
              </a:spcBef>
              <a:spcAft>
                <a:spcPts val="0"/>
              </a:spcAft>
              <a:buNone/>
            </a:pPr>
            <a:endParaRPr lang="en-GB" sz="1500" i="0" u="none" strike="noStrike" cap="none" dirty="0">
              <a:solidFill>
                <a:srgbClr val="FFFF00"/>
              </a:solidFill>
              <a:ea typeface="Quattrocento Sans"/>
            </a:endParaRPr>
          </a:p>
          <a:p>
            <a:r>
              <a:rPr lang="en-GB" sz="2400" dirty="0">
                <a:solidFill>
                  <a:srgbClr val="FFFF00"/>
                </a:solidFill>
                <a:latin typeface="Calibri"/>
                <a:ea typeface="Calibri"/>
                <a:cs typeface="Calibri"/>
              </a:rPr>
              <a:t>Web3D (WebGL/GPU)</a:t>
            </a:r>
            <a:endParaRPr lang="en-US" dirty="0"/>
          </a:p>
          <a:p>
            <a:r>
              <a:rPr lang="en-GB" sz="2400" dirty="0" err="1">
                <a:solidFill>
                  <a:srgbClr val="FFFF00"/>
                </a:solidFill>
                <a:latin typeface="Calibri"/>
                <a:ea typeface="Calibri"/>
                <a:cs typeface="Calibri"/>
              </a:rPr>
              <a:t>WebXR</a:t>
            </a:r>
          </a:p>
          <a:p>
            <a:endParaRPr lang="en-GB" sz="2400" dirty="0">
              <a:solidFill>
                <a:srgbClr val="FFFF00"/>
              </a:solidFill>
              <a:latin typeface="Calibri"/>
              <a:ea typeface="Calibri"/>
              <a:cs typeface="Calibri"/>
            </a:endParaRPr>
          </a:p>
          <a:p>
            <a:r>
              <a:rPr lang="en-GB" sz="2400" dirty="0">
                <a:solidFill>
                  <a:srgbClr val="FFFF00"/>
                </a:solidFill>
                <a:latin typeface="Calibri"/>
                <a:ea typeface="Calibri"/>
                <a:cs typeface="Calibri"/>
              </a:rPr>
              <a:t>Includes WebRTC, </a:t>
            </a:r>
            <a:r>
              <a:rPr lang="en-GB" sz="2400" dirty="0" err="1">
                <a:solidFill>
                  <a:srgbClr val="FFFF00"/>
                </a:solidFill>
                <a:latin typeface="Calibri"/>
                <a:ea typeface="Calibri"/>
                <a:cs typeface="Calibri"/>
              </a:rPr>
              <a:t>WebVR</a:t>
            </a:r>
            <a:r>
              <a:rPr lang="en-GB" sz="2400" dirty="0">
                <a:solidFill>
                  <a:srgbClr val="FFFF00"/>
                </a:solidFill>
                <a:latin typeface="Calibri"/>
                <a:ea typeface="Calibri"/>
                <a:cs typeface="Calibri"/>
              </a:rPr>
              <a:t>, </a:t>
            </a:r>
            <a:r>
              <a:rPr lang="en-GB" sz="2400" dirty="0" err="1">
                <a:solidFill>
                  <a:srgbClr val="FFFF00"/>
                </a:solidFill>
                <a:latin typeface="Calibri"/>
                <a:ea typeface="Calibri"/>
                <a:cs typeface="Calibri"/>
              </a:rPr>
              <a:t>WebAR</a:t>
            </a:r>
            <a:r>
              <a:rPr lang="en-GB" sz="2400" dirty="0">
                <a:solidFill>
                  <a:srgbClr val="FFFF00"/>
                </a:solidFill>
                <a:latin typeface="Calibri"/>
                <a:ea typeface="Calibri"/>
                <a:cs typeface="Calibri"/>
              </a:rPr>
              <a:t> and other </a:t>
            </a:r>
            <a:r>
              <a:rPr lang="en-GB" sz="2400" dirty="0" err="1">
                <a:solidFill>
                  <a:srgbClr val="FFFF00"/>
                </a:solidFill>
                <a:latin typeface="Calibri"/>
                <a:ea typeface="Calibri"/>
                <a:cs typeface="Calibri"/>
              </a:rPr>
              <a:t>openprotocols</a:t>
            </a:r>
            <a:r>
              <a:rPr lang="en-GB" sz="2400" dirty="0">
                <a:solidFill>
                  <a:srgbClr val="FFFF00"/>
                </a:solidFill>
                <a:latin typeface="Calibri"/>
                <a:ea typeface="Calibri"/>
                <a:cs typeface="Calibri"/>
              </a:rPr>
              <a:t> and file formats</a:t>
            </a:r>
          </a:p>
          <a:p>
            <a:endParaRPr lang="en-GB" sz="2400" dirty="0">
              <a:solidFill>
                <a:srgbClr val="FFFF00"/>
              </a:solidFill>
              <a:latin typeface="Calibri"/>
              <a:ea typeface="Calibri"/>
              <a:cs typeface="Calibri"/>
            </a:endParaRPr>
          </a:p>
          <a:p>
            <a:r>
              <a:rPr lang="en-GB" sz="2400" dirty="0">
                <a:solidFill>
                  <a:srgbClr val="FFFF00"/>
                </a:solidFill>
                <a:latin typeface="Calibri"/>
                <a:ea typeface="Calibri"/>
                <a:cs typeface="Calibri"/>
              </a:rPr>
              <a:t>Web3 – tokenisation allowing for self-publishing and interoperability on above protocols</a:t>
            </a:r>
          </a:p>
          <a:p>
            <a:endParaRPr lang="en-GB" sz="2400" dirty="0">
              <a:solidFill>
                <a:srgbClr val="FFFF00"/>
              </a:solidFill>
              <a:latin typeface="Calibri"/>
              <a:ea typeface="Calibri"/>
              <a:cs typeface="Calibri"/>
            </a:endParaRPr>
          </a:p>
          <a:p>
            <a:endParaRPr lang="en-GB" sz="2400" dirty="0">
              <a:solidFill>
                <a:srgbClr val="FFFF00"/>
              </a:solidFill>
              <a:latin typeface="Calibri"/>
              <a:ea typeface="Calibri"/>
              <a:cs typeface="Calibri"/>
            </a:endParaRPr>
          </a:p>
          <a:p>
            <a:pPr marL="800100" lvl="1" indent="-190500">
              <a:buClr>
                <a:srgbClr val="FFFFFF"/>
              </a:buClr>
              <a:buSzPts val="2400"/>
            </a:pPr>
            <a:endParaRPr lang="en-US" sz="2400" b="1">
              <a:solidFill>
                <a:srgbClr val="FFFFFF"/>
              </a:solidFill>
              <a:latin typeface="Calibri"/>
              <a:ea typeface="Calibri"/>
              <a:cs typeface="Calibri"/>
            </a:endParaRPr>
          </a:p>
          <a:p>
            <a:endParaRPr lang="en-US" sz="1800" b="1">
              <a:solidFill>
                <a:srgbClr val="FFFFFF"/>
              </a:solidFill>
              <a:latin typeface="Quattrocento Sans"/>
              <a:ea typeface="Quattrocento Sans"/>
              <a:cs typeface="Quattrocento Sans"/>
            </a:endParaRPr>
          </a:p>
          <a:p>
            <a:endParaRPr lang="en-US" sz="1800" b="1">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85734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7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References </a:t>
            </a:r>
            <a:endParaRPr/>
          </a:p>
        </p:txBody>
      </p:sp>
      <p:sp>
        <p:nvSpPr>
          <p:cNvPr id="608" name="Google Shape;608;p71"/>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3D User Interfaces: Theory and Practice</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Doug A. Bowman, Ernst Kruijff, Joseph J. LaViola, Ivan Poupyrev</a:t>
            </a: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Addison Wesley Longman Publishing</a:t>
            </a:r>
            <a:endParaRPr/>
          </a:p>
          <a:p>
            <a:r>
              <a:rPr lang="en-GB" sz="2400">
                <a:solidFill>
                  <a:schemeClr val="dk1"/>
                </a:solidFill>
                <a:latin typeface="Quattrocento Sans"/>
                <a:ea typeface="Quattrocento Sans"/>
                <a:cs typeface="Quattrocento Sans"/>
                <a:sym typeface="Quattrocento Sans"/>
              </a:rPr>
              <a:t>USA </a:t>
            </a:r>
            <a:r>
              <a:rPr lang="en-GB" sz="1600" dirty="0">
                <a:solidFill>
                  <a:schemeClr val="dk1"/>
                </a:solidFill>
                <a:ea typeface="Quattrocento Sans"/>
                <a:sym typeface="Quattrocento Sans"/>
                <a:hlinkClick r:id="rId3">
                  <a:extLst>
                    <a:ext uri="{A12FA001-AC4F-418D-AE19-62706E023703}">
                      <ahyp:hlinkClr xmlns:ahyp="http://schemas.microsoft.com/office/drawing/2018/hyperlinkcolor" val="tx"/>
                    </a:ext>
                  </a:extLst>
                </a:hlinkClick>
              </a:rPr>
              <a:t>https://people.cs.vt.edu/~bowman/3dui.org/CHI_2008.html</a:t>
            </a:r>
            <a:r>
              <a:rPr lang="en-GB" sz="1600" dirty="0">
                <a:solidFill>
                  <a:schemeClr val="dk1"/>
                </a:solidFill>
                <a:ea typeface="Quattrocento Sans"/>
                <a:sym typeface="Quattrocento Sans"/>
              </a:rPr>
              <a:t> </a:t>
            </a:r>
            <a:endParaRPr sz="1600" dirty="0">
              <a:solidFill>
                <a:schemeClr val="dk1"/>
              </a:solidFill>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The Three-Dimensional User Interface</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Hou Wenjun</a:t>
            </a: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chemeClr val="dk1"/>
                </a:solidFill>
                <a:latin typeface="Quattrocento Sans"/>
                <a:ea typeface="Quattrocento Sans"/>
                <a:cs typeface="Quattrocento Sans"/>
                <a:sym typeface="Quattrocento Sans"/>
              </a:rPr>
              <a:t>Beijing University of Posts and Telecommunications</a:t>
            </a:r>
            <a:endParaRPr/>
          </a:p>
          <a:p>
            <a:r>
              <a:rPr lang="en-GB" sz="2400" i="1">
                <a:solidFill>
                  <a:schemeClr val="dk1"/>
                </a:solidFill>
                <a:latin typeface="Quattrocento Sans"/>
                <a:ea typeface="Quattrocento Sans"/>
                <a:cs typeface="Quattrocento Sans"/>
                <a:sym typeface="Quattrocento Sans"/>
              </a:rPr>
              <a:t>China </a:t>
            </a:r>
            <a:r>
              <a:rPr lang="en-GB" dirty="0">
                <a:solidFill>
                  <a:schemeClr val="dk1"/>
                </a:solidFill>
                <a:ea typeface="Quattrocento Sans"/>
                <a:sym typeface="Quattrocento Sans"/>
                <a:hlinkClick r:id="rId4">
                  <a:extLst>
                    <a:ext uri="{A12FA001-AC4F-418D-AE19-62706E023703}">
                      <ahyp:hlinkClr xmlns:ahyp="http://schemas.microsoft.com/office/drawing/2018/hyperlinkcolor" val="tx"/>
                    </a:ext>
                  </a:extLst>
                </a:hlinkClick>
              </a:rPr>
              <a:t>https://cdn.intechopen.com/pdfs/5463/InTech-The_three_dimensional_user_interface.pdf</a:t>
            </a:r>
            <a:r>
              <a:rPr lang="en-GB" dirty="0">
                <a:solidFill>
                  <a:schemeClr val="dk1"/>
                </a:solidFill>
                <a:ea typeface="Quattrocento Sans"/>
                <a:sym typeface="Quattrocento Sans"/>
              </a:rPr>
              <a:t> </a:t>
            </a:r>
            <a:endParaRPr b="1" dirty="0">
              <a:solidFill>
                <a:schemeClr val="dk1"/>
              </a:solidFill>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chemeClr val="dk1"/>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7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ct val="100000"/>
              <a:buFont typeface="Quattrocento Sans"/>
              <a:buNone/>
            </a:pPr>
            <a:r>
              <a:rPr lang="en-GB" dirty="0"/>
              <a:t>Group Formation</a:t>
            </a:r>
            <a:endParaRPr dirty="0"/>
          </a:p>
        </p:txBody>
      </p:sp>
      <p:sp>
        <p:nvSpPr>
          <p:cNvPr id="615" name="Google Shape;615;p72"/>
          <p:cNvSpPr txBox="1"/>
          <p:nvPr/>
        </p:nvSpPr>
        <p:spPr>
          <a:xfrm>
            <a:off x="414197" y="1412776"/>
            <a:ext cx="184731"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616" name="Google Shape;616;p72"/>
          <p:cNvSpPr txBox="1"/>
          <p:nvPr/>
        </p:nvSpPr>
        <p:spPr>
          <a:xfrm>
            <a:off x="414196" y="1412776"/>
            <a:ext cx="8478300" cy="4955162"/>
          </a:xfrm>
          <a:prstGeom prst="rect">
            <a:avLst/>
          </a:prstGeom>
          <a:noFill/>
          <a:ln>
            <a:noFill/>
          </a:ln>
        </p:spPr>
        <p:txBody>
          <a:bodyPr spcFirstLastPara="1" wrap="square" lIns="91425" tIns="45700" rIns="91425" bIns="45700" anchor="t" anchorCtr="0">
            <a:spAutoFit/>
          </a:bodyPr>
          <a:lstStyle/>
          <a:p>
            <a:r>
              <a:rPr lang="en-GB" sz="2400" dirty="0">
                <a:solidFill>
                  <a:srgbClr val="FFFF00"/>
                </a:solidFill>
                <a:latin typeface="Calibri"/>
                <a:ea typeface="Quattrocento Sans"/>
                <a:cs typeface="Quattrocento Sans"/>
                <a:sym typeface="Quattrocento Sans"/>
              </a:rPr>
              <a:t>Groups of 4-5 Students</a:t>
            </a:r>
            <a:br>
              <a:rPr lang="en-GB" sz="2400" dirty="0">
                <a:latin typeface="Calibri"/>
                <a:ea typeface="Quattrocento Sans"/>
                <a:cs typeface="Quattrocento Sans"/>
              </a:rPr>
            </a:br>
            <a:r>
              <a:rPr lang="en-GB" sz="2400" i="1" dirty="0">
                <a:solidFill>
                  <a:srgbClr val="FFFF00"/>
                </a:solidFill>
                <a:latin typeface="Calibri"/>
                <a:ea typeface="Quattrocento Sans"/>
                <a:cs typeface="Quattrocento Sans"/>
                <a:sym typeface="Quattrocento Sans"/>
              </a:rPr>
              <a:t>YOU WILL BE ASSIGNED TO GROUPS IN YOUR TUTORIAL</a:t>
            </a:r>
            <a:br>
              <a:rPr lang="en-GB" sz="2400" dirty="0">
                <a:latin typeface="Calibri"/>
                <a:ea typeface="Quattrocento Sans"/>
                <a:cs typeface="Quattrocento Sans"/>
              </a:rPr>
            </a:br>
            <a:endParaRPr lang="en-US" sz="2400">
              <a:solidFill>
                <a:srgbClr val="FFFF00"/>
              </a:solidFill>
              <a:latin typeface="Calibri"/>
              <a:ea typeface="Quattrocento Sans"/>
              <a:cs typeface="Quattrocento Sans"/>
            </a:endParaRPr>
          </a:p>
          <a:p>
            <a:pPr marL="0" marR="0" lvl="0" indent="0" algn="l" rtl="0">
              <a:spcBef>
                <a:spcPts val="0"/>
              </a:spcBef>
              <a:spcAft>
                <a:spcPts val="0"/>
              </a:spcAft>
              <a:buNone/>
            </a:pPr>
            <a:r>
              <a:rPr lang="en-GB" sz="2400" dirty="0">
                <a:solidFill>
                  <a:srgbClr val="FFFF00"/>
                </a:solidFill>
                <a:latin typeface="Calibri"/>
                <a:ea typeface="Quattrocento Sans"/>
                <a:cs typeface="Quattrocento Sans"/>
                <a:sym typeface="Quattrocento Sans"/>
              </a:rPr>
              <a:t>Tutorials for first 4 weeks are Unity basics for CW1</a:t>
            </a:r>
            <a:endParaRPr lang="en-GB" sz="2400" dirty="0">
              <a:solidFill>
                <a:srgbClr val="FFFF00"/>
              </a:solidFill>
              <a:latin typeface="Calibri"/>
              <a:ea typeface="Quattrocento Sans"/>
              <a:cs typeface="Quattrocento Sans"/>
            </a:endParaRPr>
          </a:p>
          <a:p>
            <a:r>
              <a:rPr lang="en-GB" sz="2400" dirty="0">
                <a:solidFill>
                  <a:srgbClr val="FFFF00"/>
                </a:solidFill>
                <a:latin typeface="Calibri"/>
                <a:ea typeface="Quattrocento Sans"/>
                <a:cs typeface="Quattrocento Sans"/>
              </a:rPr>
              <a:t>CW1 is the start and planning for an IMP </a:t>
            </a:r>
            <a:r>
              <a:rPr lang="en-GB" sz="2000" dirty="0">
                <a:solidFill>
                  <a:srgbClr val="FFFF00"/>
                </a:solidFill>
                <a:latin typeface="Calibri"/>
                <a:ea typeface="Quattrocento Sans"/>
                <a:cs typeface="Quattrocento Sans"/>
              </a:rPr>
              <a:t>(Interactive Media Product)</a:t>
            </a:r>
          </a:p>
          <a:p>
            <a:r>
              <a:rPr lang="en-GB" sz="2400" dirty="0">
                <a:solidFill>
                  <a:srgbClr val="FFFF00"/>
                </a:solidFill>
                <a:latin typeface="Calibri"/>
                <a:ea typeface="Quattrocento Sans"/>
                <a:cs typeface="Quattrocento Sans"/>
              </a:rPr>
              <a:t>CW2 is the completion of an IMP </a:t>
            </a:r>
            <a:r>
              <a:rPr lang="en-GB" sz="2000" dirty="0">
                <a:solidFill>
                  <a:srgbClr val="FFFF00"/>
                </a:solidFill>
                <a:latin typeface="Calibri"/>
                <a:ea typeface="Calibri"/>
                <a:cs typeface="Calibri"/>
              </a:rPr>
              <a:t>(Interactive Media Product)</a:t>
            </a:r>
          </a:p>
          <a:p>
            <a:br>
              <a:rPr lang="en-GB" sz="2400" dirty="0">
                <a:solidFill>
                  <a:srgbClr val="FFFF00"/>
                </a:solidFill>
                <a:latin typeface="Calibri"/>
                <a:ea typeface="Quattrocento Sans"/>
                <a:cs typeface="Quattrocento Sans"/>
                <a:sym typeface="Quattrocento Sans"/>
              </a:rPr>
            </a:br>
            <a:r>
              <a:rPr lang="en-GB" sz="2400" dirty="0">
                <a:solidFill>
                  <a:srgbClr val="FFFF00"/>
                </a:solidFill>
                <a:latin typeface="Calibri"/>
                <a:ea typeface="Quattrocento Sans"/>
                <a:cs typeface="Quattrocento Sans"/>
                <a:sym typeface="Quattrocento Sans"/>
              </a:rPr>
              <a:t>Group Assignment</a:t>
            </a:r>
            <a:endParaRPr sz="2400" dirty="0">
              <a:latin typeface="Calibri"/>
            </a:endParaRPr>
          </a:p>
          <a:p>
            <a:pPr marL="800100" marR="0" lvl="1" indent="-330200" algn="l" rtl="0">
              <a:spcBef>
                <a:spcPts val="0"/>
              </a:spcBef>
              <a:spcAft>
                <a:spcPts val="0"/>
              </a:spcAft>
              <a:buClr>
                <a:schemeClr val="dk1"/>
              </a:buClr>
              <a:buSzPts val="2200"/>
              <a:buFont typeface="Arial"/>
              <a:buChar char="•"/>
            </a:pPr>
            <a:r>
              <a:rPr lang="en-GB" sz="2000" i="0" u="none" strike="noStrike" cap="none" dirty="0">
                <a:solidFill>
                  <a:schemeClr val="dk1"/>
                </a:solidFill>
                <a:latin typeface="Calibri"/>
                <a:ea typeface="Quattrocento Sans"/>
                <a:cs typeface="Quattrocento Sans"/>
                <a:sym typeface="Quattrocento Sans"/>
              </a:rPr>
              <a:t>Start talking about Idea/Problem and general design</a:t>
            </a:r>
            <a:endParaRPr sz="2000">
              <a:solidFill>
                <a:schemeClr val="dk1"/>
              </a:solidFill>
              <a:latin typeface="Calibri"/>
            </a:endParaRPr>
          </a:p>
          <a:p>
            <a:pPr marL="800100" marR="0" lvl="1" indent="-330200" algn="l" rtl="0">
              <a:spcBef>
                <a:spcPts val="0"/>
              </a:spcBef>
              <a:spcAft>
                <a:spcPts val="0"/>
              </a:spcAft>
              <a:buClr>
                <a:schemeClr val="dk1"/>
              </a:buClr>
              <a:buSzPts val="2200"/>
              <a:buFont typeface="Arial"/>
              <a:buChar char="•"/>
            </a:pPr>
            <a:r>
              <a:rPr lang="en-GB" sz="2000" i="0" u="none" strike="noStrike" cap="none" dirty="0">
                <a:solidFill>
                  <a:schemeClr val="dk1"/>
                </a:solidFill>
                <a:latin typeface="Calibri"/>
                <a:ea typeface="Quattrocento Sans"/>
                <a:cs typeface="Quattrocento Sans"/>
                <a:sym typeface="Quattrocento Sans"/>
              </a:rPr>
              <a:t>3D GUI, Navigation, Interaction, States, Animation</a:t>
            </a:r>
            <a:endParaRPr sz="2000">
              <a:solidFill>
                <a:schemeClr val="dk1"/>
              </a:solidFill>
              <a:latin typeface="Calibri"/>
            </a:endParaRPr>
          </a:p>
          <a:p>
            <a:pPr marL="800100" marR="0" lvl="1" indent="-330200" algn="l" rtl="0">
              <a:spcBef>
                <a:spcPts val="0"/>
              </a:spcBef>
              <a:spcAft>
                <a:spcPts val="0"/>
              </a:spcAft>
              <a:buClr>
                <a:schemeClr val="dk1"/>
              </a:buClr>
              <a:buSzPts val="2200"/>
              <a:buFont typeface="Arial"/>
              <a:buChar char="•"/>
            </a:pPr>
            <a:r>
              <a:rPr lang="en-GB" sz="2000" i="0" u="none" strike="noStrike" cap="none" dirty="0">
                <a:solidFill>
                  <a:schemeClr val="dk1"/>
                </a:solidFill>
                <a:latin typeface="Calibri"/>
                <a:ea typeface="Quattrocento Sans"/>
                <a:cs typeface="Quattrocento Sans"/>
                <a:sym typeface="Quattrocento Sans"/>
              </a:rPr>
              <a:t>Lego brainstorm – Virtual or Real</a:t>
            </a:r>
            <a:endParaRPr sz="2000">
              <a:solidFill>
                <a:schemeClr val="dk1"/>
              </a:solidFill>
              <a:latin typeface="Calibri"/>
            </a:endParaRPr>
          </a:p>
          <a:p>
            <a:r>
              <a:rPr lang="en-GB" sz="2400" dirty="0">
                <a:solidFill>
                  <a:srgbClr val="FFFF00"/>
                </a:solidFill>
                <a:latin typeface="Calibri"/>
                <a:ea typeface="Quattrocento Sans"/>
                <a:cs typeface="Quattrocento Sans"/>
                <a:sym typeface="Quattrocento Sans"/>
              </a:rPr>
              <a:t>Think about Peer Review and Assessment</a:t>
            </a:r>
            <a:endParaRPr lang="en-GB" sz="2400" dirty="0">
              <a:latin typeface="Calibri"/>
              <a:ea typeface="Quattrocento Sans"/>
            </a:endParaRPr>
          </a:p>
          <a:p>
            <a:pPr marL="800100" lvl="1" indent="-342900">
              <a:buChar char="•"/>
            </a:pPr>
            <a:r>
              <a:rPr lang="en-GB" sz="2000" dirty="0">
                <a:solidFill>
                  <a:schemeClr val="dk1"/>
                </a:solidFill>
                <a:latin typeface="Calibri"/>
                <a:ea typeface="Quattrocento Sans"/>
                <a:cs typeface="Quattrocento Sans"/>
                <a:sym typeface="Quattrocento Sans"/>
              </a:rPr>
              <a:t>	Video review</a:t>
            </a:r>
            <a:endParaRPr sz="2000" dirty="0">
              <a:solidFill>
                <a:schemeClr val="dk1"/>
              </a:solidFill>
              <a:latin typeface="Calibri"/>
            </a:endParaRPr>
          </a:p>
          <a:p>
            <a:pPr marL="800100" marR="0" lvl="1" indent="-342900" algn="l" rtl="0">
              <a:spcBef>
                <a:spcPts val="0"/>
              </a:spcBef>
              <a:spcAft>
                <a:spcPts val="0"/>
              </a:spcAft>
              <a:buChar char="•"/>
            </a:pPr>
            <a:r>
              <a:rPr lang="en-GB" sz="2000" dirty="0">
                <a:solidFill>
                  <a:schemeClr val="dk1"/>
                </a:solidFill>
                <a:latin typeface="Calibri"/>
                <a:ea typeface="Quattrocento Sans"/>
                <a:cs typeface="Quattrocento Sans"/>
                <a:sym typeface="Quattrocento Sans"/>
              </a:rPr>
              <a:t>	Connoisseurship practice</a:t>
            </a:r>
            <a:endParaRPr sz="2000" i="0" u="none" strike="noStrike" cap="none" dirty="0">
              <a:solidFill>
                <a:schemeClr val="dk1"/>
              </a:solidFill>
              <a:latin typeface="Calibri"/>
              <a:ea typeface="Quattrocento Sans"/>
              <a:cs typeface="Quattrocento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7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ct val="100000"/>
              <a:buFont typeface="Quattrocento Sans"/>
              <a:buNone/>
            </a:pPr>
            <a:r>
              <a:rPr lang="en-GB" dirty="0"/>
              <a:t>Group Brainstorm</a:t>
            </a:r>
            <a:endParaRPr dirty="0"/>
          </a:p>
        </p:txBody>
      </p:sp>
      <p:sp>
        <p:nvSpPr>
          <p:cNvPr id="615" name="Google Shape;615;p72"/>
          <p:cNvSpPr txBox="1"/>
          <p:nvPr/>
        </p:nvSpPr>
        <p:spPr>
          <a:xfrm>
            <a:off x="414197" y="1412776"/>
            <a:ext cx="184731"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616" name="Google Shape;616;p72"/>
          <p:cNvSpPr txBox="1"/>
          <p:nvPr/>
        </p:nvSpPr>
        <p:spPr>
          <a:xfrm>
            <a:off x="414196" y="1412776"/>
            <a:ext cx="8478300" cy="4339609"/>
          </a:xfrm>
          <a:prstGeom prst="rect">
            <a:avLst/>
          </a:prstGeom>
          <a:noFill/>
          <a:ln>
            <a:noFill/>
          </a:ln>
        </p:spPr>
        <p:txBody>
          <a:bodyPr spcFirstLastPara="1" wrap="square" lIns="91425" tIns="45700" rIns="91425" bIns="45700" anchor="t" anchorCtr="0">
            <a:spAutoFit/>
          </a:bodyPr>
          <a:lstStyle/>
          <a:p>
            <a:r>
              <a:rPr lang="en-GB" sz="2400" dirty="0">
                <a:solidFill>
                  <a:srgbClr val="FFFF00"/>
                </a:solidFill>
                <a:latin typeface="Calibri"/>
                <a:sym typeface="Quattrocento Sans"/>
              </a:rPr>
              <a:t>Assemble in your group</a:t>
            </a:r>
            <a:endParaRPr lang="en-US" dirty="0"/>
          </a:p>
          <a:p>
            <a:br>
              <a:rPr lang="en-GB" sz="2400" dirty="0">
                <a:solidFill>
                  <a:srgbClr val="FFFF00"/>
                </a:solidFill>
                <a:latin typeface="Calibri"/>
                <a:ea typeface="Quattrocento Sans"/>
                <a:cs typeface="Quattrocento Sans"/>
                <a:sym typeface="Quattrocento Sans"/>
              </a:rPr>
            </a:br>
            <a:r>
              <a:rPr lang="en-GB" sz="2400">
                <a:solidFill>
                  <a:srgbClr val="FFFF00"/>
                </a:solidFill>
                <a:latin typeface="Calibri"/>
                <a:ea typeface="Quattrocento Sans"/>
                <a:cs typeface="Quattrocento Sans"/>
                <a:sym typeface="Quattrocento Sans"/>
              </a:rPr>
              <a:t>Group Activity</a:t>
            </a:r>
            <a:endParaRPr sz="2400" dirty="0">
              <a:latin typeface="Calibri"/>
            </a:endParaRPr>
          </a:p>
          <a:p>
            <a:pPr marL="800100" lvl="1" indent="-330200">
              <a:buClr>
                <a:schemeClr val="dk1"/>
              </a:buClr>
              <a:buSzPts val="2200"/>
              <a:buFont typeface="Arial"/>
              <a:buChar char="•"/>
            </a:pPr>
            <a:r>
              <a:rPr lang="en-GB" sz="2000" dirty="0">
                <a:solidFill>
                  <a:schemeClr val="dk1"/>
                </a:solidFill>
                <a:latin typeface="Calibri"/>
                <a:ea typeface="Calibri"/>
                <a:cs typeface="Calibri"/>
                <a:sym typeface="Quattrocento Sans"/>
              </a:rPr>
              <a:t>Explore ideas online</a:t>
            </a:r>
            <a:endParaRPr lang="en-GB" sz="2000" dirty="0">
              <a:solidFill>
                <a:schemeClr val="dk1"/>
              </a:solidFill>
              <a:latin typeface="Calibri"/>
              <a:ea typeface="Quattrocento Sans"/>
            </a:endParaRPr>
          </a:p>
          <a:p>
            <a:pPr marL="800100" lvl="1" indent="-330200">
              <a:buClr>
                <a:schemeClr val="dk1"/>
              </a:buClr>
              <a:buSzPts val="2200"/>
              <a:buFont typeface="Arial"/>
              <a:buChar char="•"/>
            </a:pPr>
            <a:r>
              <a:rPr lang="en-GB" sz="2000" dirty="0">
                <a:solidFill>
                  <a:schemeClr val="dk1"/>
                </a:solidFill>
                <a:latin typeface="Calibri"/>
                <a:ea typeface="Calibri"/>
                <a:cs typeface="Calibri"/>
              </a:rPr>
              <a:t>Start to negotiate ideas (not final)</a:t>
            </a:r>
            <a:endParaRPr lang="en-GB" sz="2000" dirty="0">
              <a:solidFill>
                <a:schemeClr val="dk1"/>
              </a:solidFill>
              <a:latin typeface="Calibri"/>
              <a:ea typeface="Calibri"/>
              <a:cs typeface="Calibri"/>
              <a:sym typeface="Quattrocento Sans"/>
            </a:endParaRPr>
          </a:p>
          <a:p>
            <a:pPr marL="800100" lvl="1" indent="-330200">
              <a:buClr>
                <a:schemeClr val="dk1"/>
              </a:buClr>
              <a:buSzPts val="2200"/>
              <a:buFont typeface="Arial"/>
              <a:buChar char="•"/>
            </a:pPr>
            <a:r>
              <a:rPr lang="en-GB" sz="2000" i="0" u="none" strike="noStrike" cap="none" dirty="0">
                <a:solidFill>
                  <a:schemeClr val="dk1"/>
                </a:solidFill>
                <a:latin typeface="Calibri"/>
                <a:ea typeface="Quattrocento Sans"/>
                <a:cs typeface="Quattrocento Sans"/>
                <a:sym typeface="Quattrocento Sans"/>
              </a:rPr>
              <a:t>Lego brainstorm</a:t>
            </a:r>
            <a:r>
              <a:rPr lang="en-GB" sz="2000" dirty="0">
                <a:solidFill>
                  <a:schemeClr val="dk1"/>
                </a:solidFill>
                <a:latin typeface="Calibri"/>
                <a:ea typeface="Quattrocento Sans"/>
                <a:cs typeface="Quattrocento Sans"/>
                <a:sym typeface="Quattrocento Sans"/>
              </a:rPr>
              <a:t> – </a:t>
            </a:r>
            <a:endParaRPr lang="en-GB" sz="2000" dirty="0">
              <a:solidFill>
                <a:schemeClr val="dk1"/>
              </a:solidFill>
              <a:latin typeface="Calibri"/>
              <a:ea typeface="Quattrocento Sans"/>
              <a:sym typeface="Quattrocento Sans"/>
            </a:endParaRPr>
          </a:p>
          <a:p>
            <a:pPr marL="469900" lvl="1">
              <a:buClr>
                <a:schemeClr val="dk1"/>
              </a:buClr>
              <a:buSzPts val="2200"/>
            </a:pPr>
            <a:r>
              <a:rPr lang="en-GB" sz="2000" dirty="0">
                <a:solidFill>
                  <a:schemeClr val="dk1"/>
                </a:solidFill>
                <a:latin typeface="Calibri"/>
                <a:ea typeface="Quattrocento Sans"/>
                <a:cs typeface="Quattrocento Sans"/>
                <a:sym typeface="Quattrocento Sans"/>
              </a:rPr>
              <a:t>Build diorama with negotiated ideas</a:t>
            </a:r>
            <a:endParaRPr sz="2000" dirty="0">
              <a:solidFill>
                <a:schemeClr val="dk1"/>
              </a:solidFill>
              <a:latin typeface="Calibri"/>
            </a:endParaRPr>
          </a:p>
          <a:p>
            <a:endParaRPr lang="en-GB" sz="2400" dirty="0">
              <a:solidFill>
                <a:srgbClr val="FFFF00"/>
              </a:solidFill>
              <a:latin typeface="Calibri"/>
              <a:ea typeface="Quattrocento Sans"/>
            </a:endParaRPr>
          </a:p>
          <a:p>
            <a:r>
              <a:rPr lang="en-GB" sz="2400" dirty="0">
                <a:solidFill>
                  <a:srgbClr val="FFFF00"/>
                </a:solidFill>
                <a:latin typeface="Calibri"/>
                <a:ea typeface="Quattrocento Sans"/>
              </a:rPr>
              <a:t>Photograph, Submit and Share</a:t>
            </a:r>
          </a:p>
          <a:p>
            <a:pPr marL="800100" lvl="1" indent="-342900">
              <a:buChar char="•"/>
            </a:pPr>
            <a:r>
              <a:rPr lang="en-GB" sz="2000" dirty="0">
                <a:solidFill>
                  <a:schemeClr val="dk1"/>
                </a:solidFill>
                <a:latin typeface="Calibri"/>
                <a:ea typeface="Calibri"/>
                <a:cs typeface="Calibri"/>
              </a:rPr>
              <a:t>Take Photos, add notes and publish to </a:t>
            </a:r>
            <a:r>
              <a:rPr lang="en-GB" sz="2000" dirty="0" err="1">
                <a:solidFill>
                  <a:schemeClr val="dk1"/>
                </a:solidFill>
                <a:latin typeface="Calibri"/>
                <a:ea typeface="Calibri"/>
                <a:cs typeface="Calibri"/>
              </a:rPr>
              <a:t>padlet</a:t>
            </a:r>
            <a:r>
              <a:rPr lang="en-GB" sz="2000">
                <a:solidFill>
                  <a:schemeClr val="dk1"/>
                </a:solidFill>
                <a:latin typeface="Calibri"/>
                <a:ea typeface="Calibri"/>
                <a:cs typeface="Calibri"/>
              </a:rPr>
              <a:t> (UOW)</a:t>
            </a:r>
          </a:p>
          <a:p>
            <a:pPr marL="800100" lvl="1" indent="-342900">
              <a:buChar char="•"/>
            </a:pPr>
            <a:r>
              <a:rPr lang="en-GB" sz="1600" dirty="0">
                <a:solidFill>
                  <a:schemeClr val="dk1"/>
                </a:solidFill>
                <a:ea typeface="Calibri"/>
                <a:hlinkClick r:id="rId3">
                  <a:extLst>
                    <a:ext uri="{A12FA001-AC4F-418D-AE19-62706E023703}">
                      <ahyp:hlinkClr xmlns:ahyp="http://schemas.microsoft.com/office/drawing/2018/hyperlinkcolor" val="tx"/>
                    </a:ext>
                  </a:extLst>
                </a:hlinkClick>
              </a:rPr>
              <a:t>https://uowdigital.padlet.org/fergusj/2025-3dimd-brainstorm-3igzgiru8o4neldo</a:t>
            </a:r>
            <a:r>
              <a:rPr lang="en-GB" sz="1600" dirty="0">
                <a:solidFill>
                  <a:schemeClr val="dk1"/>
                </a:solidFill>
                <a:ea typeface="Calibri"/>
              </a:rPr>
              <a:t> </a:t>
            </a:r>
          </a:p>
          <a:p>
            <a:pPr marL="800100" lvl="1" indent="-342900">
              <a:buChar char="•"/>
            </a:pPr>
            <a:endParaRPr lang="en-GB" sz="2000" dirty="0">
              <a:solidFill>
                <a:schemeClr val="dk1"/>
              </a:solidFill>
              <a:ea typeface="Calibri"/>
            </a:endParaRPr>
          </a:p>
          <a:p>
            <a:pPr marL="800100" lvl="1" indent="-342900">
              <a:buChar char="•"/>
            </a:pPr>
            <a:endParaRPr lang="en-GB" sz="2000" dirty="0">
              <a:solidFill>
                <a:schemeClr val="dk1"/>
              </a:solidFill>
              <a:latin typeface="Calibri"/>
              <a:ea typeface="Calibri"/>
              <a:cs typeface="Calibri"/>
            </a:endParaRPr>
          </a:p>
        </p:txBody>
      </p:sp>
      <p:pic>
        <p:nvPicPr>
          <p:cNvPr id="3" name="Picture 2" descr="A qr code on a white background&#10;&#10;AI-generated content may be incorrect.">
            <a:extLst>
              <a:ext uri="{FF2B5EF4-FFF2-40B4-BE49-F238E27FC236}">
                <a16:creationId xmlns:a16="http://schemas.microsoft.com/office/drawing/2014/main" id="{2B67F75B-BAF8-02F4-0C28-C87DBE5E3A5A}"/>
              </a:ext>
            </a:extLst>
          </p:cNvPr>
          <p:cNvPicPr>
            <a:picLocks noChangeAspect="1"/>
          </p:cNvPicPr>
          <p:nvPr/>
        </p:nvPicPr>
        <p:blipFill>
          <a:blip r:embed="rId4"/>
          <a:stretch>
            <a:fillRect/>
          </a:stretch>
        </p:blipFill>
        <p:spPr>
          <a:xfrm>
            <a:off x="5825908" y="1415702"/>
            <a:ext cx="2857500" cy="2857500"/>
          </a:xfrm>
          <a:prstGeom prst="rect">
            <a:avLst/>
          </a:prstGeom>
        </p:spPr>
      </p:pic>
    </p:spTree>
    <p:extLst>
      <p:ext uri="{BB962C8B-B14F-4D97-AF65-F5344CB8AC3E}">
        <p14:creationId xmlns:p14="http://schemas.microsoft.com/office/powerpoint/2010/main" val="2152454295"/>
      </p:ext>
    </p:extLst>
  </p:cSld>
  <p:clrMapOvr>
    <a:masterClrMapping/>
  </p:clrMapOvr>
</p:sld>
</file>

<file path=ppt/theme/theme1.xml><?xml version="1.0" encoding="utf-8"?>
<a:theme xmlns:a="http://schemas.openxmlformats.org/drawingml/2006/main" name="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37</Slides>
  <Notes>37</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Padlet with Examples!</vt:lpstr>
      <vt:lpstr>Mobile Learning – iPads, Devices, Web</vt:lpstr>
      <vt:lpstr>Further Reading List and Reference</vt:lpstr>
      <vt:lpstr>Further Reading List and Reference</vt:lpstr>
      <vt:lpstr>Further Reading List and Reference</vt:lpstr>
      <vt:lpstr>Further Reading List and Reference</vt:lpstr>
      <vt:lpstr>Further Reading List and Reference</vt:lpstr>
      <vt:lpstr>Further Reading List and Reference</vt:lpstr>
      <vt:lpstr>Further Reading List and Reference</vt:lpstr>
      <vt:lpstr>Workflow – 3DUI for Interactive VE*</vt:lpstr>
      <vt:lpstr>Virtual Environment – 3DUI Needed</vt:lpstr>
      <vt:lpstr>Basic - Mixed Reality Scale</vt:lpstr>
      <vt:lpstr>Basic – VE Permutations – Part 1</vt:lpstr>
      <vt:lpstr>3DUI VR </vt:lpstr>
      <vt:lpstr>3DUI New Platforms </vt:lpstr>
      <vt:lpstr>References </vt:lpstr>
      <vt:lpstr>Group Formation</vt:lpstr>
      <vt:lpstr>Group Brainstorm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Interactive Media Development</dc:title>
  <dc:creator>Alesandra Blakeston</dc:creator>
  <cp:revision>440</cp:revision>
  <dcterms:created xsi:type="dcterms:W3CDTF">2013-06-03T12:57:42Z</dcterms:created>
  <dcterms:modified xsi:type="dcterms:W3CDTF">2025-09-23T07:55:12Z</dcterms:modified>
</cp:coreProperties>
</file>