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54" r:id="rId2"/>
  </p:sldMasterIdLst>
  <p:notesMasterIdLst>
    <p:notesMasterId r:id="rId64"/>
  </p:notesMasterIdLst>
  <p:sldIdLst>
    <p:sldId id="256" r:id="rId3"/>
    <p:sldId id="257" r:id="rId4"/>
    <p:sldId id="258" r:id="rId5"/>
    <p:sldId id="259" r:id="rId6"/>
    <p:sldId id="260" r:id="rId7"/>
    <p:sldId id="261" r:id="rId8"/>
    <p:sldId id="262" r:id="rId9"/>
    <p:sldId id="263" r:id="rId10"/>
    <p:sldId id="264" r:id="rId11"/>
    <p:sldId id="265" r:id="rId12"/>
    <p:sldId id="266" r:id="rId13"/>
    <p:sldId id="267" r:id="rId14"/>
    <p:sldId id="268" r:id="rId15"/>
    <p:sldId id="269" r:id="rId16"/>
    <p:sldId id="270" r:id="rId17"/>
    <p:sldId id="271" r:id="rId18"/>
    <p:sldId id="272" r:id="rId19"/>
    <p:sldId id="317" r:id="rId20"/>
    <p:sldId id="274" r:id="rId21"/>
    <p:sldId id="275" r:id="rId22"/>
    <p:sldId id="276" r:id="rId23"/>
    <p:sldId id="277" r:id="rId24"/>
    <p:sldId id="278" r:id="rId25"/>
    <p:sldId id="279" r:id="rId26"/>
    <p:sldId id="280" r:id="rId27"/>
    <p:sldId id="281" r:id="rId28"/>
    <p:sldId id="282" r:id="rId29"/>
    <p:sldId id="283" r:id="rId30"/>
    <p:sldId id="284" r:id="rId31"/>
    <p:sldId id="285" r:id="rId32"/>
    <p:sldId id="286" r:id="rId33"/>
    <p:sldId id="287" r:id="rId34"/>
    <p:sldId id="288" r:id="rId35"/>
    <p:sldId id="289" r:id="rId36"/>
    <p:sldId id="290" r:id="rId37"/>
    <p:sldId id="291" r:id="rId38"/>
    <p:sldId id="292" r:id="rId39"/>
    <p:sldId id="293" r:id="rId40"/>
    <p:sldId id="294" r:id="rId41"/>
    <p:sldId id="295" r:id="rId42"/>
    <p:sldId id="296" r:id="rId43"/>
    <p:sldId id="297" r:id="rId44"/>
    <p:sldId id="298" r:id="rId45"/>
    <p:sldId id="299" r:id="rId46"/>
    <p:sldId id="300" r:id="rId47"/>
    <p:sldId id="301" r:id="rId48"/>
    <p:sldId id="302" r:id="rId49"/>
    <p:sldId id="303" r:id="rId50"/>
    <p:sldId id="304" r:id="rId51"/>
    <p:sldId id="305" r:id="rId52"/>
    <p:sldId id="306" r:id="rId53"/>
    <p:sldId id="307" r:id="rId54"/>
    <p:sldId id="308" r:id="rId55"/>
    <p:sldId id="309" r:id="rId56"/>
    <p:sldId id="310" r:id="rId57"/>
    <p:sldId id="311" r:id="rId58"/>
    <p:sldId id="312" r:id="rId59"/>
    <p:sldId id="313" r:id="rId60"/>
    <p:sldId id="314" r:id="rId61"/>
    <p:sldId id="315" r:id="rId62"/>
    <p:sldId id="316" r:id="rId63"/>
  </p:sldIdLst>
  <p:sldSz cx="9144000" cy="6858000" type="screen4x3"/>
  <p:notesSz cx="6858000" cy="9144000"/>
  <p:embeddedFontLst>
    <p:embeddedFont>
      <p:font typeface="Quattrocento Sans" panose="020B0502050000020003" pitchFamily="3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73" roundtripDataSignature="AMtx7mi++si2NmyxV/FgtZ1cIPNi/v6b5A=="/>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95FD56C5-00E3-80C8-910C-B251FC20370B}" v="180" dt="2025-10-21T06:37:59.5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2160"/>
        <p:guide pos="2880"/>
      </p:guideLst>
    </p:cSldViewPr>
  </p:slide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font" Target="fonts/font4.fntdata"/><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font" Target="fonts/font2.fntdata"/><Relationship Id="rId74" Type="http://schemas.openxmlformats.org/officeDocument/2006/relationships/presProps" Target="presProps.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notesMaster" Target="notesMasters/notesMaster1.xml"/><Relationship Id="rId77" Type="http://schemas.openxmlformats.org/officeDocument/2006/relationships/tableStyles" Target="tableStyle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font" Target="fonts/font3.fntdata"/><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5"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font" Target="fonts/font1.fntdata"/><Relationship Id="rId73" Type="http://customschemas.google.com/relationships/presentationmetadata" Target="metadata"/><Relationship Id="rId78" Type="http://schemas.microsoft.com/office/2015/10/relationships/revisionInfo" Target="revisionInfo.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6" Type="http://schemas.openxmlformats.org/officeDocument/2006/relationships/theme" Target="theme/theme1.xml"/><Relationship Id="rId7" Type="http://schemas.openxmlformats.org/officeDocument/2006/relationships/slide" Target="slides/slide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GB"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 name="Google Shape;69;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0" name="Google Shape;70;p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800"/>
              <a:buFont typeface="Calibri"/>
              <a:buNone/>
            </a:pPr>
            <a:fld id="{00000000-1234-1234-1234-123412341234}" type="slidenum">
              <a:rPr lang="en-GB" sz="1800" b="0" i="0" u="none" strike="noStrike" cap="none">
                <a:solidFill>
                  <a:srgbClr val="000000"/>
                </a:solidFill>
              </a:rPr>
              <a:t>1</a:t>
            </a:fld>
            <a:endParaRPr sz="1800" b="0" i="0" u="none" strike="noStrike" cap="none">
              <a:solidFill>
                <a:srgbClr val="000000"/>
              </a:solidFill>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76" name="Google Shape;76;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77" name="Google Shape;77;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83" name="Google Shape;83;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4" name="Google Shape;84;p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a:t>
            </a:fld>
            <a:endParaRPr>
              <a:solidFill>
                <a:srgbClr val="000000"/>
              </a:solidFill>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90" name="Google Shape;90;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91" name="Google Shape;91;p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a:t>
            </a:fld>
            <a:endParaRPr>
              <a:solidFill>
                <a:srgbClr val="000000"/>
              </a:solidFill>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3"/>
        <p:cNvGrpSpPr/>
        <p:nvPr/>
      </p:nvGrpSpPr>
      <p:grpSpPr>
        <a:xfrm>
          <a:off x="0" y="0"/>
          <a:ext cx="0" cy="0"/>
          <a:chOff x="0" y="0"/>
          <a:chExt cx="0" cy="0"/>
        </a:xfrm>
      </p:grpSpPr>
      <p:sp>
        <p:nvSpPr>
          <p:cNvPr id="104" name="Google Shape;104;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05" name="Google Shape;105;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06" name="Google Shape;106;p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a:t>
            </a:fld>
            <a:endParaRPr>
              <a:solidFill>
                <a:srgbClr val="000000"/>
              </a:solidFill>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2"/>
        <p:cNvGrpSpPr/>
        <p:nvPr/>
      </p:nvGrpSpPr>
      <p:grpSpPr>
        <a:xfrm>
          <a:off x="0" y="0"/>
          <a:ext cx="0" cy="0"/>
          <a:chOff x="0" y="0"/>
          <a:chExt cx="0" cy="0"/>
        </a:xfrm>
      </p:grpSpPr>
      <p:sp>
        <p:nvSpPr>
          <p:cNvPr id="113" name="Google Shape;113;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4" name="Google Shape;114;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15" name="Google Shape;115;p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6</a:t>
            </a:fld>
            <a:endParaRPr>
              <a:solidFill>
                <a:srgbClr val="000000"/>
              </a:solidFill>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3" name="Google Shape;123;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24" name="Google Shape;124;p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7</a:t>
            </a:fld>
            <a:endParaRPr>
              <a:solidFill>
                <a:srgbClr val="000000"/>
              </a:solidFill>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0"/>
        <p:cNvGrpSpPr/>
        <p:nvPr/>
      </p:nvGrpSpPr>
      <p:grpSpPr>
        <a:xfrm>
          <a:off x="0" y="0"/>
          <a:ext cx="0" cy="0"/>
          <a:chOff x="0" y="0"/>
          <a:chExt cx="0" cy="0"/>
        </a:xfrm>
      </p:grpSpPr>
      <p:sp>
        <p:nvSpPr>
          <p:cNvPr id="131" name="Google Shape;131;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32" name="Google Shape;13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33" name="Google Shape;133;p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8</a:t>
            </a:fld>
            <a:endParaRPr>
              <a:solidFill>
                <a:srgbClr val="000000"/>
              </a:solidFil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1" name="Google Shape;141;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42" name="Google Shape;142;p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9</a:t>
            </a:fld>
            <a:endParaRPr>
              <a:solidFill>
                <a:srgbClr val="000000"/>
              </a:solidFil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8"/>
        <p:cNvGrpSpPr/>
        <p:nvPr/>
      </p:nvGrpSpPr>
      <p:grpSpPr>
        <a:xfrm>
          <a:off x="0" y="0"/>
          <a:ext cx="0" cy="0"/>
          <a:chOff x="0" y="0"/>
          <a:chExt cx="0" cy="0"/>
        </a:xfrm>
      </p:grpSpPr>
      <p:sp>
        <p:nvSpPr>
          <p:cNvPr id="149" name="Google Shape;149;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0" name="Google Shape;150;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51" name="Google Shape;151;p1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10</a:t>
            </a:fld>
            <a:endParaRPr>
              <a:solidFill>
                <a:srgbClr val="000000"/>
              </a:solidFil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7"/>
        <p:cNvGrpSpPr/>
        <p:nvPr/>
      </p:nvGrpSpPr>
      <p:grpSpPr>
        <a:xfrm>
          <a:off x="0" y="0"/>
          <a:ext cx="0" cy="0"/>
          <a:chOff x="0" y="0"/>
          <a:chExt cx="0" cy="0"/>
        </a:xfrm>
      </p:grpSpPr>
      <p:sp>
        <p:nvSpPr>
          <p:cNvPr id="158" name="Google Shape;158;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9" name="Google Shape;159;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0" name="Google Shape;160;p1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11</a:t>
            </a:fld>
            <a:endParaRPr>
              <a:solidFill>
                <a:srgbClr val="000000"/>
              </a:solidFil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6"/>
        <p:cNvGrpSpPr/>
        <p:nvPr/>
      </p:nvGrpSpPr>
      <p:grpSpPr>
        <a:xfrm>
          <a:off x="0" y="0"/>
          <a:ext cx="0" cy="0"/>
          <a:chOff x="0" y="0"/>
          <a:chExt cx="0" cy="0"/>
        </a:xfrm>
      </p:grpSpPr>
      <p:sp>
        <p:nvSpPr>
          <p:cNvPr id="167" name="Google Shape;167;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8" name="Google Shape;168;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69" name="Google Shape;169;p1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12</a:t>
            </a:fld>
            <a:endParaRPr>
              <a:solidFill>
                <a:srgbClr val="000000"/>
              </a:solidFil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
        <p:cNvGrpSpPr/>
        <p:nvPr/>
      </p:nvGrpSpPr>
      <p:grpSpPr>
        <a:xfrm>
          <a:off x="0" y="0"/>
          <a:ext cx="0" cy="0"/>
          <a:chOff x="0" y="0"/>
          <a:chExt cx="0" cy="0"/>
        </a:xfrm>
      </p:grpSpPr>
      <p:sp>
        <p:nvSpPr>
          <p:cNvPr id="174" name="Google Shape;174;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5" name="Google Shape;175;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76" name="Google Shape;176;p1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13</a:t>
            </a:fld>
            <a:endParaRPr>
              <a:solidFill>
                <a:srgbClr val="000000"/>
              </a:solidFil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0" name="Google Shape;190;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191" name="Google Shape;191;p1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14</a:t>
            </a:fld>
            <a:endParaRPr>
              <a:solidFill>
                <a:srgbClr val="000000"/>
              </a:solidFil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99" name="Google Shape;199;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0" name="Google Shape;200;p1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15</a:t>
            </a:fld>
            <a:endParaRPr>
              <a:solidFill>
                <a:srgbClr val="000000"/>
              </a:solidFill>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6"/>
        <p:cNvGrpSpPr/>
        <p:nvPr/>
      </p:nvGrpSpPr>
      <p:grpSpPr>
        <a:xfrm>
          <a:off x="0" y="0"/>
          <a:ext cx="0" cy="0"/>
          <a:chOff x="0" y="0"/>
          <a:chExt cx="0" cy="0"/>
        </a:xfrm>
      </p:grpSpPr>
      <p:sp>
        <p:nvSpPr>
          <p:cNvPr id="207" name="Google Shape;207;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8" name="Google Shape;208;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09" name="Google Shape;209;p1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16</a:t>
            </a:fld>
            <a:endParaRPr>
              <a:solidFill>
                <a:srgbClr val="000000"/>
              </a:solidFill>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p:cNvGrpSpPr/>
        <p:nvPr/>
      </p:nvGrpSpPr>
      <p:grpSpPr>
        <a:xfrm>
          <a:off x="0" y="0"/>
          <a:ext cx="0" cy="0"/>
          <a:chOff x="0" y="0"/>
          <a:chExt cx="0" cy="0"/>
        </a:xfrm>
      </p:grpSpPr>
      <p:sp>
        <p:nvSpPr>
          <p:cNvPr id="222" name="Google Shape;222;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17</a:t>
            </a:fld>
            <a:endParaRPr>
              <a:solidFill>
                <a:srgbClr val="000000"/>
              </a:solidFill>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1">
          <a:extLst>
            <a:ext uri="{FF2B5EF4-FFF2-40B4-BE49-F238E27FC236}">
              <a16:creationId xmlns:a16="http://schemas.microsoft.com/office/drawing/2014/main" id="{C759B8AF-BCC2-2B91-6810-53FACA6AB296}"/>
            </a:ext>
          </a:extLst>
        </p:cNvPr>
        <p:cNvGrpSpPr/>
        <p:nvPr/>
      </p:nvGrpSpPr>
      <p:grpSpPr>
        <a:xfrm>
          <a:off x="0" y="0"/>
          <a:ext cx="0" cy="0"/>
          <a:chOff x="0" y="0"/>
          <a:chExt cx="0" cy="0"/>
        </a:xfrm>
      </p:grpSpPr>
      <p:sp>
        <p:nvSpPr>
          <p:cNvPr id="222" name="Google Shape;222;p17:notes">
            <a:extLst>
              <a:ext uri="{FF2B5EF4-FFF2-40B4-BE49-F238E27FC236}">
                <a16:creationId xmlns:a16="http://schemas.microsoft.com/office/drawing/2014/main" id="{4ADD0B62-29DC-5E55-A0E7-E3E840608F8D}"/>
              </a:ext>
            </a:extLst>
          </p:cNvPr>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3" name="Google Shape;223;p17:notes">
            <a:extLst>
              <a:ext uri="{FF2B5EF4-FFF2-40B4-BE49-F238E27FC236}">
                <a16:creationId xmlns:a16="http://schemas.microsoft.com/office/drawing/2014/main" id="{383CAC1F-2E85-03A8-42ED-9B1A47B8290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24" name="Google Shape;224;p17:notes">
            <a:extLst>
              <a:ext uri="{FF2B5EF4-FFF2-40B4-BE49-F238E27FC236}">
                <a16:creationId xmlns:a16="http://schemas.microsoft.com/office/drawing/2014/main" id="{6BE3FEF8-92B8-8C80-42D8-B2055CE2CAE4}"/>
              </a:ext>
            </a:extLst>
          </p:cNvPr>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18</a:t>
            </a:fld>
            <a:endParaRPr>
              <a:solidFill>
                <a:srgbClr val="000000"/>
              </a:solidFill>
            </a:endParaRPr>
          </a:p>
        </p:txBody>
      </p:sp>
    </p:spTree>
    <p:extLst>
      <p:ext uri="{BB962C8B-B14F-4D97-AF65-F5344CB8AC3E}">
        <p14:creationId xmlns:p14="http://schemas.microsoft.com/office/powerpoint/2010/main" val="4954121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8" name="Google Shape;238;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39" name="Google Shape;239;p1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19</a:t>
            </a:fld>
            <a:endParaRPr>
              <a:solidFill>
                <a:srgbClr val="000000"/>
              </a:solidFill>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3"/>
        <p:cNvGrpSpPr/>
        <p:nvPr/>
      </p:nvGrpSpPr>
      <p:grpSpPr>
        <a:xfrm>
          <a:off x="0" y="0"/>
          <a:ext cx="0" cy="0"/>
          <a:chOff x="0" y="0"/>
          <a:chExt cx="0" cy="0"/>
        </a:xfrm>
      </p:grpSpPr>
      <p:sp>
        <p:nvSpPr>
          <p:cNvPr id="244" name="Google Shape;244;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5" name="Google Shape;245;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46" name="Google Shape;246;p2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20</a:t>
            </a:fld>
            <a:endParaRPr>
              <a:solidFill>
                <a:srgbClr val="000000"/>
              </a:solidFill>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1"/>
        <p:cNvGrpSpPr/>
        <p:nvPr/>
      </p:nvGrpSpPr>
      <p:grpSpPr>
        <a:xfrm>
          <a:off x="0" y="0"/>
          <a:ext cx="0" cy="0"/>
          <a:chOff x="0" y="0"/>
          <a:chExt cx="0" cy="0"/>
        </a:xfrm>
      </p:grpSpPr>
      <p:sp>
        <p:nvSpPr>
          <p:cNvPr id="252" name="Google Shape;252;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3" name="Google Shape;253;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54" name="Google Shape;254;p2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21</a:t>
            </a:fld>
            <a:endParaRPr>
              <a:solidFill>
                <a:srgbClr val="000000"/>
              </a:solidFill>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8"/>
        <p:cNvGrpSpPr/>
        <p:nvPr/>
      </p:nvGrpSpPr>
      <p:grpSpPr>
        <a:xfrm>
          <a:off x="0" y="0"/>
          <a:ext cx="0" cy="0"/>
          <a:chOff x="0" y="0"/>
          <a:chExt cx="0" cy="0"/>
        </a:xfrm>
      </p:grpSpPr>
      <p:sp>
        <p:nvSpPr>
          <p:cNvPr id="259" name="Google Shape;259;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0" name="Google Shape;260;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1" name="Google Shape;261;p2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22</a:t>
            </a:fld>
            <a:endParaRPr>
              <a:solidFill>
                <a:srgbClr val="000000"/>
              </a:solidFill>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5"/>
        <p:cNvGrpSpPr/>
        <p:nvPr/>
      </p:nvGrpSpPr>
      <p:grpSpPr>
        <a:xfrm>
          <a:off x="0" y="0"/>
          <a:ext cx="0" cy="0"/>
          <a:chOff x="0" y="0"/>
          <a:chExt cx="0" cy="0"/>
        </a:xfrm>
      </p:grpSpPr>
      <p:sp>
        <p:nvSpPr>
          <p:cNvPr id="266" name="Google Shape;266;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7" name="Google Shape;267;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68" name="Google Shape;268;p2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23</a:t>
            </a:fld>
            <a:endParaRPr>
              <a:solidFill>
                <a:srgbClr val="000000"/>
              </a:solidFill>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5" name="Google Shape;275;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p2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24</a:t>
            </a:fld>
            <a:endParaRPr>
              <a:solidFill>
                <a:srgbClr val="000000"/>
              </a:solidFill>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0"/>
        <p:cNvGrpSpPr/>
        <p:nvPr/>
      </p:nvGrpSpPr>
      <p:grpSpPr>
        <a:xfrm>
          <a:off x="0" y="0"/>
          <a:ext cx="0" cy="0"/>
          <a:chOff x="0" y="0"/>
          <a:chExt cx="0" cy="0"/>
        </a:xfrm>
      </p:grpSpPr>
      <p:sp>
        <p:nvSpPr>
          <p:cNvPr id="281" name="Google Shape;28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2" name="Google Shape;282;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83" name="Google Shape;283;p2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25</a:t>
            </a:fld>
            <a:endParaRPr>
              <a:solidFill>
                <a:srgbClr val="000000"/>
              </a:solidFill>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7"/>
        <p:cNvGrpSpPr/>
        <p:nvPr/>
      </p:nvGrpSpPr>
      <p:grpSpPr>
        <a:xfrm>
          <a:off x="0" y="0"/>
          <a:ext cx="0" cy="0"/>
          <a:chOff x="0" y="0"/>
          <a:chExt cx="0" cy="0"/>
        </a:xfrm>
      </p:grpSpPr>
      <p:sp>
        <p:nvSpPr>
          <p:cNvPr id="288" name="Google Shape;288;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9" name="Google Shape;289;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0" name="Google Shape;290;p2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26</a:t>
            </a:fld>
            <a:endParaRPr>
              <a:solidFill>
                <a:srgbClr val="000000"/>
              </a:solidFill>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4"/>
        <p:cNvGrpSpPr/>
        <p:nvPr/>
      </p:nvGrpSpPr>
      <p:grpSpPr>
        <a:xfrm>
          <a:off x="0" y="0"/>
          <a:ext cx="0" cy="0"/>
          <a:chOff x="0" y="0"/>
          <a:chExt cx="0" cy="0"/>
        </a:xfrm>
      </p:grpSpPr>
      <p:sp>
        <p:nvSpPr>
          <p:cNvPr id="295" name="Google Shape;295;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6" name="Google Shape;296;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97" name="Google Shape;297;p2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27</a:t>
            </a:fld>
            <a:endParaRPr>
              <a:solidFill>
                <a:srgbClr val="000000"/>
              </a:solidFill>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3" name="Google Shape;303;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4" name="Google Shape;304;p2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28</a:t>
            </a:fld>
            <a:endParaRPr>
              <a:solidFill>
                <a:srgbClr val="000000"/>
              </a:solidFill>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0" name="Google Shape;310;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1" name="Google Shape;311;p2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29</a:t>
            </a:fld>
            <a:endParaRPr>
              <a:solidFill>
                <a:srgbClr val="000000"/>
              </a:solidFill>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6"/>
        <p:cNvGrpSpPr/>
        <p:nvPr/>
      </p:nvGrpSpPr>
      <p:grpSpPr>
        <a:xfrm>
          <a:off x="0" y="0"/>
          <a:ext cx="0" cy="0"/>
          <a:chOff x="0" y="0"/>
          <a:chExt cx="0" cy="0"/>
        </a:xfrm>
      </p:grpSpPr>
      <p:sp>
        <p:nvSpPr>
          <p:cNvPr id="317" name="Google Shape;317;gf9ae691180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8" name="Google Shape;318;gf9ae69118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19" name="Google Shape;319;gf9ae691180_0_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30</a:t>
            </a:fld>
            <a:endParaRPr>
              <a:solidFill>
                <a:srgbClr val="000000"/>
              </a:solidFill>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27" name="Google Shape;327;p3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31</a:t>
            </a:fld>
            <a:endParaRPr>
              <a:solidFill>
                <a:srgbClr val="000000"/>
              </a:solidFill>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1"/>
        <p:cNvGrpSpPr/>
        <p:nvPr/>
      </p:nvGrpSpPr>
      <p:grpSpPr>
        <a:xfrm>
          <a:off x="0" y="0"/>
          <a:ext cx="0" cy="0"/>
          <a:chOff x="0" y="0"/>
          <a:chExt cx="0" cy="0"/>
        </a:xfrm>
      </p:grpSpPr>
      <p:sp>
        <p:nvSpPr>
          <p:cNvPr id="332" name="Google Shape;332;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3" name="Google Shape;333;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34" name="Google Shape;334;p3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32</a:t>
            </a:fld>
            <a:endParaRPr>
              <a:solidFill>
                <a:srgbClr val="000000"/>
              </a:solidFill>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8"/>
        <p:cNvGrpSpPr/>
        <p:nvPr/>
      </p:nvGrpSpPr>
      <p:grpSpPr>
        <a:xfrm>
          <a:off x="0" y="0"/>
          <a:ext cx="0" cy="0"/>
          <a:chOff x="0" y="0"/>
          <a:chExt cx="0" cy="0"/>
        </a:xfrm>
      </p:grpSpPr>
      <p:sp>
        <p:nvSpPr>
          <p:cNvPr id="339" name="Google Shape;339;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41" name="Google Shape;341;p3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33</a:t>
            </a:fld>
            <a:endParaRPr>
              <a:solidFill>
                <a:srgbClr val="000000"/>
              </a:solidFill>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9" name="Google Shape;349;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50" name="Google Shape;350;p3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34</a:t>
            </a:fld>
            <a:endParaRPr>
              <a:solidFill>
                <a:srgbClr val="000000"/>
              </a:solidFill>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2"/>
        <p:cNvGrpSpPr/>
        <p:nvPr/>
      </p:nvGrpSpPr>
      <p:grpSpPr>
        <a:xfrm>
          <a:off x="0" y="0"/>
          <a:ext cx="0" cy="0"/>
          <a:chOff x="0" y="0"/>
          <a:chExt cx="0" cy="0"/>
        </a:xfrm>
      </p:grpSpPr>
      <p:sp>
        <p:nvSpPr>
          <p:cNvPr id="363" name="Google Shape;363;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64" name="Google Shape;364;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65" name="Google Shape;365;p3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35</a:t>
            </a:fld>
            <a:endParaRPr>
              <a:solidFill>
                <a:srgbClr val="000000"/>
              </a:solidFill>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7"/>
        <p:cNvGrpSpPr/>
        <p:nvPr/>
      </p:nvGrpSpPr>
      <p:grpSpPr>
        <a:xfrm>
          <a:off x="0" y="0"/>
          <a:ext cx="0" cy="0"/>
          <a:chOff x="0" y="0"/>
          <a:chExt cx="0" cy="0"/>
        </a:xfrm>
      </p:grpSpPr>
      <p:sp>
        <p:nvSpPr>
          <p:cNvPr id="378" name="Google Shape;378;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79" name="Google Shape;379;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80" name="Google Shape;380;p3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36</a:t>
            </a:fld>
            <a:endParaRPr>
              <a:solidFill>
                <a:srgbClr val="000000"/>
              </a:solidFill>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2"/>
        <p:cNvGrpSpPr/>
        <p:nvPr/>
      </p:nvGrpSpPr>
      <p:grpSpPr>
        <a:xfrm>
          <a:off x="0" y="0"/>
          <a:ext cx="0" cy="0"/>
          <a:chOff x="0" y="0"/>
          <a:chExt cx="0" cy="0"/>
        </a:xfrm>
      </p:grpSpPr>
      <p:sp>
        <p:nvSpPr>
          <p:cNvPr id="393" name="Google Shape;393;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94" name="Google Shape;394;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95" name="Google Shape;395;p3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37</a:t>
            </a:fld>
            <a:endParaRPr>
              <a:solidFill>
                <a:srgbClr val="000000"/>
              </a:solidFill>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7"/>
        <p:cNvGrpSpPr/>
        <p:nvPr/>
      </p:nvGrpSpPr>
      <p:grpSpPr>
        <a:xfrm>
          <a:off x="0" y="0"/>
          <a:ext cx="0" cy="0"/>
          <a:chOff x="0" y="0"/>
          <a:chExt cx="0" cy="0"/>
        </a:xfrm>
      </p:grpSpPr>
      <p:sp>
        <p:nvSpPr>
          <p:cNvPr id="408" name="Google Shape;408;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09" name="Google Shape;409;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10" name="Google Shape;410;p3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38</a:t>
            </a:fld>
            <a:endParaRPr>
              <a:solidFill>
                <a:srgbClr val="000000"/>
              </a:solidFill>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2"/>
        <p:cNvGrpSpPr/>
        <p:nvPr/>
      </p:nvGrpSpPr>
      <p:grpSpPr>
        <a:xfrm>
          <a:off x="0" y="0"/>
          <a:ext cx="0" cy="0"/>
          <a:chOff x="0" y="0"/>
          <a:chExt cx="0" cy="0"/>
        </a:xfrm>
      </p:grpSpPr>
      <p:sp>
        <p:nvSpPr>
          <p:cNvPr id="423" name="Google Shape;423;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24" name="Google Shape;424;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25" name="Google Shape;425;p3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39</a:t>
            </a:fld>
            <a:endParaRPr>
              <a:solidFill>
                <a:srgbClr val="000000"/>
              </a:solidFill>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7"/>
        <p:cNvGrpSpPr/>
        <p:nvPr/>
      </p:nvGrpSpPr>
      <p:grpSpPr>
        <a:xfrm>
          <a:off x="0" y="0"/>
          <a:ext cx="0" cy="0"/>
          <a:chOff x="0" y="0"/>
          <a:chExt cx="0" cy="0"/>
        </a:xfrm>
      </p:grpSpPr>
      <p:sp>
        <p:nvSpPr>
          <p:cNvPr id="438" name="Google Shape;438;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39" name="Google Shape;439;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40" name="Google Shape;440;p4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40</a:t>
            </a:fld>
            <a:endParaRPr>
              <a:solidFill>
                <a:srgbClr val="000000"/>
              </a:solidFill>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2"/>
        <p:cNvGrpSpPr/>
        <p:nvPr/>
      </p:nvGrpSpPr>
      <p:grpSpPr>
        <a:xfrm>
          <a:off x="0" y="0"/>
          <a:ext cx="0" cy="0"/>
          <a:chOff x="0" y="0"/>
          <a:chExt cx="0" cy="0"/>
        </a:xfrm>
      </p:grpSpPr>
      <p:sp>
        <p:nvSpPr>
          <p:cNvPr id="453" name="Google Shape;453;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54" name="Google Shape;454;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55" name="Google Shape;455;p4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41</a:t>
            </a:fld>
            <a:endParaRPr>
              <a:solidFill>
                <a:srgbClr val="000000"/>
              </a:solidFill>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8"/>
        <p:cNvGrpSpPr/>
        <p:nvPr/>
      </p:nvGrpSpPr>
      <p:grpSpPr>
        <a:xfrm>
          <a:off x="0" y="0"/>
          <a:ext cx="0" cy="0"/>
          <a:chOff x="0" y="0"/>
          <a:chExt cx="0" cy="0"/>
        </a:xfrm>
      </p:grpSpPr>
      <p:sp>
        <p:nvSpPr>
          <p:cNvPr id="469" name="Google Shape;469;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70" name="Google Shape;470;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71" name="Google Shape;471;p4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42</a:t>
            </a:fld>
            <a:endParaRPr>
              <a:solidFill>
                <a:srgbClr val="000000"/>
              </a:solidFill>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485" name="Google Shape;485;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486" name="Google Shape;486;p4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43</a:t>
            </a:fld>
            <a:endParaRPr>
              <a:solidFill>
                <a:srgbClr val="000000"/>
              </a:solidFill>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8"/>
        <p:cNvGrpSpPr/>
        <p:nvPr/>
      </p:nvGrpSpPr>
      <p:grpSpPr>
        <a:xfrm>
          <a:off x="0" y="0"/>
          <a:ext cx="0" cy="0"/>
          <a:chOff x="0" y="0"/>
          <a:chExt cx="0" cy="0"/>
        </a:xfrm>
      </p:grpSpPr>
      <p:sp>
        <p:nvSpPr>
          <p:cNvPr id="499" name="Google Shape;499;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00" name="Google Shape;500;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01" name="Google Shape;501;p4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44</a:t>
            </a:fld>
            <a:endParaRPr>
              <a:solidFill>
                <a:srgbClr val="000000"/>
              </a:solidFill>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3"/>
        <p:cNvGrpSpPr/>
        <p:nvPr/>
      </p:nvGrpSpPr>
      <p:grpSpPr>
        <a:xfrm>
          <a:off x="0" y="0"/>
          <a:ext cx="0" cy="0"/>
          <a:chOff x="0" y="0"/>
          <a:chExt cx="0" cy="0"/>
        </a:xfrm>
      </p:grpSpPr>
      <p:sp>
        <p:nvSpPr>
          <p:cNvPr id="514" name="Google Shape;514;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15" name="Google Shape;515;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16" name="Google Shape;516;p4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45</a:t>
            </a:fld>
            <a:endParaRPr>
              <a:solidFill>
                <a:srgbClr val="000000"/>
              </a:solidFill>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8"/>
        <p:cNvGrpSpPr/>
        <p:nvPr/>
      </p:nvGrpSpPr>
      <p:grpSpPr>
        <a:xfrm>
          <a:off x="0" y="0"/>
          <a:ext cx="0" cy="0"/>
          <a:chOff x="0" y="0"/>
          <a:chExt cx="0" cy="0"/>
        </a:xfrm>
      </p:grpSpPr>
      <p:sp>
        <p:nvSpPr>
          <p:cNvPr id="529" name="Google Shape;529;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30" name="Google Shape;530;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31" name="Google Shape;531;p4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46</a:t>
            </a:fld>
            <a:endParaRPr>
              <a:solidFill>
                <a:srgbClr val="000000"/>
              </a:solidFill>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3"/>
        <p:cNvGrpSpPr/>
        <p:nvPr/>
      </p:nvGrpSpPr>
      <p:grpSpPr>
        <a:xfrm>
          <a:off x="0" y="0"/>
          <a:ext cx="0" cy="0"/>
          <a:chOff x="0" y="0"/>
          <a:chExt cx="0" cy="0"/>
        </a:xfrm>
      </p:grpSpPr>
      <p:sp>
        <p:nvSpPr>
          <p:cNvPr id="544" name="Google Shape;544;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45" name="Google Shape;545;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46" name="Google Shape;546;p4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47</a:t>
            </a:fld>
            <a:endParaRPr>
              <a:solidFill>
                <a:srgbClr val="000000"/>
              </a:solidFill>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60" name="Google Shape;560;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61" name="Google Shape;561;p4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48</a:t>
            </a:fld>
            <a:endParaRPr>
              <a:solidFill>
                <a:srgbClr val="000000"/>
              </a:solidFill>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77" name="Google Shape;577;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78" name="Google Shape;578;p4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49</a:t>
            </a:fld>
            <a:endParaRPr>
              <a:solidFill>
                <a:srgbClr val="000000"/>
              </a:solidFill>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84" name="Google Shape;584;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585" name="Google Shape;585;p5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50</a:t>
            </a:fld>
            <a:endParaRPr>
              <a:solidFill>
                <a:srgbClr val="000000"/>
              </a:solidFill>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7"/>
        <p:cNvGrpSpPr/>
        <p:nvPr/>
      </p:nvGrpSpPr>
      <p:grpSpPr>
        <a:xfrm>
          <a:off x="0" y="0"/>
          <a:ext cx="0" cy="0"/>
          <a:chOff x="0" y="0"/>
          <a:chExt cx="0" cy="0"/>
        </a:xfrm>
      </p:grpSpPr>
      <p:sp>
        <p:nvSpPr>
          <p:cNvPr id="598" name="Google Shape;598;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599" name="Google Shape;599;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0" name="Google Shape;600;p5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51</a:t>
            </a:fld>
            <a:endParaRPr>
              <a:solidFill>
                <a:srgbClr val="000000"/>
              </a:solidFill>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07" name="Google Shape;607;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08" name="Google Shape;608;p5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52</a:t>
            </a:fld>
            <a:endParaRPr>
              <a:solidFill>
                <a:srgbClr val="000000"/>
              </a:solidFill>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0"/>
        <p:cNvGrpSpPr/>
        <p:nvPr/>
      </p:nvGrpSpPr>
      <p:grpSpPr>
        <a:xfrm>
          <a:off x="0" y="0"/>
          <a:ext cx="0" cy="0"/>
          <a:chOff x="0" y="0"/>
          <a:chExt cx="0" cy="0"/>
        </a:xfrm>
      </p:grpSpPr>
      <p:sp>
        <p:nvSpPr>
          <p:cNvPr id="621" name="Google Shape;621;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22" name="Google Shape;622;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23" name="Google Shape;623;p53: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53</a:t>
            </a:fld>
            <a:endParaRPr>
              <a:solidFill>
                <a:srgbClr val="000000"/>
              </a:solidFill>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9"/>
        <p:cNvGrpSpPr/>
        <p:nvPr/>
      </p:nvGrpSpPr>
      <p:grpSpPr>
        <a:xfrm>
          <a:off x="0" y="0"/>
          <a:ext cx="0" cy="0"/>
          <a:chOff x="0" y="0"/>
          <a:chExt cx="0" cy="0"/>
        </a:xfrm>
      </p:grpSpPr>
      <p:sp>
        <p:nvSpPr>
          <p:cNvPr id="630" name="Google Shape;630;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31" name="Google Shape;631;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32" name="Google Shape;632;p54: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54</a:t>
            </a:fld>
            <a:endParaRPr>
              <a:solidFill>
                <a:srgbClr val="000000"/>
              </a:solidFill>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8"/>
        <p:cNvGrpSpPr/>
        <p:nvPr/>
      </p:nvGrpSpPr>
      <p:grpSpPr>
        <a:xfrm>
          <a:off x="0" y="0"/>
          <a:ext cx="0" cy="0"/>
          <a:chOff x="0" y="0"/>
          <a:chExt cx="0" cy="0"/>
        </a:xfrm>
      </p:grpSpPr>
      <p:sp>
        <p:nvSpPr>
          <p:cNvPr id="639" name="Google Shape;639;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0" name="Google Shape;640;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41" name="Google Shape;641;p5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55</a:t>
            </a:fld>
            <a:endParaRPr>
              <a:solidFill>
                <a:srgbClr val="000000"/>
              </a:solidFill>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49" name="Google Shape;649;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0" name="Google Shape;650;p56: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56</a:t>
            </a:fld>
            <a:endParaRPr>
              <a:solidFill>
                <a:srgbClr val="000000"/>
              </a:solidFill>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58" name="Google Shape;658;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59" name="Google Shape;659;p57: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57</a:t>
            </a:fld>
            <a:endParaRPr>
              <a:solidFill>
                <a:srgbClr val="000000"/>
              </a:solidFill>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5"/>
        <p:cNvGrpSpPr/>
        <p:nvPr/>
      </p:nvGrpSpPr>
      <p:grpSpPr>
        <a:xfrm>
          <a:off x="0" y="0"/>
          <a:ext cx="0" cy="0"/>
          <a:chOff x="0" y="0"/>
          <a:chExt cx="0" cy="0"/>
        </a:xfrm>
      </p:grpSpPr>
      <p:sp>
        <p:nvSpPr>
          <p:cNvPr id="666" name="Google Shape;666;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67" name="Google Shape;667;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68" name="Google Shape;668;p58: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58</a:t>
            </a:fld>
            <a:endParaRPr>
              <a:solidFill>
                <a:srgbClr val="000000"/>
              </a:solidFill>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76" name="Google Shape;676;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77" name="Google Shape;677;p59: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59</a:t>
            </a:fld>
            <a:endParaRPr>
              <a:solidFill>
                <a:srgbClr val="000000"/>
              </a:solidFill>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3"/>
        <p:cNvGrpSpPr/>
        <p:nvPr/>
      </p:nvGrpSpPr>
      <p:grpSpPr>
        <a:xfrm>
          <a:off x="0" y="0"/>
          <a:ext cx="0" cy="0"/>
          <a:chOff x="0" y="0"/>
          <a:chExt cx="0" cy="0"/>
        </a:xfrm>
      </p:grpSpPr>
      <p:sp>
        <p:nvSpPr>
          <p:cNvPr id="684" name="Google Shape;684;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85" name="Google Shape;685;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86" name="Google Shape;686;p60: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60</a:t>
            </a:fld>
            <a:endParaRPr>
              <a:solidFill>
                <a:srgbClr val="000000"/>
              </a:solidFill>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0"/>
        <p:cNvGrpSpPr/>
        <p:nvPr/>
      </p:nvGrpSpPr>
      <p:grpSpPr>
        <a:xfrm>
          <a:off x="0" y="0"/>
          <a:ext cx="0" cy="0"/>
          <a:chOff x="0" y="0"/>
          <a:chExt cx="0" cy="0"/>
        </a:xfrm>
      </p:grpSpPr>
      <p:sp>
        <p:nvSpPr>
          <p:cNvPr id="691" name="Google Shape;691;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2" name="Google Shape;692;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693" name="Google Shape;693;p61: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GB">
                <a:solidFill>
                  <a:srgbClr val="000000"/>
                </a:solidFill>
              </a:rPr>
              <a:t>61</a:t>
            </a:fld>
            <a:endParaRPr>
              <a:solidFill>
                <a:srgbClr val="000000"/>
              </a:solidFil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63"/>
          <p:cNvSpPr txBox="1">
            <a:spLocks noGrp="1"/>
          </p:cNvSpPr>
          <p:nvPr>
            <p:ph type="ctrTitle"/>
          </p:nvPr>
        </p:nvSpPr>
        <p:spPr>
          <a:xfrm>
            <a:off x="685800" y="2130425"/>
            <a:ext cx="7772400" cy="1010543"/>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63"/>
          <p:cNvSpPr txBox="1">
            <a:spLocks noGrp="1"/>
          </p:cNvSpPr>
          <p:nvPr>
            <p:ph type="subTitle" idx="1"/>
          </p:nvPr>
        </p:nvSpPr>
        <p:spPr>
          <a:xfrm>
            <a:off x="683568" y="3212976"/>
            <a:ext cx="7776864" cy="1752600"/>
          </a:xfrm>
          <a:prstGeom prst="rect">
            <a:avLst/>
          </a:prstGeom>
          <a:noFill/>
          <a:ln>
            <a:noFill/>
          </a:ln>
        </p:spPr>
        <p:txBody>
          <a:bodyPr spcFirstLastPara="1" wrap="square" lIns="91425" tIns="45700" rIns="91425" bIns="45700" anchor="t" anchorCtr="0">
            <a:normAutofit/>
          </a:bodyPr>
          <a:lstStyle>
            <a:lvl1pPr lvl="0" algn="l">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spcBef>
                <a:spcPts val="480"/>
              </a:spcBef>
              <a:spcAft>
                <a:spcPts val="0"/>
              </a:spcAft>
              <a:buClr>
                <a:schemeClr val="dk1"/>
              </a:buClr>
              <a:buSzPts val="2400"/>
              <a:buNone/>
              <a:defRPr>
                <a:solidFill>
                  <a:schemeClr val="dk1"/>
                </a:solidFill>
              </a:defRPr>
            </a:lvl2pPr>
            <a:lvl3pPr lvl="2" algn="ctr">
              <a:spcBef>
                <a:spcPts val="400"/>
              </a:spcBef>
              <a:spcAft>
                <a:spcPts val="0"/>
              </a:spcAft>
              <a:buClr>
                <a:schemeClr val="dk1"/>
              </a:buClr>
              <a:buSzPts val="2000"/>
              <a:buNone/>
              <a:defRPr>
                <a:solidFill>
                  <a:schemeClr val="dk1"/>
                </a:solidFill>
              </a:defRPr>
            </a:lvl3pPr>
            <a:lvl4pPr lvl="3" algn="ctr">
              <a:spcBef>
                <a:spcPts val="360"/>
              </a:spcBef>
              <a:spcAft>
                <a:spcPts val="0"/>
              </a:spcAft>
              <a:buClr>
                <a:schemeClr val="dk1"/>
              </a:buClr>
              <a:buSzPts val="1800"/>
              <a:buNone/>
              <a:defRPr>
                <a:solidFill>
                  <a:schemeClr val="dk1"/>
                </a:solidFill>
              </a:defRPr>
            </a:lvl4pPr>
            <a:lvl5pPr lvl="4" algn="ctr">
              <a:spcBef>
                <a:spcPts val="360"/>
              </a:spcBef>
              <a:spcAft>
                <a:spcPts val="0"/>
              </a:spcAft>
              <a:buClr>
                <a:schemeClr val="dk1"/>
              </a:buClr>
              <a:buSzPts val="1800"/>
              <a:buNone/>
              <a:defRPr>
                <a:solidFill>
                  <a:schemeClr val="dk1"/>
                </a:solidFill>
              </a:defRPr>
            </a:lvl5pPr>
            <a:lvl6pPr lvl="5" algn="ctr">
              <a:spcBef>
                <a:spcPts val="400"/>
              </a:spcBef>
              <a:spcAft>
                <a:spcPts val="0"/>
              </a:spcAft>
              <a:buClr>
                <a:schemeClr val="dk1"/>
              </a:buClr>
              <a:buSzPts val="2000"/>
              <a:buNone/>
              <a:defRPr>
                <a:solidFill>
                  <a:schemeClr val="dk1"/>
                </a:solidFill>
              </a:defRPr>
            </a:lvl6pPr>
            <a:lvl7pPr lvl="6" algn="ctr">
              <a:spcBef>
                <a:spcPts val="400"/>
              </a:spcBef>
              <a:spcAft>
                <a:spcPts val="0"/>
              </a:spcAft>
              <a:buClr>
                <a:schemeClr val="dk1"/>
              </a:buClr>
              <a:buSzPts val="2000"/>
              <a:buNone/>
              <a:defRPr>
                <a:solidFill>
                  <a:schemeClr val="dk1"/>
                </a:solidFill>
              </a:defRPr>
            </a:lvl7pPr>
            <a:lvl8pPr lvl="7" algn="ctr">
              <a:spcBef>
                <a:spcPts val="400"/>
              </a:spcBef>
              <a:spcAft>
                <a:spcPts val="0"/>
              </a:spcAft>
              <a:buClr>
                <a:schemeClr val="dk1"/>
              </a:buClr>
              <a:buSzPts val="2000"/>
              <a:buNone/>
              <a:defRPr>
                <a:solidFill>
                  <a:schemeClr val="dk1"/>
                </a:solidFill>
              </a:defRPr>
            </a:lvl8pPr>
            <a:lvl9pPr lvl="8" algn="ctr">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20"/>
        <p:cNvGrpSpPr/>
        <p:nvPr/>
      </p:nvGrpSpPr>
      <p:grpSpPr>
        <a:xfrm>
          <a:off x="0" y="0"/>
          <a:ext cx="0" cy="0"/>
          <a:chOff x="0" y="0"/>
          <a:chExt cx="0" cy="0"/>
        </a:xfrm>
      </p:grpSpPr>
      <p:sp>
        <p:nvSpPr>
          <p:cNvPr id="21" name="Google Shape;21;p6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2"/>
        <p:cNvGrpSpPr/>
        <p:nvPr/>
      </p:nvGrpSpPr>
      <p:grpSpPr>
        <a:xfrm>
          <a:off x="0" y="0"/>
          <a:ext cx="0" cy="0"/>
          <a:chOff x="0" y="0"/>
          <a:chExt cx="0" cy="0"/>
        </a:xfrm>
      </p:grpSpPr>
      <p:sp>
        <p:nvSpPr>
          <p:cNvPr id="23" name="Google Shape;23;p7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4" name="Google Shape;24;p71"/>
          <p:cNvSpPr txBox="1">
            <a:spLocks noGrp="1"/>
          </p:cNvSpPr>
          <p:nvPr>
            <p:ph type="body" idx="1"/>
          </p:nvPr>
        </p:nvSpPr>
        <p:spPr>
          <a:xfrm>
            <a:off x="457200" y="1268760"/>
            <a:ext cx="8229600" cy="532859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a:solidFill>
                  <a:schemeClr val="dk1"/>
                </a:solidFill>
              </a:defRPr>
            </a:lvl1pPr>
            <a:lvl2pPr marL="914400" lvl="1" indent="-381000" algn="l">
              <a:spcBef>
                <a:spcPts val="480"/>
              </a:spcBef>
              <a:spcAft>
                <a:spcPts val="0"/>
              </a:spcAft>
              <a:buClr>
                <a:schemeClr val="dk1"/>
              </a:buClr>
              <a:buSzPts val="2400"/>
              <a:buChar char="–"/>
              <a:defRPr>
                <a:solidFill>
                  <a:schemeClr val="dk1"/>
                </a:solidFill>
              </a:defRPr>
            </a:lvl2pPr>
            <a:lvl3pPr marL="1371600" lvl="2" indent="-355600" algn="l">
              <a:spcBef>
                <a:spcPts val="400"/>
              </a:spcBef>
              <a:spcAft>
                <a:spcPts val="0"/>
              </a:spcAft>
              <a:buClr>
                <a:schemeClr val="dk1"/>
              </a:buClr>
              <a:buSzPts val="2000"/>
              <a:buChar char="•"/>
              <a:defRPr>
                <a:solidFill>
                  <a:schemeClr val="dk1"/>
                </a:solidFill>
              </a:defRPr>
            </a:lvl3pPr>
            <a:lvl4pPr marL="1828800" lvl="3" indent="-342900" algn="l">
              <a:spcBef>
                <a:spcPts val="360"/>
              </a:spcBef>
              <a:spcAft>
                <a:spcPts val="0"/>
              </a:spcAft>
              <a:buClr>
                <a:schemeClr val="dk1"/>
              </a:buClr>
              <a:buSzPts val="1800"/>
              <a:buChar char="–"/>
              <a:defRPr>
                <a:solidFill>
                  <a:schemeClr val="dk1"/>
                </a:solidFill>
              </a:defRPr>
            </a:lvl4pPr>
            <a:lvl5pPr marL="2286000" lvl="4" indent="-342900" algn="l">
              <a:spcBef>
                <a:spcPts val="360"/>
              </a:spcBef>
              <a:spcAft>
                <a:spcPts val="0"/>
              </a:spcAft>
              <a:buClr>
                <a:schemeClr val="dk1"/>
              </a:buClr>
              <a:buSzPts val="18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25"/>
        <p:cNvGrpSpPr/>
        <p:nvPr/>
      </p:nvGrpSpPr>
      <p:grpSpPr>
        <a:xfrm>
          <a:off x="0" y="0"/>
          <a:ext cx="0" cy="0"/>
          <a:chOff x="0" y="0"/>
          <a:chExt cx="0" cy="0"/>
        </a:xfrm>
      </p:grpSpPr>
      <p:sp>
        <p:nvSpPr>
          <p:cNvPr id="26" name="Google Shape;26;p72"/>
          <p:cNvSpPr/>
          <p:nvPr/>
        </p:nvSpPr>
        <p:spPr>
          <a:xfrm>
            <a:off x="4662296" y="1556056"/>
            <a:ext cx="4020984"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7" name="Google Shape;27;p72"/>
          <p:cNvSpPr/>
          <p:nvPr/>
        </p:nvSpPr>
        <p:spPr>
          <a:xfrm>
            <a:off x="479008" y="1556792"/>
            <a:ext cx="4020984"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28" name="Google Shape;28;p7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7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0" name="Google Shape;30;p7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31" name="Google Shape;31;p7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32" name="Google Shape;32;p7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pic>
        <p:nvPicPr>
          <p:cNvPr id="33" name="Google Shape;33;p72">
            <a:hlinkClick r:id="" action="ppaction://hlinkshowjump?jump=nextslide"/>
          </p:cNvPr>
          <p:cNvPicPr preferRelativeResize="0"/>
          <p:nvPr/>
        </p:nvPicPr>
        <p:blipFill rotWithShape="1">
          <a:blip r:embed="rId2">
            <a:alphaModFix/>
          </a:blip>
          <a:srcRect/>
          <a:stretch/>
        </p:blipFill>
        <p:spPr>
          <a:xfrm>
            <a:off x="8785386" y="6309320"/>
            <a:ext cx="303997" cy="450964"/>
          </a:xfrm>
          <a:prstGeom prst="rect">
            <a:avLst/>
          </a:prstGeom>
          <a:noFill/>
          <a:ln>
            <a:noFill/>
          </a:ln>
        </p:spPr>
      </p:pic>
      <p:pic>
        <p:nvPicPr>
          <p:cNvPr id="34" name="Google Shape;34;p72">
            <a:hlinkClick r:id="" action="ppaction://hlinkshowjump?jump=previousslide"/>
          </p:cNvPr>
          <p:cNvPicPr preferRelativeResize="0"/>
          <p:nvPr/>
        </p:nvPicPr>
        <p:blipFill rotWithShape="1">
          <a:blip r:embed="rId2">
            <a:alphaModFix/>
          </a:blip>
          <a:srcRect/>
          <a:stretch/>
        </p:blipFill>
        <p:spPr>
          <a:xfrm flipH="1">
            <a:off x="46966" y="6309320"/>
            <a:ext cx="303997" cy="450964"/>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35"/>
        <p:cNvGrpSpPr/>
        <p:nvPr/>
      </p:nvGrpSpPr>
      <p:grpSpPr>
        <a:xfrm>
          <a:off x="0" y="0"/>
          <a:ext cx="0" cy="0"/>
          <a:chOff x="0" y="0"/>
          <a:chExt cx="0" cy="0"/>
        </a:xfrm>
      </p:grpSpPr>
      <p:sp>
        <p:nvSpPr>
          <p:cNvPr id="36" name="Google Shape;36;p7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37" name="Google Shape;37;p73">
            <a:hlinkClick r:id="" action="ppaction://hlinkshowjump?jump=previousslide"/>
          </p:cNvPr>
          <p:cNvPicPr preferRelativeResize="0"/>
          <p:nvPr/>
        </p:nvPicPr>
        <p:blipFill rotWithShape="1">
          <a:blip r:embed="rId2">
            <a:alphaModFix/>
          </a:blip>
          <a:srcRect/>
          <a:stretch/>
        </p:blipFill>
        <p:spPr>
          <a:xfrm flipH="1">
            <a:off x="46966" y="6309320"/>
            <a:ext cx="303997" cy="450964"/>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46"/>
        <p:cNvGrpSpPr/>
        <p:nvPr/>
      </p:nvGrpSpPr>
      <p:grpSpPr>
        <a:xfrm>
          <a:off x="0" y="0"/>
          <a:ext cx="0" cy="0"/>
          <a:chOff x="0" y="0"/>
          <a:chExt cx="0" cy="0"/>
        </a:xfrm>
      </p:grpSpPr>
      <p:sp>
        <p:nvSpPr>
          <p:cNvPr id="47" name="Google Shape;47;p6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48"/>
        <p:cNvGrpSpPr/>
        <p:nvPr/>
      </p:nvGrpSpPr>
      <p:grpSpPr>
        <a:xfrm>
          <a:off x="0" y="0"/>
          <a:ext cx="0" cy="0"/>
          <a:chOff x="0" y="0"/>
          <a:chExt cx="0" cy="0"/>
        </a:xfrm>
      </p:grpSpPr>
      <p:sp>
        <p:nvSpPr>
          <p:cNvPr id="49" name="Google Shape;49;p67"/>
          <p:cNvSpPr txBox="1">
            <a:spLocks noGrp="1"/>
          </p:cNvSpPr>
          <p:nvPr>
            <p:ph type="ctrTitle"/>
          </p:nvPr>
        </p:nvSpPr>
        <p:spPr>
          <a:xfrm>
            <a:off x="685800" y="2130425"/>
            <a:ext cx="7772400" cy="1010543"/>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0" name="Google Shape;50;p67"/>
          <p:cNvSpPr txBox="1">
            <a:spLocks noGrp="1"/>
          </p:cNvSpPr>
          <p:nvPr>
            <p:ph type="subTitle" idx="1"/>
          </p:nvPr>
        </p:nvSpPr>
        <p:spPr>
          <a:xfrm>
            <a:off x="683568" y="3212976"/>
            <a:ext cx="7776864" cy="1752600"/>
          </a:xfrm>
          <a:prstGeom prst="rect">
            <a:avLst/>
          </a:prstGeom>
          <a:noFill/>
          <a:ln>
            <a:noFill/>
          </a:ln>
        </p:spPr>
        <p:txBody>
          <a:bodyPr spcFirstLastPara="1" wrap="square" lIns="91425" tIns="45700" rIns="91425" bIns="45700" anchor="t" anchorCtr="0">
            <a:normAutofit/>
          </a:bodyPr>
          <a:lstStyle>
            <a:lvl1pPr lvl="0" algn="l">
              <a:spcBef>
                <a:spcPts val="560"/>
              </a:spcBef>
              <a:spcAft>
                <a:spcPts val="0"/>
              </a:spcAft>
              <a:buClr>
                <a:schemeClr val="dk1"/>
              </a:buClr>
              <a:buSzPts val="2800"/>
              <a:buNone/>
              <a:defRPr sz="2800">
                <a:solidFill>
                  <a:schemeClr val="dk1"/>
                </a:solidFill>
                <a:latin typeface="Quattrocento Sans"/>
                <a:ea typeface="Quattrocento Sans"/>
                <a:cs typeface="Quattrocento Sans"/>
                <a:sym typeface="Quattrocento Sans"/>
              </a:defRPr>
            </a:lvl1pPr>
            <a:lvl2pPr lvl="1" algn="ctr">
              <a:spcBef>
                <a:spcPts val="480"/>
              </a:spcBef>
              <a:spcAft>
                <a:spcPts val="0"/>
              </a:spcAft>
              <a:buClr>
                <a:schemeClr val="dk1"/>
              </a:buClr>
              <a:buSzPts val="2400"/>
              <a:buNone/>
              <a:defRPr>
                <a:solidFill>
                  <a:schemeClr val="dk1"/>
                </a:solidFill>
              </a:defRPr>
            </a:lvl2pPr>
            <a:lvl3pPr lvl="2" algn="ctr">
              <a:spcBef>
                <a:spcPts val="400"/>
              </a:spcBef>
              <a:spcAft>
                <a:spcPts val="0"/>
              </a:spcAft>
              <a:buClr>
                <a:schemeClr val="dk1"/>
              </a:buClr>
              <a:buSzPts val="2000"/>
              <a:buNone/>
              <a:defRPr>
                <a:solidFill>
                  <a:schemeClr val="dk1"/>
                </a:solidFill>
              </a:defRPr>
            </a:lvl3pPr>
            <a:lvl4pPr lvl="3" algn="ctr">
              <a:spcBef>
                <a:spcPts val="360"/>
              </a:spcBef>
              <a:spcAft>
                <a:spcPts val="0"/>
              </a:spcAft>
              <a:buClr>
                <a:schemeClr val="dk1"/>
              </a:buClr>
              <a:buSzPts val="1800"/>
              <a:buNone/>
              <a:defRPr>
                <a:solidFill>
                  <a:schemeClr val="dk1"/>
                </a:solidFill>
              </a:defRPr>
            </a:lvl4pPr>
            <a:lvl5pPr lvl="4" algn="ctr">
              <a:spcBef>
                <a:spcPts val="360"/>
              </a:spcBef>
              <a:spcAft>
                <a:spcPts val="0"/>
              </a:spcAft>
              <a:buClr>
                <a:schemeClr val="dk1"/>
              </a:buClr>
              <a:buSzPts val="1800"/>
              <a:buNone/>
              <a:defRPr>
                <a:solidFill>
                  <a:schemeClr val="dk1"/>
                </a:solidFill>
              </a:defRPr>
            </a:lvl5pPr>
            <a:lvl6pPr lvl="5" algn="ctr">
              <a:spcBef>
                <a:spcPts val="400"/>
              </a:spcBef>
              <a:spcAft>
                <a:spcPts val="0"/>
              </a:spcAft>
              <a:buClr>
                <a:schemeClr val="dk1"/>
              </a:buClr>
              <a:buSzPts val="2000"/>
              <a:buNone/>
              <a:defRPr>
                <a:solidFill>
                  <a:schemeClr val="dk1"/>
                </a:solidFill>
              </a:defRPr>
            </a:lvl6pPr>
            <a:lvl7pPr lvl="6" algn="ctr">
              <a:spcBef>
                <a:spcPts val="400"/>
              </a:spcBef>
              <a:spcAft>
                <a:spcPts val="0"/>
              </a:spcAft>
              <a:buClr>
                <a:schemeClr val="dk1"/>
              </a:buClr>
              <a:buSzPts val="2000"/>
              <a:buNone/>
              <a:defRPr>
                <a:solidFill>
                  <a:schemeClr val="dk1"/>
                </a:solidFill>
              </a:defRPr>
            </a:lvl7pPr>
            <a:lvl8pPr lvl="7" algn="ctr">
              <a:spcBef>
                <a:spcPts val="400"/>
              </a:spcBef>
              <a:spcAft>
                <a:spcPts val="0"/>
              </a:spcAft>
              <a:buClr>
                <a:schemeClr val="dk1"/>
              </a:buClr>
              <a:buSzPts val="2000"/>
              <a:buNone/>
              <a:defRPr>
                <a:solidFill>
                  <a:schemeClr val="dk1"/>
                </a:solidFill>
              </a:defRPr>
            </a:lvl8pPr>
            <a:lvl9pPr lvl="8" algn="ctr">
              <a:spcBef>
                <a:spcPts val="400"/>
              </a:spcBef>
              <a:spcAft>
                <a:spcPts val="0"/>
              </a:spcAft>
              <a:buClr>
                <a:schemeClr val="dk1"/>
              </a:buClr>
              <a:buSzPts val="2000"/>
              <a:buNone/>
              <a:defRPr>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1"/>
        <p:cNvGrpSpPr/>
        <p:nvPr/>
      </p:nvGrpSpPr>
      <p:grpSpPr>
        <a:xfrm>
          <a:off x="0" y="0"/>
          <a:ext cx="0" cy="0"/>
          <a:chOff x="0" y="0"/>
          <a:chExt cx="0" cy="0"/>
        </a:xfrm>
      </p:grpSpPr>
      <p:sp>
        <p:nvSpPr>
          <p:cNvPr id="52" name="Google Shape;52;p6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solidFill>
                  <a:schemeClr val="dk1"/>
                </a:solidFill>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3" name="Google Shape;53;p68"/>
          <p:cNvSpPr txBox="1">
            <a:spLocks noGrp="1"/>
          </p:cNvSpPr>
          <p:nvPr>
            <p:ph type="body" idx="1"/>
          </p:nvPr>
        </p:nvSpPr>
        <p:spPr>
          <a:xfrm>
            <a:off x="457200" y="1268760"/>
            <a:ext cx="8229600" cy="5328592"/>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a:solidFill>
                  <a:schemeClr val="dk1"/>
                </a:solidFill>
              </a:defRPr>
            </a:lvl1pPr>
            <a:lvl2pPr marL="914400" lvl="1" indent="-381000" algn="l">
              <a:spcBef>
                <a:spcPts val="480"/>
              </a:spcBef>
              <a:spcAft>
                <a:spcPts val="0"/>
              </a:spcAft>
              <a:buClr>
                <a:schemeClr val="dk1"/>
              </a:buClr>
              <a:buSzPts val="2400"/>
              <a:buChar char="–"/>
              <a:defRPr>
                <a:solidFill>
                  <a:schemeClr val="dk1"/>
                </a:solidFill>
              </a:defRPr>
            </a:lvl2pPr>
            <a:lvl3pPr marL="1371600" lvl="2" indent="-355600" algn="l">
              <a:spcBef>
                <a:spcPts val="400"/>
              </a:spcBef>
              <a:spcAft>
                <a:spcPts val="0"/>
              </a:spcAft>
              <a:buClr>
                <a:schemeClr val="dk1"/>
              </a:buClr>
              <a:buSzPts val="2000"/>
              <a:buChar char="•"/>
              <a:defRPr>
                <a:solidFill>
                  <a:schemeClr val="dk1"/>
                </a:solidFill>
              </a:defRPr>
            </a:lvl3pPr>
            <a:lvl4pPr marL="1828800" lvl="3" indent="-342900" algn="l">
              <a:spcBef>
                <a:spcPts val="360"/>
              </a:spcBef>
              <a:spcAft>
                <a:spcPts val="0"/>
              </a:spcAft>
              <a:buClr>
                <a:schemeClr val="dk1"/>
              </a:buClr>
              <a:buSzPts val="1800"/>
              <a:buChar char="–"/>
              <a:defRPr>
                <a:solidFill>
                  <a:schemeClr val="dk1"/>
                </a:solidFill>
              </a:defRPr>
            </a:lvl4pPr>
            <a:lvl5pPr marL="2286000" lvl="4" indent="-342900" algn="l">
              <a:spcBef>
                <a:spcPts val="360"/>
              </a:spcBef>
              <a:spcAft>
                <a:spcPts val="0"/>
              </a:spcAft>
              <a:buClr>
                <a:schemeClr val="dk1"/>
              </a:buClr>
              <a:buSzPts val="1800"/>
              <a:buChar char="»"/>
              <a:defRPr>
                <a:solidFill>
                  <a:schemeClr val="dk1"/>
                </a:solidFill>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4"/>
        <p:cNvGrpSpPr/>
        <p:nvPr/>
      </p:nvGrpSpPr>
      <p:grpSpPr>
        <a:xfrm>
          <a:off x="0" y="0"/>
          <a:ext cx="0" cy="0"/>
          <a:chOff x="0" y="0"/>
          <a:chExt cx="0" cy="0"/>
        </a:xfrm>
      </p:grpSpPr>
      <p:sp>
        <p:nvSpPr>
          <p:cNvPr id="55" name="Google Shape;55;p69"/>
          <p:cNvSpPr/>
          <p:nvPr/>
        </p:nvSpPr>
        <p:spPr>
          <a:xfrm>
            <a:off x="4662296" y="1556056"/>
            <a:ext cx="4020984"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6" name="Google Shape;56;p69"/>
          <p:cNvSpPr/>
          <p:nvPr/>
        </p:nvSpPr>
        <p:spPr>
          <a:xfrm>
            <a:off x="479008" y="1556792"/>
            <a:ext cx="4020984" cy="613784"/>
          </a:xfrm>
          <a:prstGeom prst="rect">
            <a:avLst/>
          </a:prstGeom>
          <a:solidFill>
            <a:srgbClr val="FFFFFF">
              <a:alpha val="35686"/>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7" name="Google Shape;57;p6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4400"/>
              <a:buFont typeface="Quattrocento Sans"/>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8" name="Google Shape;58;p69"/>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59" name="Google Shape;59;p69"/>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60" name="Google Shape;60;p69"/>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61" name="Google Shape;61;p69"/>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pic>
        <p:nvPicPr>
          <p:cNvPr id="62" name="Google Shape;62;p69">
            <a:hlinkClick r:id="" action="ppaction://hlinkshowjump?jump=nextslide"/>
          </p:cNvPr>
          <p:cNvPicPr preferRelativeResize="0"/>
          <p:nvPr/>
        </p:nvPicPr>
        <p:blipFill rotWithShape="1">
          <a:blip r:embed="rId2">
            <a:alphaModFix/>
          </a:blip>
          <a:srcRect/>
          <a:stretch/>
        </p:blipFill>
        <p:spPr>
          <a:xfrm>
            <a:off x="8785386" y="6309320"/>
            <a:ext cx="303997" cy="450964"/>
          </a:xfrm>
          <a:prstGeom prst="rect">
            <a:avLst/>
          </a:prstGeom>
          <a:noFill/>
          <a:ln>
            <a:noFill/>
          </a:ln>
        </p:spPr>
      </p:pic>
      <p:pic>
        <p:nvPicPr>
          <p:cNvPr id="63" name="Google Shape;63;p69">
            <a:hlinkClick r:id="" action="ppaction://hlinkshowjump?jump=previousslide"/>
          </p:cNvPr>
          <p:cNvPicPr preferRelativeResize="0"/>
          <p:nvPr/>
        </p:nvPicPr>
        <p:blipFill rotWithShape="1">
          <a:blip r:embed="rId2">
            <a:alphaModFix/>
          </a:blip>
          <a:srcRect/>
          <a:stretch/>
        </p:blipFill>
        <p:spPr>
          <a:xfrm flipH="1">
            <a:off x="46966" y="6309320"/>
            <a:ext cx="303997" cy="450964"/>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Last slide" type="titleOnly">
  <p:cSld name="TITLE_ONLY">
    <p:spTree>
      <p:nvGrpSpPr>
        <p:cNvPr id="1" name="Shape 64"/>
        <p:cNvGrpSpPr/>
        <p:nvPr/>
      </p:nvGrpSpPr>
      <p:grpSpPr>
        <a:xfrm>
          <a:off x="0" y="0"/>
          <a:ext cx="0" cy="0"/>
          <a:chOff x="0" y="0"/>
          <a:chExt cx="0" cy="0"/>
        </a:xfrm>
      </p:grpSpPr>
      <p:sp>
        <p:nvSpPr>
          <p:cNvPr id="65" name="Google Shape;65;p7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lvl="0" algn="l">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pic>
        <p:nvPicPr>
          <p:cNvPr id="66" name="Google Shape;66;p70">
            <a:hlinkClick r:id="" action="ppaction://hlinkshowjump?jump=previousslide"/>
          </p:cNvPr>
          <p:cNvPicPr preferRelativeResize="0"/>
          <p:nvPr/>
        </p:nvPicPr>
        <p:blipFill rotWithShape="1">
          <a:blip r:embed="rId2">
            <a:alphaModFix/>
          </a:blip>
          <a:srcRect/>
          <a:stretch/>
        </p:blipFill>
        <p:spPr>
          <a:xfrm flipH="1">
            <a:off x="46966" y="6309320"/>
            <a:ext cx="303997" cy="450964"/>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3.xml"/><Relationship Id="rId7"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11" Type="http://schemas.openxmlformats.org/officeDocument/2006/relationships/image" Target="../media/image5.png"/><Relationship Id="rId5" Type="http://schemas.openxmlformats.org/officeDocument/2006/relationships/slideLayout" Target="../slideLayouts/slideLayout5.xml"/><Relationship Id="rId10" Type="http://schemas.openxmlformats.org/officeDocument/2006/relationships/image" Target="../media/image4.png"/><Relationship Id="rId4" Type="http://schemas.openxmlformats.org/officeDocument/2006/relationships/slideLayout" Target="../slideLayouts/slideLayout4.xml"/><Relationship Id="rId9" Type="http://schemas.openxmlformats.org/officeDocument/2006/relationships/image" Target="../media/image3.png"/></Relationships>
</file>

<file path=ppt/slideMasters/_rels/slideMaster2.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slideLayout" Target="../slideLayouts/slideLayout8.xml"/><Relationship Id="rId7" Type="http://schemas.openxmlformats.org/officeDocument/2006/relationships/image" Target="../media/image1.png"/><Relationship Id="rId2" Type="http://schemas.openxmlformats.org/officeDocument/2006/relationships/slideLayout" Target="../slideLayouts/slideLayout7.xml"/><Relationship Id="rId1" Type="http://schemas.openxmlformats.org/officeDocument/2006/relationships/slideLayout" Target="../slideLayouts/slideLayout6.xml"/><Relationship Id="rId6" Type="http://schemas.openxmlformats.org/officeDocument/2006/relationships/theme" Target="../theme/theme2.xml"/><Relationship Id="rId11" Type="http://schemas.openxmlformats.org/officeDocument/2006/relationships/image" Target="../media/image5.png"/><Relationship Id="rId5" Type="http://schemas.openxmlformats.org/officeDocument/2006/relationships/slideLayout" Target="../slideLayouts/slideLayout10.xml"/><Relationship Id="rId10" Type="http://schemas.openxmlformats.org/officeDocument/2006/relationships/image" Target="../media/image4.png"/><Relationship Id="rId4" Type="http://schemas.openxmlformats.org/officeDocument/2006/relationships/slideLayout" Target="../slideLayouts/slideLayout9.xml"/><Relationship Id="rId9" Type="http://schemas.openxmlformats.org/officeDocument/2006/relationships/image" Target="../media/image3.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9"/>
        <p:cNvGrpSpPr/>
        <p:nvPr/>
      </p:nvGrpSpPr>
      <p:grpSpPr>
        <a:xfrm>
          <a:off x="0" y="0"/>
          <a:ext cx="0" cy="0"/>
          <a:chOff x="0" y="0"/>
          <a:chExt cx="0" cy="0"/>
        </a:xfrm>
      </p:grpSpPr>
      <p:sp>
        <p:nvSpPr>
          <p:cNvPr id="10" name="Google Shape;10;p6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1" name="Google Shape;11;p62"/>
          <p:cNvSpPr txBox="1">
            <a:spLocks noGrp="1"/>
          </p:cNvSpPr>
          <p:nvPr>
            <p:ph type="body" idx="1"/>
          </p:nvPr>
        </p:nvSpPr>
        <p:spPr>
          <a:xfrm>
            <a:off x="457200" y="1268760"/>
            <a:ext cx="8229600" cy="5328592"/>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12" name="Google Shape;12;p62"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8004029" y="6348019"/>
            <a:ext cx="400050" cy="400050"/>
          </a:xfrm>
          <a:prstGeom prst="rect">
            <a:avLst/>
          </a:prstGeom>
          <a:noFill/>
          <a:ln>
            <a:noFill/>
          </a:ln>
        </p:spPr>
      </p:pic>
      <p:pic>
        <p:nvPicPr>
          <p:cNvPr id="13" name="Google Shape;13;p62"/>
          <p:cNvPicPr preferRelativeResize="0"/>
          <p:nvPr/>
        </p:nvPicPr>
        <p:blipFill rotWithShape="1">
          <a:blip r:embed="rId8">
            <a:alphaModFix/>
          </a:blip>
          <a:srcRect/>
          <a:stretch/>
        </p:blipFill>
        <p:spPr>
          <a:xfrm>
            <a:off x="8558640" y="6343213"/>
            <a:ext cx="400106" cy="400106"/>
          </a:xfrm>
          <a:prstGeom prst="rect">
            <a:avLst/>
          </a:prstGeom>
          <a:noFill/>
          <a:ln>
            <a:noFill/>
          </a:ln>
        </p:spPr>
      </p:pic>
      <p:pic>
        <p:nvPicPr>
          <p:cNvPr id="14" name="Google Shape;14;p62">
            <a:hlinkClick r:id="" action="ppaction://hlinkshowjump?jump=firstslide"/>
          </p:cNvPr>
          <p:cNvPicPr preferRelativeResize="0"/>
          <p:nvPr/>
        </p:nvPicPr>
        <p:blipFill rotWithShape="1">
          <a:blip r:embed="rId9">
            <a:alphaModFix/>
          </a:blip>
          <a:srcRect/>
          <a:stretch/>
        </p:blipFill>
        <p:spPr>
          <a:xfrm>
            <a:off x="7448908" y="6347991"/>
            <a:ext cx="400106" cy="400106"/>
          </a:xfrm>
          <a:prstGeom prst="rect">
            <a:avLst/>
          </a:prstGeom>
          <a:noFill/>
          <a:ln>
            <a:noFill/>
          </a:ln>
        </p:spPr>
      </p:pic>
      <p:pic>
        <p:nvPicPr>
          <p:cNvPr id="15" name="Google Shape;15;p62">
            <a:hlinkClick r:id="" action="ppaction://hlinkshowjump?jump=previousslide"/>
          </p:cNvPr>
          <p:cNvPicPr preferRelativeResize="0"/>
          <p:nvPr/>
        </p:nvPicPr>
        <p:blipFill rotWithShape="1">
          <a:blip r:embed="rId10">
            <a:alphaModFix/>
          </a:blip>
          <a:srcRect/>
          <a:stretch/>
        </p:blipFill>
        <p:spPr>
          <a:xfrm>
            <a:off x="6904800" y="6338465"/>
            <a:ext cx="419159" cy="419159"/>
          </a:xfrm>
          <a:prstGeom prst="rect">
            <a:avLst/>
          </a:prstGeom>
          <a:noFill/>
          <a:ln>
            <a:noFill/>
          </a:ln>
        </p:spPr>
      </p:pic>
      <p:sp>
        <p:nvSpPr>
          <p:cNvPr id="16" name="Google Shape;16;p62"/>
          <p:cNvSpPr/>
          <p:nvPr/>
        </p:nvSpPr>
        <p:spPr>
          <a:xfrm>
            <a:off x="4061508" y="6525344"/>
            <a:ext cx="1113381" cy="360040"/>
          </a:xfrm>
          <a:prstGeom prst="rect">
            <a:avLst/>
          </a:prstGeom>
          <a:blipFill rotWithShape="1">
            <a:blip r:embed="rId11">
              <a:alphaModFix amt="3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b="0" i="0" u="none" strike="noStrike" cap="none">
              <a:solidFill>
                <a:schemeClr val="lt1"/>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gradFill>
          <a:gsLst>
            <a:gs pos="0">
              <a:srgbClr val="000000"/>
            </a:gs>
            <a:gs pos="80000">
              <a:srgbClr val="0F243E"/>
            </a:gs>
            <a:gs pos="100000">
              <a:srgbClr val="538CD5"/>
            </a:gs>
          </a:gsLst>
          <a:lin ang="5400000" scaled="0"/>
        </a:gradFill>
        <a:effectLst/>
      </p:bgPr>
    </p:bg>
    <p:spTree>
      <p:nvGrpSpPr>
        <p:cNvPr id="1" name="Shape 38"/>
        <p:cNvGrpSpPr/>
        <p:nvPr/>
      </p:nvGrpSpPr>
      <p:grpSpPr>
        <a:xfrm>
          <a:off x="0" y="0"/>
          <a:ext cx="0" cy="0"/>
          <a:chOff x="0" y="0"/>
          <a:chExt cx="0" cy="0"/>
        </a:xfrm>
      </p:grpSpPr>
      <p:sp>
        <p:nvSpPr>
          <p:cNvPr id="39" name="Google Shape;39;p6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lvl1pPr marR="0" lvl="0" algn="l" rtl="0">
              <a:spcBef>
                <a:spcPts val="0"/>
              </a:spcBef>
              <a:spcAft>
                <a:spcPts val="0"/>
              </a:spcAft>
              <a:buClr>
                <a:schemeClr val="dk1"/>
              </a:buClr>
              <a:buSzPts val="4400"/>
              <a:buFont typeface="Quattrocento Sans"/>
              <a:buNone/>
              <a:defRPr sz="4400" b="0" i="0" u="none" strike="noStrike" cap="none">
                <a:solidFill>
                  <a:schemeClr val="dk1"/>
                </a:solidFill>
                <a:latin typeface="Quattrocento Sans"/>
                <a:ea typeface="Quattrocento Sans"/>
                <a:cs typeface="Quattrocento Sans"/>
                <a:sym typeface="Quattrocento Sans"/>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40" name="Google Shape;40;p65"/>
          <p:cNvSpPr txBox="1">
            <a:spLocks noGrp="1"/>
          </p:cNvSpPr>
          <p:nvPr>
            <p:ph type="body" idx="1"/>
          </p:nvPr>
        </p:nvSpPr>
        <p:spPr>
          <a:xfrm>
            <a:off x="457200" y="1268760"/>
            <a:ext cx="8229600" cy="5328592"/>
          </a:xfrm>
          <a:prstGeom prst="rect">
            <a:avLst/>
          </a:prstGeom>
          <a:noFill/>
          <a:ln>
            <a:noFill/>
          </a:ln>
        </p:spPr>
        <p:txBody>
          <a:bodyPr spcFirstLastPara="1" wrap="square" lIns="91425" tIns="45700" rIns="91425" bIns="45700" anchor="t" anchorCtr="0">
            <a:normAutofit/>
          </a:bodyPr>
          <a:lstStyle>
            <a:lvl1pPr marL="457200" marR="0" lvl="0" indent="-406400" algn="l" rtl="0">
              <a:spcBef>
                <a:spcPts val="560"/>
              </a:spcBef>
              <a:spcAft>
                <a:spcPts val="0"/>
              </a:spcAft>
              <a:buClr>
                <a:schemeClr val="dk1"/>
              </a:buClr>
              <a:buSzPts val="2800"/>
              <a:buFont typeface="Arial"/>
              <a:buChar char="•"/>
              <a:defRPr sz="2800" b="0" i="0" u="none" strike="noStrike" cap="none">
                <a:solidFill>
                  <a:schemeClr val="dk1"/>
                </a:solidFill>
                <a:latin typeface="Quattrocento Sans"/>
                <a:ea typeface="Quattrocento Sans"/>
                <a:cs typeface="Quattrocento Sans"/>
                <a:sym typeface="Quattrocento Sans"/>
              </a:defRPr>
            </a:lvl1pPr>
            <a:lvl2pPr marL="914400" marR="0" lvl="1" indent="-381000" algn="l" rtl="0">
              <a:spcBef>
                <a:spcPts val="480"/>
              </a:spcBef>
              <a:spcAft>
                <a:spcPts val="0"/>
              </a:spcAft>
              <a:buClr>
                <a:schemeClr val="dk1"/>
              </a:buClr>
              <a:buSzPts val="2400"/>
              <a:buFont typeface="Arial"/>
              <a:buChar char="–"/>
              <a:defRPr sz="2400" b="0" i="0" u="none" strike="noStrike" cap="none">
                <a:solidFill>
                  <a:schemeClr val="dk1"/>
                </a:solidFill>
                <a:latin typeface="Quattrocento Sans"/>
                <a:ea typeface="Quattrocento Sans"/>
                <a:cs typeface="Quattrocento Sans"/>
                <a:sym typeface="Quattrocento Sans"/>
              </a:defRPr>
            </a:lvl2pPr>
            <a:lvl3pPr marL="1371600" marR="0" lvl="2"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3pPr>
            <a:lvl4pPr marL="1828800" marR="0" lvl="3"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4pPr>
            <a:lvl5pPr marL="2286000" marR="0" lvl="4" indent="-342900" algn="l" rtl="0">
              <a:spcBef>
                <a:spcPts val="360"/>
              </a:spcBef>
              <a:spcAft>
                <a:spcPts val="0"/>
              </a:spcAft>
              <a:buClr>
                <a:schemeClr val="dk1"/>
              </a:buClr>
              <a:buSzPts val="1800"/>
              <a:buFont typeface="Arial"/>
              <a:buChar char="»"/>
              <a:defRPr sz="1800" b="0" i="0" u="none" strike="noStrike" cap="none">
                <a:solidFill>
                  <a:schemeClr val="dk1"/>
                </a:solidFill>
                <a:latin typeface="Quattrocento Sans"/>
                <a:ea typeface="Quattrocento Sans"/>
                <a:cs typeface="Quattrocento Sans"/>
                <a:sym typeface="Quattrocento Sans"/>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Quattrocento Sans"/>
                <a:ea typeface="Quattrocento Sans"/>
                <a:cs typeface="Quattrocento Sans"/>
                <a:sym typeface="Quattrocento Sans"/>
              </a:defRPr>
            </a:lvl9pPr>
          </a:lstStyle>
          <a:p>
            <a:endParaRPr/>
          </a:p>
        </p:txBody>
      </p:sp>
      <p:pic>
        <p:nvPicPr>
          <p:cNvPr id="41" name="Google Shape;41;p65" descr="C:\Users\jw\Documents\Visual Studio 2010\Projects\JSBubbles\JSBubbles.Game\images\themes\metro\Next.png">
            <a:hlinkClick r:id="" action="ppaction://hlinkshowjump?jump=nextslide"/>
          </p:cNvPr>
          <p:cNvPicPr preferRelativeResize="0"/>
          <p:nvPr/>
        </p:nvPicPr>
        <p:blipFill rotWithShape="1">
          <a:blip r:embed="rId7">
            <a:alphaModFix/>
          </a:blip>
          <a:srcRect/>
          <a:stretch/>
        </p:blipFill>
        <p:spPr>
          <a:xfrm>
            <a:off x="8004029" y="6348019"/>
            <a:ext cx="400050" cy="400050"/>
          </a:xfrm>
          <a:prstGeom prst="rect">
            <a:avLst/>
          </a:prstGeom>
          <a:noFill/>
          <a:ln>
            <a:noFill/>
          </a:ln>
        </p:spPr>
      </p:pic>
      <p:pic>
        <p:nvPicPr>
          <p:cNvPr id="42" name="Google Shape;42;p65"/>
          <p:cNvPicPr preferRelativeResize="0"/>
          <p:nvPr/>
        </p:nvPicPr>
        <p:blipFill rotWithShape="1">
          <a:blip r:embed="rId8">
            <a:alphaModFix/>
          </a:blip>
          <a:srcRect/>
          <a:stretch/>
        </p:blipFill>
        <p:spPr>
          <a:xfrm>
            <a:off x="8558640" y="6343213"/>
            <a:ext cx="400106" cy="400106"/>
          </a:xfrm>
          <a:prstGeom prst="rect">
            <a:avLst/>
          </a:prstGeom>
          <a:noFill/>
          <a:ln>
            <a:noFill/>
          </a:ln>
        </p:spPr>
      </p:pic>
      <p:pic>
        <p:nvPicPr>
          <p:cNvPr id="43" name="Google Shape;43;p65">
            <a:hlinkClick r:id="" action="ppaction://hlinkshowjump?jump=firstslide"/>
          </p:cNvPr>
          <p:cNvPicPr preferRelativeResize="0"/>
          <p:nvPr/>
        </p:nvPicPr>
        <p:blipFill rotWithShape="1">
          <a:blip r:embed="rId9">
            <a:alphaModFix/>
          </a:blip>
          <a:srcRect/>
          <a:stretch/>
        </p:blipFill>
        <p:spPr>
          <a:xfrm>
            <a:off x="7448908" y="6347991"/>
            <a:ext cx="400106" cy="400106"/>
          </a:xfrm>
          <a:prstGeom prst="rect">
            <a:avLst/>
          </a:prstGeom>
          <a:noFill/>
          <a:ln>
            <a:noFill/>
          </a:ln>
        </p:spPr>
      </p:pic>
      <p:pic>
        <p:nvPicPr>
          <p:cNvPr id="44" name="Google Shape;44;p65">
            <a:hlinkClick r:id="" action="ppaction://hlinkshowjump?jump=previousslide"/>
          </p:cNvPr>
          <p:cNvPicPr preferRelativeResize="0"/>
          <p:nvPr/>
        </p:nvPicPr>
        <p:blipFill rotWithShape="1">
          <a:blip r:embed="rId10">
            <a:alphaModFix/>
          </a:blip>
          <a:srcRect/>
          <a:stretch/>
        </p:blipFill>
        <p:spPr>
          <a:xfrm>
            <a:off x="6904800" y="6338465"/>
            <a:ext cx="419159" cy="419159"/>
          </a:xfrm>
          <a:prstGeom prst="rect">
            <a:avLst/>
          </a:prstGeom>
          <a:noFill/>
          <a:ln>
            <a:noFill/>
          </a:ln>
        </p:spPr>
      </p:pic>
      <p:sp>
        <p:nvSpPr>
          <p:cNvPr id="45" name="Google Shape;45;p65"/>
          <p:cNvSpPr/>
          <p:nvPr/>
        </p:nvSpPr>
        <p:spPr>
          <a:xfrm>
            <a:off x="4061508" y="6525344"/>
            <a:ext cx="1113381" cy="360040"/>
          </a:xfrm>
          <a:prstGeom prst="rect">
            <a:avLst/>
          </a:prstGeom>
          <a:blipFill rotWithShape="1">
            <a:blip r:embed="rId11">
              <a:alphaModFix amt="30000"/>
            </a:blip>
            <a:stretch>
              <a:fillRect/>
            </a:stretch>
          </a:blip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 bg1="lt1" tx1="dk1" bg2="dk2" tx2="lt2" accent1="accent1" accent2="accent2" accent3="accent3" accent4="accent4" accent5="accent5" accent6="accent6" hlink="hlink" folHlink="folHlink"/>
  <p:sldLayoutIdLst>
    <p:sldLayoutId id="2147483655" r:id="rId1"/>
    <p:sldLayoutId id="2147483656" r:id="rId2"/>
    <p:sldLayoutId id="2147483657" r:id="rId3"/>
    <p:sldLayoutId id="2147483658" r:id="rId4"/>
    <p:sldLayoutId id="2147483659" r:id="rId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hyperlink" Target="http://stars.chromeexperiments.com/"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6.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3" Type="http://schemas.openxmlformats.org/officeDocument/2006/relationships/hyperlink" Target="http://casecomplete.com/learn" TargetMode="External"/><Relationship Id="rId2" Type="http://schemas.openxmlformats.org/officeDocument/2006/relationships/notesSlide" Target="../notesSlides/notesSlide16.xml"/><Relationship Id="rId1" Type="http://schemas.openxmlformats.org/officeDocument/2006/relationships/slideLayout" Target="../slideLayouts/slideLayout6.xml"/><Relationship Id="rId4" Type="http://schemas.openxmlformats.org/officeDocument/2006/relationships/hyperlink" Target="https://en.wikipedia.org/wiki/Class_diagram" TargetMode="External"/></Relationships>
</file>

<file path=ppt/slides/_rels/slide1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17.xml"/><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8.xml"/><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3" Type="http://schemas.openxmlformats.org/officeDocument/2006/relationships/hyperlink" Target="https://casecomplete.com/learn" TargetMode="External"/><Relationship Id="rId2" Type="http://schemas.openxmlformats.org/officeDocument/2006/relationships/notesSlide" Target="../notesSlides/notesSlide19.xml"/><Relationship Id="rId1" Type="http://schemas.openxmlformats.org/officeDocument/2006/relationships/slideLayout" Target="../slideLayouts/slideLayout6.xml"/><Relationship Id="rId4" Type="http://schemas.openxmlformats.org/officeDocument/2006/relationships/hyperlink" Target="http://astah.net/" TargetMode="External"/></Relationships>
</file>

<file path=ppt/slides/_rels/slide2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0.xml"/><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hyperlink" Target="http://creately.com/blog/diagrams/use-case-diagram-relationships/" TargetMode="External"/><Relationship Id="rId2" Type="http://schemas.openxmlformats.org/officeDocument/2006/relationships/notesSlide" Target="../notesSlides/notesSlide21.xml"/><Relationship Id="rId1" Type="http://schemas.openxmlformats.org/officeDocument/2006/relationships/slideLayout" Target="../slideLayouts/slideLayout6.xml"/></Relationships>
</file>

<file path=ppt/slides/_rels/slide22.xml.rels><?xml version="1.0" encoding="UTF-8" standalone="yes"?>
<Relationships xmlns="http://schemas.openxmlformats.org/package/2006/relationships"><Relationship Id="rId3" Type="http://schemas.openxmlformats.org/officeDocument/2006/relationships/hyperlink" Target="http://creately.com/blog/diagrams/use-case-diagram-relationships/" TargetMode="External"/><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hyperlink" Target="http://astah.net/" TargetMode="External"/><Relationship Id="rId2" Type="http://schemas.openxmlformats.org/officeDocument/2006/relationships/notesSlide" Target="../notesSlides/notesSlide23.xml"/><Relationship Id="rId1" Type="http://schemas.openxmlformats.org/officeDocument/2006/relationships/slideLayout" Target="../slideLayouts/slideLayout6.xml"/><Relationship Id="rId4" Type="http://schemas.openxmlformats.org/officeDocument/2006/relationships/image" Target="../media/image10.png"/></Relationships>
</file>

<file path=ppt/slides/_rels/slide24.xml.rels><?xml version="1.0" encoding="UTF-8" standalone="yes"?>
<Relationships xmlns="http://schemas.openxmlformats.org/package/2006/relationships"><Relationship Id="rId3" Type="http://schemas.openxmlformats.org/officeDocument/2006/relationships/hyperlink" Target="http://creately.com/blog/diagrams/use-case-diagram-relationships/" TargetMode="External"/><Relationship Id="rId2" Type="http://schemas.openxmlformats.org/officeDocument/2006/relationships/notesSlide" Target="../notesSlides/notesSlide24.xml"/><Relationship Id="rId1" Type="http://schemas.openxmlformats.org/officeDocument/2006/relationships/slideLayout" Target="../slideLayouts/slideLayout6.xml"/></Relationships>
</file>

<file path=ppt/slides/_rels/slide25.xml.rels><?xml version="1.0" encoding="UTF-8" standalone="yes"?>
<Relationships xmlns="http://schemas.openxmlformats.org/package/2006/relationships"><Relationship Id="rId3" Type="http://schemas.openxmlformats.org/officeDocument/2006/relationships/hyperlink" Target="https://en.wikipedia.org/wiki/Class_diagram" TargetMode="External"/><Relationship Id="rId2" Type="http://schemas.openxmlformats.org/officeDocument/2006/relationships/notesSlide" Target="../notesSlides/notesSlide25.xml"/><Relationship Id="rId1" Type="http://schemas.openxmlformats.org/officeDocument/2006/relationships/slideLayout" Target="../slideLayouts/slideLayout6.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6.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6.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29.xml"/><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0.xml"/><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3" Type="http://schemas.openxmlformats.org/officeDocument/2006/relationships/hyperlink" Target="https://en.wikipedia.org/wiki/Class_diagram" TargetMode="External"/><Relationship Id="rId2" Type="http://schemas.openxmlformats.org/officeDocument/2006/relationships/notesSlide" Target="../notesSlides/notesSlide31.xml"/><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hyperlink" Target="http://astah.net/" TargetMode="External"/><Relationship Id="rId2" Type="http://schemas.openxmlformats.org/officeDocument/2006/relationships/notesSlide" Target="../notesSlides/notesSlide32.xml"/><Relationship Id="rId1" Type="http://schemas.openxmlformats.org/officeDocument/2006/relationships/slideLayout" Target="../slideLayouts/slideLayout6.xml"/><Relationship Id="rId6" Type="http://schemas.openxmlformats.org/officeDocument/2006/relationships/hyperlink" Target="https://en.wikipedia.org/wiki/Model%E2%80%93view%E2%80%93controller" TargetMode="External"/><Relationship Id="rId5" Type="http://schemas.openxmlformats.org/officeDocument/2006/relationships/hyperlink" Target="https://en.wikipedia.org/wiki/Class_diagram" TargetMode="External"/><Relationship Id="rId4" Type="http://schemas.openxmlformats.org/officeDocument/2006/relationships/hyperlink" Target="http://casecomplete.com/learn" TargetMode="Externa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6.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3" Type="http://schemas.openxmlformats.org/officeDocument/2006/relationships/hyperlink" Target="http://agilemethodology.org/" TargetMode="External"/><Relationship Id="rId2" Type="http://schemas.openxmlformats.org/officeDocument/2006/relationships/notesSlide" Target="../notesSlides/notesSlide36.xml"/><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3" Type="http://schemas.openxmlformats.org/officeDocument/2006/relationships/hyperlink" Target="http://agilemethodology.org/" TargetMode="External"/><Relationship Id="rId2" Type="http://schemas.openxmlformats.org/officeDocument/2006/relationships/notesSlide" Target="../notesSlides/notesSlide37.xml"/><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hyperlink" Target="http://www.collab.net/sites/default/files/uploads/CollabNet_scrumreferencecard.pdf" TargetMode="External"/><Relationship Id="rId2" Type="http://schemas.openxmlformats.org/officeDocument/2006/relationships/notesSlide" Target="../notesSlides/notesSlide38.xml"/><Relationship Id="rId1" Type="http://schemas.openxmlformats.org/officeDocument/2006/relationships/slideLayout" Target="../slideLayouts/slideLayout6.xml"/></Relationships>
</file>

<file path=ppt/slides/_rels/slide39.xml.rels><?xml version="1.0" encoding="UTF-8" standalone="yes"?>
<Relationships xmlns="http://schemas.openxmlformats.org/package/2006/relationships"><Relationship Id="rId3" Type="http://schemas.openxmlformats.org/officeDocument/2006/relationships/hyperlink" Target="http://agileforall.com/new-to-agile-keep-it-very-simple/" TargetMode="External"/><Relationship Id="rId2" Type="http://schemas.openxmlformats.org/officeDocument/2006/relationships/notesSlide" Target="../notesSlides/notesSlide39.xml"/><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1.xml"/><Relationship Id="rId1" Type="http://schemas.openxmlformats.org/officeDocument/2006/relationships/slideLayout" Target="../slideLayouts/slideLayout6.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42.xml"/><Relationship Id="rId1" Type="http://schemas.openxmlformats.org/officeDocument/2006/relationships/slideLayout" Target="../slideLayouts/slideLayout6.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43.xml"/><Relationship Id="rId1" Type="http://schemas.openxmlformats.org/officeDocument/2006/relationships/slideLayout" Target="../slideLayouts/slideLayout6.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44.xml"/><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3" Type="http://schemas.openxmlformats.org/officeDocument/2006/relationships/hyperlink" Target="http://agilemanifesto.org/" TargetMode="External"/><Relationship Id="rId2" Type="http://schemas.openxmlformats.org/officeDocument/2006/relationships/notesSlide" Target="../notesSlides/notesSlide45.xml"/><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7.xml"/><Relationship Id="rId1" Type="http://schemas.openxmlformats.org/officeDocument/2006/relationships/slideLayout" Target="../slideLayouts/slideLayout6.xml"/></Relationships>
</file>

<file path=ppt/slides/_rels/slide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48.xml"/><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9.xml"/><Relationship Id="rId1" Type="http://schemas.openxmlformats.org/officeDocument/2006/relationships/slideLayout" Target="../slideLayouts/slideLayout6.xml"/></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6.xml"/></Relationships>
</file>

<file path=ppt/slides/_rels/slide5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51.xml"/><Relationship Id="rId1" Type="http://schemas.openxmlformats.org/officeDocument/2006/relationships/slideLayout" Target="../slideLayouts/slideLayout6.xml"/></Relationships>
</file>

<file path=ppt/slides/_rels/slide52.xml.rels><?xml version="1.0" encoding="UTF-8" standalone="yes"?>
<Relationships xmlns="http://schemas.openxmlformats.org/package/2006/relationships"><Relationship Id="rId2" Type="http://schemas.openxmlformats.org/officeDocument/2006/relationships/notesSlide" Target="../notesSlides/notesSlide52.xml"/><Relationship Id="rId1" Type="http://schemas.openxmlformats.org/officeDocument/2006/relationships/slideLayout" Target="../slideLayouts/slideLayout6.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53.xml"/><Relationship Id="rId1" Type="http://schemas.openxmlformats.org/officeDocument/2006/relationships/slideLayout" Target="../slideLayouts/slideLayout6.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6.xml"/></Relationships>
</file>

<file path=ppt/slides/_rels/slide55.xml.rels><?xml version="1.0" encoding="UTF-8" standalone="yes"?>
<Relationships xmlns="http://schemas.openxmlformats.org/package/2006/relationships"><Relationship Id="rId2" Type="http://schemas.openxmlformats.org/officeDocument/2006/relationships/notesSlide" Target="../notesSlides/notesSlide55.xml"/><Relationship Id="rId1" Type="http://schemas.openxmlformats.org/officeDocument/2006/relationships/slideLayout" Target="../slideLayouts/slideLayout6.xml"/></Relationships>
</file>

<file path=ppt/slides/_rels/slide56.xml.rels><?xml version="1.0" encoding="UTF-8" standalone="yes"?>
<Relationships xmlns="http://schemas.openxmlformats.org/package/2006/relationships"><Relationship Id="rId2" Type="http://schemas.openxmlformats.org/officeDocument/2006/relationships/notesSlide" Target="../notesSlides/notesSlide56.xml"/><Relationship Id="rId1" Type="http://schemas.openxmlformats.org/officeDocument/2006/relationships/slideLayout" Target="../slideLayouts/slideLayout6.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6.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58.xml"/><Relationship Id="rId1" Type="http://schemas.openxmlformats.org/officeDocument/2006/relationships/slideLayout" Target="../slideLayouts/slideLayout6.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59.xml"/><Relationship Id="rId1" Type="http://schemas.openxmlformats.org/officeDocument/2006/relationships/slideLayout" Target="../slideLayouts/slideLayout6.xml"/></Relationships>
</file>

<file path=ppt/slides/_rels/slide60.xml.rels><?xml version="1.0" encoding="UTF-8" standalone="yes"?>
<Relationships xmlns="http://schemas.openxmlformats.org/package/2006/relationships"><Relationship Id="rId3" Type="http://schemas.openxmlformats.org/officeDocument/2006/relationships/hyperlink" Target="https://unity3d.com/learn/tutorials/topics/user-interface-ui" TargetMode="External"/><Relationship Id="rId2" Type="http://schemas.openxmlformats.org/officeDocument/2006/relationships/notesSlide" Target="../notesSlides/notesSlide60.xml"/><Relationship Id="rId1" Type="http://schemas.openxmlformats.org/officeDocument/2006/relationships/slideLayout" Target="../slideLayouts/slideLayout6.xml"/><Relationship Id="rId5" Type="http://schemas.openxmlformats.org/officeDocument/2006/relationships/hyperlink" Target="https://docs.unity3d.com/Packages/com.unity.ugui@2.0/manual/index.html" TargetMode="External"/><Relationship Id="rId4" Type="http://schemas.openxmlformats.org/officeDocument/2006/relationships/hyperlink" Target="https://www.youtube.com/watch?v=JrlFMwLI1fw" TargetMode="Externa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61.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1"/>
        <p:cNvGrpSpPr/>
        <p:nvPr/>
      </p:nvGrpSpPr>
      <p:grpSpPr>
        <a:xfrm>
          <a:off x="0" y="0"/>
          <a:ext cx="0" cy="0"/>
          <a:chOff x="0" y="0"/>
          <a:chExt cx="0" cy="0"/>
        </a:xfrm>
      </p:grpSpPr>
      <p:sp>
        <p:nvSpPr>
          <p:cNvPr id="72" name="Google Shape;72;p1"/>
          <p:cNvSpPr txBox="1">
            <a:spLocks noGrp="1"/>
          </p:cNvSpPr>
          <p:nvPr>
            <p:ph type="ctrTitle"/>
          </p:nvPr>
        </p:nvSpPr>
        <p:spPr>
          <a:xfrm>
            <a:off x="685800" y="2130425"/>
            <a:ext cx="7772400" cy="1010543"/>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ct val="100000"/>
              <a:buFont typeface="Quattrocento Sans"/>
              <a:buNone/>
            </a:pPr>
            <a:r>
              <a:rPr lang="en-GB" sz="3600" dirty="0"/>
              <a:t>3D Interactive Media Development</a:t>
            </a:r>
            <a:endParaRPr sz="3600" dirty="0"/>
          </a:p>
        </p:txBody>
      </p:sp>
      <p:sp>
        <p:nvSpPr>
          <p:cNvPr id="73" name="Google Shape;73;p1"/>
          <p:cNvSpPr txBox="1">
            <a:spLocks noGrp="1"/>
          </p:cNvSpPr>
          <p:nvPr>
            <p:ph type="subTitle" idx="1"/>
          </p:nvPr>
        </p:nvSpPr>
        <p:spPr>
          <a:xfrm>
            <a:off x="683568" y="3212976"/>
            <a:ext cx="7992888" cy="2808312"/>
          </a:xfrm>
          <a:prstGeom prst="rect">
            <a:avLst/>
          </a:prstGeom>
          <a:noFill/>
          <a:ln>
            <a:noFill/>
          </a:ln>
        </p:spPr>
        <p:txBody>
          <a:bodyPr spcFirstLastPara="1" wrap="square" lIns="91425" tIns="45700" rIns="91425" bIns="45700" anchor="t" anchorCtr="0">
            <a:normAutofit/>
          </a:bodyPr>
          <a:lstStyle/>
          <a:p>
            <a:pPr marL="0" lvl="0" indent="0" algn="l" rtl="0">
              <a:spcBef>
                <a:spcPts val="0"/>
              </a:spcBef>
              <a:spcAft>
                <a:spcPts val="0"/>
              </a:spcAft>
              <a:buClr>
                <a:srgbClr val="FFFF00"/>
              </a:buClr>
              <a:buSzPts val="2800"/>
              <a:buNone/>
            </a:pPr>
            <a:r>
              <a:rPr lang="en-GB" b="1" dirty="0">
                <a:solidFill>
                  <a:srgbClr val="FFFF00"/>
                </a:solidFill>
              </a:rPr>
              <a:t>5MMCS001W				Lecture 04</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78"/>
        <p:cNvGrpSpPr/>
        <p:nvPr/>
      </p:nvGrpSpPr>
      <p:grpSpPr>
        <a:xfrm>
          <a:off x="0" y="0"/>
          <a:ext cx="0" cy="0"/>
          <a:chOff x="0" y="0"/>
          <a:chExt cx="0" cy="0"/>
        </a:xfrm>
      </p:grpSpPr>
      <p:sp>
        <p:nvSpPr>
          <p:cNvPr id="79" name="Google Shape;79;p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600"/>
              <a:buFont typeface="Quattrocento Sans"/>
              <a:buNone/>
            </a:pPr>
            <a:r>
              <a:rPr lang="en-GB" sz="3600"/>
              <a:t>3D Interactive Media Development</a:t>
            </a:r>
            <a:endParaRPr sz="4000"/>
          </a:p>
        </p:txBody>
      </p:sp>
      <p:sp>
        <p:nvSpPr>
          <p:cNvPr id="80" name="Google Shape;80;p2"/>
          <p:cNvSpPr txBox="1"/>
          <p:nvPr/>
        </p:nvSpPr>
        <p:spPr>
          <a:xfrm>
            <a:off x="442796" y="1196752"/>
            <a:ext cx="8233800" cy="6741900"/>
          </a:xfrm>
          <a:prstGeom prst="rect">
            <a:avLst/>
          </a:prstGeom>
          <a:noFill/>
          <a:ln>
            <a:noFill/>
          </a:ln>
        </p:spPr>
        <p:txBody>
          <a:bodyPr spcFirstLastPara="1" wrap="square" lIns="91425" tIns="45700" rIns="91425" bIns="45700" anchor="t" anchorCtr="0">
            <a:spAutoFit/>
          </a:bodyPr>
          <a:lstStyle/>
          <a:p>
            <a:pPr marL="0" marR="0" lvl="0" indent="0" algn="l" rtl="0">
              <a:spcBef>
                <a:spcPts val="0"/>
              </a:spcBef>
              <a:spcAft>
                <a:spcPts val="0"/>
              </a:spcAft>
              <a:buNone/>
            </a:pPr>
            <a:r>
              <a:rPr lang="en-GB" sz="2800" b="1" i="0" u="none" strike="noStrike" cap="none">
                <a:solidFill>
                  <a:srgbClr val="FFFF00"/>
                </a:solidFill>
                <a:latin typeface="Quattrocento Sans"/>
                <a:ea typeface="Quattrocento Sans"/>
                <a:cs typeface="Quattrocento Sans"/>
                <a:sym typeface="Quattrocento Sans"/>
              </a:rPr>
              <a:t>3DUI Interaction Practical examples – web</a:t>
            </a:r>
            <a:endParaRPr/>
          </a:p>
          <a:p>
            <a:pPr marL="0" marR="0" lvl="0" indent="0" algn="l" rtl="0">
              <a:spcBef>
                <a:spcPts val="0"/>
              </a:spcBef>
              <a:spcAft>
                <a:spcPts val="0"/>
              </a:spcAft>
              <a:buNone/>
            </a:pPr>
            <a:endParaRPr sz="2400" b="1" i="0" u="none" strike="noStrike" cap="none">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i="0" u="none" strike="noStrike" cap="none">
                <a:solidFill>
                  <a:srgbClr val="FFFF00"/>
                </a:solidFill>
                <a:latin typeface="Quattrocento Sans"/>
                <a:ea typeface="Quattrocento Sans"/>
                <a:cs typeface="Quattrocento Sans"/>
                <a:sym typeface="Quattrocento Sans"/>
              </a:rPr>
              <a:t>100,000 Stars – Google VR experiment</a:t>
            </a:r>
            <a:endParaRPr/>
          </a:p>
          <a:p>
            <a:pPr marL="0" marR="0" lvl="0" indent="0" algn="l" rtl="0">
              <a:spcBef>
                <a:spcPts val="0"/>
              </a:spcBef>
              <a:spcAft>
                <a:spcPts val="0"/>
              </a:spcAft>
              <a:buNone/>
            </a:pPr>
            <a:r>
              <a:rPr lang="en-GB" sz="2000" b="1" u="sng">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http://stars.chromeexperiments.com/</a:t>
            </a:r>
            <a:endParaRPr sz="2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Starts with mouse orbit like whitevoid, inertia, Music</a:t>
            </a:r>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Like Eames degrees</a:t>
            </a:r>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Restricted to Solar system as focus.</a:t>
            </a:r>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000" b="1">
                <a:solidFill>
                  <a:srgbClr val="FFFF00"/>
                </a:solidFill>
                <a:latin typeface="Quattrocento Sans"/>
                <a:ea typeface="Quattrocento Sans"/>
                <a:cs typeface="Quattrocento Sans"/>
                <a:sym typeface="Quattrocento Sans"/>
              </a:rPr>
              <a:t>3DUI:</a:t>
            </a:r>
            <a:endParaRPr sz="2000" b="1">
              <a:solidFill>
                <a:schemeClr val="dk1"/>
              </a:solidFill>
              <a:latin typeface="Quattrocento Sans"/>
              <a:ea typeface="Quattrocento Sans"/>
              <a:cs typeface="Quattrocento Sans"/>
              <a:sym typeface="Quattrocento Sans"/>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Slider Bar – Scrolling (We could have control for exploded view)</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Waypoints</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Mouse Orbit</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Labels</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Zoom out</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Cursor lock, switch</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Idle animations</a:t>
            </a:r>
            <a:endParaRPr/>
          </a:p>
          <a:p>
            <a:pPr marL="457200" marR="0" lvl="0" indent="-457200" algn="l" rtl="0">
              <a:spcBef>
                <a:spcPts val="0"/>
              </a:spcBef>
              <a:spcAft>
                <a:spcPts val="0"/>
              </a:spcAft>
              <a:buClr>
                <a:schemeClr val="dk1"/>
              </a:buClr>
              <a:buSzPts val="2000"/>
              <a:buFont typeface="Quattrocento Sans"/>
              <a:buAutoNum type="arabicPeriod"/>
            </a:pPr>
            <a:r>
              <a:rPr lang="en-GB" sz="2000" b="1">
                <a:solidFill>
                  <a:schemeClr val="dk1"/>
                </a:solidFill>
                <a:latin typeface="Quattrocento Sans"/>
                <a:ea typeface="Quattrocento Sans"/>
                <a:cs typeface="Quattrocento Sans"/>
                <a:sym typeface="Quattrocento Sans"/>
              </a:rPr>
              <a:t>Ease-ins, outs, Fade-ins, outs</a:t>
            </a:r>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chemeClr val="dk1"/>
              </a:solidFill>
              <a:latin typeface="Quattrocento Sans"/>
              <a:ea typeface="Quattrocento Sans"/>
              <a:cs typeface="Quattrocento Sans"/>
              <a:sym typeface="Quattrocento San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CW Overview and Recap</a:t>
            </a:r>
            <a:endParaRPr/>
          </a:p>
        </p:txBody>
      </p:sp>
      <p:sp>
        <p:nvSpPr>
          <p:cNvPr id="87" name="Google Shape;87;p3"/>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92"/>
        <p:cNvGrpSpPr/>
        <p:nvPr/>
      </p:nvGrpSpPr>
      <p:grpSpPr>
        <a:xfrm>
          <a:off x="0" y="0"/>
          <a:ext cx="0" cy="0"/>
          <a:chOff x="0" y="0"/>
          <a:chExt cx="0" cy="0"/>
        </a:xfrm>
      </p:grpSpPr>
      <p:sp>
        <p:nvSpPr>
          <p:cNvPr id="93" name="Google Shape;93;p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CW Scope – 3DUI, 3DVE</a:t>
            </a:r>
            <a:endParaRPr/>
          </a:p>
        </p:txBody>
      </p:sp>
      <p:sp>
        <p:nvSpPr>
          <p:cNvPr id="94" name="Google Shape;94;p4"/>
          <p:cNvSpPr/>
          <p:nvPr/>
        </p:nvSpPr>
        <p:spPr>
          <a:xfrm>
            <a:off x="1835696" y="1268904"/>
            <a:ext cx="6912768" cy="5589096"/>
          </a:xfrm>
          <a:prstGeom prst="rect">
            <a:avLst/>
          </a:prstGeom>
          <a:noFill/>
          <a:ln>
            <a:noFill/>
          </a:ln>
        </p:spPr>
        <p:txBody>
          <a:bodyPr spcFirstLastPara="1" wrap="square" lIns="0" tIns="45700" rIns="0" bIns="45700" anchor="ctr" anchorCtr="0">
            <a:noAutofit/>
          </a:bodyPr>
          <a:lstStyle/>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3D Content Creation/Production Software</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3D World Representation with Navigation and Transformation</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2D/3D Input Devices and Paradigms</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2D/3D UI Concepts and Research</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3D Platforms</a:t>
            </a:r>
            <a:endParaRPr sz="2400">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95" name="Google Shape;95;p4"/>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96" name="Google Shape;96;p4"/>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97" name="Google Shape;97;p4"/>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98" name="Google Shape;98;p4"/>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99" name="Google Shape;99;p4"/>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00" name="Google Shape;100;p4"/>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101" name="Google Shape;101;p4"/>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02" name="Google Shape;102;p4"/>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sz="4300"/>
              <a:t>3DUI CW Framework – Concepts</a:t>
            </a:r>
            <a:endParaRPr sz="4300"/>
          </a:p>
        </p:txBody>
      </p:sp>
      <p:sp>
        <p:nvSpPr>
          <p:cNvPr id="109" name="Google Shape;109;p5"/>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000" b="1">
                <a:solidFill>
                  <a:srgbClr val="FFFFFF"/>
                </a:solidFill>
                <a:latin typeface="Quattrocento Sans"/>
                <a:ea typeface="Quattrocento Sans"/>
                <a:cs typeface="Quattrocento Sans"/>
                <a:sym typeface="Quattrocento Sans"/>
              </a:rPr>
              <a:t>Lego Based Construction</a:t>
            </a:r>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Mecabricks – use to make variety for builds</a:t>
            </a:r>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Minifigs with Animation – will be given one.</a:t>
            </a:r>
            <a:endParaRPr/>
          </a:p>
          <a:p>
            <a:pPr marL="0" marR="0" lvl="0" indent="0" algn="l" rtl="0">
              <a:spcBef>
                <a:spcPts val="0"/>
              </a:spcBef>
              <a:spcAft>
                <a:spcPts val="0"/>
              </a:spcAft>
              <a:buNone/>
            </a:pPr>
            <a:r>
              <a:rPr lang="en-GB" sz="2000" b="1">
                <a:solidFill>
                  <a:srgbClr val="FFFFFF"/>
                </a:solidFill>
                <a:latin typeface="Quattrocento Sans"/>
                <a:ea typeface="Quattrocento Sans"/>
                <a:cs typeface="Quattrocento Sans"/>
                <a:sym typeface="Quattrocento Sans"/>
              </a:rPr>
              <a:t>VE Perceptual Structure/Navigation</a:t>
            </a:r>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Exploded View or 3D or 2.5D Diorama</a:t>
            </a:r>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Waypoint/Mouse Orbit or 3</a:t>
            </a:r>
            <a:r>
              <a:rPr lang="en-GB" sz="2000" b="1" i="0" u="none" strike="noStrike" cap="none" baseline="30000">
                <a:solidFill>
                  <a:srgbClr val="FFFF00"/>
                </a:solidFill>
                <a:latin typeface="Quattrocento Sans"/>
                <a:ea typeface="Quattrocento Sans"/>
                <a:cs typeface="Quattrocento Sans"/>
                <a:sym typeface="Quattrocento Sans"/>
              </a:rPr>
              <a:t>rd</a:t>
            </a:r>
            <a:r>
              <a:rPr lang="en-GB" sz="2000" b="1" i="0" u="none" strike="noStrike" cap="none">
                <a:solidFill>
                  <a:srgbClr val="FFFF00"/>
                </a:solidFill>
                <a:latin typeface="Quattrocento Sans"/>
                <a:ea typeface="Quattrocento Sans"/>
                <a:cs typeface="Quattrocento Sans"/>
                <a:sym typeface="Quattrocento Sans"/>
              </a:rPr>
              <a:t> Person Navigation</a:t>
            </a:r>
            <a:endParaRPr/>
          </a:p>
          <a:p>
            <a:pPr marL="0" marR="0" lvl="0" indent="0" algn="l" rtl="0">
              <a:spcBef>
                <a:spcPts val="0"/>
              </a:spcBef>
              <a:spcAft>
                <a:spcPts val="0"/>
              </a:spcAft>
              <a:buNone/>
            </a:pPr>
            <a:r>
              <a:rPr lang="en-GB" sz="2000" b="1">
                <a:solidFill>
                  <a:srgbClr val="FFFFFF"/>
                </a:solidFill>
                <a:latin typeface="Quattrocento Sans"/>
                <a:ea typeface="Quattrocento Sans"/>
                <a:cs typeface="Quattrocento Sans"/>
                <a:sym typeface="Quattrocento Sans"/>
              </a:rPr>
              <a:t>VE Interaction – Selection/Manipulation</a:t>
            </a:r>
            <a:endParaRPr sz="2000" b="1">
              <a:solidFill>
                <a:srgbClr val="FFFF00"/>
              </a:solidFill>
              <a:latin typeface="Quattrocento Sans"/>
              <a:ea typeface="Quattrocento Sans"/>
              <a:cs typeface="Quattrocento Sans"/>
              <a:sym typeface="Quattrocento Sans"/>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HUD, 2D Menu in 3D World</a:t>
            </a:r>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2D Input control of Object/3D Object Widget (on screen jo</a:t>
            </a:r>
            <a:r>
              <a:rPr lang="en-GB" sz="2000" b="1">
                <a:solidFill>
                  <a:srgbClr val="FFFF00"/>
                </a:solidFill>
                <a:latin typeface="Quattrocento Sans"/>
                <a:ea typeface="Quattrocento Sans"/>
                <a:cs typeface="Quattrocento Sans"/>
                <a:sym typeface="Quattrocento Sans"/>
              </a:rPr>
              <a:t>y</a:t>
            </a:r>
            <a:r>
              <a:rPr lang="en-GB" sz="2000" b="1" i="0" u="none" strike="noStrike" cap="none">
                <a:solidFill>
                  <a:srgbClr val="FFFF00"/>
                </a:solidFill>
                <a:latin typeface="Quattrocento Sans"/>
                <a:ea typeface="Quattrocento Sans"/>
                <a:cs typeface="Quattrocento Sans"/>
                <a:sym typeface="Quattrocento Sans"/>
              </a:rPr>
              <a:t>pad)</a:t>
            </a:r>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State changes by Keyboard/Menu</a:t>
            </a:r>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Collision Triggering</a:t>
            </a:r>
            <a:endParaRPr/>
          </a:p>
          <a:p>
            <a:pPr marL="0" marR="0" lvl="0" indent="0" algn="l" rtl="0">
              <a:spcBef>
                <a:spcPts val="0"/>
              </a:spcBef>
              <a:spcAft>
                <a:spcPts val="0"/>
              </a:spcAft>
              <a:buNone/>
            </a:pPr>
            <a:r>
              <a:rPr lang="en-GB" sz="2000" b="1">
                <a:solidFill>
                  <a:srgbClr val="FFFFFF"/>
                </a:solidFill>
                <a:latin typeface="Quattrocento Sans"/>
                <a:ea typeface="Quattrocento Sans"/>
                <a:cs typeface="Quattrocento Sans"/>
                <a:sym typeface="Quattrocento Sans"/>
              </a:rPr>
              <a:t>System Control – Animation</a:t>
            </a:r>
            <a:endParaRPr sz="2000" b="1">
              <a:solidFill>
                <a:srgbClr val="FFFF00"/>
              </a:solidFill>
              <a:latin typeface="Quattrocento Sans"/>
              <a:ea typeface="Quattrocento Sans"/>
              <a:cs typeface="Quattrocento Sans"/>
              <a:sym typeface="Quattrocento Sans"/>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Animation Triggering</a:t>
            </a:r>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Narrative Animation</a:t>
            </a:r>
            <a:endParaRPr/>
          </a:p>
          <a:p>
            <a:pPr marL="800100" marR="0" lvl="1" indent="-342900" algn="l" rtl="0">
              <a:spcBef>
                <a:spcPts val="0"/>
              </a:spcBef>
              <a:spcAft>
                <a:spcPts val="0"/>
              </a:spcAft>
              <a:buClr>
                <a:srgbClr val="FFFF00"/>
              </a:buClr>
              <a:buSzPts val="2000"/>
              <a:buFont typeface="Arial"/>
              <a:buChar char="•"/>
            </a:pPr>
            <a:r>
              <a:rPr lang="en-GB" sz="2000" b="1" i="0" u="none" strike="noStrike" cap="none">
                <a:solidFill>
                  <a:srgbClr val="FFFF00"/>
                </a:solidFill>
                <a:latin typeface="Quattrocento Sans"/>
                <a:ea typeface="Quattrocento Sans"/>
                <a:cs typeface="Quattrocento Sans"/>
                <a:sym typeface="Quattrocento Sans"/>
              </a:rPr>
              <a:t>Scripted movement control</a:t>
            </a:r>
            <a:endParaRPr sz="20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110" name="Google Shape;110;p5"/>
          <p:cNvSpPr/>
          <p:nvPr/>
        </p:nvSpPr>
        <p:spPr>
          <a:xfrm>
            <a:off x="7308304" y="2552328"/>
            <a:ext cx="1296000" cy="1296000"/>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11" name="Google Shape;111;p5"/>
          <p:cNvSpPr/>
          <p:nvPr/>
        </p:nvSpPr>
        <p:spPr>
          <a:xfrm>
            <a:off x="7526645" y="2770741"/>
            <a:ext cx="859200" cy="859200"/>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16"/>
        <p:cNvGrpSpPr/>
        <p:nvPr/>
      </p:nvGrpSpPr>
      <p:grpSpPr>
        <a:xfrm>
          <a:off x="0" y="0"/>
          <a:ext cx="0" cy="0"/>
          <a:chOff x="0" y="0"/>
          <a:chExt cx="0" cy="0"/>
        </a:xfrm>
      </p:grpSpPr>
      <p:sp>
        <p:nvSpPr>
          <p:cNvPr id="117" name="Google Shape;117;p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Framework – Elements</a:t>
            </a:r>
            <a:endParaRPr/>
          </a:p>
        </p:txBody>
      </p:sp>
      <p:sp>
        <p:nvSpPr>
          <p:cNvPr id="118" name="Google Shape;118;p6"/>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Elements:</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Navigation</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Interaction</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System Control</a:t>
            </a:r>
            <a:endParaRPr sz="2400" b="1" i="0" u="none" strike="noStrike" cap="none">
              <a:solidFill>
                <a:srgbClr val="FF0000"/>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119" name="Google Shape;119;p6"/>
          <p:cNvSpPr/>
          <p:nvPr/>
        </p:nvSpPr>
        <p:spPr>
          <a:xfrm>
            <a:off x="7308304" y="2780928"/>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20" name="Google Shape;120;p6"/>
          <p:cNvSpPr/>
          <p:nvPr/>
        </p:nvSpPr>
        <p:spPr>
          <a:xfrm>
            <a:off x="7526645" y="299934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5"/>
        <p:cNvGrpSpPr/>
        <p:nvPr/>
      </p:nvGrpSpPr>
      <p:grpSpPr>
        <a:xfrm>
          <a:off x="0" y="0"/>
          <a:ext cx="0" cy="0"/>
          <a:chOff x="0" y="0"/>
          <a:chExt cx="0" cy="0"/>
        </a:xfrm>
      </p:grpSpPr>
      <p:sp>
        <p:nvSpPr>
          <p:cNvPr id="126" name="Google Shape;126;p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Framework - Platform</a:t>
            </a:r>
            <a:endParaRPr/>
          </a:p>
        </p:txBody>
      </p:sp>
      <p:sp>
        <p:nvSpPr>
          <p:cNvPr id="127" name="Google Shape;127;p7"/>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Framework for Module:</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Inputs – Mouse, Keyboard</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Software/Hardware Platform - Desktop</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Output –2D Screen Display </a:t>
            </a:r>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2400" b="1" i="0" u="none" strike="noStrike" cap="none">
                <a:solidFill>
                  <a:srgbClr val="FFFFFF"/>
                </a:solidFill>
                <a:latin typeface="Quattrocento Sans"/>
                <a:ea typeface="Quattrocento Sans"/>
                <a:cs typeface="Quattrocento Sans"/>
                <a:sym typeface="Quattrocento Sans"/>
              </a:rPr>
              <a:t>This is plenty complex to explore the wide range of choice just for these. We will develop 3D Interaction via 2D manipulation of a 3D environment. We might use a 3D Widget for direct object manipulation as a stretch target, or do touch input and widgets  for android, or Accelerometer and 360 video with 3DUI</a:t>
            </a:r>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128" name="Google Shape;128;p7"/>
          <p:cNvSpPr/>
          <p:nvPr/>
        </p:nvSpPr>
        <p:spPr>
          <a:xfrm>
            <a:off x="7308304" y="2780928"/>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29" name="Google Shape;129;p7"/>
          <p:cNvSpPr/>
          <p:nvPr/>
        </p:nvSpPr>
        <p:spPr>
          <a:xfrm>
            <a:off x="7526645" y="299934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34"/>
        <p:cNvGrpSpPr/>
        <p:nvPr/>
      </p:nvGrpSpPr>
      <p:grpSpPr>
        <a:xfrm>
          <a:off x="0" y="0"/>
          <a:ext cx="0" cy="0"/>
          <a:chOff x="0" y="0"/>
          <a:chExt cx="0" cy="0"/>
        </a:xfrm>
      </p:grpSpPr>
      <p:sp>
        <p:nvSpPr>
          <p:cNvPr id="135" name="Google Shape;135;p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ct val="100000"/>
              <a:buFont typeface="Quattrocento Sans"/>
              <a:buNone/>
            </a:pPr>
            <a:r>
              <a:rPr lang="en-GB" sz="3600" dirty="0"/>
              <a:t>3DUI CW Framework – 3D Interaction</a:t>
            </a:r>
            <a:endParaRPr sz="3600" dirty="0"/>
          </a:p>
        </p:txBody>
      </p:sp>
      <p:sp>
        <p:nvSpPr>
          <p:cNvPr id="136" name="Google Shape;136;p8"/>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So…</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2D Manipulation of 3D</a:t>
            </a:r>
            <a:endParaRPr/>
          </a:p>
          <a:p>
            <a:pPr marL="457200" marR="0" lvl="1" indent="0" algn="l" rtl="0">
              <a:spcBef>
                <a:spcPts val="0"/>
              </a:spcBef>
              <a:spcAft>
                <a:spcPts val="0"/>
              </a:spcAft>
              <a:buNone/>
            </a:pPr>
            <a:r>
              <a:rPr lang="en-GB" sz="2400" b="1" i="1" u="none" strike="noStrike" cap="none">
                <a:solidFill>
                  <a:srgbClr val="FFFF00"/>
                </a:solidFill>
                <a:latin typeface="Quattrocento Sans"/>
                <a:ea typeface="Quattrocento Sans"/>
                <a:cs typeface="Quattrocento Sans"/>
                <a:sym typeface="Quattrocento Sans"/>
              </a:rPr>
              <a:t>	(2D Input Devices with Direct Mappings to 3D)</a:t>
            </a:r>
            <a:endParaRPr/>
          </a:p>
          <a:p>
            <a:pPr marL="800100" marR="0" lvl="1" indent="-342900" algn="l" rtl="0">
              <a:spcBef>
                <a:spcPts val="0"/>
              </a:spcBef>
              <a:spcAft>
                <a:spcPts val="0"/>
              </a:spcAft>
              <a:buClr>
                <a:srgbClr val="FFFFFF"/>
              </a:buClr>
              <a:buSzPts val="2400"/>
              <a:buFont typeface="Arial"/>
              <a:buChar char="•"/>
            </a:pPr>
            <a:r>
              <a:rPr lang="en-GB" sz="2400" b="1" i="0" u="none" strike="noStrike" cap="none">
                <a:solidFill>
                  <a:srgbClr val="FFFFFF"/>
                </a:solidFill>
                <a:latin typeface="Quattrocento Sans"/>
                <a:ea typeface="Quattrocento Sans"/>
                <a:cs typeface="Quattrocento Sans"/>
                <a:sym typeface="Quattrocento Sans"/>
              </a:rPr>
              <a:t>3D Manipulation of 3D</a:t>
            </a:r>
            <a:endParaRPr/>
          </a:p>
          <a:p>
            <a:pPr marL="457200" marR="0" lvl="1" indent="0" algn="l" rtl="0">
              <a:spcBef>
                <a:spcPts val="0"/>
              </a:spcBef>
              <a:spcAft>
                <a:spcPts val="0"/>
              </a:spcAft>
              <a:buNone/>
            </a:pPr>
            <a:r>
              <a:rPr lang="en-GB" sz="2400" b="1" i="0" u="none" strike="noStrike" cap="none">
                <a:solidFill>
                  <a:srgbClr val="FFFFFF"/>
                </a:solidFill>
                <a:latin typeface="Quattrocento Sans"/>
                <a:ea typeface="Quattrocento Sans"/>
                <a:cs typeface="Quattrocento Sans"/>
                <a:sym typeface="Quattrocento Sans"/>
              </a:rPr>
              <a:t>	</a:t>
            </a:r>
            <a:r>
              <a:rPr lang="en-GB" sz="2400" b="1" i="1" u="none" strike="noStrike" cap="none">
                <a:solidFill>
                  <a:srgbClr val="FFFFFF"/>
                </a:solidFill>
                <a:latin typeface="Quattrocento Sans"/>
                <a:ea typeface="Quattrocento Sans"/>
                <a:cs typeface="Quattrocento Sans"/>
                <a:sym typeface="Quattrocento Sans"/>
              </a:rPr>
              <a:t>(3D Input Devices)</a:t>
            </a:r>
            <a:endParaRPr/>
          </a:p>
          <a:p>
            <a:pPr marL="1257300" marR="0" lvl="2" indent="-342900" algn="l" rtl="0">
              <a:spcBef>
                <a:spcPts val="0"/>
              </a:spcBef>
              <a:spcAft>
                <a:spcPts val="0"/>
              </a:spcAft>
              <a:buClr>
                <a:srgbClr val="FFFFFF"/>
              </a:buClr>
              <a:buSzPts val="2400"/>
              <a:buFont typeface="Arial"/>
              <a:buChar char="•"/>
            </a:pPr>
            <a:r>
              <a:rPr lang="en-GB" sz="2400" b="1" i="0" u="none" strike="noStrike" cap="none">
                <a:solidFill>
                  <a:srgbClr val="FFFFFF"/>
                </a:solidFill>
                <a:latin typeface="Quattrocento Sans"/>
                <a:ea typeface="Quattrocento Sans"/>
                <a:cs typeface="Quattrocento Sans"/>
                <a:sym typeface="Quattrocento Sans"/>
              </a:rPr>
              <a:t>Razer Hydra – 3D Facebook</a:t>
            </a:r>
            <a:endParaRPr/>
          </a:p>
          <a:p>
            <a:pPr marL="800100" marR="0" lvl="1" indent="-342900" algn="l" rtl="0">
              <a:spcBef>
                <a:spcPts val="0"/>
              </a:spcBef>
              <a:spcAft>
                <a:spcPts val="0"/>
              </a:spcAft>
              <a:buClr>
                <a:srgbClr val="FFFFFF"/>
              </a:buClr>
              <a:buSzPts val="2400"/>
              <a:buFont typeface="Arial"/>
              <a:buChar char="•"/>
            </a:pPr>
            <a:r>
              <a:rPr lang="en-GB" sz="2400" b="1" i="0" u="none" strike="noStrike" cap="none">
                <a:solidFill>
                  <a:srgbClr val="FFFFFF"/>
                </a:solidFill>
                <a:latin typeface="Quattrocento Sans"/>
                <a:ea typeface="Quattrocento Sans"/>
                <a:cs typeface="Quattrocento Sans"/>
                <a:sym typeface="Quattrocento Sans"/>
              </a:rPr>
              <a:t>Immersive 3D with PUI</a:t>
            </a:r>
            <a:endParaRPr/>
          </a:p>
          <a:p>
            <a:pPr marL="1257300" marR="0" lvl="2" indent="-342900" algn="l" rtl="0">
              <a:spcBef>
                <a:spcPts val="0"/>
              </a:spcBef>
              <a:spcAft>
                <a:spcPts val="0"/>
              </a:spcAft>
              <a:buClr>
                <a:srgbClr val="FFFFFF"/>
              </a:buClr>
              <a:buSzPts val="2400"/>
              <a:buFont typeface="Arial"/>
              <a:buChar char="•"/>
            </a:pPr>
            <a:r>
              <a:rPr lang="en-GB" sz="2400" b="1" i="0" u="none" strike="noStrike" cap="none">
                <a:solidFill>
                  <a:srgbClr val="FFFFFF"/>
                </a:solidFill>
                <a:latin typeface="Quattrocento Sans"/>
                <a:ea typeface="Quattrocento Sans"/>
                <a:cs typeface="Quattrocento Sans"/>
                <a:sym typeface="Quattrocento Sans"/>
              </a:rPr>
              <a:t>Brenda Laurel</a:t>
            </a:r>
            <a:endParaRPr/>
          </a:p>
          <a:p>
            <a:pPr marL="1257300" marR="0" lvl="2" indent="-342900" algn="l" rtl="0">
              <a:spcBef>
                <a:spcPts val="0"/>
              </a:spcBef>
              <a:spcAft>
                <a:spcPts val="0"/>
              </a:spcAft>
              <a:buClr>
                <a:srgbClr val="FFFFFF"/>
              </a:buClr>
              <a:buSzPts val="2400"/>
              <a:buFont typeface="Arial"/>
              <a:buChar char="•"/>
            </a:pPr>
            <a:r>
              <a:rPr lang="en-GB" sz="2400" b="1" i="0" u="none" strike="noStrike" cap="none">
                <a:solidFill>
                  <a:srgbClr val="FFFFFF"/>
                </a:solidFill>
                <a:latin typeface="Quattrocento Sans"/>
                <a:ea typeface="Quattrocento Sans"/>
                <a:cs typeface="Quattrocento Sans"/>
                <a:sym typeface="Quattrocento Sans"/>
              </a:rPr>
              <a:t>3D Input</a:t>
            </a:r>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137" name="Google Shape;137;p8"/>
          <p:cNvSpPr/>
          <p:nvPr/>
        </p:nvSpPr>
        <p:spPr>
          <a:xfrm>
            <a:off x="7308304" y="2780928"/>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38" name="Google Shape;138;p8"/>
          <p:cNvSpPr/>
          <p:nvPr/>
        </p:nvSpPr>
        <p:spPr>
          <a:xfrm>
            <a:off x="7526645" y="299934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43"/>
        <p:cNvGrpSpPr/>
        <p:nvPr/>
      </p:nvGrpSpPr>
      <p:grpSpPr>
        <a:xfrm>
          <a:off x="0" y="0"/>
          <a:ext cx="0" cy="0"/>
          <a:chOff x="0" y="0"/>
          <a:chExt cx="0" cy="0"/>
        </a:xfrm>
      </p:grpSpPr>
      <p:sp>
        <p:nvSpPr>
          <p:cNvPr id="144" name="Google Shape;144;p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CW 3D Interaction Techniques</a:t>
            </a:r>
            <a:endParaRPr/>
          </a:p>
        </p:txBody>
      </p:sp>
      <p:sp>
        <p:nvSpPr>
          <p:cNvPr id="145" name="Google Shape;145;p9"/>
          <p:cNvSpPr/>
          <p:nvPr/>
        </p:nvSpPr>
        <p:spPr>
          <a:xfrm>
            <a:off x="467544" y="1268904"/>
            <a:ext cx="8280920"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3D UI: 3D interaction Widgets.</a:t>
            </a:r>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2D HUD on 3D POV</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2D Menu on 3D POV</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2D Menu within 3D VE</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2D mouse selection of button for 3D Interaction</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2D mouse direct control of object</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2D mouse direct control of 3D Gimbal/Widget for object</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2D and 3D Collision</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3D Natural Input and 3D direct control of objects</a:t>
            </a:r>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146" name="Google Shape;146;p9"/>
          <p:cNvSpPr/>
          <p:nvPr/>
        </p:nvSpPr>
        <p:spPr>
          <a:xfrm>
            <a:off x="7308304" y="2780928"/>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47" name="Google Shape;147;p9"/>
          <p:cNvSpPr/>
          <p:nvPr/>
        </p:nvSpPr>
        <p:spPr>
          <a:xfrm>
            <a:off x="7526645" y="299934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52"/>
        <p:cNvGrpSpPr/>
        <p:nvPr/>
      </p:nvGrpSpPr>
      <p:grpSpPr>
        <a:xfrm>
          <a:off x="0" y="0"/>
          <a:ext cx="0" cy="0"/>
          <a:chOff x="0" y="0"/>
          <a:chExt cx="0" cy="0"/>
        </a:xfrm>
      </p:grpSpPr>
      <p:sp>
        <p:nvSpPr>
          <p:cNvPr id="153" name="Google Shape;153;p1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Framework – HCI</a:t>
            </a:r>
            <a:endParaRPr/>
          </a:p>
        </p:txBody>
      </p:sp>
      <p:sp>
        <p:nvSpPr>
          <p:cNvPr id="154" name="Google Shape;154;p10"/>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Goals:</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Reduce Cognitive Load</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Enhance Spatial Knowledge</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Ease of Use</a:t>
            </a:r>
            <a:endParaRPr sz="2400" b="1" i="0" u="none" strike="noStrike" cap="none">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Manage Elements to Achieve Goals:</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Control to Task Mapping</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Perceptual Structure</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Motor Coordination</a:t>
            </a:r>
            <a:endParaRPr sz="2400" b="1" i="0" u="none" strike="noStrike" cap="none">
              <a:solidFill>
                <a:srgbClr val="FF0000"/>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155" name="Google Shape;155;p10"/>
          <p:cNvSpPr/>
          <p:nvPr/>
        </p:nvSpPr>
        <p:spPr>
          <a:xfrm>
            <a:off x="7308304" y="2780928"/>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56" name="Google Shape;156;p10"/>
          <p:cNvSpPr/>
          <p:nvPr/>
        </p:nvSpPr>
        <p:spPr>
          <a:xfrm>
            <a:off x="7526645" y="299934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61"/>
        <p:cNvGrpSpPr/>
        <p:nvPr/>
      </p:nvGrpSpPr>
      <p:grpSpPr>
        <a:xfrm>
          <a:off x="0" y="0"/>
          <a:ext cx="0" cy="0"/>
          <a:chOff x="0" y="0"/>
          <a:chExt cx="0" cy="0"/>
        </a:xfrm>
      </p:grpSpPr>
      <p:sp>
        <p:nvSpPr>
          <p:cNvPr id="162" name="Google Shape;162;p1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Framework – Software</a:t>
            </a:r>
            <a:endParaRPr/>
          </a:p>
        </p:txBody>
      </p:sp>
      <p:sp>
        <p:nvSpPr>
          <p:cNvPr id="163" name="Google Shape;163;p11"/>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Module Supported Framework:</a:t>
            </a: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3DS Max</a:t>
            </a:r>
            <a:endParaRPr sz="2400" b="1">
              <a:solidFill>
                <a:srgbClr val="FFFF00"/>
              </a:solidFill>
              <a:latin typeface="Quattrocento Sans"/>
              <a:ea typeface="Quattrocento Sans"/>
              <a:cs typeface="Quattrocento Sans"/>
              <a:sym typeface="Quattrocento Sans"/>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Modelling</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Texturing</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Animation</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Unity3D</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Input Navigation</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3D UI Interaction/ Movement Scripting</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Animation Triggering / Narrative Animation</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State Control</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Shaders and Lighting</a:t>
            </a: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WebGL Build</a:t>
            </a:r>
            <a:endParaRPr sz="2400" b="1">
              <a:solidFill>
                <a:srgbClr val="FFFF00"/>
              </a:solidFill>
              <a:latin typeface="Quattrocento Sans"/>
              <a:ea typeface="Quattrocento Sans"/>
              <a:cs typeface="Quattrocento Sans"/>
              <a:sym typeface="Quattrocento Sans"/>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Output</a:t>
            </a:r>
            <a:endParaRPr/>
          </a:p>
          <a:p>
            <a:pPr marL="800100" marR="0" lvl="1" indent="-342900" algn="l" rtl="0">
              <a:spcBef>
                <a:spcPts val="0"/>
              </a:spcBef>
              <a:spcAft>
                <a:spcPts val="0"/>
              </a:spcAft>
              <a:buClr>
                <a:srgbClr val="FFFF00"/>
              </a:buClr>
              <a:buSzPts val="2400"/>
              <a:buFont typeface="Arial"/>
              <a:buChar char="•"/>
            </a:pPr>
            <a:r>
              <a:rPr lang="en-GB" sz="2400" b="1" i="0" u="none" strike="noStrike" cap="none">
                <a:solidFill>
                  <a:srgbClr val="FFFF00"/>
                </a:solidFill>
                <a:latin typeface="Quattrocento Sans"/>
                <a:ea typeface="Quattrocento Sans"/>
                <a:cs typeface="Quattrocento Sans"/>
                <a:sym typeface="Quattrocento Sans"/>
              </a:rPr>
              <a:t>Mouse and Keyboard Control</a:t>
            </a: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164" name="Google Shape;164;p11"/>
          <p:cNvSpPr/>
          <p:nvPr/>
        </p:nvSpPr>
        <p:spPr>
          <a:xfrm>
            <a:off x="7308304" y="2780928"/>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65" name="Google Shape;165;p11"/>
          <p:cNvSpPr/>
          <p:nvPr/>
        </p:nvSpPr>
        <p:spPr>
          <a:xfrm>
            <a:off x="7526645" y="299934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70"/>
        <p:cNvGrpSpPr/>
        <p:nvPr/>
      </p:nvGrpSpPr>
      <p:grpSpPr>
        <a:xfrm>
          <a:off x="0" y="0"/>
          <a:ext cx="0" cy="0"/>
          <a:chOff x="0" y="0"/>
          <a:chExt cx="0" cy="0"/>
        </a:xfrm>
      </p:grpSpPr>
      <p:sp>
        <p:nvSpPr>
          <p:cNvPr id="171" name="Google Shape;171;p1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CW1 Group Report Outline</a:t>
            </a:r>
            <a:endParaRPr/>
          </a:p>
        </p:txBody>
      </p:sp>
      <p:sp>
        <p:nvSpPr>
          <p:cNvPr id="172" name="Google Shape;172;p12"/>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177"/>
        <p:cNvGrpSpPr/>
        <p:nvPr/>
      </p:nvGrpSpPr>
      <p:grpSpPr>
        <a:xfrm>
          <a:off x="0" y="0"/>
          <a:ext cx="0" cy="0"/>
          <a:chOff x="0" y="0"/>
          <a:chExt cx="0" cy="0"/>
        </a:xfrm>
      </p:grpSpPr>
      <p:sp>
        <p:nvSpPr>
          <p:cNvPr id="178" name="Google Shape;178;p1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sz="4300"/>
              <a:t>Module Scope – Working Practice</a:t>
            </a:r>
            <a:endParaRPr sz="4300"/>
          </a:p>
        </p:txBody>
      </p:sp>
      <p:sp>
        <p:nvSpPr>
          <p:cNvPr id="179" name="Google Shape;179;p13"/>
          <p:cNvSpPr/>
          <p:nvPr/>
        </p:nvSpPr>
        <p:spPr>
          <a:xfrm>
            <a:off x="1835696" y="1268904"/>
            <a:ext cx="727280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System Design and Implementation:</a:t>
            </a: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Define Problem or Narrative to Convey </a:t>
            </a:r>
            <a:r>
              <a:rPr lang="en-GB" sz="2400" b="1">
                <a:solidFill>
                  <a:srgbClr val="FF0000"/>
                </a:solidFill>
                <a:latin typeface="Quattrocento Sans"/>
                <a:ea typeface="Quattrocento Sans"/>
                <a:cs typeface="Quattrocento Sans"/>
                <a:sym typeface="Quattrocento Sans"/>
              </a:rPr>
              <a:t>(3.2.2)</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Deploy Theory in Design and Implementation </a:t>
            </a:r>
            <a:r>
              <a:rPr lang="en-GB" sz="2400" b="1">
                <a:solidFill>
                  <a:srgbClr val="E8402E"/>
                </a:solidFill>
                <a:latin typeface="Quattrocento Sans"/>
                <a:ea typeface="Quattrocento Sans"/>
                <a:cs typeface="Quattrocento Sans"/>
                <a:sym typeface="Quattrocento Sans"/>
              </a:rPr>
              <a:t>(2.1.5)</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Deploy Software and Hardware Tools Effectively </a:t>
            </a:r>
            <a:r>
              <a:rPr lang="en-GB" sz="2400" b="1">
                <a:solidFill>
                  <a:srgbClr val="FF0000"/>
                </a:solidFill>
                <a:latin typeface="Quattrocento Sans"/>
                <a:ea typeface="Quattrocento Sans"/>
                <a:cs typeface="Quattrocento Sans"/>
                <a:sym typeface="Quattrocento Sans"/>
              </a:rPr>
              <a:t>(2.2.4)</a:t>
            </a:r>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Deploy Systems to meet Commercial Goal </a:t>
            </a:r>
            <a:r>
              <a:rPr lang="en-GB" sz="2400" b="1">
                <a:solidFill>
                  <a:srgbClr val="FF0000"/>
                </a:solidFill>
                <a:latin typeface="Quattrocento Sans"/>
                <a:ea typeface="Quattrocento Sans"/>
                <a:cs typeface="Quattrocento Sans"/>
                <a:sym typeface="Quattrocento Sans"/>
              </a:rPr>
              <a:t>(3.1.1)</a:t>
            </a: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180" name="Google Shape;180;p13"/>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81" name="Google Shape;181;p13"/>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182" name="Google Shape;182;p13"/>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83" name="Google Shape;183;p13"/>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184" name="Google Shape;184;p13"/>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85" name="Google Shape;185;p13"/>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186" name="Google Shape;186;p13"/>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87" name="Google Shape;187;p13"/>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192"/>
        <p:cNvGrpSpPr/>
        <p:nvPr/>
      </p:nvGrpSpPr>
      <p:grpSpPr>
        <a:xfrm>
          <a:off x="0" y="0"/>
          <a:ext cx="0" cy="0"/>
          <a:chOff x="0" y="0"/>
          <a:chExt cx="0" cy="0"/>
        </a:xfrm>
      </p:grpSpPr>
      <p:sp>
        <p:nvSpPr>
          <p:cNvPr id="193" name="Google Shape;193;p1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 (Group)</a:t>
            </a:r>
            <a:endParaRPr/>
          </a:p>
        </p:txBody>
      </p:sp>
      <p:sp>
        <p:nvSpPr>
          <p:cNvPr id="194" name="Google Shape;194;p14"/>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3. Planning for CW2 3DUI Interactivity Report </a:t>
            </a:r>
            <a:r>
              <a:rPr lang="en-GB" sz="1800" b="1" i="1">
                <a:solidFill>
                  <a:srgbClr val="FFFF00"/>
                </a:solidFill>
                <a:latin typeface="Quattrocento Sans"/>
                <a:ea typeface="Quattrocento Sans"/>
                <a:cs typeface="Quattrocento Sans"/>
                <a:sym typeface="Quattrocento Sans"/>
              </a:rPr>
              <a:t>(Group Presentation, 1 per group)</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rPr>
              <a:t>a. Concept and Design</a:t>
            </a:r>
            <a:endParaRPr/>
          </a:p>
          <a:p>
            <a:pPr marL="457200" marR="0" lvl="1"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195" name="Google Shape;195;p14"/>
          <p:cNvSpPr/>
          <p:nvPr/>
        </p:nvSpPr>
        <p:spPr>
          <a:xfrm>
            <a:off x="7390800" y="42672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196" name="Google Shape;196;p14"/>
          <p:cNvSpPr/>
          <p:nvPr/>
        </p:nvSpPr>
        <p:spPr>
          <a:xfrm>
            <a:off x="7609141" y="44856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01"/>
        <p:cNvGrpSpPr/>
        <p:nvPr/>
      </p:nvGrpSpPr>
      <p:grpSpPr>
        <a:xfrm>
          <a:off x="0" y="0"/>
          <a:ext cx="0" cy="0"/>
          <a:chOff x="0" y="0"/>
          <a:chExt cx="0" cy="0"/>
        </a:xfrm>
      </p:grpSpPr>
      <p:sp>
        <p:nvSpPr>
          <p:cNvPr id="202" name="Google Shape;202;p1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 (Group)</a:t>
            </a:r>
            <a:endParaRPr/>
          </a:p>
        </p:txBody>
      </p:sp>
      <p:sp>
        <p:nvSpPr>
          <p:cNvPr id="203" name="Google Shape;203;p15"/>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3. Planning for CW2 3DUI Interactivity Report </a:t>
            </a:r>
            <a:r>
              <a:rPr lang="en-GB" sz="1800" b="1" i="1">
                <a:solidFill>
                  <a:srgbClr val="FFFF00"/>
                </a:solidFill>
                <a:latin typeface="Quattrocento Sans"/>
                <a:ea typeface="Quattrocento Sans"/>
                <a:cs typeface="Quattrocento Sans"/>
                <a:sym typeface="Quattrocento Sans"/>
              </a:rPr>
              <a:t>(Group Presentation, 1 per group)</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rPr>
              <a:t>b. Design Diagrams</a:t>
            </a:r>
            <a:endParaRPr/>
          </a:p>
          <a:p>
            <a:pPr marL="457200" marR="0" lvl="1"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204" name="Google Shape;204;p15"/>
          <p:cNvSpPr/>
          <p:nvPr/>
        </p:nvSpPr>
        <p:spPr>
          <a:xfrm>
            <a:off x="7390800" y="42672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205" name="Google Shape;205;p15"/>
          <p:cNvSpPr/>
          <p:nvPr/>
        </p:nvSpPr>
        <p:spPr>
          <a:xfrm>
            <a:off x="7609141" y="44856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1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Module Scope Architecture</a:t>
            </a:r>
            <a:endParaRPr/>
          </a:p>
        </p:txBody>
      </p:sp>
      <p:sp>
        <p:nvSpPr>
          <p:cNvPr id="212" name="Google Shape;212;p16"/>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Model View Controller </a:t>
            </a:r>
            <a:endParaRPr/>
          </a:p>
          <a:p>
            <a:pPr marL="0" marR="0" lvl="0" indent="0" algn="l" rtl="0">
              <a:spcBef>
                <a:spcPts val="0"/>
              </a:spcBef>
              <a:spcAft>
                <a:spcPts val="0"/>
              </a:spcAft>
              <a:buNone/>
            </a:pPr>
            <a:r>
              <a:rPr lang="en-GB" sz="2400" b="1" i="1">
                <a:solidFill>
                  <a:srgbClr val="FFFFFF"/>
                </a:solidFill>
                <a:latin typeface="Quattrocento Sans"/>
                <a:ea typeface="Quattrocento Sans"/>
                <a:cs typeface="Quattrocento Sans"/>
                <a:sym typeface="Quattrocento Sans"/>
              </a:rPr>
              <a:t>Software architecture for GUIs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Diagrams</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	Use Case Diagram</a:t>
            </a:r>
            <a:br>
              <a:rPr lang="en-GB" sz="2400" b="1">
                <a:solidFill>
                  <a:srgbClr val="FFFFFF"/>
                </a:solidFill>
                <a:latin typeface="Quattrocento Sans"/>
                <a:ea typeface="Quattrocento Sans"/>
                <a:cs typeface="Quattrocento Sans"/>
                <a:sym typeface="Quattrocento Sans"/>
              </a:rPr>
            </a:br>
            <a:r>
              <a:rPr lang="en-GB" sz="2400" b="1">
                <a:solidFill>
                  <a:srgbClr val="FFFFFF"/>
                </a:solidFill>
                <a:latin typeface="Quattrocento Sans"/>
                <a:ea typeface="Quattrocento Sans"/>
                <a:cs typeface="Quattrocento Sans"/>
                <a:sym typeface="Quattrocento Sans"/>
              </a:rPr>
              <a:t>	</a:t>
            </a:r>
            <a:r>
              <a:rPr lang="en-GB" sz="2400" b="1" u="sng">
                <a:solidFill>
                  <a:srgbClr val="FFFFFF"/>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http://casecomplete.com/learn</a:t>
            </a: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a:t>
            </a:r>
            <a:r>
              <a:rPr lang="en-GB" sz="2400" b="1">
                <a:solidFill>
                  <a:srgbClr val="FFFF00"/>
                </a:solidFill>
                <a:latin typeface="Quattrocento Sans"/>
                <a:ea typeface="Quattrocento Sans"/>
                <a:cs typeface="Quattrocento Sans"/>
                <a:sym typeface="Quattrocento Sans"/>
              </a:rPr>
              <a:t>Storyboard – Views</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	Domain/Class Diagram</a:t>
            </a:r>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	</a:t>
            </a:r>
            <a:r>
              <a:rPr lang="en-GB" sz="2400" b="1" u="sng">
                <a:solidFill>
                  <a:srgbClr val="FFFFFF"/>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https://en.wikipedia.org/wiki/Class_diagram</a:t>
            </a: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213" name="Google Shape;213;p16"/>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214" name="Google Shape;214;p16"/>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215" name="Google Shape;215;p16"/>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216" name="Google Shape;216;p16"/>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217" name="Google Shape;217;p16"/>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218" name="Google Shape;218;p16"/>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219" name="Google Shape;219;p16"/>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220" name="Google Shape;220;p16"/>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25"/>
        <p:cNvGrpSpPr/>
        <p:nvPr/>
      </p:nvGrpSpPr>
      <p:grpSpPr>
        <a:xfrm>
          <a:off x="0" y="0"/>
          <a:ext cx="0" cy="0"/>
          <a:chOff x="0" y="0"/>
          <a:chExt cx="0" cy="0"/>
        </a:xfrm>
      </p:grpSpPr>
      <p:sp>
        <p:nvSpPr>
          <p:cNvPr id="226" name="Google Shape;226;p1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27" name="Google Shape;227;p17"/>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StoryBoard/Flowchart</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Views</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Navigation</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Hierarchy</a:t>
            </a:r>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Tabs</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Menus</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Call-Outs</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(Detail)</a:t>
            </a:r>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Overview</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Flow</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Details</a:t>
            </a:r>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This is </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Almost </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MVC – Model View Controller (Later)</a:t>
            </a:r>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pic>
        <p:nvPicPr>
          <p:cNvPr id="228" name="Google Shape;228;p17"/>
          <p:cNvPicPr preferRelativeResize="0"/>
          <p:nvPr/>
        </p:nvPicPr>
        <p:blipFill rotWithShape="1">
          <a:blip r:embed="rId3">
            <a:alphaModFix/>
          </a:blip>
          <a:srcRect/>
          <a:stretch/>
        </p:blipFill>
        <p:spPr>
          <a:xfrm>
            <a:off x="1981444" y="2068774"/>
            <a:ext cx="5181112" cy="3900226"/>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25">
          <a:extLst>
            <a:ext uri="{FF2B5EF4-FFF2-40B4-BE49-F238E27FC236}">
              <a16:creationId xmlns:a16="http://schemas.microsoft.com/office/drawing/2014/main" id="{98345D23-93CF-A3C4-2F96-B18A4238D32A}"/>
            </a:ext>
          </a:extLst>
        </p:cNvPr>
        <p:cNvGrpSpPr/>
        <p:nvPr/>
      </p:nvGrpSpPr>
      <p:grpSpPr>
        <a:xfrm>
          <a:off x="0" y="0"/>
          <a:ext cx="0" cy="0"/>
          <a:chOff x="0" y="0"/>
          <a:chExt cx="0" cy="0"/>
        </a:xfrm>
      </p:grpSpPr>
      <p:sp>
        <p:nvSpPr>
          <p:cNvPr id="226" name="Google Shape;226;p17">
            <a:extLst>
              <a:ext uri="{FF2B5EF4-FFF2-40B4-BE49-F238E27FC236}">
                <a16:creationId xmlns:a16="http://schemas.microsoft.com/office/drawing/2014/main" id="{4B9B288F-CA95-C094-F0B7-EABA9851579D}"/>
              </a:ext>
            </a:extLst>
          </p:cNvPr>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27" name="Google Shape;227;p17">
            <a:extLst>
              <a:ext uri="{FF2B5EF4-FFF2-40B4-BE49-F238E27FC236}">
                <a16:creationId xmlns:a16="http://schemas.microsoft.com/office/drawing/2014/main" id="{1E909E54-C039-6F4E-3641-9DD4F05C1E05}"/>
              </a:ext>
            </a:extLst>
          </p:cNvPr>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dirty="0" err="1">
                <a:solidFill>
                  <a:srgbClr val="FFFF00"/>
                </a:solidFill>
                <a:latin typeface="Quattrocento Sans"/>
                <a:ea typeface="Quattrocento Sans"/>
                <a:cs typeface="Quattrocento Sans"/>
                <a:sym typeface="Quattrocento Sans"/>
              </a:rPr>
              <a:t>StoryBoard</a:t>
            </a:r>
            <a:r>
              <a:rPr lang="en-GB" sz="2400" b="1" dirty="0">
                <a:solidFill>
                  <a:srgbClr val="FFFF00"/>
                </a:solidFill>
                <a:latin typeface="Quattrocento Sans"/>
                <a:ea typeface="Quattrocento Sans"/>
                <a:cs typeface="Quattrocento Sans"/>
                <a:sym typeface="Quattrocento Sans"/>
              </a:rPr>
              <a:t>/Flowchart</a:t>
            </a:r>
            <a:endParaRPr dirty="0"/>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Views</a:t>
            </a:r>
            <a:endParaRPr dirty="0">
              <a:solidFill>
                <a:schemeClr val="dk1"/>
              </a:solidFill>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Navigation</a:t>
            </a:r>
            <a:endParaRPr dirty="0">
              <a:solidFill>
                <a:schemeClr val="dk1"/>
              </a:solidFill>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Hierarchy</a:t>
            </a:r>
            <a:endParaRPr dirty="0">
              <a:solidFill>
                <a:schemeClr val="dk1"/>
              </a:solidFill>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Tabs</a:t>
            </a:r>
            <a:endParaRPr dirty="0"/>
          </a:p>
          <a:p>
            <a:pPr marL="457200" lvl="1"/>
            <a:r>
              <a:rPr lang="en-GB" sz="1800" b="0" i="0" u="none" strike="noStrike" cap="none" dirty="0">
                <a:solidFill>
                  <a:schemeClr val="dk1"/>
                </a:solidFill>
                <a:latin typeface="Quattrocento Sans"/>
                <a:ea typeface="Quattrocento Sans"/>
                <a:cs typeface="Quattrocento Sans"/>
                <a:sym typeface="Quattrocento Sans"/>
              </a:rPr>
              <a:t>Menus</a:t>
            </a:r>
            <a:endParaRPr dirty="0"/>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Call-Outs</a:t>
            </a:r>
            <a:endParaRPr dirty="0">
              <a:solidFill>
                <a:schemeClr val="dk1"/>
              </a:solidFill>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(Detail)</a:t>
            </a:r>
            <a:endParaRPr dirty="0">
              <a:solidFill>
                <a:schemeClr val="dk1"/>
              </a:solidFill>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Overview</a:t>
            </a:r>
            <a:endParaRPr dirty="0">
              <a:solidFill>
                <a:schemeClr val="dk1"/>
              </a:solidFill>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Flow</a:t>
            </a:r>
            <a:endParaRPr dirty="0">
              <a:solidFill>
                <a:schemeClr val="dk1"/>
              </a:solidFill>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Details</a:t>
            </a:r>
            <a:endParaRPr dirty="0">
              <a:solidFill>
                <a:schemeClr val="dk1"/>
              </a:solidFill>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This is </a:t>
            </a:r>
            <a:endParaRPr dirty="0">
              <a:solidFill>
                <a:schemeClr val="dk1"/>
              </a:solidFill>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Almost </a:t>
            </a:r>
            <a:endParaRPr dirty="0">
              <a:solidFill>
                <a:schemeClr val="dk1"/>
              </a:solidFill>
            </a:endParaRPr>
          </a:p>
          <a:p>
            <a:pPr marL="457200" marR="0" lvl="1"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MVC – Model View Controller (Later)</a:t>
            </a:r>
            <a:endParaRPr dirty="0">
              <a:solidFill>
                <a:schemeClr val="dk1"/>
              </a:solidFill>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pic>
        <p:nvPicPr>
          <p:cNvPr id="2" name="Picture 1" descr="A diagram of a program&#10;&#10;AI-generated content may be incorrect.">
            <a:extLst>
              <a:ext uri="{FF2B5EF4-FFF2-40B4-BE49-F238E27FC236}">
                <a16:creationId xmlns:a16="http://schemas.microsoft.com/office/drawing/2014/main" id="{2C7BFD17-8DEC-8B1B-A035-FE57F393809D}"/>
              </a:ext>
            </a:extLst>
          </p:cNvPr>
          <p:cNvPicPr>
            <a:picLocks noChangeAspect="1"/>
          </p:cNvPicPr>
          <p:nvPr/>
        </p:nvPicPr>
        <p:blipFill>
          <a:blip r:embed="rId3"/>
          <a:stretch>
            <a:fillRect/>
          </a:stretch>
        </p:blipFill>
        <p:spPr>
          <a:xfrm>
            <a:off x="2618316" y="1910196"/>
            <a:ext cx="5568951" cy="4064190"/>
          </a:xfrm>
          <a:prstGeom prst="rect">
            <a:avLst/>
          </a:prstGeom>
        </p:spPr>
      </p:pic>
    </p:spTree>
    <p:extLst>
      <p:ext uri="{BB962C8B-B14F-4D97-AF65-F5344CB8AC3E}">
        <p14:creationId xmlns:p14="http://schemas.microsoft.com/office/powerpoint/2010/main" val="401671263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0"/>
        <p:cNvGrpSpPr/>
        <p:nvPr/>
      </p:nvGrpSpPr>
      <p:grpSpPr>
        <a:xfrm>
          <a:off x="0" y="0"/>
          <a:ext cx="0" cy="0"/>
          <a:chOff x="0" y="0"/>
          <a:chExt cx="0" cy="0"/>
        </a:xfrm>
      </p:grpSpPr>
      <p:sp>
        <p:nvSpPr>
          <p:cNvPr id="241" name="Google Shape;241;p1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42" name="Google Shape;242;p19"/>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r>
              <a:rPr lang="en-GB" sz="2400" b="1" dirty="0">
                <a:solidFill>
                  <a:srgbClr val="FFFF00"/>
                </a:solidFill>
                <a:latin typeface="Quattrocento Sans"/>
                <a:ea typeface="Quattrocento Sans"/>
                <a:cs typeface="Quattrocento Sans"/>
                <a:sym typeface="Quattrocento Sans"/>
              </a:rPr>
              <a:t>Use Case Diagram</a:t>
            </a:r>
            <a:endParaRPr lang="en-US" dirty="0">
              <a:solidFill>
                <a:srgbClr val="FFFFFF"/>
              </a:solidFill>
              <a:ea typeface="Quattrocento Sans"/>
              <a:sym typeface="Quattrocento Sans"/>
            </a:endParaRPr>
          </a:p>
          <a:p>
            <a:pPr marL="0" marR="0" lvl="0" indent="0" algn="l">
              <a:spcBef>
                <a:spcPts val="0"/>
              </a:spcBef>
              <a:spcAft>
                <a:spcPts val="0"/>
              </a:spcAft>
              <a:buNone/>
            </a:pPr>
            <a:r>
              <a:rPr lang="en-GB" sz="1800" u="sng" dirty="0">
                <a:solidFill>
                  <a:schemeClr val="hlink"/>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Casecomplete</a:t>
            </a:r>
            <a:endParaRPr lang="en-US">
              <a:solidFill>
                <a:schemeClr val="hlink"/>
              </a:solidFill>
            </a:endParaRPr>
          </a:p>
          <a:p>
            <a:pPr lvl="1"/>
            <a:r>
              <a:rPr lang="en-GB" sz="1800" dirty="0">
                <a:solidFill>
                  <a:schemeClr val="dk1"/>
                </a:solidFill>
                <a:ea typeface="Quattrocento Sans"/>
                <a:hlinkClick r:id="rId4">
                  <a:extLst>
                    <a:ext uri="{A12FA001-AC4F-418D-AE19-62706E023703}">
                      <ahyp:hlinkClr xmlns:ahyp="http://schemas.microsoft.com/office/drawing/2018/hyperlinkcolor" val="tx"/>
                    </a:ext>
                  </a:extLst>
                </a:hlinkClick>
              </a:rPr>
              <a:t>https://casecomplete.com/</a:t>
            </a:r>
            <a:endParaRPr lang="en-US" sz="1800">
              <a:solidFill>
                <a:schemeClr val="dk1"/>
              </a:solidFill>
              <a:latin typeface="Quattrocento Sans"/>
              <a:ea typeface="Quattrocento Sans"/>
              <a:cs typeface="Quattrocento Sans"/>
            </a:endParaRPr>
          </a:p>
          <a:p>
            <a:pPr marR="0" lvl="1" indent="0" algn="l">
              <a:spcBef>
                <a:spcPts val="0"/>
              </a:spcBef>
              <a:spcAft>
                <a:spcPts val="0"/>
              </a:spcAft>
              <a:buNone/>
            </a:pPr>
            <a:r>
              <a:rPr lang="en-GB" sz="1800" b="0" i="0" u="sng" strike="noStrike" cap="none" dirty="0">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http://astah.net/</a:t>
            </a:r>
            <a:endParaRPr sz="1800" b="0" i="0" u="none" strike="noStrike" cap="none">
              <a:solidFill>
                <a:schemeClr val="dk1"/>
              </a:solidFill>
              <a:latin typeface="Quattrocento Sans"/>
              <a:ea typeface="Quattrocento Sans"/>
              <a:cs typeface="Quattrocento Sans"/>
            </a:endParaRPr>
          </a:p>
          <a:p>
            <a:pPr marR="0" lvl="1" algn="l">
              <a:spcBef>
                <a:spcPts val="0"/>
              </a:spcBef>
              <a:spcAft>
                <a:spcPts val="0"/>
              </a:spcAft>
            </a:pPr>
            <a:endParaRPr lang="en-GB" sz="2400" i="0" strike="noStrike" cap="none" dirty="0">
              <a:solidFill>
                <a:schemeClr val="dk1"/>
              </a:solidFill>
              <a:latin typeface="Quattrocento Sans"/>
              <a:ea typeface="Quattrocento Sans"/>
              <a:cs typeface="Quattrocento Sans"/>
            </a:endParaRPr>
          </a:p>
          <a:p>
            <a:pPr lvl="1"/>
            <a:r>
              <a:rPr lang="en-GB" sz="2400" dirty="0">
                <a:solidFill>
                  <a:schemeClr val="dk1"/>
                </a:solidFill>
                <a:latin typeface="Quattrocento Sans"/>
                <a:ea typeface="Quattrocento Sans"/>
                <a:cs typeface="Quattrocento Sans"/>
              </a:rPr>
              <a:t>Defines:</a:t>
            </a:r>
            <a:endParaRPr lang="en-GB" sz="2400" dirty="0">
              <a:solidFill>
                <a:schemeClr val="dk1"/>
              </a:solidFill>
              <a:latin typeface="Quattrocento Sans"/>
              <a:ea typeface="Quattrocento Sans"/>
              <a:cs typeface="Quattrocento Sans"/>
              <a:sym typeface="Quattrocento Sans"/>
            </a:endParaRPr>
          </a:p>
          <a:p>
            <a:pPr marL="342900" lvl="1" indent="-342900">
              <a:buChar char="•"/>
            </a:pPr>
            <a:r>
              <a:rPr lang="en-GB" sz="2000" i="0" u="none" strike="noStrike" cap="none" dirty="0">
                <a:solidFill>
                  <a:srgbClr val="FFFFFF"/>
                </a:solidFill>
                <a:latin typeface="Quattrocento Sans"/>
                <a:ea typeface="Quattrocento Sans"/>
                <a:cs typeface="Quattrocento Sans"/>
                <a:sym typeface="Quattrocento Sans"/>
              </a:rPr>
              <a:t>Product context and </a:t>
            </a:r>
            <a:r>
              <a:rPr lang="en-GB" sz="2000" dirty="0">
                <a:solidFill>
                  <a:srgbClr val="FFFFFF"/>
                </a:solidFill>
                <a:latin typeface="Quattrocento Sans"/>
                <a:ea typeface="Quattrocento Sans"/>
                <a:cs typeface="Quattrocento Sans"/>
                <a:sym typeface="Quattrocento Sans"/>
              </a:rPr>
              <a:t>boundaries</a:t>
            </a:r>
            <a:endParaRPr lang="en-GB" sz="2000" dirty="0">
              <a:solidFill>
                <a:srgbClr val="FFFFFF"/>
              </a:solidFill>
              <a:latin typeface="Quattrocento Sans"/>
              <a:ea typeface="Quattrocento Sans"/>
            </a:endParaRPr>
          </a:p>
          <a:p>
            <a:pPr marL="342900" lvl="1" indent="-342900">
              <a:buChar char="•"/>
            </a:pPr>
            <a:r>
              <a:rPr lang="en-GB" sz="2000" dirty="0">
                <a:solidFill>
                  <a:srgbClr val="FFFFFF"/>
                </a:solidFill>
                <a:latin typeface="Quattrocento Sans"/>
                <a:ea typeface="Quattrocento Sans"/>
                <a:cs typeface="Quattrocento Sans"/>
                <a:sym typeface="Quattrocento Sans"/>
              </a:rPr>
              <a:t>Overview</a:t>
            </a:r>
            <a:r>
              <a:rPr lang="en-GB" sz="2000" i="0" u="none" strike="noStrike" cap="none" dirty="0">
                <a:solidFill>
                  <a:srgbClr val="FFFFFF"/>
                </a:solidFill>
                <a:latin typeface="Quattrocento Sans"/>
                <a:ea typeface="Quattrocento Sans"/>
                <a:cs typeface="Quattrocento Sans"/>
                <a:sym typeface="Quattrocento Sans"/>
              </a:rPr>
              <a:t> of apps required functionality and overall use scenario using Actor (Stakeholder or end user)</a:t>
            </a:r>
            <a:endParaRPr lang="en-GB" sz="2000">
              <a:ea typeface="Quattrocento Sans"/>
            </a:endParaRPr>
          </a:p>
          <a:p>
            <a:pPr marL="342900" lvl="1" indent="-342900">
              <a:buChar char="•"/>
            </a:pPr>
            <a:r>
              <a:rPr lang="en-GB" sz="2000" i="0" u="none" strike="noStrike" cap="none" dirty="0">
                <a:solidFill>
                  <a:srgbClr val="FFFFFF"/>
                </a:solidFill>
                <a:latin typeface="Quattrocento Sans"/>
                <a:ea typeface="Quattrocento Sans"/>
                <a:cs typeface="Quattrocento Sans"/>
                <a:sym typeface="Quattrocento Sans"/>
              </a:rPr>
              <a:t>Document Models of Key Aspects of your </a:t>
            </a:r>
            <a:r>
              <a:rPr lang="en-GB" sz="2000" dirty="0">
                <a:solidFill>
                  <a:srgbClr val="FFFFFF"/>
                </a:solidFill>
                <a:latin typeface="Quattrocento Sans"/>
                <a:ea typeface="Quattrocento Sans"/>
                <a:cs typeface="Quattrocento Sans"/>
                <a:sym typeface="Quattrocento Sans"/>
              </a:rPr>
              <a:t>App</a:t>
            </a:r>
            <a:endParaRPr lang="en-GB" sz="2000">
              <a:ea typeface="Quattrocento Sans"/>
            </a:endParaRPr>
          </a:p>
          <a:p>
            <a:pPr marL="342900" marR="0" lvl="1" indent="-342900" algn="l">
              <a:spcBef>
                <a:spcPts val="0"/>
              </a:spcBef>
              <a:spcAft>
                <a:spcPts val="0"/>
              </a:spcAft>
              <a:buChar char="•"/>
            </a:pPr>
            <a:r>
              <a:rPr lang="en-GB" sz="2000" dirty="0">
                <a:solidFill>
                  <a:srgbClr val="FFFFFF"/>
                </a:solidFill>
                <a:latin typeface="Quattrocento Sans"/>
                <a:ea typeface="Quattrocento Sans"/>
                <a:cs typeface="Quattrocento Sans"/>
                <a:sym typeface="Quattrocento Sans"/>
              </a:rPr>
              <a:t>The</a:t>
            </a:r>
            <a:r>
              <a:rPr lang="en-GB" sz="2000" i="0" u="none" strike="noStrike" cap="none" dirty="0">
                <a:solidFill>
                  <a:srgbClr val="FFFFFF"/>
                </a:solidFill>
                <a:latin typeface="Quattrocento Sans"/>
                <a:ea typeface="Quattrocento Sans"/>
                <a:cs typeface="Quattrocento Sans"/>
                <a:sym typeface="Quattrocento Sans"/>
              </a:rPr>
              <a:t> required Functionality of your project</a:t>
            </a:r>
            <a:endParaRPr sz="2000"/>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2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49" name="Google Shape;249;p20"/>
          <p:cNvSpPr/>
          <p:nvPr/>
        </p:nvSpPr>
        <p:spPr>
          <a:xfrm>
            <a:off x="456961" y="1199034"/>
            <a:ext cx="8496944" cy="4896544"/>
          </a:xfrm>
          <a:prstGeom prst="rect">
            <a:avLst/>
          </a:prstGeom>
          <a:noFill/>
          <a:ln>
            <a:noFill/>
          </a:ln>
        </p:spPr>
        <p:txBody>
          <a:bodyPr spcFirstLastPara="1" wrap="square" lIns="0" tIns="45700" rIns="0" bIns="45700" anchor="t" anchorCtr="0">
            <a:noAutofit/>
          </a:bodyPr>
          <a:lstStyle/>
          <a:p>
            <a:r>
              <a:rPr lang="en-GB" sz="2400" b="1" dirty="0">
                <a:solidFill>
                  <a:srgbClr val="FFFF00"/>
                </a:solidFill>
                <a:latin typeface="Quattrocento Sans"/>
                <a:ea typeface="Quattrocento Sans"/>
                <a:cs typeface="Quattrocento Sans"/>
                <a:sym typeface="Quattrocento Sans"/>
              </a:rPr>
              <a:t>Use Case Diagram </a:t>
            </a:r>
            <a:endParaRPr lang="en-GB" sz="1800" u="sng">
              <a:solidFill>
                <a:schemeClr val="dk1"/>
              </a:solidFill>
              <a:latin typeface="Quattrocento Sans"/>
              <a:ea typeface="Quattrocento Sans"/>
              <a:sym typeface="Quattrocento Sans"/>
            </a:endParaRPr>
          </a:p>
          <a:p>
            <a:endParaRPr lang="en-GB" sz="1800" u="sng" dirty="0">
              <a:solidFill>
                <a:schemeClr val="tx1"/>
              </a:solidFill>
              <a:latin typeface="Quattrocento Sans"/>
            </a:endParaRPr>
          </a:p>
          <a:p>
            <a:endParaRPr lang="en-GB" sz="1800" u="sng" dirty="0">
              <a:solidFill>
                <a:schemeClr val="tx1"/>
              </a:solidFill>
              <a:latin typeface="Quattrocento Sans"/>
            </a:endParaRPr>
          </a:p>
          <a:p>
            <a:endParaRPr lang="en-GB" sz="1800" u="sng" dirty="0">
              <a:solidFill>
                <a:schemeClr val="tx1"/>
              </a:solidFill>
              <a:latin typeface="Quattrocento Sans"/>
            </a:endParaRPr>
          </a:p>
          <a:p>
            <a:endParaRPr lang="en-GB" sz="1800" u="sng" dirty="0">
              <a:solidFill>
                <a:schemeClr val="tx1"/>
              </a:solidFill>
              <a:latin typeface="Quattrocento Sans"/>
            </a:endParaRPr>
          </a:p>
          <a:p>
            <a:endParaRPr lang="en-GB" sz="1800" u="sng" dirty="0">
              <a:solidFill>
                <a:schemeClr val="tx1"/>
              </a:solidFill>
              <a:latin typeface="Quattrocento Sans"/>
            </a:endParaRPr>
          </a:p>
          <a:p>
            <a:endParaRPr lang="en-GB" sz="1800" u="sng" dirty="0">
              <a:solidFill>
                <a:schemeClr val="tx1"/>
              </a:solidFill>
              <a:latin typeface="Quattrocento Sans"/>
            </a:endParaRPr>
          </a:p>
          <a:p>
            <a:endParaRPr lang="en-GB" sz="1800" u="sng" dirty="0">
              <a:solidFill>
                <a:schemeClr val="tx1"/>
              </a:solidFill>
              <a:latin typeface="Quattrocento Sans"/>
            </a:endParaRPr>
          </a:p>
          <a:p>
            <a:endParaRPr lang="en-GB" sz="1800" u="sng" dirty="0">
              <a:solidFill>
                <a:schemeClr val="tx1"/>
              </a:solidFill>
              <a:latin typeface="Quattrocento Sans"/>
            </a:endParaRPr>
          </a:p>
          <a:p>
            <a:endParaRPr lang="en-GB" sz="1800" u="sng" dirty="0">
              <a:solidFill>
                <a:schemeClr val="tx1"/>
              </a:solidFill>
              <a:latin typeface="Quattrocento Sans"/>
            </a:endParaRPr>
          </a:p>
          <a:p>
            <a:endParaRPr lang="en-GB" sz="1800" u="sng" dirty="0">
              <a:solidFill>
                <a:schemeClr val="tx1"/>
              </a:solidFill>
              <a:latin typeface="Quattrocento Sans"/>
            </a:endParaRPr>
          </a:p>
          <a:p>
            <a:pPr marL="342900" indent="-190500">
              <a:buClr>
                <a:srgbClr val="FFFFFF"/>
              </a:buClr>
              <a:buSzPts val="2400"/>
            </a:pPr>
            <a:endParaRPr lang="en-GB" sz="2400" b="1" dirty="0">
              <a:solidFill>
                <a:schemeClr val="tx1"/>
              </a:solidFill>
              <a:latin typeface="Quattrocento Sans"/>
            </a:endParaRPr>
          </a:p>
          <a:p>
            <a:pPr marL="342900" indent="-190500">
              <a:buClr>
                <a:srgbClr val="FFFFFF"/>
              </a:buClr>
              <a:buSzPts val="2400"/>
            </a:pPr>
            <a:endParaRPr lang="en-GB" sz="2400" b="1" dirty="0">
              <a:solidFill>
                <a:schemeClr val="tx1"/>
              </a:solidFill>
              <a:latin typeface="Quattrocento Sans"/>
              <a:ea typeface="Quattrocento Sans"/>
              <a:cs typeface="Quattrocento Sans"/>
            </a:endParaRPr>
          </a:p>
          <a:p>
            <a:pPr marR="0" algn="l" rtl="0">
              <a:spcBef>
                <a:spcPts val="0"/>
              </a:spcBef>
              <a:spcAft>
                <a:spcPts val="0"/>
              </a:spcAft>
              <a:buFont typeface="Arial"/>
              <a:buNone/>
            </a:pPr>
            <a:endParaRPr sz="2400" b="1">
              <a:solidFill>
                <a:schemeClr val="tx1"/>
              </a:solidFill>
              <a:latin typeface="Quattrocento Sans"/>
              <a:ea typeface="Quattrocento Sans"/>
              <a:cs typeface="Quattrocento Sans"/>
            </a:endParaRPr>
          </a:p>
          <a:p>
            <a:pPr marL="800100" marR="0" lvl="1" indent="-190500" algn="l" rtl="0">
              <a:spcBef>
                <a:spcPts val="0"/>
              </a:spcBef>
              <a:spcAft>
                <a:spcPts val="0"/>
              </a:spcAft>
              <a:buClr>
                <a:srgbClr val="FFFFFF"/>
              </a:buClr>
              <a:buSzPts val="2400"/>
              <a:buNone/>
            </a:pPr>
            <a:endParaRPr lang="en-GB" sz="2400" b="1">
              <a:solidFill>
                <a:srgbClr val="FFFFFF"/>
              </a:solidFill>
              <a:latin typeface="Quattrocento Sans"/>
              <a:ea typeface="Quattrocento Sans"/>
              <a:cs typeface="Quattrocento Sans"/>
            </a:endParaRPr>
          </a:p>
          <a:p>
            <a:pPr marR="0" algn="l" rtl="0">
              <a:spcBef>
                <a:spcPts val="0"/>
              </a:spcBef>
              <a:spcAft>
                <a:spcPts val="0"/>
              </a:spcAft>
              <a:buFont typeface="Arial"/>
              <a:buNone/>
            </a:pPr>
            <a:endParaRPr lang="en-GB" sz="1800" b="1" i="0" u="none" strike="noStrike" cap="none">
              <a:solidFill>
                <a:srgbClr val="FFFFFF"/>
              </a:solidFill>
              <a:latin typeface="Quattrocento Sans"/>
              <a:ea typeface="Quattrocento Sans"/>
              <a:cs typeface="Quattrocento Sans"/>
            </a:endParaRPr>
          </a:p>
          <a:p>
            <a:pPr marR="0" algn="l" rtl="0">
              <a:spcBef>
                <a:spcPts val="0"/>
              </a:spcBef>
              <a:spcAft>
                <a:spcPts val="0"/>
              </a:spcAft>
              <a:buNone/>
            </a:pPr>
            <a:endParaRPr lang="en-GB" sz="1800" b="1">
              <a:solidFill>
                <a:srgbClr val="FFFFFF"/>
              </a:solidFill>
              <a:latin typeface="Quattrocento Sans"/>
              <a:ea typeface="Quattrocento Sans"/>
              <a:cs typeface="Quattrocento Sans"/>
            </a:endParaRPr>
          </a:p>
        </p:txBody>
      </p:sp>
      <p:pic>
        <p:nvPicPr>
          <p:cNvPr id="2" name="Picture 1" descr="A diagram of a program&#10;&#10;AI-generated content may be incorrect.">
            <a:extLst>
              <a:ext uri="{FF2B5EF4-FFF2-40B4-BE49-F238E27FC236}">
                <a16:creationId xmlns:a16="http://schemas.microsoft.com/office/drawing/2014/main" id="{0DBF148F-CF3A-24CA-CDD3-E315C51429C6}"/>
              </a:ext>
            </a:extLst>
          </p:cNvPr>
          <p:cNvPicPr>
            <a:picLocks noChangeAspect="1"/>
          </p:cNvPicPr>
          <p:nvPr/>
        </p:nvPicPr>
        <p:blipFill>
          <a:blip r:embed="rId3"/>
          <a:stretch>
            <a:fillRect/>
          </a:stretch>
        </p:blipFill>
        <p:spPr>
          <a:xfrm>
            <a:off x="1305984" y="1788644"/>
            <a:ext cx="6521447" cy="4476626"/>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55"/>
        <p:cNvGrpSpPr/>
        <p:nvPr/>
      </p:nvGrpSpPr>
      <p:grpSpPr>
        <a:xfrm>
          <a:off x="0" y="0"/>
          <a:ext cx="0" cy="0"/>
          <a:chOff x="0" y="0"/>
          <a:chExt cx="0" cy="0"/>
        </a:xfrm>
      </p:grpSpPr>
      <p:sp>
        <p:nvSpPr>
          <p:cNvPr id="256" name="Google Shape;256;p2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57" name="Google Shape;257;p21"/>
          <p:cNvSpPr/>
          <p:nvPr/>
        </p:nvSpPr>
        <p:spPr>
          <a:xfrm>
            <a:off x="467544" y="1484784"/>
            <a:ext cx="8496900" cy="48966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Use Case Diagram</a:t>
            </a:r>
            <a:endParaRPr/>
          </a:p>
          <a:p>
            <a:pPr marL="0" marR="0" lvl="0" indent="0" algn="l" rtl="0">
              <a:spcBef>
                <a:spcPts val="0"/>
              </a:spcBef>
              <a:spcAft>
                <a:spcPts val="0"/>
              </a:spcAft>
              <a:buNone/>
            </a:pPr>
            <a:r>
              <a:rPr lang="en-GB" sz="1800" u="sng">
                <a:solidFill>
                  <a:schemeClr val="lt1"/>
                </a:solidFill>
                <a:highlight>
                  <a:srgbClr val="00FF00"/>
                </a:highlight>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http://creately.com/blog/diagrams/use-case-diagram-relationships/</a:t>
            </a:r>
            <a:endParaRPr sz="1800">
              <a:solidFill>
                <a:schemeClr val="lt1"/>
              </a:solidFill>
              <a:highlight>
                <a:srgbClr val="00FF00"/>
              </a:highlight>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Relationship types</a:t>
            </a:r>
            <a:endParaRPr/>
          </a:p>
          <a:p>
            <a:pPr marL="742950" marR="0" lvl="1" indent="-285750" algn="l" rtl="0">
              <a:spcBef>
                <a:spcPts val="0"/>
              </a:spcBef>
              <a:spcAft>
                <a:spcPts val="0"/>
              </a:spcAft>
              <a:buClr>
                <a:schemeClr val="dk1"/>
              </a:buClr>
              <a:buSzPts val="1800"/>
              <a:buFont typeface="Arial"/>
              <a:buChar char="•"/>
            </a:pPr>
            <a:r>
              <a:rPr lang="en-GB" sz="1800" b="0" i="0" u="none" strike="noStrike" cap="none">
                <a:solidFill>
                  <a:schemeClr val="dk1"/>
                </a:solidFill>
                <a:latin typeface="Quattrocento Sans"/>
                <a:ea typeface="Quattrocento Sans"/>
                <a:cs typeface="Quattrocento Sans"/>
                <a:sym typeface="Quattrocento Sans"/>
              </a:rPr>
              <a:t>Association between actor and use case</a:t>
            </a:r>
            <a:endParaRPr/>
          </a:p>
          <a:p>
            <a:pPr marL="742950" marR="0" lvl="1" indent="-285750" algn="l" rtl="0">
              <a:spcBef>
                <a:spcPts val="0"/>
              </a:spcBef>
              <a:spcAft>
                <a:spcPts val="0"/>
              </a:spcAft>
              <a:buClr>
                <a:schemeClr val="dk1"/>
              </a:buClr>
              <a:buSzPts val="1800"/>
              <a:buFont typeface="Arial"/>
              <a:buChar char="•"/>
            </a:pPr>
            <a:r>
              <a:rPr lang="en-GB" sz="1800" b="0" i="0" u="none" strike="noStrike" cap="none">
                <a:solidFill>
                  <a:schemeClr val="dk1"/>
                </a:solidFill>
                <a:latin typeface="Quattrocento Sans"/>
                <a:ea typeface="Quattrocento Sans"/>
                <a:cs typeface="Quattrocento Sans"/>
                <a:sym typeface="Quattrocento Sans"/>
              </a:rPr>
              <a:t>Generalization of an actor</a:t>
            </a:r>
            <a:endParaRPr/>
          </a:p>
          <a:p>
            <a:pPr marL="742950" marR="0" lvl="1" indent="-285750" algn="l" rtl="0">
              <a:spcBef>
                <a:spcPts val="0"/>
              </a:spcBef>
              <a:spcAft>
                <a:spcPts val="0"/>
              </a:spcAft>
              <a:buClr>
                <a:schemeClr val="dk1"/>
              </a:buClr>
              <a:buSzPts val="1800"/>
              <a:buFont typeface="Arial"/>
              <a:buChar char="•"/>
            </a:pPr>
            <a:r>
              <a:rPr lang="en-GB" sz="1800" b="0" i="0" u="none" strike="noStrike" cap="none">
                <a:solidFill>
                  <a:schemeClr val="dk1"/>
                </a:solidFill>
                <a:latin typeface="Quattrocento Sans"/>
                <a:ea typeface="Quattrocento Sans"/>
                <a:cs typeface="Quattrocento Sans"/>
                <a:sym typeface="Quattrocento Sans"/>
              </a:rPr>
              <a:t>Extend between two use cases</a:t>
            </a:r>
            <a:endParaRPr/>
          </a:p>
          <a:p>
            <a:pPr marL="742950" marR="0" lvl="1" indent="-285750" algn="l" rtl="0">
              <a:spcBef>
                <a:spcPts val="0"/>
              </a:spcBef>
              <a:spcAft>
                <a:spcPts val="0"/>
              </a:spcAft>
              <a:buClr>
                <a:schemeClr val="dk1"/>
              </a:buClr>
              <a:buSzPts val="1800"/>
              <a:buFont typeface="Arial"/>
              <a:buChar char="•"/>
            </a:pPr>
            <a:r>
              <a:rPr lang="en-GB" sz="1800" b="0" i="0" u="none" strike="noStrike" cap="none">
                <a:solidFill>
                  <a:schemeClr val="dk1"/>
                </a:solidFill>
                <a:latin typeface="Quattrocento Sans"/>
                <a:ea typeface="Quattrocento Sans"/>
                <a:cs typeface="Quattrocento Sans"/>
                <a:sym typeface="Quattrocento Sans"/>
              </a:rPr>
              <a:t>Include between two use cases</a:t>
            </a:r>
            <a:endParaRPr/>
          </a:p>
          <a:p>
            <a:pPr marL="742950" marR="0" lvl="1" indent="-285750" algn="l" rtl="0">
              <a:spcBef>
                <a:spcPts val="0"/>
              </a:spcBef>
              <a:spcAft>
                <a:spcPts val="0"/>
              </a:spcAft>
              <a:buClr>
                <a:schemeClr val="dk1"/>
              </a:buClr>
              <a:buSzPts val="1800"/>
              <a:buFont typeface="Arial"/>
              <a:buChar char="•"/>
            </a:pPr>
            <a:r>
              <a:rPr lang="en-GB" sz="1800" b="0" i="0" u="none" strike="noStrike" cap="none">
                <a:solidFill>
                  <a:schemeClr val="dk1"/>
                </a:solidFill>
                <a:latin typeface="Quattrocento Sans"/>
                <a:ea typeface="Quattrocento Sans"/>
                <a:cs typeface="Quattrocento Sans"/>
                <a:sym typeface="Quattrocento Sans"/>
              </a:rPr>
              <a:t>Generalization of a use case</a:t>
            </a:r>
            <a:endParaRPr sz="18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62"/>
        <p:cNvGrpSpPr/>
        <p:nvPr/>
      </p:nvGrpSpPr>
      <p:grpSpPr>
        <a:xfrm>
          <a:off x="0" y="0"/>
          <a:ext cx="0" cy="0"/>
          <a:chOff x="0" y="0"/>
          <a:chExt cx="0" cy="0"/>
        </a:xfrm>
      </p:grpSpPr>
      <p:sp>
        <p:nvSpPr>
          <p:cNvPr id="263" name="Google Shape;263;p2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64" name="Google Shape;264;p22"/>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Use Case Diagram</a:t>
            </a:r>
            <a:endParaRPr dirty="0"/>
          </a:p>
          <a:p>
            <a:r>
              <a:rPr lang="en-GB" u="sng" dirty="0">
                <a:solidFill>
                  <a:schemeClr val="lt1"/>
                </a:solidFill>
                <a:highlight>
                  <a:srgbClr val="00FF00"/>
                </a:highlight>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http://creately.com/blog/diagrams/use-case-diagram-relationships/</a:t>
            </a:r>
            <a:br>
              <a:rPr lang="en-GB" u="sng" dirty="0">
                <a:solidFill>
                  <a:schemeClr val="lt1"/>
                </a:solidFill>
                <a:highlight>
                  <a:srgbClr val="00FF00"/>
                </a:highlight>
                <a:latin typeface="Quattrocento Sans"/>
                <a:ea typeface="Quattrocento Sans"/>
              </a:rPr>
            </a:br>
            <a:r>
              <a:rPr lang="en-GB" dirty="0">
                <a:solidFill>
                  <a:schemeClr val="tx1"/>
                </a:solidFill>
                <a:latin typeface="Quattrocento Sans"/>
                <a:ea typeface="Quattrocento Sans"/>
              </a:rPr>
              <a:t>The &lt;&lt;include&gt;&gt; relationship represents a mandatory part of a use case's workflow, where one use case's </a:t>
            </a:r>
            <a:r>
              <a:rPr lang="en-GB" dirty="0" err="1">
                <a:solidFill>
                  <a:schemeClr val="tx1"/>
                </a:solidFill>
                <a:latin typeface="Quattrocento Sans"/>
                <a:ea typeface="Quattrocento Sans"/>
              </a:rPr>
              <a:t>behavior</a:t>
            </a:r>
            <a:r>
              <a:rPr lang="en-GB" dirty="0">
                <a:solidFill>
                  <a:schemeClr val="tx1"/>
                </a:solidFill>
                <a:latin typeface="Quattrocento Sans"/>
                <a:ea typeface="Quattrocento Sans"/>
              </a:rPr>
              <a:t> is always included in another. In contrast, the &lt;&lt;extend&gt;&gt; relationship signifies optional </a:t>
            </a:r>
            <a:r>
              <a:rPr lang="en-GB" dirty="0" err="1">
                <a:solidFill>
                  <a:schemeClr val="tx1"/>
                </a:solidFill>
                <a:latin typeface="Quattrocento Sans"/>
                <a:ea typeface="Quattrocento Sans"/>
              </a:rPr>
              <a:t>behavior</a:t>
            </a:r>
            <a:r>
              <a:rPr lang="en-GB" dirty="0">
                <a:solidFill>
                  <a:schemeClr val="tx1"/>
                </a:solidFill>
                <a:latin typeface="Quattrocento Sans"/>
                <a:ea typeface="Quattrocento Sans"/>
              </a:rPr>
              <a:t> that adds functionality to a base use case under specific conditions.  </a:t>
            </a:r>
            <a:endParaRPr lang="en-GB" dirty="0">
              <a:solidFill>
                <a:schemeClr val="tx1"/>
              </a:solidFill>
              <a:highlight>
                <a:srgbClr val="00FF00"/>
              </a:highlight>
              <a:latin typeface="Quattrocento Sans"/>
              <a:ea typeface="Quattrocento Sans"/>
            </a:endParaRPr>
          </a:p>
          <a:p>
            <a:pPr marL="0" marR="0" lvl="0" indent="0" algn="l">
              <a:spcBef>
                <a:spcPts val="0"/>
              </a:spcBef>
              <a:spcAft>
                <a:spcPts val="0"/>
              </a:spcAft>
              <a:buNone/>
            </a:pPr>
            <a:endParaRPr dirty="0">
              <a:solidFill>
                <a:schemeClr val="tx1"/>
              </a:solidFill>
              <a:latin typeface="Quattrocento Sans"/>
              <a:ea typeface="Quattrocento Sans"/>
              <a:cs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Includes</a:t>
            </a:r>
            <a:endParaRPr dirty="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	The base use case is incomplete without the included use case.</a:t>
            </a:r>
            <a:endParaRPr dirty="0">
              <a:solidFill>
                <a:schemeClr val="dk1"/>
              </a:solidFill>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	The included use case is mandatory and not optional.</a:t>
            </a:r>
            <a:endParaRPr dirty="0">
              <a:solidFill>
                <a:schemeClr val="dk1"/>
              </a:solidFill>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endParaRPr lang="en-GB" sz="1800" dirty="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dirty="0">
                <a:solidFill>
                  <a:schemeClr val="dk1"/>
                </a:solidFill>
                <a:latin typeface="Quattrocento Sans"/>
                <a:ea typeface="Quattrocento Sans"/>
                <a:cs typeface="Quattrocento Sans"/>
                <a:sym typeface="Quattrocento Sans"/>
              </a:rPr>
              <a:t>Extends</a:t>
            </a:r>
            <a:endParaRPr dirty="0">
              <a:solidFill>
                <a:schemeClr val="dk1"/>
              </a:solidFill>
            </a:endParaRPr>
          </a:p>
          <a:p>
            <a:pPr marL="742950" marR="0" lvl="1" indent="-285750" algn="l" rtl="0">
              <a:spcBef>
                <a:spcPts val="0"/>
              </a:spcBef>
              <a:spcAft>
                <a:spcPts val="0"/>
              </a:spcAft>
              <a:buClr>
                <a:schemeClr val="dk1"/>
              </a:buClr>
              <a:buSzPts val="1800"/>
              <a:buFont typeface="Arial"/>
              <a:buChar char="•"/>
            </a:pPr>
            <a:r>
              <a:rPr lang="en-GB" sz="1800" b="0" i="0" u="none" strike="noStrike" cap="none" dirty="0">
                <a:solidFill>
                  <a:schemeClr val="dk1"/>
                </a:solidFill>
                <a:latin typeface="Quattrocento Sans"/>
                <a:ea typeface="Quattrocento Sans"/>
                <a:cs typeface="Quattrocento Sans"/>
                <a:sym typeface="Quattrocento Sans"/>
              </a:rPr>
              <a:t>The extending use case is dependent on the extended (base) use case. </a:t>
            </a:r>
            <a:endParaRPr dirty="0">
              <a:solidFill>
                <a:schemeClr val="dk1"/>
              </a:solidFill>
            </a:endParaRPr>
          </a:p>
          <a:p>
            <a:pPr marL="742950" marR="0" lvl="1" indent="-285750" algn="l" rtl="0">
              <a:spcBef>
                <a:spcPts val="0"/>
              </a:spcBef>
              <a:spcAft>
                <a:spcPts val="0"/>
              </a:spcAft>
              <a:buClr>
                <a:schemeClr val="dk1"/>
              </a:buClr>
              <a:buSzPts val="1800"/>
              <a:buFont typeface="Arial"/>
              <a:buChar char="•"/>
            </a:pPr>
            <a:r>
              <a:rPr lang="en-GB" sz="1800" b="0" i="0" u="none" strike="noStrike" cap="none" dirty="0">
                <a:solidFill>
                  <a:schemeClr val="dk1"/>
                </a:solidFill>
                <a:latin typeface="Quattrocento Sans"/>
                <a:ea typeface="Quattrocento Sans"/>
                <a:cs typeface="Quattrocento Sans"/>
                <a:sym typeface="Quattrocento Sans"/>
              </a:rPr>
              <a:t>The extending use case is usually optional and can be triggered conditionally.</a:t>
            </a:r>
            <a:endParaRPr dirty="0">
              <a:solidFill>
                <a:schemeClr val="dk1"/>
              </a:solidFill>
            </a:endParaRPr>
          </a:p>
          <a:p>
            <a:pPr marL="914400" marR="0" lvl="2" indent="0" algn="l" rtl="0">
              <a:spcBef>
                <a:spcPts val="0"/>
              </a:spcBef>
              <a:spcAft>
                <a:spcPts val="0"/>
              </a:spcAft>
              <a:buNone/>
            </a:pPr>
            <a:r>
              <a:rPr lang="en-GB" sz="1800" b="0" i="0" u="none" strike="noStrike" cap="none" dirty="0">
                <a:solidFill>
                  <a:schemeClr val="dk1"/>
                </a:solidFill>
                <a:latin typeface="Quattrocento Sans"/>
                <a:ea typeface="Quattrocento Sans"/>
                <a:cs typeface="Quattrocento Sans"/>
                <a:sym typeface="Quattrocento Sans"/>
              </a:rPr>
              <a:t>In the diagram you can see that the extending use case is triggered only for deposits over 10,000 or when the age is over 55.</a:t>
            </a:r>
            <a:endParaRPr dirty="0">
              <a:solidFill>
                <a:schemeClr val="dk1"/>
              </a:solidFill>
            </a:endParaRPr>
          </a:p>
          <a:p>
            <a:pPr marL="742950" marR="0" lvl="1" indent="-285750" algn="l" rtl="0">
              <a:spcBef>
                <a:spcPts val="0"/>
              </a:spcBef>
              <a:spcAft>
                <a:spcPts val="0"/>
              </a:spcAft>
              <a:buClr>
                <a:schemeClr val="dk1"/>
              </a:buClr>
              <a:buSzPts val="1800"/>
              <a:buFont typeface="Arial"/>
              <a:buChar char="•"/>
            </a:pPr>
            <a:r>
              <a:rPr lang="en-GB" sz="1800" b="0" i="0" u="none" strike="noStrike" cap="none" dirty="0">
                <a:solidFill>
                  <a:schemeClr val="dk1"/>
                </a:solidFill>
                <a:latin typeface="Quattrocento Sans"/>
                <a:ea typeface="Quattrocento Sans"/>
                <a:cs typeface="Quattrocento Sans"/>
                <a:sym typeface="Quattrocento Sans"/>
              </a:rPr>
              <a:t>The extended (base) use case must be meaningful on its own. This means it -	base use case should be independent and must not rely on the </a:t>
            </a:r>
            <a:r>
              <a:rPr lang="en-GB" sz="1800" b="0" i="0" u="none" strike="noStrike" cap="none" dirty="0" err="1">
                <a:solidFill>
                  <a:schemeClr val="dk1"/>
                </a:solidFill>
                <a:latin typeface="Quattrocento Sans"/>
                <a:ea typeface="Quattrocento Sans"/>
                <a:cs typeface="Quattrocento Sans"/>
                <a:sym typeface="Quattrocento Sans"/>
              </a:rPr>
              <a:t>behavior</a:t>
            </a:r>
            <a:r>
              <a:rPr lang="en-GB" sz="1800" b="0" i="0" u="none" strike="noStrike" cap="none" dirty="0">
                <a:solidFill>
                  <a:schemeClr val="dk1"/>
                </a:solidFill>
                <a:latin typeface="Quattrocento Sans"/>
                <a:ea typeface="Quattrocento Sans"/>
                <a:cs typeface="Quattrocento Sans"/>
                <a:sym typeface="Quattrocento Sans"/>
              </a:rPr>
              <a:t> of the 	extending use case.</a:t>
            </a:r>
            <a:endParaRPr dirty="0">
              <a:solidFill>
                <a:schemeClr val="dk1"/>
              </a:solidFill>
            </a:endParaRPr>
          </a:p>
          <a:p>
            <a:pPr marL="742950" marR="0" lvl="1" indent="-285750" algn="l">
              <a:spcBef>
                <a:spcPts val="0"/>
              </a:spcBef>
              <a:spcAft>
                <a:spcPts val="0"/>
              </a:spcAft>
              <a:buClr>
                <a:srgbClr val="FFFFFF"/>
              </a:buClr>
              <a:buSzPts val="1800"/>
              <a:buChar char="•"/>
            </a:pPr>
            <a:endParaRPr lang="en-GB" sz="1800" i="0" u="none" strike="noStrike" cap="none" dirty="0">
              <a:solidFill>
                <a:schemeClr val="dk1"/>
              </a:solidFill>
              <a:latin typeface="Quattrocento Sans"/>
              <a:ea typeface="Quattrocento Sans"/>
              <a:cs typeface="Quattrocento Sans"/>
            </a:endParaRPr>
          </a:p>
          <a:p>
            <a:pPr marL="457200" lvl="1"/>
            <a:endParaRPr lang="en-GB" sz="2400" b="1">
              <a:solidFill>
                <a:srgbClr val="FFFFFF"/>
              </a:solidFill>
              <a:latin typeface="Quattrocento Sans"/>
              <a:ea typeface="Quattrocento Sans"/>
              <a:cs typeface="Quattrocento Sans"/>
            </a:endParaRPr>
          </a:p>
          <a:p>
            <a:pPr marL="342900" marR="0" indent="-190500" algn="l" rtl="0">
              <a:spcBef>
                <a:spcPts val="0"/>
              </a:spcBef>
              <a:spcAft>
                <a:spcPts val="0"/>
              </a:spcAft>
              <a:buClr>
                <a:srgbClr val="FFFFFF"/>
              </a:buClr>
              <a:buSzPts val="2400"/>
              <a:buFont typeface="Arial"/>
              <a:buNone/>
            </a:pPr>
            <a:endParaRPr lang="en-GB" sz="2400" b="1">
              <a:solidFill>
                <a:srgbClr val="FFFFFF"/>
              </a:solidFill>
              <a:latin typeface="Quattrocento Sans"/>
              <a:ea typeface="Quattrocento Sans"/>
              <a:cs typeface="Quattrocento Sans"/>
            </a:endParaRPr>
          </a:p>
          <a:p>
            <a:pPr marL="342900" marR="0" lvl="0" indent="-190500" algn="l" rtl="0">
              <a:spcBef>
                <a:spcPts val="0"/>
              </a:spcBef>
              <a:spcAft>
                <a:spcPts val="0"/>
              </a:spcAft>
              <a:buClr>
                <a:srgbClr val="FFFFFF"/>
              </a:buClr>
              <a:buSzPts val="2400"/>
              <a:buNone/>
            </a:pPr>
            <a:endParaRPr sz="2400" b="1">
              <a:solidFill>
                <a:srgbClr val="FFFFFF"/>
              </a:solidFill>
              <a:latin typeface="Quattrocento Sans"/>
              <a:ea typeface="Quattrocento Sans"/>
              <a:cs typeface="Quattrocento Sans"/>
            </a:endParaRPr>
          </a:p>
          <a:p>
            <a:pPr marR="0" algn="l" rtl="0">
              <a:spcBef>
                <a:spcPts val="0"/>
              </a:spcBef>
              <a:spcAft>
                <a:spcPts val="0"/>
              </a:spcAft>
              <a:buFont typeface="Arial"/>
              <a:buNone/>
            </a:pPr>
            <a:endParaRPr lang="en-GB" sz="2400" b="1" i="0" u="none" strike="noStrike" cap="none">
              <a:solidFill>
                <a:srgbClr val="FFFFFF"/>
              </a:solidFill>
              <a:latin typeface="Quattrocento Sans"/>
              <a:ea typeface="Quattrocento Sans"/>
              <a:cs typeface="Quattrocento Sans"/>
            </a:endParaRPr>
          </a:p>
          <a:p>
            <a:pPr marL="800100" marR="0" lvl="1" indent="-190500" algn="l" rtl="0">
              <a:spcBef>
                <a:spcPts val="0"/>
              </a:spcBef>
              <a:spcAft>
                <a:spcPts val="0"/>
              </a:spcAft>
              <a:buClr>
                <a:srgbClr val="FFFFFF"/>
              </a:buClr>
              <a:buSzPts val="2400"/>
              <a:buNone/>
            </a:pPr>
            <a:endParaRPr lang="en-GB" sz="2400" b="1">
              <a:solidFill>
                <a:srgbClr val="FFFFFF"/>
              </a:solidFill>
              <a:latin typeface="Quattrocento Sans"/>
              <a:ea typeface="Quattrocento Sans"/>
              <a:cs typeface="Quattrocento Sans"/>
            </a:endParaRPr>
          </a:p>
          <a:p>
            <a:pPr marR="0" algn="l" rtl="0">
              <a:spcBef>
                <a:spcPts val="0"/>
              </a:spcBef>
              <a:spcAft>
                <a:spcPts val="0"/>
              </a:spcAft>
              <a:buNone/>
            </a:pPr>
            <a:endParaRPr lang="en-GB" sz="1800" b="1">
              <a:solidFill>
                <a:srgbClr val="FFFFFF"/>
              </a:solidFill>
              <a:latin typeface="Quattrocento Sans"/>
              <a:ea typeface="Quattrocento Sans"/>
              <a:cs typeface="Quattrocento Sans"/>
            </a:endParaRPr>
          </a:p>
          <a:p>
            <a:endParaRPr lang="en-GB" sz="1800" b="1">
              <a:solidFill>
                <a:srgbClr val="FFFFFF"/>
              </a:solidFill>
              <a:latin typeface="Quattrocento Sans"/>
              <a:ea typeface="Quattrocento Sans"/>
              <a:cs typeface="Quattrocento Sans"/>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69"/>
        <p:cNvGrpSpPr/>
        <p:nvPr/>
      </p:nvGrpSpPr>
      <p:grpSpPr>
        <a:xfrm>
          <a:off x="0" y="0"/>
          <a:ext cx="0" cy="0"/>
          <a:chOff x="0" y="0"/>
          <a:chExt cx="0" cy="0"/>
        </a:xfrm>
      </p:grpSpPr>
      <p:sp>
        <p:nvSpPr>
          <p:cNvPr id="270" name="Google Shape;270;p2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71" name="Google Shape;271;p23"/>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Use Case Diagram Acupuncture</a:t>
            </a:r>
            <a:endParaRPr/>
          </a:p>
          <a:p>
            <a:pPr marL="457200" marR="0" lvl="1" indent="0" algn="l" rtl="0">
              <a:spcBef>
                <a:spcPts val="0"/>
              </a:spcBef>
              <a:spcAft>
                <a:spcPts val="0"/>
              </a:spcAft>
              <a:buNone/>
            </a:pPr>
            <a:r>
              <a:rPr lang="en-GB" sz="18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Casecomplete</a:t>
            </a:r>
            <a:endParaRPr sz="18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endParaRPr>
          </a:p>
          <a:p>
            <a:pPr marL="457200" marR="0" lvl="1" indent="0" algn="l" rtl="0">
              <a:spcBef>
                <a:spcPts val="0"/>
              </a:spcBef>
              <a:spcAft>
                <a:spcPts val="0"/>
              </a:spcAft>
              <a:buNone/>
            </a:pPr>
            <a:r>
              <a:rPr lang="en-GB" sz="18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http://astah.net/</a:t>
            </a: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pic>
        <p:nvPicPr>
          <p:cNvPr id="272" name="Google Shape;272;p23"/>
          <p:cNvPicPr preferRelativeResize="0"/>
          <p:nvPr/>
        </p:nvPicPr>
        <p:blipFill rotWithShape="1">
          <a:blip r:embed="rId4">
            <a:alphaModFix/>
          </a:blip>
          <a:srcRect/>
          <a:stretch/>
        </p:blipFill>
        <p:spPr>
          <a:xfrm>
            <a:off x="1752600" y="2438400"/>
            <a:ext cx="7116168" cy="3839111"/>
          </a:xfrm>
          <a:prstGeom prst="rect">
            <a:avLst/>
          </a:prstGeom>
          <a:noFill/>
          <a:ln>
            <a:noFill/>
          </a:ln>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p2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79" name="Google Shape;279;p24"/>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Use Case Diagram</a:t>
            </a:r>
            <a:endParaRPr/>
          </a:p>
          <a:p>
            <a:pPr marL="0" marR="0" lvl="0" indent="0" algn="l" rtl="0">
              <a:spcBef>
                <a:spcPts val="0"/>
              </a:spcBef>
              <a:spcAft>
                <a:spcPts val="0"/>
              </a:spcAft>
              <a:buNone/>
            </a:pPr>
            <a:r>
              <a:rPr lang="en-GB" sz="1800" u="sng">
                <a:solidFill>
                  <a:schemeClr val="lt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http://creately.com/blog/diagrams/use-case-diagram-relationships/</a:t>
            </a:r>
            <a:endParaRPr sz="1800">
              <a:solidFill>
                <a:schemeClr val="lt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rgbClr val="FF0000"/>
                </a:solidFill>
                <a:latin typeface="Quattrocento Sans"/>
                <a:ea typeface="Quattrocento Sans"/>
                <a:cs typeface="Quattrocento Sans"/>
                <a:sym typeface="Quattrocento Sans"/>
              </a:rPr>
              <a:t>Think about an Example for 10000 Stars</a:t>
            </a:r>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4"/>
        <p:cNvGrpSpPr/>
        <p:nvPr/>
      </p:nvGrpSpPr>
      <p:grpSpPr>
        <a:xfrm>
          <a:off x="0" y="0"/>
          <a:ext cx="0" cy="0"/>
          <a:chOff x="0" y="0"/>
          <a:chExt cx="0" cy="0"/>
        </a:xfrm>
      </p:grpSpPr>
      <p:sp>
        <p:nvSpPr>
          <p:cNvPr id="285" name="Google Shape;285;p2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86" name="Google Shape;286;p25"/>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Domain Model/Class Diagram</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Domain model (class diagram)</a:t>
            </a:r>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https://en.wikipedia.org/wiki/Class_diagram</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Entities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Need</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Classes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Associations - labelled</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Aggregation - yes (maybe composition)</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Multiplicity</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Attributes- not strictly needed </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some methods </a:t>
            </a:r>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1"/>
        <p:cNvGrpSpPr/>
        <p:nvPr/>
      </p:nvGrpSpPr>
      <p:grpSpPr>
        <a:xfrm>
          <a:off x="0" y="0"/>
          <a:ext cx="0" cy="0"/>
          <a:chOff x="0" y="0"/>
          <a:chExt cx="0" cy="0"/>
        </a:xfrm>
      </p:grpSpPr>
      <p:sp>
        <p:nvSpPr>
          <p:cNvPr id="292" name="Google Shape;292;p2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293" name="Google Shape;293;p26"/>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Domain Model/Class Diagram – Model, View, Controller</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 software architectural pattern for implementing user interfaces on computers. It divides a given software application into three interconnected parts, so as to separate internal representations of information from the ways that information is presented to or accepted from the user.</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Traditionally used for desktop graphical user interfaces (GUIs), this architecture has become popular for designing web applications.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As with other software patterns, MVC expresses the "core of the solution" to a problem while allowing it to be adapted for each system.</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300" name="Google Shape;300;p27"/>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Domain Model/Class Diagram – Model, View, Controller</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Components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 central component of MVC, the model, captures the behavior of the application in terms of its problem domain, independent of the user interface.</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Model</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 model directly manages the data, logic, and rules of the application.</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View</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 view can be any output representation of information, such as a chart or a diagram. Multiple views of the same information are possible, such as a bar chart for management and a tabular view for accountants.</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Controller</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 third part, the controller, accepts input and converts it to commands for the model or view.</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307" name="Google Shape;307;p28"/>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Domain Model/Class Diagram – Model, View, Controller</a:t>
            </a:r>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Interactions</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In addition to dividing the application into three kinds of components, the model–view–controller design defines the interactions between them.</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Model</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 model stores data that is retrieved according to commands from the controller and displayed in the view.</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View</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 view generates new output to the user based on changes in the model.</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Controller</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 controller can send commands to the model to update the model's state (e.g., editing a document). It can also send commands to its associated view to change the view's presentation of the model (e.g., by scrolling through a document).</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12"/>
        <p:cNvGrpSpPr/>
        <p:nvPr/>
      </p:nvGrpSpPr>
      <p:grpSpPr>
        <a:xfrm>
          <a:off x="0" y="0"/>
          <a:ext cx="0" cy="0"/>
          <a:chOff x="0" y="0"/>
          <a:chExt cx="0" cy="0"/>
        </a:xfrm>
      </p:grpSpPr>
      <p:sp>
        <p:nvSpPr>
          <p:cNvPr id="313" name="Google Shape;313;p2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314" name="Google Shape;314;p29"/>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Domain Model/Class Diagram – Model, View, Controller</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pic>
        <p:nvPicPr>
          <p:cNvPr id="315" name="Google Shape;315;p29"/>
          <p:cNvPicPr preferRelativeResize="0"/>
          <p:nvPr/>
        </p:nvPicPr>
        <p:blipFill rotWithShape="1">
          <a:blip r:embed="rId3">
            <a:alphaModFix/>
          </a:blip>
          <a:srcRect/>
          <a:stretch/>
        </p:blipFill>
        <p:spPr>
          <a:xfrm>
            <a:off x="3962400" y="1905000"/>
            <a:ext cx="4191000" cy="4610100"/>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gf9ae691180_0_0"/>
          <p:cNvSpPr txBox="1">
            <a:spLocks noGrp="1"/>
          </p:cNvSpPr>
          <p:nvPr>
            <p:ph type="title"/>
          </p:nvPr>
        </p:nvSpPr>
        <p:spPr>
          <a:xfrm>
            <a:off x="457200" y="274638"/>
            <a:ext cx="8229600" cy="850200"/>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322" name="Google Shape;322;gf9ae691180_0_0"/>
          <p:cNvSpPr/>
          <p:nvPr/>
        </p:nvSpPr>
        <p:spPr>
          <a:xfrm>
            <a:off x="467544" y="1484784"/>
            <a:ext cx="8496900" cy="4896600"/>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Domain Model/Class Diagram Murder Riddle</a:t>
            </a:r>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pic>
        <p:nvPicPr>
          <p:cNvPr id="2" name="Picture 1" descr="A diagram of a project&#10;&#10;AI-generated content may be incorrect.">
            <a:extLst>
              <a:ext uri="{FF2B5EF4-FFF2-40B4-BE49-F238E27FC236}">
                <a16:creationId xmlns:a16="http://schemas.microsoft.com/office/drawing/2014/main" id="{EBECC260-A841-DFE2-A791-471553214B59}"/>
              </a:ext>
            </a:extLst>
          </p:cNvPr>
          <p:cNvPicPr>
            <a:picLocks noChangeAspect="1"/>
          </p:cNvPicPr>
          <p:nvPr/>
        </p:nvPicPr>
        <p:blipFill>
          <a:blip r:embed="rId3"/>
          <a:stretch>
            <a:fillRect/>
          </a:stretch>
        </p:blipFill>
        <p:spPr>
          <a:xfrm>
            <a:off x="4233" y="2027287"/>
            <a:ext cx="9135533" cy="4115759"/>
          </a:xfrm>
          <a:prstGeom prst="rect">
            <a:avLst/>
          </a:prstGeom>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3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330" name="Google Shape;330;p31"/>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Domain Model/Class Diagram</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https://en.wikipedia.org/wiki/Class_diagram</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rgbClr val="FF0000"/>
                </a:solidFill>
                <a:latin typeface="Quattrocento Sans"/>
                <a:ea typeface="Quattrocento Sans"/>
                <a:cs typeface="Quattrocento Sans"/>
                <a:sym typeface="Quattrocento Sans"/>
              </a:rPr>
              <a:t>Think about an Example for 10000 Stars</a:t>
            </a:r>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337" name="Google Shape;337;p32"/>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Diagrams Reference and Guides:</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All Diagrams</a:t>
            </a:r>
            <a:endParaRPr sz="18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endParaRPr>
          </a:p>
          <a:p>
            <a:pPr marL="457200" marR="0" lvl="1" indent="0" algn="l" rtl="0">
              <a:spcBef>
                <a:spcPts val="0"/>
              </a:spcBef>
              <a:spcAft>
                <a:spcPts val="0"/>
              </a:spcAft>
              <a:buNone/>
            </a:pPr>
            <a:r>
              <a:rPr lang="en-GB" sz="1800" b="0" i="0" u="sng" strike="noStrike" cap="none">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http://astah.net/</a:t>
            </a: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sng" strike="noStrike" cap="none">
                <a:solidFill>
                  <a:schemeClr val="dk1"/>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http://casecomplete.com/learn</a:t>
            </a: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Class/Domain Diagrams</a:t>
            </a:r>
            <a:endParaRPr/>
          </a:p>
          <a:p>
            <a:pPr marL="457200" marR="0" lvl="1" indent="0" algn="l" rtl="0">
              <a:spcBef>
                <a:spcPts val="0"/>
              </a:spcBef>
              <a:spcAft>
                <a:spcPts val="0"/>
              </a:spcAft>
              <a:buNone/>
            </a:pPr>
            <a:r>
              <a:rPr lang="en-GB" sz="1800" b="0" i="0" u="sng" strike="noStrike" cap="none">
                <a:solidFill>
                  <a:schemeClr val="dk1"/>
                </a:solidFill>
                <a:latin typeface="Quattrocento Sans"/>
                <a:ea typeface="Quattrocento Sans"/>
                <a:cs typeface="Quattrocento Sans"/>
                <a:sym typeface="Quattrocento Sans"/>
                <a:hlinkClick r:id="rId5">
                  <a:extLst>
                    <a:ext uri="{A12FA001-AC4F-418D-AE19-62706E023703}">
                      <ahyp:hlinkClr xmlns:ahyp="http://schemas.microsoft.com/office/drawing/2018/hyperlinkcolor" val="tx"/>
                    </a:ext>
                  </a:extLst>
                </a:hlinkClick>
              </a:rPr>
              <a:t>https://en.wikipedia.org/wiki/Class_diagram</a:t>
            </a: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Model View Controller</a:t>
            </a:r>
            <a:endParaRPr/>
          </a:p>
          <a:p>
            <a:pPr marL="457200" marR="0" lvl="1" indent="0" algn="l" rtl="0">
              <a:spcBef>
                <a:spcPts val="0"/>
              </a:spcBef>
              <a:spcAft>
                <a:spcPts val="0"/>
              </a:spcAft>
              <a:buNone/>
            </a:pPr>
            <a:r>
              <a:rPr lang="en-GB" sz="1800" b="0" i="0" u="sng" strike="noStrike" cap="none">
                <a:solidFill>
                  <a:schemeClr val="dk1"/>
                </a:solidFill>
                <a:latin typeface="Quattrocento Sans"/>
                <a:ea typeface="Quattrocento Sans"/>
                <a:cs typeface="Quattrocento Sans"/>
                <a:sym typeface="Quattrocento Sans"/>
                <a:hlinkClick r:id="rId6">
                  <a:extLst>
                    <a:ext uri="{A12FA001-AC4F-418D-AE19-62706E023703}">
                      <ahyp:hlinkClr xmlns:ahyp="http://schemas.microsoft.com/office/drawing/2018/hyperlinkcolor" val="tx"/>
                    </a:ext>
                  </a:extLst>
                </a:hlinkClick>
              </a:rPr>
              <a:t>https://en.wikipedia.org/wiki/Model%E2%80%93view%E2%80%93controller</a:t>
            </a: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 (Group)</a:t>
            </a:r>
            <a:endParaRPr/>
          </a:p>
        </p:txBody>
      </p:sp>
      <p:sp>
        <p:nvSpPr>
          <p:cNvPr id="344" name="Google Shape;344;p33"/>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3. Planning for CW2 3DUI Interactivity Report </a:t>
            </a:r>
            <a:r>
              <a:rPr lang="en-GB" sz="1800" b="1" i="1">
                <a:solidFill>
                  <a:srgbClr val="FFFF00"/>
                </a:solidFill>
                <a:latin typeface="Quattrocento Sans"/>
                <a:ea typeface="Quattrocento Sans"/>
                <a:cs typeface="Quattrocento Sans"/>
                <a:sym typeface="Quattrocento Sans"/>
              </a:rPr>
              <a:t>(Group Presentation, 1 per group)</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rPr>
              <a:t>c. Project Management Methodology</a:t>
            </a:r>
            <a:endParaRPr/>
          </a:p>
          <a:p>
            <a:pPr marL="457200" marR="0" lvl="1"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345" name="Google Shape;345;p33"/>
          <p:cNvSpPr/>
          <p:nvPr/>
        </p:nvSpPr>
        <p:spPr>
          <a:xfrm>
            <a:off x="7390800" y="42672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46" name="Google Shape;346;p33"/>
          <p:cNvSpPr/>
          <p:nvPr/>
        </p:nvSpPr>
        <p:spPr>
          <a:xfrm>
            <a:off x="7609141" y="44856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51"/>
        <p:cNvGrpSpPr/>
        <p:nvPr/>
      </p:nvGrpSpPr>
      <p:grpSpPr>
        <a:xfrm>
          <a:off x="0" y="0"/>
          <a:ext cx="0" cy="0"/>
          <a:chOff x="0" y="0"/>
          <a:chExt cx="0" cy="0"/>
        </a:xfrm>
      </p:grpSpPr>
      <p:sp>
        <p:nvSpPr>
          <p:cNvPr id="352" name="Google Shape;352;p3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sz="4300"/>
              <a:t>Module Scope – Working Practice</a:t>
            </a:r>
            <a:endParaRPr sz="4300"/>
          </a:p>
        </p:txBody>
      </p:sp>
      <p:sp>
        <p:nvSpPr>
          <p:cNvPr id="353" name="Google Shape;353;p34"/>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Methodology:</a:t>
            </a:r>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Working, Management and Development Techniques to achieve objectives </a:t>
            </a:r>
            <a:r>
              <a:rPr lang="en-GB" sz="2400" b="1">
                <a:solidFill>
                  <a:srgbClr val="E8402E"/>
                </a:solidFill>
                <a:latin typeface="Quattrocento Sans"/>
                <a:ea typeface="Quattrocento Sans"/>
                <a:cs typeface="Quattrocento Sans"/>
                <a:sym typeface="Quattrocento Sans"/>
              </a:rPr>
              <a:t>(2.1.8)</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Peer Review, Group Work, Organisation </a:t>
            </a:r>
            <a:r>
              <a:rPr lang="en-GB" sz="2400" b="1">
                <a:solidFill>
                  <a:srgbClr val="E8402E"/>
                </a:solidFill>
                <a:latin typeface="Quattrocento Sans"/>
                <a:ea typeface="Quattrocento Sans"/>
                <a:cs typeface="Quattrocento Sans"/>
                <a:sym typeface="Quattrocento Sans"/>
              </a:rPr>
              <a:t>(2.3.2)</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Problem Solving Strategies and Methodology </a:t>
            </a:r>
            <a:r>
              <a:rPr lang="en-GB" sz="2400" b="1">
                <a:solidFill>
                  <a:srgbClr val="FF0000"/>
                </a:solidFill>
                <a:latin typeface="Quattrocento Sans"/>
                <a:ea typeface="Quattrocento Sans"/>
                <a:cs typeface="Quattrocento Sans"/>
                <a:sym typeface="Quattrocento Sans"/>
              </a:rPr>
              <a:t>(2.1.3)</a:t>
            </a:r>
            <a:endParaRPr sz="18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354" name="Google Shape;354;p34"/>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55" name="Google Shape;355;p34"/>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356" name="Google Shape;356;p34"/>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57" name="Google Shape;357;p34"/>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358" name="Google Shape;358;p34"/>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59" name="Google Shape;359;p34"/>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360" name="Google Shape;360;p34"/>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61" name="Google Shape;361;p34"/>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66"/>
        <p:cNvGrpSpPr/>
        <p:nvPr/>
      </p:nvGrpSpPr>
      <p:grpSpPr>
        <a:xfrm>
          <a:off x="0" y="0"/>
          <a:ext cx="0" cy="0"/>
          <a:chOff x="0" y="0"/>
          <a:chExt cx="0" cy="0"/>
        </a:xfrm>
      </p:grpSpPr>
      <p:sp>
        <p:nvSpPr>
          <p:cNvPr id="367" name="Google Shape;367;p3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368" name="Google Shape;368;p35"/>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Agile</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Extreme Programming</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Waterfall</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Spiral</a:t>
            </a:r>
            <a:endParaRPr/>
          </a:p>
          <a:p>
            <a:pPr marL="0" marR="0" lvl="0" indent="0" algn="l" rtl="0">
              <a:spcBef>
                <a:spcPts val="0"/>
              </a:spcBef>
              <a:spcAft>
                <a:spcPts val="0"/>
              </a:spcAft>
              <a:buNone/>
            </a:pPr>
            <a:endParaRPr sz="24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Incremental</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369" name="Google Shape;369;p35"/>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70" name="Google Shape;370;p35"/>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371" name="Google Shape;371;p35"/>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72" name="Google Shape;372;p35"/>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373" name="Google Shape;373;p35"/>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74" name="Google Shape;374;p35"/>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375" name="Google Shape;375;p35"/>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76" name="Google Shape;376;p35"/>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1"/>
        <p:cNvGrpSpPr/>
        <p:nvPr/>
      </p:nvGrpSpPr>
      <p:grpSpPr>
        <a:xfrm>
          <a:off x="0" y="0"/>
          <a:ext cx="0" cy="0"/>
          <a:chOff x="0" y="0"/>
          <a:chExt cx="0" cy="0"/>
        </a:xfrm>
      </p:grpSpPr>
      <p:sp>
        <p:nvSpPr>
          <p:cNvPr id="382" name="Google Shape;382;p3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383" name="Google Shape;383;p36"/>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Agile</a:t>
            </a:r>
            <a:endParaRPr/>
          </a:p>
          <a:p>
            <a:pPr marL="0" marR="0" lvl="0" indent="0" algn="l" rtl="0">
              <a:spcBef>
                <a:spcPts val="0"/>
              </a:spcBef>
              <a:spcAft>
                <a:spcPts val="0"/>
              </a:spcAft>
              <a:buNone/>
            </a:pPr>
            <a:r>
              <a:rPr lang="en-GB" sz="1800" b="1"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http://agilemethodology.org/</a:t>
            </a: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 Agile movement seeks alternatives to traditional project management. Agile approaches help teams respond to unpredictability through incremental, iterative work cadences and empirical feedback. Agilists propose alternatives to waterfall, or traditional sequential development. </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Scrum emphasizes empirical feedback, team self management, and striving to build properly tested product increments within short iterations. Doing Scrum as it’s actually defined usually comes into conflict with existing habits at established non-Agile organizations.</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384" name="Google Shape;384;p36"/>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85" name="Google Shape;385;p36"/>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386" name="Google Shape;386;p36"/>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87" name="Google Shape;387;p36"/>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388" name="Google Shape;388;p36"/>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89" name="Google Shape;389;p36"/>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390" name="Google Shape;390;p36"/>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391" name="Google Shape;391;p36"/>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6"/>
        <p:cNvGrpSpPr/>
        <p:nvPr/>
      </p:nvGrpSpPr>
      <p:grpSpPr>
        <a:xfrm>
          <a:off x="0" y="0"/>
          <a:ext cx="0" cy="0"/>
          <a:chOff x="0" y="0"/>
          <a:chExt cx="0" cy="0"/>
        </a:xfrm>
      </p:grpSpPr>
      <p:sp>
        <p:nvSpPr>
          <p:cNvPr id="397" name="Google Shape;397;p3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398" name="Google Shape;398;p37"/>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Agile</a:t>
            </a:r>
            <a:endParaRPr/>
          </a:p>
          <a:p>
            <a:pPr marL="0" marR="0" lvl="0" indent="0" algn="l" rtl="0">
              <a:spcBef>
                <a:spcPts val="0"/>
              </a:spcBef>
              <a:spcAft>
                <a:spcPts val="0"/>
              </a:spcAft>
              <a:buNone/>
            </a:pPr>
            <a:r>
              <a:rPr lang="en-GB" sz="1800" b="1"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http://agilemethodology.org/</a:t>
            </a: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Quattrocento Sans"/>
                <a:ea typeface="Quattrocento Sans"/>
                <a:cs typeface="Quattrocento Sans"/>
                <a:sym typeface="Quattrocento Sans"/>
              </a:rPr>
              <a:t>Individuals and interactions over processes and tools</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Quattrocento Sans"/>
                <a:ea typeface="Quattrocento Sans"/>
                <a:cs typeface="Quattrocento Sans"/>
                <a:sym typeface="Quattrocento Sans"/>
              </a:rPr>
              <a:t>Working software over comprehensive documentation</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Quattrocento Sans"/>
                <a:ea typeface="Quattrocento Sans"/>
                <a:cs typeface="Quattrocento Sans"/>
                <a:sym typeface="Quattrocento Sans"/>
              </a:rPr>
              <a:t>Customer collaboration over contract negotiation</a:t>
            </a:r>
            <a:endParaRPr/>
          </a:p>
          <a:p>
            <a:pPr marL="285750" marR="0" lvl="0" indent="-171450" algn="l" rtl="0">
              <a:spcBef>
                <a:spcPts val="0"/>
              </a:spcBef>
              <a:spcAft>
                <a:spcPts val="0"/>
              </a:spcAft>
              <a:buClr>
                <a:schemeClr val="dk1"/>
              </a:buClr>
              <a:buSzPts val="1800"/>
              <a:buFont typeface="Arial"/>
              <a:buNone/>
            </a:pPr>
            <a:endParaRPr sz="1800">
              <a:solidFill>
                <a:schemeClr val="dk1"/>
              </a:solidFill>
              <a:latin typeface="Quattrocento Sans"/>
              <a:ea typeface="Quattrocento Sans"/>
              <a:cs typeface="Quattrocento Sans"/>
              <a:sym typeface="Quattrocento Sans"/>
            </a:endParaRPr>
          </a:p>
          <a:p>
            <a:pPr marL="285750" marR="0" lvl="0" indent="-285750" algn="l" rtl="0">
              <a:spcBef>
                <a:spcPts val="0"/>
              </a:spcBef>
              <a:spcAft>
                <a:spcPts val="0"/>
              </a:spcAft>
              <a:buClr>
                <a:schemeClr val="dk1"/>
              </a:buClr>
              <a:buSzPts val="1800"/>
              <a:buFont typeface="Arial"/>
              <a:buChar char="•"/>
            </a:pPr>
            <a:r>
              <a:rPr lang="en-GB" sz="1800">
                <a:solidFill>
                  <a:schemeClr val="dk1"/>
                </a:solidFill>
                <a:latin typeface="Quattrocento Sans"/>
                <a:ea typeface="Quattrocento Sans"/>
                <a:cs typeface="Quattrocento Sans"/>
                <a:sym typeface="Quattrocento Sans"/>
              </a:rPr>
              <a:t>Responding to change over following a plan</a:t>
            </a: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399" name="Google Shape;399;p37"/>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00" name="Google Shape;400;p37"/>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01" name="Google Shape;401;p37"/>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02" name="Google Shape;402;p37"/>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03" name="Google Shape;403;p37"/>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04" name="Google Shape;404;p37"/>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05" name="Google Shape;405;p37"/>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06" name="Google Shape;406;p37"/>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11"/>
        <p:cNvGrpSpPr/>
        <p:nvPr/>
      </p:nvGrpSpPr>
      <p:grpSpPr>
        <a:xfrm>
          <a:off x="0" y="0"/>
          <a:ext cx="0" cy="0"/>
          <a:chOff x="0" y="0"/>
          <a:chExt cx="0" cy="0"/>
        </a:xfrm>
      </p:grpSpPr>
      <p:sp>
        <p:nvSpPr>
          <p:cNvPr id="412" name="Google Shape;412;p3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413" name="Google Shape;413;p38"/>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Agile Scrum</a:t>
            </a:r>
            <a:endParaRPr/>
          </a:p>
          <a:p>
            <a:pPr marL="0" marR="0" lvl="0" indent="0" algn="l" rtl="0">
              <a:spcBef>
                <a:spcPts val="0"/>
              </a:spcBef>
              <a:spcAft>
                <a:spcPts val="0"/>
              </a:spcAft>
              <a:buNone/>
            </a:pPr>
            <a:r>
              <a:rPr lang="en-GB" sz="1800" b="1"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http://www.collab.net/sites/default/files/uploads/CollabNet_scrumreferencecard.pdf</a:t>
            </a:r>
            <a:endParaRPr sz="18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Scrum is the most popular way of introducing Agility due to its simplicity and flexibility. </a:t>
            </a:r>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Scrum emphasizes empirical feedback, team self management, and striving to build properly tested product increments within short iterations. Doing Scrum as it’s actually defined usually comes into conflict with existing habits at established non-Agile organizations.</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414" name="Google Shape;414;p38"/>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15" name="Google Shape;415;p38"/>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16" name="Google Shape;416;p38"/>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17" name="Google Shape;417;p38"/>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18" name="Google Shape;418;p38"/>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19" name="Google Shape;419;p38"/>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20" name="Google Shape;420;p38"/>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21" name="Google Shape;421;p38"/>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3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428" name="Google Shape;428;p39"/>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Simple Agile</a:t>
            </a:r>
            <a:endParaRPr/>
          </a:p>
          <a:p>
            <a:pPr marL="0" marR="0" lvl="0" indent="0" algn="l" rtl="0">
              <a:spcBef>
                <a:spcPts val="0"/>
              </a:spcBef>
              <a:spcAft>
                <a:spcPts val="0"/>
              </a:spcAft>
              <a:buNone/>
            </a:pPr>
            <a:r>
              <a:rPr lang="en-GB" sz="2000" b="1" u="sng">
                <a:solidFill>
                  <a:srgbClr val="FFFF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http://agileforall.com/new-to-agile-keep-it-very-simple/</a:t>
            </a:r>
            <a:endParaRPr sz="2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0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1.Collaborate – High Bandwidth Communication in Real Time</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2. Work Together – Follows good communication – Pairing, Paired Programming</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3. Honor Priorities – Work on Highest ranked priority story in Backlog for next iteration</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4. Respect the Customer, Process, Product, Team, and Each Other</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5. Do the simplest thing that works, then stop</a:t>
            </a:r>
            <a:endParaRPr/>
          </a:p>
          <a:p>
            <a:pPr marL="0" marR="0" lvl="0" indent="0" algn="l" rtl="0">
              <a:spcBef>
                <a:spcPts val="0"/>
              </a:spcBef>
              <a:spcAft>
                <a:spcPts val="0"/>
              </a:spcAft>
              <a:buNone/>
            </a:pPr>
            <a:r>
              <a:rPr lang="en-GB" sz="1800" b="1">
                <a:solidFill>
                  <a:schemeClr val="dk1"/>
                </a:solidFill>
                <a:latin typeface="Quattrocento Sans"/>
                <a:ea typeface="Quattrocento Sans"/>
                <a:cs typeface="Quattrocento Sans"/>
                <a:sym typeface="Quattrocento Sans"/>
              </a:rPr>
              <a:t>6. Improve every iteration</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429" name="Google Shape;429;p39"/>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30" name="Google Shape;430;p39"/>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31" name="Google Shape;431;p39"/>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32" name="Google Shape;432;p39"/>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33" name="Google Shape;433;p39"/>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34" name="Google Shape;434;p39"/>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35" name="Google Shape;435;p39"/>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36" name="Google Shape;436;p39"/>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41"/>
        <p:cNvGrpSpPr/>
        <p:nvPr/>
      </p:nvGrpSpPr>
      <p:grpSpPr>
        <a:xfrm>
          <a:off x="0" y="0"/>
          <a:ext cx="0" cy="0"/>
          <a:chOff x="0" y="0"/>
          <a:chExt cx="0" cy="0"/>
        </a:xfrm>
      </p:grpSpPr>
      <p:sp>
        <p:nvSpPr>
          <p:cNvPr id="442" name="Google Shape;442;p4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443" name="Google Shape;443;p40"/>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Waterfall</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 Waterfall software development model has sequential and distinct phases. After completing each development phase, a milestone review should be conducted. The phases of the waterfall model are “requirements analysis and definition, system and software design, implementation and unit testing, integration and system testing, operation and maintenance” (Fairley, 2009). The development cycle can only move from one phase to the next after a milestone review is conducted.</a:t>
            </a: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444" name="Google Shape;444;p40"/>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45" name="Google Shape;445;p40"/>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46" name="Google Shape;446;p40"/>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47" name="Google Shape;447;p40"/>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48" name="Google Shape;448;p40"/>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49" name="Google Shape;449;p40"/>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50" name="Google Shape;450;p40"/>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51" name="Google Shape;451;p40"/>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56"/>
        <p:cNvGrpSpPr/>
        <p:nvPr/>
      </p:nvGrpSpPr>
      <p:grpSpPr>
        <a:xfrm>
          <a:off x="0" y="0"/>
          <a:ext cx="0" cy="0"/>
          <a:chOff x="0" y="0"/>
          <a:chExt cx="0" cy="0"/>
        </a:xfrm>
      </p:grpSpPr>
      <p:sp>
        <p:nvSpPr>
          <p:cNvPr id="457" name="Google Shape;457;p4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458" name="Google Shape;458;p41"/>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Waterfall</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 waterfall development model originates in the manufacturing and construction industries: highly structured physical environments in which after-the-fact changes are prohibitively costly, if not impossible. Because no formal software development methodologies existed at the time, this hardware-oriented model was simply adapted for software development.</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459" name="Google Shape;459;p41"/>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60" name="Google Shape;460;p41"/>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61" name="Google Shape;461;p41"/>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62" name="Google Shape;462;p41"/>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63" name="Google Shape;463;p41"/>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64" name="Google Shape;464;p41"/>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65" name="Google Shape;465;p41"/>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66" name="Google Shape;466;p41"/>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pic>
        <p:nvPicPr>
          <p:cNvPr id="467" name="Google Shape;467;p41"/>
          <p:cNvPicPr preferRelativeResize="0"/>
          <p:nvPr/>
        </p:nvPicPr>
        <p:blipFill rotWithShape="1">
          <a:blip r:embed="rId3">
            <a:alphaModFix/>
          </a:blip>
          <a:srcRect/>
          <a:stretch/>
        </p:blipFill>
        <p:spPr>
          <a:xfrm>
            <a:off x="4252664" y="1343157"/>
            <a:ext cx="4495800" cy="3378272"/>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72"/>
        <p:cNvGrpSpPr/>
        <p:nvPr/>
      </p:nvGrpSpPr>
      <p:grpSpPr>
        <a:xfrm>
          <a:off x="0" y="0"/>
          <a:ext cx="0" cy="0"/>
          <a:chOff x="0" y="0"/>
          <a:chExt cx="0" cy="0"/>
        </a:xfrm>
      </p:grpSpPr>
      <p:sp>
        <p:nvSpPr>
          <p:cNvPr id="473" name="Google Shape;473;p4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474" name="Google Shape;474;p42"/>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Waterfall</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 disadvantage of the Waterfall model is that this model ignores any requirements or needs that may change as the product is being developed. By using this model, it can be difficult to make changes once the project is underway. The reasons for this limitation are the nature of the milestone reviews and the time taken between each one. Problems are caught at the milestones which may be too late. If the problems were detected earlier, they could have been fixed earlier in development (Fairley, 2009).</a:t>
            </a: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475" name="Google Shape;475;p42"/>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76" name="Google Shape;476;p42"/>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77" name="Google Shape;477;p42"/>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78" name="Google Shape;478;p42"/>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79" name="Google Shape;479;p42"/>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80" name="Google Shape;480;p42"/>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81" name="Google Shape;481;p42"/>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82" name="Google Shape;482;p42"/>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87"/>
        <p:cNvGrpSpPr/>
        <p:nvPr/>
      </p:nvGrpSpPr>
      <p:grpSpPr>
        <a:xfrm>
          <a:off x="0" y="0"/>
          <a:ext cx="0" cy="0"/>
          <a:chOff x="0" y="0"/>
          <a:chExt cx="0" cy="0"/>
        </a:xfrm>
      </p:grpSpPr>
      <p:sp>
        <p:nvSpPr>
          <p:cNvPr id="488" name="Google Shape;488;p4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489" name="Google Shape;489;p43"/>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Incremental</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Another type of development model is the incremental model. Unlike the Waterfall model where the developer attempts to create the application in one attempt, Incremental development is fragmented into increments. This type of methodology prioritises the development of essential requirements in early increments.</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After each increment is developed, the increment is tested and validated meaning that problems can be found earlier in the development cycle. As the code is developed, it may need rewriting and revalidating. This model allows the developer to “build-test-demonstrate’ progress (Fairley, 2009). Early increments can also act as prototypes that can be shown to stakeholders or used as a proof of concept .</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490" name="Google Shape;490;p43"/>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91" name="Google Shape;491;p43"/>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92" name="Google Shape;492;p43"/>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93" name="Google Shape;493;p43"/>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94" name="Google Shape;494;p43"/>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95" name="Google Shape;495;p43"/>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496" name="Google Shape;496;p43"/>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497" name="Google Shape;497;p43"/>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502"/>
        <p:cNvGrpSpPr/>
        <p:nvPr/>
      </p:nvGrpSpPr>
      <p:grpSpPr>
        <a:xfrm>
          <a:off x="0" y="0"/>
          <a:ext cx="0" cy="0"/>
          <a:chOff x="0" y="0"/>
          <a:chExt cx="0" cy="0"/>
        </a:xfrm>
      </p:grpSpPr>
      <p:sp>
        <p:nvSpPr>
          <p:cNvPr id="503" name="Google Shape;503;p4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504" name="Google Shape;504;p44"/>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Incremental</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Disadvantages of the incremental build happen when an excess amount of time is spent reworking increments. Another issue arises when the planned requirements are not developed in an increment (Fairley, 2009). </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505" name="Google Shape;505;p44"/>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06" name="Google Shape;506;p44"/>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07" name="Google Shape;507;p44"/>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08" name="Google Shape;508;p44"/>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09" name="Google Shape;509;p44"/>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10" name="Google Shape;510;p44"/>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11" name="Google Shape;511;p44"/>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12" name="Google Shape;512;p44"/>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517"/>
        <p:cNvGrpSpPr/>
        <p:nvPr/>
      </p:nvGrpSpPr>
      <p:grpSpPr>
        <a:xfrm>
          <a:off x="0" y="0"/>
          <a:ext cx="0" cy="0"/>
          <a:chOff x="0" y="0"/>
          <a:chExt cx="0" cy="0"/>
        </a:xfrm>
      </p:grpSpPr>
      <p:sp>
        <p:nvSpPr>
          <p:cNvPr id="518" name="Google Shape;518;p4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519" name="Google Shape;519;p45"/>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chemeClr val="dk1"/>
                </a:solidFill>
                <a:latin typeface="Quattrocento Sans"/>
                <a:ea typeface="Quattrocento Sans"/>
                <a:cs typeface="Quattrocento Sans"/>
                <a:sym typeface="Quattrocento Sans"/>
              </a:rPr>
              <a:t>Incremental – Iterative- Agile</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400">
                <a:solidFill>
                  <a:srgbClr val="FFFF00"/>
                </a:solidFill>
                <a:latin typeface="Quattrocento Sans"/>
                <a:ea typeface="Quattrocento Sans"/>
                <a:cs typeface="Quattrocento Sans"/>
                <a:sym typeface="Quattrocento Sans"/>
              </a:rPr>
              <a:t>Iterative </a:t>
            </a:r>
            <a:r>
              <a:rPr lang="en-GB" sz="1400">
                <a:solidFill>
                  <a:schemeClr val="dk1"/>
                </a:solidFill>
                <a:latin typeface="Quattrocento Sans"/>
                <a:ea typeface="Quattrocento Sans"/>
                <a:cs typeface="Quattrocento Sans"/>
                <a:sym typeface="Quattrocento Sans"/>
              </a:rPr>
              <a:t>- you don't finish a feature in one go. You are in a code &gt;&gt; get feedback &gt;&gt; code &gt;&gt; ... cycle. You keep iterating till done.</a:t>
            </a:r>
            <a:endParaRPr/>
          </a:p>
          <a:p>
            <a:pPr marL="0" marR="0" lvl="0" indent="0" algn="l" rtl="0">
              <a:spcBef>
                <a:spcPts val="0"/>
              </a:spcBef>
              <a:spcAft>
                <a:spcPts val="0"/>
              </a:spcAft>
              <a:buNone/>
            </a:pPr>
            <a:endParaRPr sz="1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400">
                <a:solidFill>
                  <a:srgbClr val="FFFF00"/>
                </a:solidFill>
                <a:latin typeface="Quattrocento Sans"/>
                <a:ea typeface="Quattrocento Sans"/>
                <a:cs typeface="Quattrocento Sans"/>
                <a:sym typeface="Quattrocento Sans"/>
              </a:rPr>
              <a:t>Incremental </a:t>
            </a:r>
            <a:r>
              <a:rPr lang="en-GB" sz="1400">
                <a:solidFill>
                  <a:schemeClr val="dk1"/>
                </a:solidFill>
                <a:latin typeface="Quattrocento Sans"/>
                <a:ea typeface="Quattrocento Sans"/>
                <a:cs typeface="Quattrocento Sans"/>
                <a:sym typeface="Quattrocento Sans"/>
              </a:rPr>
              <a:t>- you build as much as you need right now. You don't over-engineer or add flexibility unless the need is proven. When the need arises, you build on top of whatever already exists. (Note: differs from iterative in that you're adding new things.. vs refining something).</a:t>
            </a:r>
            <a:endParaRPr/>
          </a:p>
          <a:p>
            <a:pPr marL="0" marR="0" lvl="0" indent="0" algn="l" rtl="0">
              <a:spcBef>
                <a:spcPts val="0"/>
              </a:spcBef>
              <a:spcAft>
                <a:spcPts val="0"/>
              </a:spcAft>
              <a:buNone/>
            </a:pPr>
            <a:endParaRPr sz="1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400">
                <a:solidFill>
                  <a:srgbClr val="FFFF00"/>
                </a:solidFill>
                <a:latin typeface="Quattrocento Sans"/>
                <a:ea typeface="Quattrocento Sans"/>
                <a:cs typeface="Quattrocento Sans"/>
                <a:sym typeface="Quattrocento Sans"/>
              </a:rPr>
              <a:t>Agile</a:t>
            </a:r>
            <a:r>
              <a:rPr lang="en-GB" sz="1400">
                <a:solidFill>
                  <a:schemeClr val="dk1"/>
                </a:solidFill>
                <a:latin typeface="Quattrocento Sans"/>
                <a:ea typeface="Quattrocento Sans"/>
                <a:cs typeface="Quattrocento Sans"/>
                <a:sym typeface="Quattrocento Sans"/>
              </a:rPr>
              <a:t> - you are agile if you value the same things as listed in </a:t>
            </a:r>
            <a:r>
              <a:rPr lang="en-GB" sz="1400" u="sng">
                <a:solidFill>
                  <a:schemeClr val="dk1"/>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the agile manifesto</a:t>
            </a:r>
            <a:r>
              <a:rPr lang="en-GB" sz="1400">
                <a:solidFill>
                  <a:schemeClr val="dk1"/>
                </a:solidFill>
                <a:latin typeface="Quattrocento Sans"/>
                <a:ea typeface="Quattrocento Sans"/>
                <a:cs typeface="Quattrocento Sans"/>
                <a:sym typeface="Quattrocento Sans"/>
              </a:rPr>
              <a:t>. It also means that there is no standard template or checklist or procedure to "do agile". It doesn't overspecify.. it just states that you can use whatever practices you need to "be agile". Scrum, XP, Kanban are some of the more prescriptive 'agile' methodologies because they share the same set of values. Continuous and early feedback, frequent releases/demos, evolve design, etc.. </a:t>
            </a:r>
            <a:r>
              <a:rPr lang="en-GB" sz="1400">
                <a:solidFill>
                  <a:srgbClr val="FFFF00"/>
                </a:solidFill>
                <a:latin typeface="Quattrocento Sans"/>
                <a:ea typeface="Quattrocento Sans"/>
                <a:cs typeface="Quattrocento Sans"/>
                <a:sym typeface="Quattrocento Sans"/>
              </a:rPr>
              <a:t>hence they can be iterative and incremental.</a:t>
            </a:r>
            <a:endParaRPr/>
          </a:p>
          <a:p>
            <a:pPr marL="0" marR="0" lvl="0" indent="0" algn="l" rtl="0">
              <a:spcBef>
                <a:spcPts val="0"/>
              </a:spcBef>
              <a:spcAft>
                <a:spcPts val="0"/>
              </a:spcAft>
              <a:buNone/>
            </a:pPr>
            <a:endParaRPr sz="14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400">
                <a:solidFill>
                  <a:schemeClr val="dk1"/>
                </a:solidFill>
                <a:latin typeface="Quattrocento Sans"/>
                <a:ea typeface="Quattrocento Sans"/>
                <a:cs typeface="Quattrocento Sans"/>
                <a:sym typeface="Quattrocento Sans"/>
              </a:rPr>
              <a:t>https://stackoverflow.com/questions/11842318/difference-between-agile-and-iterative-and-incremental-development</a:t>
            </a:r>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520" name="Google Shape;520;p45"/>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21" name="Google Shape;521;p45"/>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22" name="Google Shape;522;p45"/>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23" name="Google Shape;523;p45"/>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24" name="Google Shape;524;p45"/>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25" name="Google Shape;525;p45"/>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26" name="Google Shape;526;p45"/>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27" name="Google Shape;527;p45"/>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532"/>
        <p:cNvGrpSpPr/>
        <p:nvPr/>
      </p:nvGrpSpPr>
      <p:grpSpPr>
        <a:xfrm>
          <a:off x="0" y="0"/>
          <a:ext cx="0" cy="0"/>
          <a:chOff x="0" y="0"/>
          <a:chExt cx="0" cy="0"/>
        </a:xfrm>
      </p:grpSpPr>
      <p:sp>
        <p:nvSpPr>
          <p:cNvPr id="533" name="Google Shape;533;p4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534" name="Google Shape;534;p46"/>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Spiral</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The spiral model is a risk-driven process model generator for software projects. Based on the unique risk patterns of a given project, the spiral model guides a team to adopt elements of one or more process models, such as incremental, waterfall, or evolutionary prototyping). </a:t>
            </a:r>
            <a:endParaRPr sz="1800">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535" name="Google Shape;535;p46"/>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36" name="Google Shape;536;p46"/>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37" name="Google Shape;537;p46"/>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38" name="Google Shape;538;p46"/>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39" name="Google Shape;539;p46"/>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40" name="Google Shape;540;p46"/>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41" name="Google Shape;541;p46"/>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42" name="Google Shape;542;p46"/>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547"/>
        <p:cNvGrpSpPr/>
        <p:nvPr/>
      </p:nvGrpSpPr>
      <p:grpSpPr>
        <a:xfrm>
          <a:off x="0" y="0"/>
          <a:ext cx="0" cy="0"/>
          <a:chOff x="0" y="0"/>
          <a:chExt cx="0" cy="0"/>
        </a:xfrm>
      </p:grpSpPr>
      <p:sp>
        <p:nvSpPr>
          <p:cNvPr id="548" name="Google Shape;548;p4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549" name="Google Shape;549;p47"/>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Some Examples:</a:t>
            </a:r>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00"/>
                </a:solidFill>
                <a:latin typeface="Quattrocento Sans"/>
                <a:ea typeface="Quattrocento Sans"/>
                <a:cs typeface="Quattrocento Sans"/>
                <a:sym typeface="Quattrocento Sans"/>
              </a:rPr>
              <a:t>Spiral</a:t>
            </a:r>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Boehm lists these assumptions as follows:</a:t>
            </a:r>
            <a:endParaRPr/>
          </a:p>
          <a:p>
            <a:pPr marL="342900" marR="0" lvl="0" indent="-342900" algn="l" rtl="0">
              <a:spcBef>
                <a:spcPts val="0"/>
              </a:spcBef>
              <a:spcAft>
                <a:spcPts val="0"/>
              </a:spcAft>
              <a:buClr>
                <a:schemeClr val="dk1"/>
              </a:buClr>
              <a:buSzPts val="1800"/>
              <a:buFont typeface="Quattrocento Sans"/>
              <a:buAutoNum type="arabicPeriod"/>
            </a:pPr>
            <a:r>
              <a:rPr lang="en-GB" sz="1800">
                <a:solidFill>
                  <a:schemeClr val="dk1"/>
                </a:solidFill>
                <a:latin typeface="Quattrocento Sans"/>
                <a:ea typeface="Quattrocento Sans"/>
                <a:cs typeface="Quattrocento Sans"/>
                <a:sym typeface="Quattrocento Sans"/>
              </a:rPr>
              <a:t>The requirements are known in advance of implementation.</a:t>
            </a:r>
            <a:endParaRPr/>
          </a:p>
          <a:p>
            <a:pPr marL="342900" marR="0" lvl="0" indent="-342900" algn="l" rtl="0">
              <a:spcBef>
                <a:spcPts val="0"/>
              </a:spcBef>
              <a:spcAft>
                <a:spcPts val="0"/>
              </a:spcAft>
              <a:buClr>
                <a:schemeClr val="dk1"/>
              </a:buClr>
              <a:buSzPts val="1800"/>
              <a:buFont typeface="Quattrocento Sans"/>
              <a:buAutoNum type="arabicPeriod"/>
            </a:pPr>
            <a:r>
              <a:rPr lang="en-GB" sz="1800">
                <a:solidFill>
                  <a:schemeClr val="dk1"/>
                </a:solidFill>
                <a:latin typeface="Quattrocento Sans"/>
                <a:ea typeface="Quattrocento Sans"/>
                <a:cs typeface="Quattrocento Sans"/>
                <a:sym typeface="Quattrocento Sans"/>
              </a:rPr>
              <a:t>The requirements have no unresolved, high-risk implications, such as risks due to cost, schedule, performance, safety, security, user interfaces, organizational impacts, etc.</a:t>
            </a:r>
            <a:endParaRPr/>
          </a:p>
          <a:p>
            <a:pPr marL="342900" marR="0" lvl="0" indent="-342900" algn="l" rtl="0">
              <a:spcBef>
                <a:spcPts val="0"/>
              </a:spcBef>
              <a:spcAft>
                <a:spcPts val="0"/>
              </a:spcAft>
              <a:buClr>
                <a:schemeClr val="dk1"/>
              </a:buClr>
              <a:buSzPts val="1800"/>
              <a:buFont typeface="Quattrocento Sans"/>
              <a:buAutoNum type="arabicPeriod"/>
            </a:pPr>
            <a:r>
              <a:rPr lang="en-GB" sz="1800">
                <a:solidFill>
                  <a:schemeClr val="dk1"/>
                </a:solidFill>
                <a:latin typeface="Quattrocento Sans"/>
                <a:ea typeface="Quattrocento Sans"/>
                <a:cs typeface="Quattrocento Sans"/>
                <a:sym typeface="Quattrocento Sans"/>
              </a:rPr>
              <a:t>The nature of the requirements will not change very much during development or evolution.</a:t>
            </a:r>
            <a:endParaRPr/>
          </a:p>
          <a:p>
            <a:pPr marL="342900" marR="0" lvl="0" indent="-342900" algn="l" rtl="0">
              <a:spcBef>
                <a:spcPts val="0"/>
              </a:spcBef>
              <a:spcAft>
                <a:spcPts val="0"/>
              </a:spcAft>
              <a:buClr>
                <a:schemeClr val="dk1"/>
              </a:buClr>
              <a:buSzPts val="1800"/>
              <a:buFont typeface="Quattrocento Sans"/>
              <a:buAutoNum type="arabicPeriod"/>
            </a:pPr>
            <a:r>
              <a:rPr lang="en-GB" sz="1800">
                <a:solidFill>
                  <a:schemeClr val="dk1"/>
                </a:solidFill>
                <a:latin typeface="Quattrocento Sans"/>
                <a:ea typeface="Quattrocento Sans"/>
                <a:cs typeface="Quattrocento Sans"/>
                <a:sym typeface="Quattrocento Sans"/>
              </a:rPr>
              <a:t>The requirements are compatible with all the key system stakeholders’ expectations, including users, customer, developers, maintainers, and investors.</a:t>
            </a:r>
            <a:endParaRPr/>
          </a:p>
          <a:p>
            <a:pPr marL="342900" marR="0" lvl="0" indent="-342900" algn="l" rtl="0">
              <a:spcBef>
                <a:spcPts val="0"/>
              </a:spcBef>
              <a:spcAft>
                <a:spcPts val="0"/>
              </a:spcAft>
              <a:buClr>
                <a:schemeClr val="dk1"/>
              </a:buClr>
              <a:buSzPts val="1800"/>
              <a:buFont typeface="Quattrocento Sans"/>
              <a:buAutoNum type="arabicPeriod"/>
            </a:pPr>
            <a:r>
              <a:rPr lang="en-GB" sz="1800">
                <a:solidFill>
                  <a:schemeClr val="dk1"/>
                </a:solidFill>
                <a:latin typeface="Quattrocento Sans"/>
                <a:ea typeface="Quattrocento Sans"/>
                <a:cs typeface="Quattrocento Sans"/>
                <a:sym typeface="Quattrocento Sans"/>
              </a:rPr>
              <a:t>The right architecture for implementing the requirements is well understood.</a:t>
            </a:r>
            <a:endParaRPr/>
          </a:p>
          <a:p>
            <a:pPr marL="342900" marR="0" lvl="0" indent="-342900" algn="l" rtl="0">
              <a:spcBef>
                <a:spcPts val="0"/>
              </a:spcBef>
              <a:spcAft>
                <a:spcPts val="0"/>
              </a:spcAft>
              <a:buClr>
                <a:schemeClr val="dk1"/>
              </a:buClr>
              <a:buSzPts val="1800"/>
              <a:buFont typeface="Quattrocento Sans"/>
              <a:buAutoNum type="arabicPeriod"/>
            </a:pPr>
            <a:r>
              <a:rPr lang="en-GB" sz="1800">
                <a:solidFill>
                  <a:schemeClr val="dk1"/>
                </a:solidFill>
                <a:latin typeface="Quattrocento Sans"/>
                <a:ea typeface="Quattrocento Sans"/>
                <a:cs typeface="Quattrocento Sans"/>
                <a:sym typeface="Quattrocento Sans"/>
              </a:rPr>
              <a:t>There is enough calendar time to proceed sequentially.</a:t>
            </a:r>
            <a:endParaRPr/>
          </a:p>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550" name="Google Shape;550;p47"/>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51" name="Google Shape;551;p47"/>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52" name="Google Shape;552;p47"/>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53" name="Google Shape;553;p47"/>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54" name="Google Shape;554;p47"/>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55" name="Google Shape;555;p47"/>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56" name="Google Shape;556;p47"/>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57" name="Google Shape;557;p47"/>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562"/>
        <p:cNvGrpSpPr/>
        <p:nvPr/>
      </p:nvGrpSpPr>
      <p:grpSpPr>
        <a:xfrm>
          <a:off x="0" y="0"/>
          <a:ext cx="0" cy="0"/>
          <a:chOff x="0" y="0"/>
          <a:chExt cx="0" cy="0"/>
        </a:xfrm>
      </p:grpSpPr>
      <p:sp>
        <p:nvSpPr>
          <p:cNvPr id="563" name="Google Shape;563;p48"/>
          <p:cNvSpPr/>
          <p:nvPr/>
        </p:nvSpPr>
        <p:spPr>
          <a:xfrm>
            <a:off x="1981200" y="1371600"/>
            <a:ext cx="5715000" cy="4747750"/>
          </a:xfrm>
          <a:prstGeom prst="rect">
            <a:avLst/>
          </a:prstGeom>
          <a:solidFill>
            <a:schemeClr val="dk2"/>
          </a:solidFill>
          <a:ln w="25400" cap="flat" cmpd="sng">
            <a:solidFill>
              <a:schemeClr val="dk2"/>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Quattrocento Sans"/>
              <a:ea typeface="Quattrocento Sans"/>
              <a:cs typeface="Quattrocento Sans"/>
              <a:sym typeface="Quattrocento Sans"/>
            </a:endParaRPr>
          </a:p>
        </p:txBody>
      </p:sp>
      <p:sp>
        <p:nvSpPr>
          <p:cNvPr id="564" name="Google Shape;564;p4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3960"/>
              <a:buFont typeface="Quattrocento Sans"/>
              <a:buNone/>
            </a:pPr>
            <a:r>
              <a:rPr lang="en-GB" sz="3859"/>
              <a:t>Module Scope Working Methodology</a:t>
            </a:r>
            <a:endParaRPr sz="3859"/>
          </a:p>
        </p:txBody>
      </p:sp>
      <p:sp>
        <p:nvSpPr>
          <p:cNvPr id="565" name="Google Shape;565;p48"/>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endParaRPr sz="3200" b="1">
              <a:solidFill>
                <a:srgbClr val="FF0000"/>
              </a:solidFill>
              <a:latin typeface="Quattrocento Sans"/>
              <a:ea typeface="Quattrocento Sans"/>
              <a:cs typeface="Quattrocento Sans"/>
              <a:sym typeface="Quattrocento Sans"/>
            </a:endParaRPr>
          </a:p>
        </p:txBody>
      </p:sp>
      <p:sp>
        <p:nvSpPr>
          <p:cNvPr id="566" name="Google Shape;566;p48"/>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67" name="Google Shape;567;p48"/>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68" name="Google Shape;568;p48"/>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69" name="Google Shape;569;p48"/>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70" name="Google Shape;570;p48"/>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71" name="Google Shape;571;p48"/>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72" name="Google Shape;572;p48"/>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73" name="Google Shape;573;p48"/>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pic>
        <p:nvPicPr>
          <p:cNvPr id="574" name="Google Shape;574;p48"/>
          <p:cNvPicPr preferRelativeResize="0"/>
          <p:nvPr/>
        </p:nvPicPr>
        <p:blipFill rotWithShape="1">
          <a:blip r:embed="rId3">
            <a:alphaModFix/>
          </a:blip>
          <a:srcRect/>
          <a:stretch/>
        </p:blipFill>
        <p:spPr>
          <a:xfrm>
            <a:off x="1981200" y="1447800"/>
            <a:ext cx="5715000" cy="4762500"/>
          </a:xfrm>
          <a:prstGeom prst="rect">
            <a:avLst/>
          </a:prstGeom>
          <a:noFill/>
          <a:ln>
            <a:noFill/>
          </a:ln>
        </p:spPr>
      </p:pic>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579"/>
        <p:cNvGrpSpPr/>
        <p:nvPr/>
      </p:nvGrpSpPr>
      <p:grpSpPr>
        <a:xfrm>
          <a:off x="0" y="0"/>
          <a:ext cx="0" cy="0"/>
          <a:chOff x="0" y="0"/>
          <a:chExt cx="0" cy="0"/>
        </a:xfrm>
      </p:grpSpPr>
      <p:sp>
        <p:nvSpPr>
          <p:cNvPr id="580" name="Google Shape;580;p4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 (Group)</a:t>
            </a:r>
            <a:endParaRPr/>
          </a:p>
        </p:txBody>
      </p:sp>
      <p:sp>
        <p:nvSpPr>
          <p:cNvPr id="581" name="Google Shape;581;p49"/>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3. Planning for CW2 3DUI Interactivity Report </a:t>
            </a:r>
            <a:r>
              <a:rPr lang="en-GB" sz="1800" b="1" i="1">
                <a:solidFill>
                  <a:srgbClr val="FFFF00"/>
                </a:solidFill>
                <a:latin typeface="Quattrocento Sans"/>
                <a:ea typeface="Quattrocento Sans"/>
                <a:cs typeface="Quattrocento Sans"/>
                <a:sym typeface="Quattrocento Sans"/>
              </a:rPr>
              <a:t>(Group Presentation, 1 per group)</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rPr>
              <a:t>d. Commercial Analysis</a:t>
            </a:r>
            <a:endParaRP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586"/>
        <p:cNvGrpSpPr/>
        <p:nvPr/>
      </p:nvGrpSpPr>
      <p:grpSpPr>
        <a:xfrm>
          <a:off x="0" y="0"/>
          <a:ext cx="0" cy="0"/>
          <a:chOff x="0" y="0"/>
          <a:chExt cx="0" cy="0"/>
        </a:xfrm>
      </p:grpSpPr>
      <p:sp>
        <p:nvSpPr>
          <p:cNvPr id="587" name="Google Shape;587;p5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sz="4300"/>
              <a:t>Module Scope – Working Practice</a:t>
            </a:r>
            <a:endParaRPr sz="4300"/>
          </a:p>
        </p:txBody>
      </p:sp>
      <p:sp>
        <p:nvSpPr>
          <p:cNvPr id="588" name="Google Shape;588;p50"/>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System/Commercial Analysis:</a:t>
            </a:r>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Analyse current and future requirements for system </a:t>
            </a:r>
            <a:r>
              <a:rPr lang="en-GB" sz="2400" b="1">
                <a:solidFill>
                  <a:srgbClr val="E8402E"/>
                </a:solidFill>
                <a:latin typeface="Quattrocento Sans"/>
                <a:ea typeface="Quattrocento Sans"/>
                <a:cs typeface="Quattrocento Sans"/>
                <a:sym typeface="Quattrocento Sans"/>
              </a:rPr>
              <a:t>(2.1.4)</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Deploy Theory in Evaluation </a:t>
            </a:r>
            <a:r>
              <a:rPr lang="en-GB" sz="2400" b="1">
                <a:solidFill>
                  <a:srgbClr val="E8402E"/>
                </a:solidFill>
                <a:latin typeface="Quattrocento Sans"/>
                <a:ea typeface="Quattrocento Sans"/>
                <a:cs typeface="Quattrocento Sans"/>
                <a:sym typeface="Quattrocento Sans"/>
              </a:rPr>
              <a:t>(2.1.5)</a:t>
            </a:r>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Analyse Commercial Issues </a:t>
            </a:r>
            <a:r>
              <a:rPr lang="en-GB" sz="2400" b="1">
                <a:solidFill>
                  <a:srgbClr val="FF0000"/>
                </a:solidFill>
                <a:latin typeface="Quattrocento Sans"/>
                <a:ea typeface="Quattrocento Sans"/>
                <a:cs typeface="Quattrocento Sans"/>
                <a:sym typeface="Quattrocento Sans"/>
              </a:rPr>
              <a:t>(2.1.7)</a:t>
            </a:r>
            <a:endParaRPr/>
          </a:p>
          <a:p>
            <a:pPr marL="342900" marR="0" lvl="0" indent="-190500" algn="l" rtl="0">
              <a:spcBef>
                <a:spcPts val="0"/>
              </a:spcBef>
              <a:spcAft>
                <a:spcPts val="0"/>
              </a:spcAft>
              <a:buClr>
                <a:schemeClr val="dk1"/>
              </a:buClr>
              <a:buSzPts val="2400"/>
              <a:buFont typeface="Arial"/>
              <a:buNone/>
            </a:pPr>
            <a:endParaRPr sz="2400" b="1">
              <a:solidFill>
                <a:srgbClr val="FF0000"/>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FF"/>
              </a:buClr>
              <a:buSzPts val="2400"/>
              <a:buFont typeface="Arial"/>
              <a:buChar char="•"/>
            </a:pPr>
            <a:r>
              <a:rPr lang="en-GB" sz="2400" b="1">
                <a:solidFill>
                  <a:srgbClr val="FFFFFF"/>
                </a:solidFill>
                <a:latin typeface="Quattrocento Sans"/>
                <a:ea typeface="Quattrocento Sans"/>
                <a:cs typeface="Quattrocento Sans"/>
                <a:sym typeface="Quattrocento Sans"/>
              </a:rPr>
              <a:t>Evaluate outcomes </a:t>
            </a:r>
            <a:r>
              <a:rPr lang="en-GB" sz="2400" b="1">
                <a:solidFill>
                  <a:srgbClr val="FF0000"/>
                </a:solidFill>
                <a:latin typeface="Quattrocento Sans"/>
                <a:ea typeface="Quattrocento Sans"/>
                <a:cs typeface="Quattrocento Sans"/>
                <a:sym typeface="Quattrocento Sans"/>
              </a:rPr>
              <a:t>(4.2.2)</a:t>
            </a:r>
            <a:endParaRPr sz="18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589" name="Google Shape;589;p50"/>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90" name="Google Shape;590;p50"/>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91" name="Google Shape;591;p50"/>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92" name="Google Shape;592;p50"/>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93" name="Google Shape;593;p50"/>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94" name="Google Shape;594;p50"/>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595" name="Google Shape;595;p50"/>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596" name="Google Shape;596;p50"/>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0">
  <p:cSld>
    <p:spTree>
      <p:nvGrpSpPr>
        <p:cNvPr id="1" name="Shape 601"/>
        <p:cNvGrpSpPr/>
        <p:nvPr/>
      </p:nvGrpSpPr>
      <p:grpSpPr>
        <a:xfrm>
          <a:off x="0" y="0"/>
          <a:ext cx="0" cy="0"/>
          <a:chOff x="0" y="0"/>
          <a:chExt cx="0" cy="0"/>
        </a:xfrm>
      </p:grpSpPr>
      <p:sp>
        <p:nvSpPr>
          <p:cNvPr id="602" name="Google Shape;602;p5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 (Group)</a:t>
            </a:r>
            <a:endParaRPr/>
          </a:p>
        </p:txBody>
      </p:sp>
      <p:sp>
        <p:nvSpPr>
          <p:cNvPr id="603" name="Google Shape;603;p51"/>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3. Planning for CW2 3DUI Interactivity Report </a:t>
            </a:r>
            <a:r>
              <a:rPr lang="en-GB" sz="1800" b="1" i="1">
                <a:solidFill>
                  <a:srgbClr val="FFFF00"/>
                </a:solidFill>
                <a:latin typeface="Quattrocento Sans"/>
                <a:ea typeface="Quattrocento Sans"/>
                <a:cs typeface="Quattrocento Sans"/>
                <a:sym typeface="Quattrocento Sans"/>
              </a:rPr>
              <a:t>(Group Presentation, 1 per group)</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rPr>
              <a:t>c. Commercial Analysis</a:t>
            </a:r>
            <a:endParaRPr/>
          </a:p>
        </p:txBody>
      </p:sp>
      <p:pic>
        <p:nvPicPr>
          <p:cNvPr id="604" name="Google Shape;604;p51"/>
          <p:cNvPicPr preferRelativeResize="0"/>
          <p:nvPr/>
        </p:nvPicPr>
        <p:blipFill rotWithShape="1">
          <a:blip r:embed="rId3">
            <a:alphaModFix/>
          </a:blip>
          <a:srcRect/>
          <a:stretch/>
        </p:blipFill>
        <p:spPr>
          <a:xfrm>
            <a:off x="14032" y="0"/>
            <a:ext cx="9115935" cy="6858000"/>
          </a:xfrm>
          <a:prstGeom prst="rect">
            <a:avLst/>
          </a:prstGeom>
          <a:noFill/>
          <a:ln>
            <a:noFill/>
          </a:ln>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Shape 609"/>
        <p:cNvGrpSpPr/>
        <p:nvPr/>
      </p:nvGrpSpPr>
      <p:grpSpPr>
        <a:xfrm>
          <a:off x="0" y="0"/>
          <a:ext cx="0" cy="0"/>
          <a:chOff x="0" y="0"/>
          <a:chExt cx="0" cy="0"/>
        </a:xfrm>
      </p:grpSpPr>
      <p:sp>
        <p:nvSpPr>
          <p:cNvPr id="610" name="Google Shape;610;p52"/>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sz="4300"/>
              <a:t>Module Scope – Working Practice</a:t>
            </a:r>
            <a:endParaRPr sz="4300"/>
          </a:p>
        </p:txBody>
      </p:sp>
      <p:sp>
        <p:nvSpPr>
          <p:cNvPr id="611" name="Google Shape;611;p52"/>
          <p:cNvSpPr/>
          <p:nvPr/>
        </p:nvSpPr>
        <p:spPr>
          <a:xfrm>
            <a:off x="1835696" y="1268904"/>
            <a:ext cx="6912768" cy="5589096"/>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3200" b="1">
                <a:solidFill>
                  <a:srgbClr val="FFFF00"/>
                </a:solidFill>
                <a:latin typeface="Quattrocento Sans"/>
                <a:ea typeface="Quattrocento Sans"/>
                <a:cs typeface="Quattrocento Sans"/>
                <a:sym typeface="Quattrocento Sans"/>
              </a:rPr>
              <a:t>System/Commercial Analysis:</a:t>
            </a:r>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342900" marR="0" lvl="0" indent="-342900" algn="l" rtl="0">
              <a:spcBef>
                <a:spcPts val="0"/>
              </a:spcBef>
              <a:spcAft>
                <a:spcPts val="0"/>
              </a:spcAft>
              <a:buClr>
                <a:srgbClr val="FFFF00"/>
              </a:buClr>
              <a:buSzPts val="2400"/>
              <a:buFont typeface="Arial"/>
              <a:buChar char="•"/>
            </a:pPr>
            <a:r>
              <a:rPr lang="en-GB" sz="2400" b="1">
                <a:solidFill>
                  <a:srgbClr val="FFFF00"/>
                </a:solidFill>
                <a:latin typeface="Quattrocento Sans"/>
                <a:ea typeface="Quattrocento Sans"/>
                <a:cs typeface="Quattrocento Sans"/>
                <a:sym typeface="Quattrocento Sans"/>
              </a:rPr>
              <a:t>Games Experience Questionnaire</a:t>
            </a:r>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612" name="Google Shape;612;p52"/>
          <p:cNvSpPr/>
          <p:nvPr/>
        </p:nvSpPr>
        <p:spPr>
          <a:xfrm>
            <a:off x="467544" y="1124744"/>
            <a:ext cx="1296000" cy="1296144"/>
          </a:xfrm>
          <a:prstGeom prst="rect">
            <a:avLst/>
          </a:prstGeom>
          <a:solidFill>
            <a:srgbClr val="E36C09"/>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13" name="Google Shape;613;p52"/>
          <p:cNvSpPr/>
          <p:nvPr/>
        </p:nvSpPr>
        <p:spPr>
          <a:xfrm>
            <a:off x="685885" y="1343157"/>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614" name="Google Shape;614;p52"/>
          <p:cNvSpPr/>
          <p:nvPr/>
        </p:nvSpPr>
        <p:spPr>
          <a:xfrm>
            <a:off x="467544" y="2420888"/>
            <a:ext cx="1296000" cy="1296144"/>
          </a:xfrm>
          <a:prstGeom prst="rect">
            <a:avLst/>
          </a:prstGeom>
          <a:solidFill>
            <a:srgbClr val="538CD5"/>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15" name="Google Shape;615;p52"/>
          <p:cNvSpPr/>
          <p:nvPr/>
        </p:nvSpPr>
        <p:spPr>
          <a:xfrm>
            <a:off x="685885" y="2639301"/>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616" name="Google Shape;616;p52"/>
          <p:cNvSpPr/>
          <p:nvPr/>
        </p:nvSpPr>
        <p:spPr>
          <a:xfrm>
            <a:off x="467544" y="3717032"/>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17" name="Google Shape;617;p52"/>
          <p:cNvSpPr/>
          <p:nvPr/>
        </p:nvSpPr>
        <p:spPr>
          <a:xfrm>
            <a:off x="685885" y="3935445"/>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
        <p:nvSpPr>
          <p:cNvPr id="618" name="Google Shape;618;p52"/>
          <p:cNvSpPr/>
          <p:nvPr/>
        </p:nvSpPr>
        <p:spPr>
          <a:xfrm>
            <a:off x="467544" y="5013176"/>
            <a:ext cx="1296000" cy="1296144"/>
          </a:xfrm>
          <a:prstGeom prst="rect">
            <a:avLst/>
          </a:prstGeom>
          <a:solidFill>
            <a:srgbClr val="009F3C"/>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19" name="Google Shape;619;p52"/>
          <p:cNvSpPr/>
          <p:nvPr/>
        </p:nvSpPr>
        <p:spPr>
          <a:xfrm>
            <a:off x="685885" y="5231589"/>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624"/>
        <p:cNvGrpSpPr/>
        <p:nvPr/>
      </p:nvGrpSpPr>
      <p:grpSpPr>
        <a:xfrm>
          <a:off x="0" y="0"/>
          <a:ext cx="0" cy="0"/>
          <a:chOff x="0" y="0"/>
          <a:chExt cx="0" cy="0"/>
        </a:xfrm>
      </p:grpSpPr>
      <p:sp>
        <p:nvSpPr>
          <p:cNvPr id="625" name="Google Shape;625;p53"/>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 (Group)</a:t>
            </a:r>
            <a:endParaRPr/>
          </a:p>
        </p:txBody>
      </p:sp>
      <p:sp>
        <p:nvSpPr>
          <p:cNvPr id="626" name="Google Shape;626;p53"/>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3. Planning for CW2 3DUI Interactivity Report </a:t>
            </a:r>
            <a:r>
              <a:rPr lang="en-GB" sz="1800" b="1" i="1">
                <a:solidFill>
                  <a:srgbClr val="FFFF00"/>
                </a:solidFill>
                <a:latin typeface="Quattrocento Sans"/>
                <a:ea typeface="Quattrocento Sans"/>
                <a:cs typeface="Quattrocento Sans"/>
                <a:sym typeface="Quattrocento Sans"/>
              </a:rPr>
              <a:t>(Group Presentation, 1 per group)</a:t>
            </a:r>
            <a:endParaRPr sz="1800" b="1">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u="sng">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u="sng">
                <a:solidFill>
                  <a:schemeClr val="dk1"/>
                </a:solidFill>
                <a:latin typeface="Quattrocento Sans"/>
                <a:ea typeface="Quattrocento Sans"/>
                <a:cs typeface="Quattrocento Sans"/>
                <a:sym typeface="Quattrocento Sans"/>
              </a:rPr>
              <a:t>e. Navigation Framework (with mouse and keyboard)</a:t>
            </a:r>
            <a:endParaRPr sz="2400" u="sng">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	</a:t>
            </a:r>
            <a:r>
              <a:rPr lang="en-GB" sz="1800" i="1">
                <a:solidFill>
                  <a:schemeClr val="dk1"/>
                </a:solidFill>
                <a:latin typeface="Quattrocento Sans"/>
                <a:ea typeface="Quattrocento Sans"/>
                <a:cs typeface="Quattrocento Sans"/>
                <a:sym typeface="Quattrocento Sans"/>
              </a:rPr>
              <a:t>Some Examples are:</a:t>
            </a:r>
            <a:endParaRPr sz="2400">
              <a:solidFill>
                <a:schemeClr val="dk1"/>
              </a:solidFill>
              <a:latin typeface="Quattrocento Sans"/>
              <a:ea typeface="Quattrocento Sans"/>
              <a:cs typeface="Quattrocento Sans"/>
              <a:sym typeface="Quattrocento Sans"/>
            </a:endParaRPr>
          </a:p>
          <a:p>
            <a:pPr marL="1371600" marR="0" lvl="3"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coded</a:t>
            </a:r>
            <a:r>
              <a:rPr lang="en-GB" sz="1800" b="0" i="0" u="none" strike="noStrike" cap="none">
                <a:solidFill>
                  <a:schemeClr val="dk1"/>
                </a:solidFill>
                <a:latin typeface="Quattrocento Sans"/>
                <a:ea typeface="Quattrocento Sans"/>
                <a:cs typeface="Quattrocento Sans"/>
                <a:sym typeface="Quattrocento Sans"/>
              </a:rPr>
              <a:t> controller with collision, mouse for camera zoom and object selection</a:t>
            </a:r>
            <a:endParaRPr sz="2400" b="0" i="0" u="none" strike="noStrike" cap="none">
              <a:solidFill>
                <a:schemeClr val="dk1"/>
              </a:solidFill>
              <a:latin typeface="Quattrocento Sans"/>
              <a:ea typeface="Quattrocento Sans"/>
              <a:cs typeface="Quattrocento Sans"/>
              <a:sym typeface="Quattrocento Sans"/>
            </a:endParaRPr>
          </a:p>
          <a:p>
            <a:pPr marL="1371600" marR="0" lvl="3"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Objects are Waypoints for navigation, with mouse orbit of Waypoint</a:t>
            </a:r>
            <a:endParaRPr sz="2400" b="0" i="0" u="none" strike="noStrike" cap="none">
              <a:solidFill>
                <a:schemeClr val="dk1"/>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i="1">
                <a:solidFill>
                  <a:schemeClr val="dk1"/>
                </a:solidFill>
                <a:latin typeface="Quattrocento Sans"/>
                <a:ea typeface="Quattrocento Sans"/>
                <a:cs typeface="Quattrocento Sans"/>
                <a:sym typeface="Quattrocento Sans"/>
              </a:rPr>
              <a:t>	For more see 3D User Interfaces: Theory and Practice and Lectures</a:t>
            </a:r>
            <a:endParaRPr sz="24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0" i="0" u="none" strike="noStrike" cap="none">
              <a:solidFill>
                <a:schemeClr val="dk1"/>
              </a:solidFill>
              <a:latin typeface="Quattrocento Sans"/>
              <a:ea typeface="Quattrocento Sans"/>
              <a:cs typeface="Quattrocento Sans"/>
              <a:sym typeface="Quattrocento Sans"/>
            </a:endParaRPr>
          </a:p>
        </p:txBody>
      </p:sp>
      <p:sp>
        <p:nvSpPr>
          <p:cNvPr id="627" name="Google Shape;627;p53"/>
          <p:cNvSpPr/>
          <p:nvPr/>
        </p:nvSpPr>
        <p:spPr>
          <a:xfrm>
            <a:off x="7390800" y="42672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28" name="Google Shape;628;p53"/>
          <p:cNvSpPr/>
          <p:nvPr/>
        </p:nvSpPr>
        <p:spPr>
          <a:xfrm>
            <a:off x="7609141" y="44856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633"/>
        <p:cNvGrpSpPr/>
        <p:nvPr/>
      </p:nvGrpSpPr>
      <p:grpSpPr>
        <a:xfrm>
          <a:off x="0" y="0"/>
          <a:ext cx="0" cy="0"/>
          <a:chOff x="0" y="0"/>
          <a:chExt cx="0" cy="0"/>
        </a:xfrm>
      </p:grpSpPr>
      <p:sp>
        <p:nvSpPr>
          <p:cNvPr id="634" name="Google Shape;634;p54"/>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 (Group)</a:t>
            </a:r>
            <a:endParaRPr/>
          </a:p>
        </p:txBody>
      </p:sp>
      <p:sp>
        <p:nvSpPr>
          <p:cNvPr id="635" name="Google Shape;635;p54"/>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3. Planning for CW2 3DUI Interactivity Report </a:t>
            </a:r>
            <a:r>
              <a:rPr lang="en-GB" sz="1800" b="1" i="1">
                <a:solidFill>
                  <a:srgbClr val="FFFF00"/>
                </a:solidFill>
                <a:latin typeface="Quattrocento Sans"/>
                <a:ea typeface="Quattrocento Sans"/>
                <a:cs typeface="Quattrocento Sans"/>
                <a:sym typeface="Quattrocento Sans"/>
              </a:rPr>
              <a:t>(Group Presentation, 1 per group) (cntd…)</a:t>
            </a:r>
            <a:endParaRPr sz="1800" b="1">
              <a:solidFill>
                <a:srgbClr val="FFFF00"/>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	</a:t>
            </a:r>
            <a:endParaRPr/>
          </a:p>
          <a:p>
            <a:pPr marL="457200" marR="0" lvl="1" indent="0" algn="l" rtl="0">
              <a:spcBef>
                <a:spcPts val="0"/>
              </a:spcBef>
              <a:spcAft>
                <a:spcPts val="0"/>
              </a:spcAft>
              <a:buNone/>
            </a:pPr>
            <a:r>
              <a:rPr lang="en-GB" sz="1800" b="0" i="0" u="sng" strike="noStrike" cap="none">
                <a:solidFill>
                  <a:schemeClr val="dk2"/>
                </a:solidFill>
                <a:latin typeface="Quattrocento Sans"/>
                <a:ea typeface="Quattrocento Sans"/>
                <a:cs typeface="Quattrocento Sans"/>
                <a:sym typeface="Quattrocento Sans"/>
              </a:rPr>
              <a:t>f. Interactivity (Selection and Manipulation, Triggers with mouse and keyboard)</a:t>
            </a:r>
            <a:endParaRPr sz="2400" b="0" i="0" u="sng" strike="noStrike" cap="none">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i="1">
                <a:solidFill>
                  <a:schemeClr val="dk2"/>
                </a:solidFill>
                <a:latin typeface="Quattrocento Sans"/>
                <a:ea typeface="Quattrocento Sans"/>
                <a:cs typeface="Quattrocento Sans"/>
                <a:sym typeface="Quattrocento Sans"/>
              </a:rPr>
              <a:t>	Some Examples are:</a:t>
            </a:r>
            <a:endParaRPr sz="2400">
              <a:solidFill>
                <a:schemeClr val="dk2"/>
              </a:solidFill>
              <a:latin typeface="Quattrocento Sans"/>
              <a:ea typeface="Quattrocento Sans"/>
              <a:cs typeface="Quattrocento Sans"/>
              <a:sym typeface="Quattrocento Sans"/>
            </a:endParaRPr>
          </a:p>
          <a:p>
            <a:pPr marL="1371600" marR="0" lvl="3"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3D Interaction – Unity UI 2D Buttons/Menus in 3D World Space</a:t>
            </a:r>
            <a:endParaRPr sz="2400" b="0" i="0" u="none" strike="noStrike" cap="none">
              <a:solidFill>
                <a:schemeClr val="dk2"/>
              </a:solidFill>
              <a:latin typeface="Quattrocento Sans"/>
              <a:ea typeface="Quattrocento Sans"/>
              <a:cs typeface="Quattrocento Sans"/>
              <a:sym typeface="Quattrocento Sans"/>
            </a:endParaRPr>
          </a:p>
          <a:p>
            <a:pPr marL="1371600" marR="0" lvl="3"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3D Interaction  - Mouse interaction directly with object via 3D Gimbal</a:t>
            </a:r>
            <a:endParaRPr sz="2400" b="0" i="0" u="none" strike="noStrike" cap="none">
              <a:solidFill>
                <a:schemeClr val="dk2"/>
              </a:solidFill>
              <a:latin typeface="Quattrocento Sans"/>
              <a:ea typeface="Quattrocento Sans"/>
              <a:cs typeface="Quattrocento Sans"/>
              <a:sym typeface="Quattrocento Sans"/>
            </a:endParaRPr>
          </a:p>
          <a:p>
            <a:pPr marL="1371600" marR="0" lvl="3"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2D Interaction – Unity UI 2D Heads Up Display</a:t>
            </a:r>
            <a:endParaRPr sz="2400" b="0" i="0" u="none" strike="noStrike" cap="none">
              <a:solidFill>
                <a:schemeClr val="dk2"/>
              </a:solidFill>
              <a:latin typeface="Quattrocento Sans"/>
              <a:ea typeface="Quattrocento Sans"/>
              <a:cs typeface="Quattrocento Sans"/>
              <a:sym typeface="Quattrocento Sans"/>
            </a:endParaRPr>
          </a:p>
          <a:p>
            <a:pPr marL="1371600" marR="0" lvl="3"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State changes/Triggers with keyboard</a:t>
            </a:r>
            <a:endParaRPr sz="2400" b="0" i="0" u="none" strike="noStrike" cap="none">
              <a:solidFill>
                <a:schemeClr val="dk2"/>
              </a:solidFill>
              <a:latin typeface="Quattrocento Sans"/>
              <a:ea typeface="Quattrocento Sans"/>
              <a:cs typeface="Quattrocento Sans"/>
              <a:sym typeface="Quattrocento Sans"/>
            </a:endParaRPr>
          </a:p>
          <a:p>
            <a:pPr marL="1371600" marR="0" lvl="3"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Collisions</a:t>
            </a:r>
            <a:endParaRPr sz="2400" b="0" i="0" u="none" strike="noStrike" cap="none">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i="1">
                <a:solidFill>
                  <a:schemeClr val="dk2"/>
                </a:solidFill>
                <a:latin typeface="Quattrocento Sans"/>
                <a:ea typeface="Quattrocento Sans"/>
                <a:cs typeface="Quattrocento Sans"/>
                <a:sym typeface="Quattrocento Sans"/>
              </a:rPr>
              <a:t>	For more see 3D User Interfaces: Theory and Practice and Lectures</a:t>
            </a:r>
            <a:endParaRPr/>
          </a:p>
          <a:p>
            <a:pPr marL="457200" marR="0" lvl="1" indent="0" algn="l" rtl="0">
              <a:spcBef>
                <a:spcPts val="0"/>
              </a:spcBef>
              <a:spcAft>
                <a:spcPts val="0"/>
              </a:spcAft>
              <a:buNone/>
            </a:pPr>
            <a:endParaRPr sz="2400" b="0" i="0" u="none" strike="noStrike" cap="none">
              <a:solidFill>
                <a:schemeClr val="dk2"/>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sng" strike="noStrike" cap="none">
                <a:solidFill>
                  <a:schemeClr val="dk2"/>
                </a:solidFill>
                <a:latin typeface="Quattrocento Sans"/>
                <a:ea typeface="Quattrocento Sans"/>
                <a:cs typeface="Quattrocento Sans"/>
                <a:sym typeface="Quattrocento Sans"/>
              </a:rPr>
              <a:t>g. Animation, Movement, Narrative</a:t>
            </a:r>
            <a:endParaRPr sz="2400" b="0" i="0" u="sng" strike="noStrike" cap="none">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i="1">
                <a:solidFill>
                  <a:schemeClr val="dk2"/>
                </a:solidFill>
                <a:latin typeface="Quattrocento Sans"/>
                <a:ea typeface="Quattrocento Sans"/>
                <a:cs typeface="Quattrocento Sans"/>
                <a:sym typeface="Quattrocento Sans"/>
              </a:rPr>
              <a:t>	Some Examples are:</a:t>
            </a:r>
            <a:endParaRPr sz="2400">
              <a:solidFill>
                <a:schemeClr val="dk2"/>
              </a:solidFill>
              <a:latin typeface="Quattrocento Sans"/>
              <a:ea typeface="Quattrocento Sans"/>
              <a:cs typeface="Quattrocento Sans"/>
              <a:sym typeface="Quattrocento Sans"/>
            </a:endParaRPr>
          </a:p>
          <a:p>
            <a:pPr marL="1371600" marR="0" lvl="3"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Figure and non-figure Animation, Triggered and Narrative</a:t>
            </a:r>
            <a:endParaRPr sz="2400" b="0" i="0" u="none" strike="noStrike" cap="none">
              <a:solidFill>
                <a:schemeClr val="dk2"/>
              </a:solidFill>
              <a:latin typeface="Quattrocento Sans"/>
              <a:ea typeface="Quattrocento Sans"/>
              <a:cs typeface="Quattrocento Sans"/>
              <a:sym typeface="Quattrocento Sans"/>
            </a:endParaRPr>
          </a:p>
          <a:p>
            <a:pPr marL="1371600" marR="0" lvl="3"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Transforms and Scripted Movement or Interaction</a:t>
            </a:r>
            <a:endParaRPr sz="2400" b="0" i="0" u="none" strike="noStrike" cap="none">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i="1">
                <a:solidFill>
                  <a:schemeClr val="dk2"/>
                </a:solidFill>
                <a:latin typeface="Quattrocento Sans"/>
                <a:ea typeface="Quattrocento Sans"/>
                <a:cs typeface="Quattrocento Sans"/>
                <a:sym typeface="Quattrocento Sans"/>
              </a:rPr>
              <a:t>		Investigate Unity Options</a:t>
            </a:r>
            <a:endParaRPr/>
          </a:p>
        </p:txBody>
      </p:sp>
      <p:sp>
        <p:nvSpPr>
          <p:cNvPr id="636" name="Google Shape;636;p54"/>
          <p:cNvSpPr/>
          <p:nvPr/>
        </p:nvSpPr>
        <p:spPr>
          <a:xfrm>
            <a:off x="7390800" y="42672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37" name="Google Shape;637;p54"/>
          <p:cNvSpPr/>
          <p:nvPr/>
        </p:nvSpPr>
        <p:spPr>
          <a:xfrm>
            <a:off x="7609141" y="44856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55"/>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 (Group)</a:t>
            </a:r>
            <a:endParaRPr/>
          </a:p>
        </p:txBody>
      </p:sp>
      <p:sp>
        <p:nvSpPr>
          <p:cNvPr id="644" name="Google Shape;644;p55"/>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3. Planning for CW2 3DUI Interactivity Report </a:t>
            </a:r>
            <a:r>
              <a:rPr lang="en-GB" sz="1800" b="1" i="1">
                <a:solidFill>
                  <a:srgbClr val="FFFF00"/>
                </a:solidFill>
                <a:latin typeface="Quattrocento Sans"/>
                <a:ea typeface="Quattrocento Sans"/>
                <a:cs typeface="Quattrocento Sans"/>
                <a:sym typeface="Quattrocento Sans"/>
              </a:rPr>
              <a:t>(Group Presentation, 1 per group) (cntd…)</a:t>
            </a:r>
            <a:endParaRPr/>
          </a:p>
          <a:p>
            <a:pPr marL="0" marR="0" lvl="0" indent="0" algn="l" rtl="0">
              <a:spcBef>
                <a:spcPts val="0"/>
              </a:spcBef>
              <a:spcAft>
                <a:spcPts val="0"/>
              </a:spcAft>
              <a:buNone/>
            </a:pPr>
            <a:endParaRPr sz="1800" b="1">
              <a:solidFill>
                <a:srgbClr val="FFFF00"/>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sng" strike="noStrike" cap="none">
                <a:solidFill>
                  <a:schemeClr val="dk2"/>
                </a:solidFill>
                <a:latin typeface="Quattrocento Sans"/>
                <a:ea typeface="Quattrocento Sans"/>
                <a:cs typeface="Quattrocento Sans"/>
                <a:sym typeface="Quattrocento Sans"/>
              </a:rPr>
              <a:t>g. Lighting, Shaders, and Texturing</a:t>
            </a:r>
            <a:endParaRPr/>
          </a:p>
          <a:p>
            <a:pPr marL="457200" marR="0" lvl="1"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	</a:t>
            </a:r>
            <a:r>
              <a:rPr lang="en-GB" sz="1800" b="0" i="1" u="none" strike="noStrike" cap="none">
                <a:solidFill>
                  <a:schemeClr val="dk2"/>
                </a:solidFill>
                <a:latin typeface="Quattrocento Sans"/>
                <a:ea typeface="Quattrocento Sans"/>
                <a:cs typeface="Quattrocento Sans"/>
                <a:sym typeface="Quattrocento Sans"/>
              </a:rPr>
              <a:t>Examples: Provisional Plans based on work and learning so far</a:t>
            </a:r>
            <a:endParaRPr sz="2400" b="0" i="1" u="none" strike="noStrike" cap="none">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1800" i="1">
                <a:solidFill>
                  <a:schemeClr val="dk2"/>
                </a:solidFill>
                <a:latin typeface="Quattrocento Sans"/>
                <a:ea typeface="Quattrocento Sans"/>
                <a:cs typeface="Quattrocento Sans"/>
                <a:sym typeface="Quattrocento Sans"/>
              </a:rPr>
              <a:t>	Investigate Unity Options - URP - Universal Render Pipeline</a:t>
            </a:r>
            <a:endParaRPr/>
          </a:p>
          <a:p>
            <a:pPr marL="0" marR="0" lvl="0" indent="0" algn="l" rtl="0">
              <a:spcBef>
                <a:spcPts val="0"/>
              </a:spcBef>
              <a:spcAft>
                <a:spcPts val="0"/>
              </a:spcAft>
              <a:buNone/>
            </a:pPr>
            <a:endParaRPr sz="2400">
              <a:solidFill>
                <a:schemeClr val="dk2"/>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sng" strike="noStrike" cap="none">
                <a:solidFill>
                  <a:schemeClr val="dk2"/>
                </a:solidFill>
                <a:latin typeface="Quattrocento Sans"/>
                <a:ea typeface="Quattrocento Sans"/>
                <a:cs typeface="Quattrocento Sans"/>
                <a:sym typeface="Quattrocento Sans"/>
              </a:rPr>
              <a:t>h. Discuss 3D UI Efficacy</a:t>
            </a:r>
            <a:endParaRPr sz="2400" b="0" i="0" u="sng" strike="noStrike" cap="none">
              <a:solidFill>
                <a:schemeClr val="dk2"/>
              </a:solidFill>
              <a:latin typeface="Quattrocento Sans"/>
              <a:ea typeface="Quattrocento Sans"/>
              <a:cs typeface="Quattrocento Sans"/>
              <a:sym typeface="Quattrocento Sans"/>
            </a:endParaRPr>
          </a:p>
          <a:p>
            <a:pPr marL="914400" marR="0" lvl="2"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Conceptual  Control to Task mapping</a:t>
            </a:r>
            <a:endParaRPr sz="2400" b="0" i="0" u="none" strike="noStrike" cap="none">
              <a:solidFill>
                <a:schemeClr val="dk2"/>
              </a:solidFill>
              <a:latin typeface="Quattrocento Sans"/>
              <a:ea typeface="Quattrocento Sans"/>
              <a:cs typeface="Quattrocento Sans"/>
              <a:sym typeface="Quattrocento Sans"/>
            </a:endParaRPr>
          </a:p>
          <a:p>
            <a:pPr marL="914400" marR="0" lvl="2"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Perceptual structure, cognitive load and any disconnect</a:t>
            </a:r>
            <a:endParaRPr sz="2400" b="0" i="0" u="none" strike="noStrike" cap="none">
              <a:solidFill>
                <a:schemeClr val="dk2"/>
              </a:solidFill>
              <a:latin typeface="Quattrocento Sans"/>
              <a:ea typeface="Quattrocento Sans"/>
              <a:cs typeface="Quattrocento Sans"/>
              <a:sym typeface="Quattrocento Sans"/>
            </a:endParaRPr>
          </a:p>
          <a:p>
            <a:pPr marL="914400" marR="0" lvl="2" indent="0" algn="l" rtl="0">
              <a:spcBef>
                <a:spcPts val="0"/>
              </a:spcBef>
              <a:spcAft>
                <a:spcPts val="0"/>
              </a:spcAft>
              <a:buNone/>
            </a:pPr>
            <a:r>
              <a:rPr lang="en-GB" sz="1800" b="0" i="0" u="none" strike="noStrike" cap="none">
                <a:solidFill>
                  <a:schemeClr val="dk2"/>
                </a:solidFill>
                <a:latin typeface="Quattrocento Sans"/>
                <a:ea typeface="Quattrocento Sans"/>
                <a:cs typeface="Quattrocento Sans"/>
                <a:sym typeface="Quattrocento Sans"/>
              </a:rPr>
              <a:t>Motor coordination and any tiring or clash</a:t>
            </a:r>
            <a:endParaRPr/>
          </a:p>
          <a:p>
            <a:pPr marL="914400" marR="0" lvl="2" indent="0" algn="l" rtl="0">
              <a:spcBef>
                <a:spcPts val="0"/>
              </a:spcBef>
              <a:spcAft>
                <a:spcPts val="0"/>
              </a:spcAft>
              <a:buNone/>
            </a:pPr>
            <a:endParaRPr sz="1800" b="0" i="0" u="none" strike="noStrike" cap="none">
              <a:solidFill>
                <a:schemeClr val="dk2"/>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chemeClr val="dk2"/>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chemeClr val="dk2"/>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2"/>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chemeClr val="dk2"/>
              </a:solidFill>
              <a:latin typeface="Quattrocento Sans"/>
              <a:ea typeface="Quattrocento Sans"/>
              <a:cs typeface="Quattrocento Sans"/>
              <a:sym typeface="Quattrocento Sans"/>
            </a:endParaRPr>
          </a:p>
        </p:txBody>
      </p:sp>
      <p:sp>
        <p:nvSpPr>
          <p:cNvPr id="645" name="Google Shape;645;p55"/>
          <p:cNvSpPr/>
          <p:nvPr/>
        </p:nvSpPr>
        <p:spPr>
          <a:xfrm>
            <a:off x="7390800" y="42672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46" name="Google Shape;646;p55"/>
          <p:cNvSpPr/>
          <p:nvPr/>
        </p:nvSpPr>
        <p:spPr>
          <a:xfrm>
            <a:off x="7609141" y="44856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651"/>
        <p:cNvGrpSpPr/>
        <p:nvPr/>
      </p:nvGrpSpPr>
      <p:grpSpPr>
        <a:xfrm>
          <a:off x="0" y="0"/>
          <a:ext cx="0" cy="0"/>
          <a:chOff x="0" y="0"/>
          <a:chExt cx="0" cy="0"/>
        </a:xfrm>
      </p:grpSpPr>
      <p:sp>
        <p:nvSpPr>
          <p:cNvPr id="652" name="Google Shape;652;p56"/>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a:t>
            </a:r>
            <a:endParaRPr/>
          </a:p>
        </p:txBody>
      </p:sp>
      <p:sp>
        <p:nvSpPr>
          <p:cNvPr id="653" name="Google Shape;653;p56"/>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457200" marR="0" lvl="1" indent="0" algn="l" rtl="0">
              <a:spcBef>
                <a:spcPts val="0"/>
              </a:spcBef>
              <a:spcAft>
                <a:spcPts val="0"/>
              </a:spcAft>
              <a:buNone/>
            </a:pPr>
            <a:r>
              <a:rPr lang="en-GB" sz="2400" b="1" i="0" u="none" strike="noStrike" cap="none">
                <a:solidFill>
                  <a:srgbClr val="FFFF00"/>
                </a:solidFill>
                <a:latin typeface="Quattrocento Sans"/>
                <a:ea typeface="Quattrocento Sans"/>
                <a:cs typeface="Quattrocento Sans"/>
                <a:sym typeface="Quattrocento Sans"/>
              </a:rPr>
              <a:t>Remember – CW1 is initial planning – Group Report (3)</a:t>
            </a:r>
            <a:endParaRPr/>
          </a:p>
          <a:p>
            <a:pPr marL="914400" marR="0" lvl="1" indent="-457200" algn="l" rtl="0">
              <a:spcBef>
                <a:spcPts val="0"/>
              </a:spcBef>
              <a:spcAft>
                <a:spcPts val="0"/>
              </a:spcAft>
              <a:buClr>
                <a:schemeClr val="dk1"/>
              </a:buClr>
              <a:buSzPts val="1800"/>
              <a:buFont typeface="Quattrocento Sans"/>
              <a:buAutoNum type="alphaLcPeriod"/>
            </a:pPr>
            <a:r>
              <a:rPr lang="en-GB" sz="1800" b="1" i="0" u="sng" strike="noStrike" cap="none">
                <a:solidFill>
                  <a:schemeClr val="dk1"/>
                </a:solidFill>
                <a:latin typeface="Quattrocento Sans"/>
                <a:ea typeface="Quattrocento Sans"/>
                <a:cs typeface="Quattrocento Sans"/>
                <a:sym typeface="Quattrocento Sans"/>
              </a:rPr>
              <a:t>Overview</a:t>
            </a:r>
            <a:endParaRPr/>
          </a:p>
          <a:p>
            <a:pPr marL="1371600" marR="0" lvl="2" indent="-457200" algn="l" rtl="0">
              <a:spcBef>
                <a:spcPts val="0"/>
              </a:spcBef>
              <a:spcAft>
                <a:spcPts val="0"/>
              </a:spcAft>
              <a:buClr>
                <a:schemeClr val="dk1"/>
              </a:buClr>
              <a:buSzPts val="1800"/>
              <a:buFont typeface="Quattrocento Sans"/>
              <a:buAutoNum type="alphaLcPeriod"/>
            </a:pPr>
            <a:r>
              <a:rPr lang="en-GB" sz="1800" b="1" i="0" u="none" strike="noStrike" cap="none">
                <a:solidFill>
                  <a:schemeClr val="dk1"/>
                </a:solidFill>
                <a:latin typeface="Quattrocento Sans"/>
                <a:ea typeface="Quattrocento Sans"/>
                <a:cs typeface="Quattrocento Sans"/>
                <a:sym typeface="Quattrocento Sans"/>
              </a:rPr>
              <a:t>Research/Reference</a:t>
            </a:r>
            <a:endParaRPr/>
          </a:p>
          <a:p>
            <a:pPr marL="1371600" marR="0" lvl="2" indent="-457200" algn="l" rtl="0">
              <a:spcBef>
                <a:spcPts val="0"/>
              </a:spcBef>
              <a:spcAft>
                <a:spcPts val="0"/>
              </a:spcAft>
              <a:buClr>
                <a:schemeClr val="dk1"/>
              </a:buClr>
              <a:buSzPts val="1800"/>
              <a:buFont typeface="Quattrocento Sans"/>
              <a:buAutoNum type="alphaLcPeriod"/>
            </a:pPr>
            <a:r>
              <a:rPr lang="en-GB" sz="1800" b="1" i="0" u="none" strike="noStrike" cap="none">
                <a:solidFill>
                  <a:schemeClr val="dk1"/>
                </a:solidFill>
                <a:latin typeface="Quattrocento Sans"/>
                <a:ea typeface="Quattrocento Sans"/>
                <a:cs typeface="Quattrocento Sans"/>
                <a:sym typeface="Quattrocento Sans"/>
              </a:rPr>
              <a:t>Problem, Project Concept</a:t>
            </a:r>
            <a:endParaRPr/>
          </a:p>
          <a:p>
            <a:pPr marL="1371600" marR="0" lvl="2" indent="-457200" algn="l" rtl="0">
              <a:spcBef>
                <a:spcPts val="0"/>
              </a:spcBef>
              <a:spcAft>
                <a:spcPts val="0"/>
              </a:spcAft>
              <a:buClr>
                <a:schemeClr val="dk1"/>
              </a:buClr>
              <a:buSzPts val="1800"/>
              <a:buFont typeface="Quattrocento Sans"/>
              <a:buAutoNum type="alphaLcPeriod"/>
            </a:pPr>
            <a:r>
              <a:rPr lang="en-GB" sz="1800" b="1" i="0" u="none" strike="noStrike" cap="none">
                <a:solidFill>
                  <a:schemeClr val="dk1"/>
                </a:solidFill>
                <a:latin typeface="Quattrocento Sans"/>
                <a:ea typeface="Quattrocento Sans"/>
                <a:cs typeface="Quattrocento Sans"/>
                <a:sym typeface="Quattrocento Sans"/>
              </a:rPr>
              <a:t>3DUI Theory and concepts used</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b.	</a:t>
            </a:r>
            <a:r>
              <a:rPr lang="en-GB" sz="1800" b="1" i="0" u="sng" strike="noStrike" cap="none">
                <a:solidFill>
                  <a:schemeClr val="dk1"/>
                </a:solidFill>
                <a:latin typeface="Quattrocento Sans"/>
                <a:ea typeface="Quattrocento Sans"/>
                <a:cs typeface="Quattrocento Sans"/>
                <a:sym typeface="Quattrocento Sans"/>
              </a:rPr>
              <a:t>Design – (Diagrams, MVC)</a:t>
            </a:r>
            <a:endParaRPr/>
          </a:p>
          <a:p>
            <a:pPr marL="1371600" marR="0" lvl="2"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Storyboard/Flowchart</a:t>
            </a:r>
            <a:endParaRPr/>
          </a:p>
          <a:p>
            <a:pPr marL="1371600" marR="0" lvl="2"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Use Case Diagram</a:t>
            </a:r>
            <a:endParaRPr/>
          </a:p>
          <a:p>
            <a:pPr marL="1371600" marR="0" lvl="2"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Domain/Class Diagram</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c.	</a:t>
            </a:r>
            <a:r>
              <a:rPr lang="en-GB" sz="1800" b="1" i="0" u="sng" strike="noStrike" cap="none">
                <a:solidFill>
                  <a:schemeClr val="dk1"/>
                </a:solidFill>
                <a:latin typeface="Quattrocento Sans"/>
                <a:ea typeface="Quattrocento Sans"/>
                <a:cs typeface="Quattrocento Sans"/>
                <a:sym typeface="Quattrocento Sans"/>
              </a:rPr>
              <a:t>Project Methodology</a:t>
            </a:r>
            <a:endParaRPr/>
          </a:p>
          <a:p>
            <a:pPr marL="1371600" marR="0" lvl="2"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Agile, Extreme, Waterfall, Spiral</a:t>
            </a:r>
            <a:endParaRPr/>
          </a:p>
          <a:p>
            <a:pPr marL="457200" marR="0" lvl="1" indent="0" algn="l" rtl="0">
              <a:spcBef>
                <a:spcPts val="0"/>
              </a:spcBef>
              <a:spcAft>
                <a:spcPts val="0"/>
              </a:spcAft>
              <a:buNone/>
            </a:pPr>
            <a:r>
              <a:rPr lang="en-GB" sz="1800" b="1" i="0" u="none" strike="noStrike" cap="none">
                <a:solidFill>
                  <a:schemeClr val="dk1"/>
                </a:solidFill>
                <a:latin typeface="Quattrocento Sans"/>
                <a:ea typeface="Quattrocento Sans"/>
                <a:cs typeface="Quattrocento Sans"/>
                <a:sym typeface="Quattrocento Sans"/>
              </a:rPr>
              <a:t>d.	</a:t>
            </a:r>
            <a:r>
              <a:rPr lang="en-GB" sz="1800" b="1" i="0" u="sng" strike="noStrike" cap="none">
                <a:solidFill>
                  <a:schemeClr val="dk1"/>
                </a:solidFill>
                <a:latin typeface="Quattrocento Sans"/>
                <a:ea typeface="Quattrocento Sans"/>
                <a:cs typeface="Quattrocento Sans"/>
                <a:sym typeface="Quattrocento Sans"/>
              </a:rPr>
              <a:t>Commercial Analysis</a:t>
            </a:r>
            <a:endParaRPr/>
          </a:p>
          <a:p>
            <a:pPr marL="1371600" marR="0" lvl="2" indent="-457200" algn="l" rtl="0">
              <a:spcBef>
                <a:spcPts val="0"/>
              </a:spcBef>
              <a:spcAft>
                <a:spcPts val="0"/>
              </a:spcAft>
              <a:buClr>
                <a:schemeClr val="dk1"/>
              </a:buClr>
              <a:buSzPts val="1800"/>
              <a:buFont typeface="Quattrocento Sans"/>
              <a:buAutoNum type="arabicPeriod"/>
            </a:pPr>
            <a:r>
              <a:rPr lang="en-GB" sz="1800" b="1" i="0" u="none" strike="noStrike" cap="none">
                <a:solidFill>
                  <a:schemeClr val="dk1"/>
                </a:solidFill>
                <a:latin typeface="Quattrocento Sans"/>
                <a:ea typeface="Quattrocento Sans"/>
                <a:cs typeface="Quattrocento Sans"/>
                <a:sym typeface="Quattrocento Sans"/>
              </a:rPr>
              <a:t>Current/Future Requirements, Theory, Commercial Issues, UI Sentiment</a:t>
            </a:r>
            <a:endParaRPr/>
          </a:p>
          <a:p>
            <a:pPr marL="800100" marR="0" lvl="1" indent="-342900" algn="l" rtl="0">
              <a:spcBef>
                <a:spcPts val="0"/>
              </a:spcBef>
              <a:spcAft>
                <a:spcPts val="0"/>
              </a:spcAft>
              <a:buClr>
                <a:schemeClr val="dk1"/>
              </a:buClr>
              <a:buSzPts val="1800"/>
              <a:buFont typeface="Quattrocento Sans"/>
              <a:buAutoNum type="alphaLcPeriod" startAt="5"/>
            </a:pPr>
            <a:r>
              <a:rPr lang="en-GB" sz="1800" b="1" i="0" u="sng" strike="noStrike" cap="none">
                <a:solidFill>
                  <a:schemeClr val="dk1"/>
                </a:solidFill>
                <a:latin typeface="Quattrocento Sans"/>
                <a:ea typeface="Quattrocento Sans"/>
                <a:cs typeface="Quattrocento Sans"/>
                <a:sym typeface="Quattrocento Sans"/>
              </a:rPr>
              <a:t>Interactivity (Selection and Manipulation)</a:t>
            </a:r>
            <a:endParaRPr/>
          </a:p>
          <a:p>
            <a:pPr marL="800100" marR="0" lvl="1" indent="-342900" algn="l" rtl="0">
              <a:spcBef>
                <a:spcPts val="0"/>
              </a:spcBef>
              <a:spcAft>
                <a:spcPts val="0"/>
              </a:spcAft>
              <a:buClr>
                <a:schemeClr val="dk1"/>
              </a:buClr>
              <a:buSzPts val="1800"/>
              <a:buFont typeface="Quattrocento Sans"/>
              <a:buAutoNum type="alphaLcPeriod" startAt="5"/>
            </a:pPr>
            <a:r>
              <a:rPr lang="en-GB" sz="1800" b="1" i="0" u="sng" strike="noStrike" cap="none">
                <a:solidFill>
                  <a:schemeClr val="dk1"/>
                </a:solidFill>
                <a:latin typeface="Quattrocento Sans"/>
                <a:ea typeface="Quattrocento Sans"/>
                <a:cs typeface="Quattrocento Sans"/>
                <a:sym typeface="Quattrocento Sans"/>
              </a:rPr>
              <a:t>Animation, Movement, Narrative</a:t>
            </a:r>
            <a:endParaRPr/>
          </a:p>
          <a:p>
            <a:pPr marL="800100" marR="0" lvl="1" indent="-342900" algn="l" rtl="0">
              <a:spcBef>
                <a:spcPts val="0"/>
              </a:spcBef>
              <a:spcAft>
                <a:spcPts val="0"/>
              </a:spcAft>
              <a:buClr>
                <a:schemeClr val="dk1"/>
              </a:buClr>
              <a:buSzPts val="1800"/>
              <a:buFont typeface="Quattrocento Sans"/>
              <a:buAutoNum type="alphaLcPeriod" startAt="5"/>
            </a:pPr>
            <a:r>
              <a:rPr lang="en-GB" sz="1800" b="1" i="0" u="sng" strike="noStrike" cap="none">
                <a:solidFill>
                  <a:schemeClr val="dk1"/>
                </a:solidFill>
                <a:latin typeface="Quattrocento Sans"/>
                <a:ea typeface="Quattrocento Sans"/>
                <a:cs typeface="Quattrocento Sans"/>
                <a:sym typeface="Quattrocento Sans"/>
              </a:rPr>
              <a:t>Lighting, Shaders, Texturing</a:t>
            </a:r>
            <a:endParaRPr/>
          </a:p>
          <a:p>
            <a:pPr marL="800100" marR="0" lvl="1" indent="-342900" algn="l" rtl="0">
              <a:spcBef>
                <a:spcPts val="0"/>
              </a:spcBef>
              <a:spcAft>
                <a:spcPts val="0"/>
              </a:spcAft>
              <a:buClr>
                <a:schemeClr val="dk1"/>
              </a:buClr>
              <a:buSzPts val="1800"/>
              <a:buFont typeface="Quattrocento Sans"/>
              <a:buAutoNum type="alphaLcPeriod" startAt="5"/>
            </a:pPr>
            <a:r>
              <a:rPr lang="en-GB" sz="1800" b="1" i="0" u="sng" strike="noStrike" cap="none">
                <a:solidFill>
                  <a:schemeClr val="dk1"/>
                </a:solidFill>
                <a:latin typeface="Quattrocento Sans"/>
                <a:ea typeface="Quattrocento Sans"/>
                <a:cs typeface="Quattrocento Sans"/>
                <a:sym typeface="Quattrocento Sans"/>
              </a:rPr>
              <a:t>UI Efficacy</a:t>
            </a:r>
            <a:endParaRPr/>
          </a:p>
          <a:p>
            <a:pPr marL="914400" marR="0" lvl="1" indent="-304800" algn="l" rtl="0">
              <a:spcBef>
                <a:spcPts val="0"/>
              </a:spcBef>
              <a:spcAft>
                <a:spcPts val="0"/>
              </a:spcAft>
              <a:buClr>
                <a:schemeClr val="dk1"/>
              </a:buClr>
              <a:buSzPts val="2400"/>
              <a:buFont typeface="Quattrocento Sans"/>
              <a:buNone/>
            </a:pPr>
            <a:endParaRPr sz="2400" b="1" i="0" u="none" strike="noStrike" cap="none">
              <a:solidFill>
                <a:srgbClr val="FF0000"/>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654" name="Google Shape;654;p56"/>
          <p:cNvSpPr/>
          <p:nvPr/>
        </p:nvSpPr>
        <p:spPr>
          <a:xfrm>
            <a:off x="7382333" y="21336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55" name="Google Shape;655;p56"/>
          <p:cNvSpPr/>
          <p:nvPr/>
        </p:nvSpPr>
        <p:spPr>
          <a:xfrm>
            <a:off x="7600674" y="23520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660"/>
        <p:cNvGrpSpPr/>
        <p:nvPr/>
      </p:nvGrpSpPr>
      <p:grpSpPr>
        <a:xfrm>
          <a:off x="0" y="0"/>
          <a:ext cx="0" cy="0"/>
          <a:chOff x="0" y="0"/>
          <a:chExt cx="0" cy="0"/>
        </a:xfrm>
      </p:grpSpPr>
      <p:sp>
        <p:nvSpPr>
          <p:cNvPr id="661" name="Google Shape;661;p57"/>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2</a:t>
            </a:r>
            <a:endParaRPr/>
          </a:p>
        </p:txBody>
      </p:sp>
      <p:sp>
        <p:nvSpPr>
          <p:cNvPr id="662" name="Google Shape;662;p57"/>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457200" marR="0" lvl="1" indent="0" algn="l" rtl="0">
              <a:spcBef>
                <a:spcPts val="0"/>
              </a:spcBef>
              <a:spcAft>
                <a:spcPts val="0"/>
              </a:spcAft>
              <a:buNone/>
            </a:pPr>
            <a:r>
              <a:rPr lang="en-GB" sz="2400" b="1" i="0" u="none" strike="noStrike" cap="none">
                <a:solidFill>
                  <a:srgbClr val="FFFF00"/>
                </a:solidFill>
                <a:latin typeface="Quattrocento Sans"/>
                <a:ea typeface="Quattrocento Sans"/>
                <a:cs typeface="Quattrocento Sans"/>
                <a:sym typeface="Quattrocento Sans"/>
              </a:rPr>
              <a:t>Remember – CW1 is initial planning - Individual Report (2)</a:t>
            </a:r>
            <a:endParaRPr/>
          </a:p>
          <a:p>
            <a:pPr marL="457200" marR="0" lvl="1" indent="0" algn="l" rtl="0">
              <a:spcBef>
                <a:spcPts val="0"/>
              </a:spcBef>
              <a:spcAft>
                <a:spcPts val="0"/>
              </a:spcAft>
              <a:buNone/>
            </a:pPr>
            <a:endParaRPr sz="2400" b="1" i="0" u="none" strike="noStrike" cap="none">
              <a:solidFill>
                <a:srgbClr val="FFFF00"/>
              </a:solidFill>
              <a:latin typeface="Quattrocento Sans"/>
              <a:ea typeface="Quattrocento Sans"/>
              <a:cs typeface="Quattrocento Sans"/>
              <a:sym typeface="Quattrocento Sans"/>
            </a:endParaRPr>
          </a:p>
          <a:p>
            <a:pPr marL="457200" marR="0" lvl="1" indent="0" algn="l" rtl="0">
              <a:spcBef>
                <a:spcPts val="0"/>
              </a:spcBef>
              <a:spcAft>
                <a:spcPts val="0"/>
              </a:spcAft>
              <a:buNone/>
            </a:pPr>
            <a:endParaRPr sz="2400" b="1" i="0" u="none" strike="noStrike" cap="none">
              <a:solidFill>
                <a:srgbClr val="FFFF00"/>
              </a:solidFill>
              <a:latin typeface="Quattrocento Sans"/>
              <a:ea typeface="Quattrocento Sans"/>
              <a:cs typeface="Quattrocento Sans"/>
              <a:sym typeface="Quattrocento Sans"/>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a:solidFill>
                  <a:schemeClr val="dk1"/>
                </a:solidFill>
                <a:latin typeface="Quattrocento Sans"/>
                <a:ea typeface="Quattrocento Sans"/>
                <a:cs typeface="Quattrocento Sans"/>
                <a:sym typeface="Quattrocento Sans"/>
              </a:rPr>
              <a:t>Individual contributions</a:t>
            </a:r>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a:solidFill>
                  <a:schemeClr val="dk1"/>
                </a:solidFill>
                <a:latin typeface="Quattrocento Sans"/>
                <a:ea typeface="Quattrocento Sans"/>
                <a:cs typeface="Quattrocento Sans"/>
                <a:sym typeface="Quattrocento Sans"/>
              </a:rPr>
              <a:t>Group Contributions</a:t>
            </a:r>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a:solidFill>
                  <a:schemeClr val="dk1"/>
                </a:solidFill>
                <a:latin typeface="Quattrocento Sans"/>
                <a:ea typeface="Quattrocento Sans"/>
                <a:cs typeface="Quattrocento Sans"/>
                <a:sym typeface="Quattrocento Sans"/>
              </a:rPr>
              <a:t>Rendered Images of above</a:t>
            </a:r>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a:solidFill>
                  <a:schemeClr val="dk1"/>
                </a:solidFill>
                <a:latin typeface="Quattrocento Sans"/>
                <a:ea typeface="Quattrocento Sans"/>
                <a:cs typeface="Quattrocento Sans"/>
                <a:sym typeface="Quattrocento Sans"/>
              </a:rPr>
              <a:t>Any details that present your work within the group and help me mark you.</a:t>
            </a:r>
            <a:endParaRPr/>
          </a:p>
          <a:p>
            <a:pPr marL="914400" marR="0" lvl="1" indent="-304800" algn="l" rtl="0">
              <a:spcBef>
                <a:spcPts val="0"/>
              </a:spcBef>
              <a:spcAft>
                <a:spcPts val="0"/>
              </a:spcAft>
              <a:buClr>
                <a:schemeClr val="dk1"/>
              </a:buClr>
              <a:buSzPts val="2400"/>
              <a:buFont typeface="Quattrocento Sans"/>
              <a:buNone/>
            </a:pPr>
            <a:endParaRPr sz="2400" b="1" i="0" u="none" strike="noStrike" cap="none">
              <a:solidFill>
                <a:srgbClr val="FF0000"/>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663" name="Google Shape;663;p57"/>
          <p:cNvSpPr/>
          <p:nvPr/>
        </p:nvSpPr>
        <p:spPr>
          <a:xfrm>
            <a:off x="7382333" y="21336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64" name="Google Shape;664;p57"/>
          <p:cNvSpPr/>
          <p:nvPr/>
        </p:nvSpPr>
        <p:spPr>
          <a:xfrm>
            <a:off x="7600674" y="23520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669"/>
        <p:cNvGrpSpPr/>
        <p:nvPr/>
      </p:nvGrpSpPr>
      <p:grpSpPr>
        <a:xfrm>
          <a:off x="0" y="0"/>
          <a:ext cx="0" cy="0"/>
          <a:chOff x="0" y="0"/>
          <a:chExt cx="0" cy="0"/>
        </a:xfrm>
      </p:grpSpPr>
      <p:sp>
        <p:nvSpPr>
          <p:cNvPr id="670" name="Google Shape;670;p58"/>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2</a:t>
            </a:r>
            <a:endParaRPr/>
          </a:p>
        </p:txBody>
      </p:sp>
      <p:sp>
        <p:nvSpPr>
          <p:cNvPr id="671" name="Google Shape;671;p58"/>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457200" lvl="1"/>
            <a:r>
              <a:rPr lang="en-GB" sz="2400" b="1" i="0" u="none" strike="noStrike" cap="none" dirty="0">
                <a:solidFill>
                  <a:srgbClr val="FFFF00"/>
                </a:solidFill>
                <a:latin typeface="Quattrocento Sans"/>
                <a:ea typeface="Quattrocento Sans"/>
                <a:cs typeface="Quattrocento Sans"/>
                <a:sym typeface="Quattrocento Sans"/>
              </a:rPr>
              <a:t>Clarification – CW2 is implementation – Individual Report for CW2</a:t>
            </a:r>
            <a:r>
              <a:rPr lang="en-GB" sz="2400" b="1" dirty="0">
                <a:solidFill>
                  <a:srgbClr val="FFFF00"/>
                </a:solidFill>
                <a:latin typeface="Quattrocento Sans"/>
                <a:ea typeface="Quattrocento Sans"/>
                <a:cs typeface="Quattrocento Sans"/>
                <a:sym typeface="Quattrocento Sans"/>
              </a:rPr>
              <a:t>, no Group report</a:t>
            </a:r>
            <a:endParaRPr dirty="0"/>
          </a:p>
          <a:p>
            <a:pPr marL="457200" marR="0" lvl="1" indent="0" algn="l" rtl="0">
              <a:spcBef>
                <a:spcPts val="0"/>
              </a:spcBef>
              <a:spcAft>
                <a:spcPts val="0"/>
              </a:spcAft>
              <a:buNone/>
            </a:pPr>
            <a:endParaRPr sz="2400" b="1" i="0" u="none" strike="noStrike" cap="none">
              <a:solidFill>
                <a:srgbClr val="FFFF00"/>
              </a:solidFill>
              <a:latin typeface="Quattrocento Sans"/>
              <a:ea typeface="Quattrocento Sans"/>
              <a:cs typeface="Quattrocento Sans"/>
              <a:sym typeface="Quattrocento Sans"/>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Individual contributions</a:t>
            </a:r>
            <a:endParaRPr dirty="0">
              <a:solidFill>
                <a:schemeClr val="dk1"/>
              </a:solidFill>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Group Contributions</a:t>
            </a:r>
            <a:endParaRPr dirty="0">
              <a:solidFill>
                <a:schemeClr val="dk1"/>
              </a:solidFill>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Project Management Methodology and results</a:t>
            </a:r>
            <a:endParaRPr dirty="0">
              <a:solidFill>
                <a:schemeClr val="dk1"/>
              </a:solidFill>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Commercial viability</a:t>
            </a:r>
            <a:endParaRPr dirty="0">
              <a:solidFill>
                <a:schemeClr val="dk1"/>
              </a:solidFill>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Storyboard/Flowchart, Basic Use Case Diagram, Basic Domain/Class Diagram (final)</a:t>
            </a:r>
            <a:endParaRPr dirty="0">
              <a:solidFill>
                <a:schemeClr val="dk1"/>
              </a:solidFill>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Navigation Framework</a:t>
            </a:r>
            <a:endParaRPr dirty="0">
              <a:solidFill>
                <a:schemeClr val="dk1"/>
              </a:solidFill>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Interactivity (Selection and Manipulation)</a:t>
            </a:r>
            <a:endParaRPr dirty="0">
              <a:solidFill>
                <a:schemeClr val="dk1"/>
              </a:solidFill>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Animation and Movement</a:t>
            </a:r>
            <a:endParaRPr dirty="0">
              <a:solidFill>
                <a:schemeClr val="dk1"/>
              </a:solidFill>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Lighting, Shaders, Texturing</a:t>
            </a:r>
            <a:endParaRPr dirty="0">
              <a:solidFill>
                <a:schemeClr val="dk1"/>
              </a:solidFill>
            </a:endParaRPr>
          </a:p>
          <a:p>
            <a:pPr marL="914400" marR="0" lvl="1" indent="-457200" algn="l" rtl="0">
              <a:spcBef>
                <a:spcPts val="0"/>
              </a:spcBef>
              <a:spcAft>
                <a:spcPts val="0"/>
              </a:spcAft>
              <a:buClr>
                <a:schemeClr val="dk1"/>
              </a:buClr>
              <a:buSzPts val="1800"/>
              <a:buFont typeface="Quattrocento Sans"/>
              <a:buAutoNum type="alphaLcPeriod"/>
            </a:pPr>
            <a:r>
              <a:rPr lang="en-GB" sz="1800" b="1" i="0" u="none" strike="noStrike" cap="none" dirty="0">
                <a:solidFill>
                  <a:schemeClr val="dk1"/>
                </a:solidFill>
                <a:latin typeface="Quattrocento Sans"/>
                <a:ea typeface="Quattrocento Sans"/>
                <a:cs typeface="Quattrocento Sans"/>
                <a:sym typeface="Quattrocento Sans"/>
              </a:rPr>
              <a:t>Discussion of UI Efficacy</a:t>
            </a:r>
            <a:endParaRPr dirty="0">
              <a:solidFill>
                <a:schemeClr val="dk1"/>
              </a:solidFill>
            </a:endParaRPr>
          </a:p>
          <a:p>
            <a:pPr marL="914400" lvl="2"/>
            <a:r>
              <a:rPr lang="en-GB" sz="1800" b="1" i="0" u="none" strike="noStrike" cap="none" dirty="0" err="1">
                <a:solidFill>
                  <a:schemeClr val="dk1"/>
                </a:solidFill>
                <a:latin typeface="Quattrocento Sans"/>
                <a:ea typeface="Quattrocento Sans"/>
                <a:cs typeface="Quattrocento Sans"/>
                <a:sym typeface="Quattrocento Sans"/>
              </a:rPr>
              <a:t>i</a:t>
            </a:r>
            <a:r>
              <a:rPr lang="en-GB" sz="1800" b="1" i="0" u="none" strike="noStrike" cap="none" dirty="0">
                <a:solidFill>
                  <a:schemeClr val="dk1"/>
                </a:solidFill>
                <a:latin typeface="Quattrocento Sans"/>
                <a:ea typeface="Quattrocento Sans"/>
                <a:cs typeface="Quattrocento Sans"/>
                <a:sym typeface="Quattrocento Sans"/>
              </a:rPr>
              <a:t>. Conceptual</a:t>
            </a:r>
            <a:r>
              <a:rPr lang="en-GB" sz="1800" b="1" dirty="0">
                <a:solidFill>
                  <a:schemeClr val="dk1"/>
                </a:solidFill>
                <a:latin typeface="Quattrocento Sans"/>
                <a:ea typeface="Quattrocento Sans"/>
                <a:cs typeface="Quattrocento Sans"/>
                <a:sym typeface="Quattrocento Sans"/>
              </a:rPr>
              <a:t> </a:t>
            </a:r>
            <a:r>
              <a:rPr lang="en-GB" sz="1800" b="1" i="0" u="none" strike="noStrike" cap="none" dirty="0">
                <a:solidFill>
                  <a:schemeClr val="dk1"/>
                </a:solidFill>
                <a:latin typeface="Quattrocento Sans"/>
                <a:ea typeface="Quattrocento Sans"/>
                <a:cs typeface="Quattrocento Sans"/>
                <a:sym typeface="Quattrocento Sans"/>
              </a:rPr>
              <a:t> Control to Task mapping</a:t>
            </a:r>
            <a:endParaRPr dirty="0">
              <a:solidFill>
                <a:schemeClr val="dk1"/>
              </a:solidFill>
            </a:endParaRPr>
          </a:p>
          <a:p>
            <a:pPr marL="457200" marR="0" lvl="1" indent="0" algn="l" rtl="0">
              <a:spcBef>
                <a:spcPts val="0"/>
              </a:spcBef>
              <a:spcAft>
                <a:spcPts val="0"/>
              </a:spcAft>
              <a:buNone/>
            </a:pPr>
            <a:r>
              <a:rPr lang="en-GB" sz="1800" b="1" i="0" u="none" strike="noStrike" cap="none" dirty="0">
                <a:solidFill>
                  <a:schemeClr val="dk1"/>
                </a:solidFill>
                <a:latin typeface="Quattrocento Sans"/>
                <a:ea typeface="Quattrocento Sans"/>
                <a:cs typeface="Quattrocento Sans"/>
                <a:sym typeface="Quattrocento Sans"/>
              </a:rPr>
              <a:t>	ii. Perceptual structure, cognitive load and any disconnect</a:t>
            </a:r>
            <a:endParaRPr dirty="0">
              <a:solidFill>
                <a:schemeClr val="dk1"/>
              </a:solidFill>
            </a:endParaRPr>
          </a:p>
          <a:p>
            <a:pPr marL="457200" marR="0" lvl="1" indent="0" algn="l" rtl="0">
              <a:spcBef>
                <a:spcPts val="0"/>
              </a:spcBef>
              <a:spcAft>
                <a:spcPts val="0"/>
              </a:spcAft>
              <a:buNone/>
            </a:pPr>
            <a:r>
              <a:rPr lang="en-GB" sz="1800" b="1" i="0" u="none" strike="noStrike" cap="none" dirty="0">
                <a:solidFill>
                  <a:schemeClr val="dk1"/>
                </a:solidFill>
                <a:latin typeface="Quattrocento Sans"/>
                <a:ea typeface="Quattrocento Sans"/>
                <a:cs typeface="Quattrocento Sans"/>
                <a:sym typeface="Quattrocento Sans"/>
              </a:rPr>
              <a:t>	iii. Motor coordination and any tiring or clash</a:t>
            </a:r>
            <a:endParaRPr dirty="0">
              <a:solidFill>
                <a:schemeClr val="dk1"/>
              </a:solidFill>
            </a:endParaRPr>
          </a:p>
          <a:p>
            <a:pPr marL="914400" marR="0" lvl="1" indent="-304800" algn="l" rtl="0">
              <a:spcBef>
                <a:spcPts val="0"/>
              </a:spcBef>
              <a:spcAft>
                <a:spcPts val="0"/>
              </a:spcAft>
              <a:buClr>
                <a:schemeClr val="dk1"/>
              </a:buClr>
              <a:buSzPts val="2400"/>
              <a:buFont typeface="Quattrocento Sans"/>
              <a:buNone/>
            </a:pPr>
            <a:endParaRPr sz="2400" b="1" i="0" u="none" strike="noStrike" cap="none">
              <a:solidFill>
                <a:srgbClr val="FF0000"/>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
        <p:nvSpPr>
          <p:cNvPr id="672" name="Google Shape;672;p58"/>
          <p:cNvSpPr/>
          <p:nvPr/>
        </p:nvSpPr>
        <p:spPr>
          <a:xfrm>
            <a:off x="7382333" y="21336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73" name="Google Shape;673;p58"/>
          <p:cNvSpPr/>
          <p:nvPr/>
        </p:nvSpPr>
        <p:spPr>
          <a:xfrm>
            <a:off x="7600674" y="23520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678"/>
        <p:cNvGrpSpPr/>
        <p:nvPr/>
      </p:nvGrpSpPr>
      <p:grpSpPr>
        <a:xfrm>
          <a:off x="0" y="0"/>
          <a:ext cx="0" cy="0"/>
          <a:chOff x="0" y="0"/>
          <a:chExt cx="0" cy="0"/>
        </a:xfrm>
      </p:grpSpPr>
      <p:sp>
        <p:nvSpPr>
          <p:cNvPr id="679" name="Google Shape;679;p59"/>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CW 1 (Group)</a:t>
            </a:r>
            <a:endParaRPr/>
          </a:p>
        </p:txBody>
      </p:sp>
      <p:sp>
        <p:nvSpPr>
          <p:cNvPr id="680" name="Google Shape;680;p59"/>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1800" b="1">
                <a:solidFill>
                  <a:srgbClr val="FFFF00"/>
                </a:solidFill>
                <a:latin typeface="Quattrocento Sans"/>
                <a:ea typeface="Quattrocento Sans"/>
                <a:cs typeface="Quattrocento Sans"/>
                <a:sym typeface="Quattrocento Sans"/>
              </a:rPr>
              <a:t>4. Group Contributions</a:t>
            </a:r>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Group Padlet, linked to blackboard and including all group and individual renders</a:t>
            </a: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Group BB area</a:t>
            </a:r>
            <a:endParaRPr sz="18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Video blogs in Padlet</a:t>
            </a:r>
            <a:endParaRPr sz="24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b="0" i="0" u="none" strike="noStrike" cap="none">
                <a:solidFill>
                  <a:schemeClr val="dk1"/>
                </a:solidFill>
                <a:latin typeface="Quattrocento Sans"/>
                <a:ea typeface="Quattrocento Sans"/>
                <a:cs typeface="Quattrocento Sans"/>
                <a:sym typeface="Quattrocento Sans"/>
              </a:rPr>
              <a:t>Presentations in class</a:t>
            </a:r>
            <a:endParaRPr sz="1800" b="0" i="0" u="none" strike="noStrike" cap="none">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1800">
                <a:solidFill>
                  <a:schemeClr val="dk1"/>
                </a:solidFill>
                <a:latin typeface="Quattrocento Sans"/>
                <a:ea typeface="Quattrocento Sans"/>
                <a:cs typeface="Quattrocento Sans"/>
                <a:sym typeface="Quattrocento Sans"/>
              </a:rPr>
              <a:t>Meeting minutes or notes</a:t>
            </a:r>
            <a:endParaRPr sz="1800">
              <a:solidFill>
                <a:schemeClr val="dk1"/>
              </a:solidFill>
              <a:latin typeface="Quattrocento Sans"/>
              <a:ea typeface="Quattrocento Sans"/>
              <a:cs typeface="Quattrocento Sans"/>
              <a:sym typeface="Quattrocento Sans"/>
            </a:endParaRPr>
          </a:p>
          <a:p>
            <a:pPr marL="457200" marR="0" lvl="1" indent="0" algn="l" rtl="0">
              <a:spcBef>
                <a:spcPts val="0"/>
              </a:spcBef>
              <a:spcAft>
                <a:spcPts val="0"/>
              </a:spcAft>
              <a:buNone/>
            </a:pPr>
            <a:r>
              <a:rPr lang="en-GB" sz="2000" b="0" i="0" u="none" strike="noStrike" cap="none">
                <a:solidFill>
                  <a:srgbClr val="FFFF00"/>
                </a:solidFill>
                <a:latin typeface="Quattrocento Sans"/>
                <a:ea typeface="Quattrocento Sans"/>
                <a:cs typeface="Quattrocento Sans"/>
                <a:sym typeface="Quattrocento Sans"/>
              </a:rPr>
              <a:t>Work in Progress Video for </a:t>
            </a:r>
            <a:r>
              <a:rPr lang="en-GB" sz="2000">
                <a:solidFill>
                  <a:srgbClr val="FFFF00"/>
                </a:solidFill>
                <a:latin typeface="Quattrocento Sans"/>
                <a:ea typeface="Quattrocento Sans"/>
                <a:cs typeface="Quattrocento Sans"/>
                <a:sym typeface="Quattrocento Sans"/>
              </a:rPr>
              <a:t>4 Nov</a:t>
            </a:r>
            <a:endParaRPr/>
          </a:p>
          <a:p>
            <a:pPr marL="457200" marR="0" lvl="1" indent="0" algn="l" rtl="0">
              <a:spcBef>
                <a:spcPts val="0"/>
              </a:spcBef>
              <a:spcAft>
                <a:spcPts val="0"/>
              </a:spcAft>
              <a:buNone/>
            </a:pPr>
            <a:r>
              <a:rPr lang="en-GB" sz="2000" b="0" i="0" u="none" strike="noStrike" cap="none">
                <a:solidFill>
                  <a:srgbClr val="FFFF00"/>
                </a:solidFill>
                <a:latin typeface="Quattrocento Sans"/>
                <a:ea typeface="Quattrocento Sans"/>
                <a:cs typeface="Quattrocento Sans"/>
                <a:sym typeface="Quattrocento Sans"/>
              </a:rPr>
              <a:t>Peer review Video with comments on other groups' work</a:t>
            </a:r>
            <a:endParaRPr sz="2000" b="1" i="0" u="none" strike="noStrike" cap="none">
              <a:solidFill>
                <a:srgbClr val="FFFF00"/>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chemeClr val="dk2"/>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chemeClr val="dk2"/>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chemeClr val="dk2"/>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chemeClr val="dk2"/>
              </a:solidFill>
              <a:latin typeface="Quattrocento Sans"/>
              <a:ea typeface="Quattrocento Sans"/>
              <a:cs typeface="Quattrocento Sans"/>
              <a:sym typeface="Quattrocento Sans"/>
            </a:endParaRPr>
          </a:p>
        </p:txBody>
      </p:sp>
      <p:sp>
        <p:nvSpPr>
          <p:cNvPr id="681" name="Google Shape;681;p59"/>
          <p:cNvSpPr/>
          <p:nvPr/>
        </p:nvSpPr>
        <p:spPr>
          <a:xfrm>
            <a:off x="7390800" y="4267200"/>
            <a:ext cx="1296000" cy="1296144"/>
          </a:xfrm>
          <a:prstGeom prst="rect">
            <a:avLst/>
          </a:prstGeom>
          <a:solidFill>
            <a:srgbClr val="FFC000"/>
          </a:solidFill>
          <a:ln w="25400" cap="flat" cmpd="sng">
            <a:solidFill>
              <a:srgbClr val="FFC000"/>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Quattrocento Sans"/>
              <a:ea typeface="Quattrocento Sans"/>
              <a:cs typeface="Quattrocento Sans"/>
              <a:sym typeface="Quattrocento Sans"/>
            </a:endParaRPr>
          </a:p>
        </p:txBody>
      </p:sp>
      <p:sp>
        <p:nvSpPr>
          <p:cNvPr id="682" name="Google Shape;682;p59"/>
          <p:cNvSpPr/>
          <p:nvPr/>
        </p:nvSpPr>
        <p:spPr>
          <a:xfrm>
            <a:off x="7609141" y="4485613"/>
            <a:ext cx="859318" cy="859318"/>
          </a:xfrm>
          <a:prstGeom prst="star5">
            <a:avLst>
              <a:gd name="adj" fmla="val 27644"/>
              <a:gd name="hf" fmla="val 105146"/>
              <a:gd name="vf" fmla="val 110557"/>
            </a:avLst>
          </a:prstGeom>
          <a:solidFill>
            <a:schemeClr val="dk1"/>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1F497D"/>
              </a:solidFill>
              <a:latin typeface="Quattrocento Sans"/>
              <a:ea typeface="Quattrocento Sans"/>
              <a:cs typeface="Quattrocento Sans"/>
              <a:sym typeface="Quattrocento Sans"/>
            </a:endParaRPr>
          </a:p>
        </p:txBody>
      </p:sp>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687"/>
        <p:cNvGrpSpPr/>
        <p:nvPr/>
      </p:nvGrpSpPr>
      <p:grpSpPr>
        <a:xfrm>
          <a:off x="0" y="0"/>
          <a:ext cx="0" cy="0"/>
          <a:chOff x="0" y="0"/>
          <a:chExt cx="0" cy="0"/>
        </a:xfrm>
      </p:grpSpPr>
      <p:sp>
        <p:nvSpPr>
          <p:cNvPr id="688" name="Google Shape;688;p60"/>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3DUI Unity </a:t>
            </a:r>
            <a:endParaRPr/>
          </a:p>
        </p:txBody>
      </p:sp>
      <p:sp>
        <p:nvSpPr>
          <p:cNvPr id="689" name="Google Shape;689;p60"/>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r>
              <a:rPr lang="en-GB" sz="2400" b="1" u="sng" dirty="0">
                <a:solidFill>
                  <a:srgbClr val="FF0000"/>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Unity 3D UI</a:t>
            </a:r>
            <a:endParaRPr sz="2400" b="1" dirty="0">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dirty="0">
                <a:solidFill>
                  <a:srgbClr val="FFFF00"/>
                </a:solidFill>
                <a:latin typeface="Quattrocento Sans"/>
                <a:ea typeface="Quattrocento Sans"/>
                <a:cs typeface="Quattrocento Sans"/>
                <a:sym typeface="Quattrocento Sans"/>
              </a:rPr>
              <a:t>Start to think about Unity UI</a:t>
            </a:r>
            <a:endParaRPr sz="2400" b="1" dirty="0">
              <a:solidFill>
                <a:srgbClr val="FFFF00"/>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0000"/>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u="sng" dirty="0">
                <a:solidFill>
                  <a:srgbClr val="FFFFFF"/>
                </a:solidFill>
                <a:latin typeface="Quattrocento Sans"/>
                <a:ea typeface="Quattrocento Sans"/>
                <a:cs typeface="Quattrocento Sans"/>
                <a:sym typeface="Quattrocento Sans"/>
                <a:hlinkClick r:id="rId4">
                  <a:extLst>
                    <a:ext uri="{A12FA001-AC4F-418D-AE19-62706E023703}">
                      <ahyp:hlinkClr xmlns:ahyp="http://schemas.microsoft.com/office/drawing/2018/hyperlinkcolor" val="tx"/>
                    </a:ext>
                  </a:extLst>
                </a:hlinkClick>
              </a:rPr>
              <a:t>https://www.youtube.com/watch?v=JrlFMwLI1fw</a:t>
            </a:r>
            <a:endParaRPr sz="2400" b="1" dirty="0">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u="sng" dirty="0">
                <a:solidFill>
                  <a:srgbClr val="FFFFFF"/>
                </a:solidFill>
                <a:latin typeface="Quattrocento Sans"/>
                <a:ea typeface="Quattrocento Sans"/>
                <a:cs typeface="Quattrocento Sans"/>
                <a:sym typeface="Quattrocento Sans"/>
                <a:hlinkClick r:id="rId3">
                  <a:extLst>
                    <a:ext uri="{A12FA001-AC4F-418D-AE19-62706E023703}">
                      <ahyp:hlinkClr xmlns:ahyp="http://schemas.microsoft.com/office/drawing/2018/hyperlinkcolor" val="tx"/>
                    </a:ext>
                  </a:extLst>
                </a:hlinkClick>
              </a:rPr>
              <a:t>https://unity3d.com/learn/tutorials/topics/user-interface-ui</a:t>
            </a:r>
            <a:endParaRPr sz="2400" b="1" dirty="0">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r>
              <a:rPr lang="en-GB" sz="2400" dirty="0">
                <a:solidFill>
                  <a:schemeClr val="dk1"/>
                </a:solidFill>
                <a:hlinkClick r:id="rId5">
                  <a:extLst>
                    <a:ext uri="{A12FA001-AC4F-418D-AE19-62706E023703}">
                      <ahyp:hlinkClr xmlns:ahyp="http://schemas.microsoft.com/office/drawing/2018/hyperlinkcolor" val="tx"/>
                    </a:ext>
                  </a:extLst>
                </a:hlinkClick>
              </a:rPr>
              <a:t>https://docs.unity3d.com/Packages/com.unity.ugui@2.0/manual/index.html</a:t>
            </a:r>
            <a:r>
              <a:rPr lang="en-GB" sz="2400" dirty="0">
                <a:solidFill>
                  <a:schemeClr val="dk1"/>
                </a:solidFill>
              </a:rPr>
              <a:t> </a:t>
            </a:r>
            <a:endParaRPr lang="en-GB">
              <a:solidFill>
                <a:schemeClr val="dk1"/>
              </a:solidFill>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694"/>
        <p:cNvGrpSpPr/>
        <p:nvPr/>
      </p:nvGrpSpPr>
      <p:grpSpPr>
        <a:xfrm>
          <a:off x="0" y="0"/>
          <a:ext cx="0" cy="0"/>
          <a:chOff x="0" y="0"/>
          <a:chExt cx="0" cy="0"/>
        </a:xfrm>
      </p:grpSpPr>
      <p:sp>
        <p:nvSpPr>
          <p:cNvPr id="695" name="Google Shape;695;p61"/>
          <p:cNvSpPr txBox="1">
            <a:spLocks noGrp="1"/>
          </p:cNvSpPr>
          <p:nvPr>
            <p:ph type="title"/>
          </p:nvPr>
        </p:nvSpPr>
        <p:spPr>
          <a:xfrm>
            <a:off x="457200" y="274638"/>
            <a:ext cx="8229600" cy="850106"/>
          </a:xfrm>
          <a:prstGeom prst="rect">
            <a:avLst/>
          </a:prstGeom>
          <a:solidFill>
            <a:schemeClr val="accent1"/>
          </a:solidFill>
          <a:ln>
            <a:noFill/>
          </a:ln>
        </p:spPr>
        <p:txBody>
          <a:bodyPr spcFirstLastPara="1" wrap="square" lIns="91425" tIns="45700" rIns="91425" bIns="45700" anchor="ctr" anchorCtr="0">
            <a:normAutofit/>
          </a:bodyPr>
          <a:lstStyle/>
          <a:p>
            <a:pPr marL="0" lvl="0" indent="0" algn="l" rtl="0">
              <a:spcBef>
                <a:spcPts val="0"/>
              </a:spcBef>
              <a:spcAft>
                <a:spcPts val="0"/>
              </a:spcAft>
              <a:buClr>
                <a:schemeClr val="dk1"/>
              </a:buClr>
              <a:buSzPts val="4400"/>
              <a:buFont typeface="Quattrocento Sans"/>
              <a:buNone/>
            </a:pPr>
            <a:r>
              <a:rPr lang="en-GB"/>
              <a:t>References </a:t>
            </a:r>
            <a:endParaRPr/>
          </a:p>
        </p:txBody>
      </p:sp>
      <p:sp>
        <p:nvSpPr>
          <p:cNvPr id="696" name="Google Shape;696;p61"/>
          <p:cNvSpPr/>
          <p:nvPr/>
        </p:nvSpPr>
        <p:spPr>
          <a:xfrm>
            <a:off x="467544" y="1484784"/>
            <a:ext cx="8496944" cy="4896544"/>
          </a:xfrm>
          <a:prstGeom prst="rect">
            <a:avLst/>
          </a:prstGeom>
          <a:noFill/>
          <a:ln>
            <a:noFill/>
          </a:ln>
        </p:spPr>
        <p:txBody>
          <a:bodyPr spcFirstLastPara="1" wrap="square" lIns="0" tIns="45700" rIns="0" bIns="45700" anchor="t" anchorCtr="0">
            <a:noAutofit/>
          </a:bodyPr>
          <a:lstStyle/>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3D User Interfaces: Theory and Practice</a:t>
            </a:r>
            <a:endParaRPr/>
          </a:p>
          <a:p>
            <a:pPr marL="0" marR="0" lvl="0" indent="0" algn="l" rtl="0">
              <a:spcBef>
                <a:spcPts val="0"/>
              </a:spcBef>
              <a:spcAft>
                <a:spcPts val="0"/>
              </a:spcAft>
              <a:buNone/>
            </a:pPr>
            <a:r>
              <a:rPr lang="en-GB" sz="2400">
                <a:solidFill>
                  <a:srgbClr val="FFFFFF"/>
                </a:solidFill>
                <a:latin typeface="Quattrocento Sans"/>
                <a:ea typeface="Quattrocento Sans"/>
                <a:cs typeface="Quattrocento Sans"/>
                <a:sym typeface="Quattrocento Sans"/>
              </a:rPr>
              <a:t>Doug A. Bowman, Ernst Kruijff, Joseph J. LaViola, Ivan Poupyrev</a:t>
            </a:r>
            <a:endParaRPr sz="2400">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a:solidFill>
                  <a:srgbClr val="FFFFFF"/>
                </a:solidFill>
                <a:latin typeface="Quattrocento Sans"/>
                <a:ea typeface="Quattrocento Sans"/>
                <a:cs typeface="Quattrocento Sans"/>
                <a:sym typeface="Quattrocento Sans"/>
              </a:rPr>
              <a:t>Addison Wesley Longman Publishing</a:t>
            </a:r>
            <a:endParaRPr/>
          </a:p>
          <a:p>
            <a:pPr marL="0" marR="0" lvl="0" indent="0" algn="l" rtl="0">
              <a:spcBef>
                <a:spcPts val="0"/>
              </a:spcBef>
              <a:spcAft>
                <a:spcPts val="0"/>
              </a:spcAft>
              <a:buNone/>
            </a:pPr>
            <a:r>
              <a:rPr lang="en-GB" sz="2400">
                <a:solidFill>
                  <a:srgbClr val="FFFFFF"/>
                </a:solidFill>
                <a:latin typeface="Quattrocento Sans"/>
                <a:ea typeface="Quattrocento Sans"/>
                <a:cs typeface="Quattrocento Sans"/>
                <a:sym typeface="Quattrocento Sans"/>
              </a:rPr>
              <a:t>USA</a:t>
            </a:r>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b="1">
                <a:solidFill>
                  <a:srgbClr val="FFFFFF"/>
                </a:solidFill>
                <a:latin typeface="Quattrocento Sans"/>
                <a:ea typeface="Quattrocento Sans"/>
                <a:cs typeface="Quattrocento Sans"/>
                <a:sym typeface="Quattrocento Sans"/>
              </a:rPr>
              <a:t>The Three-Dimensional User Interface</a:t>
            </a:r>
            <a:endParaRPr/>
          </a:p>
          <a:p>
            <a:pPr marL="0" marR="0" lvl="0" indent="0" algn="l" rtl="0">
              <a:spcBef>
                <a:spcPts val="0"/>
              </a:spcBef>
              <a:spcAft>
                <a:spcPts val="0"/>
              </a:spcAft>
              <a:buNone/>
            </a:pPr>
            <a:r>
              <a:rPr lang="en-GB" sz="2400">
                <a:solidFill>
                  <a:srgbClr val="FFFFFF"/>
                </a:solidFill>
                <a:latin typeface="Quattrocento Sans"/>
                <a:ea typeface="Quattrocento Sans"/>
                <a:cs typeface="Quattrocento Sans"/>
                <a:sym typeface="Quattrocento Sans"/>
              </a:rPr>
              <a:t>Hou Wenjun</a:t>
            </a:r>
            <a:endParaRPr sz="2400">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r>
              <a:rPr lang="en-GB" sz="2400" i="1">
                <a:solidFill>
                  <a:srgbClr val="FFFFFF"/>
                </a:solidFill>
                <a:latin typeface="Quattrocento Sans"/>
                <a:ea typeface="Quattrocento Sans"/>
                <a:cs typeface="Quattrocento Sans"/>
                <a:sym typeface="Quattrocento Sans"/>
              </a:rPr>
              <a:t>Beijing University of Posts and Telecommunications</a:t>
            </a:r>
            <a:endParaRPr/>
          </a:p>
          <a:p>
            <a:pPr marL="0" marR="0" lvl="0" indent="0" algn="l" rtl="0">
              <a:spcBef>
                <a:spcPts val="0"/>
              </a:spcBef>
              <a:spcAft>
                <a:spcPts val="0"/>
              </a:spcAft>
              <a:buNone/>
            </a:pPr>
            <a:r>
              <a:rPr lang="en-GB" sz="2400" i="1">
                <a:solidFill>
                  <a:srgbClr val="FFFFFF"/>
                </a:solidFill>
                <a:latin typeface="Quattrocento Sans"/>
                <a:ea typeface="Quattrocento Sans"/>
                <a:cs typeface="Quattrocento Sans"/>
                <a:sym typeface="Quattrocento Sans"/>
              </a:rPr>
              <a:t>China</a:t>
            </a: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342900" marR="0" lvl="0" indent="-190500" algn="l" rtl="0">
              <a:spcBef>
                <a:spcPts val="0"/>
              </a:spcBef>
              <a:spcAft>
                <a:spcPts val="0"/>
              </a:spcAft>
              <a:buClr>
                <a:schemeClr val="dk1"/>
              </a:buClr>
              <a:buSzPts val="2400"/>
              <a:buFont typeface="Arial"/>
              <a:buNone/>
            </a:pPr>
            <a:endParaRPr sz="24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2400" b="1">
              <a:solidFill>
                <a:srgbClr val="FFFFFF"/>
              </a:solidFill>
              <a:latin typeface="Quattrocento Sans"/>
              <a:ea typeface="Quattrocento Sans"/>
              <a:cs typeface="Quattrocento Sans"/>
              <a:sym typeface="Quattrocento Sans"/>
            </a:endParaRPr>
          </a:p>
          <a:p>
            <a:pPr marL="800100" marR="0" lvl="1" indent="-190500" algn="l" rtl="0">
              <a:spcBef>
                <a:spcPts val="0"/>
              </a:spcBef>
              <a:spcAft>
                <a:spcPts val="0"/>
              </a:spcAft>
              <a:buClr>
                <a:schemeClr val="dk1"/>
              </a:buClr>
              <a:buSzPts val="2400"/>
              <a:buFont typeface="Arial"/>
              <a:buNone/>
            </a:pPr>
            <a:endParaRPr sz="2400" b="1" i="0" u="none" strike="noStrike" cap="none">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a:p>
            <a:pPr marL="0" marR="0" lvl="0" indent="0" algn="l" rtl="0">
              <a:spcBef>
                <a:spcPts val="0"/>
              </a:spcBef>
              <a:spcAft>
                <a:spcPts val="0"/>
              </a:spcAft>
              <a:buNone/>
            </a:pPr>
            <a:endParaRPr sz="1800" b="1">
              <a:solidFill>
                <a:srgbClr val="FFFFFF"/>
              </a:solidFill>
              <a:latin typeface="Quattrocento Sans"/>
              <a:ea typeface="Quattrocento Sans"/>
              <a:cs typeface="Quattrocento Sans"/>
              <a:sym typeface="Quattrocento Sans"/>
            </a:endParaRPr>
          </a:p>
        </p:txBody>
      </p:sp>
    </p:spTree>
  </p:cSld>
  <p:clrMapOvr>
    <a:masterClrMapping/>
  </p:clrMapOvr>
</p:sld>
</file>

<file path=ppt/theme/theme1.xml><?xml version="1.0" encoding="utf-8"?>
<a:theme xmlns:a="http://schemas.openxmlformats.org/drawingml/2006/main" name="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Metro">
      <a:dk1>
        <a:srgbClr val="FFFFFF"/>
      </a:dk1>
      <a:lt1>
        <a:srgbClr val="1F497D"/>
      </a:lt1>
      <a:dk2>
        <a:srgbClr val="FFFFFF"/>
      </a:dk2>
      <a:lt2>
        <a:srgbClr val="1F497D"/>
      </a:lt2>
      <a:accent1>
        <a:srgbClr val="E8402E"/>
      </a:accent1>
      <a:accent2>
        <a:srgbClr val="C0504D"/>
      </a:accent2>
      <a:accent3>
        <a:srgbClr val="9BBB59"/>
      </a:accent3>
      <a:accent4>
        <a:srgbClr val="8064A2"/>
      </a:accent4>
      <a:accent5>
        <a:srgbClr val="4BACC6"/>
      </a:accent5>
      <a:accent6>
        <a:srgbClr val="F79646"/>
      </a:accent6>
      <a:hlink>
        <a:srgbClr val="FFFFFF"/>
      </a:hlink>
      <a:folHlink>
        <a:srgbClr val="C6D9F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On-screen Show (4:3)</PresentationFormat>
  <Slides>61</Slides>
  <Notes>61</Notes>
  <HiddenSlides>2</HiddenSlides>
  <ScaleCrop>false</ScaleCrop>
  <HeadingPairs>
    <vt:vector size="4" baseType="variant">
      <vt:variant>
        <vt:lpstr>Theme</vt:lpstr>
      </vt:variant>
      <vt:variant>
        <vt:i4>2</vt:i4>
      </vt:variant>
      <vt:variant>
        <vt:lpstr>Slide Titles</vt:lpstr>
      </vt:variant>
      <vt:variant>
        <vt:i4>61</vt:i4>
      </vt:variant>
    </vt:vector>
  </HeadingPairs>
  <TitlesOfParts>
    <vt:vector size="63" baseType="lpstr">
      <vt:lpstr>Office Theme</vt:lpstr>
      <vt:lpstr>1_Office Theme</vt:lpstr>
      <vt:lpstr>3D Interactive Media Development</vt:lpstr>
      <vt:lpstr>3D Interactive Media Development</vt:lpstr>
      <vt:lpstr>CW Overview and Recap</vt:lpstr>
      <vt:lpstr>CW Scope – 3DUI, 3DVE</vt:lpstr>
      <vt:lpstr>3DUI CW Framework – Concepts</vt:lpstr>
      <vt:lpstr>3DUI CW Framework – Elements</vt:lpstr>
      <vt:lpstr>3DUI CW Framework - Platform</vt:lpstr>
      <vt:lpstr>3DUI CW Framework – 3D Interaction</vt:lpstr>
      <vt:lpstr>CW 3D Interaction Techniques</vt:lpstr>
      <vt:lpstr>3DUI CW Framework – HCI</vt:lpstr>
      <vt:lpstr>3DUI CW Framework – Software</vt:lpstr>
      <vt:lpstr>CW1 Group Report Outline</vt:lpstr>
      <vt:lpstr>Module Scope – Working Practice</vt:lpstr>
      <vt:lpstr>3DUI CW 1 (Group)</vt:lpstr>
      <vt:lpstr>3DUI CW 1 (Group)</vt:lpstr>
      <vt:lpstr>Module Scope Architecture</vt:lpstr>
      <vt:lpstr>3DUI CW 1</vt:lpstr>
      <vt:lpstr>3DUI CW 1</vt:lpstr>
      <vt:lpstr>3DUI CW 1</vt:lpstr>
      <vt:lpstr>3DUI CW 1</vt:lpstr>
      <vt:lpstr>3DUI CW 1</vt:lpstr>
      <vt:lpstr>3DUI CW 1</vt:lpstr>
      <vt:lpstr>3DUI CW 1</vt:lpstr>
      <vt:lpstr>3DUI CW 1</vt:lpstr>
      <vt:lpstr>3DUI CW 1</vt:lpstr>
      <vt:lpstr>3DUI CW 1</vt:lpstr>
      <vt:lpstr>3DUI CW 1</vt:lpstr>
      <vt:lpstr>3DUI CW 1</vt:lpstr>
      <vt:lpstr>3DUI CW 1</vt:lpstr>
      <vt:lpstr>3DUI CW 1</vt:lpstr>
      <vt:lpstr>3DUI CW 1</vt:lpstr>
      <vt:lpstr>3DUI CW 1</vt:lpstr>
      <vt:lpstr>3DUI CW 1 (Group)</vt:lpstr>
      <vt:lpstr>Module Scope – Working Practice</vt:lpstr>
      <vt:lpstr>Module Scope Working Methodology</vt:lpstr>
      <vt:lpstr>Module Scope Working Methodology</vt:lpstr>
      <vt:lpstr>Module Scope Working Methodology</vt:lpstr>
      <vt:lpstr>Module Scope Working Methodology</vt:lpstr>
      <vt:lpstr>Module Scope Working Methodology</vt:lpstr>
      <vt:lpstr>Module Scope Working Methodology</vt:lpstr>
      <vt:lpstr>Module Scope Working Methodology</vt:lpstr>
      <vt:lpstr>Module Scope Working Methodology</vt:lpstr>
      <vt:lpstr>Module Scope Working Methodology</vt:lpstr>
      <vt:lpstr>Module Scope Working Methodology</vt:lpstr>
      <vt:lpstr>Module Scope Working Methodology</vt:lpstr>
      <vt:lpstr>Module Scope Working Methodology</vt:lpstr>
      <vt:lpstr>Module Scope Working Methodology</vt:lpstr>
      <vt:lpstr>Module Scope Working Methodology</vt:lpstr>
      <vt:lpstr>3DUI CW 1 (Group)</vt:lpstr>
      <vt:lpstr>Module Scope – Working Practice</vt:lpstr>
      <vt:lpstr>3DUI CW 1 (Group)</vt:lpstr>
      <vt:lpstr>Module Scope – Working Practice</vt:lpstr>
      <vt:lpstr>3DUI CW 1 (Group)</vt:lpstr>
      <vt:lpstr>3DUI CW 1 (Group)</vt:lpstr>
      <vt:lpstr>3DUI CW 1 (Group)</vt:lpstr>
      <vt:lpstr>3DUI CW 1</vt:lpstr>
      <vt:lpstr>3DUI CW 2</vt:lpstr>
      <vt:lpstr>3DUI CW 2</vt:lpstr>
      <vt:lpstr>3DUI CW 1 (Group)</vt:lpstr>
      <vt:lpstr>3DUI Unity </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3D Interactive Media Development</dc:title>
  <dc:creator>Jeff</dc:creator>
  <cp:revision>78</cp:revision>
  <dcterms:created xsi:type="dcterms:W3CDTF">2016-10-04T19:41:26Z</dcterms:created>
  <dcterms:modified xsi:type="dcterms:W3CDTF">2025-10-21T06:38:19Z</dcterms:modified>
</cp:coreProperties>
</file>