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8"/>
  </p:notesMasterIdLst>
  <p:sldIdLst>
    <p:sldId id="474" r:id="rId2"/>
    <p:sldId id="477" r:id="rId3"/>
    <p:sldId id="344" r:id="rId4"/>
    <p:sldId id="480" r:id="rId5"/>
    <p:sldId id="482" r:id="rId6"/>
    <p:sldId id="475" r:id="rId7"/>
  </p:sldIdLst>
  <p:sldSz cx="12192000" cy="6858000"/>
  <p:notesSz cx="6858000" cy="9144000"/>
  <p:embeddedFontLst>
    <p:embeddedFont>
      <p:font typeface="Segoe UI" panose="020B0502040204020203" pitchFamily="34" charset="0"/>
      <p:regular r:id="rId9"/>
      <p:bold r:id="rId10"/>
      <p:italic r:id="rId11"/>
      <p:boldItalic r:id="rId12"/>
    </p:embeddedFont>
    <p:embeddedFont>
      <p:font typeface="Segoe UI Light" panose="020B0502040204020203" pitchFamily="34" charset="0"/>
      <p:regular r:id="rId13"/>
      <p: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0C7C28-AFD3-A414-4712-FC48D6002C3E}" v="90" dt="2025-11-18T08:55:12.885"/>
    <p1510:client id="{9A05A6FF-E5D9-FBB1-64FF-0F558FD9BE26}" v="8" dt="2025-11-16T13:20:09.1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4660"/>
  </p:normalViewPr>
  <p:slideViewPr>
    <p:cSldViewPr snapToGrid="0">
      <p:cViewPr varScale="1">
        <p:scale>
          <a:sx n="81" d="100"/>
          <a:sy n="81" d="100"/>
        </p:scale>
        <p:origin x="126" y="7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01275B-8497-4FC6-A807-99A9C30E66E2}"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A98C51-15DF-414D-9B75-E5739437D8A0}" type="slidenum">
              <a:rPr lang="en-US" smtClean="0"/>
              <a:t>‹#›</a:t>
            </a:fld>
            <a:endParaRPr lang="en-US"/>
          </a:p>
        </p:txBody>
      </p:sp>
    </p:spTree>
    <p:extLst>
      <p:ext uri="{BB962C8B-B14F-4D97-AF65-F5344CB8AC3E}">
        <p14:creationId xmlns:p14="http://schemas.microsoft.com/office/powerpoint/2010/main" val="1335895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52076451-FC90-4479-9586-D790FB947699}" type="slidenum">
              <a:rPr kumimoji="0" lang="en-GB"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a:t>
            </a:fld>
            <a:endParaRPr kumimoji="0" lang="en-GB"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450496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52076451-FC90-4479-9586-D790FB947699}" type="slidenum">
              <a:rPr kumimoji="0" lang="en-GB"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a:t>
            </a:fld>
            <a:endParaRPr kumimoji="0" lang="en-GB"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006280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52076451-FC90-4479-9586-D790FB947699}" type="slidenum">
              <a:rPr kumimoji="0" lang="en-GB"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GB"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160613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52076451-FC90-4479-9586-D790FB947699}" type="slidenum">
              <a:rPr kumimoji="0" lang="en-GB"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4</a:t>
            </a:fld>
            <a:endParaRPr kumimoji="0" lang="en-GB"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932300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52076451-FC90-4479-9586-D790FB947699}" type="slidenum">
              <a:rPr kumimoji="0" lang="en-GB"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5</a:t>
            </a:fld>
            <a:endParaRPr kumimoji="0" lang="en-GB"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246673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52076451-FC90-4479-9586-D790FB947699}" type="slidenum">
              <a:rPr kumimoji="0" lang="en-GB"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6</a:t>
            </a:fld>
            <a:endParaRPr kumimoji="0" lang="en-GB"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34887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26"/>
            <a:ext cx="10363200" cy="1010543"/>
          </a:xfrm>
          <a:solidFill>
            <a:schemeClr val="accent1"/>
          </a:solidFill>
        </p:spPr>
        <p:txBody>
          <a:bodyPr/>
          <a:lstStyle>
            <a:lvl1pPr algn="l">
              <a:defRPr>
                <a:solidFill>
                  <a:schemeClr val="tx1"/>
                </a:solidFill>
                <a:latin typeface="+mj-lt"/>
                <a:ea typeface="Segoe UI" pitchFamily="34" charset="0"/>
                <a:cs typeface="Segoe UI" pitchFamily="34" charset="0"/>
              </a:defRPr>
            </a:lvl1pPr>
          </a:lstStyle>
          <a:p>
            <a:r>
              <a:rPr lang="en-GB" dirty="0"/>
              <a:t>Games Interaction Technology</a:t>
            </a:r>
          </a:p>
        </p:txBody>
      </p:sp>
      <p:sp>
        <p:nvSpPr>
          <p:cNvPr id="3" name="Subtitle 2"/>
          <p:cNvSpPr>
            <a:spLocks noGrp="1"/>
          </p:cNvSpPr>
          <p:nvPr>
            <p:ph type="subTitle" idx="1"/>
          </p:nvPr>
        </p:nvSpPr>
        <p:spPr>
          <a:xfrm>
            <a:off x="911424" y="3212976"/>
            <a:ext cx="10369152" cy="1752600"/>
          </a:xfrm>
        </p:spPr>
        <p:txBody>
          <a:bodyPr>
            <a:normAutofit/>
          </a:bodyPr>
          <a:lstStyle>
            <a:lvl1pPr marL="0" indent="0" algn="l">
              <a:buNone/>
              <a:defRPr sz="2800">
                <a:solidFill>
                  <a:schemeClr val="tx1"/>
                </a:solidFill>
                <a:latin typeface="+mn-lt"/>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Tree>
    <p:extLst>
      <p:ext uri="{BB962C8B-B14F-4D97-AF65-F5344CB8AC3E}">
        <p14:creationId xmlns:p14="http://schemas.microsoft.com/office/powerpoint/2010/main" val="1485779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Games Interaction Technology</a:t>
            </a:r>
          </a:p>
        </p:txBody>
      </p:sp>
    </p:spTree>
    <p:extLst>
      <p:ext uri="{BB962C8B-B14F-4D97-AF65-F5344CB8AC3E}">
        <p14:creationId xmlns:p14="http://schemas.microsoft.com/office/powerpoint/2010/main" val="1901777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10972800" cy="850106"/>
          </a:xfrm>
          <a:solidFill>
            <a:schemeClr val="accent1"/>
          </a:solidFill>
        </p:spPr>
        <p:txBody>
          <a:bodyPr/>
          <a:lstStyle>
            <a:lvl1pPr>
              <a:defRPr>
                <a:solidFill>
                  <a:schemeClr val="tx1"/>
                </a:solidFill>
              </a:defRPr>
            </a:lvl1pPr>
          </a:lstStyle>
          <a:p>
            <a:r>
              <a:rPr lang="en-GB" dirty="0"/>
              <a:t>Games Interaction Technology</a:t>
            </a:r>
          </a:p>
        </p:txBody>
      </p:sp>
      <p:sp>
        <p:nvSpPr>
          <p:cNvPr id="3" name="Content Placeholder 2"/>
          <p:cNvSpPr>
            <a:spLocks noGrp="1"/>
          </p:cNvSpPr>
          <p:nvPr>
            <p:ph idx="1"/>
          </p:nvPr>
        </p:nvSpPr>
        <p:spPr>
          <a:xfrm>
            <a:off x="609600" y="1268760"/>
            <a:ext cx="10972800" cy="53285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13355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11" name="Rectangle 10"/>
          <p:cNvSpPr/>
          <p:nvPr userDrawn="1"/>
        </p:nvSpPr>
        <p:spPr>
          <a:xfrm>
            <a:off x="6216395" y="1556056"/>
            <a:ext cx="5361312" cy="613784"/>
          </a:xfrm>
          <a:prstGeom prst="rect">
            <a:avLst/>
          </a:prstGeom>
          <a:solidFill>
            <a:srgbClr val="FFFFFF">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0" name="Rectangle 9"/>
          <p:cNvSpPr/>
          <p:nvPr userDrawn="1"/>
        </p:nvSpPr>
        <p:spPr>
          <a:xfrm>
            <a:off x="638677" y="1556792"/>
            <a:ext cx="5361312" cy="613784"/>
          </a:xfrm>
          <a:prstGeom prst="rect">
            <a:avLst/>
          </a:prstGeom>
          <a:solidFill>
            <a:srgbClr val="FFFFFF">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Title 1"/>
          <p:cNvSpPr>
            <a:spLocks noGrp="1"/>
          </p:cNvSpPr>
          <p:nvPr>
            <p:ph type="title" hasCustomPrompt="1"/>
          </p:nvPr>
        </p:nvSpPr>
        <p:spPr/>
        <p:txBody>
          <a:bodyPr/>
          <a:lstStyle>
            <a:lvl1pPr>
              <a:defRPr/>
            </a:lvl1pPr>
          </a:lstStyle>
          <a:p>
            <a:r>
              <a:rPr lang="en-GB" dirty="0"/>
              <a:t>Games Interaction Technology</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a:hlinkClick r:id="" action="ppaction://hlinkshowjump?jump=nextslide"/>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13849" y="6309320"/>
            <a:ext cx="405329" cy="450964"/>
          </a:xfrm>
          <a:prstGeom prst="rect">
            <a:avLst/>
          </a:prstGeom>
        </p:spPr>
      </p:pic>
      <p:pic>
        <p:nvPicPr>
          <p:cNvPr id="15" name="Picture 14">
            <a:hlinkClick r:id="" action="ppaction://hlinkshowjump?jump=previousslide"/>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62622" y="6309320"/>
            <a:ext cx="405329" cy="450964"/>
          </a:xfrm>
          <a:prstGeom prst="rect">
            <a:avLst/>
          </a:prstGeom>
        </p:spPr>
      </p:pic>
    </p:spTree>
    <p:extLst>
      <p:ext uri="{BB962C8B-B14F-4D97-AF65-F5344CB8AC3E}">
        <p14:creationId xmlns:p14="http://schemas.microsoft.com/office/powerpoint/2010/main" val="2647692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Las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Games Interaction Technology</a:t>
            </a:r>
          </a:p>
        </p:txBody>
      </p:sp>
      <p:pic>
        <p:nvPicPr>
          <p:cNvPr id="9" name="Picture 8">
            <a:hlinkClick r:id="" action="ppaction://hlinkshowjump?jump=previousslide"/>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62622" y="6309320"/>
            <a:ext cx="405329" cy="450964"/>
          </a:xfrm>
          <a:prstGeom prst="rect">
            <a:avLst/>
          </a:prstGeom>
        </p:spPr>
      </p:pic>
    </p:spTree>
    <p:extLst>
      <p:ext uri="{BB962C8B-B14F-4D97-AF65-F5344CB8AC3E}">
        <p14:creationId xmlns:p14="http://schemas.microsoft.com/office/powerpoint/2010/main" val="1020829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0000"/>
            </a:gs>
            <a:gs pos="80000">
              <a:schemeClr val="bg1">
                <a:lumMod val="50000"/>
              </a:schemeClr>
            </a:gs>
            <a:gs pos="100000">
              <a:schemeClr val="bg1">
                <a:lumMod val="60000"/>
                <a:lumOff val="40000"/>
              </a:scheme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850106"/>
          </a:xfrm>
          <a:prstGeom prst="rect">
            <a:avLst/>
          </a:prstGeom>
          <a:solidFill>
            <a:schemeClr val="accent1"/>
          </a:solidFill>
        </p:spPr>
        <p:txBody>
          <a:bodyPr vert="horz" lIns="91440" tIns="45720" rIns="91440" bIns="45720" rtlCol="0" anchor="ctr">
            <a:normAutofit/>
          </a:bodyPr>
          <a:lstStyle/>
          <a:p>
            <a:r>
              <a:rPr lang="en-GB" dirty="0"/>
              <a:t>Games Interaction Technology</a:t>
            </a:r>
          </a:p>
        </p:txBody>
      </p:sp>
      <p:sp>
        <p:nvSpPr>
          <p:cNvPr id="3" name="Text Placeholder 2"/>
          <p:cNvSpPr>
            <a:spLocks noGrp="1"/>
          </p:cNvSpPr>
          <p:nvPr>
            <p:ph type="body" idx="1"/>
          </p:nvPr>
        </p:nvSpPr>
        <p:spPr>
          <a:xfrm>
            <a:off x="609600" y="1268760"/>
            <a:ext cx="10972800" cy="53285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7" name="Picture 2" descr="C:\Users\jw\Documents\Visual Studio 2010\Projects\JSBubbles\JSBubbles.Game\images\themes\metro\Next.png">
            <a:hlinkClick r:id="" action="ppaction://hlinkshowjump?jump=nextslide"/>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0672039" y="6348019"/>
            <a:ext cx="533400" cy="400050"/>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hlinkClick r:id="" action="ppaction://hlinkshowjump?jump=endshow"/>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1411520" y="6343213"/>
            <a:ext cx="533475" cy="400106"/>
          </a:xfrm>
          <a:prstGeom prst="rect">
            <a:avLst/>
          </a:prstGeom>
        </p:spPr>
      </p:pic>
      <p:pic>
        <p:nvPicPr>
          <p:cNvPr id="9" name="Obraz 8">
            <a:hlinkClick r:id="" action="ppaction://hlinkshowjump?jump=firstslide"/>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931877" y="6347991"/>
            <a:ext cx="533475" cy="400106"/>
          </a:xfrm>
          <a:prstGeom prst="rect">
            <a:avLst/>
          </a:prstGeom>
        </p:spPr>
      </p:pic>
      <p:pic>
        <p:nvPicPr>
          <p:cNvPr id="10" name="Obraz 9">
            <a:hlinkClick r:id="" action="ppaction://hlinkshowjump?jump=previousslide"/>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206401" y="6338466"/>
            <a:ext cx="558879" cy="419159"/>
          </a:xfrm>
          <a:prstGeom prst="rect">
            <a:avLst/>
          </a:prstGeom>
        </p:spPr>
      </p:pic>
      <p:sp>
        <p:nvSpPr>
          <p:cNvPr id="12" name="Rectangle 11"/>
          <p:cNvSpPr/>
          <p:nvPr userDrawn="1"/>
        </p:nvSpPr>
        <p:spPr>
          <a:xfrm>
            <a:off x="5415345" y="6525344"/>
            <a:ext cx="1484508" cy="360040"/>
          </a:xfrm>
          <a:prstGeom prst="rect">
            <a:avLst/>
          </a:prstGeom>
          <a:blipFill dpi="0" rotWithShape="1">
            <a:blip r:embed="rId11">
              <a:alphaModFix amt="30000"/>
            </a:blip>
            <a:srcRect/>
            <a:stretch>
              <a:fillRect/>
            </a:stretch>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Tree>
    <p:extLst>
      <p:ext uri="{BB962C8B-B14F-4D97-AF65-F5344CB8AC3E}">
        <p14:creationId xmlns:p14="http://schemas.microsoft.com/office/powerpoint/2010/main" val="40789859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spcBef>
          <a:spcPct val="0"/>
        </a:spcBef>
        <a:buNone/>
        <a:defRPr sz="4400" kern="1200">
          <a:solidFill>
            <a:schemeClr val="tx1"/>
          </a:solidFill>
          <a:latin typeface="+mj-lt"/>
          <a:ea typeface="Segoe UI" pitchFamily="34" charset="0"/>
          <a:cs typeface="Segoe UI" pitchFamily="34" charset="0"/>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Segoe UI" pitchFamily="34" charset="0"/>
          <a:cs typeface="Segoe UI" pitchFamily="34" charset="0"/>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Module-Code/3DIMD_2018_03_CW2_Toyshop_6_noHolo/tree/copilot/add-mermaid-diagram-for-architectur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a:t>3D Interactive Media Development</a:t>
            </a:r>
          </a:p>
        </p:txBody>
      </p:sp>
      <p:sp>
        <p:nvSpPr>
          <p:cNvPr id="3" name="Subtitle 2"/>
          <p:cNvSpPr>
            <a:spLocks noGrp="1"/>
          </p:cNvSpPr>
          <p:nvPr>
            <p:ph type="subTitle" idx="1"/>
          </p:nvPr>
        </p:nvSpPr>
        <p:spPr>
          <a:xfrm>
            <a:off x="2207567" y="3212976"/>
            <a:ext cx="8241357" cy="2502024"/>
          </a:xfrm>
        </p:spPr>
        <p:txBody>
          <a:bodyPr vert="horz" lIns="91440" tIns="45720" rIns="91440" bIns="45720" rtlCol="0" anchor="t">
            <a:normAutofit/>
          </a:bodyPr>
          <a:lstStyle/>
          <a:p>
            <a:r>
              <a:rPr lang="en-GB" b="1" dirty="0">
                <a:solidFill>
                  <a:srgbClr val="FFFF00"/>
                </a:solidFill>
                <a:cs typeface="Segoe UI"/>
              </a:rPr>
              <a:t>5MMCS001W					Lecture</a:t>
            </a:r>
            <a:endParaRPr lang="en-GB" b="1" dirty="0">
              <a:solidFill>
                <a:srgbClr val="FFFF00"/>
              </a:solidFill>
            </a:endParaRPr>
          </a:p>
          <a:p>
            <a:endParaRPr lang="en-GB" b="1" dirty="0">
              <a:solidFill>
                <a:srgbClr val="FFFF00"/>
              </a:solidFill>
            </a:endParaRPr>
          </a:p>
          <a:p>
            <a:endParaRPr lang="en-GB" b="1" dirty="0">
              <a:solidFill>
                <a:srgbClr val="FFFF00"/>
              </a:solidFill>
            </a:endParaRPr>
          </a:p>
          <a:p>
            <a:endParaRPr lang="en-GB" b="1" dirty="0">
              <a:solidFill>
                <a:srgbClr val="FFFF00"/>
              </a:solidFill>
            </a:endParaRPr>
          </a:p>
          <a:p>
            <a:pPr algn="ctr"/>
            <a:endParaRPr lang="en-GB" b="1" dirty="0">
              <a:solidFill>
                <a:srgbClr val="FFFF00"/>
              </a:solidFill>
            </a:endParaRPr>
          </a:p>
        </p:txBody>
      </p:sp>
      <p:sp>
        <p:nvSpPr>
          <p:cNvPr id="4" name="TextBox 3">
            <a:extLst>
              <a:ext uri="{FF2B5EF4-FFF2-40B4-BE49-F238E27FC236}">
                <a16:creationId xmlns:a16="http://schemas.microsoft.com/office/drawing/2014/main" id="{E810B30E-196E-3304-2639-CF26DA69C9D6}"/>
              </a:ext>
            </a:extLst>
          </p:cNvPr>
          <p:cNvSpPr txBox="1"/>
          <p:nvPr/>
        </p:nvSpPr>
        <p:spPr>
          <a:xfrm>
            <a:off x="1016000" y="4308231"/>
            <a:ext cx="1035538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3"/>
              </a:rPr>
              <a:t>https://github.com/Module-Code/3DIMD_2018_03_CW2_Toyshop_6_noHolo/tree/copilot/add-mermaid-diagram-for-architecture</a:t>
            </a:r>
            <a:endParaRPr lang="en-US"/>
          </a:p>
          <a:p>
            <a:endParaRPr lang="en-US" dirty="0">
              <a:cs typeface="Segoe UI Light"/>
            </a:endParaRPr>
          </a:p>
          <a:p>
            <a:pPr algn="ctr"/>
            <a:endParaRPr lang="en-GB">
              <a:cs typeface="Segoe UI Light"/>
            </a:endParaRPr>
          </a:p>
        </p:txBody>
      </p:sp>
    </p:spTree>
    <p:extLst>
      <p:ext uri="{BB962C8B-B14F-4D97-AF65-F5344CB8AC3E}">
        <p14:creationId xmlns:p14="http://schemas.microsoft.com/office/powerpoint/2010/main" val="1788183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3D Interactive Media Development</a:t>
            </a:r>
            <a:endParaRPr lang="en-GB" sz="4000" dirty="0"/>
          </a:p>
        </p:txBody>
      </p:sp>
      <p:sp>
        <p:nvSpPr>
          <p:cNvPr id="22" name="TextBox 21"/>
          <p:cNvSpPr txBox="1"/>
          <p:nvPr/>
        </p:nvSpPr>
        <p:spPr>
          <a:xfrm>
            <a:off x="523875" y="1150632"/>
            <a:ext cx="11582400" cy="6124754"/>
          </a:xfrm>
          <a:prstGeom prst="rect">
            <a:avLst/>
          </a:prstGeom>
          <a:noFill/>
        </p:spPr>
        <p:txBody>
          <a:bodyPr wrap="square" lIns="91440" tIns="45720" rIns="91440" bIns="45720" rtlCol="0" anchor="t">
            <a:spAutoFit/>
          </a:bodyPr>
          <a:lstStyle/>
          <a:p>
            <a:r>
              <a:rPr lang="en-GB" sz="2400" kern="0" err="1">
                <a:solidFill>
                  <a:srgbClr val="FFFF00"/>
                </a:solidFill>
                <a:latin typeface="Calibri"/>
                <a:ea typeface="Calibri"/>
                <a:cs typeface="Calibri"/>
              </a:rPr>
              <a:t>CameraSwap</a:t>
            </a:r>
            <a:r>
              <a:rPr lang="en-GB" sz="2400" kern="0" dirty="0">
                <a:solidFill>
                  <a:srgbClr val="FFFF00"/>
                </a:solidFill>
                <a:latin typeface="Calibri"/>
                <a:ea typeface="Calibri"/>
                <a:cs typeface="Calibri"/>
              </a:rPr>
              <a:t> on Mystery Camera Cube:</a:t>
            </a:r>
          </a:p>
          <a:p>
            <a:pPr marL="342900" indent="-342900">
              <a:buFont typeface="Arial" panose="020B0604020202020204" pitchFamily="34" charset="0"/>
              <a:buChar char="•"/>
            </a:pPr>
            <a:r>
              <a:rPr lang="en-GB" sz="2400" kern="0" dirty="0">
                <a:latin typeface="Calibri"/>
                <a:ea typeface="Calibri"/>
                <a:cs typeface="Calibri"/>
              </a:rPr>
              <a:t>	</a:t>
            </a:r>
            <a:r>
              <a:rPr lang="en-GB" sz="2400" kern="0" err="1">
                <a:latin typeface="Calibri"/>
                <a:ea typeface="Calibri"/>
                <a:cs typeface="Calibri"/>
              </a:rPr>
              <a:t>ActiveSwap.cs</a:t>
            </a:r>
            <a:r>
              <a:rPr lang="en-GB" sz="2400" kern="0" dirty="0">
                <a:latin typeface="Calibri"/>
                <a:ea typeface="Calibri"/>
                <a:cs typeface="Calibri"/>
              </a:rPr>
              <a:t> </a:t>
            </a:r>
            <a:r>
              <a:rPr lang="en-GB" kern="0" dirty="0">
                <a:latin typeface="Calibri"/>
                <a:ea typeface="Calibri"/>
                <a:cs typeface="Calibri"/>
              </a:rPr>
              <a:t>Tracks </a:t>
            </a:r>
            <a:r>
              <a:rPr lang="en-GB" kern="0" err="1">
                <a:latin typeface="Calibri"/>
                <a:ea typeface="Calibri"/>
                <a:cs typeface="Calibri"/>
              </a:rPr>
              <a:t>global.raceCar</a:t>
            </a:r>
            <a:r>
              <a:rPr lang="en-GB" kern="0" dirty="0">
                <a:latin typeface="Calibri"/>
                <a:ea typeface="Calibri"/>
                <a:cs typeface="Calibri"/>
              </a:rPr>
              <a:t> and </a:t>
            </a:r>
            <a:r>
              <a:rPr lang="en-GB" kern="0" err="1">
                <a:latin typeface="Calibri"/>
                <a:ea typeface="Calibri"/>
                <a:cs typeface="Calibri"/>
              </a:rPr>
              <a:t>global.holo</a:t>
            </a:r>
            <a:r>
              <a:rPr lang="en-GB" kern="0" dirty="0">
                <a:latin typeface="Calibri"/>
                <a:ea typeface="Calibri"/>
                <a:cs typeface="Calibri"/>
              </a:rPr>
              <a:t> Booleans for switching cameras.</a:t>
            </a:r>
          </a:p>
          <a:p>
            <a:r>
              <a:rPr lang="en-GB" sz="2400" kern="0" dirty="0">
                <a:solidFill>
                  <a:srgbClr val="FFFF00"/>
                </a:solidFill>
                <a:latin typeface="Calibri"/>
                <a:ea typeface="Calibri"/>
                <a:cs typeface="Calibri"/>
              </a:rPr>
              <a:t>Camera Movement:</a:t>
            </a:r>
          </a:p>
          <a:p>
            <a:r>
              <a:rPr lang="en-GB" sz="2400" kern="0" dirty="0">
                <a:solidFill>
                  <a:srgbClr val="FFFF00"/>
                </a:solidFill>
                <a:latin typeface="Calibri"/>
                <a:ea typeface="Calibri"/>
                <a:cs typeface="Calibri"/>
              </a:rPr>
              <a:t>	Main Camera - </a:t>
            </a:r>
            <a:r>
              <a:rPr lang="en-GB" sz="2400" kern="0" err="1">
                <a:latin typeface="Calibri"/>
                <a:ea typeface="Calibri"/>
                <a:cs typeface="Calibri"/>
              </a:rPr>
              <a:t>WayPoints.cs</a:t>
            </a:r>
            <a:r>
              <a:rPr lang="en-GB" kern="0" dirty="0">
                <a:latin typeface="Calibri"/>
                <a:ea typeface="Calibri"/>
                <a:cs typeface="Calibri"/>
              </a:rPr>
              <a:t>, </a:t>
            </a:r>
            <a:r>
              <a:rPr lang="en-GB" kern="0" err="1">
                <a:latin typeface="Calibri"/>
                <a:ea typeface="Calibri"/>
                <a:cs typeface="Calibri"/>
              </a:rPr>
              <a:t>moveCamera.cs</a:t>
            </a:r>
            <a:r>
              <a:rPr lang="en-GB" kern="0" dirty="0">
                <a:latin typeface="Calibri"/>
                <a:ea typeface="Calibri"/>
                <a:cs typeface="Calibri"/>
              </a:rPr>
              <a:t> (unused, but has mouse input to camera rotation)</a:t>
            </a:r>
            <a:endParaRPr lang="en-GB" kern="0">
              <a:solidFill>
                <a:srgbClr val="FFFF00"/>
              </a:solidFill>
              <a:latin typeface="Calibri"/>
              <a:ea typeface="Calibri"/>
              <a:cs typeface="Calibri"/>
            </a:endParaRPr>
          </a:p>
          <a:p>
            <a:r>
              <a:rPr lang="en-GB" sz="2400" kern="0" dirty="0">
                <a:solidFill>
                  <a:srgbClr val="FFFF00"/>
                </a:solidFill>
                <a:latin typeface="Calibri"/>
                <a:ea typeface="Calibri"/>
                <a:cs typeface="Calibri"/>
              </a:rPr>
              <a:t>	Car Camera - </a:t>
            </a:r>
            <a:r>
              <a:rPr lang="en-GB" sz="2400" kern="0" err="1">
                <a:latin typeface="Calibri"/>
                <a:ea typeface="Calibri"/>
                <a:cs typeface="Calibri"/>
              </a:rPr>
              <a:t>CamFollow.cs</a:t>
            </a:r>
            <a:r>
              <a:rPr lang="en-GB" sz="2400" kern="0" dirty="0">
                <a:latin typeface="Calibri"/>
                <a:ea typeface="Calibri"/>
                <a:cs typeface="Calibri"/>
              </a:rPr>
              <a:t> </a:t>
            </a:r>
            <a:r>
              <a:rPr lang="en-GB" kern="0" dirty="0">
                <a:latin typeface="Calibri"/>
                <a:ea typeface="Calibri"/>
                <a:cs typeface="Calibri"/>
              </a:rPr>
              <a:t>– has two positions, </a:t>
            </a:r>
            <a:r>
              <a:rPr lang="en-GB" kern="0" err="1">
                <a:latin typeface="Calibri"/>
                <a:ea typeface="Calibri"/>
                <a:cs typeface="Calibri"/>
              </a:rPr>
              <a:t>LookAt</a:t>
            </a:r>
            <a:r>
              <a:rPr lang="en-GB" kern="0" dirty="0">
                <a:latin typeface="Calibri"/>
                <a:ea typeface="Calibri"/>
                <a:cs typeface="Calibri"/>
              </a:rPr>
              <a:t>, and follows car object in one position.</a:t>
            </a:r>
          </a:p>
          <a:p>
            <a:r>
              <a:rPr lang="en-GB" sz="2400" kern="0" dirty="0">
                <a:solidFill>
                  <a:srgbClr val="FFFF00"/>
                </a:solidFill>
                <a:latin typeface="Calibri"/>
                <a:ea typeface="Calibri"/>
                <a:cs typeface="Calibri"/>
              </a:rPr>
              <a:t>	</a:t>
            </a:r>
            <a:r>
              <a:rPr lang="en-GB" sz="2400" kern="0" dirty="0" err="1">
                <a:solidFill>
                  <a:srgbClr val="FFFF00"/>
                </a:solidFill>
                <a:latin typeface="Calibri"/>
                <a:ea typeface="Calibri"/>
                <a:cs typeface="Calibri"/>
              </a:rPr>
              <a:t>Holo</a:t>
            </a:r>
            <a:r>
              <a:rPr lang="en-GB" sz="2400" kern="0" dirty="0">
                <a:solidFill>
                  <a:srgbClr val="FFFF00"/>
                </a:solidFill>
                <a:latin typeface="Calibri"/>
                <a:ea typeface="Calibri"/>
                <a:cs typeface="Calibri"/>
              </a:rPr>
              <a:t> Camera </a:t>
            </a:r>
            <a:r>
              <a:rPr lang="en-GB" sz="2400" kern="0" dirty="0">
                <a:solidFill>
                  <a:schemeClr val="tx2"/>
                </a:solidFill>
                <a:latin typeface="Calibri"/>
                <a:ea typeface="Calibri"/>
                <a:cs typeface="Calibri"/>
              </a:rPr>
              <a:t>- Static</a:t>
            </a:r>
          </a:p>
          <a:p>
            <a:r>
              <a:rPr lang="en-GB" sz="2400" kern="0" dirty="0">
                <a:solidFill>
                  <a:srgbClr val="FFFF00"/>
                </a:solidFill>
                <a:latin typeface="Calibri"/>
                <a:ea typeface="Calibri"/>
                <a:cs typeface="Calibri"/>
              </a:rPr>
              <a:t>Global States</a:t>
            </a:r>
            <a:endParaRPr lang="en-GB" sz="2400" kern="0" dirty="0">
              <a:latin typeface="Calibri"/>
              <a:ea typeface="Calibri"/>
              <a:cs typeface="Calibri"/>
            </a:endParaRPr>
          </a:p>
          <a:p>
            <a:pPr marL="342900" indent="-342900">
              <a:buFont typeface="Arial" panose="020B0604020202020204" pitchFamily="34" charset="0"/>
              <a:buChar char="•"/>
            </a:pPr>
            <a:r>
              <a:rPr lang="en-GB" sz="2200" kern="0" err="1">
                <a:latin typeface="Calibri"/>
                <a:ea typeface="Calibri"/>
                <a:cs typeface="Calibri"/>
              </a:rPr>
              <a:t>global.states</a:t>
            </a:r>
            <a:r>
              <a:rPr lang="en-GB" sz="2200" kern="0" dirty="0">
                <a:latin typeface="Calibri"/>
                <a:ea typeface="Calibri"/>
                <a:cs typeface="Calibri"/>
              </a:rPr>
              <a:t> are on Canvases with </a:t>
            </a:r>
            <a:r>
              <a:rPr lang="en-GB" sz="2200" kern="0" err="1">
                <a:latin typeface="Calibri"/>
                <a:ea typeface="Calibri"/>
                <a:cs typeface="Calibri"/>
              </a:rPr>
              <a:t>ShowState.cs</a:t>
            </a:r>
            <a:r>
              <a:rPr lang="en-GB" sz="2200" kern="0" dirty="0">
                <a:latin typeface="Calibri"/>
                <a:ea typeface="Calibri"/>
                <a:cs typeface="Calibri"/>
              </a:rPr>
              <a:t> public variable for state definition and canvas display </a:t>
            </a:r>
          </a:p>
          <a:p>
            <a:pPr marL="342900" indent="-342900">
              <a:buFont typeface="Arial" panose="020B0604020202020204" pitchFamily="34" charset="0"/>
              <a:buChar char="•"/>
            </a:pPr>
            <a:r>
              <a:rPr lang="en-GB" sz="2200" kern="0" err="1">
                <a:latin typeface="Calibri"/>
                <a:ea typeface="Calibri"/>
                <a:cs typeface="Calibri"/>
              </a:rPr>
              <a:t>global.states</a:t>
            </a:r>
            <a:r>
              <a:rPr lang="en-GB" sz="2200" kern="0" dirty="0">
                <a:latin typeface="Calibri"/>
                <a:ea typeface="Calibri"/>
                <a:cs typeface="Calibri"/>
              </a:rPr>
              <a:t> are changed </a:t>
            </a:r>
            <a:r>
              <a:rPr lang="en-GB" sz="2200" kern="0" dirty="0">
                <a:solidFill>
                  <a:srgbClr val="FFFF00"/>
                </a:solidFill>
                <a:latin typeface="Calibri"/>
                <a:ea typeface="Calibri"/>
                <a:cs typeface="Calibri"/>
              </a:rPr>
              <a:t>(number value) </a:t>
            </a:r>
            <a:r>
              <a:rPr lang="en-GB" sz="2200" kern="0" dirty="0">
                <a:latin typeface="Calibri"/>
                <a:ea typeface="Calibri"/>
                <a:cs typeface="Calibri"/>
              </a:rPr>
              <a:t>by the </a:t>
            </a:r>
            <a:r>
              <a:rPr lang="en-GB" sz="2200" kern="0" err="1">
                <a:latin typeface="Calibri"/>
                <a:ea typeface="Calibri"/>
                <a:cs typeface="Calibri"/>
              </a:rPr>
              <a:t>ChangeState.cs</a:t>
            </a:r>
            <a:r>
              <a:rPr lang="en-GB" sz="2200" kern="0" dirty="0">
                <a:latin typeface="Calibri"/>
                <a:ea typeface="Calibri"/>
                <a:cs typeface="Calibri"/>
              </a:rPr>
              <a:t> on Buttons on Canvases above (set up in </a:t>
            </a:r>
            <a:r>
              <a:rPr lang="en-GB" sz="2200" kern="0" err="1">
                <a:latin typeface="Calibri"/>
                <a:ea typeface="Calibri"/>
                <a:cs typeface="Calibri"/>
              </a:rPr>
              <a:t>global.cs</a:t>
            </a:r>
            <a:r>
              <a:rPr lang="en-GB" sz="2200" kern="0" dirty="0">
                <a:latin typeface="Calibri"/>
                <a:ea typeface="Calibri"/>
                <a:cs typeface="Calibri"/>
              </a:rPr>
              <a:t>) – </a:t>
            </a:r>
            <a:r>
              <a:rPr lang="en-GB" sz="2200" kern="0" err="1">
                <a:latin typeface="Calibri"/>
                <a:ea typeface="Calibri"/>
                <a:cs typeface="Calibri"/>
              </a:rPr>
              <a:t>global.atPoint</a:t>
            </a:r>
            <a:r>
              <a:rPr lang="en-GB" sz="2200" kern="0" dirty="0">
                <a:latin typeface="Calibri"/>
                <a:ea typeface="Calibri"/>
                <a:cs typeface="Calibri"/>
              </a:rPr>
              <a:t> is rest state (not moving)</a:t>
            </a:r>
          </a:p>
          <a:p>
            <a:pPr marL="342900" indent="-342900">
              <a:buFont typeface="Arial" panose="020B0604020202020204" pitchFamily="34" charset="0"/>
              <a:buChar char="•"/>
            </a:pPr>
            <a:r>
              <a:rPr lang="en-GB" sz="2200" kern="0" dirty="0">
                <a:latin typeface="Calibri"/>
                <a:ea typeface="Calibri"/>
                <a:cs typeface="Calibri"/>
              </a:rPr>
              <a:t>Main Camera positioning is changed according to </a:t>
            </a:r>
            <a:r>
              <a:rPr lang="en-GB" sz="2200" kern="0" err="1">
                <a:latin typeface="Calibri"/>
                <a:ea typeface="Calibri"/>
                <a:cs typeface="Calibri"/>
              </a:rPr>
              <a:t>global.states</a:t>
            </a:r>
            <a:r>
              <a:rPr lang="en-GB" sz="2200" kern="0" dirty="0">
                <a:latin typeface="Calibri"/>
                <a:ea typeface="Calibri"/>
                <a:cs typeface="Calibri"/>
              </a:rPr>
              <a:t> in </a:t>
            </a:r>
            <a:r>
              <a:rPr lang="en-GB" sz="2200" kern="0" err="1">
                <a:latin typeface="Calibri"/>
                <a:ea typeface="Calibri"/>
                <a:cs typeface="Calibri"/>
              </a:rPr>
              <a:t>WayPoints.cs</a:t>
            </a:r>
            <a:endParaRPr lang="en-GB" sz="2200" kern="0">
              <a:latin typeface="Calibri"/>
              <a:ea typeface="Calibri"/>
              <a:cs typeface="Calibri"/>
            </a:endParaRPr>
          </a:p>
          <a:p>
            <a:pPr marL="342900" indent="-342900">
              <a:buFont typeface="Arial" panose="020B0604020202020204" pitchFamily="34" charset="0"/>
              <a:buChar char="•"/>
            </a:pPr>
            <a:r>
              <a:rPr lang="en-GB" sz="2200" kern="0" dirty="0">
                <a:latin typeface="Calibri"/>
                <a:ea typeface="Calibri"/>
                <a:cs typeface="Calibri"/>
              </a:rPr>
              <a:t>Booleans </a:t>
            </a:r>
            <a:r>
              <a:rPr lang="en-GB" sz="2200" kern="0" err="1">
                <a:latin typeface="Calibri"/>
                <a:ea typeface="Calibri"/>
                <a:cs typeface="Calibri"/>
              </a:rPr>
              <a:t>global.raceCar</a:t>
            </a:r>
            <a:r>
              <a:rPr lang="en-GB" sz="2200" kern="0" dirty="0">
                <a:latin typeface="Calibri"/>
                <a:ea typeface="Calibri"/>
                <a:cs typeface="Calibri"/>
              </a:rPr>
              <a:t> and </a:t>
            </a:r>
            <a:r>
              <a:rPr lang="en-GB" sz="2200" kern="0" err="1">
                <a:latin typeface="Calibri"/>
                <a:ea typeface="Calibri"/>
                <a:cs typeface="Calibri"/>
              </a:rPr>
              <a:t>global.holo</a:t>
            </a:r>
            <a:r>
              <a:rPr lang="en-GB" sz="2200" kern="0" dirty="0">
                <a:latin typeface="Calibri"/>
                <a:ea typeface="Calibri"/>
                <a:cs typeface="Calibri"/>
              </a:rPr>
              <a:t> are changed in Main Camera/</a:t>
            </a:r>
            <a:r>
              <a:rPr lang="en-GB" sz="2200" kern="0" err="1">
                <a:latin typeface="Calibri"/>
                <a:ea typeface="Calibri"/>
                <a:cs typeface="Calibri"/>
              </a:rPr>
              <a:t>WayPoints.cs</a:t>
            </a:r>
            <a:r>
              <a:rPr lang="en-GB" sz="2200" kern="0" dirty="0">
                <a:latin typeface="Calibri"/>
                <a:ea typeface="Calibri"/>
                <a:cs typeface="Calibri"/>
              </a:rPr>
              <a:t> when </a:t>
            </a:r>
            <a:r>
              <a:rPr lang="en-GB" sz="2200" kern="0" err="1">
                <a:latin typeface="Calibri"/>
                <a:ea typeface="Calibri"/>
                <a:cs typeface="Calibri"/>
              </a:rPr>
              <a:t>global.state</a:t>
            </a:r>
            <a:r>
              <a:rPr lang="en-GB" sz="2200" kern="0" dirty="0">
                <a:latin typeface="Calibri"/>
                <a:ea typeface="Calibri"/>
                <a:cs typeface="Calibri"/>
              </a:rPr>
              <a:t> is 100,200 – this switches cameras with </a:t>
            </a:r>
            <a:r>
              <a:rPr lang="en-GB" sz="2200" kern="0" err="1">
                <a:latin typeface="Calibri"/>
                <a:ea typeface="Calibri"/>
                <a:cs typeface="Calibri"/>
              </a:rPr>
              <a:t>MysteryCameraCube</a:t>
            </a:r>
            <a:r>
              <a:rPr lang="en-GB" sz="2200" kern="0" dirty="0">
                <a:latin typeface="Calibri"/>
                <a:ea typeface="Calibri"/>
                <a:cs typeface="Calibri"/>
              </a:rPr>
              <a:t>/</a:t>
            </a:r>
            <a:r>
              <a:rPr lang="en-GB" sz="2200" kern="0" err="1">
                <a:latin typeface="Calibri"/>
                <a:ea typeface="Calibri"/>
                <a:cs typeface="Calibri"/>
              </a:rPr>
              <a:t>ActiveSwap.cs</a:t>
            </a:r>
            <a:endParaRPr lang="en-GB" sz="2200" kern="0">
              <a:latin typeface="Calibri"/>
              <a:ea typeface="Calibri"/>
              <a:cs typeface="Calibri"/>
            </a:endParaRPr>
          </a:p>
          <a:p>
            <a:pPr marL="342900" indent="-342900">
              <a:buFont typeface="Arial" panose="020B0604020202020204" pitchFamily="34" charset="0"/>
              <a:buChar char="•"/>
            </a:pPr>
            <a:r>
              <a:rPr lang="en-GB" sz="2200" kern="0" dirty="0">
                <a:latin typeface="Calibri"/>
                <a:ea typeface="Calibri"/>
                <a:cs typeface="Calibri"/>
              </a:rPr>
              <a:t>Otherwise the Main Camera is used and controlled by the </a:t>
            </a:r>
            <a:r>
              <a:rPr lang="en-GB" sz="2200" kern="0" dirty="0" err="1">
                <a:latin typeface="Calibri"/>
                <a:ea typeface="Calibri"/>
                <a:cs typeface="Calibri"/>
              </a:rPr>
              <a:t>global.states</a:t>
            </a:r>
            <a:r>
              <a:rPr lang="en-GB" sz="2200" kern="0" dirty="0">
                <a:latin typeface="Calibri"/>
                <a:ea typeface="Calibri"/>
                <a:cs typeface="Calibri"/>
              </a:rPr>
              <a:t> = -1 to 3</a:t>
            </a:r>
          </a:p>
          <a:p>
            <a:r>
              <a:rPr lang="en-GB" sz="2400" kern="0" dirty="0">
                <a:solidFill>
                  <a:srgbClr val="FFFF00"/>
                </a:solidFill>
                <a:latin typeface="Calibri"/>
                <a:ea typeface="Calibri"/>
                <a:cs typeface="Calibri"/>
              </a:rPr>
              <a:t>	</a:t>
            </a:r>
          </a:p>
          <a:p>
            <a:endParaRPr lang="en-GB" sz="2400" kern="0" dirty="0">
              <a:solidFill>
                <a:srgbClr val="FF0000"/>
              </a:solidFill>
              <a:latin typeface="Calibri"/>
              <a:ea typeface="Calibri"/>
              <a:cs typeface="Calibri"/>
            </a:endParaRPr>
          </a:p>
        </p:txBody>
      </p:sp>
    </p:spTree>
    <p:extLst>
      <p:ext uri="{BB962C8B-B14F-4D97-AF65-F5344CB8AC3E}">
        <p14:creationId xmlns:p14="http://schemas.microsoft.com/office/powerpoint/2010/main" val="3381009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3D Interactive Media Development</a:t>
            </a:r>
            <a:endParaRPr lang="en-GB" sz="4000" dirty="0"/>
          </a:p>
        </p:txBody>
      </p:sp>
      <p:sp>
        <p:nvSpPr>
          <p:cNvPr id="22" name="TextBox 21"/>
          <p:cNvSpPr txBox="1"/>
          <p:nvPr/>
        </p:nvSpPr>
        <p:spPr>
          <a:xfrm>
            <a:off x="609600" y="1293507"/>
            <a:ext cx="10972800" cy="5170646"/>
          </a:xfrm>
          <a:prstGeom prst="rect">
            <a:avLst/>
          </a:prstGeom>
          <a:noFill/>
        </p:spPr>
        <p:txBody>
          <a:bodyPr wrap="square" lIns="91440" tIns="45720" rIns="91440" bIns="45720" rtlCol="0" anchor="t">
            <a:spAutoFit/>
          </a:bodyPr>
          <a:lstStyle/>
          <a:p>
            <a:r>
              <a:rPr lang="en-GB" sz="3200" b="1" kern="0" dirty="0">
                <a:solidFill>
                  <a:srgbClr val="FFFF00"/>
                </a:solidFill>
              </a:rPr>
              <a:t>Interaction:</a:t>
            </a:r>
          </a:p>
          <a:p>
            <a:endParaRPr lang="en-GB" dirty="0"/>
          </a:p>
          <a:p>
            <a:r>
              <a:rPr lang="en-GB" sz="2400" b="1" dirty="0">
                <a:solidFill>
                  <a:srgbClr val="FFFF00"/>
                </a:solidFill>
              </a:rPr>
              <a:t>Global States – these are defined on a Canvas with a button to change it</a:t>
            </a:r>
            <a:endParaRPr lang="en-US" sz="2400" b="1" dirty="0">
              <a:solidFill>
                <a:srgbClr val="FFFF00"/>
              </a:solidFill>
            </a:endParaRPr>
          </a:p>
          <a:p>
            <a:r>
              <a:rPr lang="en-GB" sz="2000" dirty="0"/>
              <a:t>State (Integer):</a:t>
            </a:r>
            <a:endParaRPr lang="en-GB" sz="2000" dirty="0">
              <a:cs typeface="Segoe UI Light"/>
            </a:endParaRPr>
          </a:p>
          <a:p>
            <a:pPr lvl="1"/>
            <a:r>
              <a:rPr lang="en-GB" sz="2000" dirty="0"/>
              <a:t>Outside = -1</a:t>
            </a:r>
            <a:endParaRPr lang="en-GB" sz="2000" dirty="0">
              <a:cs typeface="Segoe UI Light"/>
            </a:endParaRPr>
          </a:p>
          <a:p>
            <a:pPr lvl="1"/>
            <a:r>
              <a:rPr lang="en-GB" sz="2000" dirty="0"/>
              <a:t>Enter = 0</a:t>
            </a:r>
            <a:endParaRPr lang="en-GB" sz="2000" dirty="0">
              <a:cs typeface="Segoe UI Light"/>
            </a:endParaRPr>
          </a:p>
          <a:p>
            <a:pPr lvl="1"/>
            <a:r>
              <a:rPr lang="en-GB" sz="2000" dirty="0"/>
              <a:t>Inside =  1</a:t>
            </a:r>
            <a:endParaRPr lang="en-GB" sz="2000" dirty="0">
              <a:cs typeface="Segoe UI Light"/>
            </a:endParaRPr>
          </a:p>
          <a:p>
            <a:pPr lvl="1"/>
            <a:r>
              <a:rPr lang="en-GB" sz="2000" dirty="0"/>
              <a:t>Shelf = 2</a:t>
            </a:r>
            <a:endParaRPr lang="en-GB" sz="2000" dirty="0">
              <a:cs typeface="Segoe UI Light"/>
            </a:endParaRPr>
          </a:p>
          <a:p>
            <a:pPr lvl="1"/>
            <a:r>
              <a:rPr lang="en-GB" sz="2000" dirty="0"/>
              <a:t>Shelf Selection = 3</a:t>
            </a:r>
            <a:endParaRPr lang="en-GB" sz="2000" dirty="0">
              <a:cs typeface="Segoe UI Light"/>
            </a:endParaRPr>
          </a:p>
          <a:p>
            <a:pPr lvl="1"/>
            <a:r>
              <a:rPr lang="en-GB" sz="2000" dirty="0"/>
              <a:t>Car = 100</a:t>
            </a:r>
            <a:endParaRPr lang="en-GB" sz="2000" dirty="0">
              <a:cs typeface="Segoe UI Light"/>
            </a:endParaRPr>
          </a:p>
          <a:p>
            <a:pPr lvl="1"/>
            <a:r>
              <a:rPr lang="en-GB" sz="2000" dirty="0" err="1"/>
              <a:t>Holo</a:t>
            </a:r>
            <a:r>
              <a:rPr lang="en-GB" sz="2000" dirty="0"/>
              <a:t> = 200</a:t>
            </a:r>
            <a:endParaRPr lang="en-GB" sz="2000" dirty="0">
              <a:cs typeface="Segoe UI Light"/>
            </a:endParaRPr>
          </a:p>
          <a:p>
            <a:r>
              <a:rPr lang="en-GB" sz="2400" b="1" dirty="0">
                <a:solidFill>
                  <a:srgbClr val="FFFF00"/>
                </a:solidFill>
              </a:rPr>
              <a:t>States changed via canvas buttons/</a:t>
            </a:r>
            <a:r>
              <a:rPr lang="en-GB" sz="2400" b="1" err="1">
                <a:solidFill>
                  <a:srgbClr val="FFFF00"/>
                </a:solidFill>
              </a:rPr>
              <a:t>chageState.cs</a:t>
            </a:r>
            <a:br>
              <a:rPr lang="en-GB" sz="2400" b="1" dirty="0">
                <a:solidFill>
                  <a:srgbClr val="FFFF00"/>
                </a:solidFill>
              </a:rPr>
            </a:br>
            <a:r>
              <a:rPr lang="en-GB" sz="2400" b="1" dirty="0">
                <a:solidFill>
                  <a:srgbClr val="FFFF00"/>
                </a:solidFill>
              </a:rPr>
              <a:t>Inform Camera Waypoints Script to move position of Main Camera. </a:t>
            </a:r>
            <a:br>
              <a:rPr lang="en-GB" sz="2400" b="1" dirty="0">
                <a:solidFill>
                  <a:srgbClr val="FFFF00"/>
                </a:solidFill>
              </a:rPr>
            </a:br>
            <a:r>
              <a:rPr lang="en-GB" sz="2400" b="1" dirty="0">
                <a:solidFill>
                  <a:srgbClr val="FFFF00"/>
                </a:solidFill>
              </a:rPr>
              <a:t>There is also a Car Camera and a </a:t>
            </a:r>
            <a:r>
              <a:rPr lang="en-GB" sz="2400" b="1" err="1">
                <a:solidFill>
                  <a:srgbClr val="FFFF00"/>
                </a:solidFill>
              </a:rPr>
              <a:t>Holo</a:t>
            </a:r>
            <a:r>
              <a:rPr lang="en-GB" sz="2400" b="1" dirty="0">
                <a:solidFill>
                  <a:srgbClr val="FFFF00"/>
                </a:solidFill>
              </a:rPr>
              <a:t> Camera that can be activated.</a:t>
            </a:r>
          </a:p>
          <a:p>
            <a:r>
              <a:rPr lang="en-GB" sz="2400" b="1" dirty="0">
                <a:solidFill>
                  <a:srgbClr val="FFFF00"/>
                </a:solidFill>
                <a:cs typeface="Segoe UI Light"/>
              </a:rPr>
              <a:t>Must be </a:t>
            </a:r>
            <a:r>
              <a:rPr lang="en-GB" sz="2400" b="1" dirty="0" err="1">
                <a:solidFill>
                  <a:srgbClr val="FFFF00"/>
                </a:solidFill>
                <a:cs typeface="Segoe UI Light"/>
              </a:rPr>
              <a:t>atPoint</a:t>
            </a:r>
            <a:r>
              <a:rPr lang="en-GB" sz="2400" b="1" dirty="0">
                <a:solidFill>
                  <a:srgbClr val="FFFF00"/>
                </a:solidFill>
                <a:cs typeface="Segoe UI Light"/>
              </a:rPr>
              <a:t> to be moved =&gt;</a:t>
            </a:r>
          </a:p>
        </p:txBody>
      </p:sp>
    </p:spTree>
    <p:extLst>
      <p:ext uri="{BB962C8B-B14F-4D97-AF65-F5344CB8AC3E}">
        <p14:creationId xmlns:p14="http://schemas.microsoft.com/office/powerpoint/2010/main" val="1403685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3D Interactive Media Development</a:t>
            </a:r>
            <a:endParaRPr lang="en-GB" sz="4000" dirty="0"/>
          </a:p>
        </p:txBody>
      </p:sp>
      <p:sp>
        <p:nvSpPr>
          <p:cNvPr id="22" name="TextBox 21"/>
          <p:cNvSpPr txBox="1"/>
          <p:nvPr/>
        </p:nvSpPr>
        <p:spPr>
          <a:xfrm>
            <a:off x="609600" y="1293507"/>
            <a:ext cx="10972800" cy="5416868"/>
          </a:xfrm>
          <a:prstGeom prst="rect">
            <a:avLst/>
          </a:prstGeom>
          <a:noFill/>
        </p:spPr>
        <p:txBody>
          <a:bodyPr wrap="square" lIns="91440" tIns="45720" rIns="91440" bIns="45720" rtlCol="0" anchor="t">
            <a:spAutoFit/>
          </a:bodyPr>
          <a:lstStyle/>
          <a:p>
            <a:r>
              <a:rPr lang="en-GB" sz="2000" b="1" kern="0" dirty="0" err="1">
                <a:solidFill>
                  <a:srgbClr val="FFFF00"/>
                </a:solidFill>
              </a:rPr>
              <a:t>MainCamera</a:t>
            </a:r>
            <a:r>
              <a:rPr lang="en-GB" sz="2000" b="1" kern="0" dirty="0">
                <a:solidFill>
                  <a:srgbClr val="FFFF00"/>
                </a:solidFill>
              </a:rPr>
              <a:t> / </a:t>
            </a:r>
            <a:r>
              <a:rPr lang="en-GB" sz="2000" b="1" kern="0" dirty="0" err="1">
                <a:solidFill>
                  <a:srgbClr val="FFFF00"/>
                </a:solidFill>
              </a:rPr>
              <a:t>WayPoints.cs</a:t>
            </a:r>
            <a:r>
              <a:rPr lang="en-GB" sz="2000" b="1" kern="0" dirty="0">
                <a:solidFill>
                  <a:srgbClr val="FFFF00"/>
                </a:solidFill>
              </a:rPr>
              <a:t> / </a:t>
            </a:r>
            <a:r>
              <a:rPr lang="en-GB" sz="2000" b="1" kern="0" dirty="0" err="1">
                <a:solidFill>
                  <a:srgbClr val="FFFF00"/>
                </a:solidFill>
              </a:rPr>
              <a:t>Global.atPoint</a:t>
            </a:r>
            <a:r>
              <a:rPr lang="en-GB" sz="2000" b="1" kern="0" dirty="0">
                <a:solidFill>
                  <a:srgbClr val="FFFF00"/>
                </a:solidFill>
              </a:rPr>
              <a:t> = True : Boolean indicating stopped at a stage and not moving. This is checked to make sure the camera is not altered when still moving, leading to jumps. It is false for movement, and true when in position.</a:t>
            </a:r>
            <a:endParaRPr lang="en-GB" sz="2000" b="1" kern="0" dirty="0">
              <a:solidFill>
                <a:srgbClr val="FFFF00"/>
              </a:solidFill>
              <a:cs typeface="Segoe UI Light"/>
            </a:endParaRPr>
          </a:p>
          <a:p>
            <a:endParaRPr lang="en-GB" sz="2400" b="1" kern="0" dirty="0">
              <a:solidFill>
                <a:srgbClr val="FFFF00"/>
              </a:solidFill>
            </a:endParaRPr>
          </a:p>
          <a:p>
            <a:r>
              <a:rPr lang="en-GB" sz="1400" b="1" dirty="0"/>
              <a:t>if (</a:t>
            </a:r>
            <a:r>
              <a:rPr lang="en-GB" sz="1400" b="1" dirty="0" err="1"/>
              <a:t>global.state</a:t>
            </a:r>
            <a:r>
              <a:rPr lang="en-GB" sz="1400" b="1" dirty="0"/>
              <a:t> &gt;= 0 &amp;&amp; </a:t>
            </a:r>
            <a:r>
              <a:rPr lang="en-GB" sz="1400" b="1" dirty="0" err="1"/>
              <a:t>global.state</a:t>
            </a:r>
            <a:r>
              <a:rPr lang="en-GB" sz="1400" b="1" dirty="0"/>
              <a:t> != 100) // positions and transitions if global state between 1-3 (inside to shelf selection)</a:t>
            </a:r>
          </a:p>
          <a:p>
            <a:r>
              <a:rPr lang="en-GB" sz="1400" b="1" dirty="0"/>
              <a:t>            {</a:t>
            </a:r>
          </a:p>
          <a:p>
            <a:r>
              <a:rPr lang="en-GB" sz="1400" b="1" dirty="0"/>
              <a:t>                if (</a:t>
            </a:r>
            <a:r>
              <a:rPr lang="en-GB" sz="1400" b="1" dirty="0" err="1"/>
              <a:t>global.shelf</a:t>
            </a:r>
            <a:r>
              <a:rPr lang="en-GB" sz="1400" b="1" dirty="0"/>
              <a:t> == 0) </a:t>
            </a:r>
            <a:r>
              <a:rPr lang="en-GB" sz="1400" b="1" dirty="0">
                <a:solidFill>
                  <a:srgbClr val="92D050"/>
                </a:solidFill>
              </a:rPr>
              <a:t>// on shelf 0 – Waypoint for shelves menu in points[] (global state between 1-3</a:t>
            </a:r>
            <a:endParaRPr lang="en-GB" sz="1400" b="1" dirty="0">
              <a:solidFill>
                <a:srgbClr val="92D050"/>
              </a:solidFill>
              <a:cs typeface="Segoe UI Light"/>
            </a:endParaRPr>
          </a:p>
          <a:p>
            <a:r>
              <a:rPr lang="en-GB" sz="1400" b="1" dirty="0"/>
              <a:t>                {</a:t>
            </a:r>
          </a:p>
          <a:p>
            <a:r>
              <a:rPr lang="en-GB" sz="1400" b="1" dirty="0"/>
              <a:t>	 </a:t>
            </a:r>
            <a:r>
              <a:rPr lang="en-GB" sz="1400" b="1" dirty="0">
                <a:solidFill>
                  <a:srgbClr val="92D050"/>
                </a:solidFill>
              </a:rPr>
              <a:t>// Sets main state positions</a:t>
            </a:r>
            <a:endParaRPr lang="en-GB" sz="1400" b="1" dirty="0">
              <a:solidFill>
                <a:srgbClr val="92D050"/>
              </a:solidFill>
              <a:cs typeface="Segoe UI Light"/>
            </a:endParaRPr>
          </a:p>
          <a:p>
            <a:r>
              <a:rPr lang="en-GB" sz="1400" b="1" dirty="0"/>
              <a:t>                   </a:t>
            </a:r>
            <a:r>
              <a:rPr lang="en-GB" sz="1400" b="1" dirty="0">
                <a:solidFill>
                  <a:srgbClr val="00B0F0"/>
                </a:solidFill>
              </a:rPr>
              <a:t>direction</a:t>
            </a:r>
            <a:r>
              <a:rPr lang="en-GB" sz="1400" b="1" dirty="0"/>
              <a:t> = Vector3DMaths.subtractVectors(</a:t>
            </a:r>
            <a:r>
              <a:rPr lang="en-GB" sz="1400" b="1" dirty="0">
                <a:solidFill>
                  <a:srgbClr val="FFFF00"/>
                </a:solidFill>
              </a:rPr>
              <a:t>points[</a:t>
            </a:r>
            <a:r>
              <a:rPr lang="en-GB" sz="1400" b="1" dirty="0" err="1">
                <a:solidFill>
                  <a:srgbClr val="FFFF00"/>
                </a:solidFill>
              </a:rPr>
              <a:t>global.state</a:t>
            </a:r>
            <a:r>
              <a:rPr lang="en-GB" sz="1400" b="1" dirty="0">
                <a:solidFill>
                  <a:srgbClr val="FFFF00"/>
                </a:solidFill>
              </a:rPr>
              <a:t>].</a:t>
            </a:r>
            <a:r>
              <a:rPr lang="en-GB" sz="1400" b="1" dirty="0" err="1"/>
              <a:t>transform.position</a:t>
            </a:r>
            <a:r>
              <a:rPr lang="en-GB" sz="1400" b="1" dirty="0"/>
              <a:t>, </a:t>
            </a:r>
            <a:r>
              <a:rPr lang="en-GB" sz="1400" b="1" dirty="0" err="1"/>
              <a:t>this.transform.position</a:t>
            </a:r>
            <a:r>
              <a:rPr lang="en-GB" sz="1400" b="1" dirty="0"/>
              <a:t>); </a:t>
            </a:r>
          </a:p>
          <a:p>
            <a:r>
              <a:rPr lang="en-GB" sz="1400" b="1" dirty="0"/>
              <a:t>	</a:t>
            </a:r>
            <a:r>
              <a:rPr lang="en-GB" sz="1400" b="1" dirty="0">
                <a:solidFill>
                  <a:srgbClr val="00B0F0"/>
                </a:solidFill>
              </a:rPr>
              <a:t> direction</a:t>
            </a:r>
            <a:r>
              <a:rPr lang="en-GB" sz="1400" b="1" dirty="0"/>
              <a:t> = Vector3DMaths.unitVector(direction);</a:t>
            </a:r>
          </a:p>
          <a:p>
            <a:r>
              <a:rPr lang="en-GB" sz="1400" b="1" dirty="0"/>
              <a:t>	</a:t>
            </a:r>
          </a:p>
          <a:p>
            <a:r>
              <a:rPr lang="en-GB" sz="1400" b="1" dirty="0"/>
              <a:t>	</a:t>
            </a:r>
            <a:r>
              <a:rPr lang="en-GB" sz="1400" b="1" dirty="0">
                <a:solidFill>
                  <a:srgbClr val="92D050"/>
                </a:solidFill>
              </a:rPr>
              <a:t>// Checks position</a:t>
            </a:r>
          </a:p>
          <a:p>
            <a:r>
              <a:rPr lang="en-GB" sz="1400" b="1" dirty="0"/>
              <a:t>                    if (Vector3DMaths.closeVector(</a:t>
            </a:r>
            <a:r>
              <a:rPr lang="en-GB" sz="1400" b="1" dirty="0" err="1"/>
              <a:t>this.transform.position</a:t>
            </a:r>
            <a:r>
              <a:rPr lang="en-GB" sz="1400" b="1" dirty="0"/>
              <a:t>, </a:t>
            </a:r>
            <a:r>
              <a:rPr lang="en-GB" sz="1400" b="1" dirty="0">
                <a:solidFill>
                  <a:srgbClr val="FFFF00"/>
                </a:solidFill>
              </a:rPr>
              <a:t>points[</a:t>
            </a:r>
            <a:r>
              <a:rPr lang="en-GB" sz="1400" b="1" dirty="0" err="1">
                <a:solidFill>
                  <a:srgbClr val="FFFF00"/>
                </a:solidFill>
              </a:rPr>
              <a:t>global.state</a:t>
            </a:r>
            <a:r>
              <a:rPr lang="en-GB" sz="1400" b="1" dirty="0">
                <a:solidFill>
                  <a:srgbClr val="FFFF00"/>
                </a:solidFill>
              </a:rPr>
              <a:t>]</a:t>
            </a:r>
            <a:r>
              <a:rPr lang="en-GB" sz="1400" b="1" dirty="0"/>
              <a:t>.</a:t>
            </a:r>
            <a:r>
              <a:rPr lang="en-GB" sz="1400" b="1" dirty="0" err="1"/>
              <a:t>transform.position</a:t>
            </a:r>
            <a:r>
              <a:rPr lang="en-GB" sz="1400" b="1" dirty="0"/>
              <a:t>, 0.25f))</a:t>
            </a:r>
          </a:p>
          <a:p>
            <a:r>
              <a:rPr lang="en-GB" sz="1400" b="1" dirty="0"/>
              <a:t>                    {</a:t>
            </a:r>
          </a:p>
          <a:p>
            <a:r>
              <a:rPr lang="en-GB" sz="1400" b="1" dirty="0"/>
              <a:t>                        </a:t>
            </a:r>
            <a:r>
              <a:rPr lang="en-GB" sz="1400" b="1" dirty="0" err="1">
                <a:solidFill>
                  <a:srgbClr val="FFFF00"/>
                </a:solidFill>
              </a:rPr>
              <a:t>global.atPoint</a:t>
            </a:r>
            <a:r>
              <a:rPr lang="en-GB" sz="1400" b="1" dirty="0">
                <a:solidFill>
                  <a:srgbClr val="FFFF00"/>
                </a:solidFill>
              </a:rPr>
              <a:t> = true;</a:t>
            </a:r>
          </a:p>
          <a:p>
            <a:r>
              <a:rPr lang="fr-FR" sz="1400" b="1" dirty="0"/>
              <a:t>                        </a:t>
            </a:r>
            <a:r>
              <a:rPr lang="fr-FR" sz="1400" b="1" dirty="0" err="1"/>
              <a:t>this.transform.position</a:t>
            </a:r>
            <a:r>
              <a:rPr lang="fr-FR" sz="1400" b="1" dirty="0"/>
              <a:t> = </a:t>
            </a:r>
            <a:r>
              <a:rPr lang="fr-FR" sz="1400" b="1" dirty="0">
                <a:solidFill>
                  <a:srgbClr val="FFFF00"/>
                </a:solidFill>
              </a:rPr>
              <a:t>points[</a:t>
            </a:r>
            <a:r>
              <a:rPr lang="fr-FR" sz="1400" b="1" dirty="0" err="1">
                <a:solidFill>
                  <a:srgbClr val="FFFF00"/>
                </a:solidFill>
              </a:rPr>
              <a:t>global.state</a:t>
            </a:r>
            <a:r>
              <a:rPr lang="fr-FR" sz="1400" b="1" dirty="0">
                <a:solidFill>
                  <a:srgbClr val="FFFF00"/>
                </a:solidFill>
              </a:rPr>
              <a:t>].</a:t>
            </a:r>
            <a:r>
              <a:rPr lang="fr-FR" sz="1400" b="1" dirty="0" err="1"/>
              <a:t>transform.position</a:t>
            </a:r>
            <a:r>
              <a:rPr lang="fr-FR" sz="1400" b="1" dirty="0"/>
              <a:t>;</a:t>
            </a:r>
          </a:p>
          <a:p>
            <a:r>
              <a:rPr lang="en-GB" sz="1400" b="1" dirty="0"/>
              <a:t>                    }</a:t>
            </a:r>
          </a:p>
          <a:p>
            <a:r>
              <a:rPr lang="en-GB" sz="1400" b="1" dirty="0"/>
              <a:t>                }</a:t>
            </a:r>
          </a:p>
          <a:p>
            <a:r>
              <a:rPr lang="en-GB" sz="1400" b="1" dirty="0"/>
              <a:t>                else</a:t>
            </a:r>
          </a:p>
          <a:p>
            <a:r>
              <a:rPr lang="en-GB" sz="1400" b="1" dirty="0"/>
              <a:t>                if (</a:t>
            </a:r>
            <a:r>
              <a:rPr lang="en-GB" sz="1400" b="1" err="1"/>
              <a:t>global.shelf</a:t>
            </a:r>
            <a:r>
              <a:rPr lang="en-GB" sz="1400" b="1" dirty="0"/>
              <a:t> == 1) </a:t>
            </a:r>
            <a:r>
              <a:rPr lang="en-GB" sz="1400" b="1" dirty="0">
                <a:solidFill>
                  <a:srgbClr val="92D050"/>
                </a:solidFill>
              </a:rPr>
              <a:t>// on shelf</a:t>
            </a:r>
            <a:endParaRPr lang="en-GB" sz="1400" b="1" kern="0" dirty="0">
              <a:solidFill>
                <a:srgbClr val="92D050"/>
              </a:solidFill>
            </a:endParaRPr>
          </a:p>
          <a:p>
            <a:endParaRPr lang="en-GB" sz="2400" b="1" kern="0" dirty="0">
              <a:solidFill>
                <a:srgbClr val="FF0000"/>
              </a:solidFill>
            </a:endParaRPr>
          </a:p>
        </p:txBody>
      </p:sp>
    </p:spTree>
    <p:extLst>
      <p:ext uri="{BB962C8B-B14F-4D97-AF65-F5344CB8AC3E}">
        <p14:creationId xmlns:p14="http://schemas.microsoft.com/office/powerpoint/2010/main" val="3970802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3D Interactive Media Development</a:t>
            </a:r>
            <a:endParaRPr lang="en-GB" sz="4000" dirty="0"/>
          </a:p>
        </p:txBody>
      </p:sp>
      <p:sp>
        <p:nvSpPr>
          <p:cNvPr id="22" name="TextBox 21"/>
          <p:cNvSpPr txBox="1"/>
          <p:nvPr/>
        </p:nvSpPr>
        <p:spPr>
          <a:xfrm>
            <a:off x="609600" y="1293507"/>
            <a:ext cx="10972800" cy="3785652"/>
          </a:xfrm>
          <a:prstGeom prst="rect">
            <a:avLst/>
          </a:prstGeom>
          <a:noFill/>
        </p:spPr>
        <p:txBody>
          <a:bodyPr wrap="square" lIns="91440" tIns="45720" rIns="91440" bIns="45720" rtlCol="0" anchor="t">
            <a:spAutoFit/>
          </a:bodyPr>
          <a:lstStyle/>
          <a:p>
            <a:r>
              <a:rPr lang="en-GB" sz="2400" b="1" kern="0" dirty="0" err="1">
                <a:solidFill>
                  <a:srgbClr val="FFFF00"/>
                </a:solidFill>
              </a:rPr>
              <a:t>Global.atPoint</a:t>
            </a:r>
            <a:r>
              <a:rPr lang="en-GB" sz="2400" b="1" kern="0" dirty="0">
                <a:solidFill>
                  <a:srgbClr val="FFFF00"/>
                </a:solidFill>
              </a:rPr>
              <a:t> = False : Camera is moving between states:</a:t>
            </a:r>
          </a:p>
          <a:p>
            <a:endParaRPr lang="en-GB" sz="2400" b="1" kern="0" dirty="0">
              <a:solidFill>
                <a:srgbClr val="FFFF00"/>
              </a:solidFill>
            </a:endParaRPr>
          </a:p>
          <a:p>
            <a:endParaRPr lang="en-GB" sz="2400" b="1" kern="0" dirty="0">
              <a:solidFill>
                <a:srgbClr val="FFFF00"/>
              </a:solidFill>
            </a:endParaRPr>
          </a:p>
          <a:p>
            <a:r>
              <a:rPr lang="en-GB" b="1" dirty="0"/>
              <a:t>float </a:t>
            </a:r>
            <a:r>
              <a:rPr lang="en-GB" b="1" dirty="0">
                <a:solidFill>
                  <a:srgbClr val="00B0F0"/>
                </a:solidFill>
              </a:rPr>
              <a:t>step</a:t>
            </a:r>
            <a:r>
              <a:rPr lang="en-GB" b="1" dirty="0"/>
              <a:t> = speed * </a:t>
            </a:r>
            <a:r>
              <a:rPr lang="en-GB" b="1" err="1"/>
              <a:t>Time.deltaTime</a:t>
            </a:r>
            <a:r>
              <a:rPr lang="en-GB" b="1" dirty="0"/>
              <a:t>; </a:t>
            </a:r>
            <a:r>
              <a:rPr lang="en-GB" b="1" dirty="0">
                <a:solidFill>
                  <a:srgbClr val="92D050"/>
                </a:solidFill>
              </a:rPr>
              <a:t>// Transforms for camera transitions below</a:t>
            </a:r>
          </a:p>
          <a:p>
            <a:endParaRPr lang="en-GB" sz="2400" b="1" kern="0" dirty="0">
              <a:solidFill>
                <a:srgbClr val="FFFF00"/>
              </a:solidFill>
            </a:endParaRPr>
          </a:p>
          <a:p>
            <a:r>
              <a:rPr lang="en-GB" b="1" dirty="0"/>
              <a:t> if (!</a:t>
            </a:r>
            <a:r>
              <a:rPr lang="en-GB" b="1" dirty="0" err="1"/>
              <a:t>global.atPoint</a:t>
            </a:r>
            <a:r>
              <a:rPr lang="en-GB" b="1" dirty="0"/>
              <a:t>) </a:t>
            </a:r>
            <a:r>
              <a:rPr lang="en-GB" b="1" dirty="0">
                <a:solidFill>
                  <a:srgbClr val="92D050"/>
                </a:solidFill>
              </a:rPr>
              <a:t>// position for </a:t>
            </a:r>
            <a:r>
              <a:rPr lang="en-GB" b="1" dirty="0" err="1">
                <a:solidFill>
                  <a:srgbClr val="92D050"/>
                </a:solidFill>
              </a:rPr>
              <a:t>global.atpoint</a:t>
            </a:r>
            <a:r>
              <a:rPr lang="en-GB" b="1" dirty="0">
                <a:solidFill>
                  <a:srgbClr val="92D050"/>
                </a:solidFill>
              </a:rPr>
              <a:t> = false (between global states)</a:t>
            </a:r>
          </a:p>
          <a:p>
            <a:r>
              <a:rPr lang="en-GB" b="1" dirty="0"/>
              <a:t>                {</a:t>
            </a:r>
          </a:p>
          <a:p>
            <a:r>
              <a:rPr lang="en-GB" b="1" dirty="0"/>
              <a:t>                    	</a:t>
            </a:r>
            <a:r>
              <a:rPr lang="en-GB" b="1" dirty="0">
                <a:solidFill>
                  <a:srgbClr val="92D050"/>
                </a:solidFill>
              </a:rPr>
              <a:t>// transition for camera between waypoint positions</a:t>
            </a:r>
          </a:p>
          <a:p>
            <a:r>
              <a:rPr lang="en-GB" b="1" dirty="0"/>
              <a:t>	     	</a:t>
            </a:r>
            <a:r>
              <a:rPr lang="en-GB" b="1" err="1"/>
              <a:t>pos</a:t>
            </a:r>
            <a:r>
              <a:rPr lang="en-GB" b="1" dirty="0"/>
              <a:t> = Vector3DMaths.addVectors(</a:t>
            </a:r>
            <a:r>
              <a:rPr lang="en-GB" b="1" err="1"/>
              <a:t>pos</a:t>
            </a:r>
            <a:r>
              <a:rPr lang="en-GB" b="1" dirty="0"/>
              <a:t>, Vector3DMaths.scaleVector(</a:t>
            </a:r>
            <a:r>
              <a:rPr lang="en-GB" b="1" dirty="0">
                <a:solidFill>
                  <a:srgbClr val="00B0F0"/>
                </a:solidFill>
              </a:rPr>
              <a:t>direction</a:t>
            </a:r>
            <a:r>
              <a:rPr lang="en-GB" b="1" dirty="0"/>
              <a:t>, </a:t>
            </a:r>
            <a:r>
              <a:rPr lang="en-GB" b="1" dirty="0">
                <a:solidFill>
                  <a:srgbClr val="00B0F0"/>
                </a:solidFill>
              </a:rPr>
              <a:t>step</a:t>
            </a:r>
            <a:r>
              <a:rPr lang="en-GB" b="1" dirty="0"/>
              <a:t>));</a:t>
            </a:r>
          </a:p>
          <a:p>
            <a:r>
              <a:rPr lang="en-GB" b="1" dirty="0"/>
              <a:t>		</a:t>
            </a:r>
            <a:r>
              <a:rPr lang="fr-FR" b="1" dirty="0">
                <a:solidFill>
                  <a:srgbClr val="92D050"/>
                </a:solidFill>
              </a:rPr>
              <a:t>// pos update</a:t>
            </a:r>
          </a:p>
          <a:p>
            <a:r>
              <a:rPr lang="en-GB" b="1" dirty="0"/>
              <a:t>	 	</a:t>
            </a:r>
            <a:r>
              <a:rPr lang="fr-FR" b="1" dirty="0" err="1"/>
              <a:t>this.transform.position</a:t>
            </a:r>
            <a:r>
              <a:rPr lang="fr-FR" b="1" dirty="0"/>
              <a:t> = pos; </a:t>
            </a:r>
          </a:p>
          <a:p>
            <a:r>
              <a:rPr lang="fr-FR" b="1" dirty="0"/>
              <a:t>	</a:t>
            </a:r>
            <a:r>
              <a:rPr lang="en-GB" b="1" dirty="0"/>
              <a:t>}</a:t>
            </a:r>
            <a:endParaRPr lang="en-GB" sz="2400" b="1" kern="0" dirty="0">
              <a:solidFill>
                <a:srgbClr val="FF0000"/>
              </a:solidFill>
            </a:endParaRPr>
          </a:p>
        </p:txBody>
      </p:sp>
    </p:spTree>
    <p:extLst>
      <p:ext uri="{BB962C8B-B14F-4D97-AF65-F5344CB8AC3E}">
        <p14:creationId xmlns:p14="http://schemas.microsoft.com/office/powerpoint/2010/main" val="2074108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3D Interactive Media Development</a:t>
            </a:r>
            <a:endParaRPr lang="en-GB" sz="4000" dirty="0"/>
          </a:p>
        </p:txBody>
      </p:sp>
      <p:sp>
        <p:nvSpPr>
          <p:cNvPr id="22" name="TextBox 21"/>
          <p:cNvSpPr txBox="1"/>
          <p:nvPr/>
        </p:nvSpPr>
        <p:spPr>
          <a:xfrm>
            <a:off x="609600" y="1160157"/>
            <a:ext cx="10972800" cy="5970865"/>
          </a:xfrm>
          <a:prstGeom prst="rect">
            <a:avLst/>
          </a:prstGeom>
          <a:noFill/>
        </p:spPr>
        <p:txBody>
          <a:bodyPr wrap="square" rtlCol="0">
            <a:spAutoFit/>
          </a:bodyPr>
          <a:lstStyle/>
          <a:p>
            <a:r>
              <a:rPr lang="en-GB" sz="2800" b="1" kern="0" dirty="0">
                <a:solidFill>
                  <a:srgbClr val="FFFF00"/>
                </a:solidFill>
              </a:rPr>
              <a:t>Shelf Interaction: </a:t>
            </a:r>
            <a:r>
              <a:rPr lang="en-GB" sz="2800" b="1" dirty="0">
                <a:solidFill>
                  <a:srgbClr val="FFFF00"/>
                </a:solidFill>
              </a:rPr>
              <a:t>OBJ LIST – Game Object for Shelf Items</a:t>
            </a:r>
          </a:p>
          <a:p>
            <a:r>
              <a:rPr lang="en-GB" sz="1600" b="1" dirty="0" err="1">
                <a:solidFill>
                  <a:srgbClr val="FFFF00"/>
                </a:solidFill>
              </a:rPr>
              <a:t>ChangeState.cs</a:t>
            </a:r>
            <a:endParaRPr lang="en-GB" sz="1600" b="1" dirty="0">
              <a:solidFill>
                <a:srgbClr val="FFFF00"/>
              </a:solidFill>
            </a:endParaRPr>
          </a:p>
          <a:p>
            <a:r>
              <a:rPr lang="en-GB" sz="1600" b="1" dirty="0">
                <a:solidFill>
                  <a:srgbClr val="FFFFFF"/>
                </a:solidFill>
              </a:rPr>
              <a:t>	Change State – </a:t>
            </a:r>
            <a:r>
              <a:rPr lang="en-GB" sz="1600" b="1" dirty="0" err="1">
                <a:solidFill>
                  <a:schemeClr val="tx2"/>
                </a:solidFill>
              </a:rPr>
              <a:t>Global.State</a:t>
            </a:r>
            <a:r>
              <a:rPr lang="en-GB" sz="1600" b="1" dirty="0">
                <a:solidFill>
                  <a:schemeClr val="tx2"/>
                </a:solidFill>
              </a:rPr>
              <a:t> as needed</a:t>
            </a:r>
          </a:p>
          <a:p>
            <a:r>
              <a:rPr lang="en-GB" sz="1600" b="1" dirty="0">
                <a:solidFill>
                  <a:schemeClr val="tx2"/>
                </a:solidFill>
              </a:rPr>
              <a:t>	Back Button – keeps shelf at 0 as needed.</a:t>
            </a:r>
            <a:endParaRPr lang="en-GB" sz="1600" b="1" dirty="0">
              <a:solidFill>
                <a:srgbClr val="FFFFFF"/>
              </a:solidFill>
            </a:endParaRPr>
          </a:p>
          <a:p>
            <a:r>
              <a:rPr lang="en-GB" sz="1600" b="1" dirty="0">
                <a:solidFill>
                  <a:srgbClr val="FFFF00"/>
                </a:solidFill>
              </a:rPr>
              <a:t>Shelf States</a:t>
            </a:r>
            <a:endParaRPr lang="en-US" sz="1600" b="1" dirty="0">
              <a:solidFill>
                <a:srgbClr val="FFFF00"/>
              </a:solidFill>
            </a:endParaRPr>
          </a:p>
          <a:p>
            <a:r>
              <a:rPr lang="en-GB" sz="1600" b="1" dirty="0"/>
              <a:t>	Shelf (Integer) 2 (Shelf level)-3 (</a:t>
            </a:r>
            <a:r>
              <a:rPr lang="en-GB" sz="1600" b="1" dirty="0" err="1"/>
              <a:t>substate</a:t>
            </a:r>
            <a:r>
              <a:rPr lang="en-GB" sz="1600" b="1" dirty="0"/>
              <a:t>, or individual shelf level)</a:t>
            </a:r>
          </a:p>
          <a:p>
            <a:r>
              <a:rPr lang="en-GB" sz="1600" b="1" dirty="0"/>
              <a:t>	Shelf </a:t>
            </a:r>
            <a:r>
              <a:rPr lang="en-GB" sz="1600" b="1" dirty="0" err="1"/>
              <a:t>Pos</a:t>
            </a:r>
            <a:r>
              <a:rPr lang="en-GB" sz="1600" b="1" dirty="0"/>
              <a:t> (Integer)</a:t>
            </a:r>
          </a:p>
          <a:p>
            <a:r>
              <a:rPr lang="en-GB" sz="1600" b="1" dirty="0" err="1">
                <a:solidFill>
                  <a:srgbClr val="FFFF00"/>
                </a:solidFill>
              </a:rPr>
              <a:t>ChangeShelf.cs</a:t>
            </a:r>
            <a:endParaRPr lang="en-GB" sz="1600" b="1" dirty="0">
              <a:solidFill>
                <a:srgbClr val="FFFF00"/>
              </a:solidFill>
            </a:endParaRPr>
          </a:p>
          <a:p>
            <a:r>
              <a:rPr lang="en-GB" sz="1600" b="1" dirty="0">
                <a:solidFill>
                  <a:srgbClr val="FFFFFF"/>
                </a:solidFill>
              </a:rPr>
              <a:t>	Change Shelf - </a:t>
            </a:r>
            <a:r>
              <a:rPr lang="en-GB" sz="1600" b="1" dirty="0" err="1">
                <a:solidFill>
                  <a:schemeClr val="tx2"/>
                </a:solidFill>
              </a:rPr>
              <a:t>Global.shelf</a:t>
            </a:r>
            <a:r>
              <a:rPr lang="en-GB" sz="1600" b="1" dirty="0">
                <a:solidFill>
                  <a:schemeClr val="tx2"/>
                </a:solidFill>
              </a:rPr>
              <a:t> = shelf input</a:t>
            </a:r>
          </a:p>
          <a:p>
            <a:pPr lvl="0"/>
            <a:r>
              <a:rPr lang="en-GB" sz="1600" b="1" dirty="0" err="1">
                <a:solidFill>
                  <a:srgbClr val="FFFF00"/>
                </a:solidFill>
              </a:rPr>
              <a:t>showSubState.cs</a:t>
            </a:r>
            <a:endParaRPr lang="en-GB" sz="1600" b="1" dirty="0">
              <a:solidFill>
                <a:srgbClr val="FFFF00"/>
              </a:solidFill>
            </a:endParaRPr>
          </a:p>
          <a:p>
            <a:pPr lvl="0"/>
            <a:r>
              <a:rPr lang="en-GB" sz="1600" b="1" dirty="0">
                <a:solidFill>
                  <a:srgbClr val="FFFFFF"/>
                </a:solidFill>
              </a:rPr>
              <a:t>	Canvas enable if </a:t>
            </a:r>
            <a:r>
              <a:rPr lang="en-GB" sz="1600" b="1" dirty="0" err="1">
                <a:solidFill>
                  <a:srgbClr val="FFFFFF"/>
                </a:solidFill>
              </a:rPr>
              <a:t>global.state</a:t>
            </a:r>
            <a:r>
              <a:rPr lang="en-GB" sz="1600" b="1" dirty="0">
                <a:solidFill>
                  <a:srgbClr val="FFFFFF"/>
                </a:solidFill>
              </a:rPr>
              <a:t>==canvas state &amp;&amp; </a:t>
            </a:r>
            <a:r>
              <a:rPr lang="en-GB" sz="1600" b="1" dirty="0" err="1">
                <a:solidFill>
                  <a:srgbClr val="FFFFFF"/>
                </a:solidFill>
              </a:rPr>
              <a:t>atPoint</a:t>
            </a:r>
            <a:r>
              <a:rPr lang="en-GB" sz="1600" b="1" dirty="0">
                <a:solidFill>
                  <a:srgbClr val="FFFFFF"/>
                </a:solidFill>
              </a:rPr>
              <a:t> &amp;&amp; </a:t>
            </a:r>
            <a:r>
              <a:rPr lang="en-GB" sz="1600" b="1" dirty="0" err="1">
                <a:solidFill>
                  <a:srgbClr val="FFFFFF"/>
                </a:solidFill>
              </a:rPr>
              <a:t>global.state</a:t>
            </a:r>
            <a:r>
              <a:rPr lang="en-GB" sz="1600" b="1" dirty="0">
                <a:solidFill>
                  <a:srgbClr val="FFFFFF"/>
                </a:solidFill>
              </a:rPr>
              <a:t>==3</a:t>
            </a:r>
          </a:p>
          <a:p>
            <a:pPr lvl="0"/>
            <a:r>
              <a:rPr lang="en-GB" sz="1600" b="1" dirty="0">
                <a:solidFill>
                  <a:srgbClr val="FFFFFF"/>
                </a:solidFill>
              </a:rPr>
              <a:t>	1, 2 and 3 defined for separate students/shelves</a:t>
            </a:r>
            <a:endParaRPr lang="en-GB" sz="1600" b="1" dirty="0">
              <a:solidFill>
                <a:schemeClr val="tx2"/>
              </a:solidFill>
            </a:endParaRPr>
          </a:p>
          <a:p>
            <a:r>
              <a:rPr lang="en-GB" sz="1600" b="1" dirty="0" err="1">
                <a:solidFill>
                  <a:srgbClr val="FFFF00"/>
                </a:solidFill>
              </a:rPr>
              <a:t>ChangeShelfpos.cs</a:t>
            </a:r>
            <a:endParaRPr lang="en-GB" sz="1600" b="1" dirty="0">
              <a:solidFill>
                <a:srgbClr val="FFFF00"/>
              </a:solidFill>
            </a:endParaRPr>
          </a:p>
          <a:p>
            <a:r>
              <a:rPr lang="en-GB" sz="1600" b="1" dirty="0">
                <a:solidFill>
                  <a:srgbClr val="FFFFFF"/>
                </a:solidFill>
              </a:rPr>
              <a:t>	Change Position </a:t>
            </a:r>
            <a:r>
              <a:rPr lang="en-GB" sz="1600" b="1">
                <a:solidFill>
                  <a:srgbClr val="FFFFFF"/>
                </a:solidFill>
              </a:rPr>
              <a:t>on shelf</a:t>
            </a:r>
          </a:p>
          <a:p>
            <a:r>
              <a:rPr lang="en-GB" sz="1600" b="1" kern="0">
                <a:solidFill>
                  <a:srgbClr val="FFFF00"/>
                </a:solidFill>
              </a:rPr>
              <a:t>ButtonState</a:t>
            </a:r>
            <a:r>
              <a:rPr lang="en-GB" sz="1600" b="1" kern="0" dirty="0" err="1">
                <a:solidFill>
                  <a:srgbClr val="FFFF00"/>
                </a:solidFill>
              </a:rPr>
              <a:t>.cs</a:t>
            </a:r>
            <a:r>
              <a:rPr lang="en-GB" sz="1600" b="1" kern="0" dirty="0">
                <a:solidFill>
                  <a:srgbClr val="FFFF00"/>
                </a:solidFill>
              </a:rPr>
              <a:t> </a:t>
            </a:r>
          </a:p>
          <a:p>
            <a:r>
              <a:rPr lang="en-GB" sz="1600" b="1" kern="0" dirty="0">
                <a:solidFill>
                  <a:schemeClr val="tx2"/>
                </a:solidFill>
              </a:rPr>
              <a:t>	Shelf States are checked by on Canvas Buttons to show correct button images</a:t>
            </a:r>
            <a:r>
              <a:rPr lang="en-GB" sz="1600" b="1" kern="0" dirty="0">
                <a:solidFill>
                  <a:srgbClr val="FFFF00"/>
                </a:solidFill>
              </a:rPr>
              <a:t>.</a:t>
            </a:r>
          </a:p>
          <a:p>
            <a:r>
              <a:rPr lang="en-GB" sz="1600" b="1" kern="0" dirty="0">
                <a:solidFill>
                  <a:srgbClr val="FFFF00"/>
                </a:solidFill>
              </a:rPr>
              <a:t>Buttons</a:t>
            </a:r>
          </a:p>
          <a:p>
            <a:r>
              <a:rPr lang="en-GB" sz="1600" b="1" kern="0" dirty="0">
                <a:solidFill>
                  <a:srgbClr val="FFFF00"/>
                </a:solidFill>
              </a:rPr>
              <a:t>	</a:t>
            </a:r>
            <a:r>
              <a:rPr lang="en-GB" sz="1600" b="1" dirty="0">
                <a:solidFill>
                  <a:srgbClr val="FFFFFF"/>
                </a:solidFill>
              </a:rPr>
              <a:t>Change State – </a:t>
            </a:r>
            <a:r>
              <a:rPr lang="en-GB" sz="1600" b="1" dirty="0" err="1">
                <a:solidFill>
                  <a:schemeClr val="tx2"/>
                </a:solidFill>
              </a:rPr>
              <a:t>Global.State</a:t>
            </a:r>
            <a:r>
              <a:rPr lang="en-GB" sz="1600" b="1" dirty="0">
                <a:solidFill>
                  <a:schemeClr val="tx2"/>
                </a:solidFill>
              </a:rPr>
              <a:t> as needed</a:t>
            </a:r>
            <a:endParaRPr lang="en-GB" sz="1600" b="1" kern="0" dirty="0">
              <a:solidFill>
                <a:srgbClr val="FFFF00"/>
              </a:solidFill>
            </a:endParaRPr>
          </a:p>
          <a:p>
            <a:r>
              <a:rPr lang="en-GB" sz="1600" b="1" kern="0" dirty="0">
                <a:solidFill>
                  <a:srgbClr val="FFFF00"/>
                </a:solidFill>
              </a:rPr>
              <a:t>Back Buttons</a:t>
            </a:r>
          </a:p>
          <a:p>
            <a:r>
              <a:rPr lang="en-GB" sz="1600" b="1" dirty="0">
                <a:solidFill>
                  <a:srgbClr val="FFFFFF"/>
                </a:solidFill>
              </a:rPr>
              <a:t>	Change Shelf - </a:t>
            </a:r>
            <a:r>
              <a:rPr lang="en-GB" sz="1600" b="1" dirty="0" err="1">
                <a:solidFill>
                  <a:schemeClr val="tx2"/>
                </a:solidFill>
              </a:rPr>
              <a:t>Global.shelf</a:t>
            </a:r>
            <a:r>
              <a:rPr lang="en-GB" sz="1600" b="1" dirty="0">
                <a:solidFill>
                  <a:schemeClr val="tx2"/>
                </a:solidFill>
              </a:rPr>
              <a:t> = shelf input</a:t>
            </a:r>
            <a:endParaRPr lang="en-GB" sz="1600" b="1" dirty="0">
              <a:solidFill>
                <a:srgbClr val="FFFFFF"/>
              </a:solidFill>
            </a:endParaRPr>
          </a:p>
          <a:p>
            <a:r>
              <a:rPr lang="en-GB" sz="1600" b="1" dirty="0">
                <a:solidFill>
                  <a:srgbClr val="FFFFFF"/>
                </a:solidFill>
              </a:rPr>
              <a:t>	Change State – </a:t>
            </a:r>
            <a:r>
              <a:rPr lang="en-GB" sz="1600" b="1" dirty="0" err="1">
                <a:solidFill>
                  <a:schemeClr val="tx2"/>
                </a:solidFill>
              </a:rPr>
              <a:t>Global.State</a:t>
            </a:r>
            <a:r>
              <a:rPr lang="en-GB" sz="1600" b="1" dirty="0">
                <a:solidFill>
                  <a:schemeClr val="tx2"/>
                </a:solidFill>
              </a:rPr>
              <a:t> as needed</a:t>
            </a:r>
          </a:p>
          <a:p>
            <a:r>
              <a:rPr lang="en-GB" sz="1600" b="1" dirty="0">
                <a:solidFill>
                  <a:schemeClr val="tx2"/>
                </a:solidFill>
              </a:rPr>
              <a:t>	Back Button – keeps shelf at 0 as needed.</a:t>
            </a:r>
            <a:endParaRPr lang="en-GB" sz="1600" b="1" dirty="0">
              <a:solidFill>
                <a:srgbClr val="FFFFFF"/>
              </a:solidFill>
            </a:endParaRPr>
          </a:p>
          <a:p>
            <a:endParaRPr lang="en-GB" b="1" kern="0" dirty="0">
              <a:solidFill>
                <a:srgbClr val="FFFF00"/>
              </a:solidFill>
            </a:endParaRPr>
          </a:p>
        </p:txBody>
      </p:sp>
    </p:spTree>
    <p:extLst>
      <p:ext uri="{BB962C8B-B14F-4D97-AF65-F5344CB8AC3E}">
        <p14:creationId xmlns:p14="http://schemas.microsoft.com/office/powerpoint/2010/main" val="2945399598"/>
      </p:ext>
    </p:extLst>
  </p:cSld>
  <p:clrMapOvr>
    <a:masterClrMapping/>
  </p:clrMapOvr>
</p:sld>
</file>

<file path=ppt/theme/theme1.xml><?xml version="1.0" encoding="utf-8"?>
<a:theme xmlns:a="http://schemas.openxmlformats.org/drawingml/2006/main" name="1_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Metro">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32517</TotalTime>
  <Words>774</Words>
  <Application>Microsoft Office PowerPoint</Application>
  <PresentationFormat>Widescreen</PresentationFormat>
  <Paragraphs>97</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1_Office Theme</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Games Interaction Technology</dc:title>
  <dc:creator>jeff ferguson</dc:creator>
  <cp:lastModifiedBy>Jeffrey Ferguson</cp:lastModifiedBy>
  <cp:revision>262</cp:revision>
  <dcterms:created xsi:type="dcterms:W3CDTF">2016-10-08T10:37:01Z</dcterms:created>
  <dcterms:modified xsi:type="dcterms:W3CDTF">2025-11-18T08:58:36Z</dcterms:modified>
</cp:coreProperties>
</file>