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2" r:id="rId19"/>
    <p:sldId id="283" r:id="rId20"/>
    <p:sldId id="274" r:id="rId21"/>
    <p:sldId id="273" r:id="rId22"/>
    <p:sldId id="288" r:id="rId23"/>
    <p:sldId id="285" r:id="rId24"/>
    <p:sldId id="287" r:id="rId25"/>
    <p:sldId id="286" r:id="rId26"/>
    <p:sldId id="289" r:id="rId27"/>
    <p:sldId id="275" r:id="rId28"/>
    <p:sldId id="277" r:id="rId29"/>
    <p:sldId id="276" r:id="rId30"/>
    <p:sldId id="284" r:id="rId31"/>
    <p:sldId id="278" r:id="rId32"/>
    <p:sldId id="279" r:id="rId33"/>
    <p:sldId id="280" r:id="rId34"/>
    <p:sldId id="281" r:id="rId35"/>
  </p:sldIdLst>
  <p:sldSz cx="12192000" cy="6858000"/>
  <p:notesSz cx="6858000" cy="9144000"/>
  <p:embeddedFontLst>
    <p:embeddedFont>
      <p:font typeface="Quattrocento Sans" panose="020B0502050000020003"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gtt593ncw0NCZyno++HnLl/RKbF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4D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5A5EA1-F97F-9866-EA93-700C4DFB41E0}" v="1540" dt="2025-11-03T17:23:01.228"/>
    <p1510:client id="{8DC4E638-9531-D922-DE11-1E8E27CBA054}" v="259" dt="2025-11-04T08:19:57.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microsoft.com/office/2015/10/relationships/revisionInfo" Target="revisionInfo.xml"/><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H9Ptme4fYR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noorcon.com/articles/Unity3D_Game_Programming_Part_6.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flAf8f9XjdFp2qD1OmeDBQBiHyDfp3rhrFblNDmLtxOIQ?e=c2gdBZ"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noorcon.com/articles/Unity3D_Game_Programming_Part_6.htm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assetstore.unity3d.com/en/#!/content/25468"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www.youtube.com/watch?v=OD-p1eMsyrU" TargetMode="External"/><Relationship Id="rId4" Type="http://schemas.openxmlformats.org/officeDocument/2006/relationships/hyperlink" Target="https://www.youtube.com/watch?v=lNdhNHNwpjI"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assetstore.unity3d.com/en/#!/content/25468" TargetMode="External"/><Relationship Id="rId2" Type="http://schemas.openxmlformats.org/officeDocument/2006/relationships/slide" Target="../slides/slide30.xml"/><Relationship Id="rId1" Type="http://schemas.openxmlformats.org/officeDocument/2006/relationships/notesMaster" Target="../notesMasters/notesMaster1.xml"/><Relationship Id="rId5" Type="http://schemas.openxmlformats.org/officeDocument/2006/relationships/hyperlink" Target="https://www.youtube.com/watch?v=OD-p1eMsyrU" TargetMode="External"/><Relationship Id="rId4" Type="http://schemas.openxmlformats.org/officeDocument/2006/relationships/hyperlink" Target="https://www.youtube.com/watch?v=lNdhNHNwpjI"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assetstore.unity3d.com/en/#!/content/25468"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www.youtube.com/watch?v=OD-p1eMsyrU" TargetMode="External"/><Relationship Id="rId4" Type="http://schemas.openxmlformats.org/officeDocument/2006/relationships/hyperlink" Target="https://www.youtube.com/watch?v=lNdhNHNwpjI"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www.youtube.com/watch?v=FIa7qxGaRZo&amp;index=86&amp;list=PLX2vGYjWbI0Tg4eS9w29PPqg0Fx4sIL7p" TargetMode="External"/><Relationship Id="rId2" Type="http://schemas.openxmlformats.org/officeDocument/2006/relationships/slide" Target="../slides/slide33.xml"/><Relationship Id="rId1" Type="http://schemas.openxmlformats.org/officeDocument/2006/relationships/notesMaster" Target="../notesMasters/notesMaster1.xml"/><Relationship Id="rId5" Type="http://schemas.openxmlformats.org/officeDocument/2006/relationships/hyperlink" Target="https://www.packtpub.com/mapt#collapse10" TargetMode="External"/><Relationship Id="rId4" Type="http://schemas.openxmlformats.org/officeDocument/2006/relationships/hyperlink" Target="https://www.packtpub.com/mapt/book/Game%20Development/9781785885822"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 name="Google Shape;7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a:lnSpc>
                <a:spcPct val="100000"/>
              </a:lnSpc>
              <a:spcBef>
                <a:spcPts val="0"/>
              </a:spcBef>
              <a:spcAft>
                <a:spcPts val="0"/>
              </a:spcAft>
              <a:buNone/>
            </a:pPr>
            <a:r>
              <a:rPr lang="en-GB" b="1" dirty="0">
                <a:solidFill>
                  <a:srgbClr val="FF0000"/>
                </a:solidFill>
                <a:hlinkClick r:id="rId3">
                  <a:extLst>
                    <a:ext uri="{A12FA001-AC4F-418D-AE19-62706E023703}">
                      <ahyp:hlinkClr xmlns:ahyp="http://schemas.microsoft.com/office/drawing/2018/hyperlinkcolor" val="tx"/>
                    </a:ext>
                  </a:extLst>
                </a:hlinkClick>
              </a:rPr>
              <a:t>https://www.youtube.com/watch?v=H9Ptme4fYR0</a:t>
            </a:r>
            <a:endParaRPr lang="en-US"/>
          </a:p>
        </p:txBody>
      </p:sp>
      <p:sp>
        <p:nvSpPr>
          <p:cNvPr id="94" name="Google Shape;9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F4E8EEE-588C-B111-7878-DDBDE0503E96}"/>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A437B5D8-DF92-D7B4-6617-0BFEF016A0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2E5E9170-8B2B-B4D5-313F-770652315FE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2D68AE65-BF9C-5015-B11B-2960018E3AE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18</a:t>
            </a:fld>
            <a:endParaRPr/>
          </a:p>
        </p:txBody>
      </p:sp>
    </p:spTree>
    <p:extLst>
      <p:ext uri="{BB962C8B-B14F-4D97-AF65-F5344CB8AC3E}">
        <p14:creationId xmlns:p14="http://schemas.microsoft.com/office/powerpoint/2010/main" val="4128944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D9BC6977-0C75-5F7A-F668-287A2B612902}"/>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F4002649-0FF3-2E03-456E-91B23CB415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DC064283-B0D5-8498-4B4D-B6913C8DAA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4CA85E09-60BC-E890-95E4-8945243E2F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19</a:t>
            </a:fld>
            <a:endParaRPr/>
          </a:p>
        </p:txBody>
      </p:sp>
    </p:spTree>
    <p:extLst>
      <p:ext uri="{BB962C8B-B14F-4D97-AF65-F5344CB8AC3E}">
        <p14:creationId xmlns:p14="http://schemas.microsoft.com/office/powerpoint/2010/main" val="3257420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Score:</a:t>
            </a:r>
            <a:endParaRPr/>
          </a:p>
          <a:p>
            <a:pPr marL="0" lvl="0" indent="0" algn="l" rtl="0">
              <a:lnSpc>
                <a:spcPct val="100000"/>
              </a:lnSpc>
              <a:spcBef>
                <a:spcPts val="0"/>
              </a:spcBef>
              <a:spcAft>
                <a:spcPts val="0"/>
              </a:spcAft>
              <a:buSzPts val="1400"/>
              <a:buNone/>
            </a:pPr>
            <a:r>
              <a:rPr lang="en-GB" b="1" u="sng">
                <a:solidFill>
                  <a:srgbClr val="FFFF00"/>
                </a:solidFill>
                <a:hlinkClick r:id="rId3">
                  <a:extLst>
                    <a:ext uri="{A12FA001-AC4F-418D-AE19-62706E023703}">
                      <ahyp:hlinkClr xmlns:ahyp="http://schemas.microsoft.com/office/drawing/2018/hyperlinkcolor" val="tx"/>
                    </a:ext>
                  </a:extLst>
                </a:hlinkClick>
              </a:rPr>
              <a:t>http://www.noorcon.com/articles/Unity3D_Game_Programming_Part_6.html</a:t>
            </a:r>
            <a:endParaRPr/>
          </a:p>
        </p:txBody>
      </p:sp>
      <p:sp>
        <p:nvSpPr>
          <p:cNvPr id="172" name="Google Shape;17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a6ae829b62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a6ae829b62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endParaRPr dirty="0"/>
          </a:p>
        </p:txBody>
      </p:sp>
      <p:sp>
        <p:nvSpPr>
          <p:cNvPr id="164" name="Google Shape;164;ga6ae829b62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ACA33E7E-EFA4-E550-01C5-92B64C6DDDC9}"/>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8E7442C1-D2C2-66AA-446C-D8C80EBD71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81470D8E-64ED-7E39-F34B-D4A75B10531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C4C448D5-A49C-41EA-A4EC-5E2C17C22E7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22</a:t>
            </a:fld>
            <a:endParaRPr/>
          </a:p>
        </p:txBody>
      </p:sp>
    </p:spTree>
    <p:extLst>
      <p:ext uri="{BB962C8B-B14F-4D97-AF65-F5344CB8AC3E}">
        <p14:creationId xmlns:p14="http://schemas.microsoft.com/office/powerpoint/2010/main" val="3198184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D624B00-4997-4526-8770-98F1BE079FCE}"/>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D9BD40CA-A1BD-57DD-9330-FBD8A9B7DE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E8DEB280-75FB-DEC3-6F34-F94F0A8D98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1C1BCF3B-22D0-2A26-A8E3-8A5A6243D3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23</a:t>
            </a:fld>
            <a:endParaRPr/>
          </a:p>
        </p:txBody>
      </p:sp>
    </p:spTree>
    <p:extLst>
      <p:ext uri="{BB962C8B-B14F-4D97-AF65-F5344CB8AC3E}">
        <p14:creationId xmlns:p14="http://schemas.microsoft.com/office/powerpoint/2010/main" val="313344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087E084C-12C4-6C8A-466C-64961008872E}"/>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96E950F2-F228-1051-9872-D70CCCE159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67D1ACCC-AA12-A39C-592D-C2DE4AED55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5F954461-62A4-4ED1-CFE6-C9A9F078F2D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24</a:t>
            </a:fld>
            <a:endParaRPr/>
          </a:p>
        </p:txBody>
      </p:sp>
    </p:spTree>
    <p:extLst>
      <p:ext uri="{BB962C8B-B14F-4D97-AF65-F5344CB8AC3E}">
        <p14:creationId xmlns:p14="http://schemas.microsoft.com/office/powerpoint/2010/main" val="23355369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29777F2-17F7-185C-218C-6E1380C4E042}"/>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5D23875E-434E-6710-A19D-29C787D708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A4B25F0D-B48C-0E3C-93EC-3369879E39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2011B55E-914C-D80D-09C1-A4D446E435E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25</a:t>
            </a:fld>
            <a:endParaRPr/>
          </a:p>
        </p:txBody>
      </p:sp>
    </p:spTree>
    <p:extLst>
      <p:ext uri="{BB962C8B-B14F-4D97-AF65-F5344CB8AC3E}">
        <p14:creationId xmlns:p14="http://schemas.microsoft.com/office/powerpoint/2010/main" val="20757591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60054800-F914-34CD-D5B8-AC634C5B5961}"/>
            </a:ext>
          </a:extLst>
        </p:cNvPr>
        <p:cNvGrpSpPr/>
        <p:nvPr/>
      </p:nvGrpSpPr>
      <p:grpSpPr>
        <a:xfrm>
          <a:off x="0" y="0"/>
          <a:ext cx="0" cy="0"/>
          <a:chOff x="0" y="0"/>
          <a:chExt cx="0" cy="0"/>
        </a:xfrm>
      </p:grpSpPr>
      <p:sp>
        <p:nvSpPr>
          <p:cNvPr id="155" name="Google Shape;155;p21:notes">
            <a:extLst>
              <a:ext uri="{FF2B5EF4-FFF2-40B4-BE49-F238E27FC236}">
                <a16:creationId xmlns:a16="http://schemas.microsoft.com/office/drawing/2014/main" id="{BFDA7EAE-1561-7456-585A-DFB159865C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a:extLst>
              <a:ext uri="{FF2B5EF4-FFF2-40B4-BE49-F238E27FC236}">
                <a16:creationId xmlns:a16="http://schemas.microsoft.com/office/drawing/2014/main" id="{0FB09324-2DC4-21F9-6339-9C0B2EA867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String format shows P for position, R for rotation, and 3 values to 2 floating point value….</a:t>
            </a:r>
          </a:p>
          <a:p>
            <a:pPr marL="0" indent="0"/>
            <a:r>
              <a:rPr lang="en-GB" dirty="0">
                <a:solidFill>
                  <a:schemeClr val="bg1">
                    <a:lumMod val="49000"/>
                  </a:schemeClr>
                </a:solidFill>
                <a:hlinkClick r:id="rId3">
                  <a:extLst>
                    <a:ext uri="{A12FA001-AC4F-418D-AE19-62706E023703}">
                      <ahyp:hlinkClr xmlns:ahyp="http://schemas.microsoft.com/office/drawing/2018/hyperlinkcolor" val="tx"/>
                    </a:ext>
                  </a:extLst>
                </a:hlinkClick>
              </a:rPr>
              <a:t>Noorcon Inc. - Unity 3D Game Programming Introduction - Vahe Karamian.pdf</a:t>
            </a:r>
            <a:endParaRPr lang="en-GB">
              <a:solidFill>
                <a:schemeClr val="bg1">
                  <a:lumMod val="49000"/>
                </a:schemeClr>
              </a:solidFill>
            </a:endParaRPr>
          </a:p>
        </p:txBody>
      </p:sp>
      <p:sp>
        <p:nvSpPr>
          <p:cNvPr id="157" name="Google Shape;157;p21:notes">
            <a:extLst>
              <a:ext uri="{FF2B5EF4-FFF2-40B4-BE49-F238E27FC236}">
                <a16:creationId xmlns:a16="http://schemas.microsoft.com/office/drawing/2014/main" id="{A35E57DB-374F-EEF5-E2F8-2A8BA8D905A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26</a:t>
            </a:fld>
            <a:endParaRPr/>
          </a:p>
        </p:txBody>
      </p:sp>
    </p:spTree>
    <p:extLst>
      <p:ext uri="{BB962C8B-B14F-4D97-AF65-F5344CB8AC3E}">
        <p14:creationId xmlns:p14="http://schemas.microsoft.com/office/powerpoint/2010/main" val="2771751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a6ae829b62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a6ae829b62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a:t>Score:</a:t>
            </a:r>
            <a:endParaRPr/>
          </a:p>
          <a:p>
            <a:pPr marL="0" lvl="0" indent="0" algn="l" rtl="0">
              <a:lnSpc>
                <a:spcPct val="100000"/>
              </a:lnSpc>
              <a:spcBef>
                <a:spcPts val="0"/>
              </a:spcBef>
              <a:spcAft>
                <a:spcPts val="0"/>
              </a:spcAft>
              <a:buSzPts val="1400"/>
              <a:buNone/>
            </a:pPr>
            <a:r>
              <a:rPr lang="en-GB" b="1" u="sng">
                <a:solidFill>
                  <a:srgbClr val="FFFF00"/>
                </a:solidFill>
                <a:hlinkClick r:id="rId3">
                  <a:extLst>
                    <a:ext uri="{A12FA001-AC4F-418D-AE19-62706E023703}">
                      <ahyp:hlinkClr xmlns:ahyp="http://schemas.microsoft.com/office/drawing/2018/hyperlinkcolor" val="tx"/>
                    </a:ext>
                  </a:extLst>
                </a:hlinkClick>
              </a:rPr>
              <a:t>http://www.noorcon.com/articles/Unity3D_Game_Programming_Part_6.html</a:t>
            </a:r>
            <a:endParaRPr/>
          </a:p>
        </p:txBody>
      </p:sp>
      <p:sp>
        <p:nvSpPr>
          <p:cNvPr id="180" name="Google Shape;180;ga6ae829b62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https://www.assetstore.unity3d.com/en/#!/content/25468</a:t>
            </a:r>
            <a:endParaRPr sz="1200"/>
          </a:p>
          <a:p>
            <a:pPr marL="0" lvl="0" indent="0" algn="l" rtl="0">
              <a:lnSpc>
                <a:spcPct val="100000"/>
              </a:lnSpc>
              <a:spcBef>
                <a:spcPts val="0"/>
              </a:spcBef>
              <a:spcAft>
                <a:spcPts val="0"/>
              </a:spcAft>
              <a:buSzPts val="1400"/>
              <a:buNone/>
            </a:pPr>
            <a:r>
              <a:rPr lang="en-GB" sz="1200" b="0">
                <a:solidFill>
                  <a:srgbClr val="FFFF00"/>
                </a:solidFill>
              </a:rPr>
              <a:t>Slider – control and display</a:t>
            </a:r>
            <a:endParaRPr/>
          </a:p>
          <a:p>
            <a:pPr marL="0" lvl="0" indent="0" algn="l" rtl="0">
              <a:lnSpc>
                <a:spcPct val="100000"/>
              </a:lnSpc>
              <a:spcBef>
                <a:spcPts val="0"/>
              </a:spcBef>
              <a:spcAft>
                <a:spcPts val="0"/>
              </a:spcAft>
              <a:buSzPts val="1400"/>
              <a:buNone/>
            </a:pPr>
            <a:r>
              <a:rPr lang="en-GB" sz="1200" b="0" u="sng">
                <a:solidFill>
                  <a:srgbClr val="FFFF00"/>
                </a:solidFill>
                <a:hlinkClick r:id="rId4">
                  <a:extLst>
                    <a:ext uri="{A12FA001-AC4F-418D-AE19-62706E023703}">
                      <ahyp:hlinkClr xmlns:ahyp="http://schemas.microsoft.com/office/drawing/2018/hyperlinkcolor" val="tx"/>
                    </a:ext>
                  </a:extLst>
                </a:hlinkClick>
              </a:rPr>
              <a:t>https://www.youtube.com/watch?v=lNdhNHNwpjI</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Layouts and Spaces</a:t>
            </a:r>
            <a:endParaRPr/>
          </a:p>
          <a:p>
            <a:pPr marL="0" lvl="0" indent="0" algn="l" rtl="0">
              <a:lnSpc>
                <a:spcPct val="100000"/>
              </a:lnSpc>
              <a:spcBef>
                <a:spcPts val="0"/>
              </a:spcBef>
              <a:spcAft>
                <a:spcPts val="0"/>
              </a:spcAft>
              <a:buSzPts val="1400"/>
              <a:buNone/>
            </a:pPr>
            <a:r>
              <a:rPr lang="en-GB" sz="1200" b="0" u="sng">
                <a:solidFill>
                  <a:srgbClr val="FFFF00"/>
                </a:solidFill>
                <a:hlinkClick r:id="rId5">
                  <a:extLst>
                    <a:ext uri="{A12FA001-AC4F-418D-AE19-62706E023703}">
                      <ahyp:hlinkClr xmlns:ahyp="http://schemas.microsoft.com/office/drawing/2018/hyperlinkcolor" val="tx"/>
                    </a:ext>
                  </a:extLst>
                </a:hlinkClick>
              </a:rPr>
              <a:t>https://www.youtube.com/watch?v=OD-p1eMsyrU</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Animated Buttons</a:t>
            </a:r>
            <a:endParaRPr/>
          </a:p>
          <a:p>
            <a:pPr marL="0" lvl="0" indent="0" algn="l" rtl="0">
              <a:lnSpc>
                <a:spcPct val="100000"/>
              </a:lnSpc>
              <a:spcBef>
                <a:spcPts val="0"/>
              </a:spcBef>
              <a:spcAft>
                <a:spcPts val="0"/>
              </a:spcAft>
              <a:buSzPts val="1400"/>
              <a:buNone/>
            </a:pPr>
            <a:endParaRPr sz="1200" b="0">
              <a:solidFill>
                <a:srgbClr val="FFFF00"/>
              </a:solidFill>
            </a:endParaRPr>
          </a:p>
          <a:p>
            <a:pPr marL="0" lvl="0" indent="0" algn="l" rtl="0">
              <a:lnSpc>
                <a:spcPct val="100000"/>
              </a:lnSpc>
              <a:spcBef>
                <a:spcPts val="0"/>
              </a:spcBef>
              <a:spcAft>
                <a:spcPts val="0"/>
              </a:spcAft>
              <a:buSzPts val="1400"/>
              <a:buNone/>
            </a:pPr>
            <a:endParaRPr sz="1200" b="1">
              <a:solidFill>
                <a:srgbClr val="FFFF00"/>
              </a:solidFill>
            </a:endParaRPr>
          </a:p>
          <a:p>
            <a:pPr marL="0" marR="0" lvl="0" indent="0" algn="l" rtl="0">
              <a:lnSpc>
                <a:spcPct val="100000"/>
              </a:lnSpc>
              <a:spcBef>
                <a:spcPts val="0"/>
              </a:spcBef>
              <a:spcAft>
                <a:spcPts val="0"/>
              </a:spcAft>
              <a:buClr>
                <a:schemeClr val="dk1"/>
              </a:buClr>
              <a:buSzPts val="1200"/>
              <a:buFont typeface="Calibri"/>
              <a:buNone/>
            </a:pPr>
            <a:endParaRPr sz="1200"/>
          </a:p>
          <a:p>
            <a:pPr marL="0" lvl="0" indent="0" algn="l" rtl="0">
              <a:lnSpc>
                <a:spcPct val="100000"/>
              </a:lnSpc>
              <a:spcBef>
                <a:spcPts val="0"/>
              </a:spcBef>
              <a:spcAft>
                <a:spcPts val="0"/>
              </a:spcAft>
              <a:buSzPts val="1400"/>
              <a:buNone/>
            </a:pPr>
            <a:endParaRPr/>
          </a:p>
        </p:txBody>
      </p:sp>
      <p:sp>
        <p:nvSpPr>
          <p:cNvPr id="187" name="Google Shape;187;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B7CF20C1-65BE-FAF3-DD05-FF6AA8FE5110}"/>
            </a:ext>
          </a:extLst>
        </p:cNvPr>
        <p:cNvGrpSpPr/>
        <p:nvPr/>
      </p:nvGrpSpPr>
      <p:grpSpPr>
        <a:xfrm>
          <a:off x="0" y="0"/>
          <a:ext cx="0" cy="0"/>
          <a:chOff x="0" y="0"/>
          <a:chExt cx="0" cy="0"/>
        </a:xfrm>
      </p:grpSpPr>
      <p:sp>
        <p:nvSpPr>
          <p:cNvPr id="185" name="Google Shape;185;p24:notes">
            <a:extLst>
              <a:ext uri="{FF2B5EF4-FFF2-40B4-BE49-F238E27FC236}">
                <a16:creationId xmlns:a16="http://schemas.microsoft.com/office/drawing/2014/main" id="{3C2411FB-7C8C-E79F-5878-48604B8A30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24:notes">
            <a:extLst>
              <a:ext uri="{FF2B5EF4-FFF2-40B4-BE49-F238E27FC236}">
                <a16:creationId xmlns:a16="http://schemas.microsoft.com/office/drawing/2014/main" id="{47146B29-2A89-01E2-C094-2E14151136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https://www.assetstore.unity3d.com/en/#!/content/25468</a:t>
            </a:r>
            <a:endParaRPr sz="1200"/>
          </a:p>
          <a:p>
            <a:pPr marL="0" lvl="0" indent="0" algn="l" rtl="0">
              <a:lnSpc>
                <a:spcPct val="100000"/>
              </a:lnSpc>
              <a:spcBef>
                <a:spcPts val="0"/>
              </a:spcBef>
              <a:spcAft>
                <a:spcPts val="0"/>
              </a:spcAft>
              <a:buSzPts val="1400"/>
              <a:buNone/>
            </a:pPr>
            <a:r>
              <a:rPr lang="en-GB" sz="1200" b="0">
                <a:solidFill>
                  <a:srgbClr val="FFFF00"/>
                </a:solidFill>
              </a:rPr>
              <a:t>Slider – control and display</a:t>
            </a:r>
            <a:endParaRPr/>
          </a:p>
          <a:p>
            <a:pPr marL="0" lvl="0" indent="0" algn="l" rtl="0">
              <a:lnSpc>
                <a:spcPct val="100000"/>
              </a:lnSpc>
              <a:spcBef>
                <a:spcPts val="0"/>
              </a:spcBef>
              <a:spcAft>
                <a:spcPts val="0"/>
              </a:spcAft>
              <a:buSzPts val="1400"/>
              <a:buNone/>
            </a:pPr>
            <a:r>
              <a:rPr lang="en-GB" sz="1200" b="0" u="sng">
                <a:solidFill>
                  <a:srgbClr val="FFFF00"/>
                </a:solidFill>
                <a:hlinkClick r:id="rId4">
                  <a:extLst>
                    <a:ext uri="{A12FA001-AC4F-418D-AE19-62706E023703}">
                      <ahyp:hlinkClr xmlns:ahyp="http://schemas.microsoft.com/office/drawing/2018/hyperlinkcolor" val="tx"/>
                    </a:ext>
                  </a:extLst>
                </a:hlinkClick>
              </a:rPr>
              <a:t>https://www.youtube.com/watch?v=lNdhNHNwpjI</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Layouts and Spaces</a:t>
            </a:r>
            <a:endParaRPr/>
          </a:p>
          <a:p>
            <a:pPr marL="0" lvl="0" indent="0" algn="l" rtl="0">
              <a:lnSpc>
                <a:spcPct val="100000"/>
              </a:lnSpc>
              <a:spcBef>
                <a:spcPts val="0"/>
              </a:spcBef>
              <a:spcAft>
                <a:spcPts val="0"/>
              </a:spcAft>
              <a:buSzPts val="1400"/>
              <a:buNone/>
            </a:pPr>
            <a:r>
              <a:rPr lang="en-GB" sz="1200" b="0" u="sng">
                <a:solidFill>
                  <a:srgbClr val="FFFF00"/>
                </a:solidFill>
                <a:hlinkClick r:id="rId5">
                  <a:extLst>
                    <a:ext uri="{A12FA001-AC4F-418D-AE19-62706E023703}">
                      <ahyp:hlinkClr xmlns:ahyp="http://schemas.microsoft.com/office/drawing/2018/hyperlinkcolor" val="tx"/>
                    </a:ext>
                  </a:extLst>
                </a:hlinkClick>
              </a:rPr>
              <a:t>https://www.youtube.com/watch?v=OD-p1eMsyrU</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Animated Buttons</a:t>
            </a:r>
            <a:endParaRPr/>
          </a:p>
          <a:p>
            <a:pPr marL="0" lvl="0" indent="0" algn="l" rtl="0">
              <a:lnSpc>
                <a:spcPct val="100000"/>
              </a:lnSpc>
              <a:spcBef>
                <a:spcPts val="0"/>
              </a:spcBef>
              <a:spcAft>
                <a:spcPts val="0"/>
              </a:spcAft>
              <a:buSzPts val="1400"/>
              <a:buNone/>
            </a:pPr>
            <a:endParaRPr sz="1200" b="0">
              <a:solidFill>
                <a:srgbClr val="FFFF00"/>
              </a:solidFill>
            </a:endParaRPr>
          </a:p>
          <a:p>
            <a:pPr marL="0" lvl="0" indent="0" algn="l" rtl="0">
              <a:lnSpc>
                <a:spcPct val="100000"/>
              </a:lnSpc>
              <a:spcBef>
                <a:spcPts val="0"/>
              </a:spcBef>
              <a:spcAft>
                <a:spcPts val="0"/>
              </a:spcAft>
              <a:buSzPts val="1400"/>
              <a:buNone/>
            </a:pPr>
            <a:endParaRPr sz="1200" b="1">
              <a:solidFill>
                <a:srgbClr val="FFFF00"/>
              </a:solidFill>
            </a:endParaRPr>
          </a:p>
          <a:p>
            <a:pPr marL="0" marR="0" lvl="0" indent="0" algn="l" rtl="0">
              <a:lnSpc>
                <a:spcPct val="100000"/>
              </a:lnSpc>
              <a:spcBef>
                <a:spcPts val="0"/>
              </a:spcBef>
              <a:spcAft>
                <a:spcPts val="0"/>
              </a:spcAft>
              <a:buClr>
                <a:schemeClr val="dk1"/>
              </a:buClr>
              <a:buSzPts val="1200"/>
              <a:buFont typeface="Calibri"/>
              <a:buNone/>
            </a:pPr>
            <a:endParaRPr sz="1200"/>
          </a:p>
          <a:p>
            <a:pPr marL="0" lvl="0" indent="0" algn="l" rtl="0">
              <a:lnSpc>
                <a:spcPct val="100000"/>
              </a:lnSpc>
              <a:spcBef>
                <a:spcPts val="0"/>
              </a:spcBef>
              <a:spcAft>
                <a:spcPts val="0"/>
              </a:spcAft>
              <a:buSzPts val="1400"/>
              <a:buNone/>
            </a:pPr>
            <a:endParaRPr/>
          </a:p>
        </p:txBody>
      </p:sp>
      <p:sp>
        <p:nvSpPr>
          <p:cNvPr id="187" name="Google Shape;187;p24:notes">
            <a:extLst>
              <a:ext uri="{FF2B5EF4-FFF2-40B4-BE49-F238E27FC236}">
                <a16:creationId xmlns:a16="http://schemas.microsoft.com/office/drawing/2014/main" id="{CC6040DD-7AFB-061B-D258-340380F9AA9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30</a:t>
            </a:fld>
            <a:endParaRPr/>
          </a:p>
        </p:txBody>
      </p:sp>
    </p:spTree>
    <p:extLst>
      <p:ext uri="{BB962C8B-B14F-4D97-AF65-F5344CB8AC3E}">
        <p14:creationId xmlns:p14="http://schemas.microsoft.com/office/powerpoint/2010/main" val="35348657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u="sng">
                <a:solidFill>
                  <a:schemeClr val="hlink"/>
                </a:solidFill>
                <a:hlinkClick r:id="rId3"/>
              </a:rPr>
              <a:t>https://www.assetstore.unity3d.com/en/#!/content/25468</a:t>
            </a:r>
            <a:endParaRPr sz="1200"/>
          </a:p>
          <a:p>
            <a:pPr marL="0" lvl="0" indent="0" algn="l" rtl="0">
              <a:lnSpc>
                <a:spcPct val="100000"/>
              </a:lnSpc>
              <a:spcBef>
                <a:spcPts val="0"/>
              </a:spcBef>
              <a:spcAft>
                <a:spcPts val="0"/>
              </a:spcAft>
              <a:buSzPts val="1400"/>
              <a:buNone/>
            </a:pPr>
            <a:r>
              <a:rPr lang="en-GB" sz="1200" b="0">
                <a:solidFill>
                  <a:srgbClr val="FFFF00"/>
                </a:solidFill>
              </a:rPr>
              <a:t>Slider – control and display</a:t>
            </a:r>
            <a:endParaRPr/>
          </a:p>
          <a:p>
            <a:pPr marL="0" lvl="0" indent="0" algn="l" rtl="0">
              <a:lnSpc>
                <a:spcPct val="100000"/>
              </a:lnSpc>
              <a:spcBef>
                <a:spcPts val="0"/>
              </a:spcBef>
              <a:spcAft>
                <a:spcPts val="0"/>
              </a:spcAft>
              <a:buSzPts val="1400"/>
              <a:buNone/>
            </a:pPr>
            <a:r>
              <a:rPr lang="en-GB" sz="1200" b="0" u="sng">
                <a:solidFill>
                  <a:srgbClr val="FFFF00"/>
                </a:solidFill>
                <a:hlinkClick r:id="rId4">
                  <a:extLst>
                    <a:ext uri="{A12FA001-AC4F-418D-AE19-62706E023703}">
                      <ahyp:hlinkClr xmlns:ahyp="http://schemas.microsoft.com/office/drawing/2018/hyperlinkcolor" val="tx"/>
                    </a:ext>
                  </a:extLst>
                </a:hlinkClick>
              </a:rPr>
              <a:t>https://www.youtube.com/watch?v=lNdhNHNwpjI</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Layouts and Spaces</a:t>
            </a:r>
            <a:endParaRPr/>
          </a:p>
          <a:p>
            <a:pPr marL="0" lvl="0" indent="0" algn="l" rtl="0">
              <a:lnSpc>
                <a:spcPct val="100000"/>
              </a:lnSpc>
              <a:spcBef>
                <a:spcPts val="0"/>
              </a:spcBef>
              <a:spcAft>
                <a:spcPts val="0"/>
              </a:spcAft>
              <a:buSzPts val="1400"/>
              <a:buNone/>
            </a:pPr>
            <a:r>
              <a:rPr lang="en-GB" sz="1200" b="0" u="sng">
                <a:solidFill>
                  <a:srgbClr val="FFFF00"/>
                </a:solidFill>
                <a:hlinkClick r:id="rId5">
                  <a:extLst>
                    <a:ext uri="{A12FA001-AC4F-418D-AE19-62706E023703}">
                      <ahyp:hlinkClr xmlns:ahyp="http://schemas.microsoft.com/office/drawing/2018/hyperlinkcolor" val="tx"/>
                    </a:ext>
                  </a:extLst>
                </a:hlinkClick>
              </a:rPr>
              <a:t>https://www.youtube.com/watch?v=OD-p1eMsyrU</a:t>
            </a:r>
            <a:endParaRPr sz="1200" b="0">
              <a:solidFill>
                <a:srgbClr val="FFFF00"/>
              </a:solidFill>
            </a:endParaRPr>
          </a:p>
          <a:p>
            <a:pPr marL="0" lvl="0" indent="0" algn="l" rtl="0">
              <a:lnSpc>
                <a:spcPct val="100000"/>
              </a:lnSpc>
              <a:spcBef>
                <a:spcPts val="0"/>
              </a:spcBef>
              <a:spcAft>
                <a:spcPts val="0"/>
              </a:spcAft>
              <a:buSzPts val="1400"/>
              <a:buNone/>
            </a:pPr>
            <a:r>
              <a:rPr lang="en-GB" sz="1200" b="0">
                <a:solidFill>
                  <a:srgbClr val="FFFF00"/>
                </a:solidFill>
              </a:rPr>
              <a:t>Animated Buttons</a:t>
            </a:r>
            <a:endParaRPr/>
          </a:p>
          <a:p>
            <a:pPr marL="0" lvl="0" indent="0" algn="l" rtl="0">
              <a:lnSpc>
                <a:spcPct val="100000"/>
              </a:lnSpc>
              <a:spcBef>
                <a:spcPts val="0"/>
              </a:spcBef>
              <a:spcAft>
                <a:spcPts val="0"/>
              </a:spcAft>
              <a:buSzPts val="1400"/>
              <a:buNone/>
            </a:pPr>
            <a:endParaRPr sz="1200" b="0">
              <a:solidFill>
                <a:srgbClr val="FFFF00"/>
              </a:solidFill>
            </a:endParaRPr>
          </a:p>
          <a:p>
            <a:pPr marL="0" lvl="0" indent="0" algn="l" rtl="0">
              <a:lnSpc>
                <a:spcPct val="100000"/>
              </a:lnSpc>
              <a:spcBef>
                <a:spcPts val="0"/>
              </a:spcBef>
              <a:spcAft>
                <a:spcPts val="0"/>
              </a:spcAft>
              <a:buSzPts val="1400"/>
              <a:buNone/>
            </a:pPr>
            <a:endParaRPr sz="1200" b="1">
              <a:solidFill>
                <a:srgbClr val="FFFF00"/>
              </a:solidFill>
            </a:endParaRPr>
          </a:p>
          <a:p>
            <a:pPr marL="0" marR="0" lvl="0" indent="0" algn="l" rtl="0">
              <a:lnSpc>
                <a:spcPct val="100000"/>
              </a:lnSpc>
              <a:spcBef>
                <a:spcPts val="0"/>
              </a:spcBef>
              <a:spcAft>
                <a:spcPts val="0"/>
              </a:spcAft>
              <a:buClr>
                <a:schemeClr val="dk1"/>
              </a:buClr>
              <a:buSzPts val="1200"/>
              <a:buFont typeface="Calibri"/>
              <a:buNone/>
            </a:pPr>
            <a:endParaRPr sz="1200"/>
          </a:p>
          <a:p>
            <a:pPr marL="0" lvl="0" indent="0" algn="l" rtl="0">
              <a:lnSpc>
                <a:spcPct val="100000"/>
              </a:lnSpc>
              <a:spcBef>
                <a:spcPts val="0"/>
              </a:spcBef>
              <a:spcAft>
                <a:spcPts val="0"/>
              </a:spcAft>
              <a:buSzPts val="1400"/>
              <a:buNone/>
            </a:pPr>
            <a:endParaRPr/>
          </a:p>
        </p:txBody>
      </p:sp>
      <p:sp>
        <p:nvSpPr>
          <p:cNvPr id="203" name="Google Shape;20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r>
              <a:rPr lang="en-GB" b="1" dirty="0"/>
              <a:t>Scene/Level selection</a:t>
            </a:r>
            <a:endParaRPr lang="en-US" dirty="0"/>
          </a:p>
          <a:p>
            <a:pPr marL="0" indent="0"/>
            <a:r>
              <a:rPr lang="en-GB" b="1" u="sng" dirty="0">
                <a:hlinkClick r:id="rId3">
                  <a:extLst>
                    <a:ext uri="{A12FA001-AC4F-418D-AE19-62706E023703}">
                      <ahyp:hlinkClr xmlns:ahyp="http://schemas.microsoft.com/office/drawing/2018/hyperlinkcolor" val="tx"/>
                    </a:ext>
                  </a:extLst>
                </a:hlinkClick>
              </a:rPr>
              <a:t>https://www.youtube.com/watch?v=FIa7qxGaRZo&amp;index=86&amp;list=PLX2vGYjWbI0Tg4eS9w29PPqg0Fx4sIL7p</a:t>
            </a:r>
            <a:endParaRPr lang="en-US" dirty="0"/>
          </a:p>
          <a:p>
            <a:pPr marL="0" indent="0"/>
            <a:endParaRPr lang="en-US" dirty="0"/>
          </a:p>
          <a:p>
            <a:pPr marL="0" indent="0"/>
            <a:r>
              <a:rPr lang="en-GB" b="1" dirty="0" err="1"/>
              <a:t>Minimaps</a:t>
            </a:r>
            <a:br>
              <a:rPr lang="en-GB" b="1" dirty="0"/>
            </a:br>
            <a:r>
              <a:rPr lang="en-GB" b="1" dirty="0">
                <a:hlinkClick r:id="rId4"/>
              </a:rPr>
              <a:t>https://www.packtpub.com/mapt/book/Game%20Development/9781785885822</a:t>
            </a:r>
            <a:endParaRPr lang="en-US" dirty="0"/>
          </a:p>
          <a:p>
            <a:pPr marL="0" lvl="0" indent="0" algn="l">
              <a:lnSpc>
                <a:spcPct val="100000"/>
              </a:lnSpc>
              <a:spcBef>
                <a:spcPts val="0"/>
              </a:spcBef>
              <a:spcAft>
                <a:spcPts val="0"/>
              </a:spcAft>
              <a:buNone/>
            </a:pPr>
            <a:r>
              <a:rPr lang="en-GB" b="1" u="sng" dirty="0">
                <a:hlinkClick r:id="rId5">
                  <a:extLst>
                    <a:ext uri="{A12FA001-AC4F-418D-AE19-62706E023703}">
                      <ahyp:hlinkClr xmlns:ahyp="http://schemas.microsoft.com/office/drawing/2018/hyperlinkcolor" val="tx"/>
                    </a:ext>
                  </a:extLst>
                </a:hlinkClick>
              </a:rPr>
              <a:t>https://www.packtpub.com/mapt#collapse10</a:t>
            </a:r>
            <a:endParaRPr/>
          </a:p>
        </p:txBody>
      </p:sp>
      <p:sp>
        <p:nvSpPr>
          <p:cNvPr id="217" name="Google Shape;21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0"/>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0"/>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lnSpc>
                <a:spcPct val="100000"/>
              </a:lnSpc>
              <a:spcBef>
                <a:spcPts val="480"/>
              </a:spcBef>
              <a:spcAft>
                <a:spcPts val="0"/>
              </a:spcAft>
              <a:buClr>
                <a:schemeClr val="dk1"/>
              </a:buClr>
              <a:buSzPts val="2400"/>
              <a:buNone/>
              <a:defRPr>
                <a:solidFill>
                  <a:schemeClr val="dk1"/>
                </a:solidFill>
              </a:defRPr>
            </a:lvl2pPr>
            <a:lvl3pPr lvl="2" algn="ctr">
              <a:lnSpc>
                <a:spcPct val="100000"/>
              </a:lnSpc>
              <a:spcBef>
                <a:spcPts val="400"/>
              </a:spcBef>
              <a:spcAft>
                <a:spcPts val="0"/>
              </a:spcAft>
              <a:buClr>
                <a:schemeClr val="dk1"/>
              </a:buClr>
              <a:buSzPts val="2000"/>
              <a:buNone/>
              <a:defRPr>
                <a:solidFill>
                  <a:schemeClr val="dk1"/>
                </a:solidFill>
              </a:defRPr>
            </a:lvl3pPr>
            <a:lvl4pPr lvl="3" algn="ctr">
              <a:lnSpc>
                <a:spcPct val="100000"/>
              </a:lnSpc>
              <a:spcBef>
                <a:spcPts val="360"/>
              </a:spcBef>
              <a:spcAft>
                <a:spcPts val="0"/>
              </a:spcAft>
              <a:buClr>
                <a:schemeClr val="dk1"/>
              </a:buClr>
              <a:buSzPts val="1800"/>
              <a:buNone/>
              <a:defRPr>
                <a:solidFill>
                  <a:schemeClr val="dk1"/>
                </a:solidFill>
              </a:defRPr>
            </a:lvl4pPr>
            <a:lvl5pPr lvl="4" algn="ctr">
              <a:lnSpc>
                <a:spcPct val="100000"/>
              </a:lnSpc>
              <a:spcBef>
                <a:spcPts val="360"/>
              </a:spcBef>
              <a:spcAft>
                <a:spcPts val="0"/>
              </a:spcAft>
              <a:buClr>
                <a:schemeClr val="dk1"/>
              </a:buClr>
              <a:buSzPts val="1800"/>
              <a:buNone/>
              <a:defRPr>
                <a:solidFill>
                  <a:schemeClr val="dk1"/>
                </a:solidFill>
              </a:defRPr>
            </a:lvl5pPr>
            <a:lvl6pPr lvl="5" algn="ctr">
              <a:lnSpc>
                <a:spcPct val="100000"/>
              </a:lnSpc>
              <a:spcBef>
                <a:spcPts val="400"/>
              </a:spcBef>
              <a:spcAft>
                <a:spcPts val="0"/>
              </a:spcAft>
              <a:buClr>
                <a:schemeClr val="dk1"/>
              </a:buClr>
              <a:buSzPts val="2000"/>
              <a:buNone/>
              <a:defRPr>
                <a:solidFill>
                  <a:schemeClr val="dk1"/>
                </a:solidFill>
              </a:defRPr>
            </a:lvl6pPr>
            <a:lvl7pPr lvl="6" algn="ctr">
              <a:lnSpc>
                <a:spcPct val="100000"/>
              </a:lnSpc>
              <a:spcBef>
                <a:spcPts val="400"/>
              </a:spcBef>
              <a:spcAft>
                <a:spcPts val="0"/>
              </a:spcAft>
              <a:buClr>
                <a:schemeClr val="dk1"/>
              </a:buClr>
              <a:buSzPts val="2000"/>
              <a:buNone/>
              <a:defRPr>
                <a:solidFill>
                  <a:schemeClr val="dk1"/>
                </a:solidFill>
              </a:defRPr>
            </a:lvl7pPr>
            <a:lvl8pPr lvl="7" algn="ctr">
              <a:lnSpc>
                <a:spcPct val="100000"/>
              </a:lnSpc>
              <a:spcBef>
                <a:spcPts val="400"/>
              </a:spcBef>
              <a:spcAft>
                <a:spcPts val="0"/>
              </a:spcAft>
              <a:buClr>
                <a:schemeClr val="dk1"/>
              </a:buClr>
              <a:buSzPts val="2000"/>
              <a:buNone/>
              <a:defRPr>
                <a:solidFill>
                  <a:schemeClr val="dk1"/>
                </a:solidFill>
              </a:defRPr>
            </a:lvl8pPr>
            <a:lvl9pPr lvl="8" algn="ctr">
              <a:lnSpc>
                <a:spcPct val="100000"/>
              </a:lnSpc>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2"/>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a:solidFill>
                  <a:schemeClr val="dk1"/>
                </a:solidFill>
              </a:defRPr>
            </a:lvl1pPr>
            <a:lvl2pPr marL="914400" lvl="1" indent="-381000" algn="l">
              <a:lnSpc>
                <a:spcPct val="100000"/>
              </a:lnSpc>
              <a:spcBef>
                <a:spcPts val="480"/>
              </a:spcBef>
              <a:spcAft>
                <a:spcPts val="0"/>
              </a:spcAft>
              <a:buClr>
                <a:schemeClr val="dk1"/>
              </a:buClr>
              <a:buSzPts val="2400"/>
              <a:buChar char="–"/>
              <a:defRPr>
                <a:solidFill>
                  <a:schemeClr val="dk1"/>
                </a:solidFill>
              </a:defRPr>
            </a:lvl2pPr>
            <a:lvl3pPr marL="1371600" lvl="2" indent="-355600" algn="l">
              <a:lnSpc>
                <a:spcPct val="100000"/>
              </a:lnSpc>
              <a:spcBef>
                <a:spcPts val="400"/>
              </a:spcBef>
              <a:spcAft>
                <a:spcPts val="0"/>
              </a:spcAft>
              <a:buClr>
                <a:schemeClr val="dk1"/>
              </a:buClr>
              <a:buSzPts val="2000"/>
              <a:buChar char="•"/>
              <a:defRPr>
                <a:solidFill>
                  <a:schemeClr val="dk1"/>
                </a:solidFill>
              </a:defRPr>
            </a:lvl3pPr>
            <a:lvl4pPr marL="1828800" lvl="3" indent="-342900" algn="l">
              <a:lnSpc>
                <a:spcPct val="100000"/>
              </a:lnSpc>
              <a:spcBef>
                <a:spcPts val="360"/>
              </a:spcBef>
              <a:spcAft>
                <a:spcPts val="0"/>
              </a:spcAft>
              <a:buClr>
                <a:schemeClr val="dk1"/>
              </a:buClr>
              <a:buSzPts val="1800"/>
              <a:buChar char="–"/>
              <a:defRPr>
                <a:solidFill>
                  <a:schemeClr val="dk1"/>
                </a:solidFill>
              </a:defRPr>
            </a:lvl4pPr>
            <a:lvl5pPr marL="2286000" lvl="4" indent="-342900" algn="l">
              <a:lnSpc>
                <a:spcPct val="100000"/>
              </a:lnSpc>
              <a:spcBef>
                <a:spcPts val="360"/>
              </a:spcBef>
              <a:spcAft>
                <a:spcPts val="0"/>
              </a:spcAft>
              <a:buClr>
                <a:schemeClr val="dk1"/>
              </a:buClr>
              <a:buSzPts val="18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33"/>
          <p:cNvSpPr/>
          <p:nvPr/>
        </p:nvSpPr>
        <p:spPr>
          <a:xfrm>
            <a:off x="6216395" y="1556056"/>
            <a:ext cx="5361312" cy="613784"/>
          </a:xfrm>
          <a:prstGeom prst="rect">
            <a:avLst/>
          </a:prstGeom>
          <a:solidFill>
            <a:srgbClr val="FFFFFF">
              <a:alpha val="3529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7" name="Google Shape;27;p33"/>
          <p:cNvSpPr/>
          <p:nvPr/>
        </p:nvSpPr>
        <p:spPr>
          <a:xfrm>
            <a:off x="638677" y="1556792"/>
            <a:ext cx="5361312" cy="613784"/>
          </a:xfrm>
          <a:prstGeom prst="rect">
            <a:avLst/>
          </a:prstGeom>
          <a:solidFill>
            <a:srgbClr val="FFFFFF">
              <a:alpha val="35294"/>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28" name="Google Shape;28;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4400"/>
              <a:buFont typeface="Quattrocento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0" name="Google Shape;30;p3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31" name="Google Shape;31;p3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2" name="Google Shape;32;p3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pic>
        <p:nvPicPr>
          <p:cNvPr id="33" name="Google Shape;33;p33">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33">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7" name="Google Shape;37;p34">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29"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29"/>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29">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29">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29"/>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blend4web.com/apps/dairy_plant/dairy_plant.html?v=93906d9bd04fe610df690c519724295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a-HT389bR5ApI4Hvry5xwUBuf3kgrrejueN-yHc8XhFMA?e=58N7AI"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noorcon.com/articles/Unity3D_Game_Programming_Part_4.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unity3d.com/learn/tutorials/topics/user-interface-ui/ui-events-and-event-trigger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docs.unity3d.com/Packages/com.unity.ugui@1.0/manual/SupportedEvents.html" TargetMode="External"/><Relationship Id="rId4" Type="http://schemas.openxmlformats.org/officeDocument/2006/relationships/hyperlink" Target="mailto:&#8195;&#8195;&#8195;&#8195;&#8195;&#8195;&#8195;&#8195;&#8195;&#8195;&#8195;&#8195;&#8195;https://docs.unity3d.com/Packages/com.unity.ugui@1.0/manual/script-EventTrigger.ht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unity3d.com/learn/tutorials/topics/user-interface-ui/ui-events-and-event-trigger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lynda.com/Unity-tutorials/Create-button-element/489008/519845-4.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cO0bmyfERdEsHZuGgGKcdYBfxTDsbYeTxKWE8-px1ykbg?e=e97b7o"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lynda.com/Unity-tutorials/Create-button-element/489008/519845-4.htm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ccvkNJwsmRJr1UxMpOKrDkBvF-AdAUJgRe0-Jk1PuvHpw?e=CEqGU7"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universityofwestminster-my.sharepoint.com/:b:/g/personal/fergusj_westminster_ac_uk/Ea-HT389bR5ApI4Hvry5xwUBuf3kgrrejueN-yHc8XhFMA?e=CpMFSy" TargetMode="External"/><Relationship Id="rId4" Type="http://schemas.openxmlformats.org/officeDocument/2006/relationships/hyperlink" Target="https://universityofwestminster-my.sharepoint.com/:b:/g/personal/fergusj_westminster_ac_uk/EcO0bmyfERdEsHZuGgGKcdYBfxTDsbYeTxKWE8-px1ykbg?e=e97b7o"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cO0bmyfERdEsHZuGgGKcdYBfxTDsbYeTxKWE8-px1ykbg?e=e97b7o"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cO0bmyfERdEsHZuGgGKcdYBfxTDsbYeTxKWE8-px1ykbg?e=e97b7o"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youtu.be/mgaUKk8hfjg"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hyperlink" Target="https://youtu.be/mgaUKk8hfjg"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hyperlink" Target="https://unity3d.com/learn/tutorials/topics/user-interface-ui/ui-canvas?playlist=17111"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ttps://unity3d.com/learn/tutorials/modules/beginner/live-training-archive/the-new-ui?playlist=17111"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universityofwestminster-my.sharepoint.com/:b:/g/personal/fergusj_westminster_ac_uk/ERj_qpxQ88NHiffS2AqRrqQBc3qQe13MZTvrWTeXSfAHWw?e=VLLJSl" TargetMode="External"/><Relationship Id="rId3" Type="http://schemas.openxmlformats.org/officeDocument/2006/relationships/hyperlink" Target="https://universityofwestminster-my.sharepoint.com/:b:/g/personal/fergusj_westminster_ac_uk/EcO0bmyfERdEsHZuGgGKcdYBfxTDsbYeTxKWE8-px1ykbg?e=qL631Q" TargetMode="External"/><Relationship Id="rId7" Type="http://schemas.openxmlformats.org/officeDocument/2006/relationships/hyperlink" Target="https://www.packtpub.com/mapt/book/Game%20Development/9781785885822/3/ch03lvl1sec29/Implementing+a+numeric+timer"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universityofwestminster-my.sharepoint.com/:b:/g/personal/fergusj_westminster_ac_uk/ERj_qpxQ88NHiffS2AqRrqQBc3qQe13MZTvrWTeXSfAHWw?e=x8Edju" TargetMode="External"/><Relationship Id="rId5" Type="http://schemas.openxmlformats.org/officeDocument/2006/relationships/hyperlink" Target="https://www.packtpub.com/mapt/book/Game%20Development/9781785885822/2/ch02lvl1sec23/Implementing+a+linear+health+bar" TargetMode="External"/><Relationship Id="rId4" Type="http://schemas.openxmlformats.org/officeDocument/2006/relationships/hyperlink" Target="https://universityofwestminster-my.sharepoint.com/:b:/g/personal/fergusj_westminster_ac_uk/EalgxFQRvGJCms814KrGY2cBNWe_429yt-HOH0TumV1_TA?e=6RF4kv" TargetMode="External"/><Relationship Id="rId9" Type="http://schemas.openxmlformats.org/officeDocument/2006/relationships/hyperlink" Target="https://www.packtpub.com/mapt/book/Game%20Development/9781785885822/2/ch02lvl1sec19/Implementing+a+score+counter"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xyC_flufHwg"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nGYObojmkO4"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www.youtube.com/watch?v=TAJCr3_kfE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1"/>
          <p:cNvSpPr txBox="1">
            <a:spLocks noGrp="1"/>
          </p:cNvSpPr>
          <p:nvPr>
            <p:ph type="subTitle" idx="1"/>
          </p:nvPr>
        </p:nvSpPr>
        <p:spPr>
          <a:xfrm>
            <a:off x="914400" y="3212976"/>
            <a:ext cx="10363200" cy="2808312"/>
          </a:xfrm>
          <a:prstGeom prst="rect">
            <a:avLst/>
          </a:prstGeom>
          <a:noFill/>
          <a:ln>
            <a:noFill/>
          </a:ln>
        </p:spPr>
        <p:txBody>
          <a:bodyPr spcFirstLastPara="1" wrap="square" lIns="91425" tIns="45700" rIns="91425" bIns="45700" anchor="t" anchorCtr="0">
            <a:normAutofit/>
          </a:bodyPr>
          <a:lstStyle/>
          <a:p>
            <a:pPr marL="0" indent="0">
              <a:spcBef>
                <a:spcPts val="0"/>
              </a:spcBef>
              <a:buClr>
                <a:srgbClr val="FFFF00"/>
              </a:buClr>
            </a:pPr>
            <a:r>
              <a:rPr lang="en-GB" b="1" dirty="0">
                <a:solidFill>
                  <a:srgbClr val="FFFF00"/>
                </a:solidFill>
              </a:rPr>
              <a:t>5MMCS001W					    Lecture 07</a:t>
            </a:r>
            <a:endParaRPr b="1" dirty="0">
              <a:solidFill>
                <a:srgbClr val="FFFF00"/>
              </a:solidFill>
            </a:endParaRPr>
          </a:p>
          <a:p>
            <a:pPr marL="0" lvl="0" indent="0" algn="l" rtl="0">
              <a:lnSpc>
                <a:spcPct val="100000"/>
              </a:lnSpc>
              <a:spcBef>
                <a:spcPts val="560"/>
              </a:spcBef>
              <a:spcAft>
                <a:spcPts val="0"/>
              </a:spcAft>
              <a:buClr>
                <a:schemeClr val="dk1"/>
              </a:buClr>
              <a:buSzPts val="2800"/>
              <a:buNone/>
            </a:pPr>
            <a:endParaRPr>
              <a:solidFill>
                <a:srgbClr val="FF0000"/>
              </a:solidFill>
            </a:endParaRPr>
          </a:p>
          <a:p>
            <a:pPr marL="0" lvl="0" indent="0" algn="ctr" rtl="0">
              <a:lnSpc>
                <a:spcPct val="100000"/>
              </a:lnSpc>
              <a:spcBef>
                <a:spcPts val="360"/>
              </a:spcBef>
              <a:spcAft>
                <a:spcPts val="0"/>
              </a:spcAft>
              <a:buClr>
                <a:schemeClr val="dk1"/>
              </a:buClr>
              <a:buSzPts val="1800"/>
              <a:buNone/>
            </a:pPr>
            <a:r>
              <a:rPr lang="en-GB" sz="1800" u="sng" dirty="0">
                <a:solidFill>
                  <a:schemeClr val="hlink"/>
                </a:solidFill>
                <a:hlinkClick r:id="rId3">
                  <a:extLst>
                    <a:ext uri="{A12FA001-AC4F-418D-AE19-62706E023703}">
                      <ahyp:hlinkClr xmlns:ahyp="http://schemas.microsoft.com/office/drawing/2018/hyperlinkcolor" val="tx"/>
                    </a:ext>
                  </a:extLst>
                </a:hlinkClick>
              </a:rPr>
              <a:t>https://www.blend4web.com/apps/dairy_plant/dairy_plant.html?v=93906d9bd04fe610df690c519724295f</a:t>
            </a:r>
            <a:endParaRPr sz="1800" dirty="0">
              <a:solidFill>
                <a:schemeClr val="hlink"/>
              </a:solidFill>
            </a:endParaRPr>
          </a:p>
          <a:p>
            <a:pPr marL="0" lvl="0" indent="0" algn="ctr" rtl="0">
              <a:lnSpc>
                <a:spcPct val="100000"/>
              </a:lnSpc>
              <a:spcBef>
                <a:spcPts val="560"/>
              </a:spcBef>
              <a:spcAft>
                <a:spcPts val="0"/>
              </a:spcAft>
              <a:buClr>
                <a:schemeClr val="dk1"/>
              </a:buClr>
              <a:buSzPts val="2800"/>
              <a:buNone/>
            </a:pP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3"/>
          <p:cNvSpPr txBox="1"/>
          <p:nvPr/>
        </p:nvSpPr>
        <p:spPr>
          <a:xfrm>
            <a:off x="609600" y="1421654"/>
            <a:ext cx="10890600" cy="40010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Troubleshooting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2400" b="1" dirty="0">
                <a:solidFill>
                  <a:srgbClr val="FFFF00"/>
                </a:solidFill>
                <a:latin typeface="Quattrocento Sans"/>
                <a:ea typeface="Quattrocento Sans"/>
                <a:cs typeface="Quattrocento Sans"/>
                <a:sym typeface="Quattrocento Sans"/>
              </a:rPr>
              <a:t>Button Animate Demo</a:t>
            </a:r>
            <a:endParaRPr sz="2400" b="1"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endParaRPr sz="2400" b="1"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2400" b="1" dirty="0">
                <a:solidFill>
                  <a:srgbClr val="FFFF00"/>
                </a:solidFill>
                <a:latin typeface="Quattrocento Sans"/>
                <a:ea typeface="Quattrocento Sans"/>
                <a:cs typeface="Quattrocento Sans"/>
                <a:sym typeface="Quattrocento Sans"/>
              </a:rPr>
              <a:t>Unity Packages Demo</a:t>
            </a:r>
            <a:endParaRPr sz="2400" b="1"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endParaRPr>
              <a:ea typeface="Quattrocento Sans"/>
            </a:endParaRPr>
          </a:p>
          <a:p>
            <a:pPr marL="0" marR="0" lvl="0" indent="0" algn="l" rtl="0">
              <a:lnSpc>
                <a:spcPct val="100000"/>
              </a:lnSpc>
              <a:spcBef>
                <a:spcPts val="0"/>
              </a:spcBef>
              <a:spcAft>
                <a:spcPts val="0"/>
              </a:spcAft>
              <a:buClr>
                <a:srgbClr val="000000"/>
              </a:buClr>
              <a:buSzPts val="3600"/>
              <a:buFont typeface="Arial"/>
              <a:buNone/>
            </a:pPr>
            <a:endParaRPr lang="en-GB" sz="3600" b="1" i="0" u="none" strike="noStrike" cap="none">
              <a:solidFill>
                <a:srgbClr val="FFFF00"/>
              </a:solidFill>
              <a:latin typeface="Quattrocento Sans"/>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58" name="Google Shape;58;p4"/>
          <p:cNvSpPr txBox="1"/>
          <p:nvPr/>
        </p:nvSpPr>
        <p:spPr>
          <a:xfrm>
            <a:off x="609600" y="1421654"/>
            <a:ext cx="10890738" cy="50167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Input Manager - Also Tutorial </a:t>
            </a:r>
            <a:r>
              <a:rPr lang="en-GB" sz="3600" b="1" dirty="0">
                <a:solidFill>
                  <a:srgbClr val="FFFF00"/>
                </a:solidFill>
                <a:latin typeface="Quattrocento Sans"/>
                <a:ea typeface="Quattrocento Sans"/>
                <a:cs typeface="Quattrocento Sans"/>
                <a:sym typeface="Quattrocento Sans"/>
              </a:rPr>
              <a:t>2-3</a:t>
            </a:r>
            <a:endParaRPr sz="1400" b="0" i="0" u="none" strike="noStrike" cap="none" dirty="0">
              <a:solidFill>
                <a:srgbClr val="000000"/>
              </a:solidFill>
              <a:latin typeface="Arial"/>
              <a:ea typeface="Arial"/>
              <a:cs typeface="Arial"/>
              <a:sym typeface="Arial"/>
            </a:endParaRPr>
          </a:p>
          <a:p>
            <a:endParaRPr lang="en-GB" sz="1800" dirty="0">
              <a:solidFill>
                <a:schemeClr val="dk1"/>
              </a:solidFill>
            </a:endParaRPr>
          </a:p>
          <a:p>
            <a:pPr>
              <a:buSzPts val="1800"/>
            </a:pPr>
            <a:endParaRPr lang="en-GB" sz="1800">
              <a:solidFill>
                <a:schemeClr val="dk1"/>
              </a:solidFill>
              <a:ea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Each program you write, whether the program is a phone application, a web application, a game or an embedded system, needs some sort of an input. In general every program needs some sort of an input and some sort of an output. The output is what the users sees, and the input is what the user enters or gives to the program to generate the output based on some algorithm.</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Unity 3D is no different. The game engine needs to be able to process inputs from different sources: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Keyboard</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Mouse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Joystick(s)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Unity 3D manages its inputs through the Input Manager. The Input Manager is accessible by selecting Edit-&gt;Project Settings-&gt;Input from the main menu bar.</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endParaRPr lang="en-GB" sz="900"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5"/>
          <p:cNvSpPr txBox="1"/>
          <p:nvPr/>
        </p:nvSpPr>
        <p:spPr>
          <a:xfrm>
            <a:off x="609600" y="1421654"/>
            <a:ext cx="10890738"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Input Manager - Also Tutorial </a:t>
            </a:r>
            <a:r>
              <a:rPr lang="en-GB" sz="3600" b="1" dirty="0">
                <a:solidFill>
                  <a:srgbClr val="FFFF00"/>
                </a:solidFill>
                <a:latin typeface="Quattrocento Sans"/>
                <a:ea typeface="Quattrocento Sans"/>
                <a:cs typeface="Quattrocento Sans"/>
                <a:sym typeface="Quattrocento Sans"/>
              </a:rPr>
              <a:t>2-3</a:t>
            </a:r>
            <a:endParaRPr sz="1400" b="0" i="0" u="none" strike="noStrike" cap="none" dirty="0">
              <a:solidFill>
                <a:srgbClr val="000000"/>
              </a:solidFill>
              <a:latin typeface="Arial"/>
              <a:ea typeface="Arial"/>
              <a:cs typeface="Arial"/>
              <a:sym typeface="Arial"/>
            </a:endParaRPr>
          </a:p>
          <a:p>
            <a:endParaRPr lang="en-GB" sz="1800" u="sng"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pic>
        <p:nvPicPr>
          <p:cNvPr id="66" name="Google Shape;66;p5"/>
          <p:cNvPicPr preferRelativeResize="0"/>
          <p:nvPr/>
        </p:nvPicPr>
        <p:blipFill rotWithShape="1">
          <a:blip r:embed="rId3">
            <a:alphaModFix/>
          </a:blip>
          <a:srcRect/>
          <a:stretch/>
        </p:blipFill>
        <p:spPr>
          <a:xfrm>
            <a:off x="738706" y="2454875"/>
            <a:ext cx="1805371" cy="4139340"/>
          </a:xfrm>
          <a:prstGeom prst="rect">
            <a:avLst/>
          </a:prstGeom>
          <a:noFill/>
          <a:ln>
            <a:noFill/>
          </a:ln>
        </p:spPr>
      </p:pic>
      <p:pic>
        <p:nvPicPr>
          <p:cNvPr id="67" name="Google Shape;67;p5"/>
          <p:cNvPicPr preferRelativeResize="0"/>
          <p:nvPr/>
        </p:nvPicPr>
        <p:blipFill rotWithShape="1">
          <a:blip r:embed="rId4">
            <a:alphaModFix/>
          </a:blip>
          <a:srcRect/>
          <a:stretch/>
        </p:blipFill>
        <p:spPr>
          <a:xfrm>
            <a:off x="2673183" y="2454875"/>
            <a:ext cx="1805370" cy="4139340"/>
          </a:xfrm>
          <a:prstGeom prst="rect">
            <a:avLst/>
          </a:prstGeom>
          <a:noFill/>
          <a:ln>
            <a:noFill/>
          </a:ln>
        </p:spPr>
      </p:pic>
      <p:pic>
        <p:nvPicPr>
          <p:cNvPr id="68" name="Google Shape;68;p5"/>
          <p:cNvPicPr preferRelativeResize="0"/>
          <p:nvPr/>
        </p:nvPicPr>
        <p:blipFill rotWithShape="1">
          <a:blip r:embed="rId5">
            <a:alphaModFix/>
          </a:blip>
          <a:srcRect/>
          <a:stretch/>
        </p:blipFill>
        <p:spPr>
          <a:xfrm>
            <a:off x="4607658" y="2454875"/>
            <a:ext cx="1805370" cy="413934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75" name="Google Shape;75;p6"/>
          <p:cNvSpPr txBox="1"/>
          <p:nvPr/>
        </p:nvSpPr>
        <p:spPr>
          <a:xfrm>
            <a:off x="609600" y="1263754"/>
            <a:ext cx="8835000" cy="6001500"/>
          </a:xfrm>
          <a:prstGeom prst="rect">
            <a:avLst/>
          </a:prstGeom>
          <a:noFill/>
          <a:ln>
            <a:noFill/>
          </a:ln>
        </p:spPr>
        <p:txBody>
          <a:bodyPr spcFirstLastPara="1" wrap="square" lIns="91425" tIns="45700" rIns="91425" bIns="45700" anchor="t" anchorCtr="0">
            <a:noAutofit/>
          </a:bodyPr>
          <a:lstStyle/>
          <a:p>
            <a:pPr>
              <a:buSzPts val="3600"/>
            </a:pPr>
            <a:r>
              <a:rPr lang="en-GB" sz="3600" b="1" i="0" u="none" strike="noStrike" cap="none" dirty="0">
                <a:solidFill>
                  <a:srgbClr val="FFFF00"/>
                </a:solidFill>
                <a:latin typeface="Quattrocento Sans"/>
                <a:ea typeface="Quattrocento Sans"/>
                <a:cs typeface="Quattrocento Sans"/>
                <a:sym typeface="Quattrocento Sans"/>
              </a:rPr>
              <a:t>Unity Input Manager</a:t>
            </a:r>
            <a:r>
              <a:rPr lang="en-GB" sz="3600" b="1" dirty="0">
                <a:solidFill>
                  <a:srgbClr val="FFFF00"/>
                </a:solidFill>
                <a:latin typeface="Quattrocento Sans"/>
                <a:ea typeface="Quattrocento Sans"/>
                <a:cs typeface="Quattrocento Sans"/>
                <a:sym typeface="Quattrocento Sans"/>
              </a:rPr>
              <a:t> – Tut 7.1</a:t>
            </a:r>
            <a:endParaRPr sz="1400" b="0" i="0" u="none" strike="noStrike" cap="none" dirty="0">
              <a:solidFill>
                <a:srgbClr val="000000"/>
              </a:solidFill>
              <a:latin typeface="Arial"/>
              <a:ea typeface="Arial"/>
              <a:cs typeface="Arial"/>
              <a:sym typeface="Arial"/>
            </a:endParaRPr>
          </a:p>
          <a:p>
            <a:endParaRPr lang="en-GB" sz="1800" u="sng"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Figure 1 lists all of the out of the box Input configurations defined in the game engine. Let’s go ahead and expand the first Input Definition called </a:t>
            </a:r>
            <a:r>
              <a:rPr lang="en-GB" sz="1800" b="1" i="0" u="none" strike="noStrike" cap="none" dirty="0">
                <a:solidFill>
                  <a:schemeClr val="dk1"/>
                </a:solidFill>
                <a:latin typeface="Quattrocento Sans"/>
                <a:ea typeface="Quattrocento Sans"/>
                <a:cs typeface="Quattrocento Sans"/>
                <a:sym typeface="Quattrocento Sans"/>
              </a:rPr>
              <a:t>Horizontal</a:t>
            </a:r>
            <a:r>
              <a:rPr lang="en-GB" sz="1800" b="0" i="0" u="none" strike="noStrike" cap="none" dirty="0">
                <a:solidFill>
                  <a:schemeClr val="dk1"/>
                </a:solidFill>
                <a:latin typeface="Quattrocento Sans"/>
                <a:ea typeface="Quattrocento Sans"/>
                <a:cs typeface="Quattrocento Sans"/>
                <a:sym typeface="Quattrocento Sans"/>
              </a:rPr>
              <a:t>. Looking at Figure 2, you will notice the attributes that are defined under the Horizontal Axis input configuration. The following are the properties of the input configuration that are important to take a note of:</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Name:</a:t>
            </a:r>
            <a:r>
              <a:rPr lang="en-GB" sz="1800" b="0" i="0" u="none" strike="noStrike" cap="none" dirty="0">
                <a:solidFill>
                  <a:schemeClr val="dk1"/>
                </a:solidFill>
                <a:latin typeface="Quattrocento Sans"/>
                <a:ea typeface="Quattrocento Sans"/>
                <a:cs typeface="Quattrocento Sans"/>
                <a:sym typeface="Quattrocento Sans"/>
              </a:rPr>
              <a:t> the name of the axis as defines in the Input Manager. This is the name that you can refer to in your C# code for to detect and perform an operation as desired.</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Positive Button:</a:t>
            </a:r>
            <a:r>
              <a:rPr lang="en-GB" sz="1800" b="0" i="0" u="none" strike="noStrike" cap="none" dirty="0">
                <a:solidFill>
                  <a:schemeClr val="dk1"/>
                </a:solidFill>
                <a:latin typeface="Quattrocento Sans"/>
                <a:ea typeface="Quattrocento Sans"/>
                <a:cs typeface="Quattrocento Sans"/>
                <a:sym typeface="Quattrocento Sans"/>
              </a:rPr>
              <a:t> defines the primary button that will provide the positive direction / force.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Negative Button:</a:t>
            </a:r>
            <a:r>
              <a:rPr lang="en-GB" sz="1800" b="0" i="0" u="none" strike="noStrike" cap="none" dirty="0">
                <a:solidFill>
                  <a:schemeClr val="dk1"/>
                </a:solidFill>
                <a:latin typeface="Quattrocento Sans"/>
                <a:ea typeface="Quattrocento Sans"/>
                <a:cs typeface="Quattrocento Sans"/>
                <a:sym typeface="Quattrocento Sans"/>
              </a:rPr>
              <a:t> defines the primary button that will provide the negative direction / force.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Alt. Positive Button:</a:t>
            </a:r>
            <a:r>
              <a:rPr lang="en-GB" sz="1800" b="0" i="0" u="none" strike="noStrike" cap="none" dirty="0">
                <a:solidFill>
                  <a:schemeClr val="dk1"/>
                </a:solidFill>
                <a:latin typeface="Quattrocento Sans"/>
                <a:ea typeface="Quattrocento Sans"/>
                <a:cs typeface="Quattrocento Sans"/>
                <a:sym typeface="Quattrocento Sans"/>
              </a:rPr>
              <a:t> same as the positive button, but defines a secondary input intake.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Alt. Negative Button:</a:t>
            </a:r>
            <a:r>
              <a:rPr lang="en-GB" sz="1800" b="0" i="0" u="none" strike="noStrike" cap="none" dirty="0">
                <a:solidFill>
                  <a:schemeClr val="dk1"/>
                </a:solidFill>
                <a:latin typeface="Quattrocento Sans"/>
                <a:ea typeface="Quattrocento Sans"/>
                <a:cs typeface="Quattrocento Sans"/>
                <a:sym typeface="Quattrocento Sans"/>
              </a:rPr>
              <a:t> same as the negative button, but defines a secondary input intake.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Type:</a:t>
            </a:r>
            <a:r>
              <a:rPr lang="en-GB" sz="1800" b="0" i="0" u="none" strike="noStrike" cap="none" dirty="0">
                <a:solidFill>
                  <a:schemeClr val="dk1"/>
                </a:solidFill>
                <a:latin typeface="Quattrocento Sans"/>
                <a:ea typeface="Quattrocento Sans"/>
                <a:cs typeface="Quattrocento Sans"/>
                <a:sym typeface="Quattrocento Sans"/>
              </a:rPr>
              <a:t> defines where the input source is coming from; (Keyboard/Mouse/Joystick).</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chemeClr val="dk1"/>
                </a:solidFill>
                <a:latin typeface="Quattrocento Sans"/>
                <a:ea typeface="Quattrocento Sans"/>
                <a:cs typeface="Quattrocento Sans"/>
                <a:sym typeface="Quattrocento Sans"/>
              </a:rPr>
              <a:t>Axis:</a:t>
            </a:r>
            <a:r>
              <a:rPr lang="en-GB" sz="1800" b="0" i="0" u="none" strike="noStrike" cap="none" dirty="0">
                <a:solidFill>
                  <a:schemeClr val="dk1"/>
                </a:solidFill>
                <a:latin typeface="Quattrocento Sans"/>
                <a:ea typeface="Quattrocento Sans"/>
                <a:cs typeface="Quattrocento Sans"/>
                <a:sym typeface="Quattrocento Sans"/>
              </a:rPr>
              <a:t> which axis in the world should the force be applied to.</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p:txBody>
      </p:sp>
      <p:pic>
        <p:nvPicPr>
          <p:cNvPr id="76" name="Google Shape;76;p6"/>
          <p:cNvPicPr preferRelativeResize="0"/>
          <p:nvPr/>
        </p:nvPicPr>
        <p:blipFill rotWithShape="1">
          <a:blip r:embed="rId3">
            <a:alphaModFix/>
          </a:blip>
          <a:srcRect/>
          <a:stretch/>
        </p:blipFill>
        <p:spPr>
          <a:xfrm>
            <a:off x="9444608" y="1309814"/>
            <a:ext cx="2137792" cy="490151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83" name="Google Shape;83;p7"/>
          <p:cNvSpPr txBox="1"/>
          <p:nvPr/>
        </p:nvSpPr>
        <p:spPr>
          <a:xfrm>
            <a:off x="609600" y="1421654"/>
            <a:ext cx="10972800" cy="5355272"/>
          </a:xfrm>
          <a:prstGeom prst="rect">
            <a:avLst/>
          </a:prstGeom>
          <a:noFill/>
          <a:ln>
            <a:noFill/>
          </a:ln>
        </p:spPr>
        <p:txBody>
          <a:bodyPr spcFirstLastPara="1" wrap="square" lIns="91425" tIns="45700" rIns="91425" bIns="45700" anchor="t" anchorCtr="0">
            <a:spAutoFit/>
          </a:bodyPr>
          <a:lstStyle/>
          <a:p>
            <a:pPr>
              <a:buSzPts val="3600"/>
            </a:pPr>
            <a:r>
              <a:rPr lang="en-GB" sz="3600" b="1" i="0" u="none" strike="noStrike" cap="none" dirty="0">
                <a:solidFill>
                  <a:srgbClr val="FFFF00"/>
                </a:solidFill>
                <a:latin typeface="Quattrocento Sans"/>
                <a:ea typeface="Quattrocento Sans"/>
                <a:cs typeface="Quattrocento Sans"/>
                <a:sym typeface="Quattrocento Sans"/>
              </a:rPr>
              <a:t>Unity Input Manager</a:t>
            </a:r>
            <a:r>
              <a:rPr lang="en-GB" sz="3600" b="1" dirty="0">
                <a:solidFill>
                  <a:srgbClr val="FFFF00"/>
                </a:solidFill>
                <a:latin typeface="Quattrocento Sans"/>
                <a:ea typeface="Quattrocento Sans"/>
                <a:cs typeface="Quattrocento Sans"/>
                <a:sym typeface="Quattrocento Sans"/>
              </a:rPr>
              <a:t> – Tut 7.1</a:t>
            </a:r>
            <a:endParaRPr sz="1400" b="0" i="0" u="none" strike="noStrike" cap="none" dirty="0">
              <a:solidFill>
                <a:srgbClr val="000000"/>
              </a:solidFill>
              <a:latin typeface="Arial"/>
              <a:ea typeface="Arial"/>
              <a:cs typeface="Arial"/>
              <a:sym typeface="Arial"/>
            </a:endParaRPr>
          </a:p>
          <a:p>
            <a:pPr>
              <a:buSzPts val="1800"/>
            </a:pPr>
            <a:endParaRPr lang="en-GB" sz="1800">
              <a:solidFill>
                <a:schemeClr val="dk1"/>
              </a:solidFill>
              <a:latin typeface="Quattrocento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Input key values to handle the rotation for the dynamically created primitives in the following order:</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Key A will be responsible to rotate Cube1’ on the Y-Axis.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Key B will be responsible to rotate Cube2’ on the X-Axis.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Key C will be responsible to rotate Cube3’ on the Z-Axis.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Notice, that the </a:t>
            </a:r>
            <a:r>
              <a:rPr lang="en-GB" sz="1800" b="1" i="0" u="none" strike="noStrike" cap="none" dirty="0">
                <a:solidFill>
                  <a:schemeClr val="dk1"/>
                </a:solidFill>
                <a:latin typeface="Quattrocento Sans"/>
                <a:ea typeface="Quattrocento Sans"/>
                <a:cs typeface="Quattrocento Sans"/>
                <a:sym typeface="Quattrocento Sans"/>
              </a:rPr>
              <a:t>Update()</a:t>
            </a:r>
            <a:r>
              <a:rPr lang="en-GB" sz="1800" b="0" i="0" u="none" strike="noStrike" cap="none" dirty="0">
                <a:solidFill>
                  <a:schemeClr val="dk1"/>
                </a:solidFill>
                <a:latin typeface="Quattrocento Sans"/>
                <a:ea typeface="Quattrocento Sans"/>
                <a:cs typeface="Quattrocento Sans"/>
                <a:sym typeface="Quattrocento Sans"/>
              </a:rPr>
              <a:t> function is where you place the logic to perform your Input and Output. The code checks to see if the primitives have been initialized, and if true, then it will check for input from the user. Based on the key value it will apply the appropriate rotation to the Game Object.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Quattrocento Sans"/>
                <a:ea typeface="Quattrocento Sans"/>
                <a:cs typeface="Quattrocento Sans"/>
                <a:sym typeface="Quattrocento Sans"/>
              </a:rPr>
              <a:t>Each primitive will rotate independently only when the specific key associated to its rotation is pressed. For instance, if you press the A key, Cube1’ will continuously rotate until you stop pressing it. It will stop at the last rotation angle where you lifted your finger from the key.</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a:p>
            <a:r>
              <a:rPr lang="en-GB" sz="900" dirty="0">
                <a:solidFill>
                  <a:schemeClr val="dk1"/>
                </a:solidFill>
                <a:hlinkClick r:id="rId3">
                  <a:extLst>
                    <a:ext uri="{A12FA001-AC4F-418D-AE19-62706E023703}">
                      <ahyp:hlinkClr xmlns:ahyp="http://schemas.microsoft.com/office/drawing/2018/hyperlinkcolor" val="tx"/>
                    </a:ext>
                  </a:extLst>
                </a:hlinkClick>
              </a:rPr>
              <a:t>Noorcon Inc. - Unity 3D Game Programming Part 3 - Vahe Karamian.pdf</a:t>
            </a:r>
            <a:endParaRPr lang="en-GB" sz="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90" name="Google Shape;90;p8"/>
          <p:cNvSpPr txBox="1"/>
          <p:nvPr/>
        </p:nvSpPr>
        <p:spPr>
          <a:xfrm>
            <a:off x="609600" y="1421654"/>
            <a:ext cx="10890738" cy="5185995"/>
          </a:xfrm>
          <a:prstGeom prst="rect">
            <a:avLst/>
          </a:prstGeom>
          <a:noFill/>
          <a:ln>
            <a:noFill/>
          </a:ln>
        </p:spPr>
        <p:txBody>
          <a:bodyPr spcFirstLastPara="1" wrap="square" lIns="91425" tIns="45700" rIns="91425" bIns="45700" anchor="t" anchorCtr="0">
            <a:spAutoFit/>
          </a:bodyPr>
          <a:lstStyle/>
          <a:p>
            <a:pPr>
              <a:buSzPts val="3600"/>
            </a:pPr>
            <a:r>
              <a:rPr lang="en-GB" sz="3600" b="1" i="0" u="none" strike="noStrike" cap="none" dirty="0">
                <a:solidFill>
                  <a:srgbClr val="FFFF00"/>
                </a:solidFill>
                <a:latin typeface="Quattrocento Sans"/>
                <a:ea typeface="Quattrocento Sans"/>
                <a:cs typeface="Quattrocento Sans"/>
                <a:sym typeface="Quattrocento Sans"/>
              </a:rPr>
              <a:t>Unity Input Manager/Movement Scripting</a:t>
            </a:r>
            <a:r>
              <a:rPr lang="en-GB" sz="3600" b="1" dirty="0">
                <a:solidFill>
                  <a:srgbClr val="FFFF00"/>
                </a:solidFill>
                <a:latin typeface="Quattrocento Sans"/>
                <a:ea typeface="Quattrocento Sans"/>
                <a:cs typeface="Quattrocento Sans"/>
                <a:sym typeface="Quattrocento Sans"/>
              </a:rPr>
              <a:t> – Tut 7.1</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a:buSzPts val="1800"/>
            </a:pPr>
            <a:r>
              <a:rPr lang="en-GB" sz="1800" dirty="0">
                <a:solidFill>
                  <a:schemeClr val="dk1"/>
                </a:solidFill>
                <a:latin typeface="Quattrocento Sans"/>
                <a:ea typeface="Quattrocento Sans"/>
                <a:cs typeface="Quattrocento Sans"/>
                <a:sym typeface="Quattrocento Sans"/>
              </a:rPr>
              <a:t> </a:t>
            </a:r>
            <a:r>
              <a:rPr lang="en-GB" sz="2000" b="1" i="1" u="none" strike="noStrike" cap="none" dirty="0" err="1">
                <a:solidFill>
                  <a:srgbClr val="FFFF00"/>
                </a:solidFill>
                <a:latin typeface="Quattrocento Sans"/>
                <a:ea typeface="Quattrocento Sans"/>
                <a:cs typeface="Quattrocento Sans"/>
                <a:sym typeface="Quattrocento Sans"/>
              </a:rPr>
              <a:t>CreatePrimitivesFromImport.cs</a:t>
            </a:r>
            <a:r>
              <a:rPr lang="en-GB" sz="2000" b="1" i="1" u="none" strike="noStrike" cap="none" dirty="0">
                <a:solidFill>
                  <a:srgbClr val="FFFF00"/>
                </a:solidFill>
                <a:latin typeface="Quattrocento Sans"/>
                <a:ea typeface="Quattrocento Sans"/>
                <a:cs typeface="Quattrocento Sans"/>
                <a:sym typeface="Quattrocento Sans"/>
              </a:rPr>
              <a:t> – on Main Camera, Can access all Cube Game Objects</a:t>
            </a:r>
            <a:br>
              <a:rPr lang="en-GB" sz="1800" b="0" i="0" u="none" strike="noStrike" cap="none" dirty="0">
                <a:latin typeface="Quattrocento Sans"/>
                <a:ea typeface="Quattrocento Sans"/>
                <a:cs typeface="Quattrocento Sans"/>
              </a:rPr>
            </a:br>
            <a:endParaRPr sz="1800" b="0" i="0" u="none" strike="noStrike" cap="none">
              <a:solidFill>
                <a:schemeClr val="dk1"/>
              </a:solidFill>
              <a:latin typeface="Quattrocento Sans"/>
              <a:ea typeface="Quattrocento Sans"/>
              <a:cs typeface="Quattrocento Sans"/>
              <a:sym typeface="Quattrocento Sans"/>
            </a:endParaRPr>
          </a:p>
          <a:p>
            <a:pPr>
              <a:buSzPts val="1800"/>
            </a:pPr>
            <a:r>
              <a:rPr lang="en-GB" sz="1800" b="0" i="0" u="none" strike="noStrike" cap="none" dirty="0">
                <a:solidFill>
                  <a:schemeClr val="dk1"/>
                </a:solidFill>
                <a:latin typeface="Quattrocento Sans"/>
                <a:ea typeface="Quattrocento Sans"/>
                <a:cs typeface="Quattrocento Sans"/>
                <a:sym typeface="Quattrocento Sans"/>
              </a:rPr>
              <a:t>if(</a:t>
            </a:r>
            <a:r>
              <a:rPr lang="en-GB" sz="1800" b="0" i="0" u="none" strike="noStrike" cap="none" err="1">
                <a:solidFill>
                  <a:schemeClr val="dk1"/>
                </a:solidFill>
                <a:latin typeface="Quattrocento Sans"/>
                <a:ea typeface="Quattrocento Sans"/>
                <a:cs typeface="Quattrocento Sans"/>
                <a:sym typeface="Quattrocento Sans"/>
              </a:rPr>
              <a:t>Input.GetKey</a:t>
            </a:r>
            <a:r>
              <a:rPr lang="en-GB" sz="1800" b="0" i="0" u="none" strike="noStrike" cap="none" dirty="0">
                <a:solidFill>
                  <a:schemeClr val="dk1"/>
                </a:solidFill>
                <a:latin typeface="Quattrocento Sans"/>
                <a:ea typeface="Quattrocento Sans"/>
                <a:cs typeface="Quattrocento Sans"/>
                <a:sym typeface="Quattrocento Sans"/>
              </a:rPr>
              <a:t>(</a:t>
            </a:r>
            <a:r>
              <a:rPr lang="en-GB" sz="1800" b="0" i="0" u="none" strike="noStrike" cap="none" err="1">
                <a:solidFill>
                  <a:schemeClr val="dk1"/>
                </a:solidFill>
                <a:latin typeface="Quattrocento Sans"/>
                <a:ea typeface="Quattrocento Sans"/>
                <a:cs typeface="Quattrocento Sans"/>
                <a:sym typeface="Quattrocento Sans"/>
              </a:rPr>
              <a:t>KeyCode.A</a:t>
            </a:r>
            <a:r>
              <a:rPr lang="en-GB" sz="1800" b="0" i="0" u="none" strike="noStrike" cap="none" dirty="0">
                <a:solidFill>
                  <a:schemeClr val="dk1"/>
                </a:solidFill>
                <a:latin typeface="Quattrocento Sans"/>
                <a:ea typeface="Quattrocento Sans"/>
                <a:cs typeface="Quattrocento Sans"/>
                <a:sym typeface="Quattrocento Sans"/>
              </a:rPr>
              <a:t>)){</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 </a:t>
            </a: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this.cube1.transform.Rotate(new Vector3(0,1,0), 1);</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 }</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br>
              <a:rPr lang="en-GB" sz="1800" dirty="0">
                <a:latin typeface="Quattrocento Sans"/>
                <a:ea typeface="Quattrocento Sans"/>
                <a:cs typeface="Quattrocento Sans"/>
                <a:sym typeface="Quattrocento Sans"/>
              </a:rPr>
            </a:br>
            <a:r>
              <a:rPr lang="en-GB" sz="1800" b="0" i="0" u="none" strike="noStrike" cap="none">
                <a:solidFill>
                  <a:schemeClr val="dk1"/>
                </a:solidFill>
                <a:latin typeface="Quattrocento Sans"/>
                <a:ea typeface="Quattrocento Sans"/>
                <a:cs typeface="Quattrocento Sans"/>
                <a:sym typeface="Quattrocento Sans"/>
              </a:rPr>
              <a:t>// apply the x-axis transform to </a:t>
            </a:r>
            <a:r>
              <a:rPr lang="en-GB" sz="1800">
                <a:solidFill>
                  <a:schemeClr val="dk1"/>
                </a:solidFill>
                <a:latin typeface="Quattrocento Sans"/>
                <a:ea typeface="Quattrocento Sans"/>
                <a:cs typeface="Quattrocento Sans"/>
                <a:sym typeface="Quattrocento Sans"/>
              </a:rPr>
              <a:t>Cube2'</a:t>
            </a:r>
            <a:endParaRPr lang="en-GB" sz="1800" dirty="0">
              <a:solidFill>
                <a:schemeClr val="dk1"/>
              </a:solidFill>
              <a:latin typeface="Quattrocento Sans"/>
              <a:ea typeface="Quattrocento Sans"/>
              <a:cs typeface="Quattrocento Sans"/>
              <a:sym typeface="Quattrocento Sans"/>
            </a:endParaRPr>
          </a:p>
          <a:p>
            <a:pPr>
              <a:buSzPts val="1800"/>
            </a:pPr>
            <a:r>
              <a:rPr lang="en-GB" sz="1800" dirty="0">
                <a:solidFill>
                  <a:schemeClr val="dk1"/>
                </a:solidFill>
                <a:latin typeface="Quattrocento Sans"/>
                <a:ea typeface="Quattrocento Sans"/>
                <a:cs typeface="Quattrocento Sans"/>
                <a:sym typeface="Quattrocento Sans"/>
              </a:rPr>
              <a:t>if</a:t>
            </a:r>
            <a:r>
              <a:rPr lang="en-GB" sz="1800" b="0" i="0" u="none" strike="noStrike" cap="none" dirty="0">
                <a:solidFill>
                  <a:schemeClr val="dk1"/>
                </a:solidFill>
                <a:latin typeface="Quattrocento Sans"/>
                <a:ea typeface="Quattrocento Sans"/>
                <a:cs typeface="Quattrocento Sans"/>
                <a:sym typeface="Quattrocento Sans"/>
              </a:rPr>
              <a:t>(</a:t>
            </a:r>
            <a:r>
              <a:rPr lang="en-GB" sz="1800" b="0" i="0" u="none" strike="noStrike" cap="none" dirty="0" err="1">
                <a:solidFill>
                  <a:schemeClr val="dk1"/>
                </a:solidFill>
                <a:latin typeface="Quattrocento Sans"/>
                <a:ea typeface="Quattrocento Sans"/>
                <a:cs typeface="Quattrocento Sans"/>
                <a:sym typeface="Quattrocento Sans"/>
              </a:rPr>
              <a:t>Input.GetKey</a:t>
            </a:r>
            <a:r>
              <a:rPr lang="en-GB" sz="1800" b="0" i="0" u="none" strike="noStrike" cap="none" dirty="0">
                <a:solidFill>
                  <a:schemeClr val="dk1"/>
                </a:solidFill>
                <a:latin typeface="Quattrocento Sans"/>
                <a:ea typeface="Quattrocento Sans"/>
                <a:cs typeface="Quattrocento Sans"/>
                <a:sym typeface="Quattrocento Sans"/>
              </a:rPr>
              <a:t>(</a:t>
            </a:r>
            <a:r>
              <a:rPr lang="en-GB" sz="1800" b="0" i="0" u="none" strike="noStrike" cap="none" dirty="0" err="1">
                <a:solidFill>
                  <a:schemeClr val="dk1"/>
                </a:solidFill>
                <a:latin typeface="Quattrocento Sans"/>
                <a:ea typeface="Quattrocento Sans"/>
                <a:cs typeface="Quattrocento Sans"/>
                <a:sym typeface="Quattrocento Sans"/>
              </a:rPr>
              <a:t>KeyCode.B</a:t>
            </a:r>
            <a:r>
              <a:rPr lang="en-GB" sz="1800" b="0" i="0" u="none" strike="noStrike" cap="none" dirty="0">
                <a:solidFill>
                  <a:schemeClr val="dk1"/>
                </a:solidFill>
                <a:latin typeface="Quattrocento Sans"/>
                <a:ea typeface="Quattrocento Sans"/>
                <a:cs typeface="Quattrocento Sans"/>
                <a:sym typeface="Quattrocento Sans"/>
              </a:rPr>
              <a:t>)){</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 </a:t>
            </a: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this.cube2.transform.Rotate(new Vector3(1,0,0), 1);</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 }</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apply the z-axis transform to Cube3'</a:t>
            </a:r>
            <a:br>
              <a:rPr lang="en-GB" sz="1800" dirty="0">
                <a:latin typeface="Quattrocento Sans"/>
                <a:ea typeface="Quattrocento Sans"/>
                <a:cs typeface="Quattrocento Sans"/>
                <a:sym typeface="Quattrocento Sans"/>
              </a:rPr>
            </a:br>
            <a:r>
              <a:rPr lang="en-GB" sz="1800" dirty="0">
                <a:solidFill>
                  <a:schemeClr val="dk1"/>
                </a:solidFill>
                <a:latin typeface="Quattrocento Sans"/>
                <a:ea typeface="Quattrocento Sans"/>
                <a:cs typeface="Quattrocento Sans"/>
                <a:sym typeface="Quattrocento Sans"/>
              </a:rPr>
              <a:t>if(Input.GetKey(KeyCode.C)){</a:t>
            </a:r>
            <a:br>
              <a:rPr lang="en-GB" sz="1800" dirty="0">
                <a:latin typeface="Quattrocento Sans"/>
                <a:ea typeface="Quattrocento Sans"/>
                <a:cs typeface="Quattrocento Sans"/>
                <a:sym typeface="Quattrocento Sans"/>
              </a:rPr>
            </a:br>
            <a:r>
              <a:rPr lang="en-GB" sz="1800" dirty="0">
                <a:solidFill>
                  <a:schemeClr val="dk1"/>
                </a:solidFill>
                <a:latin typeface="Quattrocento Sans"/>
                <a:ea typeface="Quattrocento Sans"/>
                <a:cs typeface="Quattrocento Sans"/>
                <a:sym typeface="Quattrocento Sans"/>
              </a:rPr>
              <a:t>     this.cube3.transform.Rotate(new Vector3(0,0,1), 1);</a:t>
            </a:r>
            <a:br>
              <a:rPr lang="en-GB" sz="1800" b="0" i="0" u="none" strike="noStrike" cap="none" dirty="0">
                <a:latin typeface="Quattrocento Sans"/>
                <a:ea typeface="Quattrocento Sans"/>
                <a:cs typeface="Quattrocento Sans"/>
              </a:rPr>
            </a:br>
            <a:r>
              <a:rPr lang="en-GB" sz="1800" dirty="0">
                <a:solidFill>
                  <a:schemeClr val="dk1"/>
                </a:solidFill>
                <a:latin typeface="Quattrocento Sans"/>
                <a:ea typeface="Quattrocento Sans"/>
                <a:cs typeface="Quattrocento Sans"/>
                <a:sym typeface="Quattrocento Sans"/>
              </a:rPr>
              <a:t>  </a:t>
            </a:r>
            <a:r>
              <a:rPr lang="en-GB" sz="1800" b="0" i="0" u="none" strike="noStrike" cap="none" dirty="0">
                <a:solidFill>
                  <a:schemeClr val="dk1"/>
                </a:solidFill>
                <a:latin typeface="Quattrocento Sans"/>
                <a:ea typeface="Quattrocento Sans"/>
                <a:cs typeface="Quattrocento Sans"/>
                <a:sym typeface="Quattrocento Sans"/>
              </a:rPr>
              <a:t> }</a:t>
            </a:r>
            <a:endParaRPr lang="en-GB" sz="1800" b="0" i="0" u="none" strike="noStrike" cap="none" dirty="0">
              <a:solidFill>
                <a:schemeClr val="dk1"/>
              </a:solidFill>
              <a:latin typeface="Quattrocento Sans"/>
              <a:ea typeface="Quattrocento Sans"/>
              <a:cs typeface="Quattrocento Sans"/>
            </a:endParaRPr>
          </a:p>
          <a:p>
            <a:pPr>
              <a:buSzPts val="1800"/>
            </a:pPr>
            <a:endParaRPr lang="en-GB" sz="1800" dirty="0">
              <a:solidFill>
                <a:schemeClr val="dk1"/>
              </a:solidFill>
              <a:latin typeface="Quattrocento Sans"/>
              <a:ea typeface="Quattrocento Sans"/>
              <a:cs typeface="Quattrocento Sans"/>
            </a:endParaRPr>
          </a:p>
          <a:p>
            <a:r>
              <a:rPr lang="en-GB" sz="900" dirty="0">
                <a:solidFill>
                  <a:schemeClr val="dk1"/>
                </a:solidFill>
                <a:latin typeface="Quattrocento Sans"/>
                <a:hlinkClick r:id="rId3">
                  <a:extLst>
                    <a:ext uri="{A12FA001-AC4F-418D-AE19-62706E023703}">
                      <ahyp:hlinkClr xmlns:ahyp="http://schemas.microsoft.com/office/drawing/2018/hyperlinkcolor" val="tx"/>
                    </a:ext>
                  </a:extLst>
                </a:hlinkClick>
              </a:rPr>
              <a:t>http://www.noorcon.com/articles/Unity3D_Game_Programming_Part_4.html</a:t>
            </a:r>
            <a:endParaRPr lang="en-GB" sz="9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97" name="Google Shape;97;p12"/>
          <p:cNvSpPr txBox="1"/>
          <p:nvPr/>
        </p:nvSpPr>
        <p:spPr>
          <a:xfrm>
            <a:off x="609600" y="1421654"/>
            <a:ext cx="10890738" cy="56322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i="0" u="none" strike="noStrike" cap="none" dirty="0">
                <a:solidFill>
                  <a:srgbClr val="FFFF00"/>
                </a:solidFill>
                <a:latin typeface="Quattrocento Sans"/>
                <a:ea typeface="Quattrocento Sans"/>
                <a:cs typeface="Quattrocento Sans"/>
                <a:sym typeface="Quattrocento Sans"/>
              </a:rPr>
              <a:t>Unity Animator Scripting - </a:t>
            </a:r>
            <a:r>
              <a:rPr lang="en-GB" sz="3600" dirty="0">
                <a:solidFill>
                  <a:srgbClr val="FFFF00"/>
                </a:solidFill>
                <a:latin typeface="Quattrocento Sans"/>
                <a:ea typeface="Quattrocento Sans"/>
                <a:cs typeface="Quattrocento Sans"/>
                <a:sym typeface="Quattrocento Sans"/>
              </a:rPr>
              <a:t>Tut</a:t>
            </a:r>
            <a:r>
              <a:rPr lang="en-GB" sz="3600" i="0" u="none" strike="noStrike" cap="none" dirty="0">
                <a:solidFill>
                  <a:srgbClr val="FFFF00"/>
                </a:solidFill>
                <a:latin typeface="Quattrocento Sans"/>
                <a:ea typeface="Quattrocento Sans"/>
                <a:cs typeface="Quattrocento Sans"/>
                <a:sym typeface="Quattrocento Sans"/>
              </a:rPr>
              <a:t> </a:t>
            </a:r>
            <a:r>
              <a:rPr lang="en-GB" sz="3600" dirty="0">
                <a:solidFill>
                  <a:srgbClr val="FFFF00"/>
                </a:solidFill>
                <a:latin typeface="Quattrocento Sans"/>
                <a:ea typeface="Quattrocento Sans"/>
                <a:cs typeface="Quattrocento Sans"/>
                <a:sym typeface="Quattrocento Sans"/>
              </a:rPr>
              <a:t>5</a:t>
            </a:r>
            <a:endParaRPr lang="en-US" sz="140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3600"/>
              <a:buFont typeface="Arial"/>
              <a:buNone/>
            </a:pPr>
            <a:endParaRPr sz="3600" i="0" u="none" strike="noStrike" cap="none"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Array, Animate, Export from Max</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New Project, Import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Divide into Static, Explode, Implode animations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Set up Animator</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Script for Input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lang="en-GB" sz="2400" b="1" i="0" u="sng" strike="noStrike" cap="none" dirty="0">
              <a:solidFill>
                <a:srgbClr val="FF0000"/>
              </a:solidFill>
              <a:latin typeface="Quattrocento Sans"/>
            </a:endParaRPr>
          </a:p>
          <a:p>
            <a:endParaRPr lang="en-GB" sz="2400" b="1" dirty="0">
              <a:solidFill>
                <a:srgbClr val="FFFF00"/>
              </a:solidFil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0000"/>
              </a:solidFill>
              <a:latin typeface="Quattrocento Sans"/>
              <a:ea typeface="Quattrocento Sans"/>
              <a:cs typeface="Quattrocento Sans"/>
            </a:endParaRPr>
          </a:p>
          <a:p>
            <a:pPr>
              <a:buSzPts val="2400"/>
            </a:pPr>
            <a:endParaRPr lang="en-US" sz="2400" b="1">
              <a:solidFill>
                <a:srgbClr val="FFFF00"/>
              </a:solidFill>
              <a:latin typeface="Quattrocento Sans"/>
              <a:ea typeface="Quattrocento Sans"/>
              <a:cs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04" name="Google Shape;104;p13"/>
          <p:cNvSpPr txBox="1"/>
          <p:nvPr/>
        </p:nvSpPr>
        <p:spPr>
          <a:xfrm>
            <a:off x="609600" y="1421654"/>
            <a:ext cx="1089073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a:t>
            </a:r>
            <a:endParaRPr sz="24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11" name="Google Shape;111;p14"/>
          <p:cNvSpPr txBox="1"/>
          <p:nvPr/>
        </p:nvSpPr>
        <p:spPr>
          <a:xfrm>
            <a:off x="609600" y="1421654"/>
            <a:ext cx="10890738"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i="0" u="none" strike="noStrike" cap="none" dirty="0">
                <a:solidFill>
                  <a:srgbClr val="FFFF00"/>
                </a:solidFill>
                <a:latin typeface="Quattrocento Sans"/>
                <a:ea typeface="Quattrocento Sans"/>
                <a:cs typeface="Quattrocento Sans"/>
                <a:sym typeface="Quattrocento Sans"/>
              </a:rPr>
              <a:t>Unity UI Architecture</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i="0" u="none" strike="noStrike" cap="none"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1" u="none" strike="noStrike" cap="none" err="1">
                <a:solidFill>
                  <a:srgbClr val="FF0000"/>
                </a:solidFill>
                <a:latin typeface="Quattrocento Sans"/>
                <a:ea typeface="Quattrocento Sans"/>
                <a:cs typeface="Quattrocento Sans"/>
                <a:sym typeface="Quattrocento Sans"/>
              </a:rPr>
              <a:t>UnityEngine.UI</a:t>
            </a:r>
            <a:r>
              <a:rPr lang="en-GB" sz="2400" i="1" u="none" strike="noStrike" cap="none" dirty="0">
                <a:solidFill>
                  <a:srgbClr val="FF0000"/>
                </a:solidFill>
                <a:latin typeface="Quattrocento Sans"/>
                <a:ea typeface="Quattrocento Sans"/>
                <a:cs typeface="Quattrocento Sans"/>
                <a:sym typeface="Quattrocento Sans"/>
              </a:rPr>
              <a:t> Namespace - using </a:t>
            </a:r>
            <a:r>
              <a:rPr lang="en-GB" sz="2400" i="1" u="none" strike="noStrike" cap="none" err="1">
                <a:solidFill>
                  <a:srgbClr val="FF0000"/>
                </a:solidFill>
                <a:latin typeface="Quattrocento Sans"/>
                <a:ea typeface="Quattrocento Sans"/>
                <a:cs typeface="Quattrocento Sans"/>
                <a:sym typeface="Quattrocento Sans"/>
              </a:rPr>
              <a:t>UnityEngine.UI</a:t>
            </a:r>
            <a:r>
              <a:rPr lang="en-GB" sz="2400" i="1" u="none" strike="noStrike" cap="none" dirty="0">
                <a:solidFill>
                  <a:srgbClr val="FF0000"/>
                </a:solidFill>
                <a:latin typeface="Quattrocento Sans"/>
                <a:ea typeface="Quattrocento Sans"/>
                <a:cs typeface="Quattrocento Sans"/>
                <a:sym typeface="Quattrocento Sans"/>
              </a:rPr>
              <a:t>;</a:t>
            </a:r>
            <a:br>
              <a:rPr lang="en-GB" sz="2400" i="0" u="none" strike="noStrike" cap="none" dirty="0">
                <a:latin typeface="Quattrocento Sans"/>
                <a:ea typeface="Quattrocento Sans"/>
                <a:cs typeface="Quattrocento Sans"/>
              </a:rPr>
            </a:br>
            <a:r>
              <a:rPr lang="en-GB" sz="2400" i="0" u="none" strike="noStrike" cap="none" dirty="0">
                <a:solidFill>
                  <a:srgbClr val="FFFF00"/>
                </a:solidFill>
                <a:latin typeface="Quattrocento Sans"/>
                <a:ea typeface="Quattrocento Sans"/>
                <a:cs typeface="Quattrocento Sans"/>
                <a:sym typeface="Quattrocento Sans"/>
              </a:rPr>
              <a:t>Canvas, </a:t>
            </a:r>
            <a:r>
              <a:rPr lang="en-GB" sz="2400" i="0" u="none" strike="noStrike" cap="none" err="1">
                <a:solidFill>
                  <a:srgbClr val="FFFF00"/>
                </a:solidFill>
                <a:latin typeface="Quattrocento Sans"/>
                <a:ea typeface="Quattrocento Sans"/>
                <a:cs typeface="Quattrocento Sans"/>
                <a:sym typeface="Quattrocento Sans"/>
              </a:rPr>
              <a:t>RectTransform</a:t>
            </a:r>
            <a:endParaRPr sz="2400" i="0" u="none" strike="noStrike" cap="none" err="1">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Button, Image, Panel, Text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Prefabs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Events, Event Triggers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Slider</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Transitions</a:t>
            </a:r>
            <a:endParaRPr sz="3600" i="0" u="none" strike="noStrike" cap="none" dirty="0">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18" name="Google Shape;118;p15"/>
          <p:cNvSpPr txBox="1"/>
          <p:nvPr/>
        </p:nvSpPr>
        <p:spPr>
          <a:xfrm>
            <a:off x="609600" y="1421654"/>
            <a:ext cx="10890738" cy="44627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i="0" u="none" strike="noStrike" cap="none" dirty="0">
                <a:solidFill>
                  <a:srgbClr val="FFFF00"/>
                </a:solidFill>
                <a:latin typeface="Quattrocento Sans"/>
                <a:ea typeface="Quattrocento Sans"/>
                <a:cs typeface="Quattrocento Sans"/>
                <a:sym typeface="Quattrocento Sans"/>
              </a:rPr>
              <a:t>Unity UI Architecture</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i="1" u="none" strike="noStrike" cap="none" dirty="0">
              <a:solidFill>
                <a:srgbClr val="FF00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1" u="none" strike="noStrike" cap="none" dirty="0">
                <a:solidFill>
                  <a:srgbClr val="FF0000"/>
                </a:solidFill>
                <a:latin typeface="Quattrocento Sans"/>
                <a:ea typeface="Quattrocento Sans"/>
                <a:cs typeface="Quattrocento Sans"/>
                <a:sym typeface="Quattrocento Sans"/>
              </a:rPr>
              <a:t>using </a:t>
            </a:r>
            <a:r>
              <a:rPr lang="en-GB" sz="2400" i="1" u="none" strike="noStrike" cap="none" dirty="0" err="1">
                <a:solidFill>
                  <a:srgbClr val="FF0000"/>
                </a:solidFill>
                <a:latin typeface="Quattrocento Sans"/>
                <a:ea typeface="Quattrocento Sans"/>
                <a:cs typeface="Quattrocento Sans"/>
                <a:sym typeface="Quattrocento Sans"/>
              </a:rPr>
              <a:t>UnityEngine.UI</a:t>
            </a:r>
            <a:r>
              <a:rPr lang="en-GB" sz="2400" i="1" u="none" strike="noStrike" cap="none" dirty="0">
                <a:solidFill>
                  <a:srgbClr val="FF0000"/>
                </a:solidFill>
                <a:latin typeface="Quattrocento Sans"/>
                <a:ea typeface="Quattrocento Sans"/>
                <a:cs typeface="Quattrocento Sans"/>
                <a:sym typeface="Quattrocento Sans"/>
              </a:rPr>
              <a:t>;</a:t>
            </a:r>
            <a:endParaRPr sz="3600" i="0" u="none" strike="noStrike" cap="none"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Canvas – Base component of UI</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	</a:t>
            </a:r>
            <a:r>
              <a:rPr lang="en-GB" sz="2000" i="0" u="none" strike="noStrike" cap="none" dirty="0">
                <a:solidFill>
                  <a:schemeClr val="bg2"/>
                </a:solidFill>
                <a:latin typeface="Quattrocento Sans"/>
                <a:ea typeface="Quattrocento Sans"/>
                <a:cs typeface="Quattrocento Sans"/>
                <a:sym typeface="Quattrocento Sans"/>
              </a:rPr>
              <a:t>Screen Space Overlay – exactly to screen size, nothing rendered in front</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Screen Space Camera – Similar, but affected by camera settings </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(Perspective vs orthographic)</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World Space – makes a 3D world object</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(in game screens)</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Drawn in Hierarchy order</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Images, Buttons, Text all children of this</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	</a:t>
            </a:r>
            <a:r>
              <a:rPr lang="en-GB" sz="2000" i="0" u="none" strike="noStrike" cap="none" dirty="0">
                <a:solidFill>
                  <a:schemeClr val="bg2"/>
                </a:solidFill>
                <a:latin typeface="Quattrocento Sans"/>
                <a:ea typeface="Quattrocento Sans"/>
                <a:cs typeface="Quattrocento Sans"/>
                <a:sym typeface="Quattrocento Sans"/>
              </a:rPr>
              <a:t>Dragged into boxes to wire up</a:t>
            </a:r>
            <a:endParaRPr sz="2000" i="0" u="none" strike="noStrike" cap="none">
              <a:solidFill>
                <a:schemeClr val="bg2"/>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Event System</a:t>
            </a:r>
            <a:endParaRPr sz="200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25" name="Google Shape;125;p16"/>
          <p:cNvSpPr txBox="1"/>
          <p:nvPr/>
        </p:nvSpPr>
        <p:spPr>
          <a:xfrm>
            <a:off x="609600" y="1421654"/>
            <a:ext cx="10890738" cy="55245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Architecture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1" u="sng" strike="noStrike" cap="none" dirty="0">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https://unity3d.com/learn/tutorials/topics/user-interface-ui/ui-events-and-event-triggers</a:t>
            </a:r>
            <a:endParaRPr sz="1800" b="1" i="1" u="none" strike="noStrike" cap="none" dirty="0">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1" u="none" strike="noStrike" cap="none" dirty="0">
                <a:solidFill>
                  <a:srgbClr val="FF0000"/>
                </a:solidFill>
                <a:latin typeface="Quattrocento Sans"/>
                <a:ea typeface="Quattrocento Sans"/>
                <a:cs typeface="Quattrocento Sans"/>
                <a:sym typeface="Quattrocento Sans"/>
              </a:rPr>
              <a:t>using </a:t>
            </a:r>
            <a:r>
              <a:rPr lang="en-GB" sz="2400" b="1" i="1" u="none" strike="noStrike" cap="none" dirty="0" err="1">
                <a:solidFill>
                  <a:srgbClr val="FF0000"/>
                </a:solidFill>
                <a:latin typeface="Quattrocento Sans"/>
                <a:ea typeface="Quattrocento Sans"/>
                <a:cs typeface="Quattrocento Sans"/>
                <a:sym typeface="Quattrocento Sans"/>
              </a:rPr>
              <a:t>UnityEngine.UI</a:t>
            </a:r>
            <a:r>
              <a:rPr lang="en-GB" sz="2400" b="1" i="1" u="none" strike="noStrike" cap="none" dirty="0">
                <a:solidFill>
                  <a:srgbClr val="FF0000"/>
                </a:solidFill>
                <a:latin typeface="Quattrocento Sans"/>
                <a:ea typeface="Quattrocento Sans"/>
                <a:cs typeface="Quattrocento Sans"/>
                <a:sym typeface="Quattrocento Sans"/>
              </a:rPr>
              <a:t>;</a:t>
            </a:r>
            <a:endParaRPr sz="36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Event System - Game Object</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	</a:t>
            </a:r>
            <a:r>
              <a:rPr lang="en-GB" sz="2000" i="0" u="none" strike="noStrike" cap="none" dirty="0">
                <a:solidFill>
                  <a:schemeClr val="bg2"/>
                </a:solidFill>
                <a:latin typeface="Quattrocento Sans"/>
                <a:ea typeface="Quattrocento Sans"/>
                <a:cs typeface="Quattrocento Sans"/>
                <a:sym typeface="Quattrocento Sans"/>
              </a:rPr>
              <a:t>Allows UI elements to be selected</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Input Modules</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Gamepad and keyboard/mouse</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Touch</a:t>
            </a:r>
            <a:endParaRPr sz="2000" i="0" u="none" strike="noStrike" cap="none">
              <a:solidFill>
                <a:schemeClr val="bg2"/>
              </a:solidFill>
              <a:latin typeface="Arial"/>
              <a:ea typeface="Arial"/>
              <a:cs typeface="Arial"/>
            </a:endParaRPr>
          </a:p>
          <a:p>
            <a:pPr>
              <a:buSzPts val="2400"/>
            </a:pPr>
            <a:r>
              <a:rPr lang="en-GB" sz="2000" dirty="0">
                <a:solidFill>
                  <a:srgbClr val="FFFF00"/>
                </a:solidFill>
                <a:latin typeface="Quattrocento Sans"/>
                <a:ea typeface="Quattrocento Sans"/>
                <a:cs typeface="Quattrocento Sans"/>
              </a:rPr>
              <a:t>   </a:t>
            </a:r>
            <a:r>
              <a:rPr lang="en-GB" sz="2000" i="1" dirty="0">
                <a:solidFill>
                  <a:schemeClr val="bg2"/>
                </a:solidFill>
                <a:latin typeface="Quattrocento Sans"/>
                <a:ea typeface="Quattrocento Sans"/>
                <a:cs typeface="Quattrocento Sans"/>
              </a:rPr>
              <a:t>Unity input is a class and a manager</a:t>
            </a: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Determine Event Firing for UI</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rgbClr val="FFFF00"/>
                </a:solidFill>
                <a:latin typeface="Quattrocento Sans"/>
                <a:ea typeface="Quattrocento Sans"/>
                <a:cs typeface="Quattrocento Sans"/>
                <a:sym typeface="Quattrocento Sans"/>
              </a:rPr>
              <a:t>	</a:t>
            </a:r>
            <a:r>
              <a:rPr lang="en-GB" sz="2000" i="0" u="none" strike="noStrike" cap="none" err="1">
                <a:solidFill>
                  <a:schemeClr val="bg2"/>
                </a:solidFill>
                <a:latin typeface="Quattrocento Sans"/>
                <a:ea typeface="Quattrocento Sans"/>
                <a:cs typeface="Quattrocento Sans"/>
                <a:sym typeface="Quattrocento Sans"/>
              </a:rPr>
              <a:t>OnClick</a:t>
            </a:r>
            <a:r>
              <a:rPr lang="en-GB" sz="2000" i="0" u="none" strike="noStrike" cap="none" dirty="0">
                <a:solidFill>
                  <a:schemeClr val="bg2"/>
                </a:solidFill>
                <a:latin typeface="Quattrocento Sans"/>
                <a:ea typeface="Quattrocento Sans"/>
                <a:cs typeface="Quattrocento Sans"/>
                <a:sym typeface="Quattrocento Sans"/>
              </a:rPr>
              <a:t> event – Pointer Down and Pointer Up Event needed in Component</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Button Component has Function list box</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000" i="0" u="none" strike="noStrike" cap="none" dirty="0">
                <a:solidFill>
                  <a:schemeClr val="bg2"/>
                </a:solidFill>
                <a:latin typeface="Quattrocento Sans"/>
                <a:ea typeface="Quattrocento Sans"/>
                <a:cs typeface="Quattrocento Sans"/>
                <a:sym typeface="Quattrocento Sans"/>
              </a:rPr>
              <a:t>	</a:t>
            </a:r>
            <a:r>
              <a:rPr lang="en-GB" sz="2000" i="0" u="none" strike="noStrike" cap="none" err="1">
                <a:solidFill>
                  <a:schemeClr val="bg2"/>
                </a:solidFill>
                <a:latin typeface="Quattrocento Sans"/>
                <a:ea typeface="Quattrocento Sans"/>
                <a:cs typeface="Quattrocento Sans"/>
                <a:sym typeface="Quattrocento Sans"/>
              </a:rPr>
              <a:t>EventTrigger</a:t>
            </a:r>
            <a:endParaRPr sz="2000" i="0" u="none" strike="noStrike" cap="none">
              <a:solidFill>
                <a:schemeClr val="bg2"/>
              </a:solidFill>
              <a:latin typeface="Quattrocento Sans"/>
              <a:ea typeface="Quattrocento Sans"/>
              <a:cs typeface="Quattrocento Sans"/>
            </a:endParaRPr>
          </a:p>
          <a:p>
            <a:pPr>
              <a:buSzPts val="2400"/>
            </a:pPr>
            <a:r>
              <a:rPr lang="en-GB" sz="2000" i="0" u="none" strike="noStrike" cap="none" dirty="0">
                <a:solidFill>
                  <a:schemeClr val="bg2"/>
                </a:solidFill>
                <a:latin typeface="Quattrocento Sans"/>
                <a:ea typeface="Quattrocento Sans"/>
                <a:cs typeface="Quattrocento Sans"/>
                <a:sym typeface="Quattrocento Sans"/>
              </a:rPr>
              <a:t>		Image Component would need </a:t>
            </a:r>
            <a:r>
              <a:rPr lang="en-GB" sz="2000" dirty="0">
                <a:solidFill>
                  <a:schemeClr val="bg2"/>
                </a:solidFill>
                <a:latin typeface="Quattrocento Sans"/>
                <a:ea typeface="Quattrocento Sans"/>
                <a:cs typeface="Quattrocento Sans"/>
                <a:sym typeface="Quattrocento Sans"/>
              </a:rPr>
              <a:t>this</a:t>
            </a:r>
          </a:p>
          <a:p>
            <a:pPr>
              <a:buSzPts val="2400"/>
            </a:pPr>
            <a:endParaRPr lang="en-GB" sz="1100" dirty="0">
              <a:solidFill>
                <a:schemeClr val="bg2"/>
              </a:solidFill>
              <a:ea typeface="Quattrocento Sans"/>
              <a:sym typeface="Quattrocento Sans"/>
            </a:endParaRPr>
          </a:p>
          <a:p>
            <a:pPr>
              <a:buSzPts val="2400"/>
            </a:pPr>
            <a:r>
              <a:rPr lang="en-GB" sz="1100" dirty="0">
                <a:solidFill>
                  <a:schemeClr val="bg2"/>
                </a:solidFill>
                <a:ea typeface="Quattrocento Sans"/>
                <a:sym typeface="Quattrocento Sans"/>
                <a:hlinkClick r:id="rId4">
                  <a:extLst>
                    <a:ext uri="{A12FA001-AC4F-418D-AE19-62706E023703}">
                      <ahyp:hlinkClr xmlns:ahyp="http://schemas.microsoft.com/office/drawing/2018/hyperlinkcolor" val="tx"/>
                    </a:ext>
                  </a:extLst>
                </a:hlinkClick>
              </a:rPr>
              <a:t>https</a:t>
            </a:r>
            <a:r>
              <a:rPr lang="en-GB" sz="1100" dirty="0">
                <a:solidFill>
                  <a:schemeClr val="bg2"/>
                </a:solidFill>
                <a:hlinkClick r:id="rId4">
                  <a:extLst>
                    <a:ext uri="{A12FA001-AC4F-418D-AE19-62706E023703}">
                      <ahyp:hlinkClr xmlns:ahyp="http://schemas.microsoft.com/office/drawing/2018/hyperlinkcolor" val="tx"/>
                    </a:ext>
                  </a:extLst>
                </a:hlinkClick>
              </a:rPr>
              <a:t>://docs.unity3d.com/Packages/com.unity.ugui@1.0/manual/script-EventTrigger.html</a:t>
            </a:r>
            <a:endParaRPr lang="en-GB" dirty="0">
              <a:solidFill>
                <a:schemeClr val="bg2"/>
              </a:solidFill>
            </a:endParaRPr>
          </a:p>
          <a:p>
            <a:r>
              <a:rPr lang="en-GB" sz="1100" dirty="0">
                <a:solidFill>
                  <a:schemeClr val="bg2"/>
                </a:solidFill>
                <a:hlinkClick r:id="rId5">
                  <a:extLst>
                    <a:ext uri="{A12FA001-AC4F-418D-AE19-62706E023703}">
                      <ahyp:hlinkClr xmlns:ahyp="http://schemas.microsoft.com/office/drawing/2018/hyperlinkcolor" val="tx"/>
                    </a:ext>
                  </a:extLst>
                </a:hlinkClick>
              </a:rPr>
              <a:t>https://docs.unity3d.com/Packages/com.unity.ugui@1.0/manual/SupportedEvents.html</a:t>
            </a:r>
            <a:r>
              <a:rPr lang="en-GB" sz="1100" dirty="0">
                <a:solidFill>
                  <a:schemeClr val="bg2"/>
                </a:solidFill>
              </a:rPr>
              <a:t> </a:t>
            </a:r>
            <a:endParaRPr lang="en-GB">
              <a:solidFill>
                <a:schemeClr val="bg2"/>
              </a:solidFill>
            </a:endParaRPr>
          </a:p>
          <a:p>
            <a:endParaRPr lang="en-GB" sz="1100" dirty="0">
              <a:solidFill>
                <a:schemeClr val="bg2"/>
              </a:solidFill>
            </a:endParaRPr>
          </a:p>
          <a:p>
            <a:endParaRPr lang="en-GB" sz="1100" dirty="0">
              <a:solidFill>
                <a:schemeClr val="bg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32" name="Google Shape;132;p17"/>
          <p:cNvSpPr txBox="1"/>
          <p:nvPr/>
        </p:nvSpPr>
        <p:spPr>
          <a:xfrm>
            <a:off x="609599" y="1421654"/>
            <a:ext cx="11333259"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Architecture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1" u="sng" strike="noStrike" cap="none" dirty="0">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https://unity3d.com/learn/tutorials/topics/user-interface-ui/ui-events-and-event-triggers</a:t>
            </a:r>
            <a:endParaRPr sz="1800" b="1" i="1" u="none" strike="noStrike" cap="none" dirty="0">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b="1" i="1" u="none" strike="noStrike" cap="none" dirty="0">
                <a:solidFill>
                  <a:srgbClr val="FF0000"/>
                </a:solidFill>
                <a:latin typeface="Quattrocento Sans"/>
                <a:ea typeface="Quattrocento Sans"/>
                <a:cs typeface="Quattrocento Sans"/>
                <a:sym typeface="Quattrocento Sans"/>
              </a:rPr>
              <a:t>using </a:t>
            </a:r>
            <a:r>
              <a:rPr lang="en-GB" sz="2400" b="1" i="1" u="none" strike="noStrike" cap="none" dirty="0" err="1">
                <a:solidFill>
                  <a:srgbClr val="FF0000"/>
                </a:solidFill>
                <a:latin typeface="Quattrocento Sans"/>
                <a:ea typeface="Quattrocento Sans"/>
                <a:cs typeface="Quattrocento Sans"/>
                <a:sym typeface="Quattrocento Sans"/>
              </a:rPr>
              <a:t>UnityEngine.UI</a:t>
            </a:r>
            <a:r>
              <a:rPr lang="en-GB" sz="2400" b="1" i="1" u="none" strike="noStrike" cap="none" dirty="0">
                <a:solidFill>
                  <a:srgbClr val="FF0000"/>
                </a:solidFill>
                <a:latin typeface="Quattrocento Sans"/>
                <a:ea typeface="Quattrocento Sans"/>
                <a:cs typeface="Quattrocento Sans"/>
                <a:sym typeface="Quattrocento Sans"/>
              </a:rPr>
              <a:t>;</a:t>
            </a:r>
            <a:endParaRPr sz="36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Determine Event Firing for UI</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a:t>
            </a:r>
            <a:r>
              <a:rPr lang="en-GB" sz="2400" i="0" u="none" strike="noStrike" cap="none" err="1">
                <a:solidFill>
                  <a:schemeClr val="bg2"/>
                </a:solidFill>
                <a:latin typeface="Quattrocento Sans"/>
                <a:ea typeface="Quattrocento Sans"/>
                <a:cs typeface="Quattrocento Sans"/>
                <a:sym typeface="Quattrocento Sans"/>
              </a:rPr>
              <a:t>OnClick</a:t>
            </a:r>
            <a:r>
              <a:rPr lang="en-GB" sz="2400" i="0" u="none" strike="noStrike" cap="none" dirty="0">
                <a:solidFill>
                  <a:schemeClr val="bg2"/>
                </a:solidFill>
                <a:latin typeface="Quattrocento Sans"/>
                <a:ea typeface="Quattrocento Sans"/>
                <a:cs typeface="Quattrocento Sans"/>
                <a:sym typeface="Quattrocento Sans"/>
              </a:rPr>
              <a:t> event </a:t>
            </a:r>
            <a:r>
              <a:rPr lang="en-GB" sz="2400" i="0" u="none" strike="noStrike" cap="none" dirty="0">
                <a:solidFill>
                  <a:srgbClr val="FFFF00"/>
                </a:solidFill>
                <a:latin typeface="Quattrocento Sans"/>
                <a:ea typeface="Quattrocento Sans"/>
                <a:cs typeface="Quattrocento Sans"/>
                <a:sym typeface="Quattrocento Sans"/>
              </a:rPr>
              <a:t>– Pointer Down and Pointer Up Event needed in Component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Button Component has Function list box</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a:t>
            </a:r>
            <a:r>
              <a:rPr lang="en-GB" sz="2400" i="0" u="none" strike="noStrike" cap="none" err="1">
                <a:solidFill>
                  <a:schemeClr val="bg2"/>
                </a:solidFill>
                <a:latin typeface="Quattrocento Sans"/>
                <a:ea typeface="Quattrocento Sans"/>
                <a:cs typeface="Quattrocento Sans"/>
                <a:sym typeface="Quattrocento Sans"/>
              </a:rPr>
              <a:t>EventTrigger</a:t>
            </a:r>
            <a:endParaRPr sz="2400" i="0" u="none" strike="noStrike" cap="none">
              <a:solidFill>
                <a:schemeClr val="bg2"/>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Image Component would need this</a:t>
            </a:r>
            <a:endParaRPr sz="1400" i="0" u="none" strike="noStrike" cap="none" dirty="0">
              <a:solidFill>
                <a:srgbClr val="000000"/>
              </a:solidFill>
              <a:latin typeface="Arial"/>
              <a:ea typeface="Arial"/>
              <a:cs typeface="Arial"/>
              <a:sym typeface="Arial"/>
            </a:endParaRPr>
          </a:p>
          <a:p>
            <a:pPr>
              <a:buSzPts val="2400"/>
            </a:pPr>
            <a:r>
              <a:rPr lang="en-GB" sz="2400">
                <a:solidFill>
                  <a:srgbClr val="FFFF00"/>
                </a:solidFill>
                <a:latin typeface="Quattrocento Sans"/>
                <a:ea typeface="Quattrocento Sans"/>
                <a:cs typeface="Quattrocento Sans"/>
              </a:rPr>
              <a:t>      Tut 7.1b (extra)</a:t>
            </a:r>
            <a:endParaRPr lang="en-GB" sz="2400" dirty="0">
              <a:solidFill>
                <a:srgbClr val="FFFF00"/>
              </a:solidFill>
              <a:latin typeface="Quattrocento Sans"/>
              <a:ea typeface="Quattrocento Sans"/>
              <a:cs typeface="Quattrocento Sans"/>
              <a:sym typeface="Quattrocento Sans"/>
            </a:endParaRPr>
          </a:p>
          <a:p>
            <a:pPr>
              <a:buSzPts val="2400"/>
            </a:pPr>
            <a:r>
              <a:rPr lang="en-GB" sz="2400" i="0" u="none" strike="noStrike" cap="none" dirty="0">
                <a:solidFill>
                  <a:schemeClr val="bg2"/>
                </a:solidFill>
                <a:latin typeface="Quattrocento Sans"/>
                <a:ea typeface="Quattrocento Sans"/>
                <a:cs typeface="Quattrocento Sans"/>
                <a:sym typeface="Quattrocento Sans"/>
              </a:rPr>
              <a:t>Dragging Game Object in will expose </a:t>
            </a:r>
            <a:r>
              <a:rPr lang="en-GB" sz="2400" dirty="0">
                <a:solidFill>
                  <a:schemeClr val="bg2"/>
                </a:solidFill>
                <a:latin typeface="Quattrocento Sans"/>
                <a:ea typeface="Quattrocento Sans"/>
                <a:cs typeface="Quattrocento Sans"/>
                <a:sym typeface="Quattrocento Sans"/>
              </a:rPr>
              <a:t>Components and Functions</a:t>
            </a:r>
            <a:r>
              <a:rPr lang="en-GB" sz="2400" i="0" u="none" strike="noStrike" cap="none" dirty="0">
                <a:solidFill>
                  <a:schemeClr val="bg2"/>
                </a:solidFill>
                <a:latin typeface="Quattrocento Sans"/>
                <a:ea typeface="Quattrocento Sans"/>
                <a:cs typeface="Quattrocento Sans"/>
                <a:sym typeface="Quattrocento Sans"/>
              </a:rPr>
              <a:t> for use</a:t>
            </a:r>
            <a:endParaRPr sz="1400" i="0" u="none" strike="noStrike" cap="none" dirty="0">
              <a:solidFill>
                <a:schemeClr val="bg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Must be Public, Void, and of no or 1 parameter of: float, int, str, or Object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Can call on attached scripts as well</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access as component in script or</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drag itself into box</a:t>
            </a:r>
            <a:endParaRPr sz="140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39" name="Google Shape;139;p18"/>
          <p:cNvSpPr txBox="1"/>
          <p:nvPr/>
        </p:nvSpPr>
        <p:spPr>
          <a:xfrm>
            <a:off x="609600" y="1421654"/>
            <a:ext cx="11264549" cy="5478382"/>
          </a:xfrm>
          <a:prstGeom prst="rect">
            <a:avLst/>
          </a:prstGeom>
          <a:noFill/>
          <a:ln>
            <a:noFill/>
          </a:ln>
        </p:spPr>
        <p:txBody>
          <a:bodyPr spcFirstLastPara="1" wrap="square" lIns="91425" tIns="45700" rIns="91425" bIns="45700" anchor="t" anchorCtr="0">
            <a:spAutoFit/>
          </a:bodyPr>
          <a:lstStyle/>
          <a:p>
            <a:pPr>
              <a:buSzPts val="3600"/>
            </a:pPr>
            <a:r>
              <a:rPr lang="en-GB" sz="3600" b="1" i="0" u="none" strike="noStrike" cap="none" dirty="0">
                <a:solidFill>
                  <a:srgbClr val="FFFF00"/>
                </a:solidFill>
                <a:latin typeface="Quattrocento Sans"/>
                <a:ea typeface="Quattrocento Sans"/>
                <a:cs typeface="Quattrocento Sans"/>
                <a:sym typeface="Quattrocento Sans"/>
              </a:rPr>
              <a:t>Unity UI Architecture</a:t>
            </a:r>
            <a:br>
              <a:rPr lang="en-GB" sz="3600" b="1" i="0" u="none" strike="noStrike" cap="none" dirty="0">
                <a:latin typeface="Quattrocento Sans"/>
                <a:ea typeface="Quattrocento Sans"/>
                <a:cs typeface="Quattrocento Sans"/>
              </a:rPr>
            </a:br>
            <a:r>
              <a:rPr lang="en-GB" sz="1400" b="1" i="0" u="none" strike="noStrike" cap="none" dirty="0">
                <a:solidFill>
                  <a:schemeClr val="dk2"/>
                </a:solidFill>
                <a:latin typeface="Quattrocento Sans"/>
                <a:ea typeface="Quattrocento Sans"/>
                <a:cs typeface="Quattrocento Sans"/>
                <a:sym typeface="Quattrocento Sans"/>
              </a:rPr>
              <a:t>https://www.lynda.com/Unity-tutorials/Create-button-element/489008/519845-4.html</a:t>
            </a:r>
            <a:r>
              <a:rPr lang="en-GB" b="1" dirty="0">
                <a:solidFill>
                  <a:schemeClr val="dk2"/>
                </a:solidFill>
                <a:latin typeface="Quattrocento Sans"/>
                <a:ea typeface="Quattrocento Sans"/>
                <a:cs typeface="Quattrocento Sans"/>
                <a:sym typeface="Quattrocento Sans"/>
              </a:rPr>
              <a:t> </a:t>
            </a: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chemeClr val="bg2"/>
                </a:solidFill>
                <a:latin typeface="Quattrocento Sans"/>
                <a:ea typeface="Quattrocento Sans"/>
                <a:cs typeface="Quattrocento Sans"/>
                <a:sym typeface="Quattrocento Sans"/>
              </a:rPr>
              <a:t>Text</a:t>
            </a:r>
            <a:r>
              <a:rPr lang="en-GB" sz="2400" i="0" u="none" strike="noStrike" cap="none" dirty="0">
                <a:solidFill>
                  <a:srgbClr val="FFFF00"/>
                </a:solidFill>
                <a:latin typeface="Quattrocento Sans"/>
                <a:ea typeface="Quattrocento Sans"/>
                <a:cs typeface="Quattrocento Sans"/>
                <a:sym typeface="Quattrocento Sans"/>
              </a:rPr>
              <a:t> – most fundamental UI element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display game readouts, dialogue, instructions, menus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a:t>
            </a:r>
            <a:r>
              <a:rPr lang="en-GB" sz="2400" i="1" u="none" strike="noStrike" cap="none" dirty="0">
                <a:solidFill>
                  <a:schemeClr val="bg2"/>
                </a:solidFill>
                <a:latin typeface="Quattrocento Sans"/>
                <a:ea typeface="Quattrocento Sans"/>
                <a:cs typeface="Quattrocento Sans"/>
                <a:sym typeface="Quattrocento Sans"/>
              </a:rPr>
              <a:t>Wired up by dragging UI Text Element into exposed Public Var Box of Script</a:t>
            </a:r>
            <a:endParaRPr sz="14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Used in conjunction with other element</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pre built into buttons as child</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chemeClr val="bg2"/>
                </a:solidFill>
                <a:latin typeface="Quattrocento Sans"/>
                <a:ea typeface="Quattrocento Sans"/>
                <a:cs typeface="Quattrocento Sans"/>
                <a:sym typeface="Quattrocento Sans"/>
              </a:rPr>
              <a:t>Creating UI text creates Canvas Parent</a:t>
            </a:r>
            <a:endParaRPr sz="1400" i="0" u="none" strike="noStrike" cap="none" dirty="0">
              <a:solidFill>
                <a:schemeClr val="bg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Zero out, adjustments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	Modify at runtime with scripts</a:t>
            </a:r>
            <a:endParaRPr sz="1400" i="0" u="none" strike="noStrike" cap="none" dirty="0">
              <a:solidFill>
                <a:srgbClr val="000000"/>
              </a:solidFill>
              <a:latin typeface="Arial"/>
              <a:ea typeface="Arial"/>
              <a:cs typeface="Arial"/>
              <a:sym typeface="Arial"/>
            </a:endParaRPr>
          </a:p>
          <a:p>
            <a:pPr>
              <a:buSzPts val="2400"/>
            </a:pPr>
            <a:r>
              <a:rPr lang="en-GB" sz="2400" i="0" u="none" strike="noStrike" cap="none" dirty="0">
                <a:solidFill>
                  <a:schemeClr val="bg2"/>
                </a:solidFill>
                <a:latin typeface="Quattrocento Sans"/>
                <a:ea typeface="Quattrocento Sans"/>
                <a:cs typeface="Quattrocento Sans"/>
                <a:sym typeface="Quattrocento Sans"/>
              </a:rPr>
              <a:t>Text Readout Tutorial</a:t>
            </a:r>
            <a:r>
              <a:rPr lang="en-GB" sz="2400" dirty="0">
                <a:solidFill>
                  <a:schemeClr val="bg2"/>
                </a:solidFill>
                <a:latin typeface="Quattrocento Sans"/>
                <a:ea typeface="Quattrocento Sans"/>
                <a:cs typeface="Quattrocento Sans"/>
                <a:sym typeface="Quattrocento Sans"/>
              </a:rPr>
              <a:t>: 7.1</a:t>
            </a:r>
            <a:endParaRPr sz="1400" i="0" u="none" strike="noStrike" cap="none" dirty="0">
              <a:solidFill>
                <a:schemeClr val="bg2"/>
              </a:solidFill>
              <a:latin typeface="Arial"/>
              <a:ea typeface="Arial"/>
              <a:cs typeface="Arial"/>
              <a:sym typeface="Arial"/>
            </a:endParaRPr>
          </a:p>
          <a:p>
            <a:endParaRPr lang="en-GB" sz="1800" dirty="0">
              <a:solidFill>
                <a:srgbClr val="FFFF00"/>
              </a:solidFil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endParaRPr lang="en-GB" sz="2400" b="1" i="0" u="none" strike="noStrike" cap="none" dirty="0">
              <a:solidFill>
                <a:srgbClr val="FFFF00"/>
              </a:solidFill>
              <a:latin typeface="Quattrocento Sans"/>
              <a:ea typeface="Quattrocento Sans"/>
              <a:cs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46" name="Google Shape;146;p19"/>
          <p:cNvSpPr txBox="1"/>
          <p:nvPr/>
        </p:nvSpPr>
        <p:spPr>
          <a:xfrm>
            <a:off x="609600" y="1421654"/>
            <a:ext cx="10890738" cy="57246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Architecture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GB" sz="1400" b="1" i="0" u="sng" strike="noStrike" cap="none" dirty="0">
                <a:solidFill>
                  <a:srgbClr val="FFFFFF"/>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https://www.lynda.com/Unity-tutorials/Create-button-element/489008/519845-4.html</a:t>
            </a:r>
            <a:endParaRPr sz="36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chemeClr val="bg2"/>
                </a:solidFill>
                <a:latin typeface="Quattrocento Sans"/>
                <a:ea typeface="Quattrocento Sans"/>
                <a:cs typeface="Quattrocento Sans"/>
                <a:sym typeface="Quattrocento Sans"/>
              </a:rPr>
              <a:t>Button – most Common UI element</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Direct Interaction</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Comes with text element</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Can use images</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chemeClr val="bg2"/>
                </a:solidFill>
                <a:latin typeface="Quattrocento Sans"/>
                <a:ea typeface="Quattrocento Sans"/>
                <a:cs typeface="Quattrocento Sans"/>
                <a:sym typeface="Quattrocento Sans"/>
              </a:rPr>
              <a:t>Creating UI Button creates Canvas Parent</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Zero out, Adjust </a:t>
            </a:r>
            <a:r>
              <a:rPr lang="en-GB" sz="2000" i="0" u="none" strike="noStrike" cap="none" err="1">
                <a:solidFill>
                  <a:srgbClr val="FFFF00"/>
                </a:solidFill>
                <a:latin typeface="Quattrocento Sans"/>
                <a:ea typeface="Quattrocento Sans"/>
                <a:cs typeface="Quattrocento Sans"/>
                <a:sym typeface="Quattrocento Sans"/>
              </a:rPr>
              <a:t>rect</a:t>
            </a:r>
            <a:r>
              <a:rPr lang="en-GB" sz="2000" i="0" u="none" strike="noStrike" cap="none" dirty="0">
                <a:solidFill>
                  <a:srgbClr val="FFFF00"/>
                </a:solidFill>
                <a:latin typeface="Quattrocento Sans"/>
                <a:ea typeface="Quattrocento Sans"/>
                <a:cs typeface="Quattrocento Sans"/>
                <a:sym typeface="Quattrocento Sans"/>
              </a:rPr>
              <a:t> transform</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Has transition (hover, click)</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chemeClr val="bg2"/>
                </a:solidFill>
                <a:latin typeface="Quattrocento Sans"/>
                <a:ea typeface="Quattrocento Sans"/>
                <a:cs typeface="Quattrocento Sans"/>
                <a:sym typeface="Quattrocento Sans"/>
              </a:rPr>
              <a:t>Event Handler</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On Click</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Modify Text Element of Button at runtime</a:t>
            </a:r>
            <a:br>
              <a:rPr lang="en-GB" sz="2000" i="0" u="none" strike="noStrike" cap="none" dirty="0">
                <a:latin typeface="Quattrocento Sans"/>
                <a:ea typeface="Quattrocento Sans"/>
                <a:cs typeface="Quattrocento Sans"/>
              </a:rPr>
            </a:br>
            <a:r>
              <a:rPr lang="en-GB" sz="2000" i="0" u="none" strike="noStrike" cap="none" dirty="0">
                <a:solidFill>
                  <a:srgbClr val="FFFF00"/>
                </a:solidFill>
                <a:latin typeface="Quattrocento Sans"/>
                <a:ea typeface="Quattrocento Sans"/>
                <a:cs typeface="Quattrocento Sans"/>
                <a:sym typeface="Quattrocento Sans"/>
              </a:rPr>
              <a:t>	</a:t>
            </a:r>
            <a:r>
              <a:rPr lang="en-GB" sz="2000" i="0" u="none" strike="noStrike" cap="none" dirty="0">
                <a:solidFill>
                  <a:schemeClr val="bg2"/>
                </a:solidFill>
                <a:latin typeface="Quattrocento Sans"/>
                <a:ea typeface="Quattrocento Sans"/>
                <a:cs typeface="Quattrocento Sans"/>
                <a:sym typeface="Quattrocento Sans"/>
              </a:rPr>
              <a:t>Drag Text element into </a:t>
            </a:r>
            <a:r>
              <a:rPr lang="en-GB" sz="2000" i="0" u="none" strike="noStrike" cap="none" err="1">
                <a:solidFill>
                  <a:schemeClr val="bg2"/>
                </a:solidFill>
                <a:latin typeface="Quattrocento Sans"/>
                <a:ea typeface="Quattrocento Sans"/>
                <a:cs typeface="Quattrocento Sans"/>
                <a:sym typeface="Quattrocento Sans"/>
              </a:rPr>
              <a:t>OnClick</a:t>
            </a:r>
            <a:r>
              <a:rPr lang="en-GB" sz="2000" i="0" u="none" strike="noStrike" cap="none" dirty="0">
                <a:solidFill>
                  <a:schemeClr val="bg2"/>
                </a:solidFill>
                <a:latin typeface="Quattrocento Sans"/>
                <a:ea typeface="Quattrocento Sans"/>
                <a:cs typeface="Quattrocento Sans"/>
                <a:sym typeface="Quattrocento Sans"/>
              </a:rPr>
              <a:t> Box</a:t>
            </a:r>
            <a:endParaRPr sz="2000" i="0" u="none" strike="noStrike" cap="none">
              <a:solidFill>
                <a:schemeClr val="bg2"/>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Modify Text Object, Script, and string text Property in function to I’m clicked</a:t>
            </a:r>
            <a:endParaRPr sz="2000" i="0" u="none" strike="noStrike" cap="none">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r>
              <a:rPr lang="en-GB" sz="2000" i="0" u="none" strike="noStrike" cap="none" dirty="0">
                <a:solidFill>
                  <a:srgbClr val="FFFF00"/>
                </a:solidFill>
                <a:latin typeface="Quattrocento Sans"/>
                <a:ea typeface="Quattrocento Sans"/>
                <a:cs typeface="Quattrocento Sans"/>
                <a:sym typeface="Quattrocento Sans"/>
              </a:rPr>
              <a:t>	dynamic objects cant be selected.	</a:t>
            </a:r>
            <a:endParaRPr sz="20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53" name="Google Shape;153;p20"/>
          <p:cNvSpPr txBox="1"/>
          <p:nvPr/>
        </p:nvSpPr>
        <p:spPr>
          <a:xfrm>
            <a:off x="609600" y="1421654"/>
            <a:ext cx="10890738" cy="47704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Architecture</a:t>
            </a:r>
            <a:endParaRPr sz="1400" b="0" i="0" u="none" strike="noStrike" cap="none" dirty="0">
              <a:solidFill>
                <a:srgbClr val="000000"/>
              </a:solidFill>
              <a:latin typeface="Arial"/>
              <a:ea typeface="Arial"/>
              <a:cs typeface="Arial"/>
              <a:sym typeface="Arial"/>
            </a:endParaRPr>
          </a:p>
          <a:p>
            <a:r>
              <a:rPr lang="en-GB" sz="1800" u="sng" dirty="0">
                <a:solidFill>
                  <a:srgbClr val="FFFF00"/>
                </a:solidFill>
                <a:ea typeface="Quattrocento Sans"/>
                <a:sym typeface="Quattrocento Sans"/>
                <a:hlinkClick r:id="rId3"/>
              </a:rPr>
              <a:t>Noorcon</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Inc</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Unity 3D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Game</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Programming</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Part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4</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Vahe Karamian</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pdf</a:t>
            </a:r>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rgbClr val="FFFF00"/>
                </a:solidFill>
                <a:latin typeface="Quattrocento Sans"/>
                <a:ea typeface="Quattrocento Sans"/>
                <a:cs typeface="Quattrocento Sans"/>
                <a:sym typeface="Quattrocento Sans"/>
              </a:rPr>
              <a:t>Basics:</a:t>
            </a:r>
            <a:endParaRPr sz="140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i="0" u="none" strike="noStrike" cap="none" dirty="0">
              <a:solidFill>
                <a:srgbClr val="FFFF00"/>
              </a:solidFill>
              <a:latin typeface="Quattrocento Sans"/>
              <a:ea typeface="Quattrocento Sans"/>
              <a:cs typeface="Quattrocento Sans"/>
            </a:endParaRPr>
          </a:p>
          <a:p>
            <a:pPr>
              <a:buSzPts val="2400"/>
            </a:pPr>
            <a:r>
              <a:rPr lang="en-GB" sz="2400" i="0" u="none" strike="noStrike" cap="none" dirty="0">
                <a:solidFill>
                  <a:schemeClr val="bg2"/>
                </a:solidFill>
                <a:latin typeface="Quattrocento Sans"/>
                <a:ea typeface="Quattrocento Sans"/>
                <a:cs typeface="Quattrocento Sans"/>
                <a:sym typeface="Quattrocento Sans"/>
              </a:rPr>
              <a:t>HUD Text Readout from Script Public Variable</a:t>
            </a:r>
            <a:br>
              <a:rPr lang="en-GB" sz="2400" i="0" u="none" strike="noStrike" cap="none" dirty="0">
                <a:latin typeface="Quattrocento Sans"/>
                <a:ea typeface="Quattrocento Sans"/>
                <a:cs typeface="Quattrocento Sans"/>
              </a:rPr>
            </a:b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Noorcon Inc</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Unity 3D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Game</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Programming</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Part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4</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Vahe Karamian</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pdf</a:t>
            </a:r>
            <a:endParaRPr sz="1600" i="0" u="none" strike="noStrike" cap="none">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endParaRPr sz="2400" i="0" u="none" strike="noStrike" cap="none" dirty="0">
              <a:solidFill>
                <a:srgbClr val="FFFF00"/>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chemeClr val="bg2"/>
                </a:solidFill>
                <a:latin typeface="Quattrocento Sans"/>
                <a:ea typeface="Quattrocento Sans"/>
                <a:cs typeface="Quattrocento Sans"/>
                <a:sym typeface="Quattrocento Sans"/>
              </a:rPr>
              <a:t>Button </a:t>
            </a:r>
            <a:r>
              <a:rPr lang="en-GB" sz="2400" i="0" u="none" strike="noStrike" cap="none" dirty="0" err="1">
                <a:solidFill>
                  <a:schemeClr val="bg2"/>
                </a:solidFill>
                <a:latin typeface="Quattrocento Sans"/>
                <a:ea typeface="Quattrocento Sans"/>
                <a:cs typeface="Quattrocento Sans"/>
                <a:sym typeface="Quattrocento Sans"/>
              </a:rPr>
              <a:t>OnClick</a:t>
            </a:r>
            <a:r>
              <a:rPr lang="en-GB" sz="2400" i="0" u="none" strike="noStrike" cap="none" dirty="0">
                <a:solidFill>
                  <a:schemeClr val="bg2"/>
                </a:solidFill>
                <a:latin typeface="Quattrocento Sans"/>
                <a:ea typeface="Quattrocento Sans"/>
                <a:cs typeface="Quattrocento Sans"/>
                <a:sym typeface="Quattrocento Sans"/>
              </a:rPr>
              <a:t> Event Handling</a:t>
            </a:r>
            <a:r>
              <a:rPr lang="en-GB" sz="2400" i="0" u="none" strike="noStrike" cap="none" dirty="0">
                <a:solidFill>
                  <a:srgbClr val="FFFF00"/>
                </a:solidFill>
                <a:latin typeface="Quattrocento Sans"/>
                <a:ea typeface="Quattrocento Sans"/>
                <a:cs typeface="Quattrocento Sans"/>
                <a:sym typeface="Quattrocento Sans"/>
              </a:rPr>
              <a:t> </a:t>
            </a:r>
            <a:r>
              <a:rPr lang="en-GB" sz="2400" i="1" u="none" strike="noStrike" cap="none" dirty="0">
                <a:solidFill>
                  <a:srgbClr val="00B0F0"/>
                </a:solidFill>
                <a:latin typeface="Quattrocento Sans"/>
                <a:ea typeface="Quattrocento Sans"/>
                <a:cs typeface="Quattrocento Sans"/>
                <a:sym typeface="Quattrocento Sans"/>
              </a:rPr>
              <a:t>(Associated Functions must be public and void)</a:t>
            </a:r>
            <a:endParaRPr sz="1400" i="0" u="none" strike="noStrike" cap="none" dirty="0">
              <a:solidFill>
                <a:srgbClr val="00B0F0"/>
              </a:solidFill>
              <a:latin typeface="Arial"/>
              <a:ea typeface="Arial"/>
              <a:cs typeface="Arial"/>
              <a:sym typeface="Arial"/>
            </a:endParaRPr>
          </a:p>
          <a:p>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Noorcon Inc</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Unity 3D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Game</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Programming</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Part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4</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 - Vahe Karamian</a:t>
            </a:r>
            <a:r>
              <a:rPr lang="en-GB" sz="1800" i="0" u="sng" strike="noStrike" cap="none"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u="sng" dirty="0">
                <a:solidFill>
                  <a:srgbClr val="FFFF00"/>
                </a:solidFill>
                <a:ea typeface="Quattrocento Sans"/>
                <a:sym typeface="Quattrocento Sans"/>
                <a:hlinkClick r:id="rId3">
                  <a:extLst>
                    <a:ext uri="{A12FA001-AC4F-418D-AE19-62706E023703}">
                      <ahyp:hlinkClr xmlns:ahyp="http://schemas.microsoft.com/office/drawing/2018/hyperlinkcolor" val="tx"/>
                    </a:ext>
                  </a:extLst>
                </a:hlinkClick>
              </a:rPr>
              <a:t>pdf</a:t>
            </a:r>
            <a:endParaRPr/>
          </a:p>
          <a:p>
            <a:pPr marL="0" marR="0" lvl="0" indent="0" algn="l" rtl="0">
              <a:lnSpc>
                <a:spcPct val="100000"/>
              </a:lnSpc>
              <a:spcBef>
                <a:spcPts val="0"/>
              </a:spcBef>
              <a:spcAft>
                <a:spcPts val="0"/>
              </a:spcAft>
              <a:buClr>
                <a:srgbClr val="000000"/>
              </a:buClr>
              <a:buSzPts val="2400"/>
              <a:buFont typeface="Arial"/>
              <a:buNone/>
            </a:pPr>
            <a:endParaRPr sz="2400" i="0" u="none" strike="noStrike" cap="none" dirty="0">
              <a:solidFill>
                <a:schemeClr val="bg2"/>
              </a:solidFill>
              <a:latin typeface="Quattrocento Sans"/>
              <a:ea typeface="Quattrocento Sans"/>
              <a:cs typeface="Quattrocento Sans"/>
            </a:endParaRPr>
          </a:p>
          <a:p>
            <a:pPr marL="0" marR="0" lvl="0" indent="0" algn="l" rtl="0">
              <a:lnSpc>
                <a:spcPct val="100000"/>
              </a:lnSpc>
              <a:spcBef>
                <a:spcPts val="0"/>
              </a:spcBef>
              <a:spcAft>
                <a:spcPts val="0"/>
              </a:spcAft>
              <a:buClr>
                <a:srgbClr val="000000"/>
              </a:buClr>
              <a:buSzPts val="2400"/>
              <a:buFont typeface="Arial"/>
              <a:buNone/>
            </a:pPr>
            <a:r>
              <a:rPr lang="en-GB" sz="2400" i="0" u="none" strike="noStrike" cap="none" dirty="0">
                <a:solidFill>
                  <a:schemeClr val="bg2"/>
                </a:solidFill>
                <a:latin typeface="Quattrocento Sans"/>
                <a:ea typeface="Quattrocento Sans"/>
                <a:cs typeface="Quattrocento Sans"/>
                <a:sym typeface="Quattrocento Sans"/>
              </a:rPr>
              <a:t>Button Runtime text feedback</a:t>
            </a:r>
            <a:br>
              <a:rPr lang="en-GB" sz="2400" i="0" u="none" strike="noStrike" cap="none" dirty="0">
                <a:latin typeface="Quattrocento Sans"/>
                <a:ea typeface="Quattrocento Sans"/>
                <a:cs typeface="Quattrocento Sans"/>
              </a:rPr>
            </a:br>
            <a:r>
              <a:rPr lang="en-GB" sz="1600" i="0" u="sng" strike="noStrike" cap="none" dirty="0">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https://www.lynda.com/Unity-tutorials/Create-button-element/489008/519845-4.html</a:t>
            </a:r>
            <a:endParaRPr sz="1600"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p:cNvSpPr txBox="1"/>
          <p:nvPr/>
        </p:nvSpPr>
        <p:spPr>
          <a:xfrm>
            <a:off x="609600" y="1421650"/>
            <a:ext cx="11354400" cy="5139828"/>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1. Unity UI HUD</a:t>
            </a:r>
            <a:r>
              <a:rPr lang="en-GB" sz="2400" dirty="0">
                <a:ea typeface="Quattrocento Sans"/>
              </a:rPr>
              <a:t> </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r>
              <a:rPr lang="en-GB" sz="2400" dirty="0">
                <a:solidFill>
                  <a:schemeClr val="bg2"/>
                </a:solidFill>
                <a:latin typeface="Quattrocento Sans"/>
                <a:ea typeface="Quattrocento Sans"/>
                <a:cs typeface="Quattrocento Sans"/>
              </a:rPr>
              <a:t>Initialize Cubes (with rotation)</a:t>
            </a:r>
            <a:endParaRPr lang="en-GB" sz="1800" i="0" u="none" strike="noStrike" cap="none" dirty="0">
              <a:solidFill>
                <a:schemeClr val="bg2"/>
              </a:solidFill>
              <a:ea typeface="Calibri"/>
            </a:endParaRPr>
          </a:p>
          <a:p>
            <a:r>
              <a:rPr lang="en-GB" sz="1600" dirty="0">
                <a:solidFill>
                  <a:srgbClr val="FFFF00"/>
                </a:solidFill>
                <a:hlinkClick r:id="rId3">
                  <a:extLst>
                    <a:ext uri="{A12FA001-AC4F-418D-AE19-62706E023703}">
                      <ahyp:hlinkClr xmlns:ahyp="http://schemas.microsoft.com/office/drawing/2018/hyperlinkcolor" val="tx"/>
                    </a:ext>
                  </a:extLst>
                </a:hlinkClick>
              </a:rPr>
              <a:t>Noorcon Inc. - Unity 3D Game Programming Part 2 - Vahe Karamian.pdf</a:t>
            </a:r>
            <a:endParaRPr lang="en-GB" sz="1600"/>
          </a:p>
          <a:p>
            <a:endParaRPr lang="en-GB" sz="2400" dirty="0">
              <a:solidFill>
                <a:schemeClr val="bg2"/>
              </a:solidFill>
              <a:latin typeface="Quattrocento Sans"/>
            </a:endParaRPr>
          </a:p>
          <a:p>
            <a:r>
              <a:rPr lang="en-GB" sz="2400" dirty="0">
                <a:solidFill>
                  <a:schemeClr val="bg2"/>
                </a:solidFill>
                <a:latin typeface="Quattrocento Sans"/>
              </a:rPr>
              <a:t>Initialize more Cubes from Button (4.2) </a:t>
            </a:r>
          </a:p>
          <a:p>
            <a:r>
              <a:rPr lang="en-GB" sz="2400" dirty="0">
                <a:solidFill>
                  <a:schemeClr val="bg2"/>
                </a:solidFill>
                <a:latin typeface="Quattrocento Sans"/>
              </a:rPr>
              <a:t>Button </a:t>
            </a:r>
            <a:r>
              <a:rPr lang="en-GB" sz="2400" dirty="0" err="1">
                <a:solidFill>
                  <a:schemeClr val="bg2"/>
                </a:solidFill>
                <a:latin typeface="Quattrocento Sans"/>
              </a:rPr>
              <a:t>OnClick</a:t>
            </a:r>
            <a:r>
              <a:rPr lang="en-GB" sz="2400" dirty="0">
                <a:solidFill>
                  <a:schemeClr val="bg2"/>
                </a:solidFill>
                <a:latin typeface="Quattrocento Sans"/>
              </a:rPr>
              <a:t> Event Handling</a:t>
            </a:r>
            <a:r>
              <a:rPr lang="en-GB" sz="2400" dirty="0">
                <a:solidFill>
                  <a:srgbClr val="FFFF00"/>
                </a:solidFill>
                <a:latin typeface="Quattrocento Sans"/>
              </a:rPr>
              <a:t> </a:t>
            </a:r>
            <a:r>
              <a:rPr lang="en-GB" sz="2400" i="1" dirty="0">
                <a:solidFill>
                  <a:srgbClr val="00B0F0"/>
                </a:solidFill>
                <a:latin typeface="Quattrocento Sans"/>
              </a:rPr>
              <a:t>(Associated Functions must be public and void)</a:t>
            </a:r>
            <a:endParaRPr lang="en-GB" sz="2400" dirty="0">
              <a:latin typeface="Quattrocento Sans"/>
            </a:endParaRPr>
          </a:p>
          <a:p>
            <a:r>
              <a:rPr lang="en-GB" sz="1600" dirty="0">
                <a:solidFill>
                  <a:srgbClr val="FFFF00"/>
                </a:solidFill>
                <a:hlinkClick r:id="rId4">
                  <a:extLst>
                    <a:ext uri="{A12FA001-AC4F-418D-AE19-62706E023703}">
                      <ahyp:hlinkClr xmlns:ahyp="http://schemas.microsoft.com/office/drawing/2018/hyperlinkcolor" val="tx"/>
                    </a:ext>
                  </a:extLst>
                </a:hlinkClick>
              </a:rPr>
              <a:t>Noorcon Inc. - Unity 3D Game Programming Part 4 - Vahe Karamian.pdf</a:t>
            </a:r>
            <a:endParaRPr lang="en-GB" sz="1600"/>
          </a:p>
          <a:p>
            <a:pPr>
              <a:buSzPts val="2000"/>
            </a:pPr>
            <a:endParaRPr lang="en-GB" sz="2000" dirty="0">
              <a:solidFill>
                <a:schemeClr val="bg2"/>
              </a:solidFill>
              <a:latin typeface="Quattrocento Sans"/>
              <a:ea typeface="Quattrocento Sans"/>
              <a:cs typeface="Quattrocento Sans"/>
            </a:endParaRPr>
          </a:p>
          <a:p>
            <a:pPr>
              <a:buSzPts val="2000"/>
            </a:pPr>
            <a:r>
              <a:rPr lang="en-GB" sz="2400" dirty="0">
                <a:solidFill>
                  <a:schemeClr val="bg2"/>
                </a:solidFill>
                <a:latin typeface="Quattrocento Sans"/>
                <a:ea typeface="Quattrocento Sans"/>
                <a:cs typeface="Quattrocento Sans"/>
              </a:rPr>
              <a:t>Animate rotation from key</a:t>
            </a:r>
          </a:p>
          <a:p>
            <a:r>
              <a:rPr lang="en-GB" sz="2400" dirty="0">
                <a:solidFill>
                  <a:schemeClr val="bg2"/>
                </a:solidFill>
                <a:latin typeface="Quattrocento Sans"/>
              </a:rPr>
              <a:t>Button </a:t>
            </a:r>
            <a:r>
              <a:rPr lang="en-GB" sz="2400" dirty="0" err="1">
                <a:solidFill>
                  <a:schemeClr val="bg2"/>
                </a:solidFill>
                <a:latin typeface="Quattrocento Sans"/>
              </a:rPr>
              <a:t>OnClick</a:t>
            </a:r>
            <a:r>
              <a:rPr lang="en-GB" sz="2400" dirty="0">
                <a:solidFill>
                  <a:schemeClr val="bg2"/>
                </a:solidFill>
                <a:latin typeface="Quattrocento Sans"/>
              </a:rPr>
              <a:t> Event Handling</a:t>
            </a:r>
            <a:r>
              <a:rPr lang="en-GB" sz="2400" dirty="0">
                <a:solidFill>
                  <a:srgbClr val="FFFF00"/>
                </a:solidFill>
                <a:latin typeface="Quattrocento Sans"/>
              </a:rPr>
              <a:t> </a:t>
            </a:r>
            <a:r>
              <a:rPr lang="en-GB" sz="2400" i="1" dirty="0">
                <a:solidFill>
                  <a:srgbClr val="00B0F0"/>
                </a:solidFill>
                <a:latin typeface="Quattrocento Sans"/>
              </a:rPr>
              <a:t>(Associated Functions must be public and void)</a:t>
            </a:r>
            <a:endParaRPr lang="en-GB" dirty="0"/>
          </a:p>
          <a:p>
            <a:r>
              <a:rPr lang="en-GB" sz="1600" dirty="0">
                <a:solidFill>
                  <a:srgbClr val="FFFF00"/>
                </a:solidFill>
                <a:hlinkClick r:id="rId5">
                  <a:extLst>
                    <a:ext uri="{A12FA001-AC4F-418D-AE19-62706E023703}">
                      <ahyp:hlinkClr xmlns:ahyp="http://schemas.microsoft.com/office/drawing/2018/hyperlinkcolor" val="tx"/>
                    </a:ext>
                  </a:extLst>
                </a:hlinkClick>
              </a:rPr>
              <a:t>Noorcon Inc. - Unity 3D Game Programming Part 3 - Vahe Karamian.pdf</a:t>
            </a:r>
            <a:endParaRPr lang="en-GB" sz="1600">
              <a:solidFill>
                <a:srgbClr val="FFFF00"/>
              </a:solidFill>
            </a:endParaRPr>
          </a:p>
          <a:p>
            <a:pPr>
              <a:buSzPts val="2000"/>
            </a:pPr>
            <a:endParaRPr lang="en-GB" sz="2000" dirty="0">
              <a:solidFill>
                <a:srgbClr val="FFFFFF"/>
              </a:solidFill>
              <a:latin typeface="Quattrocento Sans"/>
            </a:endParaRPr>
          </a:p>
          <a:p>
            <a:pPr>
              <a:buSzPts val="2000"/>
            </a:pPr>
            <a:r>
              <a:rPr lang="en-GB" sz="2400" dirty="0">
                <a:solidFill>
                  <a:schemeClr val="bg2"/>
                </a:solidFill>
                <a:latin typeface="Quattrocento Sans"/>
                <a:ea typeface="Quattrocento Sans"/>
                <a:cs typeface="Quattrocento Sans"/>
                <a:sym typeface="Quattrocento Sans"/>
              </a:rPr>
              <a:t>HUD Text Readouts</a:t>
            </a:r>
            <a:r>
              <a:rPr lang="en-GB" sz="2400" i="0" u="none" strike="noStrike" cap="none" dirty="0">
                <a:solidFill>
                  <a:schemeClr val="bg2"/>
                </a:solidFill>
                <a:latin typeface="Quattrocento Sans"/>
                <a:ea typeface="Quattrocento Sans"/>
                <a:cs typeface="Quattrocento Sans"/>
                <a:sym typeface="Quattrocento Sans"/>
              </a:rPr>
              <a:t> in Unity UI</a:t>
            </a:r>
            <a:r>
              <a:rPr lang="en-GB" sz="2400" dirty="0">
                <a:solidFill>
                  <a:schemeClr val="bg2"/>
                </a:solidFill>
                <a:latin typeface="Quattrocento Sans"/>
                <a:ea typeface="Quattrocento Sans"/>
                <a:cs typeface="Quattrocento Sans"/>
                <a:sym typeface="Quattrocento Sans"/>
              </a:rPr>
              <a:t> Text and Panels </a:t>
            </a:r>
            <a:r>
              <a:rPr lang="en-GB" sz="2400" i="1" dirty="0">
                <a:solidFill>
                  <a:srgbClr val="00B0F0"/>
                </a:solidFill>
                <a:latin typeface="Quattrocento Sans"/>
                <a:ea typeface="Quattrocento Sans"/>
                <a:cs typeface="Quattrocento Sans"/>
                <a:sym typeface="Quattrocento Sans"/>
              </a:rPr>
              <a:t>(from Script Public Variable)</a:t>
            </a:r>
            <a:endParaRPr sz="2400" i="1" u="none" strike="noStrike" cap="none">
              <a:solidFill>
                <a:srgbClr val="00B0F0"/>
              </a:solidFill>
              <a:latin typeface="Quattrocento Sans"/>
              <a:ea typeface="Quattrocento Sans"/>
              <a:cs typeface="Quattrocento Sans"/>
            </a:endParaRPr>
          </a:p>
          <a:p>
            <a:r>
              <a:rPr lang="en-GB" sz="1600" dirty="0">
                <a:solidFill>
                  <a:srgbClr val="FFFF00"/>
                </a:solidFill>
                <a:hlinkClick r:id="rId4">
                  <a:extLst>
                    <a:ext uri="{A12FA001-AC4F-418D-AE19-62706E023703}">
                      <ahyp:hlinkClr xmlns:ahyp="http://schemas.microsoft.com/office/drawing/2018/hyperlinkcolor" val="tx"/>
                    </a:ext>
                  </a:extLst>
                </a:hlinkClick>
              </a:rPr>
              <a:t>Noorcon Inc. - Unity 3D Game Programming Part 4 - Vahe Karamian.pdf</a:t>
            </a:r>
            <a:endParaRPr lang="en-GB" sz="1600"/>
          </a:p>
          <a:p>
            <a:pPr>
              <a:buSzPts val="800"/>
            </a:pPr>
            <a:endParaRPr lang="en-GB" sz="800" b="1">
              <a:solidFill>
                <a:srgbClr val="FFFF00"/>
              </a:solidFill>
              <a:latin typeface="Quattrocento Sans"/>
              <a:ea typeface="Quattrocento Sans"/>
              <a:cs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DB65483-E73C-1276-CE1F-3AB2A0DCE6A4}"/>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F96C95B0-54D5-41F0-6B70-E79D4B15C6D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F293E7D0-4C40-D680-1458-A61B7CDAB03D}"/>
              </a:ext>
            </a:extLst>
          </p:cNvPr>
          <p:cNvSpPr txBox="1"/>
          <p:nvPr/>
        </p:nvSpPr>
        <p:spPr>
          <a:xfrm>
            <a:off x="609600" y="1421650"/>
            <a:ext cx="11584437" cy="5755381"/>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a:p>
            <a:r>
              <a:rPr lang="en-GB" sz="2400" dirty="0">
                <a:solidFill>
                  <a:schemeClr val="bg2"/>
                </a:solidFill>
                <a:latin typeface="Quattrocento Sans"/>
              </a:rPr>
              <a:t>7.1 Cubes with HUD Text Readouts in Unity UI Text and Panels </a:t>
            </a:r>
            <a:endParaRPr lang="en-US" sz="2400" dirty="0">
              <a:solidFill>
                <a:schemeClr val="bg2"/>
              </a:solidFill>
              <a:latin typeface="Quattrocento Sans"/>
            </a:endParaRPr>
          </a:p>
          <a:p>
            <a:r>
              <a:rPr lang="en-GB" sz="2400" i="1" dirty="0">
                <a:solidFill>
                  <a:srgbClr val="00B0F0"/>
                </a:solidFill>
                <a:latin typeface="Quattrocento Sans"/>
              </a:rPr>
              <a:t>(from Script Public Variable)</a:t>
            </a:r>
            <a:endParaRPr lang="en-US" sz="2400" dirty="0">
              <a:solidFill>
                <a:schemeClr val="bg2"/>
              </a:solidFill>
              <a:latin typeface="Quattrocento Sans"/>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 7.1a Initialize (Spawn) Cubes from key </a:t>
            </a:r>
          </a:p>
          <a:p>
            <a:r>
              <a:rPr lang="en-GB" sz="2400" i="1" dirty="0">
                <a:solidFill>
                  <a:srgbClr val="00B0F0"/>
                </a:solidFill>
                <a:latin typeface="Quattrocento Sans"/>
              </a:rPr>
              <a:t> (with translate control by key)</a:t>
            </a:r>
            <a:endParaRPr lang="en-GB" dirty="0"/>
          </a:p>
          <a:p>
            <a:r>
              <a:rPr lang="en-GB" sz="2400" dirty="0">
                <a:solidFill>
                  <a:schemeClr val="bg2"/>
                </a:solidFill>
                <a:latin typeface="Quattrocento Sans"/>
              </a:rPr>
              <a:t> 7.1b Button Event Handling</a:t>
            </a:r>
            <a:r>
              <a:rPr lang="en-GB" sz="2400" dirty="0">
                <a:solidFill>
                  <a:srgbClr val="FFFF00"/>
                </a:solidFill>
                <a:latin typeface="Quattrocento Sans"/>
              </a:rPr>
              <a:t> (rather than Week 5 – </a:t>
            </a:r>
            <a:r>
              <a:rPr lang="en-GB" sz="2400" dirty="0" err="1">
                <a:solidFill>
                  <a:srgbClr val="FFFF00"/>
                </a:solidFill>
                <a:latin typeface="Quattrocento Sans"/>
              </a:rPr>
              <a:t>OnClick</a:t>
            </a:r>
            <a:r>
              <a:rPr lang="en-GB" sz="2400" dirty="0">
                <a:solidFill>
                  <a:srgbClr val="FFFF00"/>
                </a:solidFill>
                <a:latin typeface="Quattrocento Sans"/>
              </a:rPr>
              <a:t>)</a:t>
            </a:r>
            <a:endParaRPr lang="en-GB" dirty="0"/>
          </a:p>
          <a:p>
            <a:r>
              <a:rPr lang="en-GB" sz="2400" i="1" dirty="0">
                <a:solidFill>
                  <a:srgbClr val="00B0F0"/>
                </a:solidFill>
                <a:latin typeface="Quattrocento Sans"/>
              </a:rPr>
              <a:t> (Associated Functions must be public and void)</a:t>
            </a:r>
            <a:endParaRPr lang="en-GB" dirty="0"/>
          </a:p>
          <a:p>
            <a:r>
              <a:rPr lang="en-GB" sz="2400" dirty="0">
                <a:solidFill>
                  <a:schemeClr val="bg2"/>
                </a:solidFill>
                <a:latin typeface="Quattrocento Sans"/>
              </a:rPr>
              <a:t> 7.1c Button Event Handling on Instantiated Cube </a:t>
            </a:r>
            <a:r>
              <a:rPr lang="en-GB" sz="2400" dirty="0">
                <a:solidFill>
                  <a:srgbClr val="FFFF00"/>
                </a:solidFill>
                <a:latin typeface="Quattrocento Sans"/>
              </a:rPr>
              <a:t>(both above combined)</a:t>
            </a:r>
            <a:endParaRPr lang="en-GB" dirty="0">
              <a:solidFill>
                <a:srgbClr val="FFFF00"/>
              </a:solidFill>
            </a:endParaRPr>
          </a:p>
          <a:p>
            <a:r>
              <a:rPr lang="en-GB" sz="2400" dirty="0">
                <a:solidFill>
                  <a:schemeClr val="bg2"/>
                </a:solidFill>
                <a:latin typeface="Quattrocento Sans"/>
              </a:rPr>
              <a:t> 7.1d Instantiate Prefab</a:t>
            </a:r>
          </a:p>
          <a:p>
            <a:r>
              <a:rPr lang="en-GB" sz="2400" dirty="0">
                <a:solidFill>
                  <a:schemeClr val="bg2"/>
                </a:solidFill>
                <a:latin typeface="Quattrocento Sans"/>
                <a:ea typeface="Quattrocento Sans"/>
              </a:rPr>
              <a:t> 7.2 Text Readout Score</a:t>
            </a:r>
          </a:p>
          <a:p>
            <a:r>
              <a:rPr lang="en-GB" sz="2400" dirty="0">
                <a:solidFill>
                  <a:schemeClr val="bg2"/>
                </a:solidFill>
                <a:latin typeface="Quattrocento Sans"/>
                <a:ea typeface="Quattrocento Sans"/>
              </a:rPr>
              <a:t> 7.3 Animated Legacy Button</a:t>
            </a:r>
          </a:p>
          <a:p>
            <a:r>
              <a:rPr lang="en-GB" sz="2400" dirty="0">
                <a:solidFill>
                  <a:schemeClr val="bg2"/>
                </a:solidFill>
                <a:latin typeface="Quattrocento Sans"/>
                <a:ea typeface="Quattrocento Sans"/>
              </a:rPr>
              <a:t> 7.4 Animated Text Mesh Pro Button</a:t>
            </a:r>
          </a:p>
          <a:p>
            <a:endParaRPr lang="en-GB" sz="2400" dirty="0">
              <a:solidFill>
                <a:srgbClr val="FFFFFF"/>
              </a:solidFill>
              <a:ea typeface="Quattrocento Sans"/>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3776517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0AE924E-9CEE-4D14-AEB1-3155B34B7D90}"/>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2590B248-D927-46A5-A575-42FFECC28B59}"/>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F227C049-A62A-0012-7FA8-DAC7493BD837}"/>
              </a:ext>
            </a:extLst>
          </p:cNvPr>
          <p:cNvSpPr txBox="1"/>
          <p:nvPr/>
        </p:nvSpPr>
        <p:spPr>
          <a:xfrm>
            <a:off x="609600" y="1421650"/>
            <a:ext cx="11584437" cy="4893607"/>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Calibri"/>
                <a:ea typeface="Quattrocento Sans"/>
                <a:cs typeface="Quattrocento Sans"/>
                <a:sym typeface="Quattrocento Sans"/>
              </a:rPr>
              <a:t>Tutorial </a:t>
            </a:r>
            <a:r>
              <a:rPr lang="en-GB" sz="2400" b="1" dirty="0">
                <a:solidFill>
                  <a:srgbClr val="FFFF00"/>
                </a:solidFill>
                <a:latin typeface="Calibri"/>
                <a:ea typeface="Quattrocento Sans"/>
                <a:cs typeface="Quattrocento Sans"/>
                <a:sym typeface="Quattrocento Sans"/>
              </a:rPr>
              <a:t>7.1</a:t>
            </a:r>
            <a:r>
              <a:rPr lang="en-GB" sz="2400" b="1" i="0" u="none" strike="noStrike" cap="none" dirty="0">
                <a:solidFill>
                  <a:srgbClr val="FFFF00"/>
                </a:solidFill>
                <a:latin typeface="Calibri"/>
                <a:ea typeface="Quattrocento Sans"/>
                <a:cs typeface="Quattrocento Sans"/>
                <a:sym typeface="Quattrocento Sans"/>
              </a:rPr>
              <a:t> Unity UI HUD</a:t>
            </a:r>
            <a:r>
              <a:rPr lang="en-GB" sz="2400" dirty="0">
                <a:latin typeface="Calibri"/>
                <a:ea typeface="Quattrocento Sans"/>
              </a:rPr>
              <a:t> </a:t>
            </a:r>
            <a:endParaRPr lang="en-US" sz="2400" b="0" i="0" u="none" strike="noStrike" cap="none">
              <a:solidFill>
                <a:srgbClr val="000000"/>
              </a:solidFill>
              <a:latin typeface="Calibri"/>
              <a:ea typeface="Arial"/>
              <a:cs typeface="Arial"/>
            </a:endParaRPr>
          </a:p>
          <a:p>
            <a:pPr marL="0" marR="0" lvl="0" indent="0" algn="l" rtl="0">
              <a:lnSpc>
                <a:spcPct val="100000"/>
              </a:lnSpc>
              <a:spcBef>
                <a:spcPts val="0"/>
              </a:spcBef>
              <a:spcAft>
                <a:spcPts val="0"/>
              </a:spcAft>
              <a:buClr>
                <a:srgbClr val="000000"/>
              </a:buClr>
              <a:buSzPts val="2400"/>
              <a:buFont typeface="Arial"/>
              <a:buNone/>
            </a:pPr>
            <a:endParaRPr sz="2000" b="0" i="0" u="none" strike="noStrike" cap="none" dirty="0">
              <a:solidFill>
                <a:srgbClr val="000000"/>
              </a:solidFill>
              <a:latin typeface="Calibri"/>
              <a:ea typeface="Arial"/>
              <a:cs typeface="Arial"/>
            </a:endParaRPr>
          </a:p>
          <a:p>
            <a:r>
              <a:rPr lang="en-GB" sz="2000" dirty="0">
                <a:solidFill>
                  <a:schemeClr val="bg2"/>
                </a:solidFill>
                <a:latin typeface="Calibri"/>
              </a:rPr>
              <a:t>GO Main Camera</a:t>
            </a:r>
          </a:p>
          <a:p>
            <a:r>
              <a:rPr lang="en-GB" sz="2000" dirty="0">
                <a:solidFill>
                  <a:schemeClr val="bg2"/>
                </a:solidFill>
                <a:latin typeface="Calibri"/>
              </a:rPr>
              <a:t> </a:t>
            </a:r>
            <a:r>
              <a:rPr lang="en-GB" sz="2000" dirty="0" err="1">
                <a:solidFill>
                  <a:srgbClr val="00B0F0"/>
                </a:solidFill>
                <a:latin typeface="Calibri"/>
              </a:rPr>
              <a:t>CreatePrimitivesFromInput.cs</a:t>
            </a:r>
            <a:endParaRPr lang="en-GB" sz="2000" dirty="0">
              <a:solidFill>
                <a:srgbClr val="00B0F0"/>
              </a:solidFill>
              <a:latin typeface="Calibri"/>
            </a:endParaRPr>
          </a:p>
          <a:p>
            <a:r>
              <a:rPr lang="en-GB" sz="2000" dirty="0">
                <a:solidFill>
                  <a:srgbClr val="00B0F0"/>
                </a:solidFill>
                <a:latin typeface="Calibri"/>
              </a:rPr>
              <a:t>  Spawn from space key</a:t>
            </a:r>
          </a:p>
          <a:p>
            <a:r>
              <a:rPr lang="en-GB" sz="2000" dirty="0">
                <a:solidFill>
                  <a:srgbClr val="00B0F0"/>
                </a:solidFill>
                <a:latin typeface="Calibri"/>
                <a:ea typeface="Quattrocento Sans"/>
              </a:rPr>
              <a:t>  Translate from arrow keys</a:t>
            </a:r>
          </a:p>
          <a:p>
            <a:r>
              <a:rPr lang="en-GB" sz="2000" dirty="0">
                <a:solidFill>
                  <a:srgbClr val="00B0F0"/>
                </a:solidFill>
                <a:latin typeface="Calibri"/>
              </a:rPr>
              <a:t>  </a:t>
            </a:r>
            <a:r>
              <a:rPr lang="en-GB" sz="2000" dirty="0">
                <a:solidFill>
                  <a:srgbClr val="F04DEA"/>
                </a:solidFill>
                <a:latin typeface="Calibri"/>
              </a:rPr>
              <a:t>As stretch target, try spawning prefabs of below cubes with scripts and readout</a:t>
            </a:r>
            <a:r>
              <a:rPr lang="en-GB" sz="2000" dirty="0">
                <a:solidFill>
                  <a:srgbClr val="00B0F0"/>
                </a:solidFill>
                <a:latin typeface="Calibri"/>
              </a:rPr>
              <a:t> </a:t>
            </a:r>
          </a:p>
          <a:p>
            <a:r>
              <a:rPr lang="en-GB" sz="2000" dirty="0">
                <a:solidFill>
                  <a:schemeClr val="bg2"/>
                </a:solidFill>
                <a:latin typeface="Calibri"/>
              </a:rPr>
              <a:t>GO UI Canvas</a:t>
            </a:r>
          </a:p>
          <a:p>
            <a:r>
              <a:rPr lang="en-GB" sz="2000" dirty="0">
                <a:solidFill>
                  <a:schemeClr val="bg2"/>
                </a:solidFill>
                <a:latin typeface="Calibri"/>
              </a:rPr>
              <a:t> GO UI Panel</a:t>
            </a:r>
            <a:endParaRPr lang="en-GB" sz="2000" dirty="0">
              <a:solidFill>
                <a:schemeClr val="bg2"/>
              </a:solidFill>
              <a:latin typeface="Calibri"/>
              <a:ea typeface="Quattrocento Sans"/>
            </a:endParaRPr>
          </a:p>
          <a:p>
            <a:r>
              <a:rPr lang="en-GB" sz="2000" dirty="0">
                <a:solidFill>
                  <a:schemeClr val="bg2"/>
                </a:solidFill>
                <a:latin typeface="Calibri"/>
                <a:ea typeface="Quattrocento Sans"/>
              </a:rPr>
              <a:t>  GO UI legacy Text</a:t>
            </a:r>
          </a:p>
          <a:p>
            <a:r>
              <a:rPr lang="en-GB" sz="2000" dirty="0">
                <a:solidFill>
                  <a:schemeClr val="bg2"/>
                </a:solidFill>
                <a:latin typeface="Calibri"/>
                <a:ea typeface="Quattrocento Sans"/>
              </a:rPr>
              <a:t>GO Cube x 3</a:t>
            </a:r>
          </a:p>
          <a:p>
            <a:r>
              <a:rPr lang="en-GB" sz="2000" dirty="0">
                <a:solidFill>
                  <a:schemeClr val="bg2"/>
                </a:solidFill>
                <a:latin typeface="Calibri"/>
                <a:ea typeface="Quattrocento Sans"/>
              </a:rPr>
              <a:t> </a:t>
            </a:r>
            <a:r>
              <a:rPr lang="en-GB" sz="2000" err="1">
                <a:solidFill>
                  <a:srgbClr val="00B0F0"/>
                </a:solidFill>
                <a:latin typeface="Calibri"/>
                <a:ea typeface="Quattrocento Sans"/>
              </a:rPr>
              <a:t>CubexRotate.cs</a:t>
            </a:r>
            <a:endParaRPr lang="en-GB" sz="2000">
              <a:solidFill>
                <a:srgbClr val="00B0F0"/>
              </a:solidFill>
              <a:latin typeface="Calibri"/>
              <a:ea typeface="Quattrocento Sans"/>
            </a:endParaRPr>
          </a:p>
          <a:p>
            <a:r>
              <a:rPr lang="en-GB" sz="2000" dirty="0">
                <a:solidFill>
                  <a:schemeClr val="bg2"/>
                </a:solidFill>
                <a:latin typeface="Calibri"/>
              </a:rPr>
              <a:t>  </a:t>
            </a:r>
            <a:r>
              <a:rPr lang="en-GB" sz="2000" dirty="0">
                <a:solidFill>
                  <a:srgbClr val="00B0F0"/>
                </a:solidFill>
                <a:latin typeface="Calibri"/>
              </a:rPr>
              <a:t>Rotate scripted movement (</a:t>
            </a:r>
            <a:r>
              <a:rPr lang="en-GB" sz="2000" dirty="0">
                <a:solidFill>
                  <a:srgbClr val="00B0F0"/>
                </a:solidFill>
                <a:latin typeface="Calibri"/>
                <a:ea typeface="Calibri"/>
                <a:cs typeface="Calibri"/>
              </a:rPr>
              <a:t>narrative)</a:t>
            </a:r>
          </a:p>
          <a:p>
            <a:r>
              <a:rPr lang="en-GB" sz="2000" dirty="0">
                <a:solidFill>
                  <a:srgbClr val="00B0F0"/>
                </a:solidFill>
                <a:latin typeface="Calibri"/>
                <a:ea typeface="Calibri"/>
                <a:cs typeface="Calibri"/>
              </a:rPr>
              <a:t>  Private String variable of live rotation data</a:t>
            </a:r>
          </a:p>
          <a:p>
            <a:r>
              <a:rPr lang="en-GB" sz="2000" dirty="0">
                <a:solidFill>
                  <a:srgbClr val="00B0F0"/>
                </a:solidFill>
                <a:latin typeface="Calibri"/>
                <a:ea typeface="Calibri"/>
                <a:cs typeface="Calibri"/>
              </a:rPr>
              <a:t>  Public GO UI Text variable – </a:t>
            </a:r>
            <a:r>
              <a:rPr lang="en-GB" sz="2000" dirty="0">
                <a:solidFill>
                  <a:schemeClr val="bg2"/>
                </a:solidFill>
                <a:latin typeface="Calibri"/>
                <a:ea typeface="Calibri"/>
                <a:cs typeface="Calibri"/>
              </a:rPr>
              <a:t>related</a:t>
            </a:r>
            <a:r>
              <a:rPr lang="en-GB" sz="2000" dirty="0">
                <a:solidFill>
                  <a:srgbClr val="00B0F0"/>
                </a:solidFill>
                <a:latin typeface="Calibri"/>
                <a:ea typeface="Calibri"/>
                <a:cs typeface="Calibri"/>
              </a:rPr>
              <a:t> </a:t>
            </a:r>
            <a:r>
              <a:rPr lang="en-GB" sz="2000" dirty="0">
                <a:solidFill>
                  <a:schemeClr val="bg2"/>
                </a:solidFill>
                <a:latin typeface="Calibri"/>
                <a:ea typeface="Calibri"/>
                <a:cs typeface="Calibri"/>
              </a:rPr>
              <a:t>GO UI Legacy text above dragged into box in Inspector</a:t>
            </a: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426177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75" name="Google Shape;175;p23"/>
          <p:cNvSpPr txBox="1"/>
          <p:nvPr/>
        </p:nvSpPr>
        <p:spPr>
          <a:xfrm>
            <a:off x="609600" y="1421654"/>
            <a:ext cx="10890738" cy="530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Initialize Game Objects</a:t>
            </a:r>
            <a:endParaRPr sz="2400" b="0" i="0" u="none" strike="noStrike" cap="none" dirty="0">
              <a:solidFill>
                <a:srgbClr val="000000"/>
              </a:solidFill>
              <a:latin typeface="Arial"/>
              <a:ea typeface="Arial"/>
              <a:cs typeface="Arial"/>
              <a:sym typeface="Arial"/>
            </a:endParaRPr>
          </a:p>
          <a:p>
            <a:r>
              <a:rPr lang="en-GB" sz="1500" dirty="0">
                <a:solidFill>
                  <a:srgbClr val="FFFF00"/>
                </a:solidFill>
                <a:hlinkClick r:id="rId3"/>
              </a:rPr>
              <a:t>Noorcon</a:t>
            </a:r>
            <a:r>
              <a:rPr lang="en-GB" sz="1500" dirty="0">
                <a:solidFill>
                  <a:srgbClr val="FFFF00"/>
                </a:solidFill>
                <a:hlinkClick r:id="rId3">
                  <a:extLst>
                    <a:ext uri="{A12FA001-AC4F-418D-AE19-62706E023703}">
                      <ahyp:hlinkClr xmlns:ahyp="http://schemas.microsoft.com/office/drawing/2018/hyperlinkcolor" val="tx"/>
                    </a:ext>
                  </a:extLst>
                </a:hlinkClick>
              </a:rPr>
              <a:t> Inc. - Unity 3D Game Programming Part 4 - Vahe Karamian.pdf</a:t>
            </a:r>
            <a:endParaRPr lang="en-GB"/>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dirty="0">
                <a:solidFill>
                  <a:srgbClr val="FFFF00"/>
                </a:solidFill>
                <a:latin typeface="Quattrocento Sans"/>
                <a:ea typeface="Quattrocento Sans"/>
                <a:cs typeface="Quattrocento Sans"/>
                <a:sym typeface="Quattrocento Sans"/>
              </a:rPr>
              <a:t>Button </a:t>
            </a:r>
            <a:br>
              <a:rPr lang="en-GB" sz="2000" b="1" i="0" u="none" strike="noStrike" cap="none" dirty="0">
                <a:latin typeface="Quattrocento Sans"/>
                <a:ea typeface="Quattrocento Sans"/>
                <a:cs typeface="Quattrocento Sans"/>
              </a:rPr>
            </a:br>
            <a:r>
              <a:rPr lang="en-GB" sz="1600" b="1" i="1" u="none" strike="noStrike" cap="none" dirty="0">
                <a:solidFill>
                  <a:srgbClr val="FF0000"/>
                </a:solidFill>
                <a:latin typeface="Quattrocento Sans"/>
                <a:ea typeface="Quattrocento Sans"/>
                <a:cs typeface="Quattrocento Sans"/>
                <a:sym typeface="Quattrocento Sans"/>
              </a:rPr>
              <a:t>(</a:t>
            </a:r>
            <a:r>
              <a:rPr lang="en-GB" sz="1600" b="1" i="1" u="none" strike="noStrike" cap="none" dirty="0" err="1">
                <a:solidFill>
                  <a:srgbClr val="FF0000"/>
                </a:solidFill>
                <a:latin typeface="Quattrocento Sans"/>
                <a:ea typeface="Quattrocento Sans"/>
                <a:cs typeface="Quattrocento Sans"/>
                <a:sym typeface="Quattrocento Sans"/>
              </a:rPr>
              <a:t>OnClick</a:t>
            </a:r>
            <a:r>
              <a:rPr lang="en-GB" sz="1600" b="1" i="1" u="none" strike="noStrike" cap="none" dirty="0">
                <a:solidFill>
                  <a:srgbClr val="FF0000"/>
                </a:solidFill>
                <a:latin typeface="Quattrocento Sans"/>
                <a:ea typeface="Quattrocento Sans"/>
                <a:cs typeface="Quattrocento Sans"/>
                <a:sym typeface="Quattrocento Sans"/>
              </a:rPr>
              <a:t> event and public void function)</a:t>
            </a:r>
            <a:br>
              <a:rPr lang="en-GB" sz="1600" b="1" i="1" u="none" strike="noStrike" cap="none" dirty="0">
                <a:latin typeface="Quattrocento Sans"/>
                <a:ea typeface="Quattrocento Sans"/>
                <a:cs typeface="Quattrocento Sans"/>
              </a:rPr>
            </a:br>
            <a:r>
              <a:rPr lang="en-GB" sz="1600" b="1" i="1" u="none" strike="noStrike" cap="none" dirty="0">
                <a:solidFill>
                  <a:srgbClr val="FF0000"/>
                </a:solidFill>
                <a:latin typeface="Quattrocento Sans"/>
                <a:ea typeface="Quattrocento Sans"/>
                <a:cs typeface="Quattrocento Sans"/>
                <a:sym typeface="Quattrocento Sans"/>
              </a:rPr>
              <a:t>Drag object with Script and Function to </a:t>
            </a:r>
            <a:r>
              <a:rPr lang="en-GB" sz="1600" b="1" i="1" u="none" strike="noStrike" cap="none" dirty="0" err="1">
                <a:solidFill>
                  <a:srgbClr val="FF0000"/>
                </a:solidFill>
                <a:latin typeface="Quattrocento Sans"/>
                <a:ea typeface="Quattrocento Sans"/>
                <a:cs typeface="Quattrocento Sans"/>
                <a:sym typeface="Quattrocento Sans"/>
              </a:rPr>
              <a:t>OnClick</a:t>
            </a:r>
            <a:r>
              <a:rPr lang="en-GB" sz="1600" b="1" i="1" u="none" strike="noStrike" cap="none" dirty="0">
                <a:solidFill>
                  <a:srgbClr val="FF0000"/>
                </a:solidFill>
                <a:latin typeface="Quattrocento Sans"/>
                <a:ea typeface="Quattrocento Sans"/>
                <a:cs typeface="Quattrocento Sans"/>
                <a:sym typeface="Quattrocento Sans"/>
              </a:rPr>
              <a:t> Placeholder</a:t>
            </a:r>
            <a:br>
              <a:rPr lang="en-GB" sz="1600" b="1" i="1" u="none" strike="noStrike" cap="none" dirty="0">
                <a:latin typeface="Quattrocento Sans"/>
                <a:ea typeface="Quattrocento Sans"/>
                <a:cs typeface="Quattrocento Sans"/>
              </a:rPr>
            </a:br>
            <a:r>
              <a:rPr lang="en-GB" sz="1600" b="1" i="1" u="none" strike="noStrike" cap="none" dirty="0">
                <a:solidFill>
                  <a:srgbClr val="FF0000"/>
                </a:solidFill>
                <a:latin typeface="Quattrocento Sans"/>
                <a:ea typeface="Quattrocento Sans"/>
                <a:cs typeface="Quattrocento Sans"/>
                <a:sym typeface="Quattrocento Sans"/>
              </a:rPr>
              <a:t>Select function from drop down box</a:t>
            </a:r>
            <a:endParaRPr sz="1200" b="0" i="0" u="none" strike="noStrike" cap="none" dirty="0">
              <a:solidFill>
                <a:schemeClr val="dk1"/>
              </a:solidFill>
              <a:latin typeface="Calibri"/>
              <a:ea typeface="Calibri"/>
              <a:cs typeface="Calibri"/>
              <a:sym typeface="Calibri"/>
            </a:endParaRPr>
          </a:p>
          <a:p>
            <a:pPr>
              <a:buSzPts val="1600"/>
            </a:pP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 This function will be called when the Space Bar on the keyboard is pressed</a:t>
            </a:r>
            <a:br>
              <a:rPr lang="en-GB" sz="1600" b="0" i="0" u="none" strike="noStrike" cap="none" dirty="0">
                <a:latin typeface="Calibri"/>
                <a:ea typeface="Calibri"/>
                <a:cs typeface="Calibri"/>
              </a:rPr>
            </a:br>
            <a:r>
              <a:rPr lang="en-GB" sz="1600" b="0" i="0" u="none" strike="noStrike" cap="none" dirty="0">
                <a:solidFill>
                  <a:srgbClr val="979797"/>
                </a:solidFill>
                <a:latin typeface="Calibri"/>
                <a:ea typeface="Calibri"/>
                <a:cs typeface="Calibri"/>
                <a:sym typeface="Calibri"/>
              </a:rPr>
              <a:t> </a:t>
            </a:r>
            <a:r>
              <a:rPr lang="en-GB" sz="1600" b="0" i="0" u="none" strike="noStrike" cap="none" dirty="0">
                <a:solidFill>
                  <a:srgbClr val="FF0000"/>
                </a:solidFill>
                <a:latin typeface="Calibri"/>
                <a:ea typeface="Calibri"/>
                <a:cs typeface="Calibri"/>
                <a:sym typeface="Calibri"/>
              </a:rPr>
              <a:t>public void </a:t>
            </a:r>
            <a:r>
              <a:rPr lang="en-GB" sz="1600" b="0" i="0" u="none" strike="noStrike" cap="none" dirty="0" err="1">
                <a:solidFill>
                  <a:srgbClr val="FF0000"/>
                </a:solidFill>
                <a:latin typeface="Calibri"/>
                <a:ea typeface="Calibri"/>
                <a:cs typeface="Calibri"/>
                <a:sym typeface="Calibri"/>
              </a:rPr>
              <a:t>CreateMyPrimitives</a:t>
            </a:r>
            <a:r>
              <a:rPr lang="en-GB" sz="1600" b="0" i="0" u="none" strike="noStrike" cap="none" dirty="0">
                <a:solidFill>
                  <a:srgbClr val="FF0000"/>
                </a:solidFill>
                <a:latin typeface="Calibri"/>
                <a:ea typeface="Calibri"/>
                <a:cs typeface="Calibri"/>
                <a:sym typeface="Calibri"/>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dirty="0">
                <a:solidFill>
                  <a:srgbClr val="979797"/>
                </a:solidFill>
                <a:latin typeface="Calibri"/>
                <a:ea typeface="Calibri"/>
                <a:cs typeface="Calibri"/>
                <a:sym typeface="Calibri"/>
              </a:rPr>
              <a:t>if (!</a:t>
            </a:r>
            <a:r>
              <a:rPr lang="en-GB" sz="1600" b="0" i="0" u="none" strike="noStrike" cap="none" dirty="0" err="1">
                <a:solidFill>
                  <a:srgbClr val="979797"/>
                </a:solidFill>
                <a:latin typeface="Calibri"/>
                <a:ea typeface="Calibri"/>
                <a:cs typeface="Calibri"/>
                <a:sym typeface="Calibri"/>
              </a:rPr>
              <a:t>this.PRIMITIVES_CREATED</a:t>
            </a:r>
            <a:r>
              <a:rPr lang="en-GB" sz="1600" b="0" i="0" u="none" strike="noStrike" cap="none" dirty="0">
                <a:solidFill>
                  <a:srgbClr val="979797"/>
                </a:solidFill>
                <a:latin typeface="Calibri"/>
                <a:ea typeface="Calibri"/>
                <a:cs typeface="Calibri"/>
                <a:sym typeface="Calibri"/>
              </a:rPr>
              <a:t>) {</a:t>
            </a:r>
            <a:endParaRPr sz="1400" b="0" i="0" u="none" strike="noStrike" cap="none" dirty="0">
              <a:solidFill>
                <a:srgbClr val="000000"/>
              </a:solidFill>
              <a:latin typeface="Arial"/>
              <a:ea typeface="Arial"/>
              <a:cs typeface="Arial"/>
              <a:sym typeface="Arial"/>
            </a:endParaRPr>
          </a:p>
          <a:p>
            <a:pPr>
              <a:buSzPts val="1600"/>
            </a:pPr>
            <a:r>
              <a:rPr lang="en-GB" sz="1600" b="0" i="0" u="none" strike="noStrike" cap="none" dirty="0">
                <a:solidFill>
                  <a:srgbClr val="979797"/>
                </a:solidFill>
                <a:latin typeface="Calibri"/>
                <a:ea typeface="Calibri"/>
                <a:cs typeface="Calibri"/>
                <a:sym typeface="Calibri"/>
              </a:rPr>
              <a:t>	// initialize our Cube1 primitive and place it at location (0,2,0)</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this.cube1 = </a:t>
            </a:r>
            <a:r>
              <a:rPr lang="en-GB" sz="1600" b="0" i="0" u="none" strike="noStrike" cap="none" dirty="0" err="1">
                <a:solidFill>
                  <a:srgbClr val="979797"/>
                </a:solidFill>
                <a:latin typeface="Calibri"/>
                <a:ea typeface="Calibri"/>
                <a:cs typeface="Calibri"/>
                <a:sym typeface="Calibri"/>
              </a:rPr>
              <a:t>GameObject.CreatePrimitive</a:t>
            </a:r>
            <a:r>
              <a:rPr lang="en-GB" sz="1600" b="0" i="0" u="none" strike="noStrike" cap="none" dirty="0">
                <a:solidFill>
                  <a:srgbClr val="979797"/>
                </a:solidFill>
                <a:latin typeface="Calibri"/>
                <a:ea typeface="Calibri"/>
                <a:cs typeface="Calibri"/>
                <a:sym typeface="Calibri"/>
              </a:rPr>
              <a:t> (</a:t>
            </a:r>
            <a:r>
              <a:rPr lang="en-GB" sz="1600" b="0" i="0" u="none" strike="noStrike" cap="none" dirty="0" err="1">
                <a:solidFill>
                  <a:srgbClr val="979797"/>
                </a:solidFill>
                <a:latin typeface="Calibri"/>
                <a:ea typeface="Calibri"/>
                <a:cs typeface="Calibri"/>
                <a:sym typeface="Calibri"/>
              </a:rPr>
              <a:t>PrimitiveType.Cube</a:t>
            </a:r>
            <a:r>
              <a:rPr lang="en-GB" sz="1600" b="0" i="0" u="none" strike="noStrike" cap="none" dirty="0">
                <a:solidFill>
                  <a:srgbClr val="979797"/>
                </a:solidFill>
                <a:latin typeface="Calibri"/>
                <a:ea typeface="Calibri"/>
                <a:cs typeface="Calibri"/>
                <a:sym typeface="Calibri"/>
              </a:rPr>
              <a:t>);</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this.cube1.transform.localPosition = new Vector3 (0, 2, 0);</a:t>
            </a:r>
            <a:endParaRPr sz="1400" b="0" i="0" u="none" strike="noStrike" cap="none" dirty="0">
              <a:solidFill>
                <a:srgbClr val="000000"/>
              </a:solidFill>
              <a:latin typeface="Arial"/>
              <a:ea typeface="Arial"/>
              <a:cs typeface="Arial"/>
              <a:sym typeface="Arial"/>
            </a:endParaRPr>
          </a:p>
          <a:p>
            <a:pPr>
              <a:buSzPts val="1600"/>
            </a:pPr>
            <a:r>
              <a:rPr lang="en-GB" sz="1600" b="0" i="0" u="none" strike="noStrike" cap="none" dirty="0">
                <a:solidFill>
                  <a:srgbClr val="979797"/>
                </a:solidFill>
                <a:latin typeface="Calibri"/>
                <a:ea typeface="Calibri"/>
                <a:cs typeface="Calibri"/>
                <a:sym typeface="Calibri"/>
              </a:rPr>
              <a:t>	// initialize our Cube2 primitive and place it at location (3,2,0)</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 this.cube2 = </a:t>
            </a:r>
            <a:r>
              <a:rPr lang="en-GB" sz="1600" b="0" i="0" u="none" strike="noStrike" cap="none" dirty="0" err="1">
                <a:solidFill>
                  <a:srgbClr val="979797"/>
                </a:solidFill>
                <a:latin typeface="Calibri"/>
                <a:ea typeface="Calibri"/>
                <a:cs typeface="Calibri"/>
                <a:sym typeface="Calibri"/>
              </a:rPr>
              <a:t>GameObject.CreatePrimitive</a:t>
            </a:r>
            <a:r>
              <a:rPr lang="en-GB" sz="1600" b="0" i="0" u="none" strike="noStrike" cap="none" dirty="0">
                <a:solidFill>
                  <a:srgbClr val="979797"/>
                </a:solidFill>
                <a:latin typeface="Calibri"/>
                <a:ea typeface="Calibri"/>
                <a:cs typeface="Calibri"/>
                <a:sym typeface="Calibri"/>
              </a:rPr>
              <a:t> (</a:t>
            </a:r>
            <a:r>
              <a:rPr lang="en-GB" sz="1600" b="0" i="0" u="none" strike="noStrike" cap="none" dirty="0" err="1">
                <a:solidFill>
                  <a:srgbClr val="979797"/>
                </a:solidFill>
                <a:latin typeface="Calibri"/>
                <a:ea typeface="Calibri"/>
                <a:cs typeface="Calibri"/>
                <a:sym typeface="Calibri"/>
              </a:rPr>
              <a:t>PrimitiveType.Cube</a:t>
            </a:r>
            <a:r>
              <a:rPr lang="en-GB" sz="1600" b="0" i="0" u="none" strike="noStrike" cap="none" dirty="0">
                <a:solidFill>
                  <a:srgbClr val="979797"/>
                </a:solidFill>
                <a:latin typeface="Calibri"/>
                <a:ea typeface="Calibri"/>
                <a:cs typeface="Calibri"/>
                <a:sym typeface="Calibri"/>
              </a:rPr>
              <a:t>);</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this.cube2.transform.localPosition = new Vector3 (3, 2, 0);</a:t>
            </a:r>
            <a:endParaRPr sz="1400" b="0" i="0" u="none" strike="noStrike" cap="none" dirty="0">
              <a:solidFill>
                <a:srgbClr val="000000"/>
              </a:solidFill>
              <a:latin typeface="Arial"/>
              <a:ea typeface="Arial"/>
              <a:cs typeface="Arial"/>
              <a:sym typeface="Arial"/>
            </a:endParaRPr>
          </a:p>
          <a:p>
            <a:pPr>
              <a:buSzPts val="1600"/>
            </a:pPr>
            <a:r>
              <a:rPr lang="en-GB" sz="1600" b="0" i="0" u="none" strike="noStrike" cap="none" dirty="0">
                <a:solidFill>
                  <a:srgbClr val="979797"/>
                </a:solidFill>
                <a:latin typeface="Calibri"/>
                <a:ea typeface="Calibri"/>
                <a:cs typeface="Calibri"/>
                <a:sym typeface="Calibri"/>
              </a:rPr>
              <a:t>	// initialize our Cube3 primitive and place it at location (-3,2,0)</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this.cube3 = </a:t>
            </a:r>
            <a:r>
              <a:rPr lang="en-GB" sz="1600" b="0" i="0" u="none" strike="noStrike" cap="none" dirty="0" err="1">
                <a:solidFill>
                  <a:srgbClr val="979797"/>
                </a:solidFill>
                <a:latin typeface="Calibri"/>
                <a:ea typeface="Calibri"/>
                <a:cs typeface="Calibri"/>
                <a:sym typeface="Calibri"/>
              </a:rPr>
              <a:t>GameObject.CreatePrimitive</a:t>
            </a:r>
            <a:r>
              <a:rPr lang="en-GB" sz="1600" b="0" i="0" u="none" strike="noStrike" cap="none" dirty="0">
                <a:solidFill>
                  <a:srgbClr val="979797"/>
                </a:solidFill>
                <a:latin typeface="Calibri"/>
                <a:ea typeface="Calibri"/>
                <a:cs typeface="Calibri"/>
                <a:sym typeface="Calibri"/>
              </a:rPr>
              <a:t> (</a:t>
            </a:r>
            <a:r>
              <a:rPr lang="en-GB" sz="1600" b="0" i="0" u="none" strike="noStrike" cap="none" dirty="0" err="1">
                <a:solidFill>
                  <a:srgbClr val="979797"/>
                </a:solidFill>
                <a:latin typeface="Calibri"/>
                <a:ea typeface="Calibri"/>
                <a:cs typeface="Calibri"/>
                <a:sym typeface="Calibri"/>
              </a:rPr>
              <a:t>PrimitiveType.Cube</a:t>
            </a:r>
            <a:r>
              <a:rPr lang="en-GB" sz="1600" b="0" i="0" u="none" strike="noStrike" cap="none" dirty="0">
                <a:solidFill>
                  <a:srgbClr val="979797"/>
                </a:solidFill>
                <a:latin typeface="Calibri"/>
                <a:ea typeface="Calibri"/>
                <a:cs typeface="Calibri"/>
                <a:sym typeface="Calibri"/>
              </a:rPr>
              <a:t>);</a:t>
            </a:r>
            <a:br>
              <a:rPr lang="en-GB" sz="1600" b="0" i="0" u="none" strike="noStrike" cap="none" dirty="0">
                <a:latin typeface="Calibri"/>
                <a:ea typeface="Calibri"/>
                <a:cs typeface="Calibri"/>
              </a:rPr>
            </a:br>
            <a:r>
              <a:rPr lang="en-GB" sz="1600" dirty="0">
                <a:solidFill>
                  <a:srgbClr val="979797"/>
                </a:solidFill>
                <a:latin typeface="Calibri"/>
                <a:ea typeface="Calibri"/>
                <a:cs typeface="Calibri"/>
                <a:sym typeface="Calibri"/>
              </a:rPr>
              <a:t>  </a:t>
            </a:r>
            <a:r>
              <a:rPr lang="en-GB" sz="1600" b="0" i="0" u="none" strike="noStrike" cap="none" dirty="0">
                <a:solidFill>
                  <a:srgbClr val="979797"/>
                </a:solidFill>
                <a:latin typeface="Calibri"/>
                <a:ea typeface="Calibri"/>
                <a:cs typeface="Calibri"/>
                <a:sym typeface="Calibri"/>
              </a:rPr>
              <a:t> 	this.cube3.transform.localPosition = new Vector3 (-3, 2, 0);</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none" strike="noStrike" cap="none" dirty="0">
                <a:solidFill>
                  <a:srgbClr val="979797"/>
                </a:solidFill>
                <a:latin typeface="Calibri"/>
                <a:ea typeface="Calibri"/>
                <a:cs typeface="Calibri"/>
                <a:sym typeface="Calibri"/>
              </a:rPr>
              <a:t>	</a:t>
            </a:r>
            <a:r>
              <a:rPr lang="en-GB" sz="1600" b="0" i="0" u="none" strike="noStrike" cap="none" dirty="0" err="1">
                <a:solidFill>
                  <a:srgbClr val="979797"/>
                </a:solidFill>
                <a:latin typeface="Calibri"/>
                <a:ea typeface="Calibri"/>
                <a:cs typeface="Calibri"/>
                <a:sym typeface="Calibri"/>
              </a:rPr>
              <a:t>this.PRIMITIVES_CREATED</a:t>
            </a:r>
            <a:r>
              <a:rPr lang="en-GB" sz="1600" b="0" i="0" u="none" strike="noStrike" cap="none" dirty="0">
                <a:solidFill>
                  <a:srgbClr val="979797"/>
                </a:solidFill>
                <a:latin typeface="Calibri"/>
                <a:ea typeface="Calibri"/>
                <a:cs typeface="Calibri"/>
                <a:sym typeface="Calibri"/>
              </a:rPr>
              <a:t> = true;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1" i="0" u="none" strike="noStrike" cap="none" dirty="0">
                <a:solidFill>
                  <a:srgbClr val="979797"/>
                </a:solidFill>
                <a:latin typeface="Calibri"/>
                <a:ea typeface="Calibri"/>
                <a:cs typeface="Calibri"/>
                <a:sym typeface="Calibri"/>
              </a:rPr>
              <a:t>}</a:t>
            </a:r>
            <a:endParaRPr sz="1600" b="1" i="0" u="none" strike="noStrike" cap="none" dirty="0">
              <a:solidFill>
                <a:srgbClr val="FF0000"/>
              </a:solidFill>
              <a:latin typeface="Quattrocento Sans"/>
              <a:ea typeface="Quattrocento Sans"/>
              <a:cs typeface="Quattrocento Sans"/>
              <a:sym typeface="Quattrocento Sans"/>
            </a:endParaRPr>
          </a:p>
        </p:txBody>
      </p:sp>
      <p:pic>
        <p:nvPicPr>
          <p:cNvPr id="176" name="Google Shape;176;p23"/>
          <p:cNvPicPr preferRelativeResize="0"/>
          <p:nvPr/>
        </p:nvPicPr>
        <p:blipFill rotWithShape="1">
          <a:blip r:embed="rId4">
            <a:alphaModFix/>
          </a:blip>
          <a:srcRect/>
          <a:stretch/>
        </p:blipFill>
        <p:spPr>
          <a:xfrm>
            <a:off x="7192425" y="1421650"/>
            <a:ext cx="4603051" cy="4717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a6ae829b62_0_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7" name="Google Shape;167;ga6ae829b62_0_2"/>
          <p:cNvSpPr txBox="1"/>
          <p:nvPr/>
        </p:nvSpPr>
        <p:spPr>
          <a:xfrm>
            <a:off x="609600" y="1421650"/>
            <a:ext cx="11354400" cy="5262900"/>
          </a:xfrm>
          <a:prstGeom prst="rect">
            <a:avLst/>
          </a:prstGeom>
          <a:noFill/>
          <a:ln>
            <a:noFill/>
          </a:ln>
        </p:spPr>
        <p:txBody>
          <a:bodyPr spcFirstLastPara="1" wrap="square" lIns="91425" tIns="45700" rIns="91425" bIns="45700" anchor="t" anchorCtr="0">
            <a:no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b="0" i="0" u="none" strike="noStrike" cap="none" dirty="0">
                <a:solidFill>
                  <a:srgbClr val="000000"/>
                </a:solidFill>
                <a:latin typeface="Arial"/>
                <a:ea typeface="Arial"/>
                <a:cs typeface="Arial"/>
                <a:sym typeface="Arial"/>
              </a:rPr>
              <a:t> </a:t>
            </a:r>
            <a:r>
              <a:rPr lang="en-GB" sz="1800" dirty="0">
                <a:hlinkClick r:id="rId3"/>
              </a:rPr>
              <a:t>Noorcon Inc. - Unity 3D Game Programming Part 4 - Vahe Karamian.pdf</a:t>
            </a:r>
            <a:endParaRPr lang="en-US" sz="1800" b="1" i="0" u="none" strike="noStrike" cap="none">
              <a:solidFill>
                <a:srgbClr val="FFFF00"/>
              </a:solidFill>
              <a:latin typeface="Quattrocento Sans"/>
              <a:ea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dirty="0">
                <a:solidFill>
                  <a:srgbClr val="FFFF00"/>
                </a:solidFill>
                <a:latin typeface="Quattrocento Sans"/>
                <a:ea typeface="Quattrocento Sans"/>
                <a:cs typeface="Quattrocento Sans"/>
                <a:sym typeface="Quattrocento Sans"/>
              </a:rPr>
              <a:t>Text Readouts on Panels- Basic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using UnityEngine;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rgbClr val="FF0000"/>
                </a:solidFill>
                <a:latin typeface="Quattrocento Sans"/>
                <a:ea typeface="Quattrocento Sans"/>
                <a:cs typeface="Quattrocento Sans"/>
                <a:sym typeface="Quattrocento Sans"/>
              </a:rPr>
              <a:t>using </a:t>
            </a:r>
            <a:r>
              <a:rPr lang="en-GB" sz="800" b="0" i="0" u="none" strike="noStrike" cap="none" dirty="0" err="1">
                <a:solidFill>
                  <a:srgbClr val="FF0000"/>
                </a:solidFill>
                <a:latin typeface="Quattrocento Sans"/>
                <a:ea typeface="Quattrocento Sans"/>
                <a:cs typeface="Quattrocento Sans"/>
                <a:sym typeface="Quattrocento Sans"/>
              </a:rPr>
              <a:t>UnityEngine.UI</a:t>
            </a:r>
            <a:r>
              <a:rPr lang="en-GB" sz="800" b="0" i="0" u="none" strike="noStrike" cap="none" dirty="0">
                <a:solidFill>
                  <a:srgbClr val="FF0000"/>
                </a:solidFill>
                <a:latin typeface="Quattrocento Sans"/>
                <a:ea typeface="Quattrocento Sans"/>
                <a:cs typeface="Quattrocento Sans"/>
                <a:sym typeface="Quattrocento Sans"/>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using </a:t>
            </a:r>
            <a:r>
              <a:rPr lang="en-GB" sz="800" b="0" i="0" u="none" strike="noStrike" cap="none" dirty="0" err="1">
                <a:solidFill>
                  <a:schemeClr val="dk1"/>
                </a:solidFill>
                <a:latin typeface="Quattrocento Sans"/>
                <a:ea typeface="Quattrocento Sans"/>
                <a:cs typeface="Quattrocento Sans"/>
                <a:sym typeface="Quattrocento Sans"/>
              </a:rPr>
              <a:t>System.Collections</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public class cube1Rotate : </a:t>
            </a:r>
            <a:r>
              <a:rPr lang="en-GB" sz="800" b="0" i="0" u="none" strike="noStrike" cap="none" dirty="0" err="1">
                <a:solidFill>
                  <a:schemeClr val="dk1"/>
                </a:solidFill>
                <a:latin typeface="Quattrocento Sans"/>
                <a:ea typeface="Quattrocento Sans"/>
                <a:cs typeface="Quattrocento Sans"/>
                <a:sym typeface="Quattrocento Sans"/>
              </a:rPr>
              <a:t>MonoBehaviour</a:t>
            </a:r>
            <a:r>
              <a:rPr lang="en-GB" sz="800" b="0" i="0" u="none" strike="noStrike" cap="none" dirty="0">
                <a:solidFill>
                  <a:schemeClr val="dk1"/>
                </a:solidFill>
                <a:latin typeface="Quattrocento Sans"/>
                <a:ea typeface="Quattrocento Sans"/>
                <a:cs typeface="Quattrocento Sans"/>
                <a:sym typeface="Quattrocento Sans"/>
              </a:rPr>
              <a:t> {</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 variable to store Text UI Element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rgbClr val="FF0000"/>
                </a:solidFill>
                <a:latin typeface="Quattrocento Sans"/>
                <a:ea typeface="Quattrocento Sans"/>
                <a:cs typeface="Quattrocento Sans"/>
                <a:sym typeface="Quattrocento Sans"/>
              </a:rPr>
              <a:t>public Text lblCube1Position;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private string position = "";</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 Use this for initialization</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void Start () {</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 Update is called once per frame</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void Update () {</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 Rotate our game object around it's y-axis</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err="1">
                <a:solidFill>
                  <a:schemeClr val="dk1"/>
                </a:solidFill>
                <a:latin typeface="Quattrocento Sans"/>
                <a:ea typeface="Quattrocento Sans"/>
                <a:cs typeface="Quattrocento Sans"/>
                <a:sym typeface="Quattrocento Sans"/>
              </a:rPr>
              <a:t>transform.Rotate</a:t>
            </a:r>
            <a:r>
              <a:rPr lang="en-GB" sz="800" b="0" i="0" u="none" strike="noStrike" cap="none" dirty="0">
                <a:solidFill>
                  <a:schemeClr val="dk1"/>
                </a:solidFill>
                <a:latin typeface="Quattrocento Sans"/>
                <a:ea typeface="Quattrocento Sans"/>
                <a:cs typeface="Quattrocento Sans"/>
                <a:sym typeface="Quattrocento Sans"/>
              </a:rPr>
              <a:t> (new Vector3 (0, 1, 0), 1);</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if (this.lblCube1Position</a:t>
            </a:r>
            <a:r>
              <a:rPr lang="en-GB" sz="800" b="0" i="0" u="none" strike="noStrike" cap="none" dirty="0">
                <a:solidFill>
                  <a:schemeClr val="tx1"/>
                </a:solidFill>
                <a:latin typeface="Quattrocento Sans"/>
                <a:ea typeface="Quattrocento Sans"/>
                <a:cs typeface="Quattrocento Sans"/>
                <a:sym typeface="Quattrocento Sans"/>
              </a:rPr>
              <a:t> != null) {</a:t>
            </a:r>
            <a:endParaRPr lang="en-GB" sz="800" b="0" i="0" u="none" strike="noStrike" cap="none" dirty="0">
              <a:solidFill>
                <a:schemeClr val="tx1"/>
              </a:solidFill>
              <a:latin typeface="Quattrocento Sans"/>
            </a:endParaRPr>
          </a:p>
          <a:p>
            <a:pPr>
              <a:buSzPts val="800"/>
            </a:pPr>
            <a:r>
              <a:rPr lang="en-GB" sz="800" dirty="0">
                <a:solidFill>
                  <a:srgbClr val="92D050"/>
                </a:solidFill>
                <a:latin typeface="Quattrocento Sans"/>
                <a:ea typeface="Quattrocento Sans"/>
                <a:cs typeface="Quattrocento Sans"/>
              </a:rPr>
              <a:t>//F2 is float to string</a:t>
            </a:r>
          </a:p>
          <a:p>
            <a:pPr>
              <a:buSzPts val="800"/>
            </a:pPr>
            <a:r>
              <a:rPr lang="en-GB" sz="800" b="0" i="0" u="none" strike="noStrike" cap="none" dirty="0">
                <a:solidFill>
                  <a:srgbClr val="FF0000"/>
                </a:solidFill>
                <a:latin typeface="Quattrocento Sans"/>
                <a:ea typeface="Quattrocento Sans"/>
                <a:cs typeface="Quattrocento Sans"/>
                <a:sym typeface="Quattrocento Sans"/>
              </a:rPr>
              <a:t>position = </a:t>
            </a:r>
            <a:r>
              <a:rPr lang="en-GB" sz="800" b="0" i="0" u="none" strike="noStrike" cap="none" dirty="0" err="1">
                <a:solidFill>
                  <a:srgbClr val="FF0000"/>
                </a:solidFill>
                <a:latin typeface="Quattrocento Sans"/>
                <a:ea typeface="Quattrocento Sans"/>
                <a:cs typeface="Quattrocento Sans"/>
                <a:sym typeface="Quattrocento Sans"/>
              </a:rPr>
              <a:t>string.Format</a:t>
            </a:r>
            <a:r>
              <a:rPr lang="en-GB" sz="800" b="0" i="0" u="none" strike="noStrike" cap="none" dirty="0">
                <a:solidFill>
                  <a:srgbClr val="FF0000"/>
                </a:solidFill>
                <a:latin typeface="Quattrocento Sans"/>
                <a:ea typeface="Quattrocento Sans"/>
                <a:cs typeface="Quattrocento Sans"/>
                <a:sym typeface="Quattrocento Sans"/>
              </a:rPr>
              <a:t>("P:&lt;{0:F2},{1:F2},{2:F2}&gt;; R:&lt;{3:F2},{4:F2},{5:F2}&gt;",</a:t>
            </a:r>
            <a:r>
              <a:rPr lang="en-GB" sz="800" dirty="0">
                <a:solidFill>
                  <a:srgbClr val="FF0000"/>
                </a:solidFill>
                <a:latin typeface="Quattrocento Sans"/>
                <a:ea typeface="Quattrocento Sans"/>
                <a:cs typeface="Quattrocento Sans"/>
                <a:sym typeface="Quattrocento Sans"/>
              </a:rPr>
              <a:t> </a:t>
            </a:r>
            <a:endParaRPr lang="en-GB">
              <a:ea typeface="Quattrocento Sans"/>
              <a:sym typeface="Quattrocento Sans"/>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transform.localPosition.x</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transform.localPosition.y</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transform.localPosition.z</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transform.localEulerAngles.x</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transform.localEulerAngles.y</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a:buSzPts val="800"/>
            </a:pPr>
            <a:r>
              <a:rPr lang="en-GB" sz="800" dirty="0">
                <a:solidFill>
                  <a:schemeClr val="dk1"/>
                </a:solidFill>
                <a:latin typeface="Quattrocento Sans"/>
                <a:ea typeface="Quattrocento Sans"/>
                <a:cs typeface="Quattrocento Sans"/>
                <a:sym typeface="Quattrocento Sans"/>
              </a:rPr>
              <a:t>                               </a:t>
            </a:r>
            <a:r>
              <a:rPr lang="en-GB" sz="800" b="0" i="0" u="none" strike="noStrike" cap="none" dirty="0">
                <a:solidFill>
                  <a:schemeClr val="dk1"/>
                </a:solidFill>
                <a:latin typeface="Quattrocento Sans"/>
                <a:ea typeface="Quattrocento Sans"/>
                <a:cs typeface="Quattrocento Sans"/>
                <a:sym typeface="Quattrocento Sans"/>
              </a:rPr>
              <a:t> </a:t>
            </a:r>
            <a:r>
              <a:rPr lang="en-GB" sz="800" b="0" i="0" u="none" strike="noStrike" cap="none" dirty="0" err="1">
                <a:solidFill>
                  <a:schemeClr val="dk1"/>
                </a:solidFill>
                <a:latin typeface="Quattrocento Sans"/>
                <a:ea typeface="Quattrocento Sans"/>
                <a:cs typeface="Quattrocento Sans"/>
                <a:sym typeface="Quattrocento Sans"/>
              </a:rPr>
              <a:t>transform.localEulerAngles.z</a:t>
            </a: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rgbClr val="FF0000"/>
                </a:solidFill>
                <a:latin typeface="Quattrocento Sans"/>
                <a:ea typeface="Quattrocento Sans"/>
                <a:cs typeface="Quattrocento Sans"/>
                <a:sym typeface="Quattrocento Sans"/>
              </a:rPr>
              <a:t>this.lblCube1Position.text = position;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en-GB" sz="800" b="0" i="0" u="none" strike="noStrike" cap="none" dirty="0">
                <a:solidFill>
                  <a:schemeClr val="dk1"/>
                </a:solidFill>
                <a:latin typeface="Quattrocento Sans"/>
                <a:ea typeface="Quattrocento Sans"/>
                <a:cs typeface="Quattrocento Sans"/>
                <a:sym typeface="Quattrocento Sans"/>
              </a:rPr>
              <a:t>}</a:t>
            </a:r>
            <a:endParaRPr sz="800" b="1" i="0" u="none" strike="noStrike" cap="none" dirty="0">
              <a:solidFill>
                <a:schemeClr val="dk1"/>
              </a:solidFill>
              <a:latin typeface="Quattrocento Sans"/>
              <a:ea typeface="Quattrocento Sans"/>
              <a:cs typeface="Quattrocento Sans"/>
              <a:sym typeface="Quattrocento Sans"/>
            </a:endParaRPr>
          </a:p>
        </p:txBody>
      </p:sp>
      <p:pic>
        <p:nvPicPr>
          <p:cNvPr id="168" name="Google Shape;168;ga6ae829b62_0_2"/>
          <p:cNvPicPr preferRelativeResize="0"/>
          <p:nvPr/>
        </p:nvPicPr>
        <p:blipFill rotWithShape="1">
          <a:blip r:embed="rId4">
            <a:alphaModFix/>
          </a:blip>
          <a:srcRect/>
          <a:stretch/>
        </p:blipFill>
        <p:spPr>
          <a:xfrm>
            <a:off x="4745950" y="1884775"/>
            <a:ext cx="6787950" cy="4356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18E36E9-A55D-CB87-DB40-4FF6B70411D6}"/>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1ABC94F8-C433-6FAD-41D1-670EF376EAF3}"/>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CA497C0E-410F-3DDF-035A-37A0307A0EEF}"/>
              </a:ext>
            </a:extLst>
          </p:cNvPr>
          <p:cNvSpPr txBox="1"/>
          <p:nvPr/>
        </p:nvSpPr>
        <p:spPr>
          <a:xfrm>
            <a:off x="609600" y="1421650"/>
            <a:ext cx="11584437" cy="3908722"/>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lang="en-GB" sz="2400" b="0" i="1" u="none" strike="noStrike" cap="none" dirty="0">
              <a:solidFill>
                <a:srgbClr val="00B0F0"/>
              </a:solidFill>
              <a:latin typeface="Quattrocento Sans"/>
              <a:ea typeface="Arial"/>
              <a:cs typeface="Arial"/>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 7.1a Initialize (Spawn) Cubes from key </a:t>
            </a:r>
          </a:p>
          <a:p>
            <a:r>
              <a:rPr lang="en-GB" sz="2400" i="1" dirty="0">
                <a:solidFill>
                  <a:srgbClr val="00B0F0"/>
                </a:solidFill>
                <a:latin typeface="Quattrocento Sans"/>
              </a:rPr>
              <a:t> (with translate control by key)</a:t>
            </a:r>
            <a:endParaRPr lang="en-GB" dirty="0"/>
          </a:p>
          <a:p>
            <a:r>
              <a:rPr lang="en-GB" sz="2400" dirty="0">
                <a:solidFill>
                  <a:schemeClr val="bg2"/>
                </a:solidFill>
                <a:latin typeface="Quattrocento Sans"/>
              </a:rPr>
              <a:t> 7.1b Button Event Handling</a:t>
            </a:r>
            <a:r>
              <a:rPr lang="en-GB" sz="2400" dirty="0">
                <a:solidFill>
                  <a:srgbClr val="FFFF00"/>
                </a:solidFill>
                <a:latin typeface="Quattrocento Sans"/>
              </a:rPr>
              <a:t> (rather than Week 5 – </a:t>
            </a:r>
            <a:r>
              <a:rPr lang="en-GB" sz="2400" dirty="0" err="1">
                <a:solidFill>
                  <a:srgbClr val="FFFF00"/>
                </a:solidFill>
                <a:latin typeface="Quattrocento Sans"/>
              </a:rPr>
              <a:t>OnClick</a:t>
            </a:r>
            <a:r>
              <a:rPr lang="en-GB" sz="2400" dirty="0">
                <a:solidFill>
                  <a:srgbClr val="FFFF00"/>
                </a:solidFill>
                <a:latin typeface="Quattrocento Sans"/>
              </a:rPr>
              <a:t>)</a:t>
            </a:r>
            <a:endParaRPr lang="en-GB" dirty="0"/>
          </a:p>
          <a:p>
            <a:r>
              <a:rPr lang="en-GB" sz="2400" i="1" dirty="0">
                <a:solidFill>
                  <a:srgbClr val="00B0F0"/>
                </a:solidFill>
                <a:latin typeface="Quattrocento Sans"/>
              </a:rPr>
              <a:t> (Associated Functions must be public and void)</a:t>
            </a:r>
            <a:endParaRPr lang="en-GB" dirty="0"/>
          </a:p>
          <a:p>
            <a:r>
              <a:rPr lang="en-GB" sz="2400" dirty="0">
                <a:solidFill>
                  <a:schemeClr val="bg2"/>
                </a:solidFill>
                <a:latin typeface="Quattrocento Sans"/>
              </a:rPr>
              <a:t> 7.1c Button Event Handling on Instantiated Cube </a:t>
            </a:r>
            <a:r>
              <a:rPr lang="en-GB" sz="2400" dirty="0">
                <a:solidFill>
                  <a:srgbClr val="FFFF00"/>
                </a:solidFill>
                <a:latin typeface="Quattrocento Sans"/>
              </a:rPr>
              <a:t>(both above combined)</a:t>
            </a:r>
            <a:endParaRPr lang="en-GB" dirty="0">
              <a:solidFill>
                <a:srgbClr val="FFFF00"/>
              </a:solidFill>
            </a:endParaRPr>
          </a:p>
          <a:p>
            <a:r>
              <a:rPr lang="en-GB" sz="2400" dirty="0">
                <a:solidFill>
                  <a:schemeClr val="bg2"/>
                </a:solidFill>
                <a:latin typeface="Quattrocento Sans"/>
              </a:rPr>
              <a:t> 7.1d Instantiate Prefab</a:t>
            </a:r>
          </a:p>
          <a:p>
            <a:endParaRPr lang="en-GB" sz="2400" dirty="0">
              <a:solidFill>
                <a:schemeClr val="bg2"/>
              </a:solidFill>
              <a:ea typeface="Quattrocento Sans"/>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226813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2EDD8DA-D436-E32B-E3C4-EB68080D79C5}"/>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4C2CEBF8-BC68-92DB-5CC3-E954AD59CB1D}"/>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42EE9C9F-2CF3-E84A-27B3-1899DA73D8E0}"/>
              </a:ext>
            </a:extLst>
          </p:cNvPr>
          <p:cNvSpPr txBox="1"/>
          <p:nvPr/>
        </p:nvSpPr>
        <p:spPr>
          <a:xfrm>
            <a:off x="609600" y="1421650"/>
            <a:ext cx="11584437" cy="2800726"/>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lang="en-GB" sz="2400" b="0" i="1" u="none" strike="noStrike" cap="none" dirty="0">
              <a:solidFill>
                <a:srgbClr val="00B0F0"/>
              </a:solidFill>
              <a:latin typeface="Quattrocento Sans"/>
              <a:ea typeface="Arial"/>
              <a:cs typeface="Arial"/>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 7.1a Initialize (Spawn) Cubes from key </a:t>
            </a:r>
          </a:p>
          <a:p>
            <a:r>
              <a:rPr lang="en-GB" sz="2400" i="1" dirty="0">
                <a:solidFill>
                  <a:srgbClr val="00B0F0"/>
                </a:solidFill>
                <a:latin typeface="Quattrocento Sans"/>
              </a:rPr>
              <a:t> (with translate control by key)</a:t>
            </a:r>
            <a:endParaRPr lang="en-GB" dirty="0"/>
          </a:p>
          <a:p>
            <a:endParaRPr lang="en-GB" sz="2400" dirty="0">
              <a:solidFill>
                <a:srgbClr val="FFFF00"/>
              </a:solidFill>
              <a:latin typeface="Quattrocento Sans"/>
            </a:endParaRPr>
          </a:p>
          <a:p>
            <a:endParaRPr lang="en-GB" sz="2400" dirty="0">
              <a:solidFill>
                <a:schemeClr val="bg2"/>
              </a:solidFill>
              <a:ea typeface="Quattrocento Sans"/>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475125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82C33D2-32ED-0C81-2F92-9A39EB8BE02C}"/>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CD0EEABF-774C-12AE-4070-63BA876CA11E}"/>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12B0170B-A324-4E80-01E0-594BD2D8A136}"/>
              </a:ext>
            </a:extLst>
          </p:cNvPr>
          <p:cNvSpPr txBox="1"/>
          <p:nvPr/>
        </p:nvSpPr>
        <p:spPr>
          <a:xfrm>
            <a:off x="609600" y="1421650"/>
            <a:ext cx="11584437" cy="2800726"/>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lang="en-GB" sz="2400" b="0" i="1" u="none" strike="noStrike" cap="none" dirty="0">
              <a:solidFill>
                <a:srgbClr val="00B0F0"/>
              </a:solidFill>
              <a:latin typeface="Quattrocento Sans"/>
              <a:ea typeface="Arial"/>
              <a:cs typeface="Arial"/>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 7.1b Button Event Handling</a:t>
            </a:r>
            <a:r>
              <a:rPr lang="en-GB" sz="2400" dirty="0">
                <a:solidFill>
                  <a:srgbClr val="FFFF00"/>
                </a:solidFill>
                <a:latin typeface="Quattrocento Sans"/>
              </a:rPr>
              <a:t> (rather than Week 5 – </a:t>
            </a:r>
            <a:r>
              <a:rPr lang="en-GB" sz="2400" dirty="0" err="1">
                <a:solidFill>
                  <a:srgbClr val="FFFF00"/>
                </a:solidFill>
                <a:latin typeface="Quattrocento Sans"/>
              </a:rPr>
              <a:t>OnClick</a:t>
            </a:r>
            <a:r>
              <a:rPr lang="en-GB" sz="2400" dirty="0">
                <a:solidFill>
                  <a:srgbClr val="FFFF00"/>
                </a:solidFill>
                <a:latin typeface="Quattrocento Sans"/>
              </a:rPr>
              <a:t>)</a:t>
            </a:r>
            <a:endParaRPr lang="en-GB" dirty="0"/>
          </a:p>
          <a:p>
            <a:r>
              <a:rPr lang="en-GB" sz="2400" i="1" dirty="0">
                <a:solidFill>
                  <a:srgbClr val="00B0F0"/>
                </a:solidFill>
                <a:latin typeface="Quattrocento Sans"/>
              </a:rPr>
              <a:t> (Associated Functions must be public and void)</a:t>
            </a:r>
            <a:endParaRPr lang="en-GB" dirty="0"/>
          </a:p>
          <a:p>
            <a:endParaRPr lang="en-GB" sz="2400" dirty="0">
              <a:solidFill>
                <a:srgbClr val="FFFF00"/>
              </a:solidFill>
              <a:latin typeface="Quattrocento Sans"/>
            </a:endParaRPr>
          </a:p>
          <a:p>
            <a:endParaRPr lang="en-GB" sz="2400" dirty="0">
              <a:solidFill>
                <a:schemeClr val="bg2"/>
              </a:solidFill>
              <a:ea typeface="Quattrocento Sans"/>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2014297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D53AC2B-6A20-BD5B-81F4-5E563FB93C0D}"/>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71EC7ED7-FF94-4F5B-6268-9A885ED65320}"/>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08286E7E-55D8-268A-5F18-8689622E24DE}"/>
              </a:ext>
            </a:extLst>
          </p:cNvPr>
          <p:cNvSpPr txBox="1"/>
          <p:nvPr/>
        </p:nvSpPr>
        <p:spPr>
          <a:xfrm>
            <a:off x="609600" y="1421650"/>
            <a:ext cx="11584437" cy="2062063"/>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lang="en-GB" sz="2400" b="0" i="1" u="none" strike="noStrike" cap="none" dirty="0">
              <a:solidFill>
                <a:srgbClr val="00B0F0"/>
              </a:solidFill>
              <a:latin typeface="Quattrocento Sans"/>
              <a:ea typeface="Arial"/>
              <a:cs typeface="Arial"/>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 7.1c Button Event Handling on Instantiated Cube </a:t>
            </a:r>
            <a:r>
              <a:rPr lang="en-GB" sz="2400" dirty="0">
                <a:solidFill>
                  <a:srgbClr val="FFFF00"/>
                </a:solidFill>
                <a:latin typeface="Quattrocento Sans"/>
              </a:rPr>
              <a:t>(both above combined)</a:t>
            </a:r>
            <a:endParaRPr lang="en-GB" dirty="0">
              <a:solidFill>
                <a:srgbClr val="FFFF00"/>
              </a:solidFill>
            </a:endParaRPr>
          </a:p>
          <a:p>
            <a:endParaRPr lang="en-GB" sz="2400" dirty="0">
              <a:solidFill>
                <a:schemeClr val="bg2"/>
              </a:solidFill>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3434484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84282CA-C74C-4971-775A-B84DDFC567CC}"/>
            </a:ext>
          </a:extLst>
        </p:cNvPr>
        <p:cNvGrpSpPr/>
        <p:nvPr/>
      </p:nvGrpSpPr>
      <p:grpSpPr>
        <a:xfrm>
          <a:off x="0" y="0"/>
          <a:ext cx="0" cy="0"/>
          <a:chOff x="0" y="0"/>
          <a:chExt cx="0" cy="0"/>
        </a:xfrm>
      </p:grpSpPr>
      <p:sp>
        <p:nvSpPr>
          <p:cNvPr id="159" name="Google Shape;159;p21">
            <a:extLst>
              <a:ext uri="{FF2B5EF4-FFF2-40B4-BE49-F238E27FC236}">
                <a16:creationId xmlns:a16="http://schemas.microsoft.com/office/drawing/2014/main" id="{05EEAAAC-00D9-CA2D-9367-E8759960DA3B}"/>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60" name="Google Shape;160;p21">
            <a:extLst>
              <a:ext uri="{FF2B5EF4-FFF2-40B4-BE49-F238E27FC236}">
                <a16:creationId xmlns:a16="http://schemas.microsoft.com/office/drawing/2014/main" id="{899B5922-146D-59A2-34CE-31404E4213CA}"/>
              </a:ext>
            </a:extLst>
          </p:cNvPr>
          <p:cNvSpPr txBox="1"/>
          <p:nvPr/>
        </p:nvSpPr>
        <p:spPr>
          <a:xfrm>
            <a:off x="609600" y="1421650"/>
            <a:ext cx="11584437" cy="2062063"/>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Tutorial </a:t>
            </a:r>
            <a:r>
              <a:rPr lang="en-GB" sz="2400" b="1" dirty="0">
                <a:solidFill>
                  <a:srgbClr val="FFFF00"/>
                </a:solidFill>
                <a:latin typeface="Quattrocento Sans"/>
                <a:ea typeface="Quattrocento Sans"/>
                <a:cs typeface="Quattrocento Sans"/>
                <a:sym typeface="Quattrocento Sans"/>
              </a:rPr>
              <a:t>7.1</a:t>
            </a:r>
            <a:r>
              <a:rPr lang="en-GB" sz="2400" b="1" i="0" u="none" strike="noStrike" cap="none" dirty="0">
                <a:solidFill>
                  <a:srgbClr val="FFFF00"/>
                </a:solidFill>
                <a:latin typeface="Quattrocento Sans"/>
                <a:ea typeface="Quattrocento Sans"/>
                <a:cs typeface="Quattrocento Sans"/>
                <a:sym typeface="Quattrocento Sans"/>
              </a:rPr>
              <a:t> Unity UI HUD</a:t>
            </a:r>
            <a:r>
              <a:rPr lang="en-GB" sz="2400" dirty="0">
                <a:ea typeface="Quattrocento Sans"/>
              </a:rPr>
              <a:t> </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Font typeface="Arial"/>
              <a:buNone/>
            </a:pPr>
            <a:endParaRPr lang="en-GB" sz="2400" b="0" i="1" u="none" strike="noStrike" cap="none" dirty="0">
              <a:solidFill>
                <a:srgbClr val="00B0F0"/>
              </a:solidFill>
              <a:latin typeface="Quattrocento Sans"/>
              <a:ea typeface="Arial"/>
              <a:cs typeface="Arial"/>
            </a:endParaRPr>
          </a:p>
          <a:p>
            <a:r>
              <a:rPr lang="en-GB" sz="2400" dirty="0">
                <a:solidFill>
                  <a:schemeClr val="bg2"/>
                </a:solidFill>
                <a:latin typeface="Quattrocento Sans"/>
              </a:rPr>
              <a:t>Extras</a:t>
            </a:r>
            <a:endParaRPr lang="en-GB" dirty="0">
              <a:solidFill>
                <a:schemeClr val="bg2"/>
              </a:solidFill>
            </a:endParaRPr>
          </a:p>
          <a:p>
            <a:r>
              <a:rPr lang="en-GB" sz="2400" dirty="0">
                <a:solidFill>
                  <a:schemeClr val="bg2"/>
                </a:solidFill>
                <a:latin typeface="Quattrocento Sans"/>
              </a:rPr>
              <a:t> 7.1d Instantiate Prefab</a:t>
            </a:r>
          </a:p>
          <a:p>
            <a:endParaRPr lang="en-GB" sz="2400" dirty="0">
              <a:solidFill>
                <a:srgbClr val="FFFFFF"/>
              </a:solidFill>
              <a:ea typeface="Quattrocento Sans"/>
            </a:endParaRPr>
          </a:p>
          <a:p>
            <a:pPr>
              <a:buSzPts val="800"/>
            </a:pPr>
            <a:endParaRPr lang="en-GB" sz="800" b="1">
              <a:solidFill>
                <a:srgbClr val="FFFF00"/>
              </a:solidFill>
              <a:latin typeface="Quattrocento Sans"/>
              <a:ea typeface="Quattrocento Sans"/>
            </a:endParaRPr>
          </a:p>
        </p:txBody>
      </p:sp>
    </p:spTree>
    <p:extLst>
      <p:ext uri="{BB962C8B-B14F-4D97-AF65-F5344CB8AC3E}">
        <p14:creationId xmlns:p14="http://schemas.microsoft.com/office/powerpoint/2010/main" val="3265752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a6ae829b62_0_12"/>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83" name="Google Shape;183;ga6ae829b62_0_12"/>
          <p:cNvSpPr txBox="1"/>
          <p:nvPr/>
        </p:nvSpPr>
        <p:spPr>
          <a:xfrm>
            <a:off x="609600" y="1421654"/>
            <a:ext cx="10890600" cy="5570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a:solidFill>
                  <a:srgbClr val="FFFF00"/>
                </a:solidFill>
                <a:latin typeface="Quattrocento Sans"/>
                <a:ea typeface="Quattrocento Sans"/>
                <a:cs typeface="Quattrocento Sans"/>
                <a:sym typeface="Quattrocento Sans"/>
              </a:rPr>
              <a:t>We can continue with Unity UI with extra features in the next tutorials &gt;&gt;&gt;</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99" name="Google Shape;199;p22"/>
          <p:cNvSpPr txBox="1"/>
          <p:nvPr/>
        </p:nvSpPr>
        <p:spPr>
          <a:xfrm>
            <a:off x="609600" y="1406650"/>
            <a:ext cx="10890738" cy="52013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dirty="0">
                <a:solidFill>
                  <a:srgbClr val="FFFF00"/>
                </a:solidFill>
                <a:latin typeface="Quattrocento Sans"/>
                <a:ea typeface="Quattrocento Sans"/>
                <a:cs typeface="Quattrocento Sans"/>
                <a:sym typeface="Quattrocento Sans"/>
              </a:rPr>
              <a:t>Extra - Tutorial </a:t>
            </a:r>
            <a:r>
              <a:rPr lang="en-GB" sz="2400" b="1" dirty="0">
                <a:solidFill>
                  <a:srgbClr val="FFFF00"/>
                </a:solidFill>
                <a:latin typeface="Quattrocento Sans"/>
                <a:ea typeface="Quattrocento Sans"/>
                <a:cs typeface="Quattrocento Sans"/>
                <a:sym typeface="Quattrocento Sans"/>
              </a:rPr>
              <a:t>7.2</a:t>
            </a:r>
            <a:r>
              <a:rPr lang="en-GB" sz="2400" b="1" i="0" u="none" strike="noStrike" cap="none" dirty="0">
                <a:solidFill>
                  <a:srgbClr val="FFFF00"/>
                </a:solidFill>
                <a:latin typeface="Quattrocento Sans"/>
                <a:ea typeface="Quattrocento Sans"/>
                <a:cs typeface="Quattrocento Sans"/>
                <a:sym typeface="Quattrocento Sans"/>
              </a:rPr>
              <a:t> Unity UI HUD Text Readout Score – Simplified</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dirty="0">
                <a:solidFill>
                  <a:schemeClr val="dk2"/>
                </a:solidFill>
                <a:latin typeface="Quattrocento Sans"/>
                <a:ea typeface="Quattrocento Sans"/>
                <a:cs typeface="Quattrocento Sans"/>
                <a:sym typeface="Quattrocento Sans"/>
              </a:rPr>
              <a:t>UI Cookbook chapter 2</a:t>
            </a:r>
            <a:endParaRPr sz="20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2"/>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1. Make UI/Text – call it “Score Counter”</a:t>
            </a:r>
            <a:endParaRPr sz="1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2. Add Component/Script</a:t>
            </a:r>
            <a:endParaRPr sz="1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3. Create Text “</a:t>
            </a:r>
            <a:r>
              <a:rPr lang="en-GB" sz="1800" b="1" i="0" u="none" strike="noStrike" cap="none" dirty="0" err="1">
                <a:solidFill>
                  <a:srgbClr val="FFFF00"/>
                </a:solidFill>
                <a:latin typeface="Quattrocento Sans"/>
                <a:ea typeface="Quattrocento Sans"/>
                <a:cs typeface="Quattrocento Sans"/>
                <a:sym typeface="Quattrocento Sans"/>
              </a:rPr>
              <a:t>uiText</a:t>
            </a:r>
            <a:r>
              <a:rPr lang="en-GB" sz="1800" b="1" i="0" u="none" strike="noStrike" cap="none" dirty="0">
                <a:solidFill>
                  <a:srgbClr val="FFFF00"/>
                </a:solidFill>
                <a:latin typeface="Quattrocento Sans"/>
                <a:ea typeface="Quattrocento Sans"/>
                <a:cs typeface="Quattrocento Sans"/>
                <a:sym typeface="Quattrocento Sans"/>
              </a:rPr>
              <a:t>” and “score” variables</a:t>
            </a:r>
            <a:endParaRPr sz="1200" b="0" i="0" u="none" strike="noStrike" cap="none">
              <a:solidFill>
                <a:srgbClr val="000000"/>
              </a:solidFill>
              <a:latin typeface="Arial"/>
              <a:ea typeface="Arial"/>
              <a:cs typeface="Arial"/>
              <a:sym typeface="Arial"/>
            </a:endParaRPr>
          </a:p>
          <a:p>
            <a:pPr>
              <a:buSzPts val="1400"/>
            </a:pPr>
            <a:r>
              <a:rPr lang="en-GB" sz="1400" b="0" i="0" u="none" strike="noStrike" cap="none" dirty="0">
                <a:solidFill>
                  <a:schemeClr val="dk1"/>
                </a:solidFill>
                <a:latin typeface="Quattrocento Sans"/>
                <a:ea typeface="Quattrocento Sans"/>
                <a:cs typeface="Quattrocento Sans"/>
                <a:sym typeface="Quattrocento Sans"/>
              </a:rPr>
              <a:t>private Text </a:t>
            </a:r>
            <a:r>
              <a:rPr lang="en-GB" sz="1400" b="0" i="0" u="none" strike="noStrike" cap="none" dirty="0" err="1">
                <a:solidFill>
                  <a:schemeClr val="dk1"/>
                </a:solidFill>
                <a:latin typeface="Quattrocento Sans"/>
                <a:ea typeface="Quattrocento Sans"/>
                <a:cs typeface="Quattrocento Sans"/>
                <a:sym typeface="Quattrocento Sans"/>
              </a:rPr>
              <a:t>uiText</a:t>
            </a:r>
            <a:r>
              <a:rPr lang="en-GB" sz="1400" b="0" i="0" u="none" strike="noStrike" cap="none" dirty="0">
                <a:solidFill>
                  <a:schemeClr val="dk1"/>
                </a:solidFill>
                <a:latin typeface="Quattrocento Sans"/>
                <a:ea typeface="Quattrocento Sans"/>
                <a:cs typeface="Quattrocento Sans"/>
                <a:sym typeface="Quattrocento Sans"/>
              </a:rPr>
              <a:t>;</a:t>
            </a:r>
            <a:r>
              <a:rPr lang="en-GB" dirty="0">
                <a:solidFill>
                  <a:schemeClr val="dk1"/>
                </a:solidFill>
                <a:latin typeface="Quattrocento Sans"/>
                <a:ea typeface="Quattrocento Sans"/>
                <a:cs typeface="Quattrocento Sans"/>
                <a:sym typeface="Quattrocento Sans"/>
              </a:rPr>
              <a:t> </a:t>
            </a:r>
            <a:endParaRPr lang="en-GB" sz="1200">
              <a:ea typeface="Quattrocento Sans"/>
              <a:sym typeface="Quattrocento Sans"/>
            </a:endParaRPr>
          </a:p>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chemeClr val="dk1"/>
                </a:solidFill>
                <a:latin typeface="Quattrocento Sans"/>
                <a:ea typeface="Quattrocento Sans"/>
                <a:cs typeface="Quattrocento Sans"/>
                <a:sym typeface="Quattrocento Sans"/>
              </a:rPr>
              <a:t>private long score = 0;</a:t>
            </a:r>
            <a:endParaRPr sz="1400" b="1"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800"/>
              <a:buFont typeface="Arial"/>
              <a:buNone/>
            </a:pPr>
            <a:r>
              <a:rPr lang="en-GB" sz="1800" b="1" i="1" u="none" strike="noStrike" cap="none" dirty="0">
                <a:solidFill>
                  <a:srgbClr val="FFFF00"/>
                </a:solidFill>
                <a:latin typeface="Quattrocento Sans"/>
                <a:ea typeface="Quattrocento Sans"/>
                <a:cs typeface="Quattrocento Sans"/>
                <a:sym typeface="Quattrocento Sans"/>
              </a:rPr>
              <a:t>4. In Start – </a:t>
            </a:r>
            <a:r>
              <a:rPr lang="en-GB" sz="1800" b="1" i="1" u="none" strike="noStrike" cap="none" dirty="0" err="1">
                <a:solidFill>
                  <a:srgbClr val="FFFF00"/>
                </a:solidFill>
                <a:latin typeface="Quattrocento Sans"/>
                <a:ea typeface="Quattrocento Sans"/>
                <a:cs typeface="Quattrocento Sans"/>
                <a:sym typeface="Quattrocento Sans"/>
              </a:rPr>
              <a:t>uiText</a:t>
            </a:r>
            <a:r>
              <a:rPr lang="en-GB" sz="1800" b="1" i="1" u="none" strike="noStrike" cap="none" dirty="0">
                <a:solidFill>
                  <a:srgbClr val="FFFF00"/>
                </a:solidFill>
                <a:latin typeface="Quattrocento Sans"/>
                <a:ea typeface="Quattrocento Sans"/>
                <a:cs typeface="Quattrocento Sans"/>
                <a:sym typeface="Quattrocento Sans"/>
              </a:rPr>
              <a:t> = </a:t>
            </a:r>
            <a:r>
              <a:rPr lang="en-GB" sz="1800" b="1" i="1" u="none" strike="noStrike" cap="none" dirty="0" err="1">
                <a:solidFill>
                  <a:srgbClr val="FFFF00"/>
                </a:solidFill>
                <a:latin typeface="Quattrocento Sans"/>
                <a:ea typeface="Quattrocento Sans"/>
                <a:cs typeface="Quattrocento Sans"/>
                <a:sym typeface="Quattrocento Sans"/>
              </a:rPr>
              <a:t>GetComponent</a:t>
            </a:r>
            <a:r>
              <a:rPr lang="en-GB" sz="1800" b="1" i="1" u="none" strike="noStrike" cap="none" dirty="0">
                <a:solidFill>
                  <a:srgbClr val="FFFF00"/>
                </a:solidFill>
                <a:latin typeface="Quattrocento Sans"/>
                <a:ea typeface="Quattrocento Sans"/>
                <a:cs typeface="Quattrocento Sans"/>
                <a:sym typeface="Quattrocento Sans"/>
              </a:rPr>
              <a:t>&lt;Text&gt;();</a:t>
            </a:r>
            <a:endParaRPr sz="1200" b="0" i="1" u="none" strike="noStrike" cap="none">
              <a:solidFill>
                <a:schemeClr val="dk1"/>
              </a:solidFill>
              <a:latin typeface="Quattrocento Sans"/>
              <a:ea typeface="Quattrocento Sans"/>
              <a:cs typeface="Quattrocento Sans"/>
              <a:sym typeface="Quattrocento Sans"/>
            </a:endParaRPr>
          </a:p>
          <a:p>
            <a:pPr>
              <a:buSzPts val="1200"/>
            </a:pPr>
            <a:r>
              <a:rPr lang="en-GB" sz="1200" b="0" i="0" u="none" strike="noStrike" cap="none" dirty="0">
                <a:solidFill>
                  <a:schemeClr val="dk1"/>
                </a:solidFill>
                <a:latin typeface="Quattrocento Sans"/>
                <a:ea typeface="Quattrocento Sans"/>
                <a:cs typeface="Quattrocento Sans"/>
                <a:sym typeface="Quattrocento Sans"/>
              </a:rPr>
              <a:t>void Start () {</a:t>
            </a:r>
            <a:r>
              <a:rPr lang="en-GB" sz="1200" dirty="0">
                <a:solidFill>
                  <a:schemeClr val="dk1"/>
                </a:solidFill>
                <a:latin typeface="Quattrocento Sans"/>
                <a:ea typeface="Quattrocento Sans"/>
                <a:cs typeface="Quattrocento Sans"/>
                <a:sym typeface="Quattrocento Sans"/>
              </a:rPr>
              <a:t> </a:t>
            </a:r>
            <a:endParaRPr sz="1200" b="0" i="0" u="none" strike="noStrike" cap="none">
              <a:solidFill>
                <a:srgbClr val="000000"/>
              </a:solidFill>
              <a:latin typeface="Arial"/>
              <a:ea typeface="Arial"/>
              <a:cs typeface="Arial"/>
              <a:sym typeface="Arial"/>
            </a:endParaRPr>
          </a:p>
          <a:p>
            <a:pPr>
              <a:buSzPts val="1200"/>
            </a:pPr>
            <a:r>
              <a:rPr lang="en-GB" sz="1200" b="0" i="0" u="none" strike="noStrike" cap="none" dirty="0" err="1">
                <a:solidFill>
                  <a:schemeClr val="dk1"/>
                </a:solidFill>
                <a:latin typeface="Quattrocento Sans"/>
                <a:ea typeface="Quattrocento Sans"/>
                <a:cs typeface="Quattrocento Sans"/>
                <a:sym typeface="Quattrocento Sans"/>
              </a:rPr>
              <a:t>uiText</a:t>
            </a:r>
            <a:r>
              <a:rPr lang="en-GB" sz="1200" b="0" i="0" u="none" strike="noStrike" cap="none" dirty="0">
                <a:solidFill>
                  <a:schemeClr val="dk1"/>
                </a:solidFill>
                <a:latin typeface="Quattrocento Sans"/>
                <a:ea typeface="Quattrocento Sans"/>
                <a:cs typeface="Quattrocento Sans"/>
                <a:sym typeface="Quattrocento Sans"/>
              </a:rPr>
              <a:t> = </a:t>
            </a:r>
            <a:r>
              <a:rPr lang="en-GB" sz="1200" b="0" i="0" u="none" strike="noStrike" cap="none" dirty="0" err="1">
                <a:solidFill>
                  <a:schemeClr val="dk1"/>
                </a:solidFill>
                <a:latin typeface="Quattrocento Sans"/>
                <a:ea typeface="Quattrocento Sans"/>
                <a:cs typeface="Quattrocento Sans"/>
                <a:sym typeface="Quattrocento Sans"/>
              </a:rPr>
              <a:t>this.GetComponent</a:t>
            </a:r>
            <a:r>
              <a:rPr lang="en-GB" sz="1200" b="0" i="0" u="none" strike="noStrike" cap="none" dirty="0">
                <a:solidFill>
                  <a:schemeClr val="dk1"/>
                </a:solidFill>
                <a:latin typeface="Quattrocento Sans"/>
                <a:ea typeface="Quattrocento Sans"/>
                <a:cs typeface="Quattrocento Sans"/>
                <a:sym typeface="Quattrocento Sans"/>
              </a:rPr>
              <a:t>&lt;Text&gt; ();</a:t>
            </a:r>
            <a:r>
              <a:rPr lang="en-GB" sz="1200" dirty="0">
                <a:solidFill>
                  <a:schemeClr val="dk1"/>
                </a:solidFill>
                <a:latin typeface="Quattrocento Sans"/>
                <a:ea typeface="Quattrocento Sans"/>
                <a:cs typeface="Quattrocento Sans"/>
                <a:sym typeface="Quattrocento Sans"/>
              </a:rPr>
              <a:t> </a:t>
            </a:r>
            <a:endParaRPr sz="1200" b="0" i="0" u="none" strike="noStrike" cap="none">
              <a:solidFill>
                <a:srgbClr val="000000"/>
              </a:solidFill>
              <a:latin typeface="Arial"/>
              <a:ea typeface="Arial"/>
              <a:cs typeface="Arial"/>
              <a:sym typeface="Arial"/>
            </a:endParaRPr>
          </a:p>
          <a:p>
            <a:pPr>
              <a:buSzPts val="1200"/>
            </a:pP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 ();</a:t>
            </a:r>
            <a:r>
              <a:rPr lang="en-GB" sz="1200" dirty="0">
                <a:solidFill>
                  <a:schemeClr val="dk1"/>
                </a:solidFill>
                <a:latin typeface="Quattrocento Sans"/>
                <a:ea typeface="Quattrocento Sans"/>
                <a:cs typeface="Quattrocento Sans"/>
                <a:sym typeface="Quattrocento Sans"/>
              </a:rPr>
              <a:t> </a:t>
            </a:r>
            <a:endParaRPr sz="1200" b="0" i="0" u="none" strike="noStrike" cap="none">
              <a:solidFill>
                <a:srgbClr val="000000"/>
              </a:solidFill>
              <a:latin typeface="Arial"/>
              <a:ea typeface="Arial"/>
              <a:cs typeface="Arial"/>
              <a:sym typeface="Arial"/>
            </a:endParaRPr>
          </a:p>
          <a:p>
            <a:pPr>
              <a:buSzPts val="1200"/>
            </a:pPr>
            <a:r>
              <a:rPr lang="en-GB" sz="1200" b="0" i="0" u="none" strike="noStrike" cap="none" dirty="0">
                <a:solidFill>
                  <a:schemeClr val="dk1"/>
                </a:solidFill>
                <a:latin typeface="Quattrocento Sans"/>
                <a:ea typeface="Quattrocento Sans"/>
                <a:cs typeface="Quattrocento Sans"/>
                <a:sym typeface="Quattrocento Sans"/>
              </a:rPr>
              <a:t>}</a:t>
            </a:r>
            <a:r>
              <a:rPr lang="en-GB" sz="1200" dirty="0">
                <a:solidFill>
                  <a:schemeClr val="dk1"/>
                </a:solidFill>
                <a:latin typeface="Quattrocento Sans"/>
                <a:ea typeface="Quattrocento Sans"/>
                <a:cs typeface="Quattrocento Sans"/>
                <a:sym typeface="Quattrocento Sans"/>
              </a:rPr>
              <a:t>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5. Add Points (run script when key is pressed - remember how to do this?)</a:t>
            </a:r>
            <a:endParaRPr sz="12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public void </a:t>
            </a:r>
            <a:r>
              <a:rPr lang="en-GB" sz="1200" b="0" i="0" u="none" strike="noStrike" cap="none" dirty="0" err="1">
                <a:solidFill>
                  <a:schemeClr val="dk1"/>
                </a:solidFill>
                <a:latin typeface="Quattrocento Sans"/>
                <a:ea typeface="Quattrocento Sans"/>
                <a:cs typeface="Quattrocento Sans"/>
                <a:sym typeface="Quattrocento Sans"/>
              </a:rPr>
              <a:t>addPoints</a:t>
            </a:r>
            <a:r>
              <a:rPr lang="en-GB" sz="1200" b="0" i="0" u="none" strike="noStrike" cap="none" dirty="0">
                <a:solidFill>
                  <a:schemeClr val="dk1"/>
                </a:solidFill>
                <a:latin typeface="Quattrocento Sans"/>
                <a:ea typeface="Quattrocento Sans"/>
                <a:cs typeface="Quattrocento Sans"/>
                <a:sym typeface="Quattrocento Sans"/>
              </a:rPr>
              <a:t>(int points){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score += points;</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 ();</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FFFF00"/>
                </a:solidFill>
                <a:latin typeface="Quattrocento Sans"/>
                <a:ea typeface="Quattrocento Sans"/>
                <a:cs typeface="Quattrocento Sans"/>
                <a:sym typeface="Quattrocento Sans"/>
              </a:rPr>
              <a:t>6. Method outside of update</a:t>
            </a:r>
            <a:endParaRPr sz="1200" b="0" i="0" u="none" strike="noStrike" cap="none">
              <a:solidFill>
                <a:srgbClr val="FFFFFF"/>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private void </a:t>
            </a:r>
            <a:r>
              <a:rPr lang="en-GB" sz="1200" b="0" i="0" u="none" strike="noStrike" cap="none" dirty="0" err="1">
                <a:solidFill>
                  <a:schemeClr val="dk1"/>
                </a:solidFill>
                <a:latin typeface="Quattrocento Sans"/>
                <a:ea typeface="Quattrocento Sans"/>
                <a:cs typeface="Quattrocento Sans"/>
                <a:sym typeface="Quattrocento Sans"/>
              </a:rPr>
              <a:t>updateScoreCounter</a:t>
            </a: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err="1">
                <a:solidFill>
                  <a:schemeClr val="dk1"/>
                </a:solidFill>
                <a:latin typeface="Quattrocento Sans"/>
                <a:ea typeface="Quattrocento Sans"/>
                <a:cs typeface="Quattrocento Sans"/>
                <a:sym typeface="Quattrocento Sans"/>
              </a:rPr>
              <a:t>uiText.text</a:t>
            </a:r>
            <a:r>
              <a:rPr lang="en-GB" sz="1200" b="0" i="0" u="none" strike="noStrike" cap="none" dirty="0">
                <a:solidFill>
                  <a:schemeClr val="dk1"/>
                </a:solidFill>
                <a:latin typeface="Quattrocento Sans"/>
                <a:ea typeface="Quattrocento Sans"/>
                <a:cs typeface="Quattrocento Sans"/>
                <a:sym typeface="Quattrocento Sans"/>
              </a:rPr>
              <a:t> = "&lt;</a:t>
            </a:r>
            <a:r>
              <a:rPr lang="en-GB" sz="1200" b="0" i="0" u="none" strike="noStrike" cap="none" dirty="0" err="1">
                <a:solidFill>
                  <a:schemeClr val="dk1"/>
                </a:solidFill>
                <a:latin typeface="Quattrocento Sans"/>
                <a:ea typeface="Quattrocento Sans"/>
                <a:cs typeface="Quattrocento Sans"/>
                <a:sym typeface="Quattrocento Sans"/>
              </a:rPr>
              <a:t>color</a:t>
            </a:r>
            <a:r>
              <a:rPr lang="en-GB" sz="1200" b="0" i="0" u="none" strike="noStrike" cap="none" dirty="0">
                <a:solidFill>
                  <a:schemeClr val="dk1"/>
                </a:solidFill>
                <a:latin typeface="Quattrocento Sans"/>
                <a:ea typeface="Quattrocento Sans"/>
                <a:cs typeface="Quattrocento Sans"/>
                <a:sym typeface="Quattrocento Sans"/>
              </a:rPr>
              <a:t>=blue&gt;Score&lt;/</a:t>
            </a:r>
            <a:r>
              <a:rPr lang="en-GB" sz="1200" b="0" i="0" u="none" strike="noStrike" cap="none" dirty="0" err="1">
                <a:solidFill>
                  <a:schemeClr val="dk1"/>
                </a:solidFill>
                <a:latin typeface="Quattrocento Sans"/>
                <a:ea typeface="Quattrocento Sans"/>
                <a:cs typeface="Quattrocento Sans"/>
                <a:sym typeface="Quattrocento Sans"/>
              </a:rPr>
              <a:t>color</a:t>
            </a:r>
            <a:r>
              <a:rPr lang="en-GB" sz="1200" b="0" i="0" u="none" strike="noStrike" cap="none" dirty="0">
                <a:solidFill>
                  <a:schemeClr val="dk1"/>
                </a:solidFill>
                <a:latin typeface="Quattrocento Sans"/>
                <a:ea typeface="Quattrocento Sans"/>
                <a:cs typeface="Quattrocento Sans"/>
                <a:sym typeface="Quattrocento Sans"/>
              </a:rPr>
              <a:t>&gt;: " + score;</a:t>
            </a:r>
            <a:endParaRPr sz="12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GB" sz="1200" b="0" i="0" u="none" strike="noStrike" cap="none" dirty="0">
                <a:solidFill>
                  <a:schemeClr val="dk1"/>
                </a:solidFill>
                <a:latin typeface="Quattrocento Sans"/>
                <a:ea typeface="Quattrocento Sans"/>
                <a:cs typeface="Quattrocento Sans"/>
                <a:sym typeface="Quattrocento Sans"/>
              </a:rPr>
              <a:t>}</a:t>
            </a:r>
            <a:endParaRPr sz="1200" b="0"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90" name="Google Shape;190;p24"/>
          <p:cNvSpPr txBox="1"/>
          <p:nvPr/>
        </p:nvSpPr>
        <p:spPr>
          <a:xfrm>
            <a:off x="609600" y="1411494"/>
            <a:ext cx="10890738" cy="21851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GB" sz="2400" b="1" i="0" u="none" strike="noStrike" cap="none" dirty="0">
                <a:solidFill>
                  <a:srgbClr val="FFFF00"/>
                </a:solidFill>
                <a:latin typeface="Quattrocento Sans"/>
                <a:ea typeface="Quattrocento Sans"/>
                <a:cs typeface="Quattrocento Sans"/>
                <a:sym typeface="Quattrocento Sans"/>
              </a:rPr>
              <a:t>Extra - Tutorial </a:t>
            </a:r>
            <a:r>
              <a:rPr lang="en-GB" sz="2400" b="1" dirty="0">
                <a:solidFill>
                  <a:srgbClr val="FFFF00"/>
                </a:solidFill>
                <a:latin typeface="Quattrocento Sans"/>
                <a:ea typeface="Quattrocento Sans"/>
                <a:cs typeface="Quattrocento Sans"/>
                <a:sym typeface="Quattrocento Sans"/>
              </a:rPr>
              <a:t>7.3</a:t>
            </a:r>
            <a:r>
              <a:rPr lang="en-GB" sz="2400" b="1" i="0" u="none" strike="noStrike" cap="none" dirty="0">
                <a:solidFill>
                  <a:srgbClr val="FFFF00"/>
                </a:solidFill>
                <a:latin typeface="Quattrocento Sans"/>
                <a:ea typeface="Quattrocento Sans"/>
                <a:cs typeface="Quattrocento Sans"/>
                <a:sym typeface="Quattrocento Sans"/>
              </a:rPr>
              <a:t> Animate UI Button</a:t>
            </a:r>
            <a:endParaRPr sz="24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https://youtu.be/mgaUKk8hfjg</a:t>
            </a:r>
            <a:endParaRPr sz="16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979797"/>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
        <p:nvSpPr>
          <p:cNvPr id="191" name="Google Shape;191;p2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pic>
        <p:nvPicPr>
          <p:cNvPr id="192" name="Google Shape;192;p24"/>
          <p:cNvPicPr preferRelativeResize="0"/>
          <p:nvPr/>
        </p:nvPicPr>
        <p:blipFill rotWithShape="1">
          <a:blip r:embed="rId4">
            <a:alphaModFix/>
          </a:blip>
          <a:srcRect/>
          <a:stretch/>
        </p:blipFill>
        <p:spPr>
          <a:xfrm>
            <a:off x="691662" y="2740342"/>
            <a:ext cx="10170160" cy="286035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41745B94-AA36-C58F-5E72-3CAC05D40577}"/>
            </a:ext>
          </a:extLst>
        </p:cNvPr>
        <p:cNvGrpSpPr/>
        <p:nvPr/>
      </p:nvGrpSpPr>
      <p:grpSpPr>
        <a:xfrm>
          <a:off x="0" y="0"/>
          <a:ext cx="0" cy="0"/>
          <a:chOff x="0" y="0"/>
          <a:chExt cx="0" cy="0"/>
        </a:xfrm>
      </p:grpSpPr>
      <p:sp>
        <p:nvSpPr>
          <p:cNvPr id="189" name="Google Shape;189;p24">
            <a:extLst>
              <a:ext uri="{FF2B5EF4-FFF2-40B4-BE49-F238E27FC236}">
                <a16:creationId xmlns:a16="http://schemas.microsoft.com/office/drawing/2014/main" id="{9D10EE5F-3FBE-5B5D-C03D-DE036DC1F684}"/>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190" name="Google Shape;190;p24">
            <a:extLst>
              <a:ext uri="{FF2B5EF4-FFF2-40B4-BE49-F238E27FC236}">
                <a16:creationId xmlns:a16="http://schemas.microsoft.com/office/drawing/2014/main" id="{E80635D6-5E77-FA53-DCE6-4878267058DB}"/>
              </a:ext>
            </a:extLst>
          </p:cNvPr>
          <p:cNvSpPr txBox="1"/>
          <p:nvPr/>
        </p:nvSpPr>
        <p:spPr>
          <a:xfrm>
            <a:off x="609600" y="1411494"/>
            <a:ext cx="10890738" cy="2185173"/>
          </a:xfrm>
          <a:prstGeom prst="rect">
            <a:avLst/>
          </a:prstGeom>
          <a:noFill/>
          <a:ln>
            <a:noFill/>
          </a:ln>
        </p:spPr>
        <p:txBody>
          <a:bodyPr spcFirstLastPara="1" wrap="square" lIns="91425" tIns="45700" rIns="91425" bIns="45700" anchor="t" anchorCtr="0">
            <a:spAutoFit/>
          </a:bodyPr>
          <a:lstStyle/>
          <a:p>
            <a:pPr>
              <a:buSzPts val="2400"/>
            </a:pPr>
            <a:r>
              <a:rPr lang="en-GB" sz="2400" b="1" i="0" u="none" strike="noStrike" cap="none" dirty="0">
                <a:solidFill>
                  <a:srgbClr val="FFFF00"/>
                </a:solidFill>
                <a:latin typeface="Quattrocento Sans"/>
                <a:ea typeface="Quattrocento Sans"/>
                <a:cs typeface="Quattrocento Sans"/>
                <a:sym typeface="Quattrocento Sans"/>
              </a:rPr>
              <a:t>Extra - Tutorial </a:t>
            </a:r>
            <a:r>
              <a:rPr lang="en-GB" sz="2400" b="1" dirty="0">
                <a:solidFill>
                  <a:srgbClr val="FFFF00"/>
                </a:solidFill>
                <a:latin typeface="Quattrocento Sans"/>
                <a:ea typeface="Quattrocento Sans"/>
                <a:cs typeface="Quattrocento Sans"/>
                <a:sym typeface="Quattrocento Sans"/>
              </a:rPr>
              <a:t>7.4</a:t>
            </a:r>
            <a:r>
              <a:rPr lang="en-GB" sz="2400" b="1" i="0" u="none" strike="noStrike" cap="none" dirty="0">
                <a:solidFill>
                  <a:srgbClr val="FFFF00"/>
                </a:solidFill>
                <a:latin typeface="Quattrocento Sans"/>
                <a:ea typeface="Quattrocento Sans"/>
                <a:cs typeface="Quattrocento Sans"/>
                <a:sym typeface="Quattrocento Sans"/>
              </a:rPr>
              <a:t> Animate UI Button</a:t>
            </a:r>
            <a:r>
              <a:rPr lang="en-GB" sz="2400" b="1" dirty="0">
                <a:solidFill>
                  <a:srgbClr val="FFFF00"/>
                </a:solidFill>
                <a:latin typeface="Quattrocento Sans"/>
                <a:ea typeface="Quattrocento Sans"/>
                <a:cs typeface="Quattrocento Sans"/>
                <a:sym typeface="Quattrocento Sans"/>
              </a:rPr>
              <a:t> </a:t>
            </a:r>
            <a:r>
              <a:rPr lang="en-GB" sz="2400" b="1" dirty="0" err="1">
                <a:solidFill>
                  <a:srgbClr val="FFFF00"/>
                </a:solidFill>
                <a:latin typeface="Quattrocento Sans"/>
                <a:ea typeface="Quattrocento Sans"/>
                <a:cs typeface="Quattrocento Sans"/>
                <a:sym typeface="Quattrocento Sans"/>
              </a:rPr>
              <a:t>TextMeshPro</a:t>
            </a:r>
            <a:endParaRPr sz="2400" b="1" i="0" u="none" strike="noStrike" cap="none" dirty="0" err="1">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dirty="0">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https://youtu.be/mgaUKk8hfjg</a:t>
            </a:r>
            <a:endParaRPr sz="1600" b="1" i="0" u="none" strike="noStrike" cap="none" dirty="0">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979797"/>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
        <p:nvSpPr>
          <p:cNvPr id="191" name="Google Shape;191;p24">
            <a:extLst>
              <a:ext uri="{FF2B5EF4-FFF2-40B4-BE49-F238E27FC236}">
                <a16:creationId xmlns:a16="http://schemas.microsoft.com/office/drawing/2014/main" id="{AE7D0DE5-0469-55E2-62E9-78A967B26F87}"/>
              </a:ext>
            </a:extLst>
          </p:cNvPr>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attrocento Sans"/>
              <a:ea typeface="Quattrocento Sans"/>
              <a:cs typeface="Quattrocento Sans"/>
              <a:sym typeface="Quattrocento Sans"/>
            </a:endParaRPr>
          </a:p>
        </p:txBody>
      </p:sp>
      <p:pic>
        <p:nvPicPr>
          <p:cNvPr id="192" name="Google Shape;192;p24">
            <a:extLst>
              <a:ext uri="{FF2B5EF4-FFF2-40B4-BE49-F238E27FC236}">
                <a16:creationId xmlns:a16="http://schemas.microsoft.com/office/drawing/2014/main" id="{6987543C-100C-AAF4-5CBB-1EB807539ADA}"/>
              </a:ext>
            </a:extLst>
          </p:cNvPr>
          <p:cNvPicPr preferRelativeResize="0"/>
          <p:nvPr/>
        </p:nvPicPr>
        <p:blipFill rotWithShape="1">
          <a:blip r:embed="rId4">
            <a:alphaModFix/>
          </a:blip>
          <a:srcRect/>
          <a:stretch/>
        </p:blipFill>
        <p:spPr>
          <a:xfrm>
            <a:off x="691662" y="2740342"/>
            <a:ext cx="10170160" cy="2860358"/>
          </a:xfrm>
          <a:prstGeom prst="rect">
            <a:avLst/>
          </a:prstGeom>
          <a:noFill/>
          <a:ln>
            <a:noFill/>
          </a:ln>
        </p:spPr>
      </p:pic>
    </p:spTree>
    <p:extLst>
      <p:ext uri="{BB962C8B-B14F-4D97-AF65-F5344CB8AC3E}">
        <p14:creationId xmlns:p14="http://schemas.microsoft.com/office/powerpoint/2010/main" val="1444362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06" name="Google Shape;206;p25"/>
          <p:cNvSpPr txBox="1"/>
          <p:nvPr/>
        </p:nvSpPr>
        <p:spPr>
          <a:xfrm>
            <a:off x="609600" y="1421654"/>
            <a:ext cx="10890738"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Tutorials General Interface</a:t>
            </a:r>
            <a:endParaRPr sz="8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none" strike="noStrike" cap="none">
                <a:solidFill>
                  <a:srgbClr val="FFFF00"/>
                </a:solidFill>
                <a:latin typeface="Quattrocento Sans"/>
                <a:ea typeface="Quattrocento Sans"/>
                <a:cs typeface="Quattrocento Sans"/>
                <a:sym typeface="Quattrocento Sans"/>
              </a:rPr>
              <a:t>Official Unity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GB" sz="16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https://unity3d.com/learn/tutorials/topics/user-interface-ui/ui-canvas?playlist=17111</a:t>
            </a:r>
            <a:endParaRPr sz="1600" b="0" i="0" u="none" strike="noStrike" cap="none">
              <a:solidFill>
                <a:schemeClr val="dk1"/>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r>
              <a:rPr lang="en-GB" sz="1600" b="1" i="0" u="sng" strike="noStrike" cap="none">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https://unity3d.com/learn/tutorials/modules/beginner/live-training-archive/the-new-ui?playlist=17111</a:t>
            </a:r>
            <a:endParaRPr sz="1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979797"/>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Quattrocento Sans"/>
              <a:ea typeface="Quattrocento Sans"/>
              <a:cs typeface="Quattrocento Sans"/>
              <a:sym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13" name="Google Shape;213;p26"/>
          <p:cNvSpPr txBox="1"/>
          <p:nvPr/>
        </p:nvSpPr>
        <p:spPr>
          <a:xfrm>
            <a:off x="609600" y="1421654"/>
            <a:ext cx="10890738" cy="5109051"/>
          </a:xfrm>
          <a:prstGeom prst="rect">
            <a:avLst/>
          </a:prstGeom>
          <a:noFill/>
          <a:ln>
            <a:noFill/>
          </a:ln>
        </p:spPr>
        <p:txBody>
          <a:bodyPr spcFirstLastPara="1" wrap="square" lIns="91425" tIns="45700" rIns="91425" bIns="45700" anchor="t" anchorCtr="0">
            <a:spAutoFit/>
          </a:bodyPr>
          <a:lstStyle/>
          <a:p>
            <a:pPr>
              <a:buSzPts val="3600"/>
            </a:pPr>
            <a:r>
              <a:rPr lang="en-GB" sz="3600" b="1" i="0" u="none" strike="noStrike" cap="none" dirty="0">
                <a:solidFill>
                  <a:srgbClr val="FFFF00"/>
                </a:solidFill>
                <a:latin typeface="Quattrocento Sans"/>
                <a:ea typeface="Quattrocento Sans"/>
                <a:cs typeface="Quattrocento Sans"/>
                <a:sym typeface="Quattrocento Sans"/>
              </a:rPr>
              <a:t>Unity UI </a:t>
            </a:r>
            <a:r>
              <a:rPr lang="en-GB" sz="3600" b="1" dirty="0">
                <a:solidFill>
                  <a:srgbClr val="FFFF00"/>
                </a:solidFill>
                <a:latin typeface="Quattrocento Sans"/>
                <a:ea typeface="Quattrocento Sans"/>
                <a:cs typeface="Quattrocento Sans"/>
                <a:sym typeface="Quattrocento Sans"/>
              </a:rPr>
              <a:t>Menu Various</a:t>
            </a:r>
            <a:r>
              <a:rPr lang="en-GB" sz="3600" b="1" i="0" u="none" strike="noStrike" cap="none" dirty="0">
                <a:solidFill>
                  <a:srgbClr val="FFFF00"/>
                </a:solidFill>
                <a:latin typeface="Quattrocento Sans"/>
                <a:ea typeface="Quattrocento Sans"/>
                <a:cs typeface="Quattrocento Sans"/>
                <a:sym typeface="Quattrocento Sans"/>
              </a:rPr>
              <a:t> (Games)</a:t>
            </a:r>
            <a:endParaRPr lang="en-US" sz="14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chemeClr val="bg2"/>
              </a:solidFill>
              <a:latin typeface="Quattrocento Sans"/>
              <a:ea typeface="Quattrocento Sans"/>
              <a:cs typeface="Quattrocento Sans"/>
            </a:endParaRPr>
          </a:p>
          <a:p>
            <a:pPr>
              <a:buSzPts val="1800"/>
            </a:pPr>
            <a:r>
              <a:rPr lang="en-GB" sz="1800" b="1" dirty="0">
                <a:solidFill>
                  <a:srgbClr val="FFFF00"/>
                </a:solidFill>
                <a:latin typeface="Quattrocento Sans"/>
                <a:ea typeface="Quattrocento Sans"/>
                <a:sym typeface="Quattrocento Sans"/>
              </a:rPr>
              <a:t>Readouts:</a:t>
            </a:r>
            <a:r>
              <a:rPr lang="en-GB" sz="1800" b="1" dirty="0">
                <a:solidFill>
                  <a:schemeClr val="bg2"/>
                </a:solidFill>
                <a:latin typeface="Quattrocento Sans"/>
                <a:ea typeface="Quattrocento Sans"/>
                <a:sym typeface="Quattrocento Sans"/>
              </a:rPr>
              <a:t> </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Noorcon Inc</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 - Unity 3D </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Game</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Programming</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Part</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 </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4</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 - Vahe Karamian</a:t>
            </a:r>
            <a:r>
              <a:rPr lang="en-GB" sz="1800" i="0" strike="noStrike" cap="none"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a:t>
            </a:r>
            <a:r>
              <a:rPr lang="en-GB" sz="1800" dirty="0">
                <a:solidFill>
                  <a:schemeClr val="bg2"/>
                </a:solidFill>
                <a:ea typeface="Quattrocento Sans"/>
                <a:sym typeface="Quattrocento Sans"/>
                <a:hlinkClick r:id="rId3">
                  <a:extLst>
                    <a:ext uri="{A12FA001-AC4F-418D-AE19-62706E023703}">
                      <ahyp:hlinkClr xmlns:ahyp="http://schemas.microsoft.com/office/drawing/2018/hyperlinkcolor" val="tx"/>
                    </a:ext>
                  </a:extLst>
                </a:hlinkClick>
              </a:rPr>
              <a:t>pdf</a:t>
            </a:r>
            <a:endParaRPr>
              <a:solidFill>
                <a:schemeClr val="bg2"/>
              </a:solidFill>
            </a:endParaRPr>
          </a:p>
          <a:p>
            <a:pPr>
              <a:buSzPts val="1800"/>
            </a:pPr>
            <a:endParaRPr lang="en-GB" sz="1800" b="1" dirty="0">
              <a:solidFill>
                <a:srgbClr val="FFFF00"/>
              </a:solidFill>
              <a:latin typeface="Quattrocento Sans"/>
              <a:ea typeface="Quattrocento Sans"/>
              <a:cs typeface="Quattrocento Sans"/>
              <a:sym typeface="Quattrocento Sans"/>
            </a:endParaRPr>
          </a:p>
          <a:p>
            <a:pPr>
              <a:buSzPts val="1800"/>
            </a:pPr>
            <a:r>
              <a:rPr lang="en-GB" sz="1800" b="1" i="0" u="none" strike="noStrike" cap="none" dirty="0">
                <a:solidFill>
                  <a:srgbClr val="FFFF00"/>
                </a:solidFill>
                <a:latin typeface="Quattrocento Sans"/>
                <a:ea typeface="Quattrocento Sans"/>
                <a:cs typeface="Quattrocento Sans"/>
                <a:sym typeface="Quattrocento Sans"/>
              </a:rPr>
              <a:t>Health Bar</a:t>
            </a:r>
            <a:r>
              <a:rPr lang="en-GB" sz="1800" b="1" dirty="0">
                <a:solidFill>
                  <a:srgbClr val="FFFF00"/>
                </a:solidFill>
                <a:latin typeface="Quattrocento Sans"/>
                <a:ea typeface="Quattrocento Sans"/>
                <a:cs typeface="Quattrocento Sans"/>
                <a:sym typeface="Quattrocento Sans"/>
              </a:rPr>
              <a:t>: </a:t>
            </a:r>
            <a:r>
              <a:rPr lang="en-GB" sz="1800" dirty="0">
                <a:solidFill>
                  <a:schemeClr val="bg2"/>
                </a:solidFill>
                <a:ea typeface="Quattrocento Sans"/>
                <a:sym typeface="Quattrocento Sans"/>
                <a:hlinkClick r:id="rId4">
                  <a:extLst>
                    <a:ext uri="{A12FA001-AC4F-418D-AE19-62706E023703}">
                      <ahyp:hlinkClr xmlns:ahyp="http://schemas.microsoft.com/office/drawing/2018/hyperlinkcolor" val="tx"/>
                    </a:ext>
                  </a:extLst>
                </a:hlinkClick>
              </a:rPr>
              <a:t>Noorcon Inc. - Unity 3D Game Programming Part 9 - Vahe Karamian.pdf</a:t>
            </a:r>
            <a:endParaRPr lang="en-GB" sz="1800" b="1">
              <a:solidFill>
                <a:schemeClr val="bg2"/>
              </a:solidFill>
              <a:latin typeface="Quattrocento Sans"/>
              <a:ea typeface="Quattrocento Sans"/>
            </a:endParaRPr>
          </a:p>
          <a:p>
            <a:pPr>
              <a:buSzPts val="1800"/>
            </a:pPr>
            <a:r>
              <a:rPr lang="en-GB" sz="1800" b="1" i="0" u="sng" strike="noStrike" cap="none" dirty="0">
                <a:solidFill>
                  <a:schemeClr val="bg2"/>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https://www.packtpub.com/mapt/book/Game%20Development/9781785885822/2/ch02lvl1sec23/Implementing+a+linear+health+bar</a:t>
            </a:r>
            <a:endParaRPr lang="en-GB" sz="1800" b="1" i="0" u="sng" strike="noStrike" cap="none">
              <a:solidFill>
                <a:schemeClr val="bg2"/>
              </a:solidFill>
              <a:latin typeface="Quattrocento Sans"/>
              <a:ea typeface="Quattrocento Sans"/>
              <a:cs typeface="Quattrocento Sans"/>
            </a:endParaRPr>
          </a:p>
          <a:p>
            <a:pPr>
              <a:buSzPts val="1800"/>
            </a:pPr>
            <a:endParaRPr lang="en-GB" sz="1800" b="1" dirty="0">
              <a:solidFill>
                <a:srgbClr val="FFFF00"/>
              </a:solidFill>
              <a:latin typeface="Quattrocento Sans"/>
              <a:ea typeface="Quattrocento Sans"/>
              <a:cs typeface="Quattrocento Sans"/>
              <a:sym typeface="Quattrocento Sans"/>
            </a:endParaRPr>
          </a:p>
          <a:p>
            <a:pPr>
              <a:buSzPts val="1800"/>
            </a:pPr>
            <a:r>
              <a:rPr lang="en-GB" sz="1800" b="1" i="0" u="none" strike="noStrike" cap="none" dirty="0">
                <a:solidFill>
                  <a:srgbClr val="FFFF00"/>
                </a:solidFill>
                <a:latin typeface="Quattrocento Sans"/>
                <a:ea typeface="Quattrocento Sans"/>
                <a:cs typeface="Quattrocento Sans"/>
                <a:sym typeface="Quattrocento Sans"/>
              </a:rPr>
              <a:t>Timer</a:t>
            </a:r>
            <a:r>
              <a:rPr lang="en-GB" sz="1800" b="1" dirty="0">
                <a:solidFill>
                  <a:srgbClr val="FFFF00"/>
                </a:solidFill>
                <a:latin typeface="Quattrocento Sans"/>
                <a:ea typeface="Quattrocento Sans"/>
                <a:cs typeface="Quattrocento Sans"/>
                <a:sym typeface="Quattrocento Sans"/>
              </a:rPr>
              <a:t>:</a:t>
            </a:r>
            <a:r>
              <a:rPr lang="en-GB" sz="1800" b="1" dirty="0">
                <a:solidFill>
                  <a:schemeClr val="bg2"/>
                </a:solidFill>
                <a:latin typeface="Quattrocento Sans"/>
                <a:ea typeface="Quattrocento Sans"/>
                <a:cs typeface="Quattrocento Sans"/>
                <a:sym typeface="Quattrocento Sans"/>
              </a:rPr>
              <a:t> </a:t>
            </a:r>
            <a:r>
              <a:rPr lang="en-GB" sz="1800" dirty="0">
                <a:solidFill>
                  <a:schemeClr val="bg2"/>
                </a:solidFill>
                <a:ea typeface="Quattrocento Sans"/>
                <a:sym typeface="Quattrocento Sans"/>
                <a:hlinkClick r:id="rId6">
                  <a:extLst>
                    <a:ext uri="{A12FA001-AC4F-418D-AE19-62706E023703}">
                      <ahyp:hlinkClr xmlns:ahyp="http://schemas.microsoft.com/office/drawing/2018/hyperlinkcolor" val="tx"/>
                    </a:ext>
                  </a:extLst>
                </a:hlinkClick>
              </a:rPr>
              <a:t>Noorcon Inc. - Unity 3D Game Programming Part 6 - Vahe Karamian.pdf</a:t>
            </a:r>
            <a:br>
              <a:rPr lang="en-GB" sz="1800" b="1" i="0" u="none" strike="noStrike" cap="none" dirty="0">
                <a:solidFill>
                  <a:schemeClr val="bg2"/>
                </a:solidFill>
                <a:latin typeface="Quattrocento Sans"/>
                <a:ea typeface="Quattrocento Sans"/>
                <a:cs typeface="Quattrocento Sans"/>
              </a:rPr>
            </a:br>
            <a:r>
              <a:rPr lang="en-GB" sz="1800" b="1" i="0" u="sng" strike="noStrike" cap="none" dirty="0">
                <a:solidFill>
                  <a:schemeClr val="bg2"/>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https://www.packtpub.com/mapt/book/Game%20Development/9781785885822/3/ch03lvl1sec29/Implementing+a+numeric+timer</a:t>
            </a:r>
            <a:endParaRPr sz="1800" b="1" i="0" u="none" strike="noStrike" cap="none">
              <a:solidFill>
                <a:schemeClr val="bg2"/>
              </a:solidFill>
              <a:latin typeface="Quattrocento Sans"/>
              <a:ea typeface="Quattrocento Sans"/>
              <a:cs typeface="Quattrocento Sans"/>
            </a:endParaRPr>
          </a:p>
          <a:p>
            <a:pPr>
              <a:buSzPts val="1800"/>
            </a:pPr>
            <a:endParaRPr lang="en-GB" sz="1800" b="1" dirty="0">
              <a:solidFill>
                <a:srgbClr val="FFFF00"/>
              </a:solidFill>
              <a:latin typeface="Quattrocento Sans"/>
              <a:ea typeface="Quattrocento Sans"/>
              <a:cs typeface="Quattrocento Sans"/>
              <a:sym typeface="Quattrocento Sans"/>
            </a:endParaRPr>
          </a:p>
          <a:p>
            <a:pPr>
              <a:buSzPts val="1800"/>
            </a:pPr>
            <a:r>
              <a:rPr lang="en-GB" sz="1800" b="1" i="0" u="none" strike="noStrike" cap="none" dirty="0">
                <a:solidFill>
                  <a:srgbClr val="FFFF00"/>
                </a:solidFill>
                <a:latin typeface="Quattrocento Sans"/>
                <a:ea typeface="Quattrocento Sans"/>
                <a:cs typeface="Quattrocento Sans"/>
                <a:sym typeface="Quattrocento Sans"/>
              </a:rPr>
              <a:t>Collection Bar</a:t>
            </a:r>
            <a:r>
              <a:rPr lang="en-GB" sz="1800" b="1" dirty="0">
                <a:solidFill>
                  <a:srgbClr val="FFFF00"/>
                </a:solidFill>
                <a:latin typeface="Quattrocento Sans"/>
                <a:ea typeface="Quattrocento Sans"/>
                <a:cs typeface="Quattrocento Sans"/>
                <a:sym typeface="Quattrocento Sans"/>
              </a:rPr>
              <a:t>: </a:t>
            </a:r>
            <a:r>
              <a:rPr lang="en-GB" sz="1800" dirty="0">
                <a:solidFill>
                  <a:srgbClr val="FFFF00"/>
                </a:solidFill>
                <a:ea typeface="Quattrocento Sans"/>
                <a:sym typeface="Quattrocento Sans"/>
                <a:hlinkClick r:id="rId8"/>
              </a:rPr>
              <a:t>Noorcon Inc. - Unity 3D Game Programming Part 6 - Vahe Karamian.pdf</a:t>
            </a:r>
            <a:endParaRPr sz="1400" b="0" i="0" u="none" strike="noStrike" cap="none">
              <a:solidFill>
                <a:srgbClr val="FFFF00"/>
              </a:solidFill>
              <a:latin typeface="Arial"/>
              <a:ea typeface="Arial"/>
              <a:cs typeface="Arial"/>
            </a:endParaRPr>
          </a:p>
          <a:p>
            <a:pPr>
              <a:buSzPts val="1800"/>
            </a:pPr>
            <a:endParaRPr lang="en-GB" sz="1800" b="1" dirty="0">
              <a:solidFill>
                <a:srgbClr val="FFFF00"/>
              </a:solidFill>
              <a:latin typeface="Quattrocento Sans"/>
              <a:ea typeface="Quattrocento Sans"/>
              <a:cs typeface="Quattrocento Sans"/>
              <a:sym typeface="Quattrocento Sans"/>
            </a:endParaRPr>
          </a:p>
          <a:p>
            <a:pPr>
              <a:buSzPts val="1800"/>
            </a:pPr>
            <a:r>
              <a:rPr lang="en-GB" sz="1800" b="1" i="0" u="none" strike="noStrike" cap="none" dirty="0">
                <a:solidFill>
                  <a:srgbClr val="FFFF00"/>
                </a:solidFill>
                <a:latin typeface="Quattrocento Sans"/>
                <a:ea typeface="Quattrocento Sans"/>
                <a:cs typeface="Quattrocento Sans"/>
                <a:sym typeface="Quattrocento Sans"/>
              </a:rPr>
              <a:t>Score/Info</a:t>
            </a:r>
            <a:r>
              <a:rPr lang="en-GB" sz="1800" b="1" dirty="0">
                <a:solidFill>
                  <a:srgbClr val="FFFF00"/>
                </a:solidFill>
                <a:latin typeface="Quattrocento Sans"/>
                <a:ea typeface="Quattrocento Sans"/>
                <a:cs typeface="Quattrocento Sans"/>
                <a:sym typeface="Quattrocento Sans"/>
              </a:rPr>
              <a:t>: </a:t>
            </a:r>
            <a:r>
              <a:rPr lang="en-GB" sz="1800" dirty="0">
                <a:solidFill>
                  <a:srgbClr val="FFFF00"/>
                </a:solidFill>
                <a:ea typeface="Quattrocento Sans"/>
                <a:sym typeface="Quattrocento Sans"/>
                <a:hlinkClick r:id="rId8"/>
              </a:rPr>
              <a:t>Noorcon Inc. - Unity 3D Game Programming Part 6 - Vahe Karamian.pdf</a:t>
            </a:r>
            <a:endParaRPr sz="1400" b="0" i="0" u="none" strike="noStrike" cap="none">
              <a:solidFill>
                <a:srgbClr val="FFFF00"/>
              </a:solidFill>
              <a:latin typeface="Arial"/>
              <a:ea typeface="Arial"/>
              <a:cs typeface="Arial"/>
            </a:endParaRPr>
          </a:p>
          <a:p>
            <a:pPr marL="0" marR="0" lvl="0" indent="0" algn="l" rtl="0">
              <a:lnSpc>
                <a:spcPct val="100000"/>
              </a:lnSpc>
              <a:spcBef>
                <a:spcPts val="0"/>
              </a:spcBef>
              <a:spcAft>
                <a:spcPts val="0"/>
              </a:spcAft>
              <a:buClr>
                <a:srgbClr val="000000"/>
              </a:buClr>
              <a:buSzPts val="1800"/>
              <a:buFont typeface="Arial"/>
              <a:buNone/>
            </a:pPr>
            <a:r>
              <a:rPr lang="en-GB" sz="1800" b="1" i="0" u="sng" strike="noStrike" cap="none" dirty="0">
                <a:solidFill>
                  <a:schemeClr val="bg2"/>
                </a:solidFill>
                <a:latin typeface="Quattrocento Sans"/>
                <a:ea typeface="Quattrocento Sans"/>
                <a:cs typeface="Quattrocento Sans"/>
                <a:sym typeface="Quattrocento Sans"/>
                <a:hlinkClick r:id="rId9">
                  <a:extLst>
                    <a:ext uri="{A12FA001-AC4F-418D-AE19-62706E023703}">
                      <ahyp:hlinkClr xmlns:ahyp="http://schemas.microsoft.com/office/drawing/2018/hyperlinkcolor" val="tx"/>
                    </a:ext>
                  </a:extLst>
                </a:hlinkClick>
              </a:rPr>
              <a:t>https://www.packtpub.com/mapt/book/Game%20Development/9781785885822/2/ch02lvl1sec19/Implementing+a+score+counter</a:t>
            </a:r>
            <a:endParaRPr sz="1800" b="1" i="0" u="none" strike="noStrike" cap="none" dirty="0">
              <a:solidFill>
                <a:schemeClr val="bg2"/>
              </a:solidFill>
              <a:latin typeface="Quattrocento Sans"/>
              <a:ea typeface="Quattrocento Sans"/>
              <a:cs typeface="Quattrocento Sans"/>
              <a:sym typeface="Quattrocento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20" name="Google Shape;220;p27"/>
          <p:cNvSpPr txBox="1"/>
          <p:nvPr/>
        </p:nvSpPr>
        <p:spPr>
          <a:xfrm>
            <a:off x="609600" y="1421654"/>
            <a:ext cx="10890738" cy="21851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dirty="0">
                <a:solidFill>
                  <a:srgbClr val="FFFF00"/>
                </a:solidFill>
                <a:latin typeface="Quattrocento Sans"/>
                <a:ea typeface="Quattrocento Sans"/>
                <a:cs typeface="Quattrocento Sans"/>
                <a:sym typeface="Quattrocento Sans"/>
              </a:rPr>
              <a:t>Unity UI Menu and Levels</a:t>
            </a:r>
            <a:endParaRPr lang="en-US" sz="1400" b="0" i="0" u="none" strike="noStrike" cap="none" dirty="0">
              <a:solidFill>
                <a:srgbClr val="000000"/>
              </a:solidFill>
              <a:latin typeface="Arial"/>
              <a:ea typeface="Arial"/>
              <a:cs typeface="Arial"/>
            </a:endParaRPr>
          </a:p>
          <a:p>
            <a:pPr marL="0" marR="0" lvl="0" indent="0" algn="l" rtl="0">
              <a:lnSpc>
                <a:spcPct val="100000"/>
              </a:lnSpc>
              <a:spcBef>
                <a:spcPts val="0"/>
              </a:spcBef>
              <a:spcAft>
                <a:spcPts val="0"/>
              </a:spcAft>
              <a:buClr>
                <a:srgbClr val="000000"/>
              </a:buClr>
              <a:buSzPts val="2000"/>
              <a:buFont typeface="Arial"/>
              <a:buNone/>
            </a:pPr>
            <a:endParaRPr lang="en-GB" sz="2000" b="1" i="0" u="none" strike="noStrike" cap="none">
              <a:solidFill>
                <a:srgbClr val="FFFF00"/>
              </a:solidFill>
              <a:latin typeface="Quattrocento Sans"/>
              <a:ea typeface="Quattrocento Sans"/>
            </a:endParaRPr>
          </a:p>
          <a:p>
            <a:pPr>
              <a:buSzPts val="2000"/>
            </a:pPr>
            <a:r>
              <a:rPr lang="en-GB" sz="2000" b="1" dirty="0">
                <a:solidFill>
                  <a:srgbClr val="FFFF00"/>
                </a:solidFill>
                <a:latin typeface="Quattrocento Sans"/>
                <a:ea typeface="Quattrocento Sans"/>
                <a:cs typeface="Quattrocento Sans"/>
              </a:rPr>
              <a:t>Scene/Level Switching (Scene manager):</a:t>
            </a:r>
          </a:p>
          <a:p>
            <a:r>
              <a:rPr lang="en-GB" sz="2000" dirty="0">
                <a:solidFill>
                  <a:srgbClr val="FFFF00"/>
                </a:solidFill>
                <a:hlinkClick r:id="rId3"/>
              </a:rPr>
              <a:t>https://www.youtube.com/watch?v=xyC_flufHwg</a:t>
            </a:r>
            <a:r>
              <a:rPr lang="en-GB" sz="2000" dirty="0">
                <a:solidFill>
                  <a:srgbClr val="FFFF00"/>
                </a:solidFill>
              </a:rPr>
              <a:t> </a:t>
            </a:r>
            <a:endParaRPr lang="en-GB"/>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227" name="Google Shape;227;p28"/>
          <p:cNvSpPr txBox="1"/>
          <p:nvPr/>
        </p:nvSpPr>
        <p:spPr>
          <a:xfrm>
            <a:off x="609600" y="1421654"/>
            <a:ext cx="10890738" cy="33547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GB" sz="3600" b="1" i="0" u="none" strike="noStrike" cap="none">
                <a:solidFill>
                  <a:srgbClr val="FFFF00"/>
                </a:solidFill>
                <a:latin typeface="Quattrocento Sans"/>
                <a:ea typeface="Quattrocento Sans"/>
                <a:cs typeface="Quattrocento Sans"/>
                <a:sym typeface="Quattrocento Sans"/>
              </a:rPr>
              <a:t>Unity UI Widgets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Player Control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https://www.youtube.com/watch?v=nGYObojmkO4</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none" strike="noStrike" cap="none">
                <a:solidFill>
                  <a:srgbClr val="FFFF00"/>
                </a:solidFill>
                <a:latin typeface="Quattrocento Sans"/>
                <a:ea typeface="Quattrocento Sans"/>
                <a:cs typeface="Quattrocento Sans"/>
                <a:sym typeface="Quattrocento Sans"/>
              </a:rPr>
              <a:t>Shop UI with ScrollLists</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r>
              <a:rPr lang="en-GB" sz="2000" b="1" i="0" u="sng" strike="noStrike" cap="none">
                <a:solidFill>
                  <a:srgbClr val="FFFF00"/>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https://www.youtube.com/watch?v=TAJCr3_kfEc</a:t>
            </a: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FFFF00"/>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34</Notes>
  <HiddenSlides>2</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revision>467</cp:revision>
  <dcterms:created xsi:type="dcterms:W3CDTF">2016-10-08T10:37:01Z</dcterms:created>
  <dcterms:modified xsi:type="dcterms:W3CDTF">2025-11-04T08:21:34Z</dcterms:modified>
</cp:coreProperties>
</file>