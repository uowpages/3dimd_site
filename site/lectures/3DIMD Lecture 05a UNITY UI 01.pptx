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embeddedFontLst>
    <p:embeddedFont>
      <p:font typeface="Quattrocento Sans" panose="020B0502050000020003"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iZ8ClL6CFXXZj5n1lG/qJyXphb8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9DC1F-B0A0-977D-010C-67B9EE89A473}" v="22" dt="2025-10-21T06:40:36.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ing.westminster.ac.uk/ultra/courses/_82652_1/outline/edit/document/_3097088_1?courseId=_82652_1"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noorcon.com/articles/Unity3D_Game_Programming_Part_3.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noorcon.com/articles/Unity3D_Game_Programming_Part_3.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noorcon.com/articles/Unity3D_Game_Programming_Part_3.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noorcon.com/articles/Unity3D_Game_Programming_Part_3.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noorcon.com/articles/Unity3D_Game_Programming_Introduction.html"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www.noorcon.com/articles/Unity3D_Game_Programming_Part_4.html" TargetMode="External"/><Relationship Id="rId5" Type="http://schemas.openxmlformats.org/officeDocument/2006/relationships/hyperlink" Target="http://www.noorcon.com/articles/Unity3D_Game_Programming_Part_3.html" TargetMode="External"/><Relationship Id="rId4" Type="http://schemas.openxmlformats.org/officeDocument/2006/relationships/hyperlink" Target="http://www.noorcon.com/articles/Unity3D_Game_Programming_Part_2.html"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www.noorcon.com/articles/Unity3D_Game_Programming_Part_6.html"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noorcon.com/articles/Unity3D_Game_Programming_Part_6.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assetstore.unity3d.com/en/#!/content/25468"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www.youtube.com/watch?v=OD-p1eMsyrU" TargetMode="External"/><Relationship Id="rId4" Type="http://schemas.openxmlformats.org/officeDocument/2006/relationships/hyperlink" Target="https://www.youtube.com/watch?v=lNdhNHNwpjI"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assetstore.unity3d.com/en/#!/content/25468"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www.youtube.com/watch?v=OD-p1eMsyrU" TargetMode="External"/><Relationship Id="rId4" Type="http://schemas.openxmlformats.org/officeDocument/2006/relationships/hyperlink" Target="https://www.youtube.com/watch?v=lNdhNHNwpjI"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noorcon.com/articles/Unity3D_Game_Programming_Part_9.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GB" b="1" err="1"/>
              <a:t>Splashtop</a:t>
            </a:r>
            <a:endParaRPr lang="en-US" err="1"/>
          </a:p>
          <a:p>
            <a:pPr marL="0" lvl="0" indent="0" algn="l">
              <a:lnSpc>
                <a:spcPct val="100000"/>
              </a:lnSpc>
              <a:spcBef>
                <a:spcPts val="0"/>
              </a:spcBef>
              <a:spcAft>
                <a:spcPts val="0"/>
              </a:spcAft>
              <a:buNone/>
            </a:pPr>
            <a:r>
              <a:rPr lang="en-GB" b="1" u="sng">
                <a:hlinkClick r:id="rId3">
                  <a:extLst>
                    <a:ext uri="{A12FA001-AC4F-418D-AE19-62706E023703}">
                      <ahyp:hlinkClr xmlns:ahyp="http://schemas.microsoft.com/office/drawing/2018/hyperlinkcolor" val="tx"/>
                    </a:ext>
                  </a:extLst>
                </a:hlinkClick>
              </a:rPr>
              <a:t>https://learning.westminster.ac.uk/ultra/courses/_82652_1/outline/edit/document/_3097088_1?courseId=_82652_1</a:t>
            </a: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u="sng">
                <a:hlinkClick r:id="rId3">
                  <a:extLst>
                    <a:ext uri="{A12FA001-AC4F-418D-AE19-62706E023703}">
                      <ahyp:hlinkClr xmlns:ahyp="http://schemas.microsoft.com/office/drawing/2018/hyperlinkcolor" val="tx"/>
                    </a:ext>
                  </a:extLst>
                </a:hlinkClick>
              </a:rPr>
              <a:t>http://www.noorcon.com/articles/Unity3D_Game_Programming_Part_3.html</a:t>
            </a:r>
            <a:endParaRPr lang="en-US"/>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u="sng">
                <a:hlinkClick r:id="rId3">
                  <a:extLst>
                    <a:ext uri="{A12FA001-AC4F-418D-AE19-62706E023703}">
                      <ahyp:hlinkClr xmlns:ahyp="http://schemas.microsoft.com/office/drawing/2018/hyperlinkcolor" val="tx"/>
                    </a:ext>
                  </a:extLst>
                </a:hlinkClick>
              </a:rPr>
              <a:t>http://www.noorcon.com/articles/Unity3D_Game_Programming_Part_3.html</a:t>
            </a:r>
            <a:endParaRPr lang="en-US"/>
          </a:p>
        </p:txBody>
      </p:sp>
      <p:sp>
        <p:nvSpPr>
          <p:cNvPr id="62" name="Google Shape;6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u="sng">
                <a:hlinkClick r:id="rId3">
                  <a:extLst>
                    <a:ext uri="{A12FA001-AC4F-418D-AE19-62706E023703}">
                      <ahyp:hlinkClr xmlns:ahyp="http://schemas.microsoft.com/office/drawing/2018/hyperlinkcolor" val="tx"/>
                    </a:ext>
                  </a:extLst>
                </a:hlinkClick>
              </a:rPr>
              <a:t>http://www.noorcon.com/articles/Unity3D_Game_Programming_Part_3.html</a:t>
            </a:r>
            <a:endParaRPr lang="en-US"/>
          </a:p>
        </p:txBody>
      </p:sp>
      <p:sp>
        <p:nvSpPr>
          <p:cNvPr id="72" name="Google Shape;7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u="sng">
                <a:hlinkClick r:id="rId3">
                  <a:extLst>
                    <a:ext uri="{A12FA001-AC4F-418D-AE19-62706E023703}">
                      <ahyp:hlinkClr xmlns:ahyp="http://schemas.microsoft.com/office/drawing/2018/hyperlinkcolor" val="tx"/>
                    </a:ext>
                  </a:extLst>
                </a:hlinkClick>
              </a:rPr>
              <a:t>http://www.noorcon.com/articles/Unity3D_Game_Programming_Part_3.html</a:t>
            </a:r>
            <a:endParaRPr lang="en-US"/>
          </a:p>
        </p:txBody>
      </p:sp>
      <p:sp>
        <p:nvSpPr>
          <p:cNvPr id="80" name="Google Shape;8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u="sng">
                <a:hlinkClick r:id="rId3"/>
              </a:rPr>
              <a:t>http://www.noorcon.com/articles/Unity3D_Game_Programming_Part_4.html</a:t>
            </a:r>
            <a:endParaRPr lang="en-US"/>
          </a:p>
        </p:txBody>
      </p:sp>
      <p:sp>
        <p:nvSpPr>
          <p:cNvPr id="87" name="Google Shape;8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String format shows P for position, R for rotation, and 3 values to 2 floating point value….</a:t>
            </a:r>
          </a:p>
          <a:p>
            <a:pPr marL="0" indent="0"/>
            <a:r>
              <a:rPr lang="en-GB" u="sng">
                <a:hlinkClick r:id="rId3">
                  <a:extLst>
                    <a:ext uri="{A12FA001-AC4F-418D-AE19-62706E023703}">
                      <ahyp:hlinkClr xmlns:ahyp="http://schemas.microsoft.com/office/drawing/2018/hyperlinkcolor" val="tx"/>
                    </a:ext>
                  </a:extLst>
                </a:hlinkClick>
              </a:rPr>
              <a:t>http://www.noorcon.com/articles/Unity3D_Game_Programming_Introduction.html</a:t>
            </a:r>
            <a:endParaRPr lang="en-US"/>
          </a:p>
          <a:p>
            <a:pPr marL="0" indent="0"/>
            <a:r>
              <a:rPr lang="en-GB" u="sng">
                <a:hlinkClick r:id="rId4">
                  <a:extLst>
                    <a:ext uri="{A12FA001-AC4F-418D-AE19-62706E023703}">
                      <ahyp:hlinkClr xmlns:ahyp="http://schemas.microsoft.com/office/drawing/2018/hyperlinkcolor" val="tx"/>
                    </a:ext>
                  </a:extLst>
                </a:hlinkClick>
              </a:rPr>
              <a:t>http://www.noorcon.com/articles/Unity3D_Game_Programming_Part_2.html</a:t>
            </a:r>
            <a:endParaRPr lang="en-US"/>
          </a:p>
          <a:p>
            <a:pPr marL="0" indent="0"/>
            <a:r>
              <a:rPr lang="en-GB" u="sng">
                <a:hlinkClick r:id="rId5">
                  <a:extLst>
                    <a:ext uri="{A12FA001-AC4F-418D-AE19-62706E023703}">
                      <ahyp:hlinkClr xmlns:ahyp="http://schemas.microsoft.com/office/drawing/2018/hyperlinkcolor" val="tx"/>
                    </a:ext>
                  </a:extLst>
                </a:hlinkClick>
              </a:rPr>
              <a:t>http://www.noorcon.com/articles/Unity3D_Game_Programming_Part_3.html</a:t>
            </a:r>
            <a:endParaRPr lang="en-US"/>
          </a:p>
          <a:p>
            <a:pPr marL="0" indent="0"/>
            <a:r>
              <a:rPr lang="en-GB" u="sng">
                <a:hlinkClick r:id="rId6">
                  <a:extLst>
                    <a:ext uri="{A12FA001-AC4F-418D-AE19-62706E023703}">
                      <ahyp:hlinkClr xmlns:ahyp="http://schemas.microsoft.com/office/drawing/2018/hyperlinkcolor" val="tx"/>
                    </a:ext>
                  </a:extLst>
                </a:hlinkClick>
              </a:rPr>
              <a:t>http://www.noorcon.com/articles/Unity3D_Game_Programming_Part_4.html</a:t>
            </a:r>
            <a:endParaRPr lang="en-GB"/>
          </a:p>
        </p:txBody>
      </p:sp>
      <p:sp>
        <p:nvSpPr>
          <p:cNvPr id="157" name="Google Shape;15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a6ae829b62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a6ae829b62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String format shows P for position, R for rotation, and 3 values to 2 floating point value….</a:t>
            </a:r>
          </a:p>
          <a:p>
            <a:pPr marL="0" indent="0"/>
            <a:r>
              <a:rPr lang="en-GB" b="1" u="sng">
                <a:hlinkClick r:id="rId3">
                  <a:extLst>
                    <a:ext uri="{A12FA001-AC4F-418D-AE19-62706E023703}">
                      <ahyp:hlinkClr xmlns:ahyp="http://schemas.microsoft.com/office/drawing/2018/hyperlinkcolor" val="tx"/>
                    </a:ext>
                  </a:extLst>
                </a:hlinkClick>
              </a:rPr>
              <a:t>http://www.noorcon.com/articles/Unity3D_Game_Programming_Part_4.html</a:t>
            </a:r>
            <a:endParaRPr lang="en-GB"/>
          </a:p>
        </p:txBody>
      </p:sp>
      <p:sp>
        <p:nvSpPr>
          <p:cNvPr id="164" name="Google Shape;164;ga6ae829b62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b="1" u="sng">
                <a:hlinkClick r:id="rId3">
                  <a:extLst>
                    <a:ext uri="{A12FA001-AC4F-418D-AE19-62706E023703}">
                      <ahyp:hlinkClr xmlns:ahyp="http://schemas.microsoft.com/office/drawing/2018/hyperlinkcolor" val="tx"/>
                    </a:ext>
                  </a:extLst>
                </a:hlinkClick>
              </a:rPr>
              <a:t>http://www.noorcon.com/articles/Unity3D_Game_Programming_Part_4.html</a:t>
            </a:r>
            <a:endParaRPr lang="en-GB"/>
          </a:p>
          <a:p>
            <a:pPr marL="0" lvl="0" indent="0" algn="l">
              <a:lnSpc>
                <a:spcPct val="100000"/>
              </a:lnSpc>
              <a:spcBef>
                <a:spcPts val="0"/>
              </a:spcBef>
              <a:spcAft>
                <a:spcPts val="0"/>
              </a:spcAft>
              <a:buSzPts val="1400"/>
              <a:buNone/>
            </a:pPr>
            <a:r>
              <a:rPr lang="en-GB"/>
              <a:t>Score:</a:t>
            </a:r>
            <a:endParaRPr/>
          </a:p>
          <a:p>
            <a:pPr marL="0" lvl="0" indent="0" algn="l" rtl="0">
              <a:lnSpc>
                <a:spcPct val="100000"/>
              </a:lnSpc>
              <a:spcBef>
                <a:spcPts val="0"/>
              </a:spcBef>
              <a:spcAft>
                <a:spcPts val="0"/>
              </a:spcAft>
              <a:buSzPts val="1400"/>
              <a:buNone/>
            </a:pPr>
            <a:r>
              <a:rPr lang="en-GB" b="1" u="sng">
                <a:solidFill>
                  <a:srgbClr val="FFFF00"/>
                </a:solidFill>
                <a:hlinkClick r:id="rId4">
                  <a:extLst>
                    <a:ext uri="{A12FA001-AC4F-418D-AE19-62706E023703}">
                      <ahyp:hlinkClr xmlns:ahyp="http://schemas.microsoft.com/office/drawing/2018/hyperlinkcolor" val="tx"/>
                    </a:ext>
                  </a:extLst>
                </a:hlinkClick>
              </a:rPr>
              <a:t>http://www.noorcon.com/articles/Unity3D_Game_Programming_Part_6.html</a:t>
            </a:r>
          </a:p>
          <a:p>
            <a:pPr marL="0" indent="0"/>
            <a:endParaRPr lang="en-GB" b="1" u="sng">
              <a:solidFill>
                <a:srgbClr val="FFFF00"/>
              </a:solidFill>
            </a:endParaRPr>
          </a:p>
        </p:txBody>
      </p:sp>
      <p:sp>
        <p:nvSpPr>
          <p:cNvPr id="172" name="Google Shape;17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a6ae829b62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a6ae829b62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Score:</a:t>
            </a:r>
            <a:endParaRPr/>
          </a:p>
          <a:p>
            <a:pPr marL="0" lvl="0" indent="0" algn="l" rtl="0">
              <a:lnSpc>
                <a:spcPct val="100000"/>
              </a:lnSpc>
              <a:spcBef>
                <a:spcPts val="0"/>
              </a:spcBef>
              <a:spcAft>
                <a:spcPts val="0"/>
              </a:spcAft>
              <a:buSzPts val="1400"/>
              <a:buNone/>
            </a:pPr>
            <a:r>
              <a:rPr lang="en-GB" b="1" u="sng">
                <a:solidFill>
                  <a:srgbClr val="FFFF00"/>
                </a:solidFill>
                <a:hlinkClick r:id="rId3">
                  <a:extLst>
                    <a:ext uri="{A12FA001-AC4F-418D-AE19-62706E023703}">
                      <ahyp:hlinkClr xmlns:ahyp="http://schemas.microsoft.com/office/drawing/2018/hyperlinkcolor" val="tx"/>
                    </a:ext>
                  </a:extLst>
                </a:hlinkClick>
              </a:rPr>
              <a:t>http://www.noorcon.com/articles/Unity3D_Game_Programming_Part_6.html</a:t>
            </a:r>
            <a:endParaRPr/>
          </a:p>
        </p:txBody>
      </p:sp>
      <p:sp>
        <p:nvSpPr>
          <p:cNvPr id="180" name="Google Shape;180;ga6ae829b62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https://www.assetstore.unity3d.com/en/#!/content/25468</a:t>
            </a:r>
            <a:endParaRPr sz="1200"/>
          </a:p>
          <a:p>
            <a:pPr marL="0" lvl="0" indent="0" algn="l" rtl="0">
              <a:lnSpc>
                <a:spcPct val="100000"/>
              </a:lnSpc>
              <a:spcBef>
                <a:spcPts val="0"/>
              </a:spcBef>
              <a:spcAft>
                <a:spcPts val="0"/>
              </a:spcAft>
              <a:buSzPts val="1400"/>
              <a:buNone/>
            </a:pPr>
            <a:r>
              <a:rPr lang="en-GB" sz="1200" b="0">
                <a:solidFill>
                  <a:srgbClr val="FFFF00"/>
                </a:solidFill>
              </a:rPr>
              <a:t>Slider – control and display</a:t>
            </a:r>
            <a:endParaRPr/>
          </a:p>
          <a:p>
            <a:pPr marL="0" lvl="0" indent="0" algn="l" rtl="0">
              <a:lnSpc>
                <a:spcPct val="100000"/>
              </a:lnSpc>
              <a:spcBef>
                <a:spcPts val="0"/>
              </a:spcBef>
              <a:spcAft>
                <a:spcPts val="0"/>
              </a:spcAft>
              <a:buSzPts val="1400"/>
              <a:buNone/>
            </a:pPr>
            <a:r>
              <a:rPr lang="en-GB" sz="1200" b="0" u="sng">
                <a:solidFill>
                  <a:srgbClr val="FFFF00"/>
                </a:solidFill>
                <a:hlinkClick r:id="rId4">
                  <a:extLst>
                    <a:ext uri="{A12FA001-AC4F-418D-AE19-62706E023703}">
                      <ahyp:hlinkClr xmlns:ahyp="http://schemas.microsoft.com/office/drawing/2018/hyperlinkcolor" val="tx"/>
                    </a:ext>
                  </a:extLst>
                </a:hlinkClick>
              </a:rPr>
              <a:t>https://www.youtube.com/watch?v=lNdhNHNwpjI</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Layouts and Spaces</a:t>
            </a:r>
            <a:endParaRPr/>
          </a:p>
          <a:p>
            <a:pPr marL="0" lvl="0" indent="0" algn="l" rtl="0">
              <a:lnSpc>
                <a:spcPct val="100000"/>
              </a:lnSpc>
              <a:spcBef>
                <a:spcPts val="0"/>
              </a:spcBef>
              <a:spcAft>
                <a:spcPts val="0"/>
              </a:spcAft>
              <a:buSzPts val="1400"/>
              <a:buNone/>
            </a:pPr>
            <a:r>
              <a:rPr lang="en-GB" sz="1200" b="0" u="sng">
                <a:solidFill>
                  <a:srgbClr val="FFFF00"/>
                </a:solidFill>
                <a:hlinkClick r:id="rId5">
                  <a:extLst>
                    <a:ext uri="{A12FA001-AC4F-418D-AE19-62706E023703}">
                      <ahyp:hlinkClr xmlns:ahyp="http://schemas.microsoft.com/office/drawing/2018/hyperlinkcolor" val="tx"/>
                    </a:ext>
                  </a:extLst>
                </a:hlinkClick>
              </a:rPr>
              <a:t>https://www.youtube.com/watch?v=OD-p1eMsyrU</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Animated Buttons</a:t>
            </a:r>
            <a:endParaRPr/>
          </a:p>
          <a:p>
            <a:pPr marL="0" lvl="0" indent="0" algn="l" rtl="0">
              <a:lnSpc>
                <a:spcPct val="100000"/>
              </a:lnSpc>
              <a:spcBef>
                <a:spcPts val="0"/>
              </a:spcBef>
              <a:spcAft>
                <a:spcPts val="0"/>
              </a:spcAft>
              <a:buSzPts val="1400"/>
              <a:buNone/>
            </a:pPr>
            <a:endParaRPr sz="1200" b="0">
              <a:solidFill>
                <a:srgbClr val="FFFF00"/>
              </a:solidFill>
            </a:endParaRPr>
          </a:p>
          <a:p>
            <a:pPr marL="0" lvl="0" indent="0" algn="l" rtl="0">
              <a:lnSpc>
                <a:spcPct val="100000"/>
              </a:lnSpc>
              <a:spcBef>
                <a:spcPts val="0"/>
              </a:spcBef>
              <a:spcAft>
                <a:spcPts val="0"/>
              </a:spcAft>
              <a:buSzPts val="1400"/>
              <a:buNone/>
            </a:pPr>
            <a:endParaRPr sz="1200" b="1">
              <a:solidFill>
                <a:srgbClr val="FFFF00"/>
              </a:solidFill>
            </a:endParaRPr>
          </a:p>
          <a:p>
            <a:pPr marL="0" marR="0" lvl="0" indent="0" algn="l" rtl="0">
              <a:lnSpc>
                <a:spcPct val="100000"/>
              </a:lnSpc>
              <a:spcBef>
                <a:spcPts val="0"/>
              </a:spcBef>
              <a:spcAft>
                <a:spcPts val="0"/>
              </a:spcAft>
              <a:buClr>
                <a:schemeClr val="dk1"/>
              </a:buClr>
              <a:buSzPts val="1200"/>
              <a:buFont typeface="Calibri"/>
              <a:buNone/>
            </a:pPr>
            <a:endParaRPr sz="1200"/>
          </a:p>
          <a:p>
            <a:pPr marL="0" lvl="0" indent="0" algn="l" rtl="0">
              <a:lnSpc>
                <a:spcPct val="100000"/>
              </a:lnSpc>
              <a:spcBef>
                <a:spcPts val="0"/>
              </a:spcBef>
              <a:spcAft>
                <a:spcPts val="0"/>
              </a:spcAft>
              <a:buSzPts val="1400"/>
              <a:buNone/>
            </a:pPr>
            <a:endParaRPr/>
          </a:p>
        </p:txBody>
      </p:sp>
      <p:sp>
        <p:nvSpPr>
          <p:cNvPr id="187" name="Google Shape;18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https://www.assetstore.unity3d.com/en/#!/content/25468</a:t>
            </a:r>
            <a:endParaRPr sz="1200"/>
          </a:p>
          <a:p>
            <a:pPr marL="0" lvl="0" indent="0" algn="l" rtl="0">
              <a:lnSpc>
                <a:spcPct val="100000"/>
              </a:lnSpc>
              <a:spcBef>
                <a:spcPts val="0"/>
              </a:spcBef>
              <a:spcAft>
                <a:spcPts val="0"/>
              </a:spcAft>
              <a:buSzPts val="1400"/>
              <a:buNone/>
            </a:pPr>
            <a:r>
              <a:rPr lang="en-GB" sz="1200" b="0">
                <a:solidFill>
                  <a:srgbClr val="FFFF00"/>
                </a:solidFill>
              </a:rPr>
              <a:t>Slider – control and display</a:t>
            </a:r>
            <a:endParaRPr/>
          </a:p>
          <a:p>
            <a:pPr marL="0" lvl="0" indent="0" algn="l" rtl="0">
              <a:lnSpc>
                <a:spcPct val="100000"/>
              </a:lnSpc>
              <a:spcBef>
                <a:spcPts val="0"/>
              </a:spcBef>
              <a:spcAft>
                <a:spcPts val="0"/>
              </a:spcAft>
              <a:buSzPts val="1400"/>
              <a:buNone/>
            </a:pPr>
            <a:r>
              <a:rPr lang="en-GB" sz="1200" b="0" u="sng">
                <a:solidFill>
                  <a:srgbClr val="FFFF00"/>
                </a:solidFill>
                <a:hlinkClick r:id="rId4">
                  <a:extLst>
                    <a:ext uri="{A12FA001-AC4F-418D-AE19-62706E023703}">
                      <ahyp:hlinkClr xmlns:ahyp="http://schemas.microsoft.com/office/drawing/2018/hyperlinkcolor" val="tx"/>
                    </a:ext>
                  </a:extLst>
                </a:hlinkClick>
              </a:rPr>
              <a:t>https://www.youtube.com/watch?v=lNdhNHNwpjI</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Layouts and Spaces</a:t>
            </a:r>
            <a:endParaRPr/>
          </a:p>
          <a:p>
            <a:pPr marL="0" lvl="0" indent="0" algn="l" rtl="0">
              <a:lnSpc>
                <a:spcPct val="100000"/>
              </a:lnSpc>
              <a:spcBef>
                <a:spcPts val="0"/>
              </a:spcBef>
              <a:spcAft>
                <a:spcPts val="0"/>
              </a:spcAft>
              <a:buSzPts val="1400"/>
              <a:buNone/>
            </a:pPr>
            <a:r>
              <a:rPr lang="en-GB" sz="1200" b="0" u="sng">
                <a:solidFill>
                  <a:srgbClr val="FFFF00"/>
                </a:solidFill>
                <a:hlinkClick r:id="rId5">
                  <a:extLst>
                    <a:ext uri="{A12FA001-AC4F-418D-AE19-62706E023703}">
                      <ahyp:hlinkClr xmlns:ahyp="http://schemas.microsoft.com/office/drawing/2018/hyperlinkcolor" val="tx"/>
                    </a:ext>
                  </a:extLst>
                </a:hlinkClick>
              </a:rPr>
              <a:t>https://www.youtube.com/watch?v=OD-p1eMsyrU</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Animated Buttons</a:t>
            </a:r>
            <a:endParaRPr/>
          </a:p>
          <a:p>
            <a:pPr marL="0" lvl="0" indent="0" algn="l" rtl="0">
              <a:lnSpc>
                <a:spcPct val="100000"/>
              </a:lnSpc>
              <a:spcBef>
                <a:spcPts val="0"/>
              </a:spcBef>
              <a:spcAft>
                <a:spcPts val="0"/>
              </a:spcAft>
              <a:buSzPts val="1400"/>
              <a:buNone/>
            </a:pPr>
            <a:endParaRPr sz="1200" b="0">
              <a:solidFill>
                <a:srgbClr val="FFFF00"/>
              </a:solidFill>
            </a:endParaRPr>
          </a:p>
          <a:p>
            <a:pPr marL="0" lvl="0" indent="0" algn="l" rtl="0">
              <a:lnSpc>
                <a:spcPct val="100000"/>
              </a:lnSpc>
              <a:spcBef>
                <a:spcPts val="0"/>
              </a:spcBef>
              <a:spcAft>
                <a:spcPts val="0"/>
              </a:spcAft>
              <a:buSzPts val="1400"/>
              <a:buNone/>
            </a:pPr>
            <a:endParaRPr sz="1200" b="1">
              <a:solidFill>
                <a:srgbClr val="FFFF00"/>
              </a:solidFill>
            </a:endParaRPr>
          </a:p>
          <a:p>
            <a:pPr marL="0" marR="0" lvl="0" indent="0" algn="l" rtl="0">
              <a:lnSpc>
                <a:spcPct val="100000"/>
              </a:lnSpc>
              <a:spcBef>
                <a:spcPts val="0"/>
              </a:spcBef>
              <a:spcAft>
                <a:spcPts val="0"/>
              </a:spcAft>
              <a:buClr>
                <a:schemeClr val="dk1"/>
              </a:buClr>
              <a:buSzPts val="1200"/>
              <a:buFont typeface="Calibri"/>
              <a:buNone/>
            </a:pPr>
            <a:endParaRPr sz="1200"/>
          </a:p>
          <a:p>
            <a:pPr marL="0" lvl="0" indent="0" algn="l" rtl="0">
              <a:lnSpc>
                <a:spcPct val="100000"/>
              </a:lnSpc>
              <a:spcBef>
                <a:spcPts val="0"/>
              </a:spcBef>
              <a:spcAft>
                <a:spcPts val="0"/>
              </a:spcAft>
              <a:buSzPts val="1400"/>
              <a:buNone/>
            </a:pPr>
            <a:endParaRPr/>
          </a:p>
        </p:txBody>
      </p:sp>
      <p:sp>
        <p:nvSpPr>
          <p:cNvPr id="203" name="Google Shape;20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GB" b="1"/>
              <a:t>Menu</a:t>
            </a:r>
            <a:endParaRPr lang="en-US"/>
          </a:p>
          <a:p>
            <a:pPr marL="0" lvl="0" indent="0" algn="l">
              <a:lnSpc>
                <a:spcPct val="100000"/>
              </a:lnSpc>
              <a:spcBef>
                <a:spcPts val="0"/>
              </a:spcBef>
              <a:spcAft>
                <a:spcPts val="0"/>
              </a:spcAft>
              <a:buNone/>
            </a:pPr>
            <a:r>
              <a:rPr lang="en-GB" b="1" u="sng">
                <a:hlinkClick r:id="rId3">
                  <a:extLst>
                    <a:ext uri="{A12FA001-AC4F-418D-AE19-62706E023703}">
                      <ahyp:hlinkClr xmlns:ahyp="http://schemas.microsoft.com/office/drawing/2018/hyperlinkcolor" val="tx"/>
                    </a:ext>
                  </a:extLst>
                </a:hlinkClick>
              </a:rPr>
              <a:t>http://www.noorcon.com/articles/Unity3D_Game_Programming_Part_9.html</a:t>
            </a:r>
            <a:endParaRPr/>
          </a:p>
        </p:txBody>
      </p:sp>
      <p:sp>
        <p:nvSpPr>
          <p:cNvPr id="217" name="Google Shape;21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0"/>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0"/>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lnSpc>
                <a:spcPct val="100000"/>
              </a:lnSpc>
              <a:spcBef>
                <a:spcPts val="480"/>
              </a:spcBef>
              <a:spcAft>
                <a:spcPts val="0"/>
              </a:spcAft>
              <a:buClr>
                <a:schemeClr val="dk1"/>
              </a:buClr>
              <a:buSzPts val="2400"/>
              <a:buNone/>
              <a:defRPr>
                <a:solidFill>
                  <a:schemeClr val="dk1"/>
                </a:solidFill>
              </a:defRPr>
            </a:lvl2pPr>
            <a:lvl3pPr lvl="2" algn="ctr">
              <a:lnSpc>
                <a:spcPct val="100000"/>
              </a:lnSpc>
              <a:spcBef>
                <a:spcPts val="400"/>
              </a:spcBef>
              <a:spcAft>
                <a:spcPts val="0"/>
              </a:spcAft>
              <a:buClr>
                <a:schemeClr val="dk1"/>
              </a:buClr>
              <a:buSzPts val="2000"/>
              <a:buNone/>
              <a:defRPr>
                <a:solidFill>
                  <a:schemeClr val="dk1"/>
                </a:solidFill>
              </a:defRPr>
            </a:lvl3pPr>
            <a:lvl4pPr lvl="3" algn="ctr">
              <a:lnSpc>
                <a:spcPct val="100000"/>
              </a:lnSpc>
              <a:spcBef>
                <a:spcPts val="360"/>
              </a:spcBef>
              <a:spcAft>
                <a:spcPts val="0"/>
              </a:spcAft>
              <a:buClr>
                <a:schemeClr val="dk1"/>
              </a:buClr>
              <a:buSzPts val="1800"/>
              <a:buNone/>
              <a:defRPr>
                <a:solidFill>
                  <a:schemeClr val="dk1"/>
                </a:solidFill>
              </a:defRPr>
            </a:lvl4pPr>
            <a:lvl5pPr lvl="4" algn="ctr">
              <a:lnSpc>
                <a:spcPct val="100000"/>
              </a:lnSpc>
              <a:spcBef>
                <a:spcPts val="360"/>
              </a:spcBef>
              <a:spcAft>
                <a:spcPts val="0"/>
              </a:spcAft>
              <a:buClr>
                <a:schemeClr val="dk1"/>
              </a:buClr>
              <a:buSzPts val="18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2"/>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a:solidFill>
                  <a:schemeClr val="dk1"/>
                </a:solidFill>
              </a:defRPr>
            </a:lvl1pPr>
            <a:lvl2pPr marL="914400" lvl="1" indent="-381000" algn="l">
              <a:lnSpc>
                <a:spcPct val="100000"/>
              </a:lnSpc>
              <a:spcBef>
                <a:spcPts val="480"/>
              </a:spcBef>
              <a:spcAft>
                <a:spcPts val="0"/>
              </a:spcAft>
              <a:buClr>
                <a:schemeClr val="dk1"/>
              </a:buClr>
              <a:buSzPts val="2400"/>
              <a:buChar char="–"/>
              <a:defRPr>
                <a:solidFill>
                  <a:schemeClr val="dk1"/>
                </a:solidFill>
              </a:defRPr>
            </a:lvl2pPr>
            <a:lvl3pPr marL="1371600" lvl="2" indent="-355600" algn="l">
              <a:lnSpc>
                <a:spcPct val="100000"/>
              </a:lnSpc>
              <a:spcBef>
                <a:spcPts val="400"/>
              </a:spcBef>
              <a:spcAft>
                <a:spcPts val="0"/>
              </a:spcAft>
              <a:buClr>
                <a:schemeClr val="dk1"/>
              </a:buClr>
              <a:buSzPts val="2000"/>
              <a:buChar char="•"/>
              <a:defRPr>
                <a:solidFill>
                  <a:schemeClr val="dk1"/>
                </a:solidFill>
              </a:defRPr>
            </a:lvl3pPr>
            <a:lvl4pPr marL="1828800" lvl="3" indent="-342900" algn="l">
              <a:lnSpc>
                <a:spcPct val="100000"/>
              </a:lnSpc>
              <a:spcBef>
                <a:spcPts val="360"/>
              </a:spcBef>
              <a:spcAft>
                <a:spcPts val="0"/>
              </a:spcAft>
              <a:buClr>
                <a:schemeClr val="dk1"/>
              </a:buClr>
              <a:buSzPts val="1800"/>
              <a:buChar char="–"/>
              <a:defRPr>
                <a:solidFill>
                  <a:schemeClr val="dk1"/>
                </a:solidFill>
              </a:defRPr>
            </a:lvl4pPr>
            <a:lvl5pPr marL="2286000" lvl="4" indent="-342900" algn="l">
              <a:lnSpc>
                <a:spcPct val="100000"/>
              </a:lnSpc>
              <a:spcBef>
                <a:spcPts val="360"/>
              </a:spcBef>
              <a:spcAft>
                <a:spcPts val="0"/>
              </a:spcAft>
              <a:buClr>
                <a:schemeClr val="dk1"/>
              </a:buClr>
              <a:buSzPts val="18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33"/>
          <p:cNvSpPr/>
          <p:nvPr/>
        </p:nvSpPr>
        <p:spPr>
          <a:xfrm>
            <a:off x="6216395" y="1556056"/>
            <a:ext cx="5361312" cy="613784"/>
          </a:xfrm>
          <a:prstGeom prst="rect">
            <a:avLst/>
          </a:prstGeom>
          <a:solidFill>
            <a:srgbClr val="FFFFFF">
              <a:alpha val="3529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7" name="Google Shape;27;p33"/>
          <p:cNvSpPr/>
          <p:nvPr/>
        </p:nvSpPr>
        <p:spPr>
          <a:xfrm>
            <a:off x="638677" y="1556792"/>
            <a:ext cx="5361312" cy="613784"/>
          </a:xfrm>
          <a:prstGeom prst="rect">
            <a:avLst/>
          </a:prstGeom>
          <a:solidFill>
            <a:srgbClr val="FFFFFF">
              <a:alpha val="3529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8" name="Google Shape;28;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0" name="Google Shape;30;p3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1" name="Google Shape;31;p3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2" name="Google Shape;32;p3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pic>
        <p:nvPicPr>
          <p:cNvPr id="33" name="Google Shape;33;p33">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33">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7" name="Google Shape;37;p34">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29"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29"/>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29">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29">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29"/>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blend4web.com/apps/dairy_plant/dairy_plant.html?v=93906d9bd04fe610df690c519724295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estminster.cloud.panopto.eu/Panopto/Pages/Viewer.aspx?id=22ba15c1-b106-4f12-a65f-b09f010dc569"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unity3d.com/learn/tutorials/topics/user-interface-ui/ui-events-and-event-trigger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unity3d.com/learn/tutorials/topics/user-interface-ui/ui-events-and-event-trigger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lynda.com/Unity-tutorials/Create-button-element/489008/519845-4.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lynda.com/Unity-tutorials/Create-button-element/489008/519845-4.htm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mgaUKk8hfj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unity3d.com/learn/tutorials/modules/beginner/live-training-archive/the-new-ui?playlist=1711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packtpub.com/mapt/book/Game%20Development/9781785885822/2/ch02lvl1sec19/Implementing+a+score+counter" TargetMode="External"/><Relationship Id="rId3" Type="http://schemas.openxmlformats.org/officeDocument/2006/relationships/hyperlink" Target="http://www.noorcon.com/articles/Unity3D_Game_Programming_Part_4.html" TargetMode="External"/><Relationship Id="rId7" Type="http://schemas.openxmlformats.org/officeDocument/2006/relationships/hyperlink" Target="https://www.packtpub.com/mapt/book/Game%20Development/9781785885822/3/ch03lvl1sec29/Implementing+a+numeric+timer"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www.noorcon.com/articles/Unity3D_Game_Programming_Part_6.html" TargetMode="External"/><Relationship Id="rId5" Type="http://schemas.openxmlformats.org/officeDocument/2006/relationships/hyperlink" Target="https://www.packtpub.com/mapt/book/Game%20Development/9781785885822/2/ch02lvl1sec23/Implementing+a+linear+health+bar" TargetMode="External"/><Relationship Id="rId4" Type="http://schemas.openxmlformats.org/officeDocument/2006/relationships/hyperlink" Target="http://www.noorcon.com/articles/Unity3D_Game_Programming_Part_9.ht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FIa7qxGaRZo&amp;index=86&amp;list=PLX2vGYjWbI0Tg4eS9w29PPqg0Fx4sIL7p"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www.packtpub.com/mapt#collapse10" TargetMode="External"/><Relationship Id="rId4" Type="http://schemas.openxmlformats.org/officeDocument/2006/relationships/hyperlink" Target="https://www.packtpub.com/mapt/book/Game%20Development/9781785885822"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nGYObojmkO4"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www.youtube.com/watch?v=TAJCr3_kfE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1"/>
          <p:cNvSpPr txBox="1">
            <a:spLocks noGrp="1"/>
          </p:cNvSpPr>
          <p:nvPr>
            <p:ph type="subTitle" idx="1"/>
          </p:nvPr>
        </p:nvSpPr>
        <p:spPr>
          <a:xfrm>
            <a:off x="914400" y="3212976"/>
            <a:ext cx="10363200" cy="2808312"/>
          </a:xfrm>
          <a:prstGeom prst="rect">
            <a:avLst/>
          </a:prstGeom>
          <a:noFill/>
          <a:ln>
            <a:noFill/>
          </a:ln>
        </p:spPr>
        <p:txBody>
          <a:bodyPr spcFirstLastPara="1" wrap="square" lIns="91425" tIns="45700" rIns="91425" bIns="45700" anchor="t" anchorCtr="0">
            <a:normAutofit/>
          </a:bodyPr>
          <a:lstStyle/>
          <a:p>
            <a:pPr marL="0" indent="0">
              <a:spcBef>
                <a:spcPts val="0"/>
              </a:spcBef>
              <a:buClr>
                <a:srgbClr val="FFFF00"/>
              </a:buClr>
            </a:pPr>
            <a:r>
              <a:rPr lang="en-GB" b="1" dirty="0">
                <a:solidFill>
                  <a:srgbClr val="FFFF00"/>
                </a:solidFill>
              </a:rPr>
              <a:t>5MMCS001W                Lecture 05a					</a:t>
            </a:r>
            <a:endParaRPr lang="en-US" b="1" dirty="0">
              <a:solidFill>
                <a:srgbClr val="FFFF00"/>
              </a:solidFill>
            </a:endParaRPr>
          </a:p>
          <a:p>
            <a:pPr marL="0" lvl="0" indent="0" algn="l" rtl="0">
              <a:lnSpc>
                <a:spcPct val="100000"/>
              </a:lnSpc>
              <a:spcBef>
                <a:spcPts val="560"/>
              </a:spcBef>
              <a:spcAft>
                <a:spcPts val="0"/>
              </a:spcAft>
              <a:buClr>
                <a:schemeClr val="dk1"/>
              </a:buClr>
              <a:buSzPts val="2800"/>
              <a:buNone/>
            </a:pPr>
            <a:endParaRPr>
              <a:solidFill>
                <a:srgbClr val="FF0000"/>
              </a:solidFill>
            </a:endParaRPr>
          </a:p>
          <a:p>
            <a:pPr marL="0" lvl="0" indent="0" algn="ctr" rtl="0">
              <a:lnSpc>
                <a:spcPct val="100000"/>
              </a:lnSpc>
              <a:spcBef>
                <a:spcPts val="360"/>
              </a:spcBef>
              <a:spcAft>
                <a:spcPts val="0"/>
              </a:spcAft>
              <a:buClr>
                <a:schemeClr val="dk1"/>
              </a:buClr>
              <a:buSzPts val="1800"/>
              <a:buNone/>
            </a:pPr>
            <a:r>
              <a:rPr lang="en-GB" sz="1800" u="sng" dirty="0">
                <a:solidFill>
                  <a:schemeClr val="hlink"/>
                </a:solidFill>
                <a:hlinkClick r:id="rId3">
                  <a:extLst>
                    <a:ext uri="{A12FA001-AC4F-418D-AE19-62706E023703}">
                      <ahyp:hlinkClr xmlns:ahyp="http://schemas.microsoft.com/office/drawing/2018/hyperlinkcolor" val="tx"/>
                    </a:ext>
                  </a:extLst>
                </a:hlinkClick>
              </a:rPr>
              <a:t>https://www.blend4web.com/apps/dairy_plant/dairy_plant.html?v=93906d9bd04fe610df690c519724295f</a:t>
            </a:r>
            <a:endParaRPr sz="1800" dirty="0">
              <a:solidFill>
                <a:schemeClr val="hlink"/>
              </a:solidFill>
            </a:endParaRPr>
          </a:p>
          <a:p>
            <a:pPr marL="0" lvl="0" indent="0" algn="ctr" rtl="0">
              <a:lnSpc>
                <a:spcPct val="100000"/>
              </a:lnSpc>
              <a:spcBef>
                <a:spcPts val="560"/>
              </a:spcBef>
              <a:spcAft>
                <a:spcPts val="0"/>
              </a:spcAft>
              <a:buClr>
                <a:schemeClr val="dk1"/>
              </a:buClr>
              <a:buSzPts val="2800"/>
              <a:buNone/>
            </a:pP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3"/>
          <p:cNvSpPr txBox="1"/>
          <p:nvPr/>
        </p:nvSpPr>
        <p:spPr>
          <a:xfrm>
            <a:off x="609600" y="1269254"/>
            <a:ext cx="10890600" cy="54168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2800" b="1" i="0" u="none" strike="noStrike" cap="none">
                <a:solidFill>
                  <a:srgbClr val="FFFF00"/>
                </a:solidFill>
                <a:latin typeface="Quattrocento Sans"/>
                <a:ea typeface="Quattrocento Sans"/>
                <a:cs typeface="Quattrocento Sans"/>
                <a:sym typeface="Quattrocento Sans"/>
              </a:rPr>
              <a:t>Troubleshooting</a:t>
            </a:r>
            <a:endParaRPr sz="600" b="0" i="0" u="none" strike="noStrike" cap="none">
              <a:solidFill>
                <a:srgbClr val="000000"/>
              </a:solidFill>
              <a:latin typeface="Arial"/>
              <a:ea typeface="Arial"/>
              <a:cs typeface="Arial"/>
              <a:sym typeface="Arial"/>
            </a:endParaRPr>
          </a:p>
          <a:p>
            <a:pPr marL="0" lvl="0" indent="0" algn="l" rtl="0">
              <a:spcBef>
                <a:spcPts val="0"/>
              </a:spcBef>
              <a:spcAft>
                <a:spcPts val="0"/>
              </a:spcAft>
              <a:buClr>
                <a:srgbClr val="000000"/>
              </a:buClr>
              <a:buFont typeface="Arial"/>
              <a:buNone/>
            </a:pPr>
            <a:endParaRPr sz="2000" b="1">
              <a:solidFill>
                <a:srgbClr val="FFFF00"/>
              </a:solidFill>
              <a:latin typeface="Quattrocento Sans"/>
              <a:ea typeface="Quattrocento Sans"/>
              <a:cs typeface="Quattrocento Sans"/>
              <a:sym typeface="Quattrocento Sans"/>
            </a:endParaRPr>
          </a:p>
          <a:p>
            <a:r>
              <a:rPr lang="en-GB" sz="2000" b="1">
                <a:solidFill>
                  <a:srgbClr val="FFFF00"/>
                </a:solidFill>
                <a:latin typeface="Quattrocento Sans"/>
                <a:ea typeface="Quattrocento Sans"/>
                <a:cs typeface="Quattrocento Sans"/>
                <a:sym typeface="Quattrocento Sans"/>
              </a:rPr>
              <a:t>Use </a:t>
            </a:r>
            <a:endParaRPr lang="en-GB">
              <a:ea typeface="Quattrocento Sans"/>
              <a:sym typeface="Quattrocento Sans"/>
            </a:endParaRPr>
          </a:p>
          <a:p>
            <a:r>
              <a:rPr lang="en-GB" sz="2000" b="1" err="1">
                <a:solidFill>
                  <a:srgbClr val="FFFF00"/>
                </a:solidFill>
                <a:latin typeface="Quattrocento Sans"/>
                <a:ea typeface="Quattrocento Sans"/>
                <a:cs typeface="Quattrocento Sans"/>
                <a:sym typeface="Quattrocento Sans"/>
              </a:rPr>
              <a:t>Github</a:t>
            </a:r>
            <a:r>
              <a:rPr lang="en-GB" sz="2000" b="1">
                <a:solidFill>
                  <a:srgbClr val="FFFF00"/>
                </a:solidFill>
                <a:latin typeface="Quattrocento Sans"/>
                <a:ea typeface="Quattrocento Sans"/>
                <a:cs typeface="Quattrocento Sans"/>
                <a:sym typeface="Quattrocento Sans"/>
              </a:rPr>
              <a:t> Desktop/VS Code for Versioning on Apple Mac, </a:t>
            </a:r>
            <a:endParaRPr lang="en-GB">
              <a:ea typeface="Quattrocento Sans"/>
            </a:endParaRPr>
          </a:p>
          <a:p>
            <a:r>
              <a:rPr lang="en-GB" sz="2000" b="1" err="1">
                <a:solidFill>
                  <a:srgbClr val="FFFF00"/>
                </a:solidFill>
                <a:latin typeface="Quattrocento Sans"/>
                <a:ea typeface="Quattrocento Sans"/>
                <a:cs typeface="Quattrocento Sans"/>
                <a:sym typeface="Quattrocento Sans"/>
              </a:rPr>
              <a:t>Github</a:t>
            </a:r>
            <a:r>
              <a:rPr lang="en-GB" sz="2000" b="1">
                <a:solidFill>
                  <a:srgbClr val="FFFF00"/>
                </a:solidFill>
                <a:latin typeface="Quattrocento Sans"/>
                <a:ea typeface="Quattrocento Sans"/>
                <a:cs typeface="Quattrocento Sans"/>
                <a:sym typeface="Quattrocento Sans"/>
              </a:rPr>
              <a:t> website and Visual Studio on Windows</a:t>
            </a:r>
            <a:endParaRPr lang="en-GB">
              <a:ea typeface="Quattrocento Sans"/>
            </a:endParaRPr>
          </a:p>
          <a:p>
            <a:endParaRPr lang="en-GB" sz="2000" b="1">
              <a:solidFill>
                <a:srgbClr val="FF0000"/>
              </a:solidFill>
              <a:ea typeface="Quattrocento Sans"/>
            </a:endParaRPr>
          </a:p>
          <a:p>
            <a:r>
              <a:rPr lang="en-GB" sz="2000" b="1">
                <a:solidFill>
                  <a:srgbClr val="FFFF00"/>
                </a:solidFill>
                <a:latin typeface="Quattrocento Sans"/>
                <a:ea typeface="Quattrocento Sans"/>
                <a:cs typeface="Quattrocento Sans"/>
                <a:sym typeface="Quattrocento Sans"/>
              </a:rPr>
              <a:t>Play/Play-Pause Buttons selected in Unity</a:t>
            </a:r>
            <a:endParaRPr/>
          </a:p>
          <a:p>
            <a:pPr marL="0" lvl="0" indent="0" algn="l" rtl="0">
              <a:spcBef>
                <a:spcPts val="0"/>
              </a:spcBef>
              <a:spcAft>
                <a:spcPts val="0"/>
              </a:spcAft>
              <a:buClr>
                <a:srgbClr val="000000"/>
              </a:buClr>
              <a:buFont typeface="Arial"/>
              <a:buNone/>
            </a:pPr>
            <a:r>
              <a:rPr lang="en-GB" sz="2000" b="1">
                <a:solidFill>
                  <a:srgbClr val="FFFF00"/>
                </a:solidFill>
                <a:latin typeface="Quattrocento Sans"/>
                <a:ea typeface="Quattrocento Sans"/>
                <a:cs typeface="Quattrocento Sans"/>
                <a:sym typeface="Quattrocento Sans"/>
              </a:rPr>
              <a:t>	</a:t>
            </a:r>
            <a:r>
              <a:rPr lang="en-GB" sz="2000" b="1">
                <a:solidFill>
                  <a:schemeClr val="dk1"/>
                </a:solidFill>
                <a:latin typeface="Quattrocento Sans"/>
                <a:ea typeface="Quattrocento Sans"/>
                <a:cs typeface="Quattrocento Sans"/>
                <a:sym typeface="Quattrocento Sans"/>
              </a:rPr>
              <a:t>You lose all adjustments made while these are on</a:t>
            </a:r>
            <a:endParaRPr sz="2000" b="1">
              <a:solidFill>
                <a:schemeClr val="dk1"/>
              </a:solidFill>
              <a:latin typeface="Quattrocento Sans"/>
              <a:ea typeface="Quattrocento Sans"/>
              <a:cs typeface="Quattrocento Sans"/>
              <a:sym typeface="Quattrocento Sans"/>
            </a:endParaRPr>
          </a:p>
          <a:p>
            <a:pPr marL="0" lvl="0" indent="0" algn="l" rtl="0">
              <a:spcBef>
                <a:spcPts val="0"/>
              </a:spcBef>
              <a:spcAft>
                <a:spcPts val="0"/>
              </a:spcAft>
              <a:buClr>
                <a:srgbClr val="000000"/>
              </a:buClr>
              <a:buFont typeface="Arial"/>
              <a:buNone/>
            </a:pPr>
            <a:endParaRPr sz="2000" b="1">
              <a:solidFill>
                <a:schemeClr val="dk1"/>
              </a:solidFill>
              <a:latin typeface="Quattrocento Sans"/>
              <a:ea typeface="Quattrocento Sans"/>
              <a:cs typeface="Quattrocento Sans"/>
              <a:sym typeface="Quattrocento Sans"/>
            </a:endParaRPr>
          </a:p>
          <a:p>
            <a:r>
              <a:rPr lang="en-GB" sz="2000" b="1">
                <a:solidFill>
                  <a:srgbClr val="FFFF00"/>
                </a:solidFill>
                <a:latin typeface="Quattrocento Sans"/>
                <a:ea typeface="Quattrocento Sans"/>
                <a:cs typeface="Quattrocento Sans"/>
                <a:sym typeface="Quattrocento Sans"/>
              </a:rPr>
              <a:t>Do not work off Network, H Drive or USB drive!!!</a:t>
            </a:r>
            <a:endParaRPr sz="2000" b="1">
              <a:solidFill>
                <a:srgbClr val="FFFF00"/>
              </a:solidFill>
              <a:latin typeface="Quattrocento Sans"/>
              <a:ea typeface="Quattrocento Sans"/>
              <a:cs typeface="Quattrocento Sans"/>
              <a:sym typeface="Quattrocento Sans"/>
            </a:endParaRPr>
          </a:p>
          <a:p>
            <a:pPr marL="0" lvl="0" indent="0" algn="l" rtl="0">
              <a:spcBef>
                <a:spcPts val="0"/>
              </a:spcBef>
              <a:spcAft>
                <a:spcPts val="0"/>
              </a:spcAft>
              <a:buClr>
                <a:srgbClr val="000000"/>
              </a:buClr>
              <a:buFont typeface="Arial"/>
              <a:buNone/>
            </a:pPr>
            <a:r>
              <a:rPr lang="en-GB" sz="2000" b="1">
                <a:solidFill>
                  <a:srgbClr val="FFFF00"/>
                </a:solidFill>
                <a:latin typeface="Quattrocento Sans"/>
                <a:ea typeface="Quattrocento Sans"/>
                <a:cs typeface="Quattrocento Sans"/>
                <a:sym typeface="Quattrocento Sans"/>
              </a:rPr>
              <a:t>	</a:t>
            </a:r>
            <a:r>
              <a:rPr lang="en-GB" sz="2000" b="1">
                <a:solidFill>
                  <a:schemeClr val="dk1"/>
                </a:solidFill>
                <a:latin typeface="Quattrocento Sans"/>
                <a:ea typeface="Quattrocento Sans"/>
                <a:cs typeface="Quattrocento Sans"/>
                <a:sym typeface="Quattrocento Sans"/>
              </a:rPr>
              <a:t>Your scene will get errors and get corrupted !!! </a:t>
            </a:r>
            <a:br>
              <a:rPr lang="en-GB" sz="2000" b="1">
                <a:latin typeface="Quattrocento Sans"/>
                <a:ea typeface="Quattrocento Sans"/>
                <a:cs typeface="Quattrocento Sans"/>
              </a:rPr>
            </a:br>
            <a:r>
              <a:rPr lang="en-GB" sz="2000" b="1">
                <a:solidFill>
                  <a:schemeClr val="dk1"/>
                </a:solidFill>
                <a:latin typeface="Quattrocento Sans"/>
                <a:ea typeface="Quattrocento Sans"/>
                <a:cs typeface="Quattrocento Sans"/>
                <a:sym typeface="Quattrocento Sans"/>
              </a:rPr>
              <a:t>	Instead, save work on google drive or </a:t>
            </a:r>
            <a:r>
              <a:rPr lang="en-GB" sz="2000" b="1" err="1">
                <a:solidFill>
                  <a:schemeClr val="dk1"/>
                </a:solidFill>
                <a:latin typeface="Quattrocento Sans"/>
                <a:ea typeface="Quattrocento Sans"/>
                <a:cs typeface="Quattrocento Sans"/>
                <a:sym typeface="Quattrocento Sans"/>
              </a:rPr>
              <a:t>onedrive</a:t>
            </a:r>
            <a:r>
              <a:rPr lang="en-GB" sz="2000" b="1">
                <a:solidFill>
                  <a:schemeClr val="dk1"/>
                </a:solidFill>
                <a:latin typeface="Quattrocento Sans"/>
                <a:ea typeface="Quattrocento Sans"/>
                <a:cs typeface="Quattrocento Sans"/>
                <a:sym typeface="Quattrocento Sans"/>
              </a:rPr>
              <a:t> as a zip, copy over to </a:t>
            </a:r>
            <a:r>
              <a:rPr lang="en-GB" sz="2000" b="1" err="1">
                <a:solidFill>
                  <a:schemeClr val="dk1"/>
                </a:solidFill>
                <a:latin typeface="Quattrocento Sans"/>
                <a:ea typeface="Quattrocento Sans"/>
                <a:cs typeface="Quattrocento Sans"/>
                <a:sym typeface="Quattrocento Sans"/>
              </a:rPr>
              <a:t>C:Temp</a:t>
            </a:r>
            <a:r>
              <a:rPr lang="en-GB" sz="2000" b="1">
                <a:solidFill>
                  <a:schemeClr val="dk1"/>
                </a:solidFill>
                <a:latin typeface="Quattrocento Sans"/>
                <a:ea typeface="Quattrocento Sans"/>
                <a:cs typeface="Quattrocento Sans"/>
                <a:sym typeface="Quattrocento Sans"/>
              </a:rPr>
              <a:t> at start of tutorial, and save scenes, save project, exit Unity, then zip up whole project and copy back to cloud drive at the end of tutorial. Or you can use Unity Collaborate in top right when signed in - sheet on that later.</a:t>
            </a:r>
            <a:endParaRPr sz="2000" b="1">
              <a:solidFill>
                <a:schemeClr val="dk1"/>
              </a:solidFill>
              <a:latin typeface="Quattrocento Sans"/>
              <a:ea typeface="Quattrocento Sans"/>
              <a:cs typeface="Quattrocento Sans"/>
              <a:sym typeface="Quattrocento Sans"/>
            </a:endParaRPr>
          </a:p>
          <a:p>
            <a:pPr marL="0" lvl="0" indent="0" algn="l" rtl="0">
              <a:spcBef>
                <a:spcPts val="0"/>
              </a:spcBef>
              <a:spcAft>
                <a:spcPts val="0"/>
              </a:spcAft>
              <a:buClr>
                <a:srgbClr val="000000"/>
              </a:buClr>
              <a:buFont typeface="Arial"/>
              <a:buNone/>
            </a:pPr>
            <a:endParaRPr/>
          </a:p>
          <a:p>
            <a:pPr marL="0" lvl="0" indent="0" algn="l" rtl="0">
              <a:spcBef>
                <a:spcPts val="0"/>
              </a:spcBef>
              <a:spcAft>
                <a:spcPts val="0"/>
              </a:spcAft>
              <a:buClr>
                <a:srgbClr val="000000"/>
              </a:buClr>
              <a:buFont typeface="Arial"/>
              <a:buNone/>
            </a:pPr>
            <a:r>
              <a:rPr lang="en-GB" sz="2400" b="1" i="1">
                <a:solidFill>
                  <a:srgbClr val="FFFF00"/>
                </a:solidFill>
                <a:latin typeface="Quattrocento Sans"/>
                <a:ea typeface="Quattrocento Sans"/>
                <a:cs typeface="Quattrocento Sans"/>
                <a:sym typeface="Quattrocento Sans"/>
              </a:rPr>
              <a:t>CW1 will be Blackboard/Google Drive Link submission</a:t>
            </a: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58" name="Google Shape;58;p4"/>
          <p:cNvSpPr txBox="1"/>
          <p:nvPr/>
        </p:nvSpPr>
        <p:spPr>
          <a:xfrm>
            <a:off x="609600" y="1421654"/>
            <a:ext cx="10890600" cy="489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Input Manager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0" i="0" u="sng" strike="noStrike" cap="none">
              <a:solidFill>
                <a:schemeClr val="dk1"/>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Each program you write, whether the program is a phone application, a web application, a game or an embedded system, needs some sort of an input. In general every program needs some sort of an input and some sort of an output. The output is what the users sees, and the input is what the user enters or gives to the program to generate the output based on some algorithm.</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Unity 3D is no different. The game engine needs to be able to process inputs from different sources: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Keyboard</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Mouse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Joystick(s)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Unity 3D manages its inputs through the Input Manager. The Input Manager is accessible by selecting Edit-&gt;Project Settings-&gt;Input from the main menu bar.</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5"/>
          <p:cNvSpPr txBox="1"/>
          <p:nvPr/>
        </p:nvSpPr>
        <p:spPr>
          <a:xfrm>
            <a:off x="609600" y="1421654"/>
            <a:ext cx="10890738" cy="1569660"/>
          </a:xfrm>
          <a:prstGeom prst="rect">
            <a:avLst/>
          </a:prstGeom>
          <a:noFill/>
          <a:ln>
            <a:noFill/>
          </a:ln>
        </p:spPr>
        <p:txBody>
          <a:bodyPr spcFirstLastPara="1" wrap="square" lIns="91425" tIns="45700" rIns="91425" bIns="45700" anchor="t" anchorCtr="0">
            <a:spAutoFit/>
          </a:bodyPr>
          <a:lstStyle/>
          <a:p>
            <a:pPr>
              <a:buSzPts val="3600"/>
            </a:pPr>
            <a:r>
              <a:rPr lang="en-GB" sz="3600" b="1" i="0" u="none" strike="noStrike" cap="none">
                <a:solidFill>
                  <a:srgbClr val="FFFF00"/>
                </a:solidFill>
                <a:latin typeface="Quattrocento Sans"/>
                <a:ea typeface="Quattrocento Sans"/>
                <a:cs typeface="Quattrocento Sans"/>
                <a:sym typeface="Quattrocento Sans"/>
              </a:rPr>
              <a:t>Input Manager</a:t>
            </a:r>
            <a:r>
              <a:rPr lang="en-GB" sz="3600" b="1">
                <a:solidFill>
                  <a:srgbClr val="FFFF00"/>
                </a:solidFill>
                <a:latin typeface="Quattrocento Sans"/>
                <a:ea typeface="Quattrocento Sans"/>
                <a:cs typeface="Quattrocento Sans"/>
                <a:sym typeface="Quattrocento San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0" i="0" u="sng" strike="noStrike" cap="none">
              <a:solidFill>
                <a:schemeClr val="dk1"/>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pic>
        <p:nvPicPr>
          <p:cNvPr id="66" name="Google Shape;66;p5"/>
          <p:cNvPicPr preferRelativeResize="0"/>
          <p:nvPr/>
        </p:nvPicPr>
        <p:blipFill rotWithShape="1">
          <a:blip r:embed="rId3">
            <a:alphaModFix/>
          </a:blip>
          <a:srcRect/>
          <a:stretch/>
        </p:blipFill>
        <p:spPr>
          <a:xfrm>
            <a:off x="738706" y="2454875"/>
            <a:ext cx="1805371" cy="4139340"/>
          </a:xfrm>
          <a:prstGeom prst="rect">
            <a:avLst/>
          </a:prstGeom>
          <a:noFill/>
          <a:ln>
            <a:noFill/>
          </a:ln>
        </p:spPr>
      </p:pic>
      <p:pic>
        <p:nvPicPr>
          <p:cNvPr id="67" name="Google Shape;67;p5"/>
          <p:cNvPicPr preferRelativeResize="0"/>
          <p:nvPr/>
        </p:nvPicPr>
        <p:blipFill rotWithShape="1">
          <a:blip r:embed="rId4">
            <a:alphaModFix/>
          </a:blip>
          <a:srcRect/>
          <a:stretch/>
        </p:blipFill>
        <p:spPr>
          <a:xfrm>
            <a:off x="2673183" y="2454875"/>
            <a:ext cx="1805370" cy="4139340"/>
          </a:xfrm>
          <a:prstGeom prst="rect">
            <a:avLst/>
          </a:prstGeom>
          <a:noFill/>
          <a:ln>
            <a:noFill/>
          </a:ln>
        </p:spPr>
      </p:pic>
      <p:pic>
        <p:nvPicPr>
          <p:cNvPr id="68" name="Google Shape;68;p5"/>
          <p:cNvPicPr preferRelativeResize="0"/>
          <p:nvPr/>
        </p:nvPicPr>
        <p:blipFill rotWithShape="1">
          <a:blip r:embed="rId5">
            <a:alphaModFix/>
          </a:blip>
          <a:srcRect/>
          <a:stretch/>
        </p:blipFill>
        <p:spPr>
          <a:xfrm>
            <a:off x="4607658" y="2454875"/>
            <a:ext cx="1805370" cy="41393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75" name="Google Shape;75;p6"/>
          <p:cNvSpPr txBox="1"/>
          <p:nvPr/>
        </p:nvSpPr>
        <p:spPr>
          <a:xfrm>
            <a:off x="609600" y="1263754"/>
            <a:ext cx="8835000" cy="600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Input Manager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0" i="0" u="sng" strike="noStrike" cap="none">
              <a:solidFill>
                <a:schemeClr val="dk1"/>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Figure 1 lists all of the out of the box Input configurations defined in the game engine. Let’s go ahead and expand the first Input Definition called </a:t>
            </a:r>
            <a:r>
              <a:rPr lang="en-GB" sz="1800" b="1" i="0" u="none" strike="noStrike" cap="none">
                <a:solidFill>
                  <a:schemeClr val="dk1"/>
                </a:solidFill>
                <a:latin typeface="Quattrocento Sans"/>
                <a:ea typeface="Quattrocento Sans"/>
                <a:cs typeface="Quattrocento Sans"/>
                <a:sym typeface="Quattrocento Sans"/>
              </a:rPr>
              <a:t>Horizontal</a:t>
            </a:r>
            <a:r>
              <a:rPr lang="en-GB" sz="1800" b="0" i="0" u="none" strike="noStrike" cap="none">
                <a:solidFill>
                  <a:schemeClr val="dk1"/>
                </a:solidFill>
                <a:latin typeface="Quattrocento Sans"/>
                <a:ea typeface="Quattrocento Sans"/>
                <a:cs typeface="Quattrocento Sans"/>
                <a:sym typeface="Quattrocento Sans"/>
              </a:rPr>
              <a:t>. Looking at Figure 2, you will notice the attributes that are defined under the Horizontal Axis input configuration. The following are the properties of the input configuration that are important to take a note of:</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Name:</a:t>
            </a:r>
            <a:r>
              <a:rPr lang="en-GB" sz="1800" b="0" i="0" u="none" strike="noStrike" cap="none">
                <a:solidFill>
                  <a:schemeClr val="dk1"/>
                </a:solidFill>
                <a:latin typeface="Quattrocento Sans"/>
                <a:ea typeface="Quattrocento Sans"/>
                <a:cs typeface="Quattrocento Sans"/>
                <a:sym typeface="Quattrocento Sans"/>
              </a:rPr>
              <a:t> the name of the axis as defines in the Input Manager. This is the name that you can refer to in your C# code for to detect and perform an operation as desired.</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Positive Button:</a:t>
            </a:r>
            <a:r>
              <a:rPr lang="en-GB" sz="1800" b="0" i="0" u="none" strike="noStrike" cap="none">
                <a:solidFill>
                  <a:schemeClr val="dk1"/>
                </a:solidFill>
                <a:latin typeface="Quattrocento Sans"/>
                <a:ea typeface="Quattrocento Sans"/>
                <a:cs typeface="Quattrocento Sans"/>
                <a:sym typeface="Quattrocento Sans"/>
              </a:rPr>
              <a:t> defines the primary button that will provide the positive direction / force.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Negative Button:</a:t>
            </a:r>
            <a:r>
              <a:rPr lang="en-GB" sz="1800" b="0" i="0" u="none" strike="noStrike" cap="none">
                <a:solidFill>
                  <a:schemeClr val="dk1"/>
                </a:solidFill>
                <a:latin typeface="Quattrocento Sans"/>
                <a:ea typeface="Quattrocento Sans"/>
                <a:cs typeface="Quattrocento Sans"/>
                <a:sym typeface="Quattrocento Sans"/>
              </a:rPr>
              <a:t> defines the primary button that will provide the negative direction / force.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Alt. Positive Button:</a:t>
            </a:r>
            <a:r>
              <a:rPr lang="en-GB" sz="1800" b="0" i="0" u="none" strike="noStrike" cap="none">
                <a:solidFill>
                  <a:schemeClr val="dk1"/>
                </a:solidFill>
                <a:latin typeface="Quattrocento Sans"/>
                <a:ea typeface="Quattrocento Sans"/>
                <a:cs typeface="Quattrocento Sans"/>
                <a:sym typeface="Quattrocento Sans"/>
              </a:rPr>
              <a:t> same as the positive button, but defines a secondary input intake.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Alt. Negative Button:</a:t>
            </a:r>
            <a:r>
              <a:rPr lang="en-GB" sz="1800" b="0" i="0" u="none" strike="noStrike" cap="none">
                <a:solidFill>
                  <a:schemeClr val="dk1"/>
                </a:solidFill>
                <a:latin typeface="Quattrocento Sans"/>
                <a:ea typeface="Quattrocento Sans"/>
                <a:cs typeface="Quattrocento Sans"/>
                <a:sym typeface="Quattrocento Sans"/>
              </a:rPr>
              <a:t> same as the negative button, but defines a secondary input intake.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Type:</a:t>
            </a:r>
            <a:r>
              <a:rPr lang="en-GB" sz="1800" b="0" i="0" u="none" strike="noStrike" cap="none">
                <a:solidFill>
                  <a:schemeClr val="dk1"/>
                </a:solidFill>
                <a:latin typeface="Quattrocento Sans"/>
                <a:ea typeface="Quattrocento Sans"/>
                <a:cs typeface="Quattrocento Sans"/>
                <a:sym typeface="Quattrocento Sans"/>
              </a:rPr>
              <a:t> defines where the input source is coming from; (Keyboard/Mouse/Joystick).</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dk1"/>
                </a:solidFill>
                <a:latin typeface="Quattrocento Sans"/>
                <a:ea typeface="Quattrocento Sans"/>
                <a:cs typeface="Quattrocento Sans"/>
                <a:sym typeface="Quattrocento Sans"/>
              </a:rPr>
              <a:t>Axis:</a:t>
            </a:r>
            <a:r>
              <a:rPr lang="en-GB" sz="1800" b="0" i="0" u="none" strike="noStrike" cap="none">
                <a:solidFill>
                  <a:schemeClr val="dk1"/>
                </a:solidFill>
                <a:latin typeface="Quattrocento Sans"/>
                <a:ea typeface="Quattrocento Sans"/>
                <a:cs typeface="Quattrocento Sans"/>
                <a:sym typeface="Quattrocento Sans"/>
              </a:rPr>
              <a:t> which axis in the world should the force be applied to.</a:t>
            </a: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pic>
        <p:nvPicPr>
          <p:cNvPr id="76" name="Google Shape;76;p6"/>
          <p:cNvPicPr preferRelativeResize="0"/>
          <p:nvPr/>
        </p:nvPicPr>
        <p:blipFill rotWithShape="1">
          <a:blip r:embed="rId3">
            <a:alphaModFix/>
          </a:blip>
          <a:srcRect/>
          <a:stretch/>
        </p:blipFill>
        <p:spPr>
          <a:xfrm>
            <a:off x="9444608" y="1309814"/>
            <a:ext cx="2137792" cy="490151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83" name="Google Shape;83;p7"/>
          <p:cNvSpPr txBox="1"/>
          <p:nvPr/>
        </p:nvSpPr>
        <p:spPr>
          <a:xfrm>
            <a:off x="609600" y="1421654"/>
            <a:ext cx="10972800" cy="62786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Input Manager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0" i="0" u="sng" strike="noStrike" cap="none">
              <a:solidFill>
                <a:schemeClr val="dk1"/>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Input key values to handle the rotation for the dynamically created primitives in the following order:</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Key A will be responsible to rotate Cube1’ on the Y-Axis.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Key B will be responsible to rotate Cube2’ on the X-Axis.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Key C will be responsible to rotate Cube3’ on the Z-Axis.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Notice, that the </a:t>
            </a:r>
            <a:r>
              <a:rPr lang="en-GB" sz="1800" b="1" i="0" u="none" strike="noStrike" cap="none">
                <a:solidFill>
                  <a:schemeClr val="dk1"/>
                </a:solidFill>
                <a:latin typeface="Quattrocento Sans"/>
                <a:ea typeface="Quattrocento Sans"/>
                <a:cs typeface="Quattrocento Sans"/>
                <a:sym typeface="Quattrocento Sans"/>
              </a:rPr>
              <a:t>Update()</a:t>
            </a:r>
            <a:r>
              <a:rPr lang="en-GB" sz="1800" b="0" i="0" u="none" strike="noStrike" cap="none">
                <a:solidFill>
                  <a:schemeClr val="dk1"/>
                </a:solidFill>
                <a:latin typeface="Quattrocento Sans"/>
                <a:ea typeface="Quattrocento Sans"/>
                <a:cs typeface="Quattrocento Sans"/>
                <a:sym typeface="Quattrocento Sans"/>
              </a:rPr>
              <a:t> function is where you place the logic to perform your Input and Output. The code checks to see if the primitives have been initialized, and if true, then it will check for input from the user. Based on the key value it will apply the appropriate rotation to the Game Object.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Quattrocento Sans"/>
                <a:ea typeface="Quattrocento Sans"/>
                <a:cs typeface="Quattrocento Sans"/>
                <a:sym typeface="Quattrocento Sans"/>
              </a:rPr>
              <a:t>Each primitive will rotate independently only when the specific key associated to its rotation is pressed. For instance, if you press the A key, Cube1’ will continuously rotate until you stop pressing it. It will stop at the last rotation angle where you lifted your finger from the key.</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90" name="Google Shape;90;p8"/>
          <p:cNvSpPr txBox="1"/>
          <p:nvPr/>
        </p:nvSpPr>
        <p:spPr>
          <a:xfrm>
            <a:off x="609600" y="1421654"/>
            <a:ext cx="10890738" cy="50783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Input Manager/Movement Scripting - Tutorial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0" i="0" u="sng" strike="noStrike" cap="none">
              <a:solidFill>
                <a:schemeClr val="hlink"/>
              </a:solidFill>
              <a:latin typeface="Quattrocento Sans"/>
              <a:ea typeface="Quattrocento Sans"/>
              <a:cs typeface="Quattrocento Sans"/>
            </a:endParaRPr>
          </a:p>
          <a:p>
            <a:pPr>
              <a:buSzPts val="1800"/>
            </a:pPr>
            <a:r>
              <a:rPr lang="en-GB" sz="1800">
                <a:solidFill>
                  <a:schemeClr val="dk1"/>
                </a:solidFill>
                <a:latin typeface="Quattrocento Sans"/>
                <a:ea typeface="Quattrocento Sans"/>
                <a:cs typeface="Quattrocento Sans"/>
                <a:sym typeface="Quattrocento Sans"/>
              </a:rPr>
              <a:t> </a:t>
            </a:r>
            <a:r>
              <a:rPr lang="en-GB" sz="2000" b="1" i="1" u="none" strike="noStrike" cap="none" err="1">
                <a:solidFill>
                  <a:srgbClr val="FFFF00"/>
                </a:solidFill>
                <a:latin typeface="Quattrocento Sans"/>
                <a:ea typeface="Quattrocento Sans"/>
                <a:cs typeface="Quattrocento Sans"/>
                <a:sym typeface="Quattrocento Sans"/>
              </a:rPr>
              <a:t>CreatePrimitivesFromImport.cs</a:t>
            </a:r>
            <a:r>
              <a:rPr lang="en-GB" sz="2000" b="1" i="1" u="none" strike="noStrike" cap="none">
                <a:solidFill>
                  <a:srgbClr val="FFFF00"/>
                </a:solidFill>
                <a:latin typeface="Quattrocento Sans"/>
                <a:ea typeface="Quattrocento Sans"/>
                <a:cs typeface="Quattrocento Sans"/>
                <a:sym typeface="Quattrocento Sans"/>
              </a:rPr>
              <a:t> – on Main Camera, Can access all Cube Game Objects</a:t>
            </a:r>
            <a:br>
              <a:rPr lang="en-GB" sz="1800" b="0" i="0" u="none" strike="noStrike" cap="none">
                <a:latin typeface="Quattrocento Sans"/>
                <a:ea typeface="Quattrocento Sans"/>
                <a:cs typeface="Quattrocento Sans"/>
              </a:rPr>
            </a:br>
            <a:endParaRPr sz="1800" b="0" i="0" u="none" strike="noStrike" cap="none">
              <a:solidFill>
                <a:schemeClr val="dk1"/>
              </a:solidFill>
              <a:latin typeface="Quattrocento Sans"/>
              <a:ea typeface="Quattrocento Sans"/>
              <a:cs typeface="Quattrocento Sans"/>
              <a:sym typeface="Quattrocento Sans"/>
            </a:endParaRPr>
          </a:p>
          <a:p>
            <a:pPr>
              <a:buSzPts val="1800"/>
            </a:pPr>
            <a:r>
              <a:rPr lang="en-GB" sz="1800" b="0" i="0" u="none" strike="noStrike" cap="none">
                <a:solidFill>
                  <a:schemeClr val="dk1"/>
                </a:solidFill>
                <a:latin typeface="Quattrocento Sans"/>
                <a:ea typeface="Quattrocento Sans"/>
                <a:cs typeface="Quattrocento Sans"/>
                <a:sym typeface="Quattrocento Sans"/>
              </a:rPr>
              <a:t>if(</a:t>
            </a:r>
            <a:r>
              <a:rPr lang="en-GB" sz="1800" b="0" i="0" u="none" strike="noStrike" cap="none" err="1">
                <a:solidFill>
                  <a:schemeClr val="dk1"/>
                </a:solidFill>
                <a:latin typeface="Quattrocento Sans"/>
                <a:ea typeface="Quattrocento Sans"/>
                <a:cs typeface="Quattrocento Sans"/>
                <a:sym typeface="Quattrocento Sans"/>
              </a:rPr>
              <a:t>Input.GetKey</a:t>
            </a:r>
            <a:r>
              <a:rPr lang="en-GB" sz="1800" b="0" i="0" u="none" strike="noStrike" cap="none">
                <a:solidFill>
                  <a:schemeClr val="dk1"/>
                </a:solidFill>
                <a:latin typeface="Quattrocento Sans"/>
                <a:ea typeface="Quattrocento Sans"/>
                <a:cs typeface="Quattrocento Sans"/>
                <a:sym typeface="Quattrocento Sans"/>
              </a:rPr>
              <a:t>(</a:t>
            </a:r>
            <a:r>
              <a:rPr lang="en-GB" sz="1800" b="0" i="0" u="none" strike="noStrike" cap="none" err="1">
                <a:solidFill>
                  <a:schemeClr val="dk1"/>
                </a:solidFill>
                <a:latin typeface="Quattrocento Sans"/>
                <a:ea typeface="Quattrocento Sans"/>
                <a:cs typeface="Quattrocento Sans"/>
                <a:sym typeface="Quattrocento Sans"/>
              </a:rPr>
              <a:t>KeyCode.A</a:t>
            </a:r>
            <a:r>
              <a:rPr lang="en-GB" sz="1800" b="0" i="0" u="none" strike="noStrike" cap="none">
                <a:solidFill>
                  <a:schemeClr val="dk1"/>
                </a:solidFill>
                <a:latin typeface="Quattrocento Sans"/>
                <a:ea typeface="Quattrocento Sans"/>
                <a:cs typeface="Quattrocento Sans"/>
                <a:sym typeface="Quattrocento Sans"/>
              </a:rPr>
              <a:t>)){</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this.cube1.transform.Rotate(new Vector3(0,1,0), 1);</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br>
              <a:rPr lang="en-GB" sz="1800">
                <a:latin typeface="Quattrocento Sans"/>
                <a:ea typeface="Quattrocento Sans"/>
                <a:cs typeface="Quattrocento Sans"/>
                <a:sym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 apply the x-axis transform to Cube2'</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if(</a:t>
            </a:r>
            <a:r>
              <a:rPr lang="en-GB" sz="1800" b="0" i="0" u="none" strike="noStrike" cap="none" err="1">
                <a:solidFill>
                  <a:schemeClr val="dk1"/>
                </a:solidFill>
                <a:latin typeface="Quattrocento Sans"/>
                <a:ea typeface="Quattrocento Sans"/>
                <a:cs typeface="Quattrocento Sans"/>
                <a:sym typeface="Quattrocento Sans"/>
              </a:rPr>
              <a:t>Input.GetKey</a:t>
            </a:r>
            <a:r>
              <a:rPr lang="en-GB" sz="1800" b="0" i="0" u="none" strike="noStrike" cap="none">
                <a:solidFill>
                  <a:schemeClr val="dk1"/>
                </a:solidFill>
                <a:latin typeface="Quattrocento Sans"/>
                <a:ea typeface="Quattrocento Sans"/>
                <a:cs typeface="Quattrocento Sans"/>
                <a:sym typeface="Quattrocento Sans"/>
              </a:rPr>
              <a:t>(</a:t>
            </a:r>
            <a:r>
              <a:rPr lang="en-GB" sz="1800" b="0" i="0" u="none" strike="noStrike" cap="none" err="1">
                <a:solidFill>
                  <a:schemeClr val="dk1"/>
                </a:solidFill>
                <a:latin typeface="Quattrocento Sans"/>
                <a:ea typeface="Quattrocento Sans"/>
                <a:cs typeface="Quattrocento Sans"/>
                <a:sym typeface="Quattrocento Sans"/>
              </a:rPr>
              <a:t>KeyCode.B</a:t>
            </a:r>
            <a:r>
              <a:rPr lang="en-GB" sz="1800" b="0" i="0" u="none" strike="noStrike" cap="none">
                <a:solidFill>
                  <a:schemeClr val="dk1"/>
                </a:solidFill>
                <a:latin typeface="Quattrocento Sans"/>
                <a:ea typeface="Quattrocento Sans"/>
                <a:cs typeface="Quattrocento Sans"/>
                <a:sym typeface="Quattrocento Sans"/>
              </a:rPr>
              <a:t>)){</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this.cube2.transform.Rotate(new Vector3(1,0,0), 1);</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 apply the z-axis transform to Cube3'</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if(</a:t>
            </a:r>
            <a:r>
              <a:rPr lang="en-GB" sz="1800" b="0" i="0" u="none" strike="noStrike" cap="none" err="1">
                <a:solidFill>
                  <a:schemeClr val="dk1"/>
                </a:solidFill>
                <a:latin typeface="Quattrocento Sans"/>
                <a:ea typeface="Quattrocento Sans"/>
                <a:cs typeface="Quattrocento Sans"/>
                <a:sym typeface="Quattrocento Sans"/>
              </a:rPr>
              <a:t>Input.GetKey</a:t>
            </a:r>
            <a:r>
              <a:rPr lang="en-GB" sz="1800" b="0" i="0" u="none" strike="noStrike" cap="none">
                <a:solidFill>
                  <a:schemeClr val="dk1"/>
                </a:solidFill>
                <a:latin typeface="Quattrocento Sans"/>
                <a:ea typeface="Quattrocento Sans"/>
                <a:cs typeface="Quattrocento Sans"/>
                <a:sym typeface="Quattrocento Sans"/>
              </a:rPr>
              <a:t>(</a:t>
            </a:r>
            <a:r>
              <a:rPr lang="en-GB" sz="1800" b="0" i="0" u="none" strike="noStrike" cap="none" err="1">
                <a:solidFill>
                  <a:schemeClr val="dk1"/>
                </a:solidFill>
                <a:latin typeface="Quattrocento Sans"/>
                <a:ea typeface="Quattrocento Sans"/>
                <a:cs typeface="Quattrocento Sans"/>
                <a:sym typeface="Quattrocento Sans"/>
              </a:rPr>
              <a:t>KeyCode.C</a:t>
            </a:r>
            <a:r>
              <a:rPr lang="en-GB" sz="1800" b="0" i="0" u="none" strike="noStrike" cap="none">
                <a:solidFill>
                  <a:schemeClr val="dk1"/>
                </a:solidFill>
                <a:latin typeface="Quattrocento Sans"/>
                <a:ea typeface="Quattrocento Sans"/>
                <a:cs typeface="Quattrocento Sans"/>
                <a:sym typeface="Quattrocento Sans"/>
              </a:rPr>
              <a:t>)){</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this.cube3.transform.Rotate(new Vector3(0,0,1), 1);</a:t>
            </a:r>
            <a:br>
              <a:rPr lang="en-GB" sz="1800" b="0" i="0" u="none" strike="noStrike" cap="none">
                <a:latin typeface="Quattrocento Sans"/>
                <a:ea typeface="Quattrocento Sans"/>
                <a:cs typeface="Quattrocento Sans"/>
              </a:rPr>
            </a:br>
            <a:r>
              <a:rPr lang="en-GB" sz="1800">
                <a:solidFill>
                  <a:schemeClr val="dk1"/>
                </a:solidFill>
                <a:latin typeface="Quattrocento Sans"/>
                <a:ea typeface="Quattrocento Sans"/>
                <a:cs typeface="Quattrocento Sans"/>
                <a:sym typeface="Quattrocento Sans"/>
              </a:rPr>
              <a:t>  </a:t>
            </a:r>
            <a:r>
              <a:rPr lang="en-GB" sz="1800" b="0" i="0" u="none" strike="noStrike" cap="none">
                <a:solidFill>
                  <a:schemeClr val="dk1"/>
                </a:solidFill>
                <a:latin typeface="Quattrocento Sans"/>
                <a:ea typeface="Quattrocento Sans"/>
                <a:cs typeface="Quattrocento Sans"/>
                <a:sym typeface="Quattrocento Sans"/>
              </a:rPr>
              <a:t> }</a:t>
            </a:r>
            <a:endParaRPr sz="2400" b="1"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97" name="Google Shape;97;p12"/>
          <p:cNvSpPr txBox="1"/>
          <p:nvPr/>
        </p:nvSpPr>
        <p:spPr>
          <a:xfrm>
            <a:off x="609600" y="1421654"/>
            <a:ext cx="10890738" cy="60016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Animator Scripting - Tutorial 3,4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Array, Animate, Export from Max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New Project, Import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Divide into Static, Explode, Implode animations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Set up Animator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Script for Input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Video</a:t>
            </a:r>
            <a:endParaRPr sz="1400" b="0" i="0" u="none" strike="noStrike" cap="none">
              <a:solidFill>
                <a:srgbClr val="000000"/>
              </a:solidFill>
              <a:latin typeface="Arial"/>
              <a:ea typeface="Arial"/>
              <a:cs typeface="Arial"/>
              <a:sym typeface="Arial"/>
            </a:endParaRPr>
          </a:p>
          <a:p>
            <a:r>
              <a:rPr lang="en-GB" sz="2400" i="0" strike="noStrike" cap="none">
                <a:solidFill>
                  <a:srgbClr val="FF0000"/>
                </a:solidFill>
                <a:ea typeface="Quattrocento Sans"/>
                <a:sym typeface="Quattrocento Sans"/>
                <a:hlinkClick r:id="rId3"/>
              </a:rPr>
              <a:t>https://</a:t>
            </a:r>
            <a:r>
              <a:rPr lang="en-GB" sz="2400">
                <a:solidFill>
                  <a:srgbClr val="FF0000"/>
                </a:solidFill>
                <a:ea typeface="Quattrocento Sans"/>
                <a:sym typeface="Quattrocento Sans"/>
                <a:hlinkClick r:id="rId3"/>
              </a:rPr>
              <a:t>westminster.cloud</a:t>
            </a:r>
            <a:r>
              <a:rPr lang="en-GB" sz="2400" i="0" strike="noStrike" cap="none">
                <a:solidFill>
                  <a:srgbClr val="FF0000"/>
                </a:solidFill>
                <a:ea typeface="Quattrocento Sans"/>
                <a:sym typeface="Quattrocento Sans"/>
                <a:hlinkClick r:id="rId3"/>
              </a:rPr>
              <a:t>.</a:t>
            </a:r>
            <a:r>
              <a:rPr lang="en-GB" sz="2400">
                <a:solidFill>
                  <a:srgbClr val="FF0000"/>
                </a:solidFill>
                <a:ea typeface="Quattrocento Sans"/>
                <a:sym typeface="Quattrocento Sans"/>
                <a:hlinkClick r:id="rId3"/>
              </a:rPr>
              <a:t>panopto</a:t>
            </a:r>
            <a:r>
              <a:rPr lang="en-GB" sz="2400" i="0" strike="noStrike" cap="none">
                <a:solidFill>
                  <a:srgbClr val="FF0000"/>
                </a:solidFill>
                <a:ea typeface="Quattrocento Sans"/>
                <a:sym typeface="Quattrocento Sans"/>
                <a:hlinkClick r:id="rId3"/>
              </a:rPr>
              <a:t>.</a:t>
            </a:r>
            <a:r>
              <a:rPr lang="en-GB" sz="2400">
                <a:solidFill>
                  <a:srgbClr val="FF0000"/>
                </a:solidFill>
                <a:ea typeface="Quattrocento Sans"/>
                <a:sym typeface="Quattrocento Sans"/>
                <a:hlinkClick r:id="rId3"/>
              </a:rPr>
              <a:t>eu/Panopto/Pages</a:t>
            </a:r>
            <a:r>
              <a:rPr lang="en-GB" sz="2400" i="0" strike="noStrike" cap="none">
                <a:solidFill>
                  <a:srgbClr val="FF0000"/>
                </a:solidFill>
                <a:ea typeface="Quattrocento Sans"/>
                <a:sym typeface="Quattrocento Sans"/>
                <a:hlinkClick r:id="rId3"/>
              </a:rPr>
              <a:t>/</a:t>
            </a:r>
            <a:r>
              <a:rPr lang="en-GB" sz="2400">
                <a:solidFill>
                  <a:srgbClr val="FF0000"/>
                </a:solidFill>
                <a:ea typeface="Quattrocento Sans"/>
                <a:sym typeface="Quattrocento Sans"/>
                <a:hlinkClick r:id="rId3"/>
              </a:rPr>
              <a:t>Viewer.aspx</a:t>
            </a:r>
            <a:r>
              <a:rPr lang="en-GB" sz="2400" i="0" strike="noStrike" cap="none">
                <a:solidFill>
                  <a:srgbClr val="FF0000"/>
                </a:solidFill>
                <a:ea typeface="Quattrocento Sans"/>
                <a:sym typeface="Quattrocento Sans"/>
                <a:hlinkClick r:id="rId3"/>
              </a:rPr>
              <a:t>?</a:t>
            </a:r>
            <a:r>
              <a:rPr lang="en-GB" sz="2400">
                <a:solidFill>
                  <a:srgbClr val="FF0000"/>
                </a:solidFill>
                <a:ea typeface="Quattrocento Sans"/>
                <a:sym typeface="Quattrocento Sans"/>
                <a:hlinkClick r:id="rId3"/>
              </a:rPr>
              <a:t>id</a:t>
            </a:r>
            <a:r>
              <a:rPr lang="en-GB" sz="2400" i="0" strike="noStrike" cap="none">
                <a:solidFill>
                  <a:srgbClr val="FF0000"/>
                </a:solidFill>
                <a:ea typeface="Quattrocento Sans"/>
                <a:sym typeface="Quattrocento Sans"/>
                <a:hlinkClick r:id="rId3"/>
              </a:rPr>
              <a:t>=</a:t>
            </a:r>
            <a:r>
              <a:rPr lang="en-GB" sz="2400">
                <a:solidFill>
                  <a:srgbClr val="FF0000"/>
                </a:solidFill>
                <a:ea typeface="Quattrocento Sans"/>
                <a:sym typeface="Quattrocento Sans"/>
                <a:hlinkClick r:id="rId3"/>
              </a:rPr>
              <a:t>22ba15c1-b106-4f12-a65f-b09f010dc569</a:t>
            </a:r>
            <a:r>
              <a:rPr lang="en-GB" sz="2400">
                <a:solidFill>
                  <a:srgbClr val="FF0000"/>
                </a:solidFill>
                <a:ea typeface="Quattrocento Sans"/>
                <a:sym typeface="Quattrocento Sans"/>
              </a:rPr>
              <a:t> </a:t>
            </a:r>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04" name="Google Shape;104;p13"/>
          <p:cNvSpPr txBox="1"/>
          <p:nvPr/>
        </p:nvSpPr>
        <p:spPr>
          <a:xfrm>
            <a:off x="609600" y="1421654"/>
            <a:ext cx="1089073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a:t>
            </a: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11" name="Google Shape;111;p14"/>
          <p:cNvSpPr txBox="1"/>
          <p:nvPr/>
        </p:nvSpPr>
        <p:spPr>
          <a:xfrm>
            <a:off x="609600" y="1421654"/>
            <a:ext cx="10890738"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1" u="none" strike="noStrike" cap="none">
                <a:solidFill>
                  <a:srgbClr val="FF0000"/>
                </a:solidFill>
                <a:latin typeface="Quattrocento Sans"/>
                <a:ea typeface="Quattrocento Sans"/>
                <a:cs typeface="Quattrocento Sans"/>
                <a:sym typeface="Quattrocento Sans"/>
              </a:rPr>
              <a:t>UnityEngine.UI Namespace - using UnityEngine.UI;</a:t>
            </a:r>
            <a:br>
              <a:rPr lang="en-GB" sz="2400" b="1" i="0" u="none" strike="noStrike" cap="none">
                <a:solidFill>
                  <a:srgbClr val="FFFF00"/>
                </a:solidFill>
                <a:latin typeface="Quattrocento Sans"/>
                <a:ea typeface="Quattrocento Sans"/>
                <a:cs typeface="Quattrocento Sans"/>
                <a:sym typeface="Quattrocento Sans"/>
              </a:rPr>
            </a:br>
            <a:r>
              <a:rPr lang="en-GB" sz="2400" b="1" i="0" u="none" strike="noStrike" cap="none">
                <a:solidFill>
                  <a:srgbClr val="FFFF00"/>
                </a:solidFill>
                <a:latin typeface="Quattrocento Sans"/>
                <a:ea typeface="Quattrocento Sans"/>
                <a:cs typeface="Quattrocento Sans"/>
                <a:sym typeface="Quattrocento Sans"/>
              </a:rPr>
              <a:t>Canvas, RectTransform</a:t>
            </a: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Button, Image, Panel, Text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Prefabs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Events, Event Triggers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Slider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Transitions</a:t>
            </a:r>
            <a:endParaRPr sz="3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18" name="Google Shape;118;p15"/>
          <p:cNvSpPr txBox="1"/>
          <p:nvPr/>
        </p:nvSpPr>
        <p:spPr>
          <a:xfrm>
            <a:off x="609600" y="1421654"/>
            <a:ext cx="10890600" cy="5079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1" u="none" strike="noStrike" cap="none">
                <a:solidFill>
                  <a:srgbClr val="FF0000"/>
                </a:solidFill>
                <a:latin typeface="Quattrocento Sans"/>
                <a:ea typeface="Quattrocento Sans"/>
                <a:cs typeface="Quattrocento Sans"/>
                <a:sym typeface="Quattrocento Sans"/>
              </a:rPr>
              <a:t>using UnityEngine.UI;</a:t>
            </a: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Canvas – Base component of UI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0" u="none" strike="noStrike" cap="none">
                <a:solidFill>
                  <a:schemeClr val="dk1"/>
                </a:solidFill>
                <a:latin typeface="Quattrocento Sans"/>
                <a:ea typeface="Quattrocento Sans"/>
                <a:cs typeface="Quattrocento Sans"/>
                <a:sym typeface="Quattrocento Sans"/>
              </a:rPr>
              <a:t>Screen Space Overlay</a:t>
            </a:r>
            <a:r>
              <a:rPr lang="en-GB" sz="2400" b="1" i="0" u="none" strike="noStrike" cap="none">
                <a:solidFill>
                  <a:srgbClr val="FFFF00"/>
                </a:solidFill>
                <a:latin typeface="Quattrocento Sans"/>
                <a:ea typeface="Quattrocento Sans"/>
                <a:cs typeface="Quattrocento Sans"/>
                <a:sym typeface="Quattrocento Sans"/>
              </a:rPr>
              <a:t> – exactly to screen size, nothing rendered in front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0" u="none" strike="noStrike" cap="none">
                <a:solidFill>
                  <a:schemeClr val="dk1"/>
                </a:solidFill>
                <a:latin typeface="Quattrocento Sans"/>
                <a:ea typeface="Quattrocento Sans"/>
                <a:cs typeface="Quattrocento Sans"/>
                <a:sym typeface="Quattrocento Sans"/>
              </a:rPr>
              <a:t>Screen Space Camera</a:t>
            </a:r>
            <a:r>
              <a:rPr lang="en-GB" sz="2400" b="1" i="0" u="none" strike="noStrike" cap="none">
                <a:solidFill>
                  <a:srgbClr val="FFFF00"/>
                </a:solidFill>
                <a:latin typeface="Quattrocento Sans"/>
                <a:ea typeface="Quattrocento Sans"/>
                <a:cs typeface="Quattrocento Sans"/>
                <a:sym typeface="Quattrocento Sans"/>
              </a:rPr>
              <a:t> – Similar, but affected by camera settings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(Perspective vs orthographic)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0" u="none" strike="noStrike" cap="none">
                <a:solidFill>
                  <a:schemeClr val="dk1"/>
                </a:solidFill>
                <a:latin typeface="Quattrocento Sans"/>
                <a:ea typeface="Quattrocento Sans"/>
                <a:cs typeface="Quattrocento Sans"/>
                <a:sym typeface="Quattrocento Sans"/>
              </a:rPr>
              <a:t>World Space</a:t>
            </a:r>
            <a:r>
              <a:rPr lang="en-GB" sz="2400" b="1" i="0" u="none" strike="noStrike" cap="none">
                <a:solidFill>
                  <a:srgbClr val="FFFF00"/>
                </a:solidFill>
                <a:latin typeface="Quattrocento Sans"/>
                <a:ea typeface="Quattrocento Sans"/>
                <a:cs typeface="Quattrocento Sans"/>
                <a:sym typeface="Quattrocento Sans"/>
              </a:rPr>
              <a:t> – makes a 3D world 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(in game screens)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Drawn in Hierarchy order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Images, Buttons, Text all children of this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Dragged into boxes to wire up</a:t>
            </a: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Event System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25" name="Google Shape;125;p16"/>
          <p:cNvSpPr txBox="1"/>
          <p:nvPr/>
        </p:nvSpPr>
        <p:spPr>
          <a:xfrm>
            <a:off x="609600" y="1421654"/>
            <a:ext cx="10890600" cy="544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1" u="sng" strike="noStrike" cap="none">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https://unity3d.com/learn/tutorials/topics/user-interface-ui/ui-events-and-event-triggers</a:t>
            </a:r>
            <a:endParaRPr sz="18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300" b="1" i="1" u="none" strike="noStrike" cap="none">
                <a:solidFill>
                  <a:srgbClr val="FF0000"/>
                </a:solidFill>
                <a:latin typeface="Quattrocento Sans"/>
                <a:ea typeface="Quattrocento Sans"/>
                <a:cs typeface="Quattrocento Sans"/>
                <a:sym typeface="Quattrocento Sans"/>
              </a:rPr>
              <a:t>using UnityEngine.UI;</a:t>
            </a:r>
            <a:endParaRPr sz="35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Event System - Game Object and Component</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Allows UI elements to be selected</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Input Modules</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Gamepad and keyboard/mouse</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Touch</a:t>
            </a:r>
            <a:endParaRPr sz="23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300" b="1">
                <a:solidFill>
                  <a:srgbClr val="FFFF00"/>
                </a:solidFill>
                <a:latin typeface="Quattrocento Sans"/>
                <a:ea typeface="Quattrocento Sans"/>
                <a:cs typeface="Quattrocento Sans"/>
                <a:sym typeface="Quattrocento Sans"/>
              </a:rPr>
              <a:t>	</a:t>
            </a:r>
            <a:r>
              <a:rPr lang="en-GB" sz="2300" b="1">
                <a:solidFill>
                  <a:schemeClr val="dk1"/>
                </a:solidFill>
                <a:latin typeface="Quattrocento Sans"/>
                <a:ea typeface="Quattrocento Sans"/>
                <a:cs typeface="Quattrocento Sans"/>
                <a:sym typeface="Quattrocento Sans"/>
              </a:rPr>
              <a:t>Unity input is a class and a manager</a:t>
            </a:r>
            <a:endParaRPr sz="2300" b="1">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Determine Event Firing for UI</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OnClick event – Pointer Down and Pointer Up Event needed in Component</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Button Component has Function list box</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EventTrigger</a:t>
            </a:r>
            <a:endParaRPr sz="23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300" b="1" i="0" u="none" strike="noStrike" cap="none">
                <a:solidFill>
                  <a:srgbClr val="FFFF00"/>
                </a:solidFill>
                <a:latin typeface="Quattrocento Sans"/>
                <a:ea typeface="Quattrocento Sans"/>
                <a:cs typeface="Quattrocento Sans"/>
                <a:sym typeface="Quattrocento Sans"/>
              </a:rPr>
              <a:t>		Image Component would need this</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32" name="Google Shape;132;p17"/>
          <p:cNvSpPr txBox="1"/>
          <p:nvPr/>
        </p:nvSpPr>
        <p:spPr>
          <a:xfrm>
            <a:off x="609599" y="1421654"/>
            <a:ext cx="11333400" cy="526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1" u="sng" strike="noStrike" cap="none">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https://unity3d.com/learn/tutorials/topics/user-interface-ui/ui-events-and-event-triggers</a:t>
            </a:r>
            <a:endParaRPr sz="18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1" i="1"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1" u="none" strike="noStrike" cap="none">
                <a:solidFill>
                  <a:srgbClr val="FF0000"/>
                </a:solidFill>
                <a:latin typeface="Quattrocento Sans"/>
                <a:ea typeface="Quattrocento Sans"/>
                <a:cs typeface="Quattrocento Sans"/>
                <a:sym typeface="Quattrocento Sans"/>
              </a:rPr>
              <a:t>using UnityEngine.UI;</a:t>
            </a: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Determine Event Firing for UI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0" u="none" strike="noStrike" cap="none">
                <a:solidFill>
                  <a:schemeClr val="dk1"/>
                </a:solidFill>
                <a:latin typeface="Quattrocento Sans"/>
                <a:ea typeface="Quattrocento Sans"/>
                <a:cs typeface="Quattrocento Sans"/>
                <a:sym typeface="Quattrocento Sans"/>
              </a:rPr>
              <a:t>OnClick event </a:t>
            </a:r>
            <a:r>
              <a:rPr lang="en-GB" sz="2400" b="1" i="0" u="none" strike="noStrike" cap="none">
                <a:solidFill>
                  <a:srgbClr val="FFFF00"/>
                </a:solidFill>
                <a:latin typeface="Quattrocento Sans"/>
                <a:ea typeface="Quattrocento Sans"/>
                <a:cs typeface="Quattrocento Sans"/>
                <a:sym typeface="Quattrocento Sans"/>
              </a:rPr>
              <a:t>– Pointer Down and Pointer Up Event needed in Component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Button Component has Function list box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0" u="none" strike="noStrike" cap="none">
                <a:solidFill>
                  <a:schemeClr val="dk1"/>
                </a:solidFill>
                <a:latin typeface="Quattrocento Sans"/>
                <a:ea typeface="Quattrocento Sans"/>
                <a:cs typeface="Quattrocento Sans"/>
                <a:sym typeface="Quattrocento Sans"/>
              </a:rPr>
              <a:t>EventTrigger</a:t>
            </a:r>
            <a:endParaRPr sz="24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Image Component would need this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chemeClr val="dk1"/>
                </a:solidFill>
                <a:latin typeface="Quattrocento Sans"/>
                <a:ea typeface="Quattrocento Sans"/>
                <a:cs typeface="Quattrocento Sans"/>
                <a:sym typeface="Quattrocento Sans"/>
              </a:rPr>
              <a:t>Dragging Game Object in will expose Components and Functions for use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Must be Public, Void, and of no or 1 parameter of: float, int, str, or Object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Can call on attached scripts as well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access as component in script 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drag itself into box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39" name="Google Shape;139;p18"/>
          <p:cNvSpPr txBox="1"/>
          <p:nvPr/>
        </p:nvSpPr>
        <p:spPr>
          <a:xfrm>
            <a:off x="609600" y="1421654"/>
            <a:ext cx="10890600" cy="6401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br>
              <a:rPr lang="en-GB" sz="3600" b="1" i="0" u="none" strike="noStrike" cap="none">
                <a:latin typeface="Quattrocento Sans"/>
                <a:ea typeface="Quattrocento Sans"/>
                <a:cs typeface="Quattrocento Sans"/>
              </a:rPr>
            </a:br>
            <a:r>
              <a:rPr lang="en-GB" sz="1400" b="1" i="0" u="none" strike="noStrike" cap="none">
                <a:solidFill>
                  <a:schemeClr val="dk2"/>
                </a:solidFill>
                <a:latin typeface="Quattrocento Sans"/>
                <a:ea typeface="Quattrocento Sans"/>
                <a:cs typeface="Quattrocento Sans"/>
                <a:sym typeface="Quattrocento Sans"/>
              </a:rPr>
              <a:t>https://www.lynda.com/Unity-tutorials/Create-button-element/489008/519845-4.html</a:t>
            </a:r>
            <a:endParaRPr sz="1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pPr>
              <a:buSzPts val="2400"/>
            </a:pPr>
            <a:r>
              <a:rPr lang="en-GB" sz="2400" b="1" i="0" u="none" strike="noStrike" cap="none">
                <a:solidFill>
                  <a:schemeClr val="dk1"/>
                </a:solidFill>
                <a:latin typeface="Quattrocento Sans"/>
                <a:ea typeface="Quattrocento Sans"/>
                <a:cs typeface="Quattrocento Sans"/>
                <a:sym typeface="Quattrocento Sans"/>
              </a:rPr>
              <a:t>Text </a:t>
            </a:r>
            <a:r>
              <a:rPr lang="en-GB" sz="2400" b="1" i="0" u="none" strike="noStrike" cap="none">
                <a:solidFill>
                  <a:srgbClr val="FFFF00"/>
                </a:solidFill>
                <a:latin typeface="Quattrocento Sans"/>
                <a:ea typeface="Quattrocento Sans"/>
                <a:cs typeface="Quattrocento Sans"/>
                <a:sym typeface="Quattrocento Sans"/>
              </a:rPr>
              <a:t>– most fundamental UI element</a:t>
            </a:r>
            <a:r>
              <a:rPr lang="en-GB" sz="2400" b="1">
                <a:solidFill>
                  <a:srgbClr val="FFFF00"/>
                </a:solidFill>
                <a:latin typeface="Quattrocento Sans"/>
                <a:ea typeface="Quattrocento Sans"/>
                <a:cs typeface="Quattrocento Sans"/>
                <a:sym typeface="Quattrocento San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display game readouts, dialogue, instructions, menus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r>
              <a:rPr lang="en-GB" sz="2400" b="1" i="1" u="none" strike="noStrike" cap="none">
                <a:solidFill>
                  <a:schemeClr val="dk1"/>
                </a:solidFill>
                <a:latin typeface="Quattrocento Sans"/>
                <a:ea typeface="Quattrocento Sans"/>
                <a:cs typeface="Quattrocento Sans"/>
                <a:sym typeface="Quattrocento Sans"/>
              </a:rPr>
              <a:t>Wired up by dragging UI Text Element into exposed Public Var Box of Script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Used in conjunction with other element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pre built into buttons as child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chemeClr val="dk1"/>
                </a:solidFill>
                <a:latin typeface="Quattrocento Sans"/>
                <a:ea typeface="Quattrocento Sans"/>
                <a:cs typeface="Quattrocento Sans"/>
                <a:sym typeface="Quattrocento Sans"/>
              </a:rPr>
              <a:t>Creating UI text creates Canvas Parent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Zero out, adjustments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Modify at runtime with scripts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Text Readout Tutorial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chemeClr val="dk2"/>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sz="18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46" name="Google Shape;146;p19"/>
          <p:cNvSpPr txBox="1"/>
          <p:nvPr/>
        </p:nvSpPr>
        <p:spPr>
          <a:xfrm>
            <a:off x="609600" y="1421654"/>
            <a:ext cx="10890600" cy="572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400" b="1" i="0" u="sng" strike="noStrike" cap="none">
                <a:solidFill>
                  <a:srgbClr val="FFFFFF"/>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https://www.lynda.com/Unity-tutorials/Create-button-element/489008/519845-4.html</a:t>
            </a: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chemeClr val="dk1"/>
                </a:solidFill>
                <a:latin typeface="Quattrocento Sans"/>
                <a:ea typeface="Quattrocento Sans"/>
                <a:cs typeface="Quattrocento Sans"/>
                <a:sym typeface="Quattrocento Sans"/>
              </a:rPr>
              <a:t>Button – most Common UI element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Direct Interaction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Comes with text element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Can use images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chemeClr val="dk1"/>
                </a:solidFill>
                <a:latin typeface="Quattrocento Sans"/>
                <a:ea typeface="Quattrocento Sans"/>
                <a:cs typeface="Quattrocento Sans"/>
                <a:sym typeface="Quattrocento Sans"/>
              </a:rPr>
              <a:t>Creating UI Button creates Canvas Parent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Zero out, Adjust rect transform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Has transition (hover, click)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chemeClr val="dk1"/>
                </a:solidFill>
                <a:latin typeface="Quattrocento Sans"/>
                <a:ea typeface="Quattrocento Sans"/>
                <a:cs typeface="Quattrocento Sans"/>
                <a:sym typeface="Quattrocento Sans"/>
              </a:rPr>
              <a:t>Event Handler</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On Click</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Modify Text Element of Button at runtime</a:t>
            </a:r>
            <a:br>
              <a:rPr lang="en-GB" sz="2000" b="1" i="0" u="none" strike="noStrike" cap="none">
                <a:solidFill>
                  <a:srgbClr val="FFFF00"/>
                </a:solidFill>
                <a:latin typeface="Quattrocento Sans"/>
                <a:ea typeface="Quattrocento Sans"/>
                <a:cs typeface="Quattrocento Sans"/>
                <a:sym typeface="Quattrocento Sans"/>
              </a:rPr>
            </a:br>
            <a:r>
              <a:rPr lang="en-GB" sz="2000" b="1" i="0" u="none" strike="noStrike" cap="none">
                <a:solidFill>
                  <a:srgbClr val="FFFF00"/>
                </a:solidFill>
                <a:latin typeface="Quattrocento Sans"/>
                <a:ea typeface="Quattrocento Sans"/>
                <a:cs typeface="Quattrocento Sans"/>
                <a:sym typeface="Quattrocento Sans"/>
              </a:rPr>
              <a:t>	Drag Text element into OnClick Box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Modify Text Object, Script, and string text Property in function to I’m clicked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	dynamic objects cant be selected.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53" name="Google Shape;153;p20"/>
          <p:cNvSpPr txBox="1"/>
          <p:nvPr/>
        </p:nvSpPr>
        <p:spPr>
          <a:xfrm>
            <a:off x="609600" y="1421654"/>
            <a:ext cx="10890738"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Architecture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Basics: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HUD Text Readout from Script Public Variable</a:t>
            </a:r>
            <a:br>
              <a:rPr lang="en-GB" sz="2400" b="1" i="0" u="none" strike="noStrike" cap="none">
                <a:solidFill>
                  <a:srgbClr val="FFFF00"/>
                </a:solidFill>
                <a:latin typeface="Quattrocento Sans"/>
                <a:ea typeface="Quattrocento Sans"/>
                <a:cs typeface="Quattrocento Sans"/>
                <a:sym typeface="Quattrocento Sans"/>
              </a:rPr>
            </a:br>
            <a:r>
              <a:rPr lang="en-GB" sz="16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Button OnClick Event Handling </a:t>
            </a:r>
            <a:r>
              <a:rPr lang="en-GB" sz="2400" b="1" i="1" u="none" strike="noStrike" cap="none">
                <a:solidFill>
                  <a:srgbClr val="FF0000"/>
                </a:solidFill>
                <a:latin typeface="Quattrocento Sans"/>
                <a:ea typeface="Quattrocento Sans"/>
                <a:cs typeface="Quattrocento Sans"/>
                <a:sym typeface="Quattrocento Sans"/>
              </a:rPr>
              <a:t>(Associated Functions must be public and void)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Button Runtime text feedback</a:t>
            </a:r>
            <a:br>
              <a:rPr lang="en-GB" sz="2400" b="1" i="0" u="none" strike="noStrike" cap="none">
                <a:solidFill>
                  <a:srgbClr val="FFFF00"/>
                </a:solidFill>
                <a:latin typeface="Quattrocento Sans"/>
                <a:ea typeface="Quattrocento Sans"/>
                <a:cs typeface="Quattrocento Sans"/>
                <a:sym typeface="Quattrocento Sans"/>
              </a:rPr>
            </a:br>
            <a:r>
              <a:rPr lang="en-GB" sz="1600" b="1" i="0" u="sng" strike="noStrike" cap="none">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https://www.lynda.com/Unity-tutorials/Create-button-element/489008/519845-4.html</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p:cNvSpPr txBox="1"/>
          <p:nvPr/>
        </p:nvSpPr>
        <p:spPr>
          <a:xfrm>
            <a:off x="609600" y="1421650"/>
            <a:ext cx="11354400" cy="20928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Tutorial 1. Unity UI HUD</a:t>
            </a:r>
            <a:r>
              <a:rPr lang="en-GB" sz="2400" b="0" i="0" u="none" strike="noStrike" cap="none">
                <a:solidFill>
                  <a:srgbClr val="000000"/>
                </a:solidFill>
                <a:latin typeface="Arial"/>
                <a:ea typeface="Arial"/>
                <a:cs typeface="Arial"/>
                <a:sym typeface="Arial"/>
              </a:rPr>
              <a:t> </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GB" sz="1800" b="1" i="0" u="none" strike="noStrike" cap="none">
              <a:solidFill>
                <a:srgbClr val="FFFF00"/>
              </a:solidFill>
              <a:latin typeface="Quattrocento Sans"/>
              <a:cs typeface="Calibri"/>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Text Readouts on Panels- Basic</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Initialize Cubes from key</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Animate from key</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Readout in Unity UI</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a6ae829b62_0_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7" name="Google Shape;167;ga6ae829b62_0_2"/>
          <p:cNvSpPr txBox="1"/>
          <p:nvPr/>
        </p:nvSpPr>
        <p:spPr>
          <a:xfrm>
            <a:off x="609600" y="1421650"/>
            <a:ext cx="11354400" cy="5262900"/>
          </a:xfrm>
          <a:prstGeom prst="rect">
            <a:avLst/>
          </a:prstGeom>
          <a:noFill/>
          <a:ln>
            <a:noFill/>
          </a:ln>
        </p:spPr>
        <p:txBody>
          <a:bodyPr spcFirstLastPara="1" wrap="square" lIns="91425" tIns="45700" rIns="91425" bIns="45700" anchor="t" anchorCtr="0">
            <a:noAutofit/>
          </a:bodyPr>
          <a:lstStyle/>
          <a:p>
            <a:pPr>
              <a:buSzPts val="2400"/>
            </a:pPr>
            <a:r>
              <a:rPr lang="en-GB" sz="2400" b="1" i="0" u="none" strike="noStrike" cap="none">
                <a:solidFill>
                  <a:srgbClr val="FFFF00"/>
                </a:solidFill>
                <a:latin typeface="Quattrocento Sans"/>
                <a:ea typeface="Quattrocento Sans"/>
                <a:cs typeface="Quattrocento Sans"/>
                <a:sym typeface="Quattrocento Sans"/>
              </a:rPr>
              <a:t>Tutorial 1. Unity UI HUD</a:t>
            </a:r>
            <a:r>
              <a:rPr lang="en-GB" sz="2400">
                <a:ea typeface="Quattrocento Sans"/>
              </a:rPr>
              <a:t> </a:t>
            </a:r>
            <a:endParaRPr lang="en-GB" sz="1800" b="1" i="0" u="sng" strike="noStrike" cap="none">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Text Readouts on Panels- Basic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using UnityEngine;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FF0000"/>
                </a:solidFill>
                <a:latin typeface="Quattrocento Sans"/>
                <a:ea typeface="Quattrocento Sans"/>
                <a:cs typeface="Quattrocento Sans"/>
                <a:sym typeface="Quattrocento Sans"/>
              </a:rPr>
              <a:t>using </a:t>
            </a:r>
            <a:r>
              <a:rPr lang="en-GB" sz="800" b="0" i="0" u="none" strike="noStrike" cap="none" err="1">
                <a:solidFill>
                  <a:srgbClr val="FF0000"/>
                </a:solidFill>
                <a:latin typeface="Quattrocento Sans"/>
                <a:ea typeface="Quattrocento Sans"/>
                <a:cs typeface="Quattrocento Sans"/>
                <a:sym typeface="Quattrocento Sans"/>
              </a:rPr>
              <a:t>UnityEngine.UI</a:t>
            </a:r>
            <a:r>
              <a:rPr lang="en-GB" sz="800" b="0" i="0" u="none" strike="noStrike" cap="none">
                <a:solidFill>
                  <a:srgbClr val="FF0000"/>
                </a:solidFill>
                <a:latin typeface="Quattrocento Sans"/>
                <a:ea typeface="Quattrocento Sans"/>
                <a:cs typeface="Quattrocento Sans"/>
                <a:sym typeface="Quattrocento Sans"/>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using </a:t>
            </a:r>
            <a:r>
              <a:rPr lang="en-GB" sz="800" b="0" i="0" u="none" strike="noStrike" cap="none" err="1">
                <a:solidFill>
                  <a:schemeClr val="dk1"/>
                </a:solidFill>
                <a:latin typeface="Quattrocento Sans"/>
                <a:ea typeface="Quattrocento Sans"/>
                <a:cs typeface="Quattrocento Sans"/>
                <a:sym typeface="Quattrocento Sans"/>
              </a:rPr>
              <a:t>System.Collections</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public class cube1Rotate : </a:t>
            </a:r>
            <a:r>
              <a:rPr lang="en-GB" sz="800" b="0" i="0" u="none" strike="noStrike" cap="none" err="1">
                <a:solidFill>
                  <a:schemeClr val="dk1"/>
                </a:solidFill>
                <a:latin typeface="Quattrocento Sans"/>
                <a:ea typeface="Quattrocento Sans"/>
                <a:cs typeface="Quattrocento Sans"/>
                <a:sym typeface="Quattrocento Sans"/>
              </a:rPr>
              <a:t>MonoBehaviour</a:t>
            </a:r>
            <a:r>
              <a:rPr lang="en-GB" sz="800" b="0" i="0" u="none" strike="noStrike" cap="none">
                <a:solidFill>
                  <a:schemeClr val="dk1"/>
                </a:solidFill>
                <a:latin typeface="Quattrocento Sans"/>
                <a:ea typeface="Quattrocento Sans"/>
                <a:cs typeface="Quattrocento Sans"/>
                <a:sym typeface="Quattrocento Sans"/>
              </a:rPr>
              <a:t>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 variable to store Text UI Element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FF0000"/>
                </a:solidFill>
                <a:latin typeface="Quattrocento Sans"/>
                <a:ea typeface="Quattrocento Sans"/>
                <a:cs typeface="Quattrocento Sans"/>
                <a:sym typeface="Quattrocento Sans"/>
              </a:rPr>
              <a:t>public Text lblCube1Position;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private string position =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 Use this for initialization</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void Start ()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 Update is called once per frame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void Update ()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 Rotate our game object around it's y-axis</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err="1">
                <a:solidFill>
                  <a:schemeClr val="dk1"/>
                </a:solidFill>
                <a:latin typeface="Quattrocento Sans"/>
                <a:ea typeface="Quattrocento Sans"/>
                <a:cs typeface="Quattrocento Sans"/>
                <a:sym typeface="Quattrocento Sans"/>
              </a:rPr>
              <a:t>transform.Rotate</a:t>
            </a:r>
            <a:r>
              <a:rPr lang="en-GB" sz="800" b="0" i="0" u="none" strike="noStrike" cap="none">
                <a:solidFill>
                  <a:schemeClr val="dk1"/>
                </a:solidFill>
                <a:latin typeface="Quattrocento Sans"/>
                <a:ea typeface="Quattrocento Sans"/>
                <a:cs typeface="Quattrocento Sans"/>
                <a:sym typeface="Quattrocento Sans"/>
              </a:rPr>
              <a:t> (new Vector3 (0, 1, 0), 1);</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if (this.lblCube1Position != null) {</a:t>
            </a:r>
            <a:endParaRPr sz="1400" b="0" i="0" u="none" strike="noStrike" cap="none">
              <a:solidFill>
                <a:schemeClr val="dk1"/>
              </a:solidFill>
              <a:latin typeface="Arial"/>
              <a:ea typeface="Arial"/>
              <a:cs typeface="Arial"/>
              <a:sym typeface="Arial"/>
            </a:endParaRPr>
          </a:p>
          <a:p>
            <a:pPr>
              <a:buSzPts val="800"/>
            </a:pPr>
            <a:r>
              <a:rPr lang="en-GB" sz="800" b="0" i="0" u="none" strike="noStrike" cap="none">
                <a:solidFill>
                  <a:srgbClr val="FF0000"/>
                </a:solidFill>
                <a:latin typeface="Quattrocento Sans"/>
                <a:ea typeface="Quattrocento Sans"/>
                <a:cs typeface="Quattrocento Sans"/>
                <a:sym typeface="Quattrocento Sans"/>
              </a:rPr>
              <a:t>position = </a:t>
            </a:r>
            <a:r>
              <a:rPr lang="en-GB" sz="800" b="0" i="0" u="none" strike="noStrike" cap="none" err="1">
                <a:solidFill>
                  <a:srgbClr val="FF0000"/>
                </a:solidFill>
                <a:latin typeface="Quattrocento Sans"/>
                <a:ea typeface="Quattrocento Sans"/>
                <a:cs typeface="Quattrocento Sans"/>
                <a:sym typeface="Quattrocento Sans"/>
              </a:rPr>
              <a:t>string.Format</a:t>
            </a:r>
            <a:r>
              <a:rPr lang="en-GB" sz="800" b="0" i="0" u="none" strike="noStrike" cap="none">
                <a:solidFill>
                  <a:srgbClr val="FF0000"/>
                </a:solidFill>
                <a:latin typeface="Quattrocento Sans"/>
                <a:ea typeface="Quattrocento Sans"/>
                <a:cs typeface="Quattrocento Sans"/>
                <a:sym typeface="Quattrocento Sans"/>
              </a:rPr>
              <a:t>("P:&lt;{0:F2},{1:F2},{2:F2}&gt;; R:&lt;{3:F2},{4:F2},{5:F2}&gt;",</a:t>
            </a:r>
            <a:r>
              <a:rPr lang="en-GB" sz="800">
                <a:solidFill>
                  <a:srgbClr val="FF0000"/>
                </a:solidFill>
                <a:latin typeface="Quattrocento Sans"/>
                <a:ea typeface="Quattrocento Sans"/>
                <a:cs typeface="Quattrocento Sans"/>
                <a:sym typeface="Quattrocento Sans"/>
              </a:rPr>
              <a:t> </a:t>
            </a:r>
            <a:endParaRPr sz="1400" b="0" i="0" u="none" strike="noStrike" cap="none">
              <a:solidFill>
                <a:srgbClr val="000000"/>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transform.localPosition.x</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transform.localPosition.y</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transform.localPosition.z</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transform.localEulerAngles.x</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transform.localEulerAngles.y</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a:buSzPts val="800"/>
            </a:pPr>
            <a:r>
              <a:rPr lang="en-GB" sz="800">
                <a:solidFill>
                  <a:schemeClr val="dk1"/>
                </a:solidFill>
                <a:latin typeface="Quattrocento Sans"/>
                <a:ea typeface="Quattrocento Sans"/>
                <a:cs typeface="Quattrocento Sans"/>
                <a:sym typeface="Quattrocento Sans"/>
              </a:rPr>
              <a:t>                               </a:t>
            </a:r>
            <a:r>
              <a:rPr lang="en-GB" sz="800" b="0" i="0" u="none" strike="noStrike" cap="none">
                <a:solidFill>
                  <a:schemeClr val="dk1"/>
                </a:solidFill>
                <a:latin typeface="Quattrocento Sans"/>
                <a:ea typeface="Quattrocento Sans"/>
                <a:cs typeface="Quattrocento Sans"/>
                <a:sym typeface="Quattrocento Sans"/>
              </a:rPr>
              <a:t> </a:t>
            </a:r>
            <a:r>
              <a:rPr lang="en-GB" sz="800" b="0" i="0" u="none" strike="noStrike" cap="none" err="1">
                <a:solidFill>
                  <a:schemeClr val="dk1"/>
                </a:solidFill>
                <a:latin typeface="Quattrocento Sans"/>
                <a:ea typeface="Quattrocento Sans"/>
                <a:cs typeface="Quattrocento Sans"/>
                <a:sym typeface="Quattrocento Sans"/>
              </a:rPr>
              <a:t>transform.localEulerAngles.z</a:t>
            </a: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rgbClr val="FF0000"/>
                </a:solidFill>
                <a:latin typeface="Quattrocento Sans"/>
                <a:ea typeface="Quattrocento Sans"/>
                <a:cs typeface="Quattrocento Sans"/>
                <a:sym typeface="Quattrocento Sans"/>
              </a:rPr>
              <a:t>this.lblCube1Position.text = position;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a:solidFill>
                  <a:schemeClr val="dk1"/>
                </a:solidFill>
                <a:latin typeface="Quattrocento Sans"/>
                <a:ea typeface="Quattrocento Sans"/>
                <a:cs typeface="Quattrocento Sans"/>
                <a:sym typeface="Quattrocento Sans"/>
              </a:rPr>
              <a:t>}</a:t>
            </a:r>
            <a:endParaRPr sz="800" b="1" i="0" u="none" strike="noStrike" cap="none">
              <a:solidFill>
                <a:schemeClr val="dk1"/>
              </a:solidFill>
              <a:latin typeface="Quattrocento Sans"/>
              <a:ea typeface="Quattrocento Sans"/>
              <a:cs typeface="Quattrocento Sans"/>
              <a:sym typeface="Quattrocento Sans"/>
            </a:endParaRPr>
          </a:p>
        </p:txBody>
      </p:sp>
      <p:pic>
        <p:nvPicPr>
          <p:cNvPr id="168" name="Google Shape;168;ga6ae829b62_0_2"/>
          <p:cNvPicPr preferRelativeResize="0"/>
          <p:nvPr/>
        </p:nvPicPr>
        <p:blipFill rotWithShape="1">
          <a:blip r:embed="rId3">
            <a:alphaModFix/>
          </a:blip>
          <a:srcRect/>
          <a:stretch/>
        </p:blipFill>
        <p:spPr>
          <a:xfrm>
            <a:off x="4745950" y="1884775"/>
            <a:ext cx="6787950" cy="4356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75" name="Google Shape;175;p23"/>
          <p:cNvSpPr txBox="1"/>
          <p:nvPr/>
        </p:nvSpPr>
        <p:spPr>
          <a:xfrm>
            <a:off x="609600" y="1421654"/>
            <a:ext cx="10890738"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Tutorial 1. Unity UI Initialize Game Objects</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Button </a:t>
            </a:r>
            <a:br>
              <a:rPr lang="en-GB" sz="2000" b="1" i="0" u="none" strike="noStrike" cap="none">
                <a:latin typeface="Quattrocento Sans"/>
                <a:ea typeface="Quattrocento Sans"/>
                <a:cs typeface="Quattrocento Sans"/>
              </a:rPr>
            </a:br>
            <a:r>
              <a:rPr lang="en-GB" sz="1600" b="1" i="1" u="none" strike="noStrike" cap="none">
                <a:solidFill>
                  <a:srgbClr val="FF0000"/>
                </a:solidFill>
                <a:latin typeface="Quattrocento Sans"/>
                <a:ea typeface="Quattrocento Sans"/>
                <a:cs typeface="Quattrocento Sans"/>
                <a:sym typeface="Quattrocento Sans"/>
              </a:rPr>
              <a:t>(</a:t>
            </a:r>
            <a:r>
              <a:rPr lang="en-GB" sz="1600" b="1" i="1" u="none" strike="noStrike" cap="none" err="1">
                <a:solidFill>
                  <a:srgbClr val="FF0000"/>
                </a:solidFill>
                <a:latin typeface="Quattrocento Sans"/>
                <a:ea typeface="Quattrocento Sans"/>
                <a:cs typeface="Quattrocento Sans"/>
                <a:sym typeface="Quattrocento Sans"/>
              </a:rPr>
              <a:t>OnClick</a:t>
            </a:r>
            <a:r>
              <a:rPr lang="en-GB" sz="1600" b="1" i="1" u="none" strike="noStrike" cap="none">
                <a:solidFill>
                  <a:srgbClr val="FF0000"/>
                </a:solidFill>
                <a:latin typeface="Quattrocento Sans"/>
                <a:ea typeface="Quattrocento Sans"/>
                <a:cs typeface="Quattrocento Sans"/>
                <a:sym typeface="Quattrocento Sans"/>
              </a:rPr>
              <a:t> event and public void function)</a:t>
            </a:r>
            <a:br>
              <a:rPr lang="en-GB" sz="1600" b="1" i="1" u="none" strike="noStrike" cap="none">
                <a:latin typeface="Quattrocento Sans"/>
                <a:ea typeface="Quattrocento Sans"/>
                <a:cs typeface="Quattrocento Sans"/>
              </a:rPr>
            </a:br>
            <a:r>
              <a:rPr lang="en-GB" sz="1600" b="1" i="1" u="none" strike="noStrike" cap="none">
                <a:solidFill>
                  <a:srgbClr val="FF0000"/>
                </a:solidFill>
                <a:latin typeface="Quattrocento Sans"/>
                <a:ea typeface="Quattrocento Sans"/>
                <a:cs typeface="Quattrocento Sans"/>
                <a:sym typeface="Quattrocento Sans"/>
              </a:rPr>
              <a:t>Drag object with Script and Function to </a:t>
            </a:r>
            <a:r>
              <a:rPr lang="en-GB" sz="1600" b="1" i="1" u="none" strike="noStrike" cap="none" err="1">
                <a:solidFill>
                  <a:srgbClr val="FF0000"/>
                </a:solidFill>
                <a:latin typeface="Quattrocento Sans"/>
                <a:ea typeface="Quattrocento Sans"/>
                <a:cs typeface="Quattrocento Sans"/>
                <a:sym typeface="Quattrocento Sans"/>
              </a:rPr>
              <a:t>OnClick</a:t>
            </a:r>
            <a:r>
              <a:rPr lang="en-GB" sz="1600" b="1" i="1" u="none" strike="noStrike" cap="none">
                <a:solidFill>
                  <a:srgbClr val="FF0000"/>
                </a:solidFill>
                <a:latin typeface="Quattrocento Sans"/>
                <a:ea typeface="Quattrocento Sans"/>
                <a:cs typeface="Quattrocento Sans"/>
                <a:sym typeface="Quattrocento Sans"/>
              </a:rPr>
              <a:t> Placeholder</a:t>
            </a:r>
            <a:br>
              <a:rPr lang="en-GB" sz="1600" b="1" i="1" u="none" strike="noStrike" cap="none">
                <a:latin typeface="Quattrocento Sans"/>
                <a:ea typeface="Quattrocento Sans"/>
                <a:cs typeface="Quattrocento Sans"/>
              </a:rPr>
            </a:br>
            <a:r>
              <a:rPr lang="en-GB" sz="1600" b="1" i="1" u="none" strike="noStrike" cap="none">
                <a:solidFill>
                  <a:srgbClr val="FF0000"/>
                </a:solidFill>
                <a:latin typeface="Quattrocento Sans"/>
                <a:ea typeface="Quattrocento Sans"/>
                <a:cs typeface="Quattrocento Sans"/>
                <a:sym typeface="Quattrocento Sans"/>
              </a:rPr>
              <a:t>Select function from drop down box</a:t>
            </a:r>
            <a:endParaRPr sz="1200" b="0" i="0" u="none" strike="noStrike" cap="none">
              <a:solidFill>
                <a:schemeClr val="dk1"/>
              </a:solidFill>
              <a:latin typeface="Calibri"/>
              <a:ea typeface="Calibri"/>
              <a:cs typeface="Calibri"/>
              <a:sym typeface="Calibri"/>
            </a:endParaRPr>
          </a:p>
          <a:p>
            <a:pPr>
              <a:buSzPts val="1600"/>
            </a:pP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 This function will be called when the Space Bar on the keyboard is pressed</a:t>
            </a:r>
            <a:br>
              <a:rPr lang="en-GB" sz="1600" b="0" i="0" u="none" strike="noStrike" cap="none">
                <a:latin typeface="Calibri"/>
                <a:ea typeface="Calibri"/>
                <a:cs typeface="Calibri"/>
              </a:rPr>
            </a:br>
            <a:r>
              <a:rPr lang="en-GB" sz="1600" b="0" i="0" u="none" strike="noStrike" cap="none">
                <a:solidFill>
                  <a:srgbClr val="979797"/>
                </a:solidFill>
                <a:latin typeface="Calibri"/>
                <a:ea typeface="Calibri"/>
                <a:cs typeface="Calibri"/>
                <a:sym typeface="Calibri"/>
              </a:rPr>
              <a:t> </a:t>
            </a:r>
            <a:r>
              <a:rPr lang="en-GB" sz="1600" b="0" i="0" u="none" strike="noStrike" cap="none">
                <a:solidFill>
                  <a:srgbClr val="FF0000"/>
                </a:solidFill>
                <a:latin typeface="Calibri"/>
                <a:ea typeface="Calibri"/>
                <a:cs typeface="Calibri"/>
                <a:sym typeface="Calibri"/>
              </a:rPr>
              <a:t>public void </a:t>
            </a:r>
            <a:r>
              <a:rPr lang="en-GB" sz="1600" b="0" i="0" u="none" strike="noStrike" cap="none" err="1">
                <a:solidFill>
                  <a:srgbClr val="FF0000"/>
                </a:solidFill>
                <a:latin typeface="Calibri"/>
                <a:ea typeface="Calibri"/>
                <a:cs typeface="Calibri"/>
                <a:sym typeface="Calibri"/>
              </a:rPr>
              <a:t>CreateMyPrimitives</a:t>
            </a:r>
            <a:r>
              <a:rPr lang="en-GB" sz="1600" b="0" i="0" u="none" strike="noStrike" cap="none">
                <a:solidFill>
                  <a:srgbClr val="FF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979797"/>
                </a:solidFill>
                <a:latin typeface="Calibri"/>
                <a:ea typeface="Calibri"/>
                <a:cs typeface="Calibri"/>
                <a:sym typeface="Calibri"/>
              </a:rPr>
              <a:t>if (!</a:t>
            </a:r>
            <a:r>
              <a:rPr lang="en-GB" sz="1600" b="0" i="0" u="none" strike="noStrike" cap="none" err="1">
                <a:solidFill>
                  <a:srgbClr val="979797"/>
                </a:solidFill>
                <a:latin typeface="Calibri"/>
                <a:ea typeface="Calibri"/>
                <a:cs typeface="Calibri"/>
                <a:sym typeface="Calibri"/>
              </a:rPr>
              <a:t>this.PRIMITIVES_CREATED</a:t>
            </a:r>
            <a:r>
              <a:rPr lang="en-GB" sz="1600" b="0" i="0" u="none" strike="noStrike" cap="none">
                <a:solidFill>
                  <a:srgbClr val="979797"/>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a:buSzPts val="1600"/>
            </a:pPr>
            <a:r>
              <a:rPr lang="en-GB" sz="1600" b="0" i="0" u="none" strike="noStrike" cap="none">
                <a:solidFill>
                  <a:srgbClr val="979797"/>
                </a:solidFill>
                <a:latin typeface="Calibri"/>
                <a:ea typeface="Calibri"/>
                <a:cs typeface="Calibri"/>
                <a:sym typeface="Calibri"/>
              </a:rPr>
              <a:t>	// initialize our Cube1 primitive and place it at location (0,2,0)</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this.cube1 = </a:t>
            </a:r>
            <a:r>
              <a:rPr lang="en-GB" sz="1600" b="0" i="0" u="none" strike="noStrike" cap="none" err="1">
                <a:solidFill>
                  <a:srgbClr val="979797"/>
                </a:solidFill>
                <a:latin typeface="Calibri"/>
                <a:ea typeface="Calibri"/>
                <a:cs typeface="Calibri"/>
                <a:sym typeface="Calibri"/>
              </a:rPr>
              <a:t>GameObject.CreatePrimitive</a:t>
            </a:r>
            <a:r>
              <a:rPr lang="en-GB" sz="1600" b="0" i="0" u="none" strike="noStrike" cap="none">
                <a:solidFill>
                  <a:srgbClr val="979797"/>
                </a:solidFill>
                <a:latin typeface="Calibri"/>
                <a:ea typeface="Calibri"/>
                <a:cs typeface="Calibri"/>
                <a:sym typeface="Calibri"/>
              </a:rPr>
              <a:t> (</a:t>
            </a:r>
            <a:r>
              <a:rPr lang="en-GB" sz="1600" b="0" i="0" u="none" strike="noStrike" cap="none" err="1">
                <a:solidFill>
                  <a:srgbClr val="979797"/>
                </a:solidFill>
                <a:latin typeface="Calibri"/>
                <a:ea typeface="Calibri"/>
                <a:cs typeface="Calibri"/>
                <a:sym typeface="Calibri"/>
              </a:rPr>
              <a:t>PrimitiveType.Cube</a:t>
            </a:r>
            <a:r>
              <a:rPr lang="en-GB" sz="1600" b="0" i="0" u="none" strike="noStrike" cap="none">
                <a:solidFill>
                  <a:srgbClr val="979797"/>
                </a:solidFill>
                <a:latin typeface="Calibri"/>
                <a:ea typeface="Calibri"/>
                <a:cs typeface="Calibri"/>
                <a:sym typeface="Calibri"/>
              </a:rPr>
              <a:t>);</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this.cube1.transform.localPosition = new Vector3 (0, 2, 0);</a:t>
            </a:r>
            <a:endParaRPr sz="1400" b="0" i="0" u="none" strike="noStrike" cap="none">
              <a:solidFill>
                <a:srgbClr val="000000"/>
              </a:solidFill>
              <a:latin typeface="Arial"/>
              <a:ea typeface="Arial"/>
              <a:cs typeface="Arial"/>
              <a:sym typeface="Arial"/>
            </a:endParaRPr>
          </a:p>
          <a:p>
            <a:pPr>
              <a:buSzPts val="1600"/>
            </a:pPr>
            <a:r>
              <a:rPr lang="en-GB" sz="1600" b="0" i="0" u="none" strike="noStrike" cap="none">
                <a:solidFill>
                  <a:srgbClr val="979797"/>
                </a:solidFill>
                <a:latin typeface="Calibri"/>
                <a:ea typeface="Calibri"/>
                <a:cs typeface="Calibri"/>
                <a:sym typeface="Calibri"/>
              </a:rPr>
              <a:t>	// initialize our Cube2 primitive and place it at location (3,2,0)</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 this.cube2 = </a:t>
            </a:r>
            <a:r>
              <a:rPr lang="en-GB" sz="1600" b="0" i="0" u="none" strike="noStrike" cap="none" err="1">
                <a:solidFill>
                  <a:srgbClr val="979797"/>
                </a:solidFill>
                <a:latin typeface="Calibri"/>
                <a:ea typeface="Calibri"/>
                <a:cs typeface="Calibri"/>
                <a:sym typeface="Calibri"/>
              </a:rPr>
              <a:t>GameObject.CreatePrimitive</a:t>
            </a:r>
            <a:r>
              <a:rPr lang="en-GB" sz="1600" b="0" i="0" u="none" strike="noStrike" cap="none">
                <a:solidFill>
                  <a:srgbClr val="979797"/>
                </a:solidFill>
                <a:latin typeface="Calibri"/>
                <a:ea typeface="Calibri"/>
                <a:cs typeface="Calibri"/>
                <a:sym typeface="Calibri"/>
              </a:rPr>
              <a:t> (</a:t>
            </a:r>
            <a:r>
              <a:rPr lang="en-GB" sz="1600" b="0" i="0" u="none" strike="noStrike" cap="none" err="1">
                <a:solidFill>
                  <a:srgbClr val="979797"/>
                </a:solidFill>
                <a:latin typeface="Calibri"/>
                <a:ea typeface="Calibri"/>
                <a:cs typeface="Calibri"/>
                <a:sym typeface="Calibri"/>
              </a:rPr>
              <a:t>PrimitiveType.Cube</a:t>
            </a:r>
            <a:r>
              <a:rPr lang="en-GB" sz="1600" b="0" i="0" u="none" strike="noStrike" cap="none">
                <a:solidFill>
                  <a:srgbClr val="979797"/>
                </a:solidFill>
                <a:latin typeface="Calibri"/>
                <a:ea typeface="Calibri"/>
                <a:cs typeface="Calibri"/>
                <a:sym typeface="Calibri"/>
              </a:rPr>
              <a:t>);</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this.cube2.transform.localPosition = new Vector3 (3, 2, 0);</a:t>
            </a:r>
            <a:endParaRPr sz="1400" b="0" i="0" u="none" strike="noStrike" cap="none">
              <a:solidFill>
                <a:srgbClr val="000000"/>
              </a:solidFill>
              <a:latin typeface="Arial"/>
              <a:ea typeface="Arial"/>
              <a:cs typeface="Arial"/>
              <a:sym typeface="Arial"/>
            </a:endParaRPr>
          </a:p>
          <a:p>
            <a:pPr>
              <a:buSzPts val="1600"/>
            </a:pPr>
            <a:r>
              <a:rPr lang="en-GB" sz="1600" b="0" i="0" u="none" strike="noStrike" cap="none">
                <a:solidFill>
                  <a:srgbClr val="979797"/>
                </a:solidFill>
                <a:latin typeface="Calibri"/>
                <a:ea typeface="Calibri"/>
                <a:cs typeface="Calibri"/>
                <a:sym typeface="Calibri"/>
              </a:rPr>
              <a:t>	// initialize our Cube3 primitive and place it at location (-3,2,0)</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this.cube3 = </a:t>
            </a:r>
            <a:r>
              <a:rPr lang="en-GB" sz="1600" b="0" i="0" u="none" strike="noStrike" cap="none" err="1">
                <a:solidFill>
                  <a:srgbClr val="979797"/>
                </a:solidFill>
                <a:latin typeface="Calibri"/>
                <a:ea typeface="Calibri"/>
                <a:cs typeface="Calibri"/>
                <a:sym typeface="Calibri"/>
              </a:rPr>
              <a:t>GameObject.CreatePrimitive</a:t>
            </a:r>
            <a:r>
              <a:rPr lang="en-GB" sz="1600" b="0" i="0" u="none" strike="noStrike" cap="none">
                <a:solidFill>
                  <a:srgbClr val="979797"/>
                </a:solidFill>
                <a:latin typeface="Calibri"/>
                <a:ea typeface="Calibri"/>
                <a:cs typeface="Calibri"/>
                <a:sym typeface="Calibri"/>
              </a:rPr>
              <a:t> (</a:t>
            </a:r>
            <a:r>
              <a:rPr lang="en-GB" sz="1600" b="0" i="0" u="none" strike="noStrike" cap="none" err="1">
                <a:solidFill>
                  <a:srgbClr val="979797"/>
                </a:solidFill>
                <a:latin typeface="Calibri"/>
                <a:ea typeface="Calibri"/>
                <a:cs typeface="Calibri"/>
                <a:sym typeface="Calibri"/>
              </a:rPr>
              <a:t>PrimitiveType.Cube</a:t>
            </a:r>
            <a:r>
              <a:rPr lang="en-GB" sz="1600" b="0" i="0" u="none" strike="noStrike" cap="none">
                <a:solidFill>
                  <a:srgbClr val="979797"/>
                </a:solidFill>
                <a:latin typeface="Calibri"/>
                <a:ea typeface="Calibri"/>
                <a:cs typeface="Calibri"/>
                <a:sym typeface="Calibri"/>
              </a:rPr>
              <a:t>);</a:t>
            </a:r>
            <a:br>
              <a:rPr lang="en-GB" sz="1600" b="0" i="0" u="none" strike="noStrike" cap="none">
                <a:latin typeface="Calibri"/>
                <a:ea typeface="Calibri"/>
                <a:cs typeface="Calibri"/>
              </a:rPr>
            </a:br>
            <a:r>
              <a:rPr lang="en-GB" sz="1600">
                <a:solidFill>
                  <a:srgbClr val="979797"/>
                </a:solidFill>
                <a:latin typeface="Calibri"/>
                <a:ea typeface="Calibri"/>
                <a:cs typeface="Calibri"/>
                <a:sym typeface="Calibri"/>
              </a:rPr>
              <a:t>  </a:t>
            </a:r>
            <a:r>
              <a:rPr lang="en-GB" sz="1600" b="0" i="0" u="none" strike="noStrike" cap="none">
                <a:solidFill>
                  <a:srgbClr val="979797"/>
                </a:solidFill>
                <a:latin typeface="Calibri"/>
                <a:ea typeface="Calibri"/>
                <a:cs typeface="Calibri"/>
                <a:sym typeface="Calibri"/>
              </a:rPr>
              <a:t> 	this.cube3.transform.localPosition = new Vector3 (-3, 2,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979797"/>
                </a:solidFill>
                <a:latin typeface="Calibri"/>
                <a:ea typeface="Calibri"/>
                <a:cs typeface="Calibri"/>
                <a:sym typeface="Calibri"/>
              </a:rPr>
              <a:t>	</a:t>
            </a:r>
            <a:r>
              <a:rPr lang="en-GB" sz="1600" b="0" i="0" u="none" strike="noStrike" cap="none" err="1">
                <a:solidFill>
                  <a:srgbClr val="979797"/>
                </a:solidFill>
                <a:latin typeface="Calibri"/>
                <a:ea typeface="Calibri"/>
                <a:cs typeface="Calibri"/>
                <a:sym typeface="Calibri"/>
              </a:rPr>
              <a:t>this.PRIMITIVES_CREATED</a:t>
            </a:r>
            <a:r>
              <a:rPr lang="en-GB" sz="1600" b="0" i="0" u="none" strike="noStrike" cap="none">
                <a:solidFill>
                  <a:srgbClr val="979797"/>
                </a:solidFill>
                <a:latin typeface="Calibri"/>
                <a:ea typeface="Calibri"/>
                <a:cs typeface="Calibri"/>
                <a:sym typeface="Calibri"/>
              </a:rPr>
              <a:t> = true;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979797"/>
                </a:solidFill>
                <a:latin typeface="Calibri"/>
                <a:ea typeface="Calibri"/>
                <a:cs typeface="Calibri"/>
                <a:sym typeface="Calibri"/>
              </a:rPr>
              <a:t>}</a:t>
            </a:r>
            <a:endParaRPr sz="1600" b="1" i="0" u="none" strike="noStrike" cap="none">
              <a:solidFill>
                <a:srgbClr val="FF0000"/>
              </a:solidFill>
              <a:latin typeface="Quattrocento Sans"/>
              <a:ea typeface="Quattrocento Sans"/>
              <a:cs typeface="Quattrocento Sans"/>
              <a:sym typeface="Quattrocento Sans"/>
            </a:endParaRPr>
          </a:p>
        </p:txBody>
      </p:sp>
      <p:pic>
        <p:nvPicPr>
          <p:cNvPr id="176" name="Google Shape;176;p23"/>
          <p:cNvPicPr preferRelativeResize="0"/>
          <p:nvPr/>
        </p:nvPicPr>
        <p:blipFill rotWithShape="1">
          <a:blip r:embed="rId3">
            <a:alphaModFix/>
          </a:blip>
          <a:srcRect/>
          <a:stretch/>
        </p:blipFill>
        <p:spPr>
          <a:xfrm>
            <a:off x="7192425" y="1421650"/>
            <a:ext cx="4603051" cy="4717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a6ae829b62_0_1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83" name="Google Shape;183;ga6ae829b62_0_12"/>
          <p:cNvSpPr txBox="1"/>
          <p:nvPr/>
        </p:nvSpPr>
        <p:spPr>
          <a:xfrm>
            <a:off x="609600" y="1421654"/>
            <a:ext cx="10890600" cy="557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We can continue with Unity UI with extra features in the next tutorials &gt;&gt;&gt;</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90" name="Google Shape;190;p24"/>
          <p:cNvSpPr txBox="1"/>
          <p:nvPr/>
        </p:nvSpPr>
        <p:spPr>
          <a:xfrm>
            <a:off x="609600" y="1411494"/>
            <a:ext cx="10890738" cy="2369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Extra - Tutorial 2. Animate UI Button</a:t>
            </a: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https://youtu.be/mgaUKk8hfjg</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979797"/>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
        <p:nvSpPr>
          <p:cNvPr id="191" name="Google Shape;191;p2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pic>
        <p:nvPicPr>
          <p:cNvPr id="192" name="Google Shape;192;p24"/>
          <p:cNvPicPr preferRelativeResize="0"/>
          <p:nvPr/>
        </p:nvPicPr>
        <p:blipFill rotWithShape="1">
          <a:blip r:embed="rId4">
            <a:alphaModFix/>
          </a:blip>
          <a:srcRect/>
          <a:stretch/>
        </p:blipFill>
        <p:spPr>
          <a:xfrm>
            <a:off x="691662" y="2740342"/>
            <a:ext cx="10170160" cy="286035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99" name="Google Shape;199;p22"/>
          <p:cNvSpPr txBox="1"/>
          <p:nvPr/>
        </p:nvSpPr>
        <p:spPr>
          <a:xfrm>
            <a:off x="609600" y="1190990"/>
            <a:ext cx="10890738" cy="5663089"/>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Extra </a:t>
            </a:r>
            <a:r>
              <a:rPr lang="en-GB" sz="2400" b="1" dirty="0">
                <a:solidFill>
                  <a:srgbClr val="FFFF00"/>
                </a:solidFill>
                <a:latin typeface="Quattrocento Sans"/>
                <a:ea typeface="Quattrocento Sans"/>
                <a:cs typeface="Quattrocento Sans"/>
                <a:sym typeface="Quattrocento Sans"/>
              </a:rPr>
              <a:t>– </a:t>
            </a:r>
            <a:r>
              <a:rPr lang="en-GB" sz="2400" b="1" i="0" u="none" strike="noStrike" cap="none" dirty="0">
                <a:solidFill>
                  <a:srgbClr val="FFFF00"/>
                </a:solidFill>
                <a:latin typeface="Quattrocento Sans"/>
                <a:ea typeface="Quattrocento Sans"/>
                <a:cs typeface="Quattrocento Sans"/>
                <a:sym typeface="Quattrocento Sans"/>
              </a:rPr>
              <a:t>Tutorial</a:t>
            </a:r>
            <a:r>
              <a:rPr lang="en-GB" sz="2400" b="1" dirty="0">
                <a:solidFill>
                  <a:srgbClr val="FFFF00"/>
                </a:solidFill>
                <a:latin typeface="Quattrocento Sans"/>
                <a:ea typeface="Quattrocento Sans"/>
                <a:cs typeface="Quattrocento Sans"/>
                <a:sym typeface="Quattrocento Sans"/>
              </a:rPr>
              <a:t> - </a:t>
            </a:r>
            <a:r>
              <a:rPr lang="en-GB" sz="2400" b="1" i="0" u="none" strike="noStrike" cap="none" dirty="0">
                <a:solidFill>
                  <a:srgbClr val="FFFF00"/>
                </a:solidFill>
                <a:latin typeface="Quattrocento Sans"/>
                <a:ea typeface="Quattrocento Sans"/>
                <a:cs typeface="Quattrocento Sans"/>
                <a:sym typeface="Quattrocento Sans"/>
              </a:rPr>
              <a:t> Unity UI HUD Text Readout Score – Simplified</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dirty="0">
                <a:solidFill>
                  <a:schemeClr val="dk2"/>
                </a:solidFill>
                <a:latin typeface="Quattrocento Sans"/>
                <a:ea typeface="Quattrocento Sans"/>
                <a:cs typeface="Quattrocento Sans"/>
                <a:sym typeface="Quattrocento Sans"/>
              </a:rPr>
              <a:t>UI Cookbook chapter 2</a:t>
            </a:r>
            <a:endParaRPr sz="20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1. Make UI/Text – call it “Score Counter”</a:t>
            </a:r>
            <a:endParaRPr sz="1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2. Add Component/Script</a:t>
            </a:r>
            <a:endParaRPr sz="1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3. Create Text “</a:t>
            </a:r>
            <a:r>
              <a:rPr lang="en-GB" sz="1800" b="1" i="0" u="none" strike="noStrike" cap="none" dirty="0" err="1">
                <a:solidFill>
                  <a:srgbClr val="FFFF00"/>
                </a:solidFill>
                <a:latin typeface="Quattrocento Sans"/>
                <a:ea typeface="Quattrocento Sans"/>
                <a:cs typeface="Quattrocento Sans"/>
                <a:sym typeface="Quattrocento Sans"/>
              </a:rPr>
              <a:t>uiText</a:t>
            </a:r>
            <a:r>
              <a:rPr lang="en-GB" sz="1800" b="1" i="0" u="none" strike="noStrike" cap="none" dirty="0">
                <a:solidFill>
                  <a:srgbClr val="FFFF00"/>
                </a:solidFill>
                <a:latin typeface="Quattrocento Sans"/>
                <a:ea typeface="Quattrocento Sans"/>
                <a:cs typeface="Quattrocento Sans"/>
                <a:sym typeface="Quattrocento Sans"/>
              </a:rPr>
              <a:t>” and “score” variables</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chemeClr val="dk1"/>
                </a:solidFill>
                <a:latin typeface="Quattrocento Sans"/>
                <a:ea typeface="Quattrocento Sans"/>
                <a:cs typeface="Quattrocento Sans"/>
                <a:sym typeface="Quattrocento Sans"/>
              </a:rPr>
              <a:t>private Text </a:t>
            </a:r>
            <a:r>
              <a:rPr lang="en-GB" sz="1400" b="0" i="0" u="none" strike="noStrike" cap="none" dirty="0" err="1">
                <a:solidFill>
                  <a:schemeClr val="dk1"/>
                </a:solidFill>
                <a:latin typeface="Quattrocento Sans"/>
                <a:ea typeface="Quattrocento Sans"/>
                <a:cs typeface="Quattrocento Sans"/>
                <a:sym typeface="Quattrocento Sans"/>
              </a:rPr>
              <a:t>uiText</a:t>
            </a:r>
            <a:r>
              <a:rPr lang="en-GB" sz="1400" b="0" i="0" u="none" strike="noStrike" cap="none" dirty="0">
                <a:solidFill>
                  <a:schemeClr val="dk1"/>
                </a:solidFill>
                <a:latin typeface="Quattrocento Sans"/>
                <a:ea typeface="Quattrocento Sans"/>
                <a:cs typeface="Quattrocento Sans"/>
                <a:sym typeface="Quattrocento Sans"/>
              </a:rPr>
              <a:t>;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chemeClr val="dk1"/>
                </a:solidFill>
                <a:latin typeface="Quattrocento Sans"/>
                <a:ea typeface="Quattrocento Sans"/>
                <a:cs typeface="Quattrocento Sans"/>
                <a:sym typeface="Quattrocento Sans"/>
              </a:rPr>
              <a:t>private long score = 0;</a:t>
            </a:r>
            <a:endParaRPr sz="14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1" u="none" strike="noStrike" cap="none" dirty="0">
                <a:solidFill>
                  <a:srgbClr val="FFFF00"/>
                </a:solidFill>
                <a:latin typeface="Quattrocento Sans"/>
                <a:ea typeface="Quattrocento Sans"/>
                <a:cs typeface="Quattrocento Sans"/>
                <a:sym typeface="Quattrocento Sans"/>
              </a:rPr>
              <a:t>4. In Start – </a:t>
            </a:r>
            <a:r>
              <a:rPr lang="en-GB" sz="1800" b="1" i="1" u="none" strike="noStrike" cap="none" dirty="0" err="1">
                <a:solidFill>
                  <a:srgbClr val="FFFF00"/>
                </a:solidFill>
                <a:latin typeface="Quattrocento Sans"/>
                <a:ea typeface="Quattrocento Sans"/>
                <a:cs typeface="Quattrocento Sans"/>
                <a:sym typeface="Quattrocento Sans"/>
              </a:rPr>
              <a:t>uiText</a:t>
            </a:r>
            <a:r>
              <a:rPr lang="en-GB" sz="1800" b="1" i="1" u="none" strike="noStrike" cap="none" dirty="0">
                <a:solidFill>
                  <a:srgbClr val="FFFF00"/>
                </a:solidFill>
                <a:latin typeface="Quattrocento Sans"/>
                <a:ea typeface="Quattrocento Sans"/>
                <a:cs typeface="Quattrocento Sans"/>
                <a:sym typeface="Quattrocento Sans"/>
              </a:rPr>
              <a:t> = </a:t>
            </a:r>
            <a:r>
              <a:rPr lang="en-GB" sz="1800" b="1" i="1" u="none" strike="noStrike" cap="none" dirty="0" err="1">
                <a:solidFill>
                  <a:srgbClr val="FFFF00"/>
                </a:solidFill>
                <a:latin typeface="Quattrocento Sans"/>
                <a:ea typeface="Quattrocento Sans"/>
                <a:cs typeface="Quattrocento Sans"/>
                <a:sym typeface="Quattrocento Sans"/>
              </a:rPr>
              <a:t>GetComponent</a:t>
            </a:r>
            <a:r>
              <a:rPr lang="en-GB" sz="1800" b="1" i="1" u="none" strike="noStrike" cap="none" dirty="0">
                <a:solidFill>
                  <a:srgbClr val="FFFF00"/>
                </a:solidFill>
                <a:latin typeface="Quattrocento Sans"/>
                <a:ea typeface="Quattrocento Sans"/>
                <a:cs typeface="Quattrocento Sans"/>
                <a:sym typeface="Quattrocento Sans"/>
              </a:rPr>
              <a:t>&lt;Text&gt;();</a:t>
            </a:r>
            <a:endParaRPr sz="1200" b="0" i="1"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void Start () {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uiText</a:t>
            </a:r>
            <a:r>
              <a:rPr lang="en-GB" sz="1200" b="0" i="0" u="none" strike="noStrike" cap="none" dirty="0">
                <a:solidFill>
                  <a:schemeClr val="dk1"/>
                </a:solidFill>
                <a:latin typeface="Quattrocento Sans"/>
                <a:ea typeface="Quattrocento Sans"/>
                <a:cs typeface="Quattrocento Sans"/>
                <a:sym typeface="Quattrocento Sans"/>
              </a:rPr>
              <a:t> = </a:t>
            </a:r>
            <a:r>
              <a:rPr lang="en-GB" sz="1200" b="0" i="0" u="none" strike="noStrike" cap="none" dirty="0" err="1">
                <a:solidFill>
                  <a:schemeClr val="dk1"/>
                </a:solidFill>
                <a:latin typeface="Quattrocento Sans"/>
                <a:ea typeface="Quattrocento Sans"/>
                <a:cs typeface="Quattrocento Sans"/>
                <a:sym typeface="Quattrocento Sans"/>
              </a:rPr>
              <a:t>this.GetComponent</a:t>
            </a:r>
            <a:r>
              <a:rPr lang="en-GB" sz="1200" b="0" i="0" u="none" strike="noStrike" cap="none" dirty="0">
                <a:solidFill>
                  <a:schemeClr val="dk1"/>
                </a:solidFill>
                <a:latin typeface="Quattrocento Sans"/>
                <a:ea typeface="Quattrocento Sans"/>
                <a:cs typeface="Quattrocento Sans"/>
                <a:sym typeface="Quattrocento Sans"/>
              </a:rPr>
              <a:t>&lt;Text&gt; ();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 ();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5. Add Points (run script when key is pressed - remember how to do this?)</a:t>
            </a:r>
            <a:endParaRPr sz="12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public void </a:t>
            </a:r>
            <a:r>
              <a:rPr lang="en-GB" sz="1200" b="0" i="0" u="none" strike="noStrike" cap="none" dirty="0" err="1">
                <a:solidFill>
                  <a:schemeClr val="dk1"/>
                </a:solidFill>
                <a:latin typeface="Quattrocento Sans"/>
                <a:ea typeface="Quattrocento Sans"/>
                <a:cs typeface="Quattrocento Sans"/>
                <a:sym typeface="Quattrocento Sans"/>
              </a:rPr>
              <a:t>addPoints</a:t>
            </a:r>
            <a:r>
              <a:rPr lang="en-GB" sz="1200" b="0" i="0" u="none" strike="noStrike" cap="none" dirty="0">
                <a:solidFill>
                  <a:schemeClr val="dk1"/>
                </a:solidFill>
                <a:latin typeface="Quattrocento Sans"/>
                <a:ea typeface="Quattrocento Sans"/>
                <a:cs typeface="Quattrocento Sans"/>
                <a:sym typeface="Quattrocento Sans"/>
              </a:rPr>
              <a:t>(int points){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score += points;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6. Method outside of update</a:t>
            </a:r>
            <a:endParaRPr sz="1200" b="0" i="0" u="none" strike="noStrike" cap="none">
              <a:solidFill>
                <a:srgbClr val="FFFFF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private void </a:t>
            </a: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uiText.text</a:t>
            </a:r>
            <a:r>
              <a:rPr lang="en-GB" sz="1200" b="0" i="0" u="none" strike="noStrike" cap="none" dirty="0">
                <a:solidFill>
                  <a:schemeClr val="dk1"/>
                </a:solidFill>
                <a:latin typeface="Quattrocento Sans"/>
                <a:ea typeface="Quattrocento Sans"/>
                <a:cs typeface="Quattrocento Sans"/>
                <a:sym typeface="Quattrocento Sans"/>
              </a:rPr>
              <a:t> = "&lt;</a:t>
            </a:r>
            <a:r>
              <a:rPr lang="en-GB" sz="1200" b="0" i="0" u="none" strike="noStrike" cap="none" dirty="0" err="1">
                <a:solidFill>
                  <a:schemeClr val="dk1"/>
                </a:solidFill>
                <a:latin typeface="Quattrocento Sans"/>
                <a:ea typeface="Quattrocento Sans"/>
                <a:cs typeface="Quattrocento Sans"/>
                <a:sym typeface="Quattrocento Sans"/>
              </a:rPr>
              <a:t>color</a:t>
            </a:r>
            <a:r>
              <a:rPr lang="en-GB" sz="1200" b="0" i="0" u="none" strike="noStrike" cap="none" dirty="0">
                <a:solidFill>
                  <a:schemeClr val="dk1"/>
                </a:solidFill>
                <a:latin typeface="Quattrocento Sans"/>
                <a:ea typeface="Quattrocento Sans"/>
                <a:cs typeface="Quattrocento Sans"/>
                <a:sym typeface="Quattrocento Sans"/>
              </a:rPr>
              <a:t>=blue&gt;Score&lt;/</a:t>
            </a:r>
            <a:r>
              <a:rPr lang="en-GB" sz="1200" b="0" i="0" u="none" strike="noStrike" cap="none" dirty="0" err="1">
                <a:solidFill>
                  <a:schemeClr val="dk1"/>
                </a:solidFill>
                <a:latin typeface="Quattrocento Sans"/>
                <a:ea typeface="Quattrocento Sans"/>
                <a:cs typeface="Quattrocento Sans"/>
                <a:sym typeface="Quattrocento Sans"/>
              </a:rPr>
              <a:t>color</a:t>
            </a:r>
            <a:r>
              <a:rPr lang="en-GB" sz="1200" b="0" i="0" u="none" strike="noStrike" cap="none" dirty="0">
                <a:solidFill>
                  <a:schemeClr val="dk1"/>
                </a:solidFill>
                <a:latin typeface="Quattrocento Sans"/>
                <a:ea typeface="Quattrocento Sans"/>
                <a:cs typeface="Quattrocento Sans"/>
                <a:sym typeface="Quattrocento Sans"/>
              </a:rPr>
              <a:t>&gt;: " + score;</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06" name="Google Shape;206;p25"/>
          <p:cNvSpPr txBox="1"/>
          <p:nvPr/>
        </p:nvSpPr>
        <p:spPr>
          <a:xfrm>
            <a:off x="609600" y="1421654"/>
            <a:ext cx="10890738" cy="26160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Tutorials General Interface</a:t>
            </a:r>
            <a:endParaRPr sz="8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none" strike="noStrike" cap="none" dirty="0">
                <a:solidFill>
                  <a:srgbClr val="FFFF00"/>
                </a:solidFill>
                <a:latin typeface="Quattrocento Sans"/>
                <a:ea typeface="Quattrocento Sans"/>
                <a:cs typeface="Quattrocento Sans"/>
                <a:sym typeface="Quattrocento Sans"/>
              </a:rPr>
              <a:t>Official Unity</a:t>
            </a:r>
            <a:endParaRPr sz="1400" b="0" i="0" u="none" strike="noStrike" cap="none" dirty="0">
              <a:solidFill>
                <a:srgbClr val="000000"/>
              </a:solidFill>
              <a:latin typeface="Arial"/>
              <a:ea typeface="Arial"/>
              <a:cs typeface="Arial"/>
              <a:sym typeface="Arial"/>
            </a:endParaRPr>
          </a:p>
          <a:p>
            <a:pPr marL="0" marR="0" lvl="0" indent="0" algn="l">
              <a:lnSpc>
                <a:spcPct val="100000"/>
              </a:lnSpc>
              <a:spcBef>
                <a:spcPts val="0"/>
              </a:spcBef>
              <a:spcAft>
                <a:spcPts val="0"/>
              </a:spcAft>
              <a:buNone/>
            </a:pPr>
            <a:r>
              <a:rPr lang="en-GB" sz="1600" i="0" strike="noStrike" cap="none" dirty="0">
                <a:solidFill>
                  <a:srgbClr val="FFFF00"/>
                </a:solidFill>
                <a:ea typeface="Quattrocento Sans"/>
                <a:sym typeface="Quattrocento Sans"/>
              </a:rPr>
              <a:t>https://</a:t>
            </a:r>
            <a:r>
              <a:rPr lang="en-GB" sz="1600" dirty="0">
                <a:solidFill>
                  <a:srgbClr val="FFFF00"/>
                </a:solidFill>
                <a:ea typeface="Quattrocento Sans"/>
                <a:sym typeface="Quattrocento Sans"/>
              </a:rPr>
              <a:t>learn.unity</a:t>
            </a:r>
            <a:r>
              <a:rPr lang="en-GB" sz="1600" i="0" strike="noStrike" cap="none" dirty="0">
                <a:solidFill>
                  <a:srgbClr val="FFFF00"/>
                </a:solidFill>
                <a:ea typeface="Quattrocento Sans"/>
                <a:sym typeface="Quattrocento Sans"/>
              </a:rPr>
              <a:t>.com/</a:t>
            </a:r>
            <a:r>
              <a:rPr lang="en-GB" sz="1600" dirty="0">
                <a:solidFill>
                  <a:srgbClr val="FFFF00"/>
                </a:solidFill>
                <a:ea typeface="Quattrocento Sans"/>
                <a:sym typeface="Quattrocento Sans"/>
              </a:rPr>
              <a:t>tutorial</a:t>
            </a:r>
            <a:r>
              <a:rPr lang="en-GB" sz="1600" i="0" strike="noStrike" cap="none" dirty="0">
                <a:solidFill>
                  <a:srgbClr val="FFFF00"/>
                </a:solidFill>
                <a:ea typeface="Quattrocento Sans"/>
                <a:sym typeface="Quattrocento Sans"/>
              </a:rPr>
              <a:t>/</a:t>
            </a:r>
            <a:r>
              <a:rPr lang="en-GB" sz="1600" dirty="0">
                <a:solidFill>
                  <a:srgbClr val="FFFF00"/>
                </a:solidFill>
                <a:ea typeface="Quattrocento Sans"/>
                <a:sym typeface="Quattrocento Sans"/>
              </a:rPr>
              <a:t>ui-components</a:t>
            </a:r>
            <a:r>
              <a:rPr lang="en-GB" sz="1600" b="1" u="sng"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odules</a:t>
            </a:r>
            <a:r>
              <a:rPr lang="en-GB" sz="1600" b="1" i="0" u="sng" strike="noStrike" cap="none"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/beginner/live-training-archive/the-new-ui?playlist=17111</a:t>
            </a:r>
            <a:endParaRPr sz="1600" b="1" i="0" u="none" strike="noStrike" cap="none" dirty="0">
              <a:solidFill>
                <a:srgbClr val="FFFF00"/>
              </a:solidFill>
              <a:latin typeface="Quattrocento Sans"/>
              <a:ea typeface="Quattrocento Sans"/>
              <a:cs typeface="Quattrocento Sans"/>
            </a:endParaRPr>
          </a:p>
          <a:p>
            <a:pPr marL="0" marR="0" lvl="0" indent="0" algn="l">
              <a:lnSpc>
                <a:spcPct val="100000"/>
              </a:lnSpc>
              <a:spcBef>
                <a:spcPts val="0"/>
              </a:spcBef>
              <a:spcAft>
                <a:spcPts val="0"/>
              </a:spcAft>
              <a:buSzPts val="1600"/>
              <a:buFont typeface="Arial"/>
              <a:buNone/>
            </a:pPr>
            <a:endParaRPr lang="en-GB" sz="1600" b="1" i="0" strike="noStrike" cap="none">
              <a:solidFill>
                <a:srgbClr val="979797"/>
              </a:solidFill>
              <a:latin typeface="Calibri"/>
              <a:ea typeface="Calibri"/>
              <a:cs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Calibri"/>
              <a:cs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lang="en-GB" sz="1600" b="1" i="0" u="none" strike="noStrike" cap="none">
              <a:solidFill>
                <a:srgbClr val="FF0000"/>
              </a:solidFill>
              <a:latin typeface="Quattrocento Sans"/>
              <a:ea typeface="Quattrocento Sans"/>
              <a:cs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211"/>
        <p:cNvGrpSpPr/>
        <p:nvPr/>
      </p:nvGrpSpPr>
      <p:grpSpPr>
        <a:xfrm>
          <a:off x="0" y="0"/>
          <a:ext cx="0" cy="0"/>
          <a:chOff x="0" y="0"/>
          <a:chExt cx="0" cy="0"/>
        </a:xfrm>
      </p:grpSpPr>
      <p:sp>
        <p:nvSpPr>
          <p:cNvPr id="212" name="Google Shape;212;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13" name="Google Shape;213;p26"/>
          <p:cNvSpPr txBox="1"/>
          <p:nvPr/>
        </p:nvSpPr>
        <p:spPr>
          <a:xfrm>
            <a:off x="609600" y="1421654"/>
            <a:ext cx="10890738" cy="60631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HUD Various (Games)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0000"/>
                </a:solidFill>
                <a:latin typeface="Quattrocento Sans"/>
                <a:ea typeface="Quattrocento Sans"/>
                <a:cs typeface="Quattrocento Sans"/>
                <a:sym typeface="Quattrocento Sans"/>
              </a:rPr>
              <a:t>Readouts</a:t>
            </a:r>
            <a:endParaRPr sz="14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sz="1800" b="1" i="0" u="none" strike="noStrike" cap="none">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0000"/>
                </a:solidFill>
                <a:latin typeface="Quattrocento Sans"/>
                <a:ea typeface="Quattrocento Sans"/>
                <a:cs typeface="Quattrocento Sans"/>
                <a:sym typeface="Quattrocento Sans"/>
              </a:rPr>
              <a:t>Health Bar</a:t>
            </a:r>
            <a:endParaRPr sz="14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rgbClr val="FF00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http://www.noorcon.com/articles/Unity3D_Game_Programming_Part_9.html</a:t>
            </a:r>
            <a:br>
              <a:rPr lang="en-GB" sz="1800" b="1" i="0" u="none" strike="noStrike" cap="none">
                <a:solidFill>
                  <a:srgbClr val="FF0000"/>
                </a:solidFill>
                <a:latin typeface="Quattrocento Sans"/>
                <a:ea typeface="Quattrocento Sans"/>
                <a:cs typeface="Quattrocento Sans"/>
              </a:rPr>
            </a:br>
            <a:r>
              <a:rPr lang="en-GB" sz="1800" b="1" i="0" u="sng" strike="noStrike" cap="none">
                <a:solidFill>
                  <a:srgbClr val="FF0000"/>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https://www.packtpub.com/mapt/book/Game%20Development/9781785885822/2/ch02lvl1sec23/Implementing+a+linear+health+bar</a:t>
            </a:r>
            <a:endParaRPr sz="1800" b="1" i="0" u="none" strike="noStrike" cap="none">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0000"/>
                </a:solidFill>
                <a:latin typeface="Quattrocento Sans"/>
                <a:ea typeface="Quattrocento Sans"/>
                <a:cs typeface="Quattrocento Sans"/>
                <a:sym typeface="Quattrocento Sans"/>
              </a:rPr>
              <a:t>Timer</a:t>
            </a:r>
            <a:br>
              <a:rPr lang="en-GB" sz="1800" b="1" i="0" u="none" strike="noStrike" cap="none">
                <a:solidFill>
                  <a:srgbClr val="FF0000"/>
                </a:solidFill>
                <a:latin typeface="Quattrocento Sans"/>
                <a:ea typeface="Quattrocento Sans"/>
                <a:cs typeface="Quattrocento Sans"/>
              </a:rPr>
            </a:br>
            <a:r>
              <a:rPr lang="en-GB" sz="1800" b="1" i="0" u="sng" strike="noStrike" cap="none">
                <a:solidFill>
                  <a:srgbClr val="FF0000"/>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http://www.noorcon.com/articles/Unity3D_Game_Programming_Part_6.html</a:t>
            </a:r>
            <a:br>
              <a:rPr lang="en-GB" sz="1800" b="1" i="0" u="none" strike="noStrike" cap="none">
                <a:solidFill>
                  <a:srgbClr val="FF0000"/>
                </a:solidFill>
                <a:latin typeface="Quattrocento Sans"/>
                <a:ea typeface="Quattrocento Sans"/>
                <a:cs typeface="Quattrocento Sans"/>
              </a:rPr>
            </a:br>
            <a:r>
              <a:rPr lang="en-GB" sz="1800" b="1" i="0" u="sng" strike="noStrike" cap="none">
                <a:solidFill>
                  <a:srgbClr val="FF0000"/>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https://www.packtpub.com/mapt/book/Game%20Development/9781785885822/3/ch03lvl1sec29/Implementing+a+numeric+timer</a:t>
            </a:r>
            <a:endParaRPr sz="1800" b="1" i="0" u="none" strike="noStrike" cap="none">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0000"/>
                </a:solidFill>
                <a:latin typeface="Quattrocento Sans"/>
                <a:ea typeface="Quattrocento Sans"/>
                <a:cs typeface="Quattrocento Sans"/>
                <a:sym typeface="Quattrocento Sans"/>
              </a:rPr>
              <a:t>Collection Bar</a:t>
            </a:r>
            <a:endParaRPr sz="14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rgbClr val="FF0000"/>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http://www.noorcon.com/articles/Unity3D_Game_Programming_Part_6.html</a:t>
            </a:r>
            <a:endParaRPr sz="1800" b="1" i="0" u="none" strike="noStrike" cap="none">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0000"/>
                </a:solidFill>
                <a:latin typeface="Quattrocento Sans"/>
                <a:ea typeface="Quattrocento Sans"/>
                <a:cs typeface="Quattrocento Sans"/>
                <a:sym typeface="Quattrocento Sans"/>
              </a:rPr>
              <a:t>Score/Info</a:t>
            </a:r>
            <a:endParaRPr sz="14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rgbClr val="FF0000"/>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http://www.noorcon.com/articles/Unity3D_Game_Programming_Part_6.html</a:t>
            </a:r>
            <a:endParaRPr sz="1800" b="1" i="0" u="none" strike="noStrike" cap="none">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a:solidFill>
                  <a:srgbClr val="FF0000"/>
                </a:solidFill>
                <a:latin typeface="Quattrocento Sans"/>
                <a:ea typeface="Quattrocento Sans"/>
                <a:cs typeface="Quattrocento Sans"/>
                <a:sym typeface="Quattrocento Sans"/>
                <a:hlinkClick r:id="rId8">
                  <a:extLst>
                    <a:ext uri="{A12FA001-AC4F-418D-AE19-62706E023703}">
                      <ahyp:hlinkClr xmlns:ahyp="http://schemas.microsoft.com/office/drawing/2018/hyperlinkcolor" val="tx"/>
                    </a:ext>
                  </a:extLst>
                </a:hlinkClick>
              </a:rPr>
              <a:t>https://www.packtpub.com/mapt/book/Game%20Development/9781785885822/2/ch02lvl1sec19/Implementing+a+score+counter</a:t>
            </a:r>
            <a:endParaRPr sz="18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20" name="Google Shape;220;p27"/>
          <p:cNvSpPr txBox="1"/>
          <p:nvPr/>
        </p:nvSpPr>
        <p:spPr>
          <a:xfrm>
            <a:off x="609600" y="1421654"/>
            <a:ext cx="10890738" cy="37240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Levels</a:t>
            </a:r>
            <a:endParaRPr lang="en-US" sz="1400" b="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endParaRPr lang="en-GB" sz="2000" b="1" i="0" u="none" strike="noStrike" cap="none">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Scene/Level selection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https://www.youtube.com/watch?v=FIa7qxGaRZo&amp;index=86&amp;list=PLX2vGYjWbI0Tg4eS9w29PPqg0Fx4sIL7p</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err="1">
                <a:solidFill>
                  <a:srgbClr val="FFFF00"/>
                </a:solidFill>
                <a:latin typeface="Quattrocento Sans"/>
                <a:ea typeface="Quattrocento Sans"/>
                <a:cs typeface="Quattrocento Sans"/>
                <a:sym typeface="Quattrocento Sans"/>
              </a:rPr>
              <a:t>Minimaps</a:t>
            </a:r>
            <a:br>
              <a:rPr lang="en-GB" sz="2000" b="1" i="0" u="none" strike="noStrike" cap="none">
                <a:latin typeface="Quattrocento Sans"/>
                <a:ea typeface="Quattrocento Sans"/>
                <a:cs typeface="Quattrocento Sans"/>
              </a:rPr>
            </a:br>
            <a:r>
              <a:rPr lang="en-GB" sz="2000" b="1" i="0" u="sng" strike="noStrike" cap="none">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https://www.packtpub.com/mapt/book/Game%20Development/9781785885822</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https://www.packtpub.com/mapt#collapse10</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27" name="Google Shape;227;p28"/>
          <p:cNvSpPr txBox="1"/>
          <p:nvPr/>
        </p:nvSpPr>
        <p:spPr>
          <a:xfrm>
            <a:off x="609600" y="1421654"/>
            <a:ext cx="10890738" cy="33547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Widgets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Player Control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https://www.youtube.com/watch?v=nGYObojmkO4</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Shop UI with ScrollLists</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https://www.youtube.com/watch?v=TAJCr3_kfEc</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26</Notes>
  <HiddenSlides>2</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revision>15</cp:revision>
  <dcterms:created xsi:type="dcterms:W3CDTF">2016-10-08T10:37:01Z</dcterms:created>
  <dcterms:modified xsi:type="dcterms:W3CDTF">2026-08-10T13:43:13Z</dcterms:modified>
</cp:coreProperties>
</file>