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66" r:id="rId2"/>
  </p:sldMasterIdLst>
  <p:notesMasterIdLst>
    <p:notesMasterId r:id="rId59"/>
  </p:notesMasterIdLst>
  <p:sldIdLst>
    <p:sldId id="336" r:id="rId3"/>
    <p:sldId id="342" r:id="rId4"/>
    <p:sldId id="343" r:id="rId5"/>
    <p:sldId id="344" r:id="rId6"/>
    <p:sldId id="348" r:id="rId7"/>
    <p:sldId id="259" r:id="rId8"/>
    <p:sldId id="258" r:id="rId9"/>
    <p:sldId id="260" r:id="rId10"/>
    <p:sldId id="373" r:id="rId11"/>
    <p:sldId id="263" r:id="rId12"/>
    <p:sldId id="264" r:id="rId13"/>
    <p:sldId id="265" r:id="rId14"/>
    <p:sldId id="266" r:id="rId15"/>
    <p:sldId id="267" r:id="rId16"/>
    <p:sldId id="268" r:id="rId17"/>
    <p:sldId id="361" r:id="rId18"/>
    <p:sldId id="365" r:id="rId19"/>
    <p:sldId id="366" r:id="rId20"/>
    <p:sldId id="367" r:id="rId21"/>
    <p:sldId id="359" r:id="rId22"/>
    <p:sldId id="358" r:id="rId23"/>
    <p:sldId id="360" r:id="rId24"/>
    <p:sldId id="364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442" r:id="rId38"/>
    <p:sldId id="296" r:id="rId39"/>
    <p:sldId id="443" r:id="rId40"/>
    <p:sldId id="297" r:id="rId41"/>
    <p:sldId id="298" r:id="rId42"/>
    <p:sldId id="299" r:id="rId43"/>
    <p:sldId id="300" r:id="rId44"/>
    <p:sldId id="445" r:id="rId45"/>
    <p:sldId id="444" r:id="rId46"/>
    <p:sldId id="446" r:id="rId47"/>
    <p:sldId id="301" r:id="rId48"/>
    <p:sldId id="369" r:id="rId49"/>
    <p:sldId id="370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32" r:id="rId58"/>
  </p:sldIdLst>
  <p:sldSz cx="9144000" cy="6858000" type="screen4x3"/>
  <p:notesSz cx="6858000" cy="9144000"/>
  <p:embeddedFontLst>
    <p:embeddedFont>
      <p:font typeface="Segoe UI" panose="020B0502040204020203" pitchFamily="34" charset="0"/>
      <p:regular r:id="rId60"/>
      <p:bold r:id="rId61"/>
      <p:italic r:id="rId62"/>
      <p:boldItalic r:id="rId63"/>
    </p:embeddedFont>
    <p:embeddedFont>
      <p:font typeface="Segoe UI Light" panose="020B0502040204020203" pitchFamily="34" charset="0"/>
      <p:regular r:id="rId64"/>
      <p:italic r:id="rId6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997612-99C5-3303-20D8-AC57CCD2CCCB}" v="5" dt="2025-08-29T09:26:13.4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37" autoAdjust="0"/>
    <p:restoredTop sz="94660"/>
  </p:normalViewPr>
  <p:slideViewPr>
    <p:cSldViewPr>
      <p:cViewPr varScale="1">
        <p:scale>
          <a:sx n="88" d="100"/>
          <a:sy n="88" d="100"/>
        </p:scale>
        <p:origin x="84" y="29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4.fntdata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font" Target="fonts/font2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font" Target="fonts/font5.fntdata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font" Target="fonts/font3.fntdata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448090-1F02-406C-A993-FE44505F9BE7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5B724E-AB28-4426-A533-37EE40F0A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784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hn3Ix-YxPA" TargetMode="External"/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youtu.be/Bc_TCLoH2CA" TargetMode="Externa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https://www.slideshare.net/marknb00/comp-4010-lecture7-3d-user-interfaces-for-virtual-reality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076451-FC90-4479-9586-D790FB947699}" type="slidenum">
              <a:rPr kumimoji="0" lang="en-GB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40714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031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40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2500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6337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6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784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7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995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8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90469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9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0407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10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3447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11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1688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12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9477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13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6123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14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3097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15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3611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16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8661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17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7838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18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9977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19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2894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0953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21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4228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22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9565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23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8330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24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0980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25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131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26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8943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27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61602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28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1778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29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84223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30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897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31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83534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32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8458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33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2570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34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6011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35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92588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36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66430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37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04712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38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19191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39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97365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40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89471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41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3595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42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59084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43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78749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44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254578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45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18744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46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39861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47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80811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14336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49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74769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50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11878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51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56703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52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85788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200" b="1" dirty="0" err="1">
                <a:solidFill>
                  <a:srgbClr val="FFFF00"/>
                </a:solidFill>
              </a:rPr>
              <a:t>Hovercast</a:t>
            </a:r>
            <a:r>
              <a:rPr lang="en-GB" sz="1200" b="1" dirty="0">
                <a:solidFill>
                  <a:srgbClr val="FFFF00"/>
                </a:solidFill>
              </a:rPr>
              <a:t> Menus </a:t>
            </a:r>
          </a:p>
          <a:p>
            <a:r>
              <a:rPr lang="en-GB" sz="1200" b="1" dirty="0">
                <a:solidFill>
                  <a:srgbClr val="FF0000"/>
                </a:solidFill>
                <a:hlinkClick r:id="rId3"/>
              </a:rPr>
              <a:t>https://www.youtube.com/watch?v=Phn3Ix-YxPA</a:t>
            </a:r>
            <a:endParaRPr lang="en-GB" sz="1200" b="1" dirty="0">
              <a:solidFill>
                <a:srgbClr val="FF0000"/>
              </a:solidFill>
            </a:endParaRPr>
          </a:p>
          <a:p>
            <a:endParaRPr lang="en-GB" sz="1200" b="1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rgbClr val="FFFF00"/>
                </a:solidFill>
              </a:rPr>
              <a:t>Will Steptoe</a:t>
            </a:r>
            <a:br>
              <a:rPr lang="en-GB" sz="1200" b="1" dirty="0">
                <a:solidFill>
                  <a:srgbClr val="FFFF00"/>
                </a:solidFill>
              </a:rPr>
            </a:br>
            <a:r>
              <a:rPr lang="en-GB" sz="1200" b="1" dirty="0">
                <a:solidFill>
                  <a:srgbClr val="FFFF00"/>
                </a:solidFill>
                <a:hlinkClick r:id="rId4"/>
              </a:rPr>
              <a:t>https://youtu.be/Bc_TCLoH2CA</a:t>
            </a:r>
            <a:endParaRPr lang="en-GB" sz="1200" b="1" dirty="0">
              <a:solidFill>
                <a:srgbClr val="FFFF00"/>
              </a:solidFill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53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14754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54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23245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55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56202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>
                <a:solidFill>
                  <a:prstClr val="black"/>
                </a:solidFill>
              </a:rPr>
              <a:pPr/>
              <a:t>56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210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010543"/>
          </a:xfrm>
          <a:solidFill>
            <a:schemeClr val="accent1"/>
          </a:solidFill>
        </p:spPr>
        <p:txBody>
          <a:bodyPr/>
          <a:lstStyle>
            <a:lvl1pPr algn="l">
              <a:defRPr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212976"/>
            <a:ext cx="7776864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532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224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328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35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4662296" y="1556056"/>
            <a:ext cx="4020984" cy="613784"/>
          </a:xfrm>
          <a:prstGeom prst="rect">
            <a:avLst/>
          </a:prstGeom>
          <a:solidFill>
            <a:srgbClr val="FFFFFF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1F497D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79008" y="1556792"/>
            <a:ext cx="4020984" cy="613784"/>
          </a:xfrm>
          <a:prstGeom prst="rect">
            <a:avLst/>
          </a:prstGeom>
          <a:solidFill>
            <a:srgbClr val="FFFFFF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1F497D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14" name="Picture 13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5386" y="6309320"/>
            <a:ext cx="303997" cy="450964"/>
          </a:xfrm>
          <a:prstGeom prst="rect">
            <a:avLst/>
          </a:prstGeom>
        </p:spPr>
      </p:pic>
      <p:pic>
        <p:nvPicPr>
          <p:cNvPr id="15" name="Picture 14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966" y="6309320"/>
            <a:ext cx="303997" cy="45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840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9" name="Picture 8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966" y="6309320"/>
            <a:ext cx="303997" cy="45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623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010543"/>
          </a:xfrm>
          <a:solidFill>
            <a:schemeClr val="accent1"/>
          </a:solidFill>
        </p:spPr>
        <p:txBody>
          <a:bodyPr/>
          <a:lstStyle>
            <a:lvl1pPr algn="l">
              <a:defRPr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212976"/>
            <a:ext cx="7776864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2988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8956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328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068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4662296" y="1556056"/>
            <a:ext cx="4020984" cy="613784"/>
          </a:xfrm>
          <a:prstGeom prst="rect">
            <a:avLst/>
          </a:prstGeom>
          <a:solidFill>
            <a:srgbClr val="FFFFFF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 userDrawn="1"/>
        </p:nvSpPr>
        <p:spPr>
          <a:xfrm>
            <a:off x="479008" y="1556792"/>
            <a:ext cx="4020984" cy="613784"/>
          </a:xfrm>
          <a:prstGeom prst="rect">
            <a:avLst/>
          </a:prstGeom>
          <a:solidFill>
            <a:srgbClr val="FFFFFF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14" name="Picture 13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5386" y="6309320"/>
            <a:ext cx="303997" cy="450964"/>
          </a:xfrm>
          <a:prstGeom prst="rect">
            <a:avLst/>
          </a:prstGeom>
        </p:spPr>
      </p:pic>
      <p:pic>
        <p:nvPicPr>
          <p:cNvPr id="15" name="Picture 14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966" y="6309320"/>
            <a:ext cx="303997" cy="45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411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9" name="Picture 8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966" y="6309320"/>
            <a:ext cx="303997" cy="45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996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0000"/>
            </a:gs>
            <a:gs pos="80000">
              <a:schemeClr val="bg1">
                <a:lumMod val="50000"/>
              </a:schemeClr>
            </a:gs>
            <a:gs pos="100000">
              <a:schemeClr val="bg1">
                <a:lumMod val="60000"/>
                <a:lumOff val="4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68760"/>
            <a:ext cx="8229600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7" name="Picture 2" descr="C:\Users\jw\Documents\Visual Studio 2010\Projects\JSBubbles\JSBubbles.Game\images\themes\metro\Next.png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4029" y="6348019"/>
            <a:ext cx="400050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Obraz 7">
            <a:hlinkClick r:id="" action="ppaction://hlinkshowjump?jump=endshow"/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40" y="6343213"/>
            <a:ext cx="400106" cy="400106"/>
          </a:xfrm>
          <a:prstGeom prst="rect">
            <a:avLst/>
          </a:prstGeom>
        </p:spPr>
      </p:pic>
      <p:pic>
        <p:nvPicPr>
          <p:cNvPr id="9" name="Obraz 8">
            <a:hlinkClick r:id="" action="ppaction://hlinkshowjump?jump=firstslide"/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908" y="6347991"/>
            <a:ext cx="400106" cy="400106"/>
          </a:xfrm>
          <a:prstGeom prst="rect">
            <a:avLst/>
          </a:prstGeom>
        </p:spPr>
      </p:pic>
      <p:pic>
        <p:nvPicPr>
          <p:cNvPr id="10" name="Obraz 9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800" y="6338465"/>
            <a:ext cx="419159" cy="419159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4061508" y="6525344"/>
            <a:ext cx="1113381" cy="360040"/>
          </a:xfrm>
          <a:prstGeom prst="rect">
            <a:avLst/>
          </a:prstGeom>
          <a:blipFill dpi="0" rotWithShape="1">
            <a:blip r:embed="rId11">
              <a:alphaModFix amt="30000"/>
            </a:blip>
            <a:srcRect/>
            <a:stretch>
              <a:fillRect/>
            </a:stretch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58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Segoe UI" pitchFamily="34" charset="0"/>
          <a:cs typeface="Segoe UI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0000"/>
            </a:gs>
            <a:gs pos="80000">
              <a:schemeClr val="bg1">
                <a:lumMod val="50000"/>
              </a:schemeClr>
            </a:gs>
            <a:gs pos="100000">
              <a:schemeClr val="bg1">
                <a:lumMod val="60000"/>
                <a:lumOff val="4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68760"/>
            <a:ext cx="8229600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7" name="Picture 2" descr="C:\Users\jw\Documents\Visual Studio 2010\Projects\JSBubbles\JSBubbles.Game\images\themes\metro\Next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4029" y="6348019"/>
            <a:ext cx="400050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Obraz 7">
            <a:hlinkClick r:id="" action="ppaction://hlinkshowjump?jump=endshow"/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40" y="6343213"/>
            <a:ext cx="400106" cy="400106"/>
          </a:xfrm>
          <a:prstGeom prst="rect">
            <a:avLst/>
          </a:prstGeom>
        </p:spPr>
      </p:pic>
      <p:pic>
        <p:nvPicPr>
          <p:cNvPr id="9" name="Obraz 8">
            <a:hlinkClick r:id="" action="ppaction://hlinkshowjump?jump=firstslide"/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908" y="6347991"/>
            <a:ext cx="400106" cy="400106"/>
          </a:xfrm>
          <a:prstGeom prst="rect">
            <a:avLst/>
          </a:prstGeom>
        </p:spPr>
      </p:pic>
      <p:pic>
        <p:nvPicPr>
          <p:cNvPr id="10" name="Obraz 9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800" y="6338465"/>
            <a:ext cx="419159" cy="41915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061508" y="6525344"/>
            <a:ext cx="1113381" cy="360040"/>
          </a:xfrm>
          <a:prstGeom prst="rect">
            <a:avLst/>
          </a:prstGeom>
          <a:blipFill dpi="0" rotWithShape="1">
            <a:blip r:embed="rId11">
              <a:alphaModFix amt="30000"/>
            </a:blip>
            <a:srcRect/>
            <a:stretch>
              <a:fillRect/>
            </a:stretch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5898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Segoe UI" pitchFamily="34" charset="0"/>
          <a:cs typeface="Segoe UI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wYjnWCcw18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a.tojicode.com/q3bsp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hitevoid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leonardi.com/interactive-resume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U09hwnsUkY8" TargetMode="External"/><Relationship Id="rId3" Type="http://schemas.openxmlformats.org/officeDocument/2006/relationships/hyperlink" Target="http://www.wilmotli.com/pubs/li08exview3D.pdf" TargetMode="External"/><Relationship Id="rId7" Type="http://schemas.openxmlformats.org/officeDocument/2006/relationships/hyperlink" Target="https://www.youtube.com/watch?v=5zmqZZshdfs" TargetMode="External"/><Relationship Id="rId12" Type="http://schemas.openxmlformats.org/officeDocument/2006/relationships/hyperlink" Target="https://www.youtube.com/watch?v=meieYpHYTVU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Ty_hqTtvHdI" TargetMode="External"/><Relationship Id="rId11" Type="http://schemas.openxmlformats.org/officeDocument/2006/relationships/hyperlink" Target="https://www.youtube.com/watch?v=ErqpzWrQHAY" TargetMode="External"/><Relationship Id="rId5" Type="http://schemas.openxmlformats.org/officeDocument/2006/relationships/hyperlink" Target="https://www.youtube.com/watch?v=_i5RkAxGiwQ" TargetMode="External"/><Relationship Id="rId10" Type="http://schemas.openxmlformats.org/officeDocument/2006/relationships/hyperlink" Target="https://www.youtube.com/watch?v=XmTRQml4Js0" TargetMode="External"/><Relationship Id="rId4" Type="http://schemas.openxmlformats.org/officeDocument/2006/relationships/hyperlink" Target="https://www.youtube.com/watch?v=NL2QFLiM_mY" TargetMode="External"/><Relationship Id="rId9" Type="http://schemas.openxmlformats.org/officeDocument/2006/relationships/hyperlink" Target="https://www.youtube.com/watch?v=iPEfHOCUVMI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blaurel/what-is-virtual-reality-77b876d829ba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neramaadventure.com/trainer.ht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hyperlink" Target="../../2015/EIMM%20610%202015%20Pervasive%20Computing/CW2/Student%20Downloads/Tarpini%20Filippo%201417290/ShowingGame.mp4" TargetMode="External"/><Relationship Id="rId7" Type="http://schemas.openxmlformats.org/officeDocument/2006/relationships/hyperlink" Target="https://www.youtube.com/watch?v=WSI3ydzISkU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hdps.wikia.com/wiki/Henson_Digital_Performance_Studio" TargetMode="External"/><Relationship Id="rId5" Type="http://schemas.openxmlformats.org/officeDocument/2006/relationships/hyperlink" Target="https://www.youtube.com/watch?v=C9lIYmkYrXk" TargetMode="External"/><Relationship Id="rId4" Type="http://schemas.openxmlformats.org/officeDocument/2006/relationships/hyperlink" Target="https://www.inition.co.uk/case_study/virtual-botox-haptic-app-simulates-injecting-real-thing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hL5mQcCFU9I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gif"/><Relationship Id="rId4" Type="http://schemas.openxmlformats.org/officeDocument/2006/relationships/image" Target="../media/image27.gi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repository.royalholloway.ac.uk/file/c4d1a84d-d4d4-a856-b25a-331dd40dedbe/8/Murtagh-Eye_movements_and_voice.pdf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1g9QaKe7rU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GYObojmkO4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C5Zg0fU2e8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xRAIjXdfFU" TargetMode="Externa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gwYjnWCcw18" TargetMode="Externa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rlFMwLI1fw" TargetMode="Externa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logs.unity3d.com/2014/06/30/unity-4-6-new-ui-world-space-canvas/" TargetMode="External"/><Relationship Id="rId4" Type="http://schemas.openxmlformats.org/officeDocument/2006/relationships/hyperlink" Target="https://unity3d.com/learn/tutorials/topics/user-interface-u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3D Interactive Media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212976"/>
            <a:ext cx="7992888" cy="28083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>
                <a:solidFill>
                  <a:srgbClr val="FFFF00"/>
                </a:solidFill>
                <a:cs typeface="Segoe UI"/>
              </a:rPr>
              <a:t>5MMCS001W				Lecture 03a</a:t>
            </a:r>
            <a:endParaRPr lang="en-GB" b="1" dirty="0">
              <a:solidFill>
                <a:srgbClr val="FFFF00"/>
              </a:solidFill>
            </a:endParaRPr>
          </a:p>
          <a:p>
            <a:endParaRPr lang="en-GB" dirty="0">
              <a:solidFill>
                <a:srgbClr val="FF0000"/>
              </a:solidFill>
            </a:endParaRPr>
          </a:p>
          <a:p>
            <a:pPr algn="ctr"/>
            <a:r>
              <a:rPr lang="en-GB" sz="2400" dirty="0">
                <a:solidFill>
                  <a:srgbClr val="00B0F0"/>
                </a:solidFill>
              </a:rPr>
              <a:t>Example of an immersive 3D UI</a:t>
            </a:r>
          </a:p>
          <a:p>
            <a:pPr algn="ctr"/>
            <a:r>
              <a:rPr lang="en-GB" sz="2400" b="1" dirty="0">
                <a:solidFill>
                  <a:srgbClr val="FFFF00"/>
                </a:solidFill>
                <a:hlinkClick r:id="rId3"/>
              </a:rPr>
              <a:t>https://www.youtube.com/watch?v=gwYjnWCcw18</a:t>
            </a:r>
            <a:endParaRPr lang="en-GB" sz="2400" b="1" dirty="0">
              <a:solidFill>
                <a:srgbClr val="FFFF00"/>
              </a:solidFill>
            </a:endParaRPr>
          </a:p>
          <a:p>
            <a:endParaRPr lang="en-GB" sz="2400" b="1" dirty="0">
              <a:solidFill>
                <a:srgbClr val="FF0000"/>
              </a:solidFill>
            </a:endParaRPr>
          </a:p>
          <a:p>
            <a:pPr algn="ctr"/>
            <a:endParaRPr lang="en-GB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394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3D Interactive Media Development</a:t>
            </a:r>
            <a:endParaRPr lang="en-GB" sz="4000" dirty="0"/>
          </a:p>
        </p:txBody>
      </p:sp>
      <p:sp>
        <p:nvSpPr>
          <p:cNvPr id="22" name="TextBox 21"/>
          <p:cNvSpPr txBox="1"/>
          <p:nvPr/>
        </p:nvSpPr>
        <p:spPr>
          <a:xfrm>
            <a:off x="442796" y="1196752"/>
            <a:ext cx="8233660" cy="48936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/>
            <a:r>
              <a:rPr lang="en-GB" sz="2800" b="1" dirty="0">
                <a:solidFill>
                  <a:srgbClr val="FFFF00"/>
                </a:solidFill>
              </a:rPr>
              <a:t>3DUI Interaction Practical examples</a:t>
            </a:r>
          </a:p>
          <a:p>
            <a:pPr lvl="1"/>
            <a:endParaRPr lang="en-GB" sz="2400" b="1" dirty="0">
              <a:solidFill>
                <a:srgbClr val="FFFF00"/>
              </a:solidFill>
            </a:endParaRPr>
          </a:p>
          <a:p>
            <a:r>
              <a:rPr lang="en-GB" sz="2000" b="1" dirty="0">
                <a:solidFill>
                  <a:srgbClr val="FFFF00"/>
                </a:solidFill>
              </a:rPr>
              <a:t>Quake 3 Web (</a:t>
            </a:r>
            <a:r>
              <a:rPr lang="en-GB" sz="2000" b="1" dirty="0" err="1">
                <a:solidFill>
                  <a:srgbClr val="FFFF00"/>
                </a:solidFill>
              </a:rPr>
              <a:t>js</a:t>
            </a:r>
            <a:r>
              <a:rPr lang="en-GB" sz="2000" b="1" dirty="0">
                <a:solidFill>
                  <a:srgbClr val="FFFF00"/>
                </a:solidFill>
              </a:rPr>
              <a:t>)</a:t>
            </a:r>
            <a:endParaRPr lang="en-GB" sz="2000" b="1" dirty="0">
              <a:solidFill>
                <a:srgbClr val="FFFF00"/>
              </a:solidFill>
              <a:cs typeface="Segoe UI Light"/>
            </a:endParaRPr>
          </a:p>
          <a:p>
            <a:r>
              <a:rPr lang="en-GB" sz="2000" b="1" dirty="0">
                <a:solidFill>
                  <a:srgbClr val="FFFF00"/>
                </a:solidFill>
                <a:hlinkClick r:id="rId3"/>
              </a:rPr>
              <a:t>https://media.tojicode.com/q3bsp/</a:t>
            </a:r>
            <a:endParaRPr lang="en-GB" sz="2000" b="1" dirty="0">
              <a:solidFill>
                <a:srgbClr val="FFFF00"/>
              </a:solidFill>
            </a:endParaRPr>
          </a:p>
          <a:p>
            <a:endParaRPr lang="en-GB" sz="2000" b="1" dirty="0"/>
          </a:p>
          <a:p>
            <a:pPr lvl="0"/>
            <a:r>
              <a:rPr lang="en-GB" sz="2000" b="1" dirty="0"/>
              <a:t>Mouse Look - Cursor Lock</a:t>
            </a:r>
          </a:p>
          <a:p>
            <a:pPr lvl="0"/>
            <a:endParaRPr lang="en-GB" sz="2000" b="1" dirty="0"/>
          </a:p>
          <a:p>
            <a:pPr lvl="0"/>
            <a:r>
              <a:rPr lang="en-GB" sz="2000" b="1" dirty="0"/>
              <a:t>Mouse Selection  - State Switch from Cursor Lock</a:t>
            </a:r>
          </a:p>
          <a:p>
            <a:pPr lvl="0"/>
            <a:endParaRPr lang="en-GB" sz="2000" b="1" dirty="0"/>
          </a:p>
          <a:p>
            <a:pPr lvl="0"/>
            <a:r>
              <a:rPr lang="en-GB" sz="2000" b="1" dirty="0"/>
              <a:t>WASD Keyboard Navigation</a:t>
            </a:r>
          </a:p>
          <a:p>
            <a:pPr lvl="0"/>
            <a:endParaRPr lang="en-GB" sz="2000" b="1" dirty="0"/>
          </a:p>
          <a:p>
            <a:pPr lvl="0"/>
            <a:r>
              <a:rPr lang="en-GB" sz="2000" b="1" dirty="0"/>
              <a:t>Keyboard Interaction – State Changes</a:t>
            </a:r>
          </a:p>
          <a:p>
            <a:pPr lvl="0"/>
            <a:endParaRPr lang="en-GB" sz="2000" b="1" dirty="0"/>
          </a:p>
          <a:p>
            <a:pPr lvl="0"/>
            <a:endParaRPr lang="en-GB" sz="2000" b="1" dirty="0"/>
          </a:p>
          <a:p>
            <a:pPr lvl="0"/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1684761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3D Interactive Media Development</a:t>
            </a:r>
            <a:endParaRPr lang="en-GB" sz="4000" dirty="0"/>
          </a:p>
        </p:txBody>
      </p:sp>
      <p:sp>
        <p:nvSpPr>
          <p:cNvPr id="22" name="TextBox 21"/>
          <p:cNvSpPr txBox="1"/>
          <p:nvPr/>
        </p:nvSpPr>
        <p:spPr>
          <a:xfrm>
            <a:off x="442796" y="1196752"/>
            <a:ext cx="823366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2800" b="1" dirty="0">
                <a:solidFill>
                  <a:srgbClr val="FFFF00"/>
                </a:solidFill>
              </a:rPr>
              <a:t>3DUI Interaction Practical examples</a:t>
            </a:r>
          </a:p>
          <a:p>
            <a:pPr lvl="1"/>
            <a:endParaRPr lang="en-GB" sz="2400" b="1" dirty="0">
              <a:solidFill>
                <a:srgbClr val="FFFF00"/>
              </a:solidFill>
            </a:endParaRPr>
          </a:p>
          <a:p>
            <a:r>
              <a:rPr lang="en-GB" sz="2000" b="1" dirty="0" err="1">
                <a:solidFill>
                  <a:srgbClr val="FFFF00"/>
                </a:solidFill>
              </a:rPr>
              <a:t>Whitevoid</a:t>
            </a:r>
            <a:endParaRPr lang="en-GB" sz="2000" b="1" dirty="0">
              <a:solidFill>
                <a:srgbClr val="FFFF00"/>
              </a:solidFill>
            </a:endParaRPr>
          </a:p>
          <a:p>
            <a:r>
              <a:rPr lang="en-GB" sz="2000" b="1" dirty="0">
                <a:solidFill>
                  <a:srgbClr val="FFFF00"/>
                </a:solidFill>
                <a:hlinkClick r:id="rId3"/>
              </a:rPr>
              <a:t>http://www.whitevoid.com/</a:t>
            </a:r>
            <a:endParaRPr lang="en-GB" sz="2000" b="1" dirty="0">
              <a:solidFill>
                <a:srgbClr val="FFFF00"/>
              </a:solidFill>
            </a:endParaRPr>
          </a:p>
          <a:p>
            <a:endParaRPr lang="en-GB" sz="2000" b="1" dirty="0"/>
          </a:p>
          <a:p>
            <a:pPr lvl="0"/>
            <a:r>
              <a:rPr lang="en-GB" sz="2000" b="1" dirty="0"/>
              <a:t>Mouse Orbit – Selected object (Mouse Look vs Mouse Orbit?)</a:t>
            </a:r>
          </a:p>
          <a:p>
            <a:pPr lvl="0"/>
            <a:endParaRPr lang="en-GB" sz="2000" b="1" dirty="0"/>
          </a:p>
          <a:p>
            <a:r>
              <a:rPr lang="en-GB" sz="2000" b="1" dirty="0"/>
              <a:t>Mouse </a:t>
            </a:r>
            <a:r>
              <a:rPr lang="en-GB" sz="2000" b="1" dirty="0" err="1"/>
              <a:t>Raycast</a:t>
            </a:r>
            <a:r>
              <a:rPr lang="en-GB" sz="2000" b="1" dirty="0"/>
              <a:t> Selection of 3D object in 3D VE from 2D Screen</a:t>
            </a:r>
          </a:p>
          <a:p>
            <a:endParaRPr lang="en-GB" sz="2000" b="1" dirty="0"/>
          </a:p>
          <a:p>
            <a:pPr lvl="0"/>
            <a:r>
              <a:rPr lang="en-GB" sz="2000" b="1" dirty="0"/>
              <a:t>Animations triggered by Object Selections  - Exploded view</a:t>
            </a:r>
          </a:p>
          <a:p>
            <a:endParaRPr lang="en-GB" sz="2000" b="1" dirty="0"/>
          </a:p>
          <a:p>
            <a:r>
              <a:rPr lang="en-GB" sz="2000" b="1" dirty="0"/>
              <a:t>Camera Waypoint Animation to 3D Object Selection – Mouse Orbit</a:t>
            </a:r>
          </a:p>
          <a:p>
            <a:endParaRPr lang="en-GB" sz="2000" b="1" dirty="0"/>
          </a:p>
          <a:p>
            <a:r>
              <a:rPr lang="en-GB" sz="2000" b="1" dirty="0"/>
              <a:t>Lowest level of selection frames and plays media</a:t>
            </a:r>
          </a:p>
          <a:p>
            <a:pPr lvl="0"/>
            <a:endParaRPr lang="en-GB" sz="2000" b="1" dirty="0"/>
          </a:p>
          <a:p>
            <a:pPr lvl="0"/>
            <a:endParaRPr lang="en-GB" sz="2000" b="1" dirty="0"/>
          </a:p>
          <a:p>
            <a:pPr lvl="0"/>
            <a:endParaRPr lang="en-GB" sz="2000" b="1" dirty="0"/>
          </a:p>
          <a:p>
            <a:pPr lvl="0"/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3707294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3D Interactive Media Development</a:t>
            </a:r>
            <a:endParaRPr lang="en-GB" sz="4000" dirty="0"/>
          </a:p>
        </p:txBody>
      </p:sp>
      <p:sp>
        <p:nvSpPr>
          <p:cNvPr id="22" name="TextBox 21"/>
          <p:cNvSpPr txBox="1"/>
          <p:nvPr/>
        </p:nvSpPr>
        <p:spPr>
          <a:xfrm>
            <a:off x="442796" y="1196752"/>
            <a:ext cx="823366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2800" b="1" dirty="0">
                <a:solidFill>
                  <a:srgbClr val="FFFF00"/>
                </a:solidFill>
              </a:rPr>
              <a:t>3DUI Interaction Practical examples - extras</a:t>
            </a:r>
          </a:p>
          <a:p>
            <a:pPr lvl="1"/>
            <a:endParaRPr lang="en-GB" sz="2400" b="1" dirty="0">
              <a:solidFill>
                <a:srgbClr val="FFFF00"/>
              </a:solidFill>
            </a:endParaRPr>
          </a:p>
          <a:p>
            <a:r>
              <a:rPr lang="en-GB" sz="2000" b="1" dirty="0">
                <a:solidFill>
                  <a:srgbClr val="FFFF00"/>
                </a:solidFill>
              </a:rPr>
              <a:t>Interactive 2D CV</a:t>
            </a:r>
          </a:p>
          <a:p>
            <a:r>
              <a:rPr lang="en-GB" sz="2000" b="1" dirty="0">
                <a:solidFill>
                  <a:srgbClr val="FFFF00"/>
                </a:solidFill>
                <a:hlinkClick r:id="rId3"/>
              </a:rPr>
              <a:t>http://www.rleonardi.com/interactive-resume/</a:t>
            </a:r>
            <a:endParaRPr lang="en-GB" sz="2000" b="1" dirty="0">
              <a:solidFill>
                <a:srgbClr val="FFFF00"/>
              </a:solidFill>
            </a:endParaRPr>
          </a:p>
          <a:p>
            <a:endParaRPr lang="en-GB" sz="2000" b="1" dirty="0"/>
          </a:p>
          <a:p>
            <a:pPr lvl="0"/>
            <a:r>
              <a:rPr lang="en-GB" sz="2000" b="1" dirty="0"/>
              <a:t>Narrative controlled by Mouse or Keyboard – Camera timeline</a:t>
            </a:r>
          </a:p>
          <a:p>
            <a:pPr lvl="0"/>
            <a:endParaRPr lang="en-GB" sz="2000" b="1" dirty="0"/>
          </a:p>
          <a:p>
            <a:pPr lvl="0"/>
            <a:r>
              <a:rPr lang="en-GB" sz="2000" b="1" dirty="0"/>
              <a:t>2D Diorama/Game Level</a:t>
            </a:r>
          </a:p>
          <a:p>
            <a:pPr lvl="0"/>
            <a:endParaRPr lang="en-GB" sz="2000" b="1" dirty="0"/>
          </a:p>
          <a:p>
            <a:pPr lvl="0"/>
            <a:r>
              <a:rPr lang="en-GB" sz="2000" b="1" dirty="0"/>
              <a:t>Collisions/timeline trigger animations</a:t>
            </a:r>
          </a:p>
          <a:p>
            <a:pPr lvl="0"/>
            <a:endParaRPr lang="en-GB" sz="2000" b="1" dirty="0"/>
          </a:p>
          <a:p>
            <a:pPr lvl="0"/>
            <a:r>
              <a:rPr lang="en-GB" sz="2000" b="1" dirty="0"/>
              <a:t>Web Links</a:t>
            </a:r>
          </a:p>
          <a:p>
            <a:pPr lvl="0"/>
            <a:endParaRPr lang="en-GB" sz="2000" b="1" dirty="0"/>
          </a:p>
          <a:p>
            <a:pPr lvl="0"/>
            <a:r>
              <a:rPr lang="en-GB" sz="2000" b="1" dirty="0"/>
              <a:t>Could be 3D with camera controls, object selection</a:t>
            </a:r>
          </a:p>
          <a:p>
            <a:pPr lvl="0"/>
            <a:endParaRPr lang="en-GB" sz="2000" b="1" dirty="0"/>
          </a:p>
          <a:p>
            <a:pPr lvl="0"/>
            <a:endParaRPr lang="en-GB" sz="2000" b="1" dirty="0"/>
          </a:p>
          <a:p>
            <a:pPr lvl="0"/>
            <a:endParaRPr lang="en-GB" sz="2000" b="1" dirty="0"/>
          </a:p>
          <a:p>
            <a:pPr lvl="0"/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203188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3D Interactive Media Development</a:t>
            </a:r>
            <a:endParaRPr lang="en-GB" sz="4000" dirty="0"/>
          </a:p>
        </p:txBody>
      </p:sp>
      <p:sp>
        <p:nvSpPr>
          <p:cNvPr id="22" name="TextBox 21"/>
          <p:cNvSpPr txBox="1"/>
          <p:nvPr/>
        </p:nvSpPr>
        <p:spPr>
          <a:xfrm>
            <a:off x="442796" y="1196752"/>
            <a:ext cx="8233660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2800" b="1" dirty="0">
                <a:solidFill>
                  <a:srgbClr val="FFFF00"/>
                </a:solidFill>
              </a:rPr>
              <a:t>3DUI Interaction Practical examples</a:t>
            </a:r>
          </a:p>
          <a:p>
            <a:pPr lvl="0"/>
            <a:endParaRPr lang="en-GB" sz="2000" b="1" dirty="0"/>
          </a:p>
          <a:p>
            <a:pPr lvl="0"/>
            <a:r>
              <a:rPr lang="en-GB" sz="2000" b="1" dirty="0">
                <a:solidFill>
                  <a:srgbClr val="FFFF00"/>
                </a:solidFill>
              </a:rPr>
              <a:t>Practical Examples:</a:t>
            </a:r>
          </a:p>
          <a:p>
            <a:pPr lvl="0"/>
            <a:r>
              <a:rPr lang="en-GB" sz="2000" b="1" dirty="0"/>
              <a:t>	</a:t>
            </a:r>
          </a:p>
          <a:p>
            <a:pPr lvl="0"/>
            <a:r>
              <a:rPr lang="en-GB" sz="2000" b="1" dirty="0"/>
              <a:t>Exploded view</a:t>
            </a:r>
          </a:p>
          <a:p>
            <a:pPr lvl="0"/>
            <a:r>
              <a:rPr lang="en-GB" sz="1400" b="1" dirty="0">
                <a:solidFill>
                  <a:srgbClr val="FF0000"/>
                </a:solidFill>
                <a:hlinkClick r:id="rId3"/>
              </a:rPr>
              <a:t>http://www.wilmotli.com/pubs/li08exview3D.pdf</a:t>
            </a:r>
            <a:endParaRPr lang="en-GB" sz="1400" b="1" dirty="0">
              <a:solidFill>
                <a:srgbClr val="FF0000"/>
              </a:solidFill>
            </a:endParaRPr>
          </a:p>
          <a:p>
            <a:pPr lvl="0"/>
            <a:r>
              <a:rPr lang="en-GB" sz="1400" b="1" dirty="0">
                <a:solidFill>
                  <a:srgbClr val="FF0000"/>
                </a:solidFill>
                <a:hlinkClick r:id="rId4"/>
              </a:rPr>
              <a:t>https://www.youtube.com/watch?v=NL2QFLiM_mY</a:t>
            </a:r>
            <a:endParaRPr lang="en-GB" sz="1400" b="1" dirty="0">
              <a:solidFill>
                <a:srgbClr val="FF0000"/>
              </a:solidFill>
            </a:endParaRPr>
          </a:p>
          <a:p>
            <a:pPr lvl="0"/>
            <a:endParaRPr lang="en-GB" sz="2000" b="1" dirty="0">
              <a:solidFill>
                <a:srgbClr val="FF0000"/>
              </a:solidFill>
            </a:endParaRPr>
          </a:p>
          <a:p>
            <a:pPr lvl="0"/>
            <a:r>
              <a:rPr lang="en-GB" sz="2000" b="1" dirty="0">
                <a:solidFill>
                  <a:srgbClr val="FFFF00"/>
                </a:solidFill>
              </a:rPr>
              <a:t>Exploded View – Car (Advanced)</a:t>
            </a:r>
          </a:p>
          <a:p>
            <a:pPr lvl="0"/>
            <a:r>
              <a:rPr lang="en-GB" sz="1400" b="1" dirty="0">
                <a:solidFill>
                  <a:srgbClr val="FF0000"/>
                </a:solidFill>
                <a:hlinkClick r:id="rId5"/>
              </a:rPr>
              <a:t>https://www.youtube.com/watch?v=_i5RkAxGiwQ</a:t>
            </a:r>
            <a:endParaRPr lang="en-GB" sz="1400" b="1" dirty="0">
              <a:solidFill>
                <a:srgbClr val="FF0000"/>
              </a:solidFill>
            </a:endParaRPr>
          </a:p>
          <a:p>
            <a:pPr lvl="0"/>
            <a:endParaRPr lang="en-GB" sz="2000" b="1" dirty="0">
              <a:solidFill>
                <a:srgbClr val="FF0000"/>
              </a:solidFill>
            </a:endParaRPr>
          </a:p>
          <a:p>
            <a:pPr lvl="0"/>
            <a:r>
              <a:rPr lang="en-GB" sz="2000" b="1" dirty="0">
                <a:solidFill>
                  <a:srgbClr val="FFFF00"/>
                </a:solidFill>
              </a:rPr>
              <a:t>Diorama Fragments</a:t>
            </a:r>
          </a:p>
          <a:p>
            <a:pPr lvl="0"/>
            <a:r>
              <a:rPr lang="en-GB" sz="1400" b="1" dirty="0">
                <a:solidFill>
                  <a:srgbClr val="FFFF00"/>
                </a:solidFill>
                <a:hlinkClick r:id="rId6"/>
              </a:rPr>
              <a:t>https://www.youtube.com/watch?v=Ty_hqTtvHdI</a:t>
            </a:r>
            <a:endParaRPr lang="en-GB" sz="1400" b="1" dirty="0">
              <a:solidFill>
                <a:srgbClr val="FFFF00"/>
              </a:solidFill>
            </a:endParaRPr>
          </a:p>
          <a:p>
            <a:pPr lvl="0"/>
            <a:r>
              <a:rPr lang="en-GB" sz="1400" b="1" dirty="0">
                <a:solidFill>
                  <a:srgbClr val="FFFF00"/>
                </a:solidFill>
                <a:hlinkClick r:id="rId7"/>
              </a:rPr>
              <a:t>https://www.youtube.com/watch?v=5zmqZZshdfs</a:t>
            </a:r>
            <a:endParaRPr lang="en-GB" sz="1400" b="1" dirty="0">
              <a:solidFill>
                <a:srgbClr val="FFFF00"/>
              </a:solidFill>
            </a:endParaRPr>
          </a:p>
          <a:p>
            <a:pPr lvl="0"/>
            <a:r>
              <a:rPr lang="en-GB" sz="1400" b="1" dirty="0">
                <a:solidFill>
                  <a:srgbClr val="FFFF00"/>
                </a:solidFill>
                <a:hlinkClick r:id="rId8"/>
              </a:rPr>
              <a:t>https://www.youtube.com/watch?v=U09hwnsUkY8</a:t>
            </a:r>
            <a:endParaRPr lang="en-GB" sz="1400" b="1" dirty="0">
              <a:solidFill>
                <a:srgbClr val="FFFF00"/>
              </a:solidFill>
            </a:endParaRPr>
          </a:p>
          <a:p>
            <a:pPr lvl="0"/>
            <a:r>
              <a:rPr lang="en-GB" sz="1400" b="1" dirty="0">
                <a:solidFill>
                  <a:srgbClr val="FFFF00"/>
                </a:solidFill>
                <a:hlinkClick r:id="rId9"/>
              </a:rPr>
              <a:t>https://www.youtube.com/watch?v=iPEfHOCUVMI</a:t>
            </a:r>
            <a:endParaRPr lang="en-GB" sz="1400" b="1" dirty="0">
              <a:solidFill>
                <a:srgbClr val="FFFF00"/>
              </a:solidFill>
            </a:endParaRPr>
          </a:p>
          <a:p>
            <a:pPr lvl="0"/>
            <a:r>
              <a:rPr lang="en-GB" sz="1400" b="1" dirty="0">
                <a:solidFill>
                  <a:srgbClr val="FFFF00"/>
                </a:solidFill>
                <a:hlinkClick r:id="rId10"/>
              </a:rPr>
              <a:t>https://www.youtube.com/watch?v=XmTRQml4Js0</a:t>
            </a:r>
            <a:endParaRPr lang="en-GB" sz="1400" b="1" dirty="0">
              <a:solidFill>
                <a:srgbClr val="FFFF00"/>
              </a:solidFill>
            </a:endParaRPr>
          </a:p>
          <a:p>
            <a:pPr lvl="0"/>
            <a:r>
              <a:rPr lang="en-GB" sz="1400" b="1" dirty="0">
                <a:solidFill>
                  <a:srgbClr val="FFFF00"/>
                </a:solidFill>
                <a:hlinkClick r:id="rId11"/>
              </a:rPr>
              <a:t>https://www.youtube.com/watch?v=ErqpzWrQHAY</a:t>
            </a:r>
            <a:endParaRPr lang="en-GB" sz="1400" b="1" dirty="0">
              <a:solidFill>
                <a:srgbClr val="FFFF00"/>
              </a:solidFill>
            </a:endParaRPr>
          </a:p>
          <a:p>
            <a:pPr lvl="0"/>
            <a:r>
              <a:rPr lang="en-GB" sz="1400" b="1" dirty="0">
                <a:solidFill>
                  <a:srgbClr val="FFFF00"/>
                </a:solidFill>
                <a:hlinkClick r:id="rId12"/>
              </a:rPr>
              <a:t>https://www.youtube.com/watch?v=meieYpHYTVU</a:t>
            </a:r>
            <a:endParaRPr lang="en-GB" sz="1400" b="1" dirty="0">
              <a:solidFill>
                <a:srgbClr val="FFFF00"/>
              </a:solidFill>
            </a:endParaRPr>
          </a:p>
          <a:p>
            <a:pPr lvl="0"/>
            <a:endParaRPr lang="en-GB" sz="1400" b="1" dirty="0">
              <a:solidFill>
                <a:srgbClr val="FFFF00"/>
              </a:solidFill>
            </a:endParaRPr>
          </a:p>
          <a:p>
            <a:pPr lvl="0"/>
            <a:endParaRPr lang="en-GB" sz="1400" b="1" dirty="0">
              <a:solidFill>
                <a:srgbClr val="FFFF00"/>
              </a:solidFill>
            </a:endParaRPr>
          </a:p>
          <a:p>
            <a:pPr lvl="0"/>
            <a:endParaRPr lang="en-GB" sz="2000" b="1" dirty="0">
              <a:solidFill>
                <a:srgbClr val="FFFF00"/>
              </a:solidFill>
            </a:endParaRPr>
          </a:p>
          <a:p>
            <a:pPr lvl="0"/>
            <a:endParaRPr lang="en-GB" sz="2000" b="1" dirty="0">
              <a:solidFill>
                <a:srgbClr val="FFFF00"/>
              </a:solidFill>
            </a:endParaRPr>
          </a:p>
          <a:p>
            <a:pPr lvl="0"/>
            <a:endParaRPr lang="en-GB" sz="2000" b="1" dirty="0">
              <a:solidFill>
                <a:srgbClr val="FF0000"/>
              </a:solidFill>
            </a:endParaRPr>
          </a:p>
          <a:p>
            <a:pPr lvl="0"/>
            <a:endParaRPr lang="en-GB" sz="2000" b="1" dirty="0">
              <a:solidFill>
                <a:srgbClr val="FF0000"/>
              </a:solidFill>
            </a:endParaRPr>
          </a:p>
          <a:p>
            <a:pPr lvl="0"/>
            <a:endParaRPr lang="en-GB" sz="2000" b="1" dirty="0"/>
          </a:p>
          <a:p>
            <a:pPr lvl="0"/>
            <a:endParaRPr lang="en-GB" sz="2000" b="1" dirty="0"/>
          </a:p>
          <a:p>
            <a:pPr lvl="0"/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1608405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Terminology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268904"/>
            <a:ext cx="8280920" cy="5589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endParaRPr lang="en-GB" sz="2400" b="1" dirty="0">
              <a:solidFill>
                <a:srgbClr val="FFFFFF"/>
              </a:solidFill>
            </a:endParaRPr>
          </a:p>
          <a:p>
            <a:r>
              <a:rPr lang="en-GB" sz="2400" b="1" dirty="0">
                <a:solidFill>
                  <a:srgbClr val="FFFF00"/>
                </a:solidFill>
              </a:rPr>
              <a:t>IVR – If VR is fully immersive with natural interactions, this meets the guidelines for full VR as set down by Brenda Laurel:</a:t>
            </a:r>
          </a:p>
          <a:p>
            <a:endParaRPr lang="en-GB" sz="2400" b="1" dirty="0">
              <a:solidFill>
                <a:srgbClr val="FFFF00"/>
              </a:solidFill>
            </a:endParaRPr>
          </a:p>
          <a:p>
            <a:pPr algn="ctr"/>
            <a:r>
              <a:rPr lang="en-GB" sz="2400" b="1" dirty="0">
                <a:solidFill>
                  <a:srgbClr val="FFFF00"/>
                </a:solidFill>
              </a:rPr>
              <a:t>What is Virtual Reality?</a:t>
            </a:r>
          </a:p>
          <a:p>
            <a:r>
              <a:rPr lang="en-GB" sz="2000" dirty="0">
                <a:solidFill>
                  <a:srgbClr val="FFFF00"/>
                </a:solidFill>
                <a:hlinkClick r:id="rId3"/>
              </a:rPr>
              <a:t>https://medium.com/@blaurel/what-is-virtual-reality-77b876d829ba</a:t>
            </a:r>
            <a:endParaRPr lang="en-GB" sz="2000" dirty="0">
              <a:solidFill>
                <a:srgbClr val="FFFF00"/>
              </a:solidFill>
            </a:endParaRPr>
          </a:p>
          <a:p>
            <a:endParaRPr lang="en-GB" sz="2000" dirty="0">
              <a:solidFill>
                <a:srgbClr val="FFFF00"/>
              </a:solidFill>
            </a:endParaRPr>
          </a:p>
          <a:p>
            <a:endParaRPr lang="en-GB" sz="2400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8870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Terminology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268904"/>
            <a:ext cx="8280920" cy="5589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en-GB" sz="2400" b="1" dirty="0">
              <a:solidFill>
                <a:srgbClr val="FFFFFF"/>
              </a:solidFill>
            </a:endParaRPr>
          </a:p>
          <a:p>
            <a:r>
              <a:rPr lang="en-GB" sz="2400" b="1" dirty="0">
                <a:solidFill>
                  <a:srgbClr val="FFFF00"/>
                </a:solidFill>
              </a:rPr>
              <a:t>VR, VE – Virtual Reality and Virtual Environment:</a:t>
            </a:r>
          </a:p>
          <a:p>
            <a:r>
              <a:rPr lang="en-GB" sz="2400" dirty="0">
                <a:solidFill>
                  <a:srgbClr val="FFFFFF"/>
                </a:solidFill>
              </a:rPr>
              <a:t>These are somewhat synonymous, though the VE may not be as fully featured. </a:t>
            </a:r>
          </a:p>
          <a:p>
            <a:endParaRPr lang="en-GB" sz="2400" dirty="0">
              <a:solidFill>
                <a:srgbClr val="FFFFFF"/>
              </a:solidFill>
            </a:endParaRPr>
          </a:p>
          <a:p>
            <a:r>
              <a:rPr lang="en-GB" sz="2400" dirty="0">
                <a:solidFill>
                  <a:srgbClr val="FFFFFF"/>
                </a:solidFill>
              </a:rPr>
              <a:t>Virtual Reality is used indiscriminately and may not be accurate in all cases (360 video is sometimes incorrectly described as VR)</a:t>
            </a:r>
          </a:p>
          <a:p>
            <a:endParaRPr lang="en-GB" sz="2400" dirty="0">
              <a:solidFill>
                <a:srgbClr val="FFFFFF"/>
              </a:solidFill>
            </a:endParaRPr>
          </a:p>
          <a:p>
            <a:r>
              <a:rPr lang="en-GB" sz="2400" dirty="0">
                <a:solidFill>
                  <a:srgbClr val="FFFFFF"/>
                </a:solidFill>
              </a:rPr>
              <a:t>Virtual Reality is usually fully immersive </a:t>
            </a:r>
          </a:p>
          <a:p>
            <a:endParaRPr lang="en-GB" sz="2400" dirty="0">
              <a:solidFill>
                <a:srgbClr val="FFFFFF"/>
              </a:solidFill>
            </a:endParaRPr>
          </a:p>
          <a:p>
            <a:endParaRPr lang="en-GB" sz="2400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945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Terminology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268904"/>
            <a:ext cx="8280920" cy="5589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endParaRPr lang="en-GB" sz="2400" b="1" dirty="0">
              <a:solidFill>
                <a:srgbClr val="FFFFFF"/>
              </a:solidFill>
            </a:endParaRPr>
          </a:p>
          <a:p>
            <a:r>
              <a:rPr lang="en-GB" sz="2400" b="1" dirty="0">
                <a:solidFill>
                  <a:srgbClr val="FFFFFF"/>
                </a:solidFill>
              </a:rPr>
              <a:t>AR – Augmented Reality involves enhancing a real world feed with virtual objects calibrated to the coordinate space.</a:t>
            </a:r>
          </a:p>
          <a:p>
            <a:endParaRPr lang="en-GB" sz="2400" b="1" dirty="0">
              <a:solidFill>
                <a:srgbClr val="FFFFFF"/>
              </a:solidFill>
            </a:endParaRPr>
          </a:p>
          <a:p>
            <a:r>
              <a:rPr lang="en-GB" sz="2400" b="1" dirty="0">
                <a:solidFill>
                  <a:srgbClr val="FFFFFF"/>
                </a:solidFill>
              </a:rPr>
              <a:t>On the Mixed Reality Scale, this can slide towards Augmented Virtuality – BBC Virtual News sets with real presenters</a:t>
            </a:r>
          </a:p>
          <a:p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284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Applications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Simulation, Training, Education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Cultural Heritage, Tourism, Archaeology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Art ,Entertainment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Visualization - Architecture, </a:t>
            </a:r>
            <a:r>
              <a:rPr lang="en-GB" sz="2400" b="1" dirty="0" err="1">
                <a:solidFill>
                  <a:srgbClr val="FFFFFF"/>
                </a:solidFill>
              </a:rPr>
              <a:t>Contruction</a:t>
            </a: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Visualization - Product Design, Prototyping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Medicine, Psychiatry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Communication, Collaboration, Social media, Telepresence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852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History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268904"/>
            <a:ext cx="8496944" cy="5589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en-GB" sz="2400" b="1" dirty="0">
              <a:solidFill>
                <a:srgbClr val="FFFFFF"/>
              </a:solidFill>
            </a:endParaRPr>
          </a:p>
          <a:p>
            <a:r>
              <a:rPr lang="en-GB" sz="2400" b="1" dirty="0">
                <a:solidFill>
                  <a:srgbClr val="FFFFFF"/>
                </a:solidFill>
              </a:rPr>
              <a:t>GUI</a:t>
            </a:r>
          </a:p>
          <a:p>
            <a:r>
              <a:rPr lang="en-GB" sz="2400" b="1" dirty="0">
                <a:solidFill>
                  <a:srgbClr val="FFFFFF"/>
                </a:solidFill>
              </a:rPr>
              <a:t>1973-1983 – Mouse, Keyboard, Raster Graphics, PCs</a:t>
            </a:r>
          </a:p>
          <a:p>
            <a:endParaRPr lang="en-GB" sz="2400" b="1" dirty="0">
              <a:solidFill>
                <a:srgbClr val="FFFFFF"/>
              </a:solidFill>
            </a:endParaRPr>
          </a:p>
          <a:p>
            <a:r>
              <a:rPr lang="en-GB" sz="2400" b="1" dirty="0">
                <a:solidFill>
                  <a:srgbClr val="FFFFFF"/>
                </a:solidFill>
              </a:rPr>
              <a:t>UI Design</a:t>
            </a:r>
          </a:p>
          <a:p>
            <a:endParaRPr lang="en-GB" sz="2400" b="1" dirty="0">
              <a:solidFill>
                <a:srgbClr val="FFFFFF"/>
              </a:solidFill>
            </a:endParaRPr>
          </a:p>
          <a:p>
            <a:r>
              <a:rPr lang="en-GB" sz="2400" b="1" dirty="0">
                <a:solidFill>
                  <a:srgbClr val="FFFFFF"/>
                </a:solidFill>
              </a:rPr>
              <a:t>HCI Studied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Perception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Cognition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Human Factors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Graphic Design</a:t>
            </a:r>
          </a:p>
          <a:p>
            <a:endParaRPr lang="en-GB" sz="2400" b="1" i="1" dirty="0">
              <a:solidFill>
                <a:srgbClr val="FF0000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094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History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268904"/>
            <a:ext cx="8496944" cy="24481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en-GB" sz="2400" b="1" dirty="0">
              <a:solidFill>
                <a:srgbClr val="FFFFFF"/>
              </a:solidFill>
            </a:endParaRPr>
          </a:p>
          <a:p>
            <a:r>
              <a:rPr lang="en-GB" sz="2400" b="1" dirty="0">
                <a:solidFill>
                  <a:srgbClr val="FFFFFF"/>
                </a:solidFill>
              </a:rPr>
              <a:t>1940s</a:t>
            </a:r>
          </a:p>
          <a:p>
            <a:endParaRPr lang="en-GB" sz="2400" b="1" dirty="0">
              <a:solidFill>
                <a:srgbClr val="FFFFFF"/>
              </a:solidFill>
            </a:endParaRPr>
          </a:p>
          <a:p>
            <a:r>
              <a:rPr lang="en-GB" sz="2400" b="1" dirty="0">
                <a:solidFill>
                  <a:srgbClr val="FFFFFF"/>
                </a:solidFill>
              </a:rPr>
              <a:t>Fred Waller – First VR System – Military Tail Gunner Trainer</a:t>
            </a:r>
          </a:p>
          <a:p>
            <a:r>
              <a:rPr lang="en-GB" sz="2400" b="1" dirty="0">
                <a:solidFill>
                  <a:srgbClr val="FFFFFF"/>
                </a:solidFill>
                <a:hlinkClick r:id="rId3"/>
              </a:rPr>
              <a:t>www.cineramaadventure.com/trainer.htm</a:t>
            </a:r>
            <a:endParaRPr lang="en-GB" sz="2400" b="1" i="1" dirty="0">
              <a:solidFill>
                <a:srgbClr val="FF0000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57" y="2996952"/>
            <a:ext cx="3657600" cy="2857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2996952"/>
            <a:ext cx="222885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884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History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268904"/>
            <a:ext cx="8496944" cy="24481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en-GB" sz="2400" b="1" dirty="0">
              <a:solidFill>
                <a:srgbClr val="FFFFFF"/>
              </a:solidFill>
            </a:endParaRPr>
          </a:p>
          <a:p>
            <a:r>
              <a:rPr lang="en-GB" sz="2400" b="1" dirty="0">
                <a:solidFill>
                  <a:srgbClr val="FFFFFF"/>
                </a:solidFill>
              </a:rPr>
              <a:t>1960s</a:t>
            </a:r>
          </a:p>
          <a:p>
            <a:endParaRPr lang="en-GB" sz="2400" b="1" dirty="0">
              <a:solidFill>
                <a:srgbClr val="FFFFFF"/>
              </a:solidFill>
            </a:endParaRPr>
          </a:p>
          <a:p>
            <a:r>
              <a:rPr lang="en-GB" sz="2400" b="1" dirty="0">
                <a:solidFill>
                  <a:srgbClr val="FFFFFF"/>
                </a:solidFill>
              </a:rPr>
              <a:t>Ivan Sutherland – Head Tracked Head Mounted Display</a:t>
            </a:r>
            <a:endParaRPr lang="en-GB" sz="2400" b="1" i="1" dirty="0">
              <a:solidFill>
                <a:srgbClr val="FF0000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632" y="2996952"/>
            <a:ext cx="2127250" cy="2857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3082570"/>
            <a:ext cx="2228850" cy="268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427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History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FF"/>
                </a:solidFill>
              </a:rPr>
              <a:t>1980s on…</a:t>
            </a:r>
          </a:p>
          <a:p>
            <a:endParaRPr lang="en-GB" sz="2400" b="1" dirty="0">
              <a:solidFill>
                <a:srgbClr val="FFFFFF"/>
              </a:solidFill>
            </a:endParaRPr>
          </a:p>
          <a:p>
            <a:r>
              <a:rPr lang="en-GB" sz="2400" b="1" dirty="0">
                <a:solidFill>
                  <a:srgbClr val="FFFFFF"/>
                </a:solidFill>
              </a:rPr>
              <a:t>Tracking and </a:t>
            </a:r>
            <a:r>
              <a:rPr lang="en-GB" sz="2400" b="1" dirty="0" err="1">
                <a:solidFill>
                  <a:srgbClr val="FFFFFF"/>
                </a:solidFill>
              </a:rPr>
              <a:t>Mocap</a:t>
            </a:r>
            <a:endParaRPr lang="en-GB" sz="2400" b="1" dirty="0">
              <a:solidFill>
                <a:srgbClr val="FFFFFF"/>
              </a:solidFill>
            </a:endParaRPr>
          </a:p>
          <a:p>
            <a:r>
              <a:rPr lang="en-GB" sz="2400" b="1" dirty="0">
                <a:solidFill>
                  <a:srgbClr val="FFFFFF"/>
                </a:solidFill>
              </a:rPr>
              <a:t>Computer vision</a:t>
            </a:r>
          </a:p>
          <a:p>
            <a:r>
              <a:rPr lang="en-GB" sz="2400" b="1" dirty="0">
                <a:solidFill>
                  <a:srgbClr val="FFFFFF"/>
                </a:solidFill>
              </a:rPr>
              <a:t>Haptics</a:t>
            </a:r>
          </a:p>
          <a:p>
            <a:r>
              <a:rPr lang="en-GB" sz="2400" b="1" dirty="0">
                <a:solidFill>
                  <a:srgbClr val="FFFFFF"/>
                </a:solidFill>
              </a:rPr>
              <a:t>HMDs – Stereoscopy, FOV, FOR, Resolution and Refresh rate improved</a:t>
            </a:r>
          </a:p>
          <a:p>
            <a:endParaRPr lang="en-GB" sz="2400" b="1" dirty="0">
              <a:solidFill>
                <a:srgbClr val="FF0000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0991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History – Platform Development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FF"/>
                </a:solidFill>
              </a:rPr>
              <a:t>1990s on…</a:t>
            </a:r>
          </a:p>
          <a:p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FFFFFF"/>
                </a:solidFill>
              </a:rPr>
              <a:t>Web Browsers – VRML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FFFFFF"/>
                </a:solidFill>
              </a:rPr>
              <a:t>Games – PC Graphics cards and GPUs drove development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FFFFFF"/>
                </a:solidFill>
              </a:rPr>
              <a:t>Commercial and Military flight simulators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FFFFFF"/>
                </a:solidFill>
              </a:rPr>
              <a:t>Augmented Reality from 2000 onwards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FFFFFF"/>
                </a:solidFill>
              </a:rPr>
              <a:t>Mobile processor development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FFFFFF"/>
                </a:solidFill>
              </a:rPr>
              <a:t>Smart Phone/ Tablet development - GPS, </a:t>
            </a:r>
            <a:r>
              <a:rPr lang="en-GB" sz="2000" b="1" dirty="0" err="1">
                <a:solidFill>
                  <a:srgbClr val="FFFFFF"/>
                </a:solidFill>
              </a:rPr>
              <a:t>WiFi</a:t>
            </a:r>
            <a:r>
              <a:rPr lang="en-GB" sz="2000" b="1" dirty="0">
                <a:solidFill>
                  <a:srgbClr val="FFFFFF"/>
                </a:solidFill>
              </a:rPr>
              <a:t>, Touch Controls, Front and Back mounted cameras, high speed processors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FFFFFF"/>
                </a:solidFill>
              </a:rPr>
              <a:t>Arcade VR</a:t>
            </a: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  <p:pic>
        <p:nvPicPr>
          <p:cNvPr id="2050" name="Picture 2" descr="Related image">
            <a:extLst>
              <a:ext uri="{FF2B5EF4-FFF2-40B4-BE49-F238E27FC236}">
                <a16:creationId xmlns:a16="http://schemas.microsoft.com/office/drawing/2014/main" id="{323ED56E-BCF2-49EE-935A-5755222FE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360736"/>
            <a:ext cx="1905000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virtuality">
            <a:extLst>
              <a:ext uri="{FF2B5EF4-FFF2-40B4-BE49-F238E27FC236}">
                <a16:creationId xmlns:a16="http://schemas.microsoft.com/office/drawing/2014/main" id="{17D66D27-265D-495E-B3D7-605295DBA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364435"/>
            <a:ext cx="3810000" cy="223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4579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History – Platform Development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FF"/>
                </a:solidFill>
              </a:rPr>
              <a:t>2000s on…</a:t>
            </a: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Commercial VR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Spatial Games Controllers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Wii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Sony </a:t>
            </a:r>
            <a:r>
              <a:rPr lang="en-GB" sz="2400" b="1" dirty="0" err="1">
                <a:solidFill>
                  <a:srgbClr val="FFFFFF"/>
                </a:solidFill>
              </a:rPr>
              <a:t>eyeToy</a:t>
            </a:r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Kinect</a:t>
            </a: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  <p:pic>
        <p:nvPicPr>
          <p:cNvPr id="5" name="Picture 2" descr="Image result for cyberglove systems">
            <a:extLst>
              <a:ext uri="{FF2B5EF4-FFF2-40B4-BE49-F238E27FC236}">
                <a16:creationId xmlns:a16="http://schemas.microsoft.com/office/drawing/2014/main" id="{266149B9-7B88-417B-B605-C47E4FEA0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7031" y="1295400"/>
            <a:ext cx="3339744" cy="250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Image result for sony eyetoy">
            <a:extLst>
              <a:ext uri="{FF2B5EF4-FFF2-40B4-BE49-F238E27FC236}">
                <a16:creationId xmlns:a16="http://schemas.microsoft.com/office/drawing/2014/main" id="{DF509B89-40CC-4230-83F6-9A93A906B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4363" y="3810000"/>
            <a:ext cx="2992437" cy="2393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1455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Current - Input Devices for 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FF"/>
                </a:solidFill>
              </a:rPr>
              <a:t>2D GUI</a:t>
            </a: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Mouse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Keyboard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Keyboards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Chording Keyboards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Virtual (Tablet) Keyboards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Custom hardware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3304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Current - Input Devices for 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FF"/>
                </a:solidFill>
              </a:rPr>
              <a:t>3D Motion Tracking – Input Devices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  <a:hlinkClick r:id="rId3" action="ppaction://hlinkfile"/>
              </a:rPr>
              <a:t>Razer Hydra – </a:t>
            </a:r>
            <a:r>
              <a:rPr lang="en-GB" sz="2400" b="1" dirty="0" err="1">
                <a:solidFill>
                  <a:srgbClr val="FFFFFF"/>
                </a:solidFill>
                <a:hlinkClick r:id="rId3" action="ppaction://hlinkfile"/>
              </a:rPr>
              <a:t>facebook</a:t>
            </a:r>
            <a:r>
              <a:rPr lang="en-GB" sz="2400" b="1" dirty="0">
                <a:solidFill>
                  <a:srgbClr val="FFFFFF"/>
                </a:solidFill>
                <a:hlinkClick r:id="rId3" action="ppaction://hlinkfile"/>
              </a:rPr>
              <a:t> VR</a:t>
            </a:r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tx1"/>
                </a:solidFill>
                <a:hlinkClick r:id="rId4"/>
              </a:rPr>
              <a:t>Haptic Pen - Botox</a:t>
            </a:r>
            <a:endParaRPr lang="en-GB" sz="2400" b="1" dirty="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Magnetic sensors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3D Mouse - </a:t>
            </a:r>
            <a:r>
              <a:rPr lang="en-GB" sz="2400" b="1" dirty="0">
                <a:solidFill>
                  <a:srgbClr val="FF0000"/>
                </a:solidFill>
                <a:hlinkClick r:id="rId5"/>
              </a:rPr>
              <a:t>3D </a:t>
            </a:r>
            <a:r>
              <a:rPr lang="en-GB" sz="2400" b="1" dirty="0" err="1">
                <a:solidFill>
                  <a:srgbClr val="FF0000"/>
                </a:solidFill>
                <a:hlinkClick r:id="rId5"/>
              </a:rPr>
              <a:t>Spacemouse</a:t>
            </a:r>
            <a:r>
              <a:rPr lang="en-GB" sz="2400" b="1" dirty="0">
                <a:solidFill>
                  <a:srgbClr val="FF0000"/>
                </a:solidFill>
                <a:hlinkClick r:id="rId5"/>
              </a:rPr>
              <a:t> – 6dof, no tracking</a:t>
            </a: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r>
              <a:rPr lang="en-GB" sz="2400" b="1" dirty="0">
                <a:solidFill>
                  <a:srgbClr val="FFFFFF"/>
                </a:solidFill>
              </a:rPr>
              <a:t>3D Motion Capture – Full Body or Part Body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  <a:hlinkClick r:id="rId6"/>
              </a:rPr>
              <a:t>Waldo</a:t>
            </a:r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Gloves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 err="1">
                <a:solidFill>
                  <a:srgbClr val="FFFFFF"/>
                </a:solidFill>
              </a:rPr>
              <a:t>Synertial</a:t>
            </a:r>
            <a:endParaRPr lang="en-GB" sz="2400" b="1" dirty="0">
              <a:solidFill>
                <a:srgbClr val="FFFFFF"/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 err="1">
                <a:solidFill>
                  <a:srgbClr val="FFFFFF"/>
                </a:solidFill>
              </a:rPr>
              <a:t>Cyberglove</a:t>
            </a:r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Haptic Body Device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  <a:hlinkClick r:id="rId7"/>
              </a:rPr>
              <a:t>Cyber grasp</a:t>
            </a:r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219200"/>
            <a:ext cx="2857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820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Current - Input Devices for 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FF"/>
                </a:solidFill>
              </a:rPr>
              <a:t>3D Sensors – Magnetic, Inertial, Accelerometer, GPS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Sensor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3dof – Orientation or Position only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6dof – Position and Orientation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Continuous Data or Discrete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Typical Uses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Head Tracker for POV, Parallax views, </a:t>
            </a:r>
            <a:r>
              <a:rPr lang="en-GB" sz="2400" b="1" dirty="0" err="1">
                <a:solidFill>
                  <a:srgbClr val="FFFFFF"/>
                </a:solidFill>
              </a:rPr>
              <a:t>Fishtank</a:t>
            </a:r>
            <a:r>
              <a:rPr lang="en-GB" sz="2400" b="1" dirty="0">
                <a:solidFill>
                  <a:srgbClr val="FFFFFF"/>
                </a:solidFill>
              </a:rPr>
              <a:t> VR, HMDs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Hands, Feet – </a:t>
            </a:r>
            <a:r>
              <a:rPr lang="en-GB" sz="2400" b="1" dirty="0" err="1">
                <a:solidFill>
                  <a:srgbClr val="FFFFFF"/>
                </a:solidFill>
              </a:rPr>
              <a:t>Vtime</a:t>
            </a:r>
            <a:r>
              <a:rPr lang="en-GB" sz="2400" b="1" dirty="0">
                <a:solidFill>
                  <a:srgbClr val="FFFFFF"/>
                </a:solidFill>
              </a:rPr>
              <a:t> Virtual Treadmill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 err="1">
                <a:solidFill>
                  <a:srgbClr val="FFFFFF"/>
                </a:solidFill>
              </a:rPr>
              <a:t>Vive</a:t>
            </a:r>
            <a:r>
              <a:rPr lang="en-GB" sz="2400" b="1" dirty="0">
                <a:solidFill>
                  <a:srgbClr val="FFFFFF"/>
                </a:solidFill>
              </a:rPr>
              <a:t> Paintbrush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572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Current - Outputs/Displays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FF"/>
                </a:solidFill>
              </a:rPr>
              <a:t>Output/Displays…</a:t>
            </a: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Monitor – Mono and Stereo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Head Mounted Display – tracked head, stereo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Projected – Mono/Stereo, Cave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Retinal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Volumetric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Mobile Device – Smart Phone or Tablet, Can be used as a virtual window, and HMD in mono/stereo (Google Cardboard, Samsung GearVR), or a mobile “desktop”</a:t>
            </a: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855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3D Interactive Media Development</a:t>
            </a:r>
            <a:endParaRPr lang="en-GB" sz="4000" dirty="0"/>
          </a:p>
        </p:txBody>
      </p:sp>
      <p:sp>
        <p:nvSpPr>
          <p:cNvPr id="22" name="TextBox 21"/>
          <p:cNvSpPr txBox="1"/>
          <p:nvPr/>
        </p:nvSpPr>
        <p:spPr>
          <a:xfrm>
            <a:off x="442796" y="1196752"/>
            <a:ext cx="8233660" cy="8063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2800" b="1" dirty="0">
                <a:solidFill>
                  <a:srgbClr val="FFFF00"/>
                </a:solidFill>
              </a:rPr>
              <a:t>3DUI Interaction Practical Considerations:</a:t>
            </a:r>
          </a:p>
          <a:p>
            <a:r>
              <a:rPr lang="en-GB" sz="2400" b="1" i="1" dirty="0">
                <a:solidFill>
                  <a:srgbClr val="FFFFFF"/>
                </a:solidFill>
              </a:rPr>
              <a:t>Output </a:t>
            </a:r>
            <a:r>
              <a:rPr lang="en-GB" sz="2400" b="1" i="1" dirty="0" err="1">
                <a:solidFill>
                  <a:srgbClr val="FFFFFF"/>
                </a:solidFill>
              </a:rPr>
              <a:t>DeviceCan</a:t>
            </a:r>
            <a:r>
              <a:rPr lang="en-GB" sz="2400" b="1" i="1" dirty="0">
                <a:solidFill>
                  <a:srgbClr val="FFFFFF"/>
                </a:solidFill>
              </a:rPr>
              <a:t> introduce third coordinate space to consider, along with VE and Input device</a:t>
            </a:r>
          </a:p>
          <a:p>
            <a:endParaRPr lang="en-GB" sz="2800" b="1" dirty="0"/>
          </a:p>
          <a:p>
            <a:r>
              <a:rPr lang="en-GB" sz="2800" b="1" dirty="0"/>
              <a:t>Range of Coordinate Spaces </a:t>
            </a:r>
          </a:p>
          <a:p>
            <a:r>
              <a:rPr lang="en-GB" sz="2800" b="1" dirty="0"/>
              <a:t>(3D VE, 2D Display, Inputs)</a:t>
            </a:r>
          </a:p>
          <a:p>
            <a:pPr lvl="0"/>
            <a:r>
              <a:rPr lang="en-GB" sz="2800" b="1" dirty="0"/>
              <a:t>Range of Viewpoints</a:t>
            </a:r>
          </a:p>
          <a:p>
            <a:pPr lvl="0"/>
            <a:r>
              <a:rPr lang="en-GB" sz="2800" b="1" dirty="0"/>
              <a:t>Range of Software</a:t>
            </a:r>
          </a:p>
          <a:p>
            <a:pPr lvl="0"/>
            <a:r>
              <a:rPr lang="en-GB" sz="2800" b="1" dirty="0"/>
              <a:t>Range of Input Devices</a:t>
            </a:r>
          </a:p>
          <a:p>
            <a:pPr lvl="0"/>
            <a:r>
              <a:rPr lang="en-GB" sz="2800" b="1" dirty="0"/>
              <a:t>Range of Platforms</a:t>
            </a:r>
          </a:p>
          <a:p>
            <a:pPr lvl="0"/>
            <a:endParaRPr lang="en-GB" sz="2800" b="1" dirty="0"/>
          </a:p>
          <a:p>
            <a:pPr lvl="0"/>
            <a:endParaRPr lang="en-GB" sz="2800" b="1" dirty="0"/>
          </a:p>
          <a:p>
            <a:pPr lvl="0"/>
            <a:endParaRPr lang="en-GB" sz="2800" b="1" dirty="0"/>
          </a:p>
          <a:p>
            <a:pPr lvl="0"/>
            <a:endParaRPr lang="en-GB" sz="1600" b="1" dirty="0"/>
          </a:p>
          <a:p>
            <a:pPr lvl="0"/>
            <a:endParaRPr lang="en-GB" sz="900" b="1" dirty="0"/>
          </a:p>
          <a:p>
            <a:pPr lvl="0"/>
            <a:r>
              <a:rPr lang="en-GB" sz="900" b="1" dirty="0"/>
              <a:t>https://www.vs.inf.ethz.ch/edu/FS2013/DS/reports/AlexanderCebulla_ProjectionBasedAugmentedReality_report.pdf</a:t>
            </a:r>
          </a:p>
          <a:p>
            <a:pPr lvl="0"/>
            <a:br>
              <a:rPr lang="en-GB" sz="2000" b="1" dirty="0">
                <a:solidFill>
                  <a:srgbClr val="FF0000"/>
                </a:solidFill>
              </a:rPr>
            </a:br>
            <a:endParaRPr lang="en-GB" sz="2000" b="1" dirty="0">
              <a:solidFill>
                <a:srgbClr val="FF0000"/>
              </a:solidFill>
            </a:endParaRPr>
          </a:p>
          <a:p>
            <a:pPr lvl="0"/>
            <a:r>
              <a:rPr lang="en-GB" sz="2000" b="1" dirty="0">
                <a:solidFill>
                  <a:srgbClr val="FF0000"/>
                </a:solidFill>
              </a:rPr>
              <a:t>	</a:t>
            </a:r>
          </a:p>
          <a:p>
            <a:pPr lvl="0"/>
            <a:endParaRPr lang="en-GB" sz="2000" b="1" dirty="0"/>
          </a:p>
          <a:p>
            <a:pPr lvl="0"/>
            <a:endParaRPr lang="en-GB" sz="2000" b="1" dirty="0"/>
          </a:p>
          <a:p>
            <a:pPr lvl="0"/>
            <a:endParaRPr lang="en-GB" sz="20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4117" y="2492896"/>
            <a:ext cx="4342857" cy="36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221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 fontScale="90000"/>
          </a:bodyPr>
          <a:lstStyle/>
          <a:p>
            <a:r>
              <a:rPr lang="en-GB" dirty="0"/>
              <a:t>3D Interactive Media Development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00"/>
                </a:solidFill>
              </a:rPr>
              <a:t>3DUI Interaction Practical Considerations:</a:t>
            </a:r>
          </a:p>
          <a:p>
            <a:r>
              <a:rPr lang="en-GB" sz="2400" b="1" dirty="0">
                <a:solidFill>
                  <a:srgbClr val="FFFF00"/>
                </a:solidFill>
              </a:rPr>
              <a:t>Issues with Extra Dimension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1F497D">
                    <a:lumMod val="20000"/>
                    <a:lumOff val="80000"/>
                  </a:srgbClr>
                </a:solidFill>
              </a:rPr>
              <a:t>3DUI needs Simultaneous Operations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The new Dimension brings freedom of movement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1F497D">
                    <a:lumMod val="20000"/>
                    <a:lumOff val="80000"/>
                  </a:srgbClr>
                </a:solidFill>
              </a:rPr>
              <a:t>Coordinate Space Alignment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Scale, Registration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Input&lt;&gt;VE&lt;&gt;Output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Especially Problematic in AR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VE has Virtual Camera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Input has Real World POV + Scale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Output is varied and usually 2D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Tablet//Phone has In/Out Plane the same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2D into 3DVE</a:t>
            </a:r>
          </a:p>
          <a:p>
            <a:pPr marL="0" lvl="3"/>
            <a:r>
              <a:rPr lang="en-GB" sz="2400" b="1" dirty="0">
                <a:solidFill>
                  <a:srgbClr val="FFFFFF"/>
                </a:solidFill>
              </a:rPr>
              <a:t>To be continued!</a:t>
            </a:r>
            <a:endParaRPr lang="en-GB" sz="2400" b="1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0000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963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Current – Platform Development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FF"/>
                </a:solidFill>
              </a:rPr>
              <a:t>Current:</a:t>
            </a: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Tablets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Mobiles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Desktops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3D and Haptics inputs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Integrated HMD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HoloLens, Google cardboard, Oculus Rift, Vive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Some Spatial games controllers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Vive, Oculus Touch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Cave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Hybrid</a:t>
            </a: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903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Current State of Technology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FF"/>
                </a:solidFill>
              </a:rPr>
              <a:t>Tablet/Smartphone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Mobile CPU/GPU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Broadband connectivity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Input and Output in same screen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Input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Virtual Keyboard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Touch Input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Accelerometer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GPS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Output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Direct 3D Interaction through 2d Screen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Virtual Window for AR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Can augment further 3DUI – Virtual Menus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0000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894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Framework Chart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0000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4744"/>
            <a:ext cx="9144000" cy="509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3515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- Basic Elements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00"/>
                </a:solidFill>
              </a:rPr>
              <a:t>Basic Elements to consider and Plan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00"/>
                </a:solidFill>
              </a:rPr>
              <a:t>Navigation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Travel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Point of View - POV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00"/>
                </a:solidFill>
              </a:rPr>
              <a:t>Interaction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Selection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Manipulation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00"/>
                </a:solidFill>
              </a:rPr>
              <a:t>System Control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States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Modes of Interaction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08304" y="2780928"/>
            <a:ext cx="1296000" cy="129614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FFFF"/>
              </a:solidFill>
            </a:endParaRPr>
          </a:p>
        </p:txBody>
      </p:sp>
      <p:sp>
        <p:nvSpPr>
          <p:cNvPr id="5" name="5-Point Star 4"/>
          <p:cNvSpPr/>
          <p:nvPr/>
        </p:nvSpPr>
        <p:spPr>
          <a:xfrm>
            <a:off x="7526645" y="2999341"/>
            <a:ext cx="859318" cy="859318"/>
          </a:xfrm>
          <a:prstGeom prst="star5">
            <a:avLst>
              <a:gd name="adj" fmla="val 27644"/>
              <a:gd name="hf" fmla="val 105146"/>
              <a:gd name="vf" fmla="val 11055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4904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- Navigation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00"/>
                </a:solidFill>
              </a:rPr>
              <a:t>Basic Elements to consider and Plan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00"/>
                </a:solidFill>
              </a:rPr>
              <a:t>Navigation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The most common VE task, and is actually composed of two tasks. </a:t>
            </a:r>
            <a:br>
              <a:rPr lang="en-GB" sz="2400" b="1" dirty="0">
                <a:solidFill>
                  <a:srgbClr val="FFFFFF"/>
                </a:solidFill>
              </a:rPr>
            </a:br>
            <a:endParaRPr lang="en-GB" sz="2400" b="1" dirty="0">
              <a:solidFill>
                <a:srgbClr val="FFFFFF"/>
              </a:solidFill>
            </a:endParaRP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Travel is the motor component of navigation, and just refers to the physical movement from place to place. </a:t>
            </a:r>
            <a:br>
              <a:rPr lang="en-GB" sz="2400" b="1" dirty="0">
                <a:solidFill>
                  <a:srgbClr val="FFFFFF"/>
                </a:solidFill>
              </a:rPr>
            </a:br>
            <a:endParaRPr lang="en-GB" sz="2400" b="1" dirty="0">
              <a:solidFill>
                <a:srgbClr val="FFFFFF"/>
              </a:solidFill>
            </a:endParaRP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Wayfinding is the cognitive or decision making component of navigation, and ask the questions “Where am I”, ”Where do I want to go”, ”How do I get there”…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2442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- Navigation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00"/>
                </a:solidFill>
              </a:rPr>
              <a:t>Basic Elements to consider and Plan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00"/>
                </a:solidFill>
              </a:rPr>
              <a:t>Navigation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Travel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Point of View – POV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Examples: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WASD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Pointing – Travel and gaze in different directions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Arrows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Mouse Look/orbit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Clutching, Waypoints, Grabbing and Pulling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Paired with Locomotion devices – </a:t>
            </a:r>
            <a:r>
              <a:rPr lang="en-GB" sz="2400" b="1" dirty="0" err="1">
                <a:solidFill>
                  <a:srgbClr val="FFFFFF"/>
                </a:solidFill>
              </a:rPr>
              <a:t>Vtime</a:t>
            </a:r>
            <a:r>
              <a:rPr lang="en-GB" sz="2400" b="1" dirty="0">
                <a:solidFill>
                  <a:srgbClr val="FFFFFF"/>
                </a:solidFill>
              </a:rPr>
              <a:t> Treadmill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08304" y="2780928"/>
            <a:ext cx="1296000" cy="129614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FFFF"/>
              </a:solidFill>
            </a:endParaRPr>
          </a:p>
        </p:txBody>
      </p:sp>
      <p:sp>
        <p:nvSpPr>
          <p:cNvPr id="5" name="5-Point Star 4"/>
          <p:cNvSpPr/>
          <p:nvPr/>
        </p:nvSpPr>
        <p:spPr>
          <a:xfrm>
            <a:off x="7526645" y="2999341"/>
            <a:ext cx="859318" cy="859318"/>
          </a:xfrm>
          <a:prstGeom prst="star5">
            <a:avLst>
              <a:gd name="adj" fmla="val 27644"/>
              <a:gd name="hf" fmla="val 105146"/>
              <a:gd name="vf" fmla="val 11055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59822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– Navigation Classes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124744"/>
            <a:ext cx="6840760" cy="512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091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– Navigation Tips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Travel should be simple: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Low cognitive load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Target based to object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Steering for search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Provide multiple techniques for multiple tasks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Use graceful transitions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Separate gaze from travel – permanent or switchable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Quake </a:t>
            </a:r>
            <a:r>
              <a:rPr lang="en-GB" sz="2400" b="1" dirty="0" err="1">
                <a:solidFill>
                  <a:srgbClr val="FFFFFF"/>
                </a:solidFill>
              </a:rPr>
              <a:t>WebGL</a:t>
            </a:r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//media.tojicode.com/q3bsp/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8685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– Navigation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00"/>
                </a:solidFill>
              </a:rPr>
              <a:t>Reverie – </a:t>
            </a:r>
            <a:r>
              <a:rPr lang="en-GB" sz="2400" b="1" dirty="0" err="1">
                <a:solidFill>
                  <a:srgbClr val="FFFF00"/>
                </a:solidFill>
              </a:rPr>
              <a:t>lazynav</a:t>
            </a:r>
            <a:endParaRPr lang="en-GB" sz="2400" b="1" dirty="0">
              <a:solidFill>
                <a:srgbClr val="FFFF00"/>
              </a:solidFill>
            </a:endParaRPr>
          </a:p>
          <a:p>
            <a:r>
              <a:rPr lang="en-GB" sz="2000" b="1" dirty="0">
                <a:solidFill>
                  <a:srgbClr val="FFFFFF"/>
                </a:solidFill>
                <a:hlinkClick r:id="rId3"/>
              </a:rPr>
              <a:t>https://youtu.be/hL5mQcCFU9I</a:t>
            </a:r>
            <a:endParaRPr lang="en-GB" sz="2000" b="1" dirty="0">
              <a:solidFill>
                <a:srgbClr val="FFFFFF"/>
              </a:solidFill>
            </a:endParaRPr>
          </a:p>
          <a:p>
            <a:pPr lvl="1"/>
            <a:endParaRPr lang="en-GB" sz="2000" b="1" dirty="0">
              <a:solidFill>
                <a:srgbClr val="FFFFFF"/>
              </a:solidFill>
            </a:endParaRPr>
          </a:p>
          <a:p>
            <a:pPr lvl="1"/>
            <a:endParaRPr lang="en-GB" sz="2400" b="1" dirty="0">
              <a:solidFill>
                <a:srgbClr val="FFFFFF"/>
              </a:solidFill>
            </a:endParaRPr>
          </a:p>
          <a:p>
            <a:r>
              <a:rPr lang="en-GB" sz="2400" b="1" dirty="0" err="1">
                <a:solidFill>
                  <a:srgbClr val="FFFF00"/>
                </a:solidFill>
              </a:rPr>
              <a:t>Vtime</a:t>
            </a:r>
            <a:r>
              <a:rPr lang="en-GB" sz="2400" b="1" dirty="0">
                <a:solidFill>
                  <a:srgbClr val="FFFF00"/>
                </a:solidFill>
              </a:rPr>
              <a:t> Treadmill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1196752"/>
            <a:ext cx="4572000" cy="3429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3544416"/>
            <a:ext cx="249555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7715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- Basic Elements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00"/>
                </a:solidFill>
              </a:rPr>
              <a:t>Basic Elements to consider and Plan</a:t>
            </a: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00"/>
                </a:solidFill>
              </a:rPr>
              <a:t>Interaction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Selection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Simply the specification of an object or </a:t>
            </a:r>
          </a:p>
          <a:p>
            <a:pPr lvl="3"/>
            <a:r>
              <a:rPr lang="en-GB" sz="2400" b="1" dirty="0">
                <a:solidFill>
                  <a:srgbClr val="FFFFFF"/>
                </a:solidFill>
              </a:rPr>
              <a:t>	set of objects for some purpose.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Manipulation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Refers to the specification of object properties (most often position and orientation, but also other attributes). Selection and Manipulation are often used together, but selection may be a stand-alone task. For example, the user may select an object in order to apply a command such as delete to the obj.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08304" y="2780928"/>
            <a:ext cx="1296000" cy="129614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FFFF"/>
              </a:solidFill>
            </a:endParaRPr>
          </a:p>
        </p:txBody>
      </p:sp>
      <p:sp>
        <p:nvSpPr>
          <p:cNvPr id="5" name="5-Point Star 4"/>
          <p:cNvSpPr/>
          <p:nvPr/>
        </p:nvSpPr>
        <p:spPr>
          <a:xfrm>
            <a:off x="7526645" y="2999341"/>
            <a:ext cx="859318" cy="859318"/>
          </a:xfrm>
          <a:prstGeom prst="star5">
            <a:avLst>
              <a:gd name="adj" fmla="val 27644"/>
              <a:gd name="hf" fmla="val 105146"/>
              <a:gd name="vf" fmla="val 11055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8249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- Selection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50" y="1377950"/>
            <a:ext cx="7327900" cy="41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276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Selection Techniques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00"/>
                </a:solidFill>
              </a:rPr>
              <a:t>Virtual Hand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 err="1">
                <a:solidFill>
                  <a:srgbClr val="FFFF00"/>
                </a:solidFill>
              </a:rPr>
              <a:t>Raycasting</a:t>
            </a:r>
            <a:r>
              <a:rPr lang="en-GB" sz="2400" b="1" dirty="0">
                <a:solidFill>
                  <a:srgbClr val="FFFF00"/>
                </a:solidFill>
              </a:rPr>
              <a:t>/Occlusion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00"/>
                </a:solidFill>
              </a:rPr>
              <a:t>Go-Go arm extension</a:t>
            </a: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5356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- Selection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12474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00"/>
                </a:solidFill>
              </a:rPr>
              <a:t>Simple Virtual Hand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FFFFFF"/>
                </a:solidFill>
              </a:rPr>
              <a:t>Object is Selected by collision, made child of mapped VH, then released.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FFFFFF"/>
                </a:solidFill>
              </a:rPr>
              <a:t>Natural one-to-one mapping between Physical and Virtual hands.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FFFFFF"/>
                </a:solidFill>
              </a:rPr>
              <a:t>Kinect is a good example of use.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FFFFFF"/>
                </a:solidFill>
              </a:rPr>
              <a:t>Direct Mapping and touching of objects.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FFFFFF"/>
                </a:solidFill>
              </a:rPr>
              <a:t>Can only select objects within Physical hand reach.</a:t>
            </a:r>
          </a:p>
          <a:p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r>
              <a:rPr lang="en-GB" sz="2400" b="1" dirty="0">
                <a:solidFill>
                  <a:srgbClr val="FFFFFF"/>
                </a:solidFill>
              </a:rPr>
              <a:t>Razer VR +</a:t>
            </a:r>
          </a:p>
          <a:p>
            <a:r>
              <a:rPr lang="en-GB" sz="2400" b="1" dirty="0">
                <a:solidFill>
                  <a:srgbClr val="FFFFFF"/>
                </a:solidFill>
              </a:rPr>
              <a:t>Facebook VR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3067236"/>
            <a:ext cx="5575176" cy="313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3177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- Selection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5552256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 err="1">
                <a:solidFill>
                  <a:srgbClr val="FFFF00"/>
                </a:solidFill>
              </a:rPr>
              <a:t>RayCasting</a:t>
            </a:r>
            <a:endParaRPr lang="en-GB" sz="2400" b="1" dirty="0">
              <a:solidFill>
                <a:srgbClr val="FFFF00"/>
              </a:solidFill>
            </a:endParaRPr>
          </a:p>
          <a:p>
            <a:r>
              <a:rPr lang="en-GB" sz="2400" b="1" dirty="0">
                <a:solidFill>
                  <a:srgbClr val="FFFF00"/>
                </a:solidFill>
              </a:rPr>
              <a:t>Virtual Hand or Mouse Laser Pointer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FFFFFF"/>
                </a:solidFill>
              </a:rPr>
              <a:t>Laser pointer attached to Physical hand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FFFFFF"/>
                </a:solidFill>
              </a:rPr>
              <a:t>Ray is cast into the 3D VE from 3D input or 2D Plane (Screen)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FFFFFF"/>
                </a:solidFill>
              </a:rPr>
              <a:t>First object intersected is selected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FFFFFF"/>
                </a:solidFill>
              </a:rPr>
              <a:t>Made by only 2 </a:t>
            </a:r>
            <a:r>
              <a:rPr lang="en-GB" sz="2000" b="1" dirty="0" err="1">
                <a:solidFill>
                  <a:srgbClr val="FFFFFF"/>
                </a:solidFill>
              </a:rPr>
              <a:t>dof</a:t>
            </a:r>
            <a:r>
              <a:rPr lang="en-GB" sz="2000" b="1" dirty="0">
                <a:solidFill>
                  <a:srgbClr val="FFFFFF"/>
                </a:solidFill>
              </a:rPr>
              <a:t> (pitch and yaw)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FFFFFF"/>
                </a:solidFill>
              </a:rPr>
              <a:t>Efficient - Mouse or touch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FFFFFF"/>
                </a:solidFill>
              </a:rPr>
              <a:t>Limitation of 3</a:t>
            </a:r>
            <a:r>
              <a:rPr lang="en-GB" sz="2000" b="1" baseline="30000" dirty="0">
                <a:solidFill>
                  <a:srgbClr val="FFFFFF"/>
                </a:solidFill>
              </a:rPr>
              <a:t>rd</a:t>
            </a:r>
            <a:r>
              <a:rPr lang="en-GB" sz="2000" b="1" dirty="0">
                <a:solidFill>
                  <a:srgbClr val="FFFFFF"/>
                </a:solidFill>
              </a:rPr>
              <a:t> </a:t>
            </a:r>
            <a:r>
              <a:rPr lang="en-GB" sz="2000" b="1" dirty="0" err="1">
                <a:solidFill>
                  <a:srgbClr val="FFFFFF"/>
                </a:solidFill>
              </a:rPr>
              <a:t>dof</a:t>
            </a:r>
            <a:r>
              <a:rPr lang="en-GB" sz="2000" b="1" dirty="0">
                <a:solidFill>
                  <a:srgbClr val="FFFFFF"/>
                </a:solidFill>
              </a:rPr>
              <a:t> works well for remote selection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FFFFFF"/>
                </a:solidFill>
              </a:rPr>
              <a:t>Also cone casting and snap to object rays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FFFFFF"/>
                </a:solidFill>
              </a:rPr>
              <a:t>High performance</a:t>
            </a:r>
            <a:endParaRPr lang="en-GB" sz="2400" b="1" dirty="0">
              <a:solidFill>
                <a:srgbClr val="FFFF00"/>
              </a:solidFill>
            </a:endParaRPr>
          </a:p>
          <a:p>
            <a:r>
              <a:rPr lang="en-GB" sz="2400" b="1" dirty="0">
                <a:solidFill>
                  <a:srgbClr val="FFFF00"/>
                </a:solidFill>
              </a:rPr>
              <a:t>Occlusion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FFFFFF"/>
                </a:solidFill>
              </a:rPr>
              <a:t>Works in image plane (tablet, mobile)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FFFFFF"/>
                </a:solidFill>
              </a:rPr>
              <a:t>Covers it to select – ray from eye to nearest object through finger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0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  <p:pic>
        <p:nvPicPr>
          <p:cNvPr id="5122" name="Picture 2" descr="Image result for go go arm extension 3dui">
            <a:extLst>
              <a:ext uri="{FF2B5EF4-FFF2-40B4-BE49-F238E27FC236}">
                <a16:creationId xmlns:a16="http://schemas.microsoft.com/office/drawing/2014/main" id="{CD22A57D-3821-442A-A193-4738BC039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4980" y="1181215"/>
            <a:ext cx="2170237" cy="1789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Image result for improov3">
            <a:extLst>
              <a:ext uri="{FF2B5EF4-FFF2-40B4-BE49-F238E27FC236}">
                <a16:creationId xmlns:a16="http://schemas.microsoft.com/office/drawing/2014/main" id="{507DB418-B4FA-47DE-B2A9-D0A8771E2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971022"/>
            <a:ext cx="3201617" cy="1807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Image result for improov3">
            <a:extLst>
              <a:ext uri="{FF2B5EF4-FFF2-40B4-BE49-F238E27FC236}">
                <a16:creationId xmlns:a16="http://schemas.microsoft.com/office/drawing/2014/main" id="{040C7961-B920-4374-9F5F-4D0AE6FCB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648200"/>
            <a:ext cx="3215369" cy="1600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01813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- Selection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219256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00"/>
                </a:solidFill>
              </a:rPr>
              <a:t>Occlusion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FFFFFF"/>
                </a:solidFill>
              </a:rPr>
              <a:t>Works in image plane (tablet, mobile)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FFFFFF"/>
                </a:solidFill>
              </a:rPr>
              <a:t>Covers it to select – ray from eye to nearest object through finger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FFFFFF"/>
                </a:solidFill>
              </a:rPr>
              <a:t>Sticky finger, head crusher, palm lifter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0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15ED70-2748-426E-9787-088296708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57742"/>
            <a:ext cx="3048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B4D7DB-A400-4E35-9066-8B7CCEB2E8AD}"/>
              </a:ext>
            </a:extLst>
          </p:cNvPr>
          <p:cNvSpPr txBox="1"/>
          <p:nvPr/>
        </p:nvSpPr>
        <p:spPr>
          <a:xfrm>
            <a:off x="109175" y="5770240"/>
            <a:ext cx="9053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http://www.cs.cmu.edu/~stage3/publications/97/conferences/3DSymposium/HeadCrusher/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2E58030-B8B4-45E1-A13A-4F7BBC700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157742"/>
            <a:ext cx="3048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26E2710-FE30-4CFE-BE19-1D4E0B7B2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157742"/>
            <a:ext cx="3048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96611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- Selection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00"/>
                </a:solidFill>
              </a:rPr>
              <a:t>Go </a:t>
            </a:r>
            <a:r>
              <a:rPr lang="en-GB" sz="2400" b="1" dirty="0" err="1">
                <a:solidFill>
                  <a:srgbClr val="FFFF00"/>
                </a:solidFill>
              </a:rPr>
              <a:t>Go</a:t>
            </a:r>
            <a:r>
              <a:rPr lang="en-GB" sz="2400" b="1" dirty="0">
                <a:solidFill>
                  <a:srgbClr val="FFFF00"/>
                </a:solidFill>
              </a:rPr>
              <a:t> Arm Extension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Virtual Hand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Non one-to-one mapping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Requires 3dof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lvl="1"/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  <p:pic>
        <p:nvPicPr>
          <p:cNvPr id="4098" name="Picture 2" descr="Image result for go go arm extension 3dui">
            <a:extLst>
              <a:ext uri="{FF2B5EF4-FFF2-40B4-BE49-F238E27FC236}">
                <a16:creationId xmlns:a16="http://schemas.microsoft.com/office/drawing/2014/main" id="{C393D38F-F106-48FD-88AC-7FD02037B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667000"/>
            <a:ext cx="5058052" cy="357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85385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- Selection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00"/>
                </a:solidFill>
              </a:rPr>
              <a:t>Increase selection area: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tx2"/>
                </a:solidFill>
              </a:rPr>
              <a:t>Cone casting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tx2"/>
                </a:solidFill>
              </a:rPr>
              <a:t>Snapping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tx2"/>
                </a:solidFill>
              </a:rPr>
              <a:t>3D Bubble cursor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lvl="1"/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1716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- Selection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00"/>
                </a:solidFill>
              </a:rPr>
              <a:t>Other</a:t>
            </a:r>
          </a:p>
          <a:p>
            <a:endParaRPr lang="en-GB" sz="2400" b="1" dirty="0">
              <a:solidFill>
                <a:srgbClr val="FFFF00"/>
              </a:solidFill>
            </a:endParaRPr>
          </a:p>
          <a:p>
            <a:r>
              <a:rPr lang="en-GB" sz="2400" b="1" dirty="0">
                <a:solidFill>
                  <a:srgbClr val="FFFF00"/>
                </a:solidFill>
              </a:rPr>
              <a:t>Multimodal – Eye Tracking and Speech select</a:t>
            </a: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 err="1">
              <a:solidFill>
                <a:srgbClr val="FFFFFF"/>
              </a:solidFill>
            </a:endParaRPr>
          </a:p>
          <a:p>
            <a:r>
              <a:rPr lang="en-GB" sz="2400" b="1" dirty="0">
                <a:solidFill>
                  <a:srgbClr val="FFFF00"/>
                </a:solidFill>
                <a:hlinkClick r:id="rId3"/>
              </a:rPr>
              <a:t>https://repository.royalholloway.ac.uk/file/c4d1a84d-d4d4-a856-b25a-331dd40dedbe/8/Murtagh-Eye_movements_and_voice.pdf</a:t>
            </a:r>
            <a:endParaRPr lang="en-GB" sz="2400" b="1" dirty="0">
              <a:solidFill>
                <a:srgbClr val="FFFF00"/>
              </a:solidFill>
            </a:endParaRPr>
          </a:p>
          <a:p>
            <a:pPr lvl="1"/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0417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- Manipulation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50" y="1377950"/>
            <a:ext cx="7327899" cy="41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9897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- Manipulation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00"/>
                </a:solidFill>
              </a:rPr>
              <a:t>Exocentric Metaphors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World In Miniature – </a:t>
            </a:r>
            <a:r>
              <a:rPr lang="en-GB" sz="2400" b="1" dirty="0">
                <a:solidFill>
                  <a:srgbClr val="FFFF00"/>
                </a:solidFill>
              </a:rPr>
              <a:t>Dollhouse manipulated in hand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Automatic Scaling – </a:t>
            </a:r>
            <a:r>
              <a:rPr lang="en-GB" sz="2400" b="1" dirty="0">
                <a:solidFill>
                  <a:srgbClr val="FFFF00"/>
                </a:solidFill>
              </a:rPr>
              <a:t>Selection scales objects to 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00"/>
                </a:solidFill>
              </a:rPr>
              <a:t>Ego Centric Metaphors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Virtual Hand Metaphors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Classic Virtual Hand – </a:t>
            </a:r>
            <a:r>
              <a:rPr lang="en-GB" sz="2400" b="1" dirty="0">
                <a:solidFill>
                  <a:srgbClr val="FFFF00"/>
                </a:solidFill>
              </a:rPr>
              <a:t>Isomorphic, Direct Mapping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Go-Go – </a:t>
            </a:r>
            <a:r>
              <a:rPr lang="en-GB" sz="2400" b="1" dirty="0">
                <a:solidFill>
                  <a:srgbClr val="FFFF00"/>
                </a:solidFill>
              </a:rPr>
              <a:t>VH but </a:t>
            </a:r>
            <a:r>
              <a:rPr lang="en-GB" sz="2400" b="1" dirty="0" err="1">
                <a:solidFill>
                  <a:srgbClr val="FFFF00"/>
                </a:solidFill>
              </a:rPr>
              <a:t>nonilinear</a:t>
            </a:r>
            <a:r>
              <a:rPr lang="en-GB" sz="2400" b="1" dirty="0">
                <a:solidFill>
                  <a:srgbClr val="FFFF00"/>
                </a:solidFill>
              </a:rPr>
              <a:t> mapping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Indirect Go-Go – </a:t>
            </a:r>
            <a:r>
              <a:rPr lang="en-GB" sz="2400" b="1" dirty="0" err="1">
                <a:solidFill>
                  <a:srgbClr val="FFFF00"/>
                </a:solidFill>
              </a:rPr>
              <a:t>Raycasting</a:t>
            </a:r>
            <a:endParaRPr lang="en-GB" sz="2400" b="1" dirty="0">
              <a:solidFill>
                <a:srgbClr val="FFFF0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Virtual Pointer Metaphors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Ray-Casting, Occlusion – </a:t>
            </a:r>
            <a:r>
              <a:rPr lang="en-GB" sz="2400" b="1" dirty="0">
                <a:solidFill>
                  <a:srgbClr val="FFFF00"/>
                </a:solidFill>
              </a:rPr>
              <a:t>Laser Pointer, Finger Cover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Aperture - </a:t>
            </a:r>
            <a:r>
              <a:rPr lang="en-GB" sz="2400" b="1" dirty="0">
                <a:solidFill>
                  <a:srgbClr val="FFFF00"/>
                </a:solidFill>
              </a:rPr>
              <a:t>Peephole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Flashlight – </a:t>
            </a:r>
            <a:r>
              <a:rPr lang="en-GB" sz="2400" b="1" dirty="0">
                <a:solidFill>
                  <a:srgbClr val="FFFF00"/>
                </a:solidFill>
              </a:rPr>
              <a:t>Cone Selection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Image Plane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6816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- Manipulation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00"/>
                </a:solidFill>
              </a:rPr>
              <a:t>HOMER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tx2"/>
                </a:solidFill>
              </a:rPr>
              <a:t>hand object manipulation extending </a:t>
            </a:r>
            <a:r>
              <a:rPr lang="en-GB" sz="2400" b="1" dirty="0" err="1">
                <a:solidFill>
                  <a:schemeClr val="tx2"/>
                </a:solidFill>
              </a:rPr>
              <a:t>raycasting</a:t>
            </a:r>
            <a:r>
              <a:rPr lang="en-GB" sz="2400" b="1" dirty="0">
                <a:solidFill>
                  <a:schemeClr val="tx2"/>
                </a:solidFill>
              </a:rPr>
              <a:t> - Linear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  <p:pic>
        <p:nvPicPr>
          <p:cNvPr id="2050" name="Picture 2" descr="Lecture 5: 3D User Interfaces for Virtual Reality">
            <a:extLst>
              <a:ext uri="{FF2B5EF4-FFF2-40B4-BE49-F238E27FC236}">
                <a16:creationId xmlns:a16="http://schemas.microsoft.com/office/drawing/2014/main" id="{9F462E2E-E6D4-46DF-BA3A-EBFB6A086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2362200"/>
            <a:ext cx="5543550" cy="3918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79403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- Manipulation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00"/>
                </a:solidFill>
              </a:rPr>
              <a:t>Go-Go (Indirect Go-Go)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tx2"/>
                </a:solidFill>
              </a:rPr>
              <a:t>Moves VH to Object to manipulate – Non-Linear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tx2"/>
                </a:solidFill>
              </a:rPr>
              <a:t>(ray casting) Like Waypoint and Mouse orbit, but for object rather than camera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  <p:pic>
        <p:nvPicPr>
          <p:cNvPr id="3074" name="Picture 2" descr="Lecture 5: 3D User Interfaces for Virtual Reality">
            <a:extLst>
              <a:ext uri="{FF2B5EF4-FFF2-40B4-BE49-F238E27FC236}">
                <a16:creationId xmlns:a16="http://schemas.microsoft.com/office/drawing/2014/main" id="{6BF7F809-A191-4879-8AD2-C9ECAB2FB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762" y="3133476"/>
            <a:ext cx="4562475" cy="3225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43126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- Manipulation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00"/>
                </a:solidFill>
              </a:rPr>
              <a:t>Scaled World Grab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Used with Occlusion selection – Image Plane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Scaled to directly adjust like Virtual Hand</a:t>
            </a: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  <p:pic>
        <p:nvPicPr>
          <p:cNvPr id="4098" name="Picture 2" descr="Lecture 5: 3D User Interfaces for Virtual Reality">
            <a:extLst>
              <a:ext uri="{FF2B5EF4-FFF2-40B4-BE49-F238E27FC236}">
                <a16:creationId xmlns:a16="http://schemas.microsoft.com/office/drawing/2014/main" id="{8D0CBDB7-FEA3-4EED-AA0C-345CED80F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970" y="2743200"/>
            <a:ext cx="4962060" cy="3507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8764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- Manipulation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00"/>
                </a:solidFill>
              </a:rPr>
              <a:t>WIM – World In Miniature – dollhouse or game map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Map that has effect on VE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Manipulate items and navigation in small area.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  <p:pic>
        <p:nvPicPr>
          <p:cNvPr id="5122" name="Picture 2" descr="Lecture 5: 3D User Interfaces for Virtual Reality">
            <a:extLst>
              <a:ext uri="{FF2B5EF4-FFF2-40B4-BE49-F238E27FC236}">
                <a16:creationId xmlns:a16="http://schemas.microsoft.com/office/drawing/2014/main" id="{38485ED2-B2C4-464F-9190-5C4486693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211" y="2743200"/>
            <a:ext cx="5003577" cy="3537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66156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- Manipulation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00"/>
                </a:solidFill>
              </a:rPr>
              <a:t>Typical for this project: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00"/>
                </a:solidFill>
              </a:rPr>
              <a:t>2D Interface controls for 3D Manipulation - Button or Slider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00"/>
                </a:solidFill>
              </a:rPr>
              <a:t>3D Widget – direct object manipulation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00"/>
                </a:solidFill>
              </a:rPr>
              <a:t>State Buttons or sliders – Time(Narrative), Materials</a:t>
            </a:r>
          </a:p>
          <a:p>
            <a:endParaRPr lang="en-GB" sz="2400" b="1" dirty="0">
              <a:solidFill>
                <a:srgbClr val="FFFF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00"/>
                </a:solidFill>
              </a:rPr>
              <a:t>Look at Vizor.io:</a:t>
            </a:r>
          </a:p>
          <a:p>
            <a:r>
              <a:rPr lang="en-GB" sz="2400" b="1" dirty="0">
                <a:solidFill>
                  <a:srgbClr val="FFFF00"/>
                </a:solidFill>
              </a:rPr>
              <a:t>	</a:t>
            </a:r>
            <a:r>
              <a:rPr lang="en-GB" sz="2400" b="1" dirty="0">
                <a:solidFill>
                  <a:srgbClr val="FFFF00"/>
                </a:solidFill>
                <a:hlinkClick r:id="rId3"/>
              </a:rPr>
              <a:t>https://www.youtube.com/watch?v=n1g9QaKe7rU</a:t>
            </a:r>
            <a:endParaRPr lang="en-GB" sz="2400" b="1" dirty="0">
              <a:solidFill>
                <a:srgbClr val="FFFF00"/>
              </a:solidFill>
            </a:endParaRPr>
          </a:p>
          <a:p>
            <a:endParaRPr lang="en-GB" sz="2400" b="1" dirty="0">
              <a:solidFill>
                <a:srgbClr val="FFFF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00"/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9461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Terminology – 3D UI Widgets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268904"/>
            <a:ext cx="8280920" cy="5589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endParaRPr lang="en-GB" sz="2400" b="1" dirty="0">
              <a:solidFill>
                <a:srgbClr val="FFFFFF"/>
              </a:solidFill>
            </a:endParaRPr>
          </a:p>
          <a:p>
            <a:r>
              <a:rPr lang="en-GB" sz="2400" b="1" dirty="0">
                <a:solidFill>
                  <a:srgbClr val="FFFF00"/>
                </a:solidFill>
              </a:rPr>
              <a:t>3D UI: Menus and 3D interaction Widgets in Vizor.io</a:t>
            </a:r>
          </a:p>
          <a:p>
            <a:r>
              <a:rPr lang="en-GB" sz="1400" b="1" dirty="0">
                <a:solidFill>
                  <a:srgbClr val="FFFF00"/>
                </a:solidFill>
              </a:rPr>
              <a:t>https://www.youtube.com/watch?v=_FvWtFyeNss&amp;list=PLL0Qt-QS9kmTNhmYOMOvy0XMyvzdAdFnX</a:t>
            </a:r>
          </a:p>
          <a:p>
            <a:endParaRPr lang="en-GB" sz="2400" dirty="0">
              <a:solidFill>
                <a:srgbClr val="FFFFFF"/>
              </a:solidFill>
            </a:endParaRPr>
          </a:p>
          <a:p>
            <a:r>
              <a:rPr lang="en-GB" sz="2400" dirty="0">
                <a:solidFill>
                  <a:srgbClr val="FFFFFF"/>
                </a:solidFill>
              </a:rPr>
              <a:t>2D HUD on 3D POV</a:t>
            </a:r>
          </a:p>
          <a:p>
            <a:r>
              <a:rPr lang="en-GB" sz="2400" dirty="0">
                <a:solidFill>
                  <a:srgbClr val="FFFF00"/>
                </a:solidFill>
              </a:rPr>
              <a:t>2D Menu on 3D POV</a:t>
            </a:r>
          </a:p>
          <a:p>
            <a:r>
              <a:rPr lang="en-GB" sz="2400" dirty="0">
                <a:solidFill>
                  <a:srgbClr val="FFFFFF"/>
                </a:solidFill>
              </a:rPr>
              <a:t>2D Menu within 3D VE</a:t>
            </a:r>
          </a:p>
          <a:p>
            <a:r>
              <a:rPr lang="en-GB" sz="2400" dirty="0">
                <a:solidFill>
                  <a:srgbClr val="FFFF00"/>
                </a:solidFill>
              </a:rPr>
              <a:t>2D mouse selection of button for 3D Interaction</a:t>
            </a:r>
          </a:p>
          <a:p>
            <a:r>
              <a:rPr lang="en-GB" sz="2400" dirty="0">
                <a:solidFill>
                  <a:srgbClr val="FFFFFF"/>
                </a:solidFill>
              </a:rPr>
              <a:t>2D mouse direct control of object</a:t>
            </a:r>
          </a:p>
          <a:p>
            <a:r>
              <a:rPr lang="en-GB" sz="2400" dirty="0">
                <a:solidFill>
                  <a:srgbClr val="FFFF00"/>
                </a:solidFill>
              </a:rPr>
              <a:t>2D mouse direct control of 3D Gimbal/Widget for object</a:t>
            </a:r>
          </a:p>
          <a:p>
            <a:r>
              <a:rPr lang="en-GB" sz="2400" dirty="0">
                <a:solidFill>
                  <a:srgbClr val="FFFFFF"/>
                </a:solidFill>
              </a:rPr>
              <a:t>3D Natural Input and 3D direct control of objects</a:t>
            </a:r>
          </a:p>
          <a:p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3534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3D Interactive Media Development</a:t>
            </a:r>
            <a:endParaRPr lang="en-GB" sz="4000" dirty="0"/>
          </a:p>
        </p:txBody>
      </p:sp>
      <p:sp>
        <p:nvSpPr>
          <p:cNvPr id="22" name="TextBox 21"/>
          <p:cNvSpPr txBox="1"/>
          <p:nvPr/>
        </p:nvSpPr>
        <p:spPr>
          <a:xfrm>
            <a:off x="442796" y="1196752"/>
            <a:ext cx="823366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2800" b="1" dirty="0">
                <a:solidFill>
                  <a:srgbClr val="FFFF00"/>
                </a:solidFill>
              </a:rPr>
              <a:t>3DUI Interaction Widget examples</a:t>
            </a:r>
          </a:p>
          <a:p>
            <a:pPr lvl="0"/>
            <a:endParaRPr lang="en-GB" sz="2000" b="1" dirty="0"/>
          </a:p>
          <a:p>
            <a:pPr lvl="0"/>
            <a:r>
              <a:rPr lang="en-GB" sz="2000" b="1" dirty="0">
                <a:solidFill>
                  <a:srgbClr val="FFFF00"/>
                </a:solidFill>
              </a:rPr>
              <a:t>Practical Examples:</a:t>
            </a:r>
          </a:p>
          <a:p>
            <a:pPr lvl="0"/>
            <a:r>
              <a:rPr lang="en-GB" sz="2000" b="1" dirty="0"/>
              <a:t>	</a:t>
            </a:r>
          </a:p>
          <a:p>
            <a:pPr lvl="0"/>
            <a:r>
              <a:rPr lang="en-GB" sz="2000" b="1" dirty="0"/>
              <a:t>2D Joystick Widget</a:t>
            </a:r>
          </a:p>
          <a:p>
            <a:pPr lvl="0"/>
            <a:r>
              <a:rPr lang="en-GB" sz="2000" b="1" dirty="0">
                <a:solidFill>
                  <a:srgbClr val="FF0000"/>
                </a:solidFill>
                <a:hlinkClick r:id="rId3"/>
              </a:rPr>
              <a:t>https://www.youtube.com/watch?v=nGYObojmkO4</a:t>
            </a:r>
            <a:endParaRPr lang="en-GB" sz="2000" b="1" dirty="0">
              <a:solidFill>
                <a:srgbClr val="FF0000"/>
              </a:solidFill>
            </a:endParaRPr>
          </a:p>
          <a:p>
            <a:pPr lvl="0"/>
            <a:endParaRPr lang="en-GB" sz="2000" b="1" dirty="0">
              <a:solidFill>
                <a:srgbClr val="FF0000"/>
              </a:solidFill>
            </a:endParaRPr>
          </a:p>
          <a:p>
            <a:pPr lvl="0"/>
            <a:r>
              <a:rPr lang="en-GB" sz="2000" b="1" dirty="0">
                <a:solidFill>
                  <a:srgbClr val="FF0000"/>
                </a:solidFill>
              </a:rPr>
              <a:t>	</a:t>
            </a:r>
          </a:p>
          <a:p>
            <a:pPr lvl="0"/>
            <a:endParaRPr lang="en-GB" sz="2000" b="1" dirty="0"/>
          </a:p>
          <a:p>
            <a:pPr lvl="0"/>
            <a:endParaRPr lang="en-GB" sz="2000" b="1" dirty="0"/>
          </a:p>
          <a:p>
            <a:pPr lvl="0"/>
            <a:endParaRPr lang="en-GB" sz="20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3428999"/>
            <a:ext cx="3187301" cy="181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4930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Interaction - Example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endParaRPr lang="en-GB" sz="2400" b="1" dirty="0">
              <a:solidFill>
                <a:srgbClr val="FFFFFF"/>
              </a:solidFill>
            </a:endParaRPr>
          </a:p>
          <a:p>
            <a:r>
              <a:rPr lang="en-GB" sz="2400" b="1" dirty="0">
                <a:solidFill>
                  <a:srgbClr val="FFFF00"/>
                </a:solidFill>
              </a:rPr>
              <a:t>Multimodal Example – Historical - 1980</a:t>
            </a:r>
            <a:endParaRPr lang="en-GB" sz="2400" b="1" dirty="0">
              <a:solidFill>
                <a:srgbClr val="FFFFFF"/>
              </a:solidFill>
            </a:endParaRPr>
          </a:p>
          <a:p>
            <a:r>
              <a:rPr lang="en-GB" sz="2400" b="1" dirty="0">
                <a:solidFill>
                  <a:srgbClr val="FFFF00"/>
                </a:solidFill>
              </a:rPr>
              <a:t>Put That There</a:t>
            </a:r>
          </a:p>
          <a:p>
            <a:r>
              <a:rPr lang="en-GB" sz="2400" b="1" dirty="0">
                <a:solidFill>
                  <a:srgbClr val="FF0000"/>
                </a:solidFill>
                <a:hlinkClick r:id="rId3"/>
              </a:rPr>
              <a:t>https://www.youtube.com/watch?v=sC5Zg0fU2e8</a:t>
            </a:r>
            <a:endParaRPr lang="en-GB" sz="2400" b="1" dirty="0">
              <a:solidFill>
                <a:srgbClr val="FF0000"/>
              </a:solidFill>
            </a:endParaRPr>
          </a:p>
          <a:p>
            <a:endParaRPr lang="en-GB" sz="2400" b="1" dirty="0">
              <a:solidFill>
                <a:srgbClr val="FF0000"/>
              </a:solidFill>
            </a:endParaRPr>
          </a:p>
          <a:p>
            <a:endParaRPr lang="en-GB" sz="2400" b="1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0554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 fontScale="90000"/>
          </a:bodyPr>
          <a:lstStyle/>
          <a:p>
            <a:r>
              <a:rPr lang="en-GB" dirty="0"/>
              <a:t>3DUI Interaction – Manipulation Tips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00"/>
                </a:solidFill>
              </a:rPr>
              <a:t>Match Interaction Technique to Device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00"/>
                </a:solidFill>
              </a:rPr>
              <a:t>Reduce Clutching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00"/>
                </a:solidFill>
              </a:rPr>
              <a:t>Use Pointing Techniques for Selection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Best Control to task Cognitive Map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00"/>
                </a:solidFill>
              </a:rPr>
              <a:t>Use Virtual Hand Techniques for Manipulation – (extra)</a:t>
            </a:r>
          </a:p>
          <a:p>
            <a:pPr marL="800100" lvl="3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Best Control to task Cognitive Map</a:t>
            </a:r>
          </a:p>
          <a:p>
            <a:pPr marL="800100" lvl="3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00"/>
                </a:solidFill>
              </a:rPr>
              <a:t>Reduce </a:t>
            </a:r>
            <a:r>
              <a:rPr lang="en-GB" sz="2400" b="1" dirty="0" err="1">
                <a:solidFill>
                  <a:srgbClr val="FFFF00"/>
                </a:solidFill>
              </a:rPr>
              <a:t>dof</a:t>
            </a:r>
            <a:r>
              <a:rPr lang="en-GB" sz="2400" b="1" dirty="0">
                <a:solidFill>
                  <a:srgbClr val="FFFF00"/>
                </a:solidFill>
              </a:rPr>
              <a:t> if Possible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Clamp extra dimension to 2.5D or Orthographic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Limit free movement in extra dimension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3281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Interaction – System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00"/>
                </a:solidFill>
              </a:rPr>
              <a:t>Basic Elements to consider and Plan</a:t>
            </a: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r>
              <a:rPr lang="en-GB" sz="2400" b="1" dirty="0">
                <a:solidFill>
                  <a:srgbClr val="FFFF00"/>
                </a:solidFill>
              </a:rPr>
              <a:t>System Control </a:t>
            </a:r>
            <a:endParaRPr lang="en-GB" sz="2400" b="1" dirty="0">
              <a:solidFill>
                <a:srgbClr val="FFFFFF"/>
              </a:solidFill>
            </a:endParaRPr>
          </a:p>
          <a:p>
            <a:r>
              <a:rPr lang="en-GB" sz="2400" b="1" dirty="0">
                <a:solidFill>
                  <a:srgbClr val="FFFFFF"/>
                </a:solidFill>
              </a:rPr>
              <a:t>The task of Changing the System State or Mode of Interaction.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This is usually done with some type of command to the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2D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Menus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Command Line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0" lvl="1"/>
            <a:r>
              <a:rPr lang="en-GB" sz="2400" b="1" dirty="0">
                <a:solidFill>
                  <a:srgbClr val="FFFFFF"/>
                </a:solidFill>
              </a:rPr>
              <a:t>Can Involve selection, manipulation, etc. ..</a:t>
            </a:r>
          </a:p>
          <a:p>
            <a:pPr marL="0" lvl="1"/>
            <a:r>
              <a:rPr lang="en-GB" sz="2400" b="1" dirty="0">
                <a:solidFill>
                  <a:srgbClr val="FFFFFF"/>
                </a:solidFill>
              </a:rPr>
              <a:t>…but best to consider it separately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lvl="1"/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6745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Interaction – System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00"/>
                </a:solidFill>
              </a:rPr>
              <a:t>System Control Techniques</a:t>
            </a: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Virtual Menus –</a:t>
            </a:r>
            <a:r>
              <a:rPr lang="en-GB" sz="2400" b="1" dirty="0">
                <a:solidFill>
                  <a:srgbClr val="FFFF00"/>
                </a:solidFill>
              </a:rPr>
              <a:t>Unity3D UI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Tool Selectors – metaphors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Speech Commands (Multimodal)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Pen and Tablet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r>
              <a:rPr lang="en-GB" sz="2400" b="1" dirty="0">
                <a:solidFill>
                  <a:srgbClr val="FFFF00"/>
                </a:solidFill>
              </a:rPr>
              <a:t>For CW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Just need Selection technique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Use good Visual Feedback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i="1" dirty="0">
                <a:solidFill>
                  <a:srgbClr val="FFFFFF"/>
                </a:solidFill>
              </a:rPr>
              <a:t>Use menus, tabs, buttons, widgets and other systems for higher marks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i="1" dirty="0">
                <a:solidFill>
                  <a:srgbClr val="FFFFFF"/>
                </a:solidFill>
              </a:rPr>
              <a:t>Let the ideas drive the interaction</a:t>
            </a:r>
          </a:p>
          <a:p>
            <a:pPr lvl="1"/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6501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Interaction – System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00"/>
                </a:solidFill>
              </a:rPr>
              <a:t>System Control Techniques</a:t>
            </a:r>
          </a:p>
          <a:p>
            <a:endParaRPr lang="en-GB" sz="2400" b="1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00"/>
                </a:solidFill>
              </a:rPr>
              <a:t>Unity 3D UI </a:t>
            </a:r>
          </a:p>
          <a:p>
            <a:r>
              <a:rPr lang="en-GB" sz="2400" b="1" dirty="0">
                <a:solidFill>
                  <a:srgbClr val="FFFF00"/>
                </a:solidFill>
                <a:hlinkClick r:id="rId3"/>
              </a:rPr>
              <a:t>https://www.youtube.com/watch?v=QxRAIjXdfFU</a:t>
            </a:r>
            <a:endParaRPr lang="en-GB" sz="2400" b="1" dirty="0">
              <a:solidFill>
                <a:srgbClr val="FFFF00"/>
              </a:solidFill>
            </a:endParaRPr>
          </a:p>
          <a:p>
            <a:endParaRPr lang="en-GB" sz="2400" b="1" dirty="0">
              <a:solidFill>
                <a:srgbClr val="FFFF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rgbClr val="FFFF00"/>
                </a:solidFill>
              </a:rPr>
              <a:t>Essentially similar to Immerse</a:t>
            </a:r>
          </a:p>
          <a:p>
            <a:r>
              <a:rPr lang="en-GB" sz="2400" b="1" dirty="0">
                <a:solidFill>
                  <a:srgbClr val="FFFF00"/>
                </a:solidFill>
                <a:hlinkClick r:id="rId4"/>
              </a:rPr>
              <a:t>https://www.youtube.com/watch?v=gwYjnWCcw18</a:t>
            </a:r>
            <a:endParaRPr lang="en-GB" sz="2400" b="1" dirty="0">
              <a:solidFill>
                <a:srgbClr val="FFFF00"/>
              </a:solidFill>
            </a:endParaRPr>
          </a:p>
          <a:p>
            <a:endParaRPr lang="en-GB" sz="2400" b="1" dirty="0">
              <a:solidFill>
                <a:srgbClr val="FF0000"/>
              </a:solidFill>
            </a:endParaRPr>
          </a:p>
          <a:p>
            <a:pPr lvl="1"/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7225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 fontScale="90000"/>
          </a:bodyPr>
          <a:lstStyle/>
          <a:p>
            <a:r>
              <a:rPr lang="en-GB" dirty="0"/>
              <a:t>3DUI Interaction -System Control Tips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00"/>
                </a:solidFill>
              </a:rPr>
              <a:t>System Control Tips</a:t>
            </a: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Don’t Disturb Flow of 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Use Correct Spatial Reference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Allow for Multimodal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Structure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Give Good Feedback</a:t>
            </a:r>
          </a:p>
          <a:p>
            <a:pPr lvl="1"/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4393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Applications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Simulation, Training, Education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Cultural Heritage, Tourism, Archaeology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Art ,Entertainment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Visualization - Architecture, </a:t>
            </a:r>
            <a:r>
              <a:rPr lang="en-GB" sz="2400" b="1" dirty="0" err="1">
                <a:solidFill>
                  <a:srgbClr val="FFFFFF"/>
                </a:solidFill>
              </a:rPr>
              <a:t>Contruction</a:t>
            </a:r>
            <a:endParaRPr lang="en-GB" sz="2400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Visualization - Product Design, Prototyping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Medicine, Psychiatry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FFFF"/>
                </a:solidFill>
              </a:rPr>
              <a:t>Communication, Collaboration, Social media, Telepresence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2227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dirty="0"/>
              <a:t>3DUI Unity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GB" sz="2400" b="1" dirty="0">
                <a:solidFill>
                  <a:srgbClr val="FFFF00"/>
                </a:solidFill>
              </a:rPr>
              <a:t>Screen Capture Software</a:t>
            </a:r>
          </a:p>
          <a:p>
            <a:r>
              <a:rPr lang="en-GB" sz="2400" b="1" dirty="0">
                <a:solidFill>
                  <a:schemeClr val="tx2"/>
                </a:solidFill>
              </a:rPr>
              <a:t>Any Issues?</a:t>
            </a:r>
          </a:p>
          <a:p>
            <a:endParaRPr lang="en-GB" sz="2400" b="1" dirty="0">
              <a:solidFill>
                <a:srgbClr val="FF0000"/>
              </a:solidFill>
            </a:endParaRPr>
          </a:p>
          <a:p>
            <a:r>
              <a:rPr lang="en-GB" sz="2400" b="1" dirty="0">
                <a:solidFill>
                  <a:srgbClr val="FFFF00"/>
                </a:solidFill>
              </a:rPr>
              <a:t>Start to think about Unity UI</a:t>
            </a:r>
          </a:p>
          <a:p>
            <a:r>
              <a:rPr lang="en-GB" sz="2400" b="1" dirty="0">
                <a:solidFill>
                  <a:srgbClr val="FFFFFF"/>
                </a:solidFill>
                <a:hlinkClick r:id="rId3"/>
              </a:rPr>
              <a:t>https://www.youtube.com/watch?v=JrlFMwLI1fw</a:t>
            </a:r>
            <a:endParaRPr lang="en-GB" sz="2400" b="1" dirty="0">
              <a:solidFill>
                <a:srgbClr val="FFFFFF"/>
              </a:solidFill>
            </a:endParaRPr>
          </a:p>
          <a:p>
            <a:r>
              <a:rPr lang="en-GB" sz="2400" b="1" dirty="0">
                <a:solidFill>
                  <a:srgbClr val="FFFFFF"/>
                </a:solidFill>
                <a:hlinkClick r:id="rId4"/>
              </a:rPr>
              <a:t>https://unity3d.com/learn/tutorials/topics/user-interface-ui</a:t>
            </a:r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r>
              <a:rPr lang="en-GB" sz="2400" b="1" dirty="0">
                <a:solidFill>
                  <a:schemeClr val="tx1"/>
                </a:solidFill>
                <a:hlinkClick r:id="rId5"/>
              </a:rPr>
              <a:t>https://blogs.unity3d.com/2014/06/30/unity-4-6-new-ui-world-space-canvas/</a:t>
            </a:r>
            <a:endParaRPr lang="en-GB" sz="2400" b="1" dirty="0">
              <a:solidFill>
                <a:schemeClr val="tx1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endParaRPr lang="en-GB" sz="2400" b="1" dirty="0">
              <a:solidFill>
                <a:srgbClr val="FFFF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  <a:p>
            <a:endParaRPr lang="en-GB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23091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Metro">
      <a:dk1>
        <a:srgbClr val="FFFFFF"/>
      </a:dk1>
      <a:lt1>
        <a:srgbClr val="1F497D"/>
      </a:lt1>
      <a:dk2>
        <a:srgbClr val="FFFFFF"/>
      </a:dk2>
      <a:lt2>
        <a:srgbClr val="1F497D"/>
      </a:lt2>
      <a:accent1>
        <a:srgbClr val="E8402E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C6D9F0"/>
      </a:folHlink>
    </a:clrScheme>
    <a:fontScheme name="Metro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Metro">
      <a:dk1>
        <a:srgbClr val="FFFFFF"/>
      </a:dk1>
      <a:lt1>
        <a:srgbClr val="1F497D"/>
      </a:lt1>
      <a:dk2>
        <a:srgbClr val="FFFFFF"/>
      </a:dk2>
      <a:lt2>
        <a:srgbClr val="1F497D"/>
      </a:lt2>
      <a:accent1>
        <a:srgbClr val="E8402E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C6D9F0"/>
      </a:folHlink>
    </a:clrScheme>
    <a:fontScheme name="Metro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6796</TotalTime>
  <Words>2464</Words>
  <Application>Microsoft Office PowerPoint</Application>
  <PresentationFormat>On-screen Show (4:3)</PresentationFormat>
  <Paragraphs>787</Paragraphs>
  <Slides>56</Slides>
  <Notes>56</Notes>
  <HiddenSlides>1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58" baseType="lpstr">
      <vt:lpstr>1_Office Theme</vt:lpstr>
      <vt:lpstr>Office Theme</vt:lpstr>
      <vt:lpstr>3D Interactive Media Development</vt:lpstr>
      <vt:lpstr>3D Interactive Media Development</vt:lpstr>
      <vt:lpstr>3D Interactive Media Development</vt:lpstr>
      <vt:lpstr>3D Interactive Media Development</vt:lpstr>
      <vt:lpstr>3D Interactive Media Development</vt:lpstr>
      <vt:lpstr>Terminology</vt:lpstr>
      <vt:lpstr>Terminology</vt:lpstr>
      <vt:lpstr>Terminology</vt:lpstr>
      <vt:lpstr>3DUI Applications</vt:lpstr>
      <vt:lpstr>History</vt:lpstr>
      <vt:lpstr>History</vt:lpstr>
      <vt:lpstr>History</vt:lpstr>
      <vt:lpstr>History</vt:lpstr>
      <vt:lpstr>History – Platform Development</vt:lpstr>
      <vt:lpstr>History – Platform Development</vt:lpstr>
      <vt:lpstr>Current - Input Devices for VE</vt:lpstr>
      <vt:lpstr>Current - Input Devices for VE</vt:lpstr>
      <vt:lpstr>Current - Input Devices for VE</vt:lpstr>
      <vt:lpstr>Current - Outputs/Displays</vt:lpstr>
      <vt:lpstr>3D Interactive Media Development</vt:lpstr>
      <vt:lpstr>3D Interactive Media Development</vt:lpstr>
      <vt:lpstr>Current – Platform Development</vt:lpstr>
      <vt:lpstr>Current State of Technology</vt:lpstr>
      <vt:lpstr>3DUI Framework Chart</vt:lpstr>
      <vt:lpstr>3DUI - Basic Elements</vt:lpstr>
      <vt:lpstr>3DUI - Navigation</vt:lpstr>
      <vt:lpstr>3DUI - Navigation</vt:lpstr>
      <vt:lpstr>3DUI – Navigation Classes</vt:lpstr>
      <vt:lpstr>3DUI – Navigation Tips</vt:lpstr>
      <vt:lpstr>3DUI – Navigation</vt:lpstr>
      <vt:lpstr>3DUI - Basic Elements</vt:lpstr>
      <vt:lpstr>3DUI - Selection</vt:lpstr>
      <vt:lpstr>3DUI Selection Techniques</vt:lpstr>
      <vt:lpstr>3DUI - Selection</vt:lpstr>
      <vt:lpstr>3DUI - Selection</vt:lpstr>
      <vt:lpstr>3DUI - Selection</vt:lpstr>
      <vt:lpstr>3DUI - Selection</vt:lpstr>
      <vt:lpstr>3DUI - Selection</vt:lpstr>
      <vt:lpstr>3DUI - Selection</vt:lpstr>
      <vt:lpstr>3DUI - Manipulation</vt:lpstr>
      <vt:lpstr>3DUI - Manipulation</vt:lpstr>
      <vt:lpstr>3DUI - Manipulation</vt:lpstr>
      <vt:lpstr>3DUI - Manipulation</vt:lpstr>
      <vt:lpstr>3DUI - Manipulation</vt:lpstr>
      <vt:lpstr>3DUI - Manipulation</vt:lpstr>
      <vt:lpstr>3DUI - Manipulation</vt:lpstr>
      <vt:lpstr>Terminology – 3D UI Widgets</vt:lpstr>
      <vt:lpstr>3D Interactive Media Development</vt:lpstr>
      <vt:lpstr>3DUI Interaction - Example</vt:lpstr>
      <vt:lpstr>3DUI Interaction – Manipulation Tips</vt:lpstr>
      <vt:lpstr>3DUI Interaction – System Control</vt:lpstr>
      <vt:lpstr>3DUI Interaction – System Control</vt:lpstr>
      <vt:lpstr>3DUI Interaction – System Control</vt:lpstr>
      <vt:lpstr>3DUI Interaction -System Control Tips</vt:lpstr>
      <vt:lpstr>3DUI Applications</vt:lpstr>
      <vt:lpstr>3DUI Unity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Terminology – 3D I Widgets</dc:title>
  <dc:creator>Jeff</dc:creator>
  <cp:lastModifiedBy>Jeffrey Ferguson</cp:lastModifiedBy>
  <cp:revision>75</cp:revision>
  <dcterms:created xsi:type="dcterms:W3CDTF">2016-10-04T19:41:26Z</dcterms:created>
  <dcterms:modified xsi:type="dcterms:W3CDTF">2026-08-10T13:15:56Z</dcterms:modified>
</cp:coreProperties>
</file>