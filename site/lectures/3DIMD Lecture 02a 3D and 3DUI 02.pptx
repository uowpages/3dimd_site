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327" r:id="rId8"/>
    <p:sldId id="328" r:id="rId9"/>
    <p:sldId id="326" r:id="rId10"/>
    <p:sldId id="32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30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</p:sldIdLst>
  <p:sldSz cx="9144000" cy="6858000" type="screen4x3"/>
  <p:notesSz cx="6858000" cy="9144000"/>
  <p:embeddedFontLst>
    <p:embeddedFont>
      <p:font typeface="Quattrocento Sans" panose="020B0502050000020003" pitchFamily="3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ioFdBnzHFpZ1uMfxxUPdd5v1CI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2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0977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9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8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152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 sz="1400" b="1">
                <a:solidFill>
                  <a:schemeClr val="dk1"/>
                </a:solidFill>
              </a:rPr>
              <a:t>Cognition - the process of acquiring knowledge and understanding through thought, experience, and the senses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3604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f5f67e14a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gf5f67e14a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f5f67e14ac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Level sets are a useful representation for deforming surfaces which undergo many topological changes such as fluids.</a:t>
            </a:r>
            <a:endParaRPr/>
          </a:p>
        </p:txBody>
      </p:sp>
      <p:sp>
        <p:nvSpPr>
          <p:cNvPr id="507" name="Google Shape;507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9"/>
          <p:cNvSpPr txBox="1"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1"/>
          <p:cNvSpPr txBox="1"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2"/>
          <p:cNvSpPr/>
          <p:nvPr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72"/>
          <p:cNvSpPr/>
          <p:nvPr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7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33" name="Google Shape;33;p72">
            <a:hlinkClick r:id=""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85386" y="6309320"/>
            <a:ext cx="303997" cy="45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72">
            <a:hlinkClick r:id=""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46966" y="6309320"/>
            <a:ext cx="303997" cy="45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7" name="Google Shape;37;p73">
            <a:hlinkClick r:id=""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46966" y="6309320"/>
            <a:ext cx="303997" cy="45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80000">
              <a:srgbClr val="0F243E"/>
            </a:gs>
            <a:gs pos="100000">
              <a:srgbClr val="538CD5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4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12" name="Google Shape;12;p68" descr="C:\Users\jw\Documents\Visual Studio 2010\Projects\JSBubbles\JSBubbles.Game\images\themes\metro\Next.png">
            <a:hlinkClick r:id="" action="ppaction://hlinkshowjump?jump=nextslide"/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04029" y="6348019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6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58640" y="6343213"/>
            <a:ext cx="400106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8">
            <a:hlinkClick r:id="" action="ppaction://hlinkshowjump?jump=firstslide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48908" y="6347991"/>
            <a:ext cx="400106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8">
            <a:hlinkClick r:id="" action="ppaction://hlinkshowjump?jump=previousslide"/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04800" y="6338465"/>
            <a:ext cx="419159" cy="4191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68"/>
          <p:cNvSpPr/>
          <p:nvPr/>
        </p:nvSpPr>
        <p:spPr>
          <a:xfrm>
            <a:off x="4061508" y="6525344"/>
            <a:ext cx="1113381" cy="360040"/>
          </a:xfrm>
          <a:prstGeom prst="rect">
            <a:avLst/>
          </a:prstGeom>
          <a:blipFill rotWithShape="1">
            <a:blip r:embed="rId12">
              <a:alphaModFix amt="3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canv.as/p/sAsiDvt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aydnaya.amnesty.org/" TargetMode="External"/><Relationship Id="rId4" Type="http://schemas.openxmlformats.org/officeDocument/2006/relationships/hyperlink" Target="https://threejs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owdigital.padlet.org/fergusj/3dimd-cw-samples-2025-1f4w3m19lc80m9c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universityofwestminster-my.sharepoint.com/:x:/r/personal/fergusj_westminster_ac_uk/_layouts/15/Doc.aspx?sourcedoc=%7B846E4D85-DD9A-4882-9EFD-3EE77C94BF61%7D&amp;file=XRLab%20FYP%20Ideas.xlsx&amp;action=default&amp;mobileredirect=true" TargetMode="External"/><Relationship Id="rId3" Type="http://schemas.openxmlformats.org/officeDocument/2006/relationships/hyperlink" Target="https://uowdigital.padlet.org/fergusj/3dimd-cw-samples-5ohcvanq1wlcq0h9" TargetMode="External"/><Relationship Id="rId7" Type="http://schemas.openxmlformats.org/officeDocument/2006/relationships/hyperlink" Target="https://xrlab.lond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owdigital.padlet.org/fergusj/XRinIndustry" TargetMode="External"/><Relationship Id="rId5" Type="http://schemas.openxmlformats.org/officeDocument/2006/relationships/hyperlink" Target="https://padlet.com/sselwood1/VirtualMeeting" TargetMode="External"/><Relationship Id="rId4" Type="http://schemas.openxmlformats.org/officeDocument/2006/relationships/hyperlink" Target="https://docs.google.com/spreadsheets/d/1wicTinoLjP5M3bATj3ZbtuN4H6vpqgIT/edit#gid=207650032" TargetMode="External"/><Relationship Id="rId9" Type="http://schemas.openxmlformats.org/officeDocument/2006/relationships/hyperlink" Target="https://uowdigital.padlet.org/fergusj/xr-lab-demo-material-vf1u4jwz92800dvo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jobsimulatorgame.com/" TargetMode="External"/><Relationship Id="rId3" Type="http://schemas.openxmlformats.org/officeDocument/2006/relationships/hyperlink" Target="https://www.theguardian.com/world/ng-interactive/2016/apr/27/6x9-a-virtual-experience-of-solitary-confinement" TargetMode="External"/><Relationship Id="rId7" Type="http://schemas.openxmlformats.org/officeDocument/2006/relationships/hyperlink" Target="http://www.bbc.co.uk/taste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olobuilder.com/" TargetMode="External"/><Relationship Id="rId11" Type="http://schemas.openxmlformats.org/officeDocument/2006/relationships/hyperlink" Target="https://www.youtube.com/watch?v=GSbkn6mCfXE" TargetMode="External"/><Relationship Id="rId5" Type="http://schemas.openxmlformats.org/officeDocument/2006/relationships/hyperlink" Target="https://saydnaya.amnesty.org/" TargetMode="External"/><Relationship Id="rId10" Type="http://schemas.openxmlformats.org/officeDocument/2006/relationships/hyperlink" Target="https://www.youtube.com/watch?v=aocLCCvJTBU" TargetMode="External"/><Relationship Id="rId4" Type="http://schemas.openxmlformats.org/officeDocument/2006/relationships/hyperlink" Target="http://www.desmoinesregister.com/story/money/agriculture/2014/09/17/harvest-of-change-virtual-farm-virtual-reality/15785377/" TargetMode="External"/><Relationship Id="rId9" Type="http://schemas.openxmlformats.org/officeDocument/2006/relationships/hyperlink" Target="https://www.youtube.com/watch?v=1S0GO5kbMYo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owdigital.padlet.org/fergusj/web3d-and-web3-ecosystem-9xv91ovkasaaviu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dinglist.westminster.ac.uk/leganto/public/44WST_INST/lists/9326977540003711?auth=SA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docs.unity3d.com/6000.0/Documentation/Manual/class-InputManager.html" TargetMode="External"/><Relationship Id="rId4" Type="http://schemas.openxmlformats.org/officeDocument/2006/relationships/hyperlink" Target="https://docs.unity3d.com/6000.0/Documentation/ScriptReference/Input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cabricks.com/en/worksho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eocad.org/download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citation.cfm?id=142792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fU1yLwDdak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l.acm.org/citation.cfm?id=142792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ligentultrasound.com/heartworks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Z_G_ESvDmIY" TargetMode="External"/><Relationship Id="rId5" Type="http://schemas.openxmlformats.org/officeDocument/2006/relationships/hyperlink" Target="https://www.youtube.com/watch?v=JHL5tJ9ja_w" TargetMode="External"/><Relationship Id="rId4" Type="http://schemas.openxmlformats.org/officeDocument/2006/relationships/hyperlink" Target="https://www.youtube.com/watch?v=Bc_TCLoH2CA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WebGL_frameworks" TargetMode="External"/><Relationship Id="rId7" Type="http://schemas.openxmlformats.org/officeDocument/2006/relationships/hyperlink" Target="https://uowdigital.padlet.org/fergusj/web-web3d-and-web3-ecosystem-9xv91ovkasaaviua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reejs.org/" TargetMode="External"/><Relationship Id="rId5" Type="http://schemas.openxmlformats.org/officeDocument/2006/relationships/hyperlink" Target="https://aframe.io/" TargetMode="External"/><Relationship Id="rId4" Type="http://schemas.openxmlformats.org/officeDocument/2006/relationships/hyperlink" Target="https://codepen.io/search/pens?q=three.js&amp;cursor=ZD0xJm89MCZwPTE=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/index.php?title=Triangle_mesh_(computer_graphics)&amp;action=edit&amp;redlink=1" TargetMode="External"/><Relationship Id="rId3" Type="http://schemas.openxmlformats.org/officeDocument/2006/relationships/hyperlink" Target="https://en.wikipedia.org/wiki/Sphere" TargetMode="External"/><Relationship Id="rId7" Type="http://schemas.openxmlformats.org/officeDocument/2006/relationships/hyperlink" Target="https://en.wikipedia.org/wiki/Cone_(geometry)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rimitives_(computer_graphics)" TargetMode="External"/><Relationship Id="rId5" Type="http://schemas.openxmlformats.org/officeDocument/2006/relationships/hyperlink" Target="https://en.wikipedia.org/wiki/Tessellation" TargetMode="External"/><Relationship Id="rId4" Type="http://schemas.openxmlformats.org/officeDocument/2006/relationships/hyperlink" Target="https://en.wikipedia.org/wiki/Circumference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quare_(geometry)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3D_modeling#cite_note-3" TargetMode="External"/><Relationship Id="rId4" Type="http://schemas.openxmlformats.org/officeDocument/2006/relationships/hyperlink" Target="https://en.wikipedia.org/wiki/Rasterise" TargetMode="Externa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Recursive_subdivision" TargetMode="External"/><Relationship Id="rId3" Type="http://schemas.openxmlformats.org/officeDocument/2006/relationships/hyperlink" Target="https://en.wikipedia.org/wiki/3D_computer_graphics" TargetMode="External"/><Relationship Id="rId7" Type="http://schemas.openxmlformats.org/officeDocument/2006/relationships/hyperlink" Target="https://en.wikipedia.org/wiki/Limit_of_a_sequence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olygon_mesh" TargetMode="External"/><Relationship Id="rId5" Type="http://schemas.openxmlformats.org/officeDocument/2006/relationships/hyperlink" Target="https://en.wikipedia.org/wiki/Piecewise_linear_manifold" TargetMode="External"/><Relationship Id="rId4" Type="http://schemas.openxmlformats.org/officeDocument/2006/relationships/hyperlink" Target="https://en.wikipedia.org/wiki/Smooth_surface" TargetMode="External"/><Relationship Id="rId9" Type="http://schemas.openxmlformats.org/officeDocument/2006/relationships/hyperlink" Target="https://en.wikipedia.org/wiki/Face_(geometry)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 sz="3600"/>
              <a:t>3D Interactive Media Development</a:t>
            </a:r>
            <a:endParaRPr sz="3600"/>
          </a:p>
        </p:txBody>
      </p:sp>
      <p:sp>
        <p:nvSpPr>
          <p:cNvPr id="45" name="Google Shape;45;p1"/>
          <p:cNvSpPr txBox="1">
            <a:spLocks noGrp="1"/>
          </p:cNvSpPr>
          <p:nvPr>
            <p:ph type="subTitle" idx="1"/>
          </p:nvPr>
        </p:nvSpPr>
        <p:spPr>
          <a:xfrm>
            <a:off x="683568" y="3212976"/>
            <a:ext cx="7992888" cy="280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</a:pPr>
            <a:r>
              <a:rPr lang="en-GB" b="1" dirty="0">
                <a:solidFill>
                  <a:srgbClr val="FFFF00"/>
                </a:solidFill>
              </a:rPr>
              <a:t>5MMCS001W				Lecture 02a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lang="en-GB" sz="2400" u="sng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https://playcanv.as/p/sAsiDvtC/</a:t>
            </a:r>
            <a:endParaRPr sz="2400" dirty="0">
              <a:solidFill>
                <a:srgbClr val="00B0F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</a:pPr>
            <a:r>
              <a:rPr lang="en-GB" sz="2400" b="1" u="sng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https://threejs.org/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  <a:r>
              <a:rPr lang="en-GB" sz="2400" b="1" u="sng" dirty="0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https://saydnaya.amnesty.org</a:t>
            </a:r>
            <a:endParaRPr sz="2400" dirty="0">
              <a:solidFill>
                <a:srgbClr val="00B0F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CW Overview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Reference, Previous Student Work:</a:t>
            </a:r>
            <a:endParaRPr/>
          </a:p>
          <a:p>
            <a:pPr marL="342900" indent="-342900"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ea typeface="Quattrocento Sans"/>
                <a:sym typeface="Quattrocento Sans"/>
                <a:hlinkClick r:id="rId3"/>
              </a:rPr>
              <a:t>https://uowdigital.padlet.org/fergusj/3dimd-cw-samples-2025-1f4w3m19lc80m9cf</a:t>
            </a:r>
            <a:r>
              <a:rPr lang="en-GB" sz="2400">
                <a:solidFill>
                  <a:srgbClr val="FFFFFF"/>
                </a:solidFill>
                <a:ea typeface="Quattrocento Sans"/>
                <a:sym typeface="Quattrocento Sans"/>
              </a:rPr>
              <a:t> </a:t>
            </a: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Interactive Media Development</a:t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414202" y="1412775"/>
            <a:ext cx="69921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Covered in this Lecture: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3DUI Overview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Basic Concepts and Techniques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CW Methodology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CW Overview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Groups Brainstorm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3851920" y="2565048"/>
            <a:ext cx="1296556" cy="1296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876256" y="2564904"/>
            <a:ext cx="1296556" cy="1296000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Workflow – 3DUI for Interactive VE*</a:t>
            </a:r>
            <a:endParaRPr/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832" y="2564904"/>
            <a:ext cx="1296000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2745053" y="2996880"/>
            <a:ext cx="432048" cy="43204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787543" y="2996880"/>
            <a:ext cx="432048" cy="43204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91832" y="3860904"/>
            <a:ext cx="2268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3DS Max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Texturing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Fbx</a:t>
            </a: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34322" y="4077216"/>
            <a:ext cx="2268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Unity3D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Shaders</a:t>
            </a: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Lighting</a:t>
            </a:r>
            <a:b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C# Interaction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C# Navigation</a:t>
            </a:r>
            <a:b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C# System States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876256" y="3860904"/>
            <a:ext cx="2267744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WebGL</a:t>
            </a: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Chrome or Firefox</a:t>
            </a:r>
            <a:b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Keyboard Input</a:t>
            </a:r>
            <a:b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Mouse Input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2703442" y="3573016"/>
            <a:ext cx="515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Fbx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832" y="2618904"/>
            <a:ext cx="1188000" cy="11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51920" y="2591207"/>
            <a:ext cx="1269841" cy="1269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4248" y="2876761"/>
            <a:ext cx="1405651" cy="5847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319991" y="1556792"/>
            <a:ext cx="2401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*Virtual Environment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Virtual Environment – 3DUI Needed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422951" y="1340768"/>
            <a:ext cx="8253505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its most basic, we need some sort of 3D UI to interact with a Virtual Environment.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may think we know instinctively what a VE is, but to correctly define and use 3D UI concepts, we must know what flavour of VE we are using or need.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is complicated greatly by public perceptions of VEs and the misnaming and misconceptions that happens.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458260" y="1376772"/>
            <a:ext cx="8218195" cy="4860284"/>
          </a:xfrm>
          <a:prstGeom prst="rect">
            <a:avLst/>
          </a:prstGeom>
          <a:solidFill>
            <a:srgbClr val="F18B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Basic - Mixed Reality Scale</a:t>
            </a:r>
            <a:endParaRPr/>
          </a:p>
        </p:txBody>
      </p:sp>
      <p:pic>
        <p:nvPicPr>
          <p:cNvPr id="93" name="Google Shape;93;p6" descr="https://wiki.mq.edu.au/download/attachments/132089141/slide-15-728.jpg?version=1&amp;modificationDate=1375330923000&amp;api=v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434922"/>
            <a:ext cx="2497339" cy="187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6" descr="https://wiki.mq.edu.au/download/attachments/132089141/slide-14-728.jpg?version=1&amp;modificationDate=1375330930000&amp;api=v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5626" y="3428598"/>
            <a:ext cx="2497339" cy="187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 descr="https://wiki.mq.edu.au/download/attachments/132089141/slide-12-728.jpg?version=1&amp;modificationDate=1375330939000&amp;api=v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4168" y="3422676"/>
            <a:ext cx="2504709" cy="1878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 descr="https://wiki.mq.edu.au/download/attachments/132089141/AR%20mixed%20reality%20continuum.png?version=1&amp;modificationDate=1373427126000&amp;api=v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331" y="1484784"/>
            <a:ext cx="82391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Basic – VE Permutations – Part 1</a:t>
            </a:r>
            <a:endParaRPr/>
          </a:p>
        </p:txBody>
      </p:sp>
      <p:sp>
        <p:nvSpPr>
          <p:cNvPr id="338" name="Google Shape;338;p36"/>
          <p:cNvSpPr txBox="1"/>
          <p:nvPr/>
        </p:nvSpPr>
        <p:spPr>
          <a:xfrm>
            <a:off x="395524" y="1340775"/>
            <a:ext cx="8365200" cy="538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3DIMD examples </a:t>
            </a:r>
            <a:endParaRPr lang="en-US" sz="2000"/>
          </a:p>
          <a:p>
            <a:r>
              <a:rPr lang="en-GB" sz="2000">
                <a:solidFill>
                  <a:srgbClr val="FF0000"/>
                </a:solidFill>
                <a:ea typeface="Quattrocento Sans"/>
                <a:sym typeface="Quattrocento Sans"/>
                <a:hlinkClick r:id="rId3"/>
              </a:rPr>
              <a:t>https://uowdigital.padlet.org/fergusj/3dimd-cw-samples-5ohcvanq1wlcq0h9</a:t>
            </a:r>
            <a:r>
              <a:rPr lang="en-GB" sz="2000">
                <a:solidFill>
                  <a:srgbClr val="FF0000"/>
                </a:solidFill>
                <a:ea typeface="Quattrocento Sans"/>
                <a:sym typeface="Quattrocento Sans"/>
              </a:rPr>
              <a:t> </a:t>
            </a:r>
            <a:endParaRPr sz="2000"/>
          </a:p>
          <a:p>
            <a:endParaRPr lang="en-GB" sz="2000" u="sng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 Platforms</a:t>
            </a:r>
            <a:endParaRPr sz="20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https://padlet.com/sselwood1/VirtualMeeting</a:t>
            </a:r>
            <a:endParaRPr sz="2000">
              <a:solidFill>
                <a:srgbClr val="FF0000"/>
              </a:solidFill>
              <a:latin typeface="Quattrocento Sans"/>
              <a:ea typeface="Quattrocento Sans"/>
              <a:cs typeface="Quattrocento Sans"/>
            </a:endParaRPr>
          </a:p>
          <a:p>
            <a:endParaRPr lang="en-GB" sz="20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XR In Industry</a:t>
            </a:r>
            <a:endParaRPr sz="2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https://uowdigital.padlet.org/fergusj/XRinIndustry</a:t>
            </a:r>
            <a:endParaRPr sz="2000" u="sng">
              <a:solidFill>
                <a:schemeClr val="dk2"/>
              </a:solidFill>
              <a:latin typeface="Quattrocento Sans"/>
              <a:ea typeface="Quattrocento Sans"/>
              <a:cs typeface="Quattrocento Sans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sz="2000" u="sng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XR Lab - </a:t>
            </a:r>
            <a:r>
              <a:rPr lang="en-GB" sz="2000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Now Immersive Development Lab </a:t>
            </a:r>
            <a:endParaRPr lang="en-US" sz="20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0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 Lab FYP Examples</a:t>
            </a:r>
            <a:endParaRPr lang="en-US" sz="2000">
              <a:solidFill>
                <a:schemeClr val="dk2"/>
              </a:solidFill>
              <a:latin typeface="Quattrocento Sans"/>
              <a:ea typeface="Quattrocento Sans"/>
              <a:cs typeface="Quattrocento Sans"/>
            </a:endParaRPr>
          </a:p>
          <a:p>
            <a:r>
              <a:rPr lang="en-GB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</a:t>
            </a:r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Lab Demo Videos</a:t>
            </a:r>
            <a:endParaRPr lang="en-GB" sz="2000">
              <a:solidFill>
                <a:srgbClr val="FFFFFF"/>
              </a:solidFill>
              <a:latin typeface="Quattrocento Sans"/>
              <a:ea typeface="Quattrocento Sans"/>
              <a:cs typeface="Quattrocento Sans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…and some misnomers</a:t>
            </a:r>
            <a:endParaRPr lang="en-US" sz="2000">
              <a:solidFill>
                <a:srgbClr val="FFFFFF"/>
              </a:solidFill>
              <a:latin typeface="Quattrocen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Holograms</a:t>
            </a:r>
            <a:r>
              <a:rPr lang="en-US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No</a:t>
            </a:r>
            <a:endParaRPr lang="en-US" sz="2000">
              <a:solidFill>
                <a:srgbClr val="FFFFFF"/>
              </a:solidFill>
              <a:latin typeface="Quattrocen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</a:t>
            </a:r>
            <a:r>
              <a:rPr lang="en-US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Reality (360 Video)</a:t>
            </a:r>
            <a:endParaRPr lang="en-US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240062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3DUI VR </a:t>
            </a: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467550" y="1124751"/>
            <a:ext cx="8496900" cy="5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endParaRPr lang="en-GB" sz="15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Immersive (VR) Journalism</a:t>
            </a:r>
            <a:endParaRPr sz="170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Fishtank VR - Google Cardboard 6 x 9</a:t>
            </a:r>
            <a:endParaRPr sz="1700"/>
          </a:p>
          <a:p>
            <a:pPr marL="914400" lvl="2"/>
            <a:r>
              <a:rPr lang="en-GB" sz="1700" i="0" strike="noStrike" cap="none">
                <a:solidFill>
                  <a:srgbClr val="FFFF00"/>
                </a:solidFill>
                <a:ea typeface="Quattrocento Sans"/>
                <a:sym typeface="Quattrocento Sans"/>
                <a:hlinkClick r:id="rId3"/>
              </a:rPr>
              <a:t>https://www.theguardian.com/world/ng-interactive/2016/apr/27/6x9-a-virtual-experience-of-solitary-confinement</a:t>
            </a:r>
            <a:r>
              <a:rPr lang="en-GB" sz="1700">
                <a:solidFill>
                  <a:srgbClr val="FFFF00"/>
                </a:solidFill>
                <a:ea typeface="Quattrocento Sans"/>
                <a:sym typeface="Quattrocento Sans"/>
              </a:rPr>
              <a:t> </a:t>
            </a:r>
            <a:endParaRPr sz="1700"/>
          </a:p>
          <a:p>
            <a:pPr marL="914400" lvl="2"/>
            <a:r>
              <a:rPr lang="en-GB" sz="170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VR – Harvest of Change</a:t>
            </a: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endParaRPr lang="en-GB" sz="1700">
              <a:ea typeface="Quattrocento Sans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i="0" u="sng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http://www.desmoinesregister.com/story/money/agriculture/2014/09/17/harvest-of-change-virtual-farm-virtual-reality/15785377/</a:t>
            </a:r>
            <a:endParaRPr sz="170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Syrian Prison</a:t>
            </a:r>
            <a:endParaRPr sz="1700"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i="0" u="sng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https://saydnaya.amnesty.org/</a:t>
            </a:r>
            <a:endParaRPr sz="1700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360 Image/Video w/ 3DUI </a:t>
            </a:r>
            <a:endParaRPr sz="1700"/>
          </a:p>
          <a:p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r>
              <a:rPr lang="en-GB" sz="1700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HoloBuilder</a:t>
            </a: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GB" sz="1700">
                <a:solidFill>
                  <a:srgbClr val="FFFF00"/>
                </a:solidFill>
                <a:ea typeface="Quattrocento Sans"/>
                <a:sym typeface="Quattrocento Sans"/>
                <a:hlinkClick r:id="rId6"/>
              </a:rPr>
              <a:t>https://www.holobuilder.com/</a:t>
            </a:r>
            <a:r>
              <a:rPr lang="en-GB" sz="1700">
                <a:solidFill>
                  <a:srgbClr val="FFFF00"/>
                </a:solidFill>
                <a:ea typeface="Quattrocento Sans"/>
                <a:sym typeface="Quattrocento Sans"/>
              </a:rPr>
              <a:t> </a:t>
            </a:r>
            <a:endParaRPr sz="1700">
              <a:solidFill>
                <a:srgbClr val="FFFF00"/>
              </a:solidFill>
              <a:ea typeface="Quattrocento Sans"/>
            </a:endParaRPr>
          </a:p>
          <a:p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VR with POV </a:t>
            </a:r>
            <a:endParaRPr sz="17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BBC Taster </a:t>
            </a:r>
            <a:r>
              <a:rPr lang="en-GB" sz="1700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http://www.bbc.co.uk/taster/</a:t>
            </a:r>
            <a:endParaRPr sz="17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VR with 3D Input</a:t>
            </a:r>
            <a:endParaRPr sz="1700"/>
          </a:p>
          <a:p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r>
              <a:rPr lang="en-GB" sz="1700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Vive</a:t>
            </a: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Job Simulator  </a:t>
            </a:r>
            <a:r>
              <a:rPr lang="en-GB" sz="1700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http://jobsimulatorgame.com/</a:t>
            </a:r>
            <a:endParaRPr sz="17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Ikea VR </a:t>
            </a:r>
            <a:r>
              <a:rPr lang="en-GB" sz="1700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https://www.youtube.com/watch?v=1S0GO5kbMYo</a:t>
            </a:r>
            <a:endParaRPr sz="17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Vive Tilt Brush </a:t>
            </a:r>
            <a:r>
              <a:rPr lang="en-GB" sz="1700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https://www.youtube.com/watch?v=aocLCCvJTBU</a:t>
            </a: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GB" sz="17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https://www.youtube.com/watch?v=GSbkn6mCfXE</a:t>
            </a:r>
            <a:endParaRPr lang="en-GB" sz="17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endParaRPr lang="en-GB" sz="1500" u="sng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78175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GB"/>
              <a:t>3DUI New Platforms </a:t>
            </a: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467550" y="1124751"/>
            <a:ext cx="8496900" cy="5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>
              <a:solidFill>
                <a:srgbClr val="FFFF00"/>
              </a:solidFill>
              <a:latin typeface="Calibri"/>
            </a:endParaRPr>
          </a:p>
          <a:p>
            <a:r>
              <a:rPr lang="en-GB" sz="2400">
                <a:solidFill>
                  <a:srgbClr val="FFFF00"/>
                </a:solidFill>
                <a:latin typeface="Calibri"/>
                <a:ea typeface="Quattrocento Sans"/>
              </a:rPr>
              <a:t>Larger Recent Ecosystem:</a:t>
            </a:r>
          </a:p>
          <a:p>
            <a:pPr marR="0" algn="l">
              <a:spcBef>
                <a:spcPts val="0"/>
              </a:spcBef>
              <a:spcAft>
                <a:spcPts val="0"/>
              </a:spcAft>
              <a:buNone/>
            </a:pPr>
            <a:endParaRPr lang="en-GB" sz="1500">
              <a:solidFill>
                <a:srgbClr val="FFFF00"/>
              </a:solidFill>
              <a:ea typeface="Quattrocento Sans"/>
            </a:endParaRPr>
          </a:p>
          <a:p>
            <a:pPr marR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FF00"/>
                </a:solidFill>
                <a:hlinkClick r:id="rId3"/>
              </a:rPr>
              <a:t>https://uowdigital.padlet.org/fergusj/web3d-and-web3-ecosystem-9xv91ovkasaaviua</a:t>
            </a:r>
            <a:endParaRPr lang="en-GB"/>
          </a:p>
          <a:p>
            <a:pPr marR="0" algn="l">
              <a:spcBef>
                <a:spcPts val="0"/>
              </a:spcBef>
              <a:spcAft>
                <a:spcPts val="0"/>
              </a:spcAft>
              <a:buNone/>
            </a:pPr>
            <a:endParaRPr lang="en-GB" sz="1500" i="0" u="none" strike="noStrike" cap="none">
              <a:solidFill>
                <a:srgbClr val="FFFF00"/>
              </a:solidFill>
              <a:ea typeface="Quattrocento Sans"/>
            </a:endParaRPr>
          </a:p>
          <a:p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Web3D (WebGL/GPU)</a:t>
            </a:r>
            <a:endParaRPr lang="en-US"/>
          </a:p>
          <a:p>
            <a:r>
              <a:rPr lang="en-GB" sz="24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WebXR</a:t>
            </a:r>
          </a:p>
          <a:p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Includes WebRTC, </a:t>
            </a:r>
            <a:r>
              <a:rPr lang="en-GB" sz="24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WebVR</a:t>
            </a: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GB" sz="24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WebAR</a:t>
            </a: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 and other </a:t>
            </a:r>
            <a:r>
              <a:rPr lang="en-GB" sz="24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openprotocols</a:t>
            </a: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and file formats</a:t>
            </a:r>
          </a:p>
          <a:p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Web3 – tokenisation allowing for self-publishing and interoperability on above protocols</a:t>
            </a:r>
          </a:p>
          <a:p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800100" lvl="1" indent="-190500">
              <a:buClr>
                <a:srgbClr val="FFFFFF"/>
              </a:buClr>
              <a:buSzPts val="2400"/>
            </a:pPr>
            <a:endParaRPr lang="en-US" sz="24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endParaRPr lang="en-US"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endParaRPr lang="en-US"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8573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GB"/>
              <a:t>3DUI Reading List</a:t>
            </a: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458550" y="1124751"/>
            <a:ext cx="4347900" cy="57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>
              <a:solidFill>
                <a:srgbClr val="FFFF00"/>
              </a:solidFill>
              <a:latin typeface="Calibri"/>
            </a:endParaRPr>
          </a:p>
          <a:p>
            <a:r>
              <a:rPr lang="en-GB" sz="2400">
                <a:solidFill>
                  <a:srgbClr val="FFFFFF"/>
                </a:solidFill>
                <a:ea typeface="Calibri"/>
                <a:hlinkClick r:id="rId3"/>
              </a:rPr>
              <a:t>Reading</a:t>
            </a:r>
            <a:r>
              <a:rPr lang="en-GB" sz="2400">
                <a:solidFill>
                  <a:srgbClr val="FFFF00"/>
                </a:solidFill>
                <a:ea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List for Module</a:t>
            </a:r>
            <a:endParaRPr lang="en-GB" sz="2400">
              <a:solidFill>
                <a:srgbClr val="FFFFFF"/>
              </a:solidFill>
              <a:ea typeface="Calibri"/>
            </a:endParaRPr>
          </a:p>
          <a:p>
            <a:endParaRPr lang="en-GB" sz="2400">
              <a:solidFill>
                <a:srgbClr val="FFFFFF"/>
              </a:solidFill>
              <a:ea typeface="Calibri"/>
            </a:endParaRPr>
          </a:p>
          <a:p>
            <a:r>
              <a:rPr lang="en-GB" sz="2400">
                <a:solidFill>
                  <a:srgbClr val="FFFF00"/>
                </a:solidFill>
                <a:ea typeface="Calibri"/>
              </a:rPr>
              <a:t>Look at </a:t>
            </a:r>
            <a:r>
              <a:rPr lang="en-GB" sz="2400">
                <a:solidFill>
                  <a:schemeClr val="bg2"/>
                </a:solidFill>
                <a:ea typeface="Calibri"/>
              </a:rPr>
              <a:t>docs.unity3d.com</a:t>
            </a:r>
            <a:endParaRPr lang="en-US" sz="2400">
              <a:solidFill>
                <a:schemeClr val="bg2"/>
              </a:solidFill>
              <a:ea typeface="Calibri"/>
            </a:endParaRPr>
          </a:p>
          <a:p>
            <a:endParaRPr lang="en-GB" sz="2400">
              <a:solidFill>
                <a:srgbClr val="FFFFFF"/>
              </a:solidFill>
              <a:ea typeface="Calibri"/>
            </a:endParaRPr>
          </a:p>
          <a:p>
            <a:r>
              <a:rPr lang="en-GB" sz="2400">
                <a:solidFill>
                  <a:srgbClr val="FFFF00"/>
                </a:solidFill>
                <a:ea typeface="Calibri"/>
              </a:rPr>
              <a:t>Select version 6000.0 top left</a:t>
            </a:r>
            <a:endParaRPr lang="en-US" sz="2400">
              <a:solidFill>
                <a:srgbClr val="FFFFFF"/>
              </a:solidFill>
              <a:ea typeface="Calibri"/>
            </a:endParaRPr>
          </a:p>
          <a:p>
            <a:endParaRPr lang="en-GB" sz="2400">
              <a:solidFill>
                <a:srgbClr val="FFFFFF"/>
              </a:solidFill>
              <a:ea typeface="Calibri"/>
            </a:endParaRPr>
          </a:p>
          <a:p>
            <a:r>
              <a:rPr lang="en-GB" sz="2400">
                <a:solidFill>
                  <a:srgbClr val="FFFF00"/>
                </a:solidFill>
                <a:ea typeface="Calibri"/>
              </a:rPr>
              <a:t>Check Manual/Scripting API</a:t>
            </a:r>
            <a:endParaRPr lang="en-GB" sz="2400">
              <a:solidFill>
                <a:srgbClr val="FFFFFF"/>
              </a:solidFill>
            </a:endParaRPr>
          </a:p>
          <a:p>
            <a:endParaRPr lang="en-GB" sz="1600">
              <a:solidFill>
                <a:srgbClr val="FFFFFF"/>
              </a:solidFill>
              <a:ea typeface="Calibri"/>
            </a:endParaRPr>
          </a:p>
          <a:p>
            <a:r>
              <a:rPr lang="en-GB" sz="1600">
                <a:solidFill>
                  <a:srgbClr val="FFFF00"/>
                </a:solidFill>
                <a:ea typeface="Calibri"/>
              </a:rPr>
              <a:t>Scripting API</a:t>
            </a:r>
            <a:endParaRPr lang="en-US" sz="1600">
              <a:solidFill>
                <a:srgbClr val="FFFFFF"/>
              </a:solidFill>
              <a:ea typeface="Calibri"/>
            </a:endParaRPr>
          </a:p>
          <a:p>
            <a:r>
              <a:rPr lang="en-GB" sz="1600">
                <a:solidFill>
                  <a:schemeClr val="bg2"/>
                </a:solidFill>
                <a:ea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https://docs.unity3d.com/6000.0/Documentation/ScriptReference/Input.html</a:t>
            </a:r>
            <a:r>
              <a:rPr lang="en-GB" sz="1600">
                <a:solidFill>
                  <a:schemeClr val="bg2"/>
                </a:solidFill>
                <a:ea typeface="Calibri"/>
              </a:rPr>
              <a:t> </a:t>
            </a:r>
            <a:endParaRPr lang="en-GB" sz="1600">
              <a:solidFill>
                <a:schemeClr val="bg2"/>
              </a:solidFill>
            </a:endParaRPr>
          </a:p>
          <a:p>
            <a:endParaRPr lang="en-GB" sz="1600">
              <a:solidFill>
                <a:srgbClr val="FFFFFF"/>
              </a:solidFill>
              <a:ea typeface="Calibri"/>
            </a:endParaRPr>
          </a:p>
          <a:p>
            <a:r>
              <a:rPr lang="en-GB" sz="1600">
                <a:solidFill>
                  <a:srgbClr val="FFFF00"/>
                </a:solidFill>
                <a:ea typeface="Calibri"/>
              </a:rPr>
              <a:t>Manual</a:t>
            </a:r>
            <a:endParaRPr lang="en-GB" sz="1600">
              <a:solidFill>
                <a:srgbClr val="FFFFFF"/>
              </a:solidFill>
            </a:endParaRPr>
          </a:p>
          <a:p>
            <a:r>
              <a:rPr lang="en-GB" sz="1600">
                <a:solidFill>
                  <a:schemeClr val="bg2"/>
                </a:solidFill>
                <a:ea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https://docs.unity3d.com/6000.0/Documentation/Manual/class-InputManager.html</a:t>
            </a:r>
            <a:r>
              <a:rPr lang="en-GB" sz="1600">
                <a:solidFill>
                  <a:schemeClr val="bg2"/>
                </a:solidFill>
                <a:ea typeface="Calibri"/>
              </a:rPr>
              <a:t> </a:t>
            </a:r>
            <a:endParaRPr lang="en-GB">
              <a:solidFill>
                <a:schemeClr val="bg2"/>
              </a:solidFill>
            </a:endParaRPr>
          </a:p>
          <a:p>
            <a:endParaRPr lang="en-GB" sz="2400">
              <a:solidFill>
                <a:srgbClr val="FFFF00"/>
              </a:solidFill>
              <a:ea typeface="Calibri"/>
            </a:endParaRPr>
          </a:p>
          <a:p>
            <a:endParaRPr lang="en-GB" sz="2400">
              <a:solidFill>
                <a:srgbClr val="FFFF00"/>
              </a:solidFill>
              <a:ea typeface="Calibri"/>
            </a:endParaRPr>
          </a:p>
          <a:p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800100" lvl="1" indent="-190500">
              <a:buClr>
                <a:srgbClr val="FFFFFF"/>
              </a:buClr>
              <a:buSzPts val="2400"/>
            </a:pPr>
            <a:endParaRPr lang="en-US" sz="24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endParaRPr lang="en-US"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endParaRPr lang="en-US"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E519700-2DE8-6E5E-CDD1-32B9FF435A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3400" y="1932176"/>
            <a:ext cx="3913199" cy="300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66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Basic – VE Assets</a:t>
            </a:r>
            <a:endParaRPr/>
          </a:p>
        </p:txBody>
      </p:sp>
      <p:sp>
        <p:nvSpPr>
          <p:cNvPr id="117" name="Google Shape;117;p9"/>
          <p:cNvSpPr txBox="1"/>
          <p:nvPr/>
        </p:nvSpPr>
        <p:spPr>
          <a:xfrm>
            <a:off x="458952" y="1535649"/>
            <a:ext cx="822506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Asset Creation: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MecaBricks</a:t>
            </a:r>
            <a:endParaRPr sz="2400" err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https://www.mecabricks.com/en/workshop</a:t>
            </a:r>
            <a:endParaRPr sz="24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endParaRPr lang="en-GB" sz="2400" i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LeoCad</a:t>
            </a:r>
            <a:endParaRPr sz="2400" err="1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r>
              <a:rPr lang="en-GB" sz="2400" u="sng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http://www.leocad.org/download.html</a:t>
            </a:r>
            <a:br>
              <a:rPr lang="en-GB" sz="2400" dirty="0">
                <a:latin typeface="Quattrocento Sans"/>
                <a:ea typeface="Quattrocento Sans"/>
                <a:cs typeface="Quattrocento Sans"/>
              </a:rPr>
            </a:br>
            <a:r>
              <a:rPr lang="en-GB" sz="2400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Lego Digital Designer on Windows and </a:t>
            </a:r>
            <a:endParaRPr lang="en-GB" dirty="0">
              <a:ea typeface="Quattrocento Sans"/>
              <a:sym typeface="Quattrocento Sans"/>
            </a:endParaRPr>
          </a:p>
          <a:p>
            <a:endParaRPr lang="en-GB" sz="24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Basic – VE Input and Output</a:t>
            </a:r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422952" y="2102649"/>
            <a:ext cx="7838684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work with a VE, we need Input and Output to the system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PC gives us a platform for the first VE.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Mouse and Keyboard are the Input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Screen is the output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 VE for PCs was the Desktop Paradigm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2D User Interface – Xerox Parc</a:t>
            </a: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467544" y="1268904"/>
            <a:ext cx="8280920" cy="719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Xerox Parc - 1970</a:t>
            </a:r>
            <a:endParaRPr/>
          </a:p>
        </p:txBody>
      </p:sp>
      <p:pic>
        <p:nvPicPr>
          <p:cNvPr id="132" name="Google Shape;132;p11" descr="The PARC build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668" y="1839739"/>
            <a:ext cx="5415728" cy="360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7904" y="3068960"/>
            <a:ext cx="5287702" cy="311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2031" y="1839739"/>
            <a:ext cx="3029275" cy="180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2D UI Paradigm – The Desktop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467544" y="1268904"/>
            <a:ext cx="8280920" cy="719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Xerox Alto – 1973 - GUI OS  - Advance from command line structure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0480" y="1916114"/>
            <a:ext cx="5868486" cy="482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576" y="2402404"/>
            <a:ext cx="3240360" cy="380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2D User Interface Paradigm - WIMP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467544" y="1484928"/>
            <a:ext cx="8280920" cy="446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WIMP – Window, Icon, Mouse, Pointer</a:t>
            </a:r>
            <a:endParaRPr/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A.K.A. GUI or Graphical User Interface – used to describe 2D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Characteristics: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Traditional Desktop Paradigm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Devices – Mouse and Keyboard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 Devices – Monitor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Interaction techniques – Click, Drag and Drop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 Widget – Pull Down Menu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Bin can change the system state of an object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2D User Interface Paradigm - WIMP</a:t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179512" y="594928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By Shmuel Csaba Otto Traian, CC BY-SA 3.0, https://commons.wikimedia.org/w/index.php?curid=31693853</a:t>
            </a:r>
            <a:endParaRPr/>
          </a:p>
        </p:txBody>
      </p:sp>
      <p:pic>
        <p:nvPicPr>
          <p:cNvPr id="158" name="Google Shape;1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4" y="1124744"/>
            <a:ext cx="8208912" cy="4617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Quattrocento Sans"/>
              <a:buNone/>
            </a:pPr>
            <a:r>
              <a:rPr lang="en-GB" sz="3859"/>
              <a:t>With WIMP comes HCI (key to 3DUI)</a:t>
            </a:r>
            <a:endParaRPr sz="3859"/>
          </a:p>
        </p:txBody>
      </p:sp>
      <p:sp>
        <p:nvSpPr>
          <p:cNvPr id="165" name="Google Shape;165;p15"/>
          <p:cNvSpPr/>
          <p:nvPr/>
        </p:nvSpPr>
        <p:spPr>
          <a:xfrm>
            <a:off x="467544" y="1412920"/>
            <a:ext cx="8280920" cy="446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Really the start of Human Computer Interaction (HCI)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Looking at: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Bandwidth Disparity </a:t>
            </a:r>
            <a:endParaRPr>
              <a:solidFill>
                <a:schemeClr val="dk1"/>
              </a:solidFill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</a:t>
            </a:r>
            <a:endParaRPr>
              <a:solidFill>
                <a:schemeClr val="dk1"/>
              </a:solidFill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Psychology</a:t>
            </a:r>
            <a:endParaRPr>
              <a:solidFill>
                <a:schemeClr val="dk1"/>
              </a:solidFill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Spatial Perception</a:t>
            </a:r>
            <a:endParaRPr>
              <a:solidFill>
                <a:schemeClr val="dk1"/>
              </a:solidFill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Cognition </a:t>
            </a:r>
            <a:endParaRPr>
              <a:solidFill>
                <a:schemeClr val="dk1"/>
              </a:solidFill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Task/Control Mapping Efficacy</a:t>
            </a:r>
            <a:endParaRPr>
              <a:solidFill>
                <a:schemeClr val="dk1"/>
              </a:solidFill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Multi-Modal</a:t>
            </a:r>
            <a:endParaRPr>
              <a:solidFill>
                <a:schemeClr val="dk1"/>
              </a:solidFill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Concerned with Design, Efficacy, Innovative methods and devices, and aligning with human naturalistic behaviour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 b="1">
              <a:solidFill>
                <a:srgbClr val="FF0000"/>
              </a:solidFill>
              <a:latin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Quattrocento Sans"/>
              <a:buNone/>
            </a:pPr>
            <a:r>
              <a:rPr lang="en-GB" sz="3600"/>
              <a:t>“Off the Desktop” - Non-Traditional UI</a:t>
            </a:r>
            <a:endParaRPr sz="3600"/>
          </a:p>
        </p:txBody>
      </p:sp>
      <p:sp>
        <p:nvSpPr>
          <p:cNvPr id="172" name="Google Shape;172;p16"/>
          <p:cNvSpPr/>
          <p:nvPr/>
        </p:nvSpPr>
        <p:spPr>
          <a:xfrm>
            <a:off x="467544" y="1268904"/>
            <a:ext cx="8280920" cy="446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elements/concepts inappropriate for newer VEs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Mobiles need more graphical interfaces and less text and keyboard use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can be expanded upon to accommodate third dimension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Additional dimension is non-trivial matter – very complex issues arise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Quattrocento Sans"/>
              <a:buNone/>
            </a:pPr>
            <a:r>
              <a:rPr lang="en-GB" sz="3600"/>
              <a:t>“Off the Desktop” - Non-Traditional UI</a:t>
            </a:r>
            <a:endParaRPr sz="3600"/>
          </a:p>
        </p:txBody>
      </p:sp>
      <p:sp>
        <p:nvSpPr>
          <p:cNvPr id="179" name="Google Shape;179;p17"/>
          <p:cNvSpPr/>
          <p:nvPr/>
        </p:nvSpPr>
        <p:spPr>
          <a:xfrm>
            <a:off x="467544" y="1268904"/>
            <a:ext cx="8280920" cy="165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0004" y="3437270"/>
            <a:ext cx="1296000" cy="1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8312" y="3437270"/>
            <a:ext cx="1296000" cy="12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2399" y="3437270"/>
            <a:ext cx="1296000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982440" y="2636912"/>
            <a:ext cx="18277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Devices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149035" y="2646631"/>
            <a:ext cx="22427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Metaphors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3725165" y="2645182"/>
            <a:ext cx="205697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Concepts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GB"/>
              <a:t>Definitions - 3DUI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835696" y="1268904"/>
            <a:ext cx="6912768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Interaction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HCI where user’s tasks are carried out in a 3D spatial context with 3D input devices or 2D input devices with direct mappings to 3D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User Interface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A UI that involves 3D interaction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Interaction Technique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A method using hardware and software that allows a user to accomplish a task in a 3DUI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467544" y="1484784"/>
            <a:ext cx="1296000" cy="1296144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85885" y="1703197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67544" y="3140968"/>
            <a:ext cx="1296000" cy="129614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85885" y="3359381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67544" y="4869160"/>
            <a:ext cx="1296000" cy="129614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85885" y="5087573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Why 3DUI?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3D Interaction is relevant to real world tasks: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VEs operate in a similar way to the real world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VEs provide an immersive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presence</a:t>
            </a:r>
            <a:endParaRPr sz="24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allows use of natural interaction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interaction rather than abstracted gives:</a:t>
            </a:r>
            <a:endParaRPr/>
          </a:p>
          <a:p>
            <a:pPr marL="1371600" marR="0" lvl="2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Lower Cognitive Load</a:t>
            </a:r>
            <a:endParaRPr/>
          </a:p>
          <a:p>
            <a:pPr marL="1371600" marR="0" lvl="2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Information Transfer</a:t>
            </a:r>
            <a:endParaRPr/>
          </a:p>
          <a:p>
            <a:pPr marL="1828800" marR="0" lvl="3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bandwidth</a:t>
            </a:r>
            <a:endParaRPr/>
          </a:p>
          <a:p>
            <a:pPr marL="1828800" marR="0" lvl="3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Intuitive</a:t>
            </a:r>
            <a:endParaRPr/>
          </a:p>
          <a:p>
            <a:pPr marL="1828800" marR="0" lvl="3" indent="-457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quality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Why 3DUI?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3D Hardware and Software is mature: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Processing Devices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 Broadband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Highly networked software apps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as 3D platform – no plugins, downloads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Sensors, HMDs, Computer Vision and tracking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Binaural Audio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Haptics (Phones)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But….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VE is abstracted and relies on HCI, so…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opportunities than real world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intuitive than real world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Communication bandwidth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chance of: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loss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Lag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Corruption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Tiring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Perceptual Mismatch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ALSO…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Issues with 3D over 2D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Issues with Extra Dimension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C5D8F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C5D8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3DUI needs Simultaneous Operations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new Dimension brings freedom of movement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C5D8F1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C5D8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Coordinate Space Alignment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Scale, Registration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Input&lt;&gt;VE&lt;&gt;Output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Especially Problematic in AR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 has Virtual Camera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has Real World POV + Scale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 is varied and usually 2D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Tablet//Phone has In/Out Plane the same </a:t>
            </a:r>
            <a:endParaRPr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into 3DVE</a:t>
            </a:r>
            <a:endParaRPr/>
          </a:p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0" marR="0" lvl="3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And….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2DUI is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Mature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Now intuitive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Conceptually and perceptually familiar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 if compared to a good 3D UI, users can still interpret the 2DUI as more effective and efficient, even if proved otherwise. </a:t>
            </a: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&lt;Jacob and Sibert&gt; </a:t>
            </a:r>
            <a:r>
              <a:rPr lang="en-GB" sz="2400" u="sng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https://dl.acm.org/citation.cfm?id=142792</a:t>
            </a: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Why go on? - Advantages</a:t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Applications should be useful.</a:t>
            </a:r>
            <a:b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They can provide: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00B0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Scenario Context  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Gives added information layout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00B0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Immersion/Presence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Being There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00B0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Skills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has knowledge of world and interactions that are complex, these can be directly transferred.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00B0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Immediacy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 to feedback has short distance.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00B0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Bandwidth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 to feedback has rich information.</a:t>
            </a:r>
            <a:endParaRPr sz="18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Why go on?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they are being developed anyway….</a:t>
            </a: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Solution?</a:t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Novel 3DUI Design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Based on Real World or other metaphor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Based on popular use – touch, etc.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Complexity of options and the VE themselves requires innovation in various areas: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Psychology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HCI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Gamification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 must focus on the design of UI with input from various disciplines – simple ones work, more complex will require time and study (or Computer Vision advances)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Goals:</a:t>
            </a:r>
            <a:endParaRPr lang="en-US"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– efficient, accurate, productive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Usability – Ease of use, learning, comfort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Usefulness – Meets goals, transparent so can focus on task.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Achieved by: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Reducing Users Cognitive Load </a:t>
            </a:r>
            <a:r>
              <a:rPr lang="en-GB" sz="24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(Control to Task Mapping)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Interaction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Enhancing Spatial Knowledge</a:t>
            </a:r>
            <a:r>
              <a:rPr lang="en-GB" sz="24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(Perceptual Structure)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Gives Extra Information – Higher Bandwidth and Quality</a:t>
            </a:r>
            <a:endParaRPr dirty="0"/>
          </a:p>
          <a:p>
            <a:pPr marL="1714500" marR="0" lvl="3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GB" sz="20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Gives Presence – Immersive</a:t>
            </a:r>
            <a:endParaRPr sz="2400" b="1" i="0" u="none" strike="noStrike" cap="none" dirty="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 i="0" u="none" strike="noStrike" cap="none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 of Use</a:t>
            </a:r>
            <a:r>
              <a:rPr lang="en-GB" sz="24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(Motor Coordination, Tiring or Clash)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 Wenjun Beijing University of Posts and Telecommunications China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What is a 3DUI?</a:t>
            </a: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24744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Definitions – 3DUI (Again)</a:t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1835696" y="1268904"/>
            <a:ext cx="6912768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Interaction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HCI where user’s tasks are carried out in a 3D spatial context with 3D input devices or 2D input devices with direct mappings to 3D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User Interface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A UI that involves 3D interaction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Interaction Technique 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A method using hardware and software that allows a user to accomplish a task in a 3DUI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467544" y="1484784"/>
            <a:ext cx="1296000" cy="1296144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685885" y="1703197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467544" y="3140968"/>
            <a:ext cx="1296000" cy="129614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685885" y="3359381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467544" y="4869160"/>
            <a:ext cx="1296000" cy="129614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685885" y="5087573"/>
            <a:ext cx="859318" cy="859318"/>
          </a:xfrm>
          <a:prstGeom prst="star5">
            <a:avLst>
              <a:gd name="adj" fmla="val 27644"/>
              <a:gd name="hf" fmla="val 105146"/>
              <a:gd name="vf" fmla="val 1105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– HCI, UI</a:t>
            </a:r>
            <a:endParaRPr/>
          </a:p>
        </p:txBody>
      </p:sp>
      <p:sp>
        <p:nvSpPr>
          <p:cNvPr id="296" name="Google Shape;296;p31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 Computer Interaction </a:t>
            </a: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Low Bandwidth Communication between humans and computers</a:t>
            </a:r>
            <a:b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r>
              <a:rPr lang="en-GB" sz="2000" b="1" i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is imperfect and prone to misinterpretation, as computers only do what we tell them, and our language and interaction is some complex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Interface </a:t>
            </a: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medium of communication between users and computers.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This is a translation system of sorts. The Computer language is quite raw and alien, an needs an abstraction layer itself. Our interface with this abstraction layer adds another of possible confusion.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 sz="3600"/>
              <a:t>Terminology – Interaction Technique</a:t>
            </a:r>
            <a:endParaRPr sz="3600"/>
          </a:p>
        </p:txBody>
      </p:sp>
      <p:sp>
        <p:nvSpPr>
          <p:cNvPr id="303" name="Google Shape;303;p32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Interaction Technique: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method allowing the user to accomplish a task via the UI.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interaction technique includes both hardware (I/O Devices) and software components.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interaction technique’s software component is responsible for: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Mapping the information from the input device or devices into some action within the system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Mapping the output of the system to a form that can be displayed by the out device(s).</a:t>
            </a:r>
            <a:endParaRPr sz="2400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– 3D Interaction</a:t>
            </a: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Interaction: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HCI with tasks directly in 3D space, can use: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Quattrocento Sans"/>
              <a:buAutoNum type="arabicPeriod"/>
            </a:pPr>
            <a:r>
              <a:rPr lang="en-GB" sz="2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input devices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Quattrocento Sans"/>
              <a:buAutoNum type="arabicPeriod"/>
            </a:pPr>
            <a:r>
              <a:rPr lang="en-GB" sz="2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input devices with direct mappings to 3D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https://www.youtube.com/watch?v=tfU1yLwDdak</a:t>
            </a: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Jacob and Sibert – Integrated vs separable – both real world inputs and virtual control systems accepting them….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https://dl.acm.org/citation.cfm?id=142792</a:t>
            </a: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– Input Devices</a:t>
            </a:r>
            <a:endParaRPr/>
          </a:p>
        </p:txBody>
      </p:sp>
      <p:sp>
        <p:nvSpPr>
          <p:cNvPr id="317" name="Google Shape;317;p34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Dof</a:t>
            </a: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– Degrees of freedom – 1,2,3,6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Integral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Separable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2dof – Mouse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3dof – Mouse with scroll wheel (s) or 3D mouse (s)</a:t>
            </a:r>
            <a:endParaRPr/>
          </a:p>
          <a:p>
            <a:pPr marL="342900" indent="-342900"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3dof – magnetic tracker </a:t>
            </a:r>
            <a:r>
              <a:rPr lang="en-GB" sz="2400">
                <a:solidFill>
                  <a:srgbClr val="FFFFFF"/>
                </a:solidFill>
                <a:ea typeface="Quattrocento Sans"/>
                <a:sym typeface="Quattrocento Sans"/>
                <a:hlinkClick r:id="rId3"/>
              </a:rPr>
              <a:t>https://www.intelligentultrasound.com/heartworks/</a:t>
            </a:r>
            <a:r>
              <a:rPr lang="en-GB" sz="2400">
                <a:solidFill>
                  <a:srgbClr val="FFFFFF"/>
                </a:solidFill>
                <a:ea typeface="Quattrocento Sans"/>
                <a:sym typeface="Quattrocento Sans"/>
              </a:rPr>
              <a:t> </a:t>
            </a: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6dof – Razer Hydra </a:t>
            </a:r>
            <a:endParaRPr lang="en-GB" sz="2400" b="1" u="sng">
              <a:solidFill>
                <a:srgbClr val="FF0000"/>
              </a:solidFill>
              <a:latin typeface="Quattrocento Sans"/>
              <a:ea typeface="Quattrocento Sans"/>
              <a:cs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– Input Data</a:t>
            </a:r>
            <a:endParaRPr/>
          </a:p>
        </p:txBody>
      </p:sp>
      <p:sp>
        <p:nvSpPr>
          <p:cNvPr id="324" name="Google Shape;324;p35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 - range of types and 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Electronics – Digital, Analog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Reported Values – Discrete, Continuous, Hybrid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Type – Boolean, Integer, Floating Point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Action – Active, Passive, Hybrid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Provision – Push, Pull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– Locator, Valuator, Choice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Frame of Reference – Relative, Absolute (Gyroscopic)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Properties – Position, Motion, Force</a:t>
            </a: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– Input Types</a:t>
            </a:r>
            <a:endParaRPr/>
          </a:p>
        </p:txBody>
      </p:sp>
      <p:sp>
        <p:nvSpPr>
          <p:cNvPr id="331" name="Google Shape;331;p36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 - range of types and 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Devices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Tracking Devices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Mice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 Purpose Devices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 Human Input – Natural Interaction</a:t>
            </a: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 sz="4300"/>
              <a:t>Terminology – Natural Interaction</a:t>
            </a:r>
            <a:endParaRPr sz="4300"/>
          </a:p>
        </p:txBody>
      </p:sp>
      <p:sp>
        <p:nvSpPr>
          <p:cNvPr id="338" name="Google Shape;338;p37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Natural Interaction: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PUI – Perceptual User Interface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CV – Computer Vision – Webcam tracking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Feature Tracking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Marker Tracking – Active, Passive, Fiducial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of Flight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Infrared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GB" sz="2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Laser Pattern</a:t>
            </a: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- Usability</a:t>
            </a:r>
            <a:endParaRPr/>
          </a:p>
        </p:txBody>
      </p:sp>
      <p:sp>
        <p:nvSpPr>
          <p:cNvPr id="345" name="Google Shape;345;p38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Usability: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Characteristics affecting efficacy, ease, comfort, performance.</a:t>
            </a:r>
            <a:endParaRPr sz="2400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Terminology – 3DUI practical</a:t>
            </a:r>
            <a:endParaRPr/>
          </a:p>
        </p:txBody>
      </p:sp>
      <p:sp>
        <p:nvSpPr>
          <p:cNvPr id="352" name="Google Shape;352;p39"/>
          <p:cNvSpPr/>
          <p:nvPr/>
        </p:nvSpPr>
        <p:spPr>
          <a:xfrm>
            <a:off x="467544" y="1268904"/>
            <a:ext cx="8280920" cy="558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UI: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UI that involves 3D interaction – Input, Widgets.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3DS Max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r>
              <a:rPr lang="en-GB" sz="2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– 2D mouse control of 3D Gimbal/Widget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Kinect 2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r>
              <a:rPr lang="en-GB" sz="24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</a:t>
            </a:r>
            <a:r>
              <a:rPr lang="en-GB" sz="2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– 3D Natural Input and 3D direct control of objects via a Virtual Hand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3DUI Examples - Research</a:t>
            </a:r>
            <a:endParaRPr/>
          </a:p>
        </p:txBody>
      </p:sp>
      <p:sp>
        <p:nvSpPr>
          <p:cNvPr id="359" name="Google Shape;359;p40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Put That There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Mixed reality – Will Steptoe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Desktop AR, MR – Microsoft Holodesk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MR – Kinect 3D Scanned Puppets</a:t>
            </a: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3DUI Examples Web Dev</a:t>
            </a:r>
            <a:endParaRPr/>
          </a:p>
        </p:txBody>
      </p:sp>
      <p:sp>
        <p:nvSpPr>
          <p:cNvPr id="366" name="Google Shape;366;p41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Dev</a:t>
            </a:r>
            <a:endParaRPr lang="en-US">
              <a:solidFill>
                <a:srgbClr val="FFFF00"/>
              </a:solidFill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r>
              <a:rPr lang="en-GB" sz="2000" b="1" i="0" u="none" strike="noStrike" cap="none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Playcanvas</a:t>
            </a:r>
            <a:r>
              <a:rPr lang="en-GB" sz="20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Goo, Three.js, Babylon.js sandbox</a:t>
            </a:r>
            <a:endParaRPr>
              <a:solidFill>
                <a:srgbClr val="FFFF00"/>
              </a:solidFill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r>
              <a:rPr lang="en-GB" sz="2000" b="1" i="0" u="sng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https://en.wikipedia.org/wiki/List_of_WebGL_frameworks</a:t>
            </a: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>
              <a:solidFill>
                <a:srgbClr val="FFFF00"/>
              </a:solidFill>
              <a:latin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Codepen.io</a:t>
            </a:r>
            <a:endParaRPr lang="en-GB" sz="2000" b="1">
              <a:solidFill>
                <a:srgbClr val="FFFF00"/>
              </a:solidFill>
              <a:latin typeface="Quattrocento Sans"/>
            </a:endParaRPr>
          </a:p>
          <a:p>
            <a:pPr marL="457200" lvl="1"/>
            <a:r>
              <a:rPr lang="en-GB">
                <a:solidFill>
                  <a:srgbClr val="FFFF00"/>
                </a:solidFill>
                <a:hlinkClick r:id="rId4"/>
              </a:rPr>
              <a:t>https://codepen.io/search/pens?q=three.js&amp;cursor=ZD0xJm89MCZwPTE=</a:t>
            </a:r>
            <a:r>
              <a:rPr lang="en-GB" sz="2000">
                <a:solidFill>
                  <a:srgbClr val="FFFF00"/>
                </a:solidFill>
              </a:rPr>
              <a:t> </a:t>
            </a:r>
            <a:endParaRPr lang="en-GB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>
              <a:solidFill>
                <a:srgbClr val="FFFF00"/>
              </a:solidFill>
              <a:latin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A-Frame</a:t>
            </a:r>
            <a:endParaRPr>
              <a:solidFill>
                <a:srgbClr val="FFFF00"/>
              </a:solidFill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sng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https://aframe.io/</a:t>
            </a: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sng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https://threejs.org/</a:t>
            </a: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i="0" u="sng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lvl="1"/>
            <a:r>
              <a:rPr lang="en-GB" sz="2000" b="1" u="sng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</a:rPr>
              <a:t>New Ecosystem:</a:t>
            </a:r>
            <a:endParaRPr lang="en-GB" sz="2000" b="1" i="0" u="sng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lvl="1"/>
            <a:r>
              <a:rPr lang="en-GB" sz="2000">
                <a:solidFill>
                  <a:srgbClr val="FF0000"/>
                </a:solidFill>
                <a:hlinkClick r:id="rId7"/>
              </a:rPr>
              <a:t>https://uowdigital.padlet.org/fergusj/web-web3d-and-web3-ecosystem-9xv91ovkasaaviua</a:t>
            </a:r>
            <a:r>
              <a:rPr lang="en-GB" sz="2000">
                <a:solidFill>
                  <a:srgbClr val="FF0000"/>
                </a:solidFill>
              </a:rPr>
              <a:t> </a:t>
            </a:r>
            <a:endParaRPr lang="en-GB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0000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L="342900" marR="0" indent="-190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endParaRPr lang="en-US"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endParaRPr lang="en-US"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</a:pPr>
            <a:r>
              <a:rPr lang="en-GB"/>
              <a:t>References </a:t>
            </a:r>
            <a:endParaRPr/>
          </a:p>
        </p:txBody>
      </p:sp>
      <p:sp>
        <p:nvSpPr>
          <p:cNvPr id="373" name="Google Shape;373;p42"/>
          <p:cNvSpPr/>
          <p:nvPr/>
        </p:nvSpPr>
        <p:spPr>
          <a:xfrm>
            <a:off x="467544" y="1484784"/>
            <a:ext cx="8496944" cy="48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User Interfaces: Theory and Practice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Doug A. Bowman, Ernst Kruijff, Joseph J. LaViola, Ivan Poupyrev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Addison Wesley Longman Publishing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Three-Dimensional User Interface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 Wenjun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Beijing University of Posts and Telecommunications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China</a:t>
            </a: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800100" marR="0" lvl="1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380" name="Google Shape;380;p43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387" name="Google Shape;387;p44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8" name="Google Shape;388;p44"/>
          <p:cNvSpPr txBox="1"/>
          <p:nvPr/>
        </p:nvSpPr>
        <p:spPr>
          <a:xfrm>
            <a:off x="414197" y="1412776"/>
            <a:ext cx="7667997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Scalars, Points, Vectors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Basic types of entities to define geometric objects.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Defined from mathematical, programming and geometric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Perspective.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395" name="Google Shape;395;p45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6" name="Google Shape;396;p45"/>
          <p:cNvSpPr txBox="1"/>
          <p:nvPr/>
        </p:nvSpPr>
        <p:spPr>
          <a:xfrm>
            <a:off x="414197" y="1412776"/>
            <a:ext cx="8323123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3D geometric systems, a point is a location in space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location, no size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to use a reference or coordinate system to define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03" name="Google Shape;403;p46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4" name="Google Shape;404;p46"/>
          <p:cNvSpPr txBox="1"/>
          <p:nvPr/>
        </p:nvSpPr>
        <p:spPr>
          <a:xfrm>
            <a:off x="414200" y="1412775"/>
            <a:ext cx="84540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Vectors (Lines)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 points with Line Segments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Also called vectors (direction and magnitude – velocity, force)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Have direction and magnitude (length)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Have Scalar (magnitude) values – real number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11" name="Google Shape;411;p47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2" name="Google Shape;412;p47"/>
          <p:cNvSpPr txBox="1"/>
          <p:nvPr/>
        </p:nvSpPr>
        <p:spPr>
          <a:xfrm>
            <a:off x="414197" y="1412776"/>
            <a:ext cx="840307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Vectors and Affine Spaces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Abstract spaces for representing them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(Vector) space – Vectors and Scalars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Scalar Field – combining Scalars with addition and multiplication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19" name="Google Shape;419;p48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414197" y="1412776"/>
            <a:ext cx="866070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Affine Spaces – </a:t>
            </a:r>
            <a:r>
              <a:rPr lang="en-GB" sz="1800" dirty="0">
                <a:solidFill>
                  <a:schemeClr val="bg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Coordinate Space. Vector space without an origin. Vectors cannot be summed. 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Vectors with magnitude but no reference.</a:t>
            </a:r>
            <a:endParaRPr lang="en-US"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 b="1">
              <a:solidFill>
                <a:schemeClr val="dk1"/>
              </a:solidFill>
              <a:latin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(Linear) Vector Space</a:t>
            </a:r>
            <a:endParaRPr lang="en-GB" sz="1600" b="1" dirty="0">
              <a:solidFill>
                <a:schemeClr val="dk1"/>
              </a:solidFill>
              <a:latin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vector space is a mathematical structure formed by a collection of elements called vectors, which may be added together and multiplied ("scaled") by numbers, called scalars in this context.</a:t>
            </a:r>
            <a:r>
              <a:rPr lang="en-GB" sz="1800" dirty="0"/>
              <a:t> </a:t>
            </a:r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 point addition can create a new point. Vector is from two points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Euclidean Space</a:t>
            </a:r>
            <a:endParaRPr lang="en-GB" sz="1800" dirty="0">
              <a:solidFill>
                <a:srgbClr val="FFFFFF"/>
              </a:solidFill>
              <a:ea typeface="Quattrocento Sans"/>
              <a:sym typeface="Quattrocento Sans"/>
            </a:endParaRPr>
          </a:p>
          <a:p>
            <a:r>
              <a:rPr lang="en-GB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Fundamental space of geometry, defining physical world. Adds measure of size or distance and angle. 3D programs use this to make a representation of the world.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19" name="Google Shape;419;p48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414197" y="1412776"/>
            <a:ext cx="86607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sym typeface="Quattrocento Sans"/>
              </a:rPr>
              <a:t>A </a:t>
            </a:r>
            <a:r>
              <a:rPr lang="en-GB" sz="2400" b="1" dirty="0">
                <a:solidFill>
                  <a:schemeClr val="bg2"/>
                </a:solidFill>
                <a:latin typeface="Quattrocento Sans"/>
                <a:ea typeface="Quattrocento Sans"/>
                <a:sym typeface="Quattrocento Sans"/>
              </a:rPr>
              <a:t>Vector Space</a:t>
            </a: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sym typeface="Quattrocento Sans"/>
              </a:rPr>
              <a:t> is a structure composed of vectors and has no magnitude or dimension, whereas </a:t>
            </a:r>
            <a:r>
              <a:rPr lang="en-GB" sz="2400" b="1" dirty="0">
                <a:solidFill>
                  <a:schemeClr val="bg2"/>
                </a:solidFill>
                <a:latin typeface="Quattrocento Sans"/>
                <a:ea typeface="Quattrocento Sans"/>
                <a:sym typeface="Quattrocento Sans"/>
              </a:rPr>
              <a:t>Euclidean Space</a:t>
            </a: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sym typeface="Quattrocento Sans"/>
              </a:rPr>
              <a:t> can be of any dimension and is based on coordinates.</a:t>
            </a:r>
            <a:r>
              <a:rPr lang="en-GB" sz="2400" dirty="0">
                <a:ea typeface="Quattrocento Sans"/>
                <a:sym typeface="Quattrocento Sans"/>
              </a:rPr>
              <a:t> </a:t>
            </a:r>
            <a:endParaRPr lang="en-US" sz="2400" dirty="0">
              <a:ea typeface="Quattrocento Sans"/>
              <a:sym typeface="Quattrocento Sans"/>
            </a:endParaRPr>
          </a:p>
          <a:p>
            <a:endParaRPr lang="en-GB" sz="2400" b="1">
              <a:solidFill>
                <a:srgbClr val="FFFF00"/>
              </a:solidFill>
              <a:latin typeface="Quattrocento Sans"/>
              <a:ea typeface="Quattrocento Sans"/>
              <a:sym typeface="Quattrocento Sans"/>
            </a:endParaRPr>
          </a:p>
          <a:p>
            <a:r>
              <a:rPr lang="en-GB" sz="2400" b="1" dirty="0">
                <a:solidFill>
                  <a:schemeClr val="bg2"/>
                </a:solidFill>
                <a:latin typeface="Quattrocento Sans"/>
                <a:ea typeface="Quattrocento Sans"/>
                <a:sym typeface="Quattrocento Sans"/>
              </a:rPr>
              <a:t>Euclidian Spaces </a:t>
            </a: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sym typeface="Quattrocento Sans"/>
              </a:rPr>
              <a:t>are defined with size and distance between points, and can calculate angles between vectors. </a:t>
            </a:r>
            <a:endParaRPr lang="en-US" sz="2400" dirty="0">
              <a:ea typeface="Quattrocento Sans"/>
            </a:endParaRPr>
          </a:p>
          <a:p>
            <a:endParaRPr lang="en-GB" sz="2400" b="1">
              <a:solidFill>
                <a:srgbClr val="FFFF00"/>
              </a:solidFill>
              <a:latin typeface="Quattrocento Sans"/>
              <a:ea typeface="Quattrocento Sans"/>
              <a:sym typeface="Quattrocento Sans"/>
            </a:endParaRPr>
          </a:p>
          <a:p>
            <a:r>
              <a:rPr lang="en-GB" sz="2400" b="1" dirty="0">
                <a:solidFill>
                  <a:schemeClr val="bg2"/>
                </a:solidFill>
                <a:latin typeface="Quattrocento Sans"/>
                <a:ea typeface="Quattrocento Sans"/>
                <a:sym typeface="Quattrocento Sans"/>
              </a:rPr>
              <a:t>Cartesian Coordinates</a:t>
            </a: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sym typeface="Quattrocento Sans"/>
              </a:rPr>
              <a:t> can define </a:t>
            </a:r>
            <a:r>
              <a:rPr lang="en-GB" sz="2400" b="1" dirty="0">
                <a:solidFill>
                  <a:schemeClr val="bg2"/>
                </a:solidFill>
                <a:latin typeface="Quattrocento Sans"/>
                <a:ea typeface="Quattrocento Sans"/>
                <a:sym typeface="Quattrocento Sans"/>
              </a:rPr>
              <a:t>Euclidian Space.</a:t>
            </a:r>
            <a:endParaRPr lang="en-US" dirty="0">
              <a:solidFill>
                <a:schemeClr val="bg2"/>
              </a:solidFill>
              <a:ea typeface="Quattrocento Sans"/>
            </a:endParaRPr>
          </a:p>
          <a:p>
            <a:endParaRPr lang="en-GB" sz="2400" b="1">
              <a:solidFill>
                <a:srgbClr val="FFFF00"/>
              </a:solidFill>
              <a:latin typeface="Quattrocento Sans"/>
              <a:ea typeface="Quattrocento Sans"/>
              <a:sym typeface="Quattrocento Sans"/>
            </a:endParaRPr>
          </a:p>
          <a:p>
            <a:r>
              <a:rPr lang="en-GB" sz="2400" b="1" dirty="0">
                <a:solidFill>
                  <a:schemeClr val="bg2"/>
                </a:solidFill>
                <a:latin typeface="Quattrocento Sans"/>
                <a:ea typeface="Quattrocento Sans"/>
                <a:sym typeface="Quattrocento Sans"/>
              </a:rPr>
              <a:t>Coordinate Space</a:t>
            </a: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sym typeface="Quattrocento Sans"/>
              </a:rPr>
              <a:t> is a system of describing the position of points in space using perpendicular axis lines that meet at a point called the origin. Any given point's position can be described based on its distance from the origin along each axis.</a:t>
            </a:r>
            <a:endParaRPr lang="en-US" dirty="0">
              <a:ea typeface="Quattrocento Sans"/>
            </a:endParaRPr>
          </a:p>
          <a:p>
            <a:endParaRPr lang="en-GB" sz="2400" b="1">
              <a:solidFill>
                <a:srgbClr val="FFFFFF"/>
              </a:solidFill>
              <a:latin typeface="Quattrocento Sans"/>
              <a:ea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981238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0"/>
          <p:cNvSpPr/>
          <p:nvPr/>
        </p:nvSpPr>
        <p:spPr>
          <a:xfrm>
            <a:off x="3419872" y="2197237"/>
            <a:ext cx="2486769" cy="2527907"/>
          </a:xfrm>
          <a:prstGeom prst="rect">
            <a:avLst/>
          </a:prstGeom>
          <a:solidFill>
            <a:schemeClr val="dk1"/>
          </a:solidFill>
          <a:ln w="25400" cap="flat" cmpd="sng">
            <a:solidFill>
              <a:srgbClr val="A92E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28" name="Google Shape;428;p50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9" name="Google Shape;429;p50"/>
          <p:cNvSpPr txBox="1"/>
          <p:nvPr/>
        </p:nvSpPr>
        <p:spPr>
          <a:xfrm>
            <a:off x="458158" y="1412776"/>
            <a:ext cx="8689039" cy="747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Euclidean Space - adds measure of size or distance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Cartesian Coordinates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Coordinate System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 World Space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Axes – X,Y,Z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is X,Y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is X,Y,Z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software have Y up, some Z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 is typically described as into the screen and determines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rendering order of objects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30" name="Google Shape;43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6894" y="2271886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0892" y="2125229"/>
            <a:ext cx="3173108" cy="2649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38" name="Google Shape;438;p51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9" name="Google Shape;439;p51"/>
          <p:cNvSpPr txBox="1"/>
          <p:nvPr/>
        </p:nvSpPr>
        <p:spPr>
          <a:xfrm>
            <a:off x="414197" y="1412776"/>
            <a:ext cx="8417400" cy="6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Abstract Data Types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World Coordinate Space </a:t>
            </a: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3D Virtual Space – Has Origin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Coordinate Space </a:t>
            </a: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Models – Has Pivot or Centre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Scaling </a:t>
            </a: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each program has its own virtual scale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World coordinates</a:t>
            </a: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are absolute values that are related to the 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origins of the world. They do not depend on any specific object in the world.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They are applied to all objects in the world indistinctly.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46" name="Google Shape;446;p52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7" name="Google Shape;447;p52"/>
          <p:cNvSpPr txBox="1"/>
          <p:nvPr/>
        </p:nvSpPr>
        <p:spPr>
          <a:xfrm>
            <a:off x="414201" y="1412775"/>
            <a:ext cx="81099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Abstract Data Types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Camera Space (3D POV – point of view)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Orthographic/Perspective view</a:t>
            </a: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 Space (2D Display Space, Render Image)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Synthetic Camera Model – Perspective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Orthographic – Non-Perspective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54" name="Google Shape;454;p53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55" name="Google Shape;45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1248186"/>
            <a:ext cx="8388424" cy="479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62" name="Google Shape;462;p54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3" name="Google Shape;463;p54"/>
          <p:cNvSpPr txBox="1"/>
          <p:nvPr/>
        </p:nvSpPr>
        <p:spPr>
          <a:xfrm>
            <a:off x="414197" y="1412776"/>
            <a:ext cx="86166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Abstract Data Types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 sometimes have correlation and calibration to the real world.(3d input, mocap, AR)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can develop into a many layered issue depending on multiple devices or abstractions.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f5f67e14ac_0_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70" name="Google Shape;470;gf5f67e14ac_0_1"/>
          <p:cNvSpPr txBox="1"/>
          <p:nvPr/>
        </p:nvSpPr>
        <p:spPr>
          <a:xfrm>
            <a:off x="414197" y="1412776"/>
            <a:ext cx="184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71" name="Google Shape;471;gf5f67e14ac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9413" y="1412783"/>
            <a:ext cx="5752616" cy="48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78" name="Google Shape;478;p55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9" name="Google Shape;479;p55"/>
          <p:cNvSpPr txBox="1"/>
          <p:nvPr/>
        </p:nvSpPr>
        <p:spPr>
          <a:xfrm>
            <a:off x="460100" y="1412776"/>
            <a:ext cx="8363418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Abstract Data Types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Objects defined by array of numbers 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(cartesian coordinates for vertices)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Objects have their own local coordinate systems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Their transformation can be in relation to local or world coordinate systems.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 Pivot </a:t>
            </a:r>
            <a:r>
              <a:rPr lang="en-GB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Local Transformation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 Translate </a:t>
            </a:r>
            <a:r>
              <a:rPr lang="en-GB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 World Transformation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86" name="Google Shape;486;p56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7" name="Google Shape;487;p56"/>
          <p:cNvSpPr txBox="1"/>
          <p:nvPr/>
        </p:nvSpPr>
        <p:spPr>
          <a:xfrm>
            <a:off x="414197" y="1412776"/>
            <a:ext cx="8395997" cy="60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Vertex – Point in the 3D World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Vertices – Multiple Vertex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Triangle – Minimum face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Mesh – 3D object made of triangles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Wireframe – Mesh displayed without shading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494" name="Google Shape;494;p57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5" name="Google Shape;495;p57"/>
          <p:cNvSpPr txBox="1"/>
          <p:nvPr/>
        </p:nvSpPr>
        <p:spPr>
          <a:xfrm>
            <a:off x="414197" y="1412776"/>
            <a:ext cx="8513036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Wireframe Objects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Wireframe objects at their most basic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Vertices (Array)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Lines (Can also be Curves)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Triangles (Polygons)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Vector3 (x,y,z) – Used for 3D position or Direction (Unity, Web3D)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02" name="Google Shape;502;p58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3" name="Google Shape;503;p58"/>
          <p:cNvSpPr txBox="1"/>
          <p:nvPr/>
        </p:nvSpPr>
        <p:spPr>
          <a:xfrm>
            <a:off x="414197" y="1412776"/>
            <a:ext cx="815688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Wireframe Objects – Primitive Cube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Drawing Triangles for a cube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Cube is made of 8 vertices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face is made of 3 vertices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cube is made of 12 faces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10" name="Google Shape;510;p59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1" name="Google Shape;511;p59"/>
          <p:cNvSpPr txBox="1"/>
          <p:nvPr/>
        </p:nvSpPr>
        <p:spPr>
          <a:xfrm>
            <a:off x="414196" y="1412776"/>
            <a:ext cx="8262259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Polygon Shell Mesh: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Because the appearance of an object depends largely on the exterior of the object, boundary representations are common in computer graphics. Two dimensional surfaces are a good analogy for the objects used in graphics, though quite often these objects are non-manifold (Cannot exist in real world). Since surfaces are not finite, a discrete digital approximation is required: polygonal meshes (and to a lesser extent subdivision surfaces) are by far the most common representation, although point-based representations have been gaining some popularity in recent years. </a:t>
            </a: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18" name="Google Shape;518;p60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9" name="Google Shape;519;p60"/>
          <p:cNvSpPr txBox="1"/>
          <p:nvPr/>
        </p:nvSpPr>
        <p:spPr>
          <a:xfrm>
            <a:off x="414196" y="1412776"/>
            <a:ext cx="8262259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Tessellation: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of transforming representations of objects, such as the middle point coordinate of a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sphere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and a point on its 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circumference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into a polygon representation of a sphere, is called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tessellation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step is used in polygon-based rendering, where objects are broken down from abstract representations ("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primitives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") such as spheres,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cones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etc., to so-called </a:t>
            </a:r>
            <a:r>
              <a:rPr lang="en-GB" sz="2400" i="1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meshes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which are nets of interconnected triangles.</a:t>
            </a: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26" name="Google Shape;526;p61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7" name="Google Shape;527;p61"/>
          <p:cNvSpPr txBox="1"/>
          <p:nvPr/>
        </p:nvSpPr>
        <p:spPr>
          <a:xfrm>
            <a:off x="414196" y="1412776"/>
            <a:ext cx="8262259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Tessellation: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Meshes of triangles (instead of e.g.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squares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are popular as they have proven to be easy to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rasterise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(the surface described by each triangle is planar, so the projection is always convex); .</a:t>
            </a:r>
            <a:r>
              <a:rPr lang="en-GB" sz="2400" u="sng" baseline="30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Polygon representations are not used in all rendering techniques, and in these cases the tessellation step is not included in the transition from abstract representation to rendered scene.</a:t>
            </a: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3DS Max Parametric Primitives to Editable Polys (sub-objects such as vertex, edge, etc…)</a:t>
            </a:r>
            <a:endParaRPr sz="24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34" name="Google Shape;534;p62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5" name="Google Shape;535;p62"/>
          <p:cNvSpPr txBox="1"/>
          <p:nvPr/>
        </p:nvSpPr>
        <p:spPr>
          <a:xfrm>
            <a:off x="414196" y="1412776"/>
            <a:ext cx="82623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Subdivision: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 </a:t>
            </a: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subdivision surface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in the field of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3D computer graphics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is a method of representing a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smooth surface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via the specification of a coarser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piecewise linear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polygon mesh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smooth surface can be calculated from the coarse mesh as the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limit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of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recursive subdivision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of each polygonal </a:t>
            </a:r>
            <a:r>
              <a:rPr lang="en-GB" sz="24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</a:t>
            </a:r>
            <a:r>
              <a:rPr lang="en-GB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 into smaller faces that better approximate the smooth surface.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Meshsmooth, Turbosmooth, subdivision in 3DS Max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42" name="Google Shape;542;p63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3" name="Google Shape;543;p63"/>
          <p:cNvSpPr txBox="1"/>
          <p:nvPr/>
        </p:nvSpPr>
        <p:spPr>
          <a:xfrm>
            <a:off x="414200" y="1412775"/>
            <a:ext cx="8346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Objects recap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 – Scale, Position, Orientation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Vector3 – 3D position or direction (Programming)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World Transform – Absolute values related to the virtual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World origin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Transform – values relative to the objects own origin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Programming Transform – Vector3, will use in Unity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50" name="Google Shape;550;p64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1" name="Google Shape;551;p64"/>
          <p:cNvSpPr txBox="1"/>
          <p:nvPr/>
        </p:nvSpPr>
        <p:spPr>
          <a:xfrm>
            <a:off x="414196" y="1412776"/>
            <a:ext cx="8262259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Objects – File Formats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They have properties in the file format that they are saved in that define viewers, lighting, materials, shaders, textures and texture coordinates as well as the geometry.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58" name="Google Shape;558;p65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9" name="Google Shape;559;p65"/>
          <p:cNvSpPr txBox="1"/>
          <p:nvPr/>
        </p:nvSpPr>
        <p:spPr>
          <a:xfrm>
            <a:off x="414196" y="1412776"/>
            <a:ext cx="8262300" cy="4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Fbx File Format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Fbx format further has geometry, materials, textures, lights, cameras, animation, deformations, physics, hierarchical rigs and relations, and inverse kinematics.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more!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66" name="Google Shape;566;p66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7" name="Google Shape;567;p66"/>
          <p:cNvSpPr txBox="1"/>
          <p:nvPr/>
        </p:nvSpPr>
        <p:spPr>
          <a:xfrm>
            <a:off x="414196" y="1412776"/>
            <a:ext cx="8262259" cy="557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Objects in OpenGL and Unity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have a higher level of abstraction in real time for OpenGL, and for use in Unity3D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these software architectures, they have functions and methods as well.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are called GameObjects in Unity.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GameObjects can also be blank, as in reality they are just nodes…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attrocento Sans"/>
              <a:buNone/>
            </a:pPr>
            <a:r>
              <a:rPr lang="en-GB"/>
              <a:t>3D Basic Concepts and Techniques</a:t>
            </a:r>
            <a:endParaRPr/>
          </a:p>
        </p:txBody>
      </p:sp>
      <p:sp>
        <p:nvSpPr>
          <p:cNvPr id="574" name="Google Shape;574;p67"/>
          <p:cNvSpPr txBox="1"/>
          <p:nvPr/>
        </p:nvSpPr>
        <p:spPr>
          <a:xfrm>
            <a:off x="414197" y="1412776"/>
            <a:ext cx="184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5" name="Google Shape;575;p67"/>
          <p:cNvSpPr txBox="1"/>
          <p:nvPr/>
        </p:nvSpPr>
        <p:spPr>
          <a:xfrm>
            <a:off x="414196" y="1412776"/>
            <a:ext cx="8262259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 Objects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FF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is based on initializing </a:t>
            </a:r>
            <a:r>
              <a:rPr lang="en-GB" sz="2800" b="1" err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GameObjects</a:t>
            </a:r>
            <a:r>
              <a:rPr lang="en-GB" sz="2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GB" sz="2800" b="1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(nodes), </a:t>
            </a: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of which have fully adjustable </a:t>
            </a:r>
            <a:r>
              <a:rPr lang="en-GB" sz="28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Components </a:t>
            </a:r>
            <a:r>
              <a:rPr lang="en-GB" sz="2800" b="1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(scripts), </a:t>
            </a:r>
            <a:r>
              <a:rPr lang="en-GB" sz="2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of which are based on the Object’s properties, some of which are Unity features from their library, and some can be scripts you add.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70</Slides>
  <Notes>70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3D Interactive Media Development</vt:lpstr>
      <vt:lpstr>CW Overview</vt:lpstr>
      <vt:lpstr>3D Interactive Media Development</vt:lpstr>
      <vt:lpstr>Workflow – 3DUI for Interactive VE*</vt:lpstr>
      <vt:lpstr>Virtual Environment – 3DUI Needed</vt:lpstr>
      <vt:lpstr>Basic - Mixed Reality Scale</vt:lpstr>
      <vt:lpstr>Basic – VE Permutations – Part 1</vt:lpstr>
      <vt:lpstr>3DUI VR </vt:lpstr>
      <vt:lpstr>3DUI New Platforms </vt:lpstr>
      <vt:lpstr>3DUI Reading List</vt:lpstr>
      <vt:lpstr>Basic – VE Assets</vt:lpstr>
      <vt:lpstr>Basic – VE Input and Output</vt:lpstr>
      <vt:lpstr>2D User Interface – Xerox Parc</vt:lpstr>
      <vt:lpstr>2D UI Paradigm – The Desktop</vt:lpstr>
      <vt:lpstr>2D User Interface Paradigm - WIMP</vt:lpstr>
      <vt:lpstr>2D User Interface Paradigm - WIMP</vt:lpstr>
      <vt:lpstr>With WIMP comes HCI (key to 3DUI)</vt:lpstr>
      <vt:lpstr>“Off the Desktop” - Non-Traditional UI</vt:lpstr>
      <vt:lpstr>“Off the Desktop” - Non-Traditional UI</vt:lpstr>
      <vt:lpstr>Definitions - 3DUI</vt:lpstr>
      <vt:lpstr>Why 3DUI?</vt:lpstr>
      <vt:lpstr>Why 3DUI?</vt:lpstr>
      <vt:lpstr>But….</vt:lpstr>
      <vt:lpstr>Issues with 3D over 2D</vt:lpstr>
      <vt:lpstr>And….</vt:lpstr>
      <vt:lpstr>Why go on? - Advantages</vt:lpstr>
      <vt:lpstr>Why go on?</vt:lpstr>
      <vt:lpstr>Solution?</vt:lpstr>
      <vt:lpstr>Solution</vt:lpstr>
      <vt:lpstr>Goals</vt:lpstr>
      <vt:lpstr>What is a 3DUI?</vt:lpstr>
      <vt:lpstr>Definitions – 3DUI (Again)</vt:lpstr>
      <vt:lpstr>Terminology – HCI, UI</vt:lpstr>
      <vt:lpstr>Terminology – Interaction Technique</vt:lpstr>
      <vt:lpstr>Terminology – 3D Interaction</vt:lpstr>
      <vt:lpstr>Terminology – Input Devices</vt:lpstr>
      <vt:lpstr>Terminology – Input Data</vt:lpstr>
      <vt:lpstr>Terminology – Input Types</vt:lpstr>
      <vt:lpstr>Terminology – Natural Interaction</vt:lpstr>
      <vt:lpstr>Terminology - Usability</vt:lpstr>
      <vt:lpstr>Terminology – 3DUI practical</vt:lpstr>
      <vt:lpstr>3DUI Examples - Research</vt:lpstr>
      <vt:lpstr>3DUI Examples Web Dev</vt:lpstr>
      <vt:lpstr>References 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  <vt:lpstr>3D Basic Concepts and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Interactive Media Development</dc:title>
  <dc:creator>Alesandra Blakeston</dc:creator>
  <cp:revision>31</cp:revision>
  <dcterms:created xsi:type="dcterms:W3CDTF">2013-06-03T12:57:42Z</dcterms:created>
  <dcterms:modified xsi:type="dcterms:W3CDTF">2026-08-10T13:19:27Z</dcterms:modified>
</cp:coreProperties>
</file>