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Quattrocento Sans" panose="020B0502050000020003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J1PEMuJABkNOM96sYeBOjQ457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F38A45-EFFD-6EA0-F18C-D8C30D7F5B6E}" v="90" dt="2025-10-14T06:52:01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GB" sz="1800" b="0" i="0" u="none" strike="noStrike" cap="none">
                <a:solidFill>
                  <a:srgbClr val="000000"/>
                </a:solidFill>
              </a:rPr>
              <a:t>1</a:t>
            </a:fld>
            <a:endParaRPr sz="1800" b="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f9daae27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f9daae275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f9daae275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010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subTitle" idx="1"/>
          </p:nvPr>
        </p:nvSpPr>
        <p:spPr>
          <a:xfrm>
            <a:off x="911424" y="3212976"/>
            <a:ext cx="10369152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body" idx="1"/>
          </p:nvPr>
        </p:nvSpPr>
        <p:spPr>
          <a:xfrm>
            <a:off x="609600" y="1268760"/>
            <a:ext cx="10972800" cy="532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>
                <a:solidFill>
                  <a:schemeClr val="dk1"/>
                </a:solidFill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chemeClr val="dk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/>
          <p:nvPr/>
        </p:nvSpPr>
        <p:spPr>
          <a:xfrm>
            <a:off x="6216395" y="1556056"/>
            <a:ext cx="5361312" cy="613784"/>
          </a:xfrm>
          <a:prstGeom prst="rect">
            <a:avLst/>
          </a:prstGeom>
          <a:solidFill>
            <a:srgbClr val="FFFFFF">
              <a:alpha val="3568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" name="Google Shape;27;p20"/>
          <p:cNvSpPr/>
          <p:nvPr/>
        </p:nvSpPr>
        <p:spPr>
          <a:xfrm>
            <a:off x="638677" y="1556792"/>
            <a:ext cx="5361312" cy="613784"/>
          </a:xfrm>
          <a:prstGeom prst="rect">
            <a:avLst/>
          </a:prstGeom>
          <a:solidFill>
            <a:srgbClr val="FFFFFF">
              <a:alpha val="3568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pic>
        <p:nvPicPr>
          <p:cNvPr id="33" name="Google Shape;33;p20">
            <a:hlinkClick r:id="" action="ppaction://hlinkshowjump?jump=nextslide"/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13849" y="6309320"/>
            <a:ext cx="405329" cy="450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20">
            <a:hlinkClick r:id="" action="ppaction://hlinkshowjump?jump=previousslide"/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62622" y="6309320"/>
            <a:ext cx="405329" cy="450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7" name="Google Shape;37;p21">
            <a:hlinkClick r:id="" action="ppaction://hlinkshowjump?jump=previousslide"/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62622" y="6309320"/>
            <a:ext cx="405329" cy="450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80000">
              <a:srgbClr val="0F243E"/>
            </a:gs>
            <a:gs pos="100000">
              <a:srgbClr val="538CD5"/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 sz="4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609600" y="1268760"/>
            <a:ext cx="10972800" cy="532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pic>
        <p:nvPicPr>
          <p:cNvPr id="12" name="Google Shape;12;p16" descr="C:\Users\jw\Documents\Visual Studio 2010\Projects\JSBubbles\JSBubbles.Game\images\themes\metro\Next.png">
            <a:hlinkClick r:id="" action="ppaction://hlinkshowjump?jump=nextslide"/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72039" y="6348019"/>
            <a:ext cx="5334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11520" y="6343213"/>
            <a:ext cx="533475" cy="400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6">
            <a:hlinkClick r:id="" action="ppaction://hlinkshowjump?jump=firstslide"/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31877" y="6347991"/>
            <a:ext cx="533475" cy="400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6">
            <a:hlinkClick r:id="" action="ppaction://hlinkshowjump?jump=previousslide"/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206401" y="6338466"/>
            <a:ext cx="558879" cy="41915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6"/>
          <p:cNvSpPr/>
          <p:nvPr/>
        </p:nvSpPr>
        <p:spPr>
          <a:xfrm>
            <a:off x="5415345" y="6525344"/>
            <a:ext cx="1484508" cy="360040"/>
          </a:xfrm>
          <a:prstGeom prst="rect">
            <a:avLst/>
          </a:prstGeom>
          <a:blipFill rotWithShape="1">
            <a:blip r:embed="rId11">
              <a:alphaModFix amt="3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nity3d.com/learn/tutorials/topics/scripting/getcompone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nity3d.com/learn/tutorials/topics/scripting/getcompone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nity3d.com/learn/tutorials/topics/scripting/getcompone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nity3d.com/410/Documentation/ScriptReference/MonoBehaviour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unity3d.com/410/Documentation/ScriptReference/index.Accessing_Other_Game_Objects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nity3d.com/410/Documentation/ScriptReference/MonoBehaviour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unity3d.com/410/Documentation/ScriptReference/index.Accessing_Other_Game_Objects.html" TargetMode="External"/><Relationship Id="rId4" Type="http://schemas.openxmlformats.org/officeDocument/2006/relationships/hyperlink" Target="https://docs.unity3d.com/410/Documentation/ScriptReference/Transform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nity3d.com/410/Documentation/ScriptReference/MonoBehaviour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unity3d.com/410/Documentation/ScriptReference/index.Accessing_Other_Game_Objects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nity3d.com/410/Documentation/ScriptReference/GameObject.FindWithTag.html?from=index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unity3d.com/410/Documentation/ScriptReference/index.Accessing_Other_Game_Objects.html" TargetMode="External"/><Relationship Id="rId5" Type="http://schemas.openxmlformats.org/officeDocument/2006/relationships/hyperlink" Target="https://docs.unity3d.com/410/Documentation/ScriptReference/GameObject.Find.html?from=index" TargetMode="External"/><Relationship Id="rId4" Type="http://schemas.openxmlformats.org/officeDocument/2006/relationships/hyperlink" Target="https://docs.unity3d.com/410/Documentation/ScriptReference/GameObject.FindGameObjectsWithTag.html?from=index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nity3d.com/410/Documentation/ScriptReference/MonoBehaviour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unity3d.com/410/Documentation/ScriptReference/index.Accessing_Other_Game_Objects.html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010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3D Interactive Media Development</a:t>
            </a:r>
            <a:endParaRPr/>
          </a:p>
        </p:txBody>
      </p:sp>
      <p:sp>
        <p:nvSpPr>
          <p:cNvPr id="44" name="Google Shape;44;p2"/>
          <p:cNvSpPr txBox="1">
            <a:spLocks noGrp="1"/>
          </p:cNvSpPr>
          <p:nvPr>
            <p:ph type="subTitle" idx="1"/>
          </p:nvPr>
        </p:nvSpPr>
        <p:spPr>
          <a:xfrm>
            <a:off x="916651" y="3212976"/>
            <a:ext cx="10395428" cy="25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None/>
            </a:pPr>
            <a:r>
              <a:rPr lang="en-GB" b="1" dirty="0">
                <a:solidFill>
                  <a:srgbClr val="FFFF00"/>
                </a:solidFill>
              </a:rPr>
              <a:t>5MMCS001W					Lecture 04b</a:t>
            </a:r>
            <a:endParaRPr dirty="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solidFill>
                <a:srgbClr val="FFFF00"/>
              </a:solidFill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solidFill>
                <a:srgbClr val="FFFF00"/>
              </a:solidFill>
            </a:endParaRPr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Clr>
                <a:srgbClr val="FFFF00"/>
              </a:buClr>
              <a:buSzPts val="2800"/>
              <a:buNone/>
            </a:pPr>
            <a:r>
              <a:rPr lang="en-GB" b="1" dirty="0">
                <a:solidFill>
                  <a:srgbClr val="FFFF00"/>
                </a:solidFill>
              </a:rPr>
              <a:t>C# in Unity and OOP, Triggering Animations, Basic Movement and Input, Leading to Unity UI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GB" sz="3600"/>
              <a:t>3D Interactive Media Development</a:t>
            </a:r>
            <a:endParaRPr sz="4000"/>
          </a:p>
        </p:txBody>
      </p:sp>
      <p:sp>
        <p:nvSpPr>
          <p:cNvPr id="51" name="Google Shape;51;p3"/>
          <p:cNvSpPr txBox="1"/>
          <p:nvPr/>
        </p:nvSpPr>
        <p:spPr>
          <a:xfrm>
            <a:off x="609600" y="1421654"/>
            <a:ext cx="11082291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Examples – Access to Variables, Methods, Game Objects and Scripts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 other GO and scripts, public, static, instantiate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 GameObject</a:t>
            </a: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 Component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 Script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GB" sz="3600"/>
              <a:t>3D Interactive Media Development</a:t>
            </a:r>
            <a:endParaRPr sz="4000"/>
          </a:p>
        </p:txBody>
      </p:sp>
      <p:sp>
        <p:nvSpPr>
          <p:cNvPr id="58" name="Google Shape;58;p4"/>
          <p:cNvSpPr txBox="1"/>
          <p:nvPr/>
        </p:nvSpPr>
        <p:spPr>
          <a:xfrm>
            <a:off x="609600" y="1421654"/>
            <a:ext cx="11082291" cy="575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Examples – Access to Variables, Methods, Game Objects and Scripts</a:t>
            </a: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Some declaration and Initialisation options – in Constructor, Awake, Start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UnityEngine;</a:t>
            </a:r>
            <a:b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System.Collections;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class UsingOtherComponents : MonoBehaviour</a:t>
            </a:r>
            <a:b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{</a:t>
            </a:r>
            <a:b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</a:t>
            </a:r>
            <a:r>
              <a:rPr lang="en-GB" sz="14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GameObject otherGameObject; </a:t>
            </a:r>
            <a:b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private AnotherScript anotherScript;</a:t>
            </a:r>
            <a:b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</a:t>
            </a:r>
            <a:r>
              <a:rPr lang="en-GB" sz="14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private YetAnotherScript yetAnotherScript;</a:t>
            </a:r>
            <a:b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private BoxCollider boxCol;   </a:t>
            </a:r>
            <a:b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</a:t>
            </a:r>
            <a:b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void Awake ()</a:t>
            </a:r>
            <a:b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{</a:t>
            </a:r>
            <a:b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anotherScript = GetComponent&lt;AnotherScript&gt;();</a:t>
            </a:r>
            <a:b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lang="en-GB" sz="14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yetAnotherScript = otherGameObject.GetComponent&lt;YetAnotherScript&gt;();</a:t>
            </a:r>
            <a:b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boxCol = otherGameObject.GetComponent&lt;BoxCollider&gt;();</a:t>
            </a:r>
            <a:b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&lt;</a:t>
            </a:r>
            <a:r>
              <a:rPr lang="en-GB" sz="1400" i="1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https://unity3d.com/learn/tutorials/topics/scripting/getcomponent</a:t>
            </a:r>
            <a:r>
              <a:rPr lang="en-GB" sz="1400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&gt; </a:t>
            </a:r>
            <a:endParaRPr sz="1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f9daae2750_0_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GB" sz="3600"/>
              <a:t>3D Interactive Media Development</a:t>
            </a:r>
            <a:endParaRPr sz="4000"/>
          </a:p>
        </p:txBody>
      </p:sp>
      <p:sp>
        <p:nvSpPr>
          <p:cNvPr id="65" name="Google Shape;65;gf9daae2750_0_0"/>
          <p:cNvSpPr txBox="1"/>
          <p:nvPr/>
        </p:nvSpPr>
        <p:spPr>
          <a:xfrm>
            <a:off x="609600" y="1421654"/>
            <a:ext cx="11082300" cy="56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Examples – Access to Variables, Methods, Game Objects and Scripts</a:t>
            </a: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Some declaration and Initialisation options – in Constructor, Awake, Start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C397D8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UnityEngine;</a:t>
            </a:r>
            <a:endParaRPr sz="120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C397D8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System.Collections;</a:t>
            </a:r>
            <a:endParaRPr sz="120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C397D8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00">
                <a:solidFill>
                  <a:srgbClr val="C397D8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00">
                <a:solidFill>
                  <a:srgbClr val="FFFF00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AnotherScript</a:t>
            </a: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: MonoBehaviour</a:t>
            </a:r>
            <a:endParaRPr sz="120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200">
                <a:solidFill>
                  <a:srgbClr val="C397D8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00">
                <a:solidFill>
                  <a:srgbClr val="C397D8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playerScore = </a:t>
            </a:r>
            <a:r>
              <a:rPr lang="en-GB" sz="1200">
                <a:solidFill>
                  <a:srgbClr val="E78C45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9001</a:t>
            </a: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C397D8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UnityEngine;</a:t>
            </a:r>
            <a:endParaRPr sz="120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C397D8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System.Collections;</a:t>
            </a:r>
            <a:endParaRPr sz="120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C397D8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00">
                <a:solidFill>
                  <a:srgbClr val="C397D8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00">
                <a:solidFill>
                  <a:srgbClr val="FFFF00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YetAnotherScript</a:t>
            </a: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: MonoBehaviour</a:t>
            </a:r>
            <a:endParaRPr sz="120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200">
                <a:solidFill>
                  <a:srgbClr val="C397D8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00">
                <a:solidFill>
                  <a:srgbClr val="C397D8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 numberOfPlayerDeaths = </a:t>
            </a:r>
            <a:r>
              <a:rPr lang="en-GB" sz="1200">
                <a:solidFill>
                  <a:srgbClr val="E78C45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&lt;</a:t>
            </a:r>
            <a:r>
              <a:rPr lang="en-GB" sz="1400" i="1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https://unity3d.com/learn/tutorials/topics/scripting/getcomponent</a:t>
            </a:r>
            <a:r>
              <a:rPr lang="en-GB" sz="1400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&gt; </a:t>
            </a:r>
            <a:endParaRPr sz="1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GB" sz="3600"/>
              <a:t>3D Interactive Media Development</a:t>
            </a:r>
            <a:endParaRPr sz="4000"/>
          </a:p>
        </p:txBody>
      </p:sp>
      <p:sp>
        <p:nvSpPr>
          <p:cNvPr id="72" name="Google Shape;72;p5"/>
          <p:cNvSpPr txBox="1"/>
          <p:nvPr/>
        </p:nvSpPr>
        <p:spPr>
          <a:xfrm>
            <a:off x="609600" y="1421654"/>
            <a:ext cx="11082291" cy="473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Examples – Access to Variables, Methods, Game Objects and Scripts</a:t>
            </a: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Some declaration and Initialisation options – in Constructor, Awake, Start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void Start ()</a:t>
            </a:r>
            <a:b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{</a:t>
            </a:r>
            <a:b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boxCol.size = new Vector3(3,3,3);</a:t>
            </a:r>
            <a:b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Debug.Log("The player's score is " + anotherScript.playerScore);</a:t>
            </a:r>
            <a:b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lang="en-GB" sz="16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Debug.Log("The player has died " + yetAnotherScript.numberOfPlayerDeaths + " times");</a:t>
            </a:r>
            <a:b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}</a:t>
            </a:r>
            <a:b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&lt;</a:t>
            </a:r>
            <a:r>
              <a:rPr lang="en-GB" sz="1400" i="1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https://unity3d.com/learn/tutorials/topics/scripting/getcomponent</a:t>
            </a:r>
            <a:r>
              <a:rPr lang="en-GB" sz="1400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&gt; </a:t>
            </a:r>
            <a:endParaRPr sz="1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GB" sz="3600"/>
              <a:t>3D Interactive Media Development</a:t>
            </a:r>
            <a:endParaRPr sz="4000"/>
          </a:p>
        </p:txBody>
      </p:sp>
      <p:sp>
        <p:nvSpPr>
          <p:cNvPr id="79" name="Google Shape;79;p6"/>
          <p:cNvSpPr txBox="1"/>
          <p:nvPr/>
        </p:nvSpPr>
        <p:spPr>
          <a:xfrm>
            <a:off x="609600" y="1421654"/>
            <a:ext cx="11082291" cy="575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Examples – Access to Variables, Methods, Game Objects and Scripts</a:t>
            </a:r>
            <a:endParaRPr sz="2400" b="1" dirty="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r>
              <a:rPr lang="en-GB" sz="2400" b="1" dirty="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 Script – </a:t>
            </a:r>
            <a:r>
              <a:rPr lang="en-GB" sz="2400" b="1" dirty="0" err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otherScript.cs</a:t>
            </a:r>
            <a:r>
              <a:rPr lang="en-GB" sz="2400" b="1" dirty="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attached to same or another </a:t>
            </a:r>
            <a:r>
              <a:rPr lang="en-GB" sz="2400" b="1" dirty="0" err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GameObject</a:t>
            </a:r>
            <a:endParaRPr sz="2400" b="1" dirty="0" err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</a:t>
            </a:r>
            <a:r>
              <a:rPr lang="en-GB" sz="1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UnityEngine</a:t>
            </a: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</a:t>
            </a:r>
            <a:r>
              <a:rPr lang="en-GB" sz="1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System.Collections</a:t>
            </a: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</a:t>
            </a:r>
            <a:endParaRPr dirty="0">
              <a:solidFill>
                <a:schemeClr val="dk1"/>
              </a:solidFill>
            </a:endParaRPr>
          </a:p>
          <a:p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class example : </a:t>
            </a:r>
            <a:r>
              <a:rPr lang="en-GB" sz="1800" u="sng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MonoBehaviour</a:t>
            </a: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{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void Update() {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</a:endParaRPr>
          </a:p>
          <a:p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        </a:t>
            </a:r>
            <a:r>
              <a:rPr lang="en-GB" sz="1800" dirty="0">
                <a:solidFill>
                  <a:srgbClr val="92D05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// Declare and Initialise </a:t>
            </a:r>
            <a:r>
              <a:rPr lang="en-GB" sz="1800" dirty="0" err="1">
                <a:solidFill>
                  <a:srgbClr val="92D05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GameObject.OtherScript</a:t>
            </a:r>
            <a:r>
              <a:rPr lang="en-GB" sz="1800" dirty="0">
                <a:solidFill>
                  <a:srgbClr val="92D05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component on this </a:t>
            </a:r>
            <a:r>
              <a:rPr lang="en-GB" sz="1800" dirty="0" err="1">
                <a:solidFill>
                  <a:srgbClr val="92D05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gameobject</a:t>
            </a:r>
            <a:endParaRPr lang="en-GB" sz="1800" dirty="0" err="1">
              <a:solidFill>
                <a:srgbClr val="92D050"/>
              </a:solidFill>
              <a:latin typeface="Quattrocento Sans"/>
              <a:ea typeface="Quattrocento Sans"/>
              <a:cs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	</a:t>
            </a:r>
            <a:r>
              <a:rPr lang="en-GB" sz="1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OtherScript</a:t>
            </a: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otherScript</a:t>
            </a: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= </a:t>
            </a:r>
            <a:r>
              <a:rPr lang="en-GB" sz="1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GetComponent</a:t>
            </a: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&lt;</a:t>
            </a:r>
            <a:r>
              <a:rPr lang="en-GB" sz="1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OtherScript</a:t>
            </a: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&gt;();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	</a:t>
            </a:r>
            <a:r>
              <a:rPr lang="en-GB" sz="1800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otherScript.DoSomething</a:t>
            </a: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();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}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&lt;</a:t>
            </a:r>
            <a:r>
              <a:rPr lang="en-GB" sz="1200" i="1" u="sng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https://docs.unity3d.com/410/Documentation/ScriptReference/index.Accessing_Other_Game_Objects.html</a:t>
            </a:r>
            <a:r>
              <a:rPr lang="en-GB" sz="1200" i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&gt; </a:t>
            </a:r>
            <a:endParaRPr sz="12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GB" sz="3600"/>
              <a:t>3D Interactive Media Development</a:t>
            </a:r>
            <a:endParaRPr sz="4000"/>
          </a:p>
        </p:txBody>
      </p:sp>
      <p:sp>
        <p:nvSpPr>
          <p:cNvPr id="86" name="Google Shape;86;p7"/>
          <p:cNvSpPr txBox="1"/>
          <p:nvPr/>
        </p:nvSpPr>
        <p:spPr>
          <a:xfrm>
            <a:off x="609600" y="1421654"/>
            <a:ext cx="11082300" cy="60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Examples – Access to Variables, Methods, Game Objects and Scripts</a:t>
            </a: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 can assign variables to any object type through the inspector: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UnityEngine;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System.Collections;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class example : </a:t>
            </a:r>
            <a:r>
              <a:rPr lang="en-GB" sz="18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MonoBehaviour</a:t>
            </a: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{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public </a:t>
            </a:r>
            <a:r>
              <a:rPr lang="en-GB" sz="18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Transform</a:t>
            </a: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target;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void Update() {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	target.Translate(0, 1, 0);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</a:t>
            </a:r>
            <a:b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&lt;</a:t>
            </a:r>
            <a:r>
              <a:rPr lang="en-GB" sz="1200" i="1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https://docs.unity3d.com/410/Documentation/ScriptReference/index.Accessing_Other_Game_Objects.html</a:t>
            </a:r>
            <a:r>
              <a:rPr lang="en-GB" sz="1200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&gt; 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GB" sz="3600"/>
              <a:t>3D Interactive Media Development</a:t>
            </a:r>
            <a:endParaRPr sz="4000"/>
          </a:p>
        </p:txBody>
      </p:sp>
      <p:sp>
        <p:nvSpPr>
          <p:cNvPr id="93" name="Google Shape;93;p8"/>
          <p:cNvSpPr txBox="1"/>
          <p:nvPr/>
        </p:nvSpPr>
        <p:spPr>
          <a:xfrm>
            <a:off x="609600" y="1421654"/>
            <a:ext cx="11082300" cy="60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Examples – Access to Variables, Methods, Game Objects and Scripts</a:t>
            </a:r>
            <a:br>
              <a:rPr lang="en-GB" sz="2400" b="1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 can also expose references to other objects to the inspector. </a:t>
            </a:r>
            <a:b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Below you can drag a game object that contains the OtherScript on the target slot in the inspector.</a:t>
            </a:r>
            <a:endParaRPr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UnityEngine;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System.Collections;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class example : </a:t>
            </a:r>
            <a:r>
              <a:rPr lang="en-GB" sz="18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MonoBehaviour</a:t>
            </a: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{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public OtherScript target;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void Update() {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	target.foo = 2;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	target.DoSomething("Hello");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&lt;</a:t>
            </a:r>
            <a:r>
              <a:rPr lang="en-GB" sz="1200" i="1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https://docs.unity3d.com/410/Documentation/ScriptReference/index.Accessing_Other_Game_Objects.html</a:t>
            </a:r>
            <a:r>
              <a:rPr lang="en-GB" sz="1200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&gt; 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GB" sz="3600"/>
              <a:t>3D Interactive Media Development</a:t>
            </a:r>
            <a:endParaRPr sz="4000"/>
          </a:p>
        </p:txBody>
      </p:sp>
      <p:sp>
        <p:nvSpPr>
          <p:cNvPr id="100" name="Google Shape;100;p9"/>
          <p:cNvSpPr txBox="1"/>
          <p:nvPr/>
        </p:nvSpPr>
        <p:spPr>
          <a:xfrm>
            <a:off x="609600" y="1421654"/>
            <a:ext cx="11499542" cy="609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Examples – Access to Variables, Methods, Game Objects and Scripts</a:t>
            </a:r>
            <a:br>
              <a:rPr lang="en-GB" sz="2400" b="1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8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 can search for game objects with certain tags using </a:t>
            </a:r>
            <a:r>
              <a:rPr lang="en-GB" sz="1800" b="1" u="sng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GameObject.FindWithTag</a:t>
            </a:r>
            <a:r>
              <a:rPr lang="en-GB" sz="18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and </a:t>
            </a:r>
            <a:r>
              <a:rPr lang="en-GB" sz="1800" b="1" u="sng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GameObject.FindGameObjectsWithTag</a:t>
            </a:r>
            <a:r>
              <a:rPr lang="en-GB" sz="18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 </a:t>
            </a:r>
            <a:r>
              <a:rPr lang="en-GB" sz="1800" b="1" u="sng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GameObject.Find</a:t>
            </a:r>
            <a:r>
              <a:rPr lang="en-GB" sz="18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to find a game object by name.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UnityEngine;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System.Collections;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class example : MonoBehaviour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void Start()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	GameObject go = GameObject.Find("SomeGuy");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	go.transform.Translate(0, 1, 0);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	GameObject player = GameObject.FindWithTag("Player");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	player.transform.Translate(0, 1, 0);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</a:t>
            </a:r>
            <a:r>
              <a:rPr lang="en-GB" sz="1200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&lt;</a:t>
            </a:r>
            <a:r>
              <a:rPr lang="en-GB" sz="1200" i="1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https://docs.unity3d.com/410/Documentation/ScriptReference/index.Accessing_Other_Game_Objects.html</a:t>
            </a:r>
            <a:r>
              <a:rPr lang="en-GB" sz="1200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&gt; 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GB" sz="3600"/>
              <a:t>3D Interactive Media Development</a:t>
            </a:r>
            <a:endParaRPr sz="4000"/>
          </a:p>
        </p:txBody>
      </p:sp>
      <p:sp>
        <p:nvSpPr>
          <p:cNvPr id="107" name="Google Shape;107;p10"/>
          <p:cNvSpPr txBox="1"/>
          <p:nvPr/>
        </p:nvSpPr>
        <p:spPr>
          <a:xfrm>
            <a:off x="609600" y="1421654"/>
            <a:ext cx="11499542" cy="6001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Examples – Access to Variables, Methods, Game Objects and Scripts</a:t>
            </a:r>
            <a:br>
              <a:rPr lang="en-GB" sz="2400" b="1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8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 can use GetComponent on the result to get to any script or component on the found (another) game object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&lt;&gt; reference a component of the type specified…</a:t>
            </a:r>
            <a:endParaRPr sz="18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UnityEngine;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System.Collections;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class example : </a:t>
            </a:r>
            <a:r>
              <a:rPr lang="en-GB" sz="18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MonoBehaviour</a:t>
            </a: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{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void Start() {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	GameObject go = GameObject.Find("SomeGuy");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	go.GetComponent&lt;OtherScript&gt;().DoSomething();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	GameObject player = GameObject.FindWithTag("Player");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	player.GetComponent&lt;OtherScript&gt;().DoSomething();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&lt;</a:t>
            </a:r>
            <a:r>
              <a:rPr lang="en-GB" sz="1200" i="1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https://docs.unity3d.com/410/Documentation/ScriptReference/index.Accessing_Other_Game_Objects.html</a:t>
            </a:r>
            <a:r>
              <a:rPr lang="en-GB" sz="1200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&gt; 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GB" sz="3600"/>
              <a:t>3D Interactive Media Development</a:t>
            </a:r>
            <a:endParaRPr sz="4000"/>
          </a:p>
        </p:txBody>
      </p:sp>
      <p:sp>
        <p:nvSpPr>
          <p:cNvPr id="114" name="Google Shape;114;p11"/>
          <p:cNvSpPr txBox="1"/>
          <p:nvPr/>
        </p:nvSpPr>
        <p:spPr>
          <a:xfrm>
            <a:off x="609600" y="1421654"/>
            <a:ext cx="8550291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Examples Basic to More Advanced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 other GO and scripts for scale and animator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tag, trigger and collision in tutorial 4 project: demo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GB" sz="3600"/>
              <a:t>3D Interactive Media Development</a:t>
            </a:r>
            <a:endParaRPr sz="4000"/>
          </a:p>
        </p:txBody>
      </p:sp>
      <p:sp>
        <p:nvSpPr>
          <p:cNvPr id="121" name="Google Shape;121;p12"/>
          <p:cNvSpPr txBox="1"/>
          <p:nvPr/>
        </p:nvSpPr>
        <p:spPr>
          <a:xfrm>
            <a:off x="609600" y="1421654"/>
            <a:ext cx="10890738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Examples Basic to More Advanced</a:t>
            </a: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Lego Walk Scene 01 – Collider and OnMouseDown to turn Animator on and off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UnityEngine;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System.Collections;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class AnimatorEnable : MonoBehaviour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</a:t>
            </a:r>
            <a:r>
              <a:rPr lang="en-GB" sz="12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Animator anim;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// Use this for initialization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void Start()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anim = GetComponent&lt;Animator&gt;();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anim.enabled = false;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public void OnMouseDown()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lang="en-GB" sz="12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anim.enabled = !anim.enabled; </a:t>
            </a:r>
            <a:r>
              <a:rPr lang="en-GB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//for 1. Mouse Down Collider Animator simple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GB" sz="3600"/>
              <a:t>3D Interactive Media Development</a:t>
            </a:r>
            <a:endParaRPr sz="4000"/>
          </a:p>
        </p:txBody>
      </p:sp>
      <p:sp>
        <p:nvSpPr>
          <p:cNvPr id="128" name="Google Shape;128;p14"/>
          <p:cNvSpPr txBox="1"/>
          <p:nvPr/>
        </p:nvSpPr>
        <p:spPr>
          <a:xfrm>
            <a:off x="609600" y="1421654"/>
            <a:ext cx="10890738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Examples Basic to More Advanced</a:t>
            </a: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Lego Walk Scene 01 – Collider and OnMouseDown to turn Animator on and off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second GameObject as public variable</a:t>
            </a:r>
            <a:endParaRPr sz="1800" b="1" i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Quattrocento Sans"/>
              <a:buAutoNum type="arabicPeriod"/>
            </a:pPr>
            <a:r>
              <a:rPr lang="en-GB" sz="1800" b="1" i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 3d Cube as second GameObject</a:t>
            </a:r>
            <a:endParaRPr sz="1800" b="1" i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Quattrocento Sans"/>
              <a:buAutoNum type="arabicPeriod"/>
            </a:pPr>
            <a:r>
              <a:rPr lang="en-GB" sz="1800" b="1" i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Script below;</a:t>
            </a:r>
            <a:endParaRPr sz="12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UnityEngine;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System.Collections;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class Interaction : MonoBehaviour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</a:t>
            </a:r>
            <a:r>
              <a:rPr lang="en-GB" sz="18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GameObject legoMinifig;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public void OnMouseDown()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lang="en-GB" sz="18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legoMinifig.GetComponent&lt;AnimatorEnable&gt;().OnMouseDown();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GB" sz="3600"/>
              <a:t>3D Interactive Media Development</a:t>
            </a:r>
            <a:endParaRPr sz="4000"/>
          </a:p>
        </p:txBody>
      </p:sp>
      <p:sp>
        <p:nvSpPr>
          <p:cNvPr id="135" name="Google Shape;135;p13"/>
          <p:cNvSpPr txBox="1"/>
          <p:nvPr/>
        </p:nvSpPr>
        <p:spPr>
          <a:xfrm>
            <a:off x="609600" y="1421654"/>
            <a:ext cx="10890738" cy="4678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Examples Basic to More Advanced</a:t>
            </a: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Lego Walk Scene 01 – Collider and OnMouseDown to turn Animator on and off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This to end of script on Lego Minifig: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public void ScaleLego()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transform.localScale += new Vector3(0.1F, 0, 0);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// https://docs.unity3d.com/ScriptReference/Transform-localScale.html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// Adds 0.1 float number to scale when run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// We will access this outside of the script and GameObject</a:t>
            </a:r>
            <a:endParaRPr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lang="en-GB" sz="3600"/>
              <a:t>3D Interactive Media Development</a:t>
            </a:r>
            <a:endParaRPr sz="4000"/>
          </a:p>
        </p:txBody>
      </p:sp>
      <p:sp>
        <p:nvSpPr>
          <p:cNvPr id="142" name="Google Shape;142;p15"/>
          <p:cNvSpPr txBox="1"/>
          <p:nvPr/>
        </p:nvSpPr>
        <p:spPr>
          <a:xfrm>
            <a:off x="609600" y="1421654"/>
            <a:ext cx="10890600" cy="53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Examples Basic to More Advanced</a:t>
            </a: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Lego Walk Scene 01 – Collider and OnMouseDown to Scale in X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third GameObject</a:t>
            </a:r>
            <a:endParaRPr sz="1800" b="1" i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// This finds the game object by name rather than dragging into exposed variable box to wire up;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UnityEngine;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System.Collections;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class InteractionScale : MonoBehaviour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</a:t>
            </a:r>
            <a:r>
              <a:rPr lang="en-GB" sz="16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GameObject legoMinifig;</a:t>
            </a:r>
            <a:endParaRPr sz="1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// Use this for initialization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void Start()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lang="en-GB" sz="16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legoMinifig = GameObject.FindWithTag("Lego");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public void OnMouseDown()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</a:t>
            </a:r>
            <a:r>
              <a:rPr lang="en-GB" sz="16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legoMinifig.GetComponent&lt;AnimatorEnable&gt;().ScaleLego();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</a:t>
            </a:r>
            <a:endParaRPr sz="16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Metro">
      <a:dk1>
        <a:srgbClr val="FFFFFF"/>
      </a:dk1>
      <a:lt1>
        <a:srgbClr val="1F497D"/>
      </a:lt1>
      <a:dk2>
        <a:srgbClr val="FFFFFF"/>
      </a:dk2>
      <a:lt2>
        <a:srgbClr val="1F497D"/>
      </a:lt2>
      <a:accent1>
        <a:srgbClr val="E8402E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C6D9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1_Office Theme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Interactive Media Development</dc:title>
  <dc:creator>jeff ferguson</dc:creator>
  <cp:revision>21</cp:revision>
  <dcterms:created xsi:type="dcterms:W3CDTF">2016-10-08T10:37:01Z</dcterms:created>
  <dcterms:modified xsi:type="dcterms:W3CDTF">2026-08-10T13:39:50Z</dcterms:modified>
</cp:coreProperties>
</file>