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327"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304" r:id="rId27"/>
    <p:sldId id="326" r:id="rId28"/>
    <p:sldId id="28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5" r:id="rId50"/>
    <p:sldId id="306" r:id="rId51"/>
    <p:sldId id="307" r:id="rId52"/>
    <p:sldId id="302" r:id="rId53"/>
  </p:sldIdLst>
  <p:sldSz cx="12192000" cy="6858000"/>
  <p:notesSz cx="6858000" cy="9144000"/>
  <p:embeddedFontLst>
    <p:embeddedFont>
      <p:font typeface="Quattrocento Sans" panose="020B0502050000020003" pitchFamily="34" charset="0"/>
      <p:regular r:id="rId55"/>
      <p:bold r:id="rId56"/>
      <p:italic r:id="rId57"/>
      <p:boldItalic r:id="rId58"/>
    </p:embeddedFont>
    <p:embeddedFont>
      <p:font typeface="Segoe UI" panose="020B0502040204020203" pitchFamily="34"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63" roundtripDataSignature="AMtx7mhmP8x8VSpsQJPhaf/k5XLu81Wq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A6226-8C59-6FAB-42D0-5E517D295017}" v="7" dt="2025-08-28T13:53:15.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customschemas.google.com/relationships/presentationmetadata" Target="metadata"/><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kybernetik.com.au/cs-unity/docs/introduction/inheritance" TargetMode="External"/><Relationship Id="rId7" Type="http://schemas.openxmlformats.org/officeDocument/2006/relationships/hyperlink" Target="https://docs.unity3d.com/ScriptReference/MonoBehaviour.Awake"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s://kybernetik.com.au/cs-unity/docs/introduction/variables#serialized-fields" TargetMode="External"/><Relationship Id="rId5" Type="http://schemas.openxmlformats.org/officeDocument/2006/relationships/hyperlink" Target="https://docs.unity3d.com/ScriptReference/GameObject.AddComponent" TargetMode="External"/><Relationship Id="rId4" Type="http://schemas.openxmlformats.org/officeDocument/2006/relationships/hyperlink" Target="https://kybernetik.com.au/cs-unity/docs/introduction/inheritance#common-bases"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22</a:t>
            </a:fld>
            <a:endParaRPr sz="1800" b="0" i="0" u="none" strike="noStrike" cap="none">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a:t>Constructors cannot be used in classes that </a:t>
            </a:r>
            <a:r>
              <a:rPr lang="en-US">
                <a:hlinkClick r:id="rId3"/>
              </a:rPr>
              <a:t>Inherit</a:t>
            </a:r>
            <a:r>
              <a:rPr lang="en-US"/>
              <a:t> from </a:t>
            </a:r>
            <a:r>
              <a:rPr lang="en-US">
                <a:hlinkClick r:id="rId4"/>
              </a:rPr>
              <a:t>MonoBehaviour</a:t>
            </a:r>
            <a:r>
              <a:rPr lang="en-US"/>
              <a:t> because they need to be added to a specific </a:t>
            </a:r>
            <a:r>
              <a:rPr lang="en-US" err="1"/>
              <a:t>GameObject</a:t>
            </a:r>
            <a:r>
              <a:rPr lang="en-US"/>
              <a:t> using its </a:t>
            </a:r>
            <a:r>
              <a:rPr lang="en-US">
                <a:hlinkClick r:id="rId5"/>
              </a:rPr>
              <a:t>AddComponent</a:t>
            </a:r>
            <a:r>
              <a:rPr lang="en-US"/>
              <a:t> method. Technically, you can use a </a:t>
            </a:r>
            <a:r>
              <a:rPr lang="en-US" err="1"/>
              <a:t>parameterless</a:t>
            </a:r>
            <a:r>
              <a:rPr lang="en-US"/>
              <a:t> constructor but it will not be able to do much because it will be executed before Unity gives the component its reference to the </a:t>
            </a:r>
            <a:r>
              <a:rPr lang="en-US" err="1"/>
              <a:t>GameObject</a:t>
            </a:r>
            <a:r>
              <a:rPr lang="en-US"/>
              <a:t> or any of its </a:t>
            </a:r>
            <a:r>
              <a:rPr lang="en-US">
                <a:hlinkClick r:id="rId6"/>
              </a:rPr>
              <a:t>Serialized Field</a:t>
            </a:r>
            <a:r>
              <a:rPr lang="en-US"/>
              <a:t> data, so you will generally want to use the </a:t>
            </a:r>
            <a:r>
              <a:rPr lang="en-US">
                <a:hlinkClick r:id="rId7"/>
              </a:rPr>
              <a:t>Awake</a:t>
            </a:r>
            <a:r>
              <a:rPr lang="en-US"/>
              <a:t> message instead.</a:t>
            </a:r>
          </a:p>
        </p:txBody>
      </p:sp>
      <p:sp>
        <p:nvSpPr>
          <p:cNvPr id="283" name="Google Shape;28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extLst>
      <p:ext uri="{BB962C8B-B14F-4D97-AF65-F5344CB8AC3E}">
        <p14:creationId xmlns:p14="http://schemas.microsoft.com/office/powerpoint/2010/main" val="17630158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49</a:t>
            </a:fld>
            <a:endParaRPr/>
          </a:p>
        </p:txBody>
      </p:sp>
    </p:spTree>
    <p:extLst>
      <p:ext uri="{BB962C8B-B14F-4D97-AF65-F5344CB8AC3E}">
        <p14:creationId xmlns:p14="http://schemas.microsoft.com/office/powerpoint/2010/main" val="21085417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GB"/>
              <a:t>Singletons (a way to have static global classes that are still </a:t>
            </a:r>
            <a:r>
              <a:rPr lang="en-GB" err="1"/>
              <a:t>MonoBehaviours</a:t>
            </a:r>
            <a:r>
              <a:rPr lang="en-GB"/>
              <a:t>) are largely frowned upon in normal development, but they are very common and useful in Unity.</a:t>
            </a:r>
            <a:endParaRPr lang="en-US"/>
          </a:p>
          <a:p>
            <a:pPr marL="0" indent="0"/>
            <a:endParaRPr lang="en-GB"/>
          </a:p>
          <a:p>
            <a:pPr marL="0" indent="0"/>
            <a:r>
              <a:rPr lang="en-GB"/>
              <a:t>Data encapsulation (having classes keep as much of their internal data as possible private) is paramount in normal development. In Unity however, it is much more common to make data public that you otherwise wouldn't (many people might disagree with me on this one though).</a:t>
            </a:r>
            <a:endParaRPr/>
          </a:p>
        </p:txBody>
      </p:sp>
      <p:sp>
        <p:nvSpPr>
          <p:cNvPr id="356" name="Google Shape;356;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extLst>
      <p:ext uri="{BB962C8B-B14F-4D97-AF65-F5344CB8AC3E}">
        <p14:creationId xmlns:p14="http://schemas.microsoft.com/office/powerpoint/2010/main" val="23490975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51</a:t>
            </a:fld>
            <a:endParaRPr/>
          </a:p>
        </p:txBody>
      </p:sp>
    </p:spTree>
    <p:extLst>
      <p:ext uri="{BB962C8B-B14F-4D97-AF65-F5344CB8AC3E}">
        <p14:creationId xmlns:p14="http://schemas.microsoft.com/office/powerpoint/2010/main" val="34309407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49"/>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9"/>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5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5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51"/>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52"/>
          <p:cNvSpPr/>
          <p:nvPr/>
        </p:nvSpPr>
        <p:spPr>
          <a:xfrm>
            <a:off x="6216395" y="1556056"/>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52"/>
          <p:cNvSpPr/>
          <p:nvPr/>
        </p:nvSpPr>
        <p:spPr>
          <a:xfrm>
            <a:off x="638677" y="1556792"/>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5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2"/>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52"/>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52"/>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52"/>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52">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52">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5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53">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4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8"/>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48"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48"/>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48">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48">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unity3d.com/public-relation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quora.com/Why-is-Unity-Game-Engine-so-successfu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playcanvas.com/" TargetMode="External"/><Relationship Id="rId7" Type="http://schemas.openxmlformats.org/officeDocument/2006/relationships/hyperlink" Target="https://html5gameengine.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aframe.io/aframe-school/#/" TargetMode="External"/><Relationship Id="rId5" Type="http://schemas.openxmlformats.org/officeDocument/2006/relationships/hyperlink" Target="https://threejs.org/" TargetMode="External"/><Relationship Id="rId4" Type="http://schemas.openxmlformats.org/officeDocument/2006/relationships/hyperlink" Target="http://www.babylonjs.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XLMv_qEXJO0&amp;t=18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cs.unity3d.com/Manual/class-GameObject.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cs.unity3d.com/uploads/Main/monobehaviour_flowchart.svg"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cs.unity3d.com/Manual/InstantiatingPrefabs.htm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reddit.com/r/Unity3D/comments/32wps3/is_c_in_unity_different_to_general_c/"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reddit.com/r/Unity3D/comments/32wps3/is_c_in_unity_different_to_general_c/"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 Interactive Media Development</a:t>
            </a:r>
            <a:endParaRPr/>
          </a:p>
        </p:txBody>
      </p:sp>
      <p:sp>
        <p:nvSpPr>
          <p:cNvPr id="44" name="Google Shape;44;p1"/>
          <p:cNvSpPr txBox="1">
            <a:spLocks noGrp="1"/>
          </p:cNvSpPr>
          <p:nvPr>
            <p:ph type="subTitle" idx="1"/>
          </p:nvPr>
        </p:nvSpPr>
        <p:spPr>
          <a:xfrm>
            <a:off x="916652" y="3212976"/>
            <a:ext cx="10359568" cy="2808312"/>
          </a:xfrm>
          <a:prstGeom prst="rect">
            <a:avLst/>
          </a:prstGeom>
          <a:noFill/>
          <a:ln>
            <a:noFill/>
          </a:ln>
        </p:spPr>
        <p:txBody>
          <a:bodyPr spcFirstLastPara="1" wrap="square" lIns="91425" tIns="45700" rIns="91425" bIns="45700" anchor="t" anchorCtr="0">
            <a:normAutofit/>
          </a:bodyPr>
          <a:lstStyle/>
          <a:p>
            <a:pPr marL="457200" lvl="1" indent="0">
              <a:spcBef>
                <a:spcPts val="0"/>
              </a:spcBef>
              <a:buClr>
                <a:srgbClr val="FFFF00"/>
              </a:buClr>
            </a:pPr>
            <a:r>
              <a:rPr lang="en-GB" dirty="0">
                <a:solidFill>
                  <a:srgbClr val="FFFF00"/>
                </a:solidFill>
              </a:rPr>
              <a:t>                                                                      Lecture Tutorial 01b</a:t>
            </a:r>
            <a:endParaRPr lang="en-US" dirty="0"/>
          </a:p>
          <a:p>
            <a:pPr marL="0" lvl="0" indent="0" algn="l" rtl="0">
              <a:spcBef>
                <a:spcPts val="560"/>
              </a:spcBef>
              <a:spcAft>
                <a:spcPts val="0"/>
              </a:spcAft>
              <a:buClr>
                <a:schemeClr val="dk1"/>
              </a:buClr>
              <a:buSzPts val="2800"/>
              <a:buNone/>
            </a:pPr>
            <a:endParaRPr dirty="0">
              <a:solidFill>
                <a:srgbClr val="FF0000"/>
              </a:solidFill>
            </a:endParaRPr>
          </a:p>
          <a:p>
            <a:pPr marL="0" lvl="0" indent="0" algn="ctr" rtl="0">
              <a:spcBef>
                <a:spcPts val="560"/>
              </a:spcBef>
              <a:spcAft>
                <a:spcPts val="0"/>
              </a:spcAft>
              <a:buClr>
                <a:schemeClr val="dk1"/>
              </a:buClr>
              <a:buSzPts val="2800"/>
              <a:buNone/>
            </a:pP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1" name="Google Shape;51;p2"/>
          <p:cNvSpPr txBox="1"/>
          <p:nvPr/>
        </p:nvSpPr>
        <p:spPr>
          <a:xfrm>
            <a:off x="1946952" y="1340769"/>
            <a:ext cx="82536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i="0" u="none" strike="noStrike" cap="none">
                <a:solidFill>
                  <a:srgbClr val="FFFF00"/>
                </a:solidFill>
                <a:latin typeface="Quattrocento Sans"/>
                <a:ea typeface="Quattrocento Sans"/>
                <a:cs typeface="Quattrocento Sans"/>
                <a:sym typeface="Quattrocento Sans"/>
              </a:rPr>
              <a:t>Unity3D</a:t>
            </a: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3"/>
          <p:cNvSpPr txBox="1"/>
          <p:nvPr/>
        </p:nvSpPr>
        <p:spPr>
          <a:xfrm>
            <a:off x="1946952" y="1340769"/>
            <a:ext cx="8253600" cy="55091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Professional Game Engines (3D to 2D)</a:t>
            </a:r>
            <a:endParaRPr/>
          </a:p>
          <a:p>
            <a:pPr marL="0" marR="0" lvl="0" indent="0" algn="l" rtl="0">
              <a:spcBef>
                <a:spcPts val="0"/>
              </a:spcBef>
              <a:spcAft>
                <a:spcPts val="0"/>
              </a:spcAft>
              <a:buNone/>
            </a:pPr>
            <a:r>
              <a:rPr lang="en-GB" sz="3200">
                <a:solidFill>
                  <a:schemeClr val="dk1"/>
                </a:solidFill>
                <a:latin typeface="Quattrocento Sans"/>
                <a:ea typeface="Quattrocento Sans"/>
                <a:cs typeface="Quattrocento Sans"/>
                <a:sym typeface="Quattrocento Sans"/>
              </a:rPr>
              <a:t>All have free versions with commercial options</a:t>
            </a:r>
            <a:endParaRPr>
              <a:solidFill>
                <a:schemeClr val="dk1"/>
              </a:solidFill>
            </a:endParaRPr>
          </a:p>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Unity3D</a:t>
            </a:r>
            <a:endParaRPr/>
          </a:p>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Unreal Engine 5+</a:t>
            </a:r>
            <a:endParaRPr/>
          </a:p>
          <a:p>
            <a:r>
              <a:rPr lang="en-GB" sz="3200">
                <a:solidFill>
                  <a:srgbClr val="FFFF00"/>
                </a:solidFill>
                <a:latin typeface="Quattrocento Sans"/>
                <a:ea typeface="Quattrocento Sans"/>
                <a:cs typeface="Quattrocento Sans"/>
                <a:sym typeface="Quattrocento Sans"/>
              </a:rPr>
              <a:t>Godot</a:t>
            </a:r>
            <a:endParaRPr lang="en-GB" sz="3200">
              <a:solidFill>
                <a:srgbClr val="FFFF00"/>
              </a:solidFill>
              <a:latin typeface="Quattrocento Sans"/>
              <a:ea typeface="Quattrocento Sans"/>
              <a:cs typeface="Quattrocento Sans"/>
            </a:endParaRPr>
          </a:p>
          <a:p>
            <a:pPr marL="0" marR="0" lvl="0" indent="0" algn="l">
              <a:spcBef>
                <a:spcPts val="0"/>
              </a:spcBef>
              <a:spcAft>
                <a:spcPts val="0"/>
              </a:spcAft>
              <a:buNone/>
            </a:pPr>
            <a:r>
              <a:rPr lang="en-GB" sz="3200">
                <a:solidFill>
                  <a:srgbClr val="FFFF00"/>
                </a:solidFill>
                <a:latin typeface="Quattrocento Sans"/>
                <a:ea typeface="Quattrocento Sans"/>
                <a:cs typeface="Quattrocento Sans"/>
                <a:sym typeface="Quattrocento Sans"/>
              </a:rPr>
              <a:t>CryEngine</a:t>
            </a:r>
            <a:endParaRPr sz="32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Lumberyard</a:t>
            </a:r>
            <a:endParaRPr/>
          </a:p>
          <a:p>
            <a:pPr marL="0" marR="0" lvl="0" indent="0" algn="l" rtl="0">
              <a:spcBef>
                <a:spcPts val="0"/>
              </a:spcBef>
              <a:spcAft>
                <a:spcPts val="0"/>
              </a:spcAft>
              <a:buNone/>
            </a:pPr>
            <a:r>
              <a:rPr lang="en-GB" sz="3200" err="1">
                <a:solidFill>
                  <a:srgbClr val="FFFF00"/>
                </a:solidFill>
                <a:latin typeface="Quattrocento Sans"/>
                <a:ea typeface="Quattrocento Sans"/>
                <a:cs typeface="Quattrocento Sans"/>
                <a:sym typeface="Quattrocento Sans"/>
              </a:rPr>
              <a:t>Monogame</a:t>
            </a:r>
            <a:endParaRPr sz="32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Marmalade</a:t>
            </a:r>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p:txBody>
      </p:sp>
      <p:sp>
        <p:nvSpPr>
          <p:cNvPr id="58" name="Google Shape;58;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4"/>
          <p:cNvSpPr txBox="1"/>
          <p:nvPr/>
        </p:nvSpPr>
        <p:spPr>
          <a:xfrm>
            <a:off x="1946952" y="1340769"/>
            <a:ext cx="8253600" cy="4955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100">
                <a:solidFill>
                  <a:srgbClr val="FFFF00"/>
                </a:solidFill>
                <a:latin typeface="Quattrocento Sans"/>
                <a:ea typeface="Quattrocento Sans"/>
                <a:cs typeface="Quattrocento Sans"/>
                <a:sym typeface="Quattrocento Sans"/>
              </a:rPr>
              <a:t>Unity3D</a:t>
            </a:r>
            <a:endParaRPr sz="23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Flexible </a:t>
            </a:r>
            <a:r>
              <a:rPr lang="en-GB" sz="1900" err="1">
                <a:solidFill>
                  <a:schemeClr val="dk1"/>
                </a:solidFill>
                <a:latin typeface="Quattrocento Sans"/>
                <a:ea typeface="Quattrocento Sans"/>
                <a:cs typeface="Quattrocento Sans"/>
                <a:sym typeface="Quattrocento Sans"/>
              </a:rPr>
              <a:t>GameObject</a:t>
            </a:r>
            <a:r>
              <a:rPr lang="en-GB" sz="1900">
                <a:solidFill>
                  <a:schemeClr val="dk1"/>
                </a:solidFill>
                <a:latin typeface="Quattrocento Sans"/>
                <a:ea typeface="Quattrocento Sans"/>
                <a:cs typeface="Quattrocento Sans"/>
                <a:sym typeface="Quattrocento Sans"/>
              </a:rPr>
              <a:t> and Component Architecture on top of </a:t>
            </a:r>
            <a:r>
              <a:rPr lang="en-GB" sz="1900" err="1">
                <a:solidFill>
                  <a:schemeClr val="dk1"/>
                </a:solidFill>
                <a:latin typeface="Quattrocento Sans"/>
                <a:ea typeface="Quattrocento Sans"/>
                <a:cs typeface="Quattrocento Sans"/>
                <a:sym typeface="Quattrocento Sans"/>
              </a:rPr>
              <a:t>Monodevelop</a:t>
            </a:r>
            <a:endParaRPr sz="19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900">
                <a:solidFill>
                  <a:srgbClr val="FFFF00"/>
                </a:solidFill>
                <a:latin typeface="Quattrocento Sans"/>
                <a:ea typeface="Quattrocento Sans"/>
                <a:cs typeface="Quattrocento Sans"/>
                <a:sym typeface="Quattrocento Sans"/>
              </a:rPr>
              <a:t>Pros</a:t>
            </a:r>
            <a:endParaRPr sz="1300"/>
          </a:p>
          <a:p>
            <a:r>
              <a:rPr lang="en-GB" sz="1900">
                <a:solidFill>
                  <a:schemeClr val="dk1"/>
                </a:solidFill>
                <a:latin typeface="Quattrocento Sans"/>
                <a:ea typeface="Quattrocento Sans"/>
                <a:cs typeface="Quattrocento Sans"/>
                <a:sym typeface="Quattrocento Sans"/>
              </a:rPr>
              <a:t>C# or Visual Scripting</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VR Friendly – engine of choice for many VR hardware manufacturers</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Some automatic optimisation</a:t>
            </a:r>
            <a:br>
              <a:rPr lang="en-GB" sz="1900">
                <a:latin typeface="Quattrocento Sans"/>
                <a:ea typeface="Quattrocento Sans"/>
                <a:cs typeface="Quattrocento Sans"/>
              </a:rPr>
            </a:br>
            <a:r>
              <a:rPr lang="en-GB" sz="1900">
                <a:solidFill>
                  <a:schemeClr val="dk1"/>
                </a:solidFill>
                <a:latin typeface="Quattrocento Sans"/>
                <a:ea typeface="Quattrocento Sans"/>
                <a:cs typeface="Quattrocento Sans"/>
                <a:sym typeface="Quattrocento Sans"/>
              </a:rPr>
              <a:t>Multiple platform builds</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Large Support Community and tutorials</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Wide range of free and paid assets</a:t>
            </a:r>
            <a:endParaRPr sz="1300">
              <a:solidFill>
                <a:schemeClr val="dk1"/>
              </a:solidFill>
            </a:endParaRPr>
          </a:p>
          <a:p>
            <a:r>
              <a:rPr lang="en-GB" sz="1900">
                <a:solidFill>
                  <a:schemeClr val="dk1"/>
                </a:solidFill>
                <a:latin typeface="Quattrocento Sans"/>
                <a:ea typeface="Quattrocento Sans"/>
                <a:cs typeface="Quattrocento Sans"/>
                <a:sym typeface="Quattrocento Sans"/>
              </a:rPr>
              <a:t>Now has real time Global Illumination system</a:t>
            </a:r>
            <a:endParaRPr lang="en-GB" sz="1900">
              <a:solidFill>
                <a:schemeClr val="dk1"/>
              </a:solidFill>
              <a:latin typeface="Quattrocento Sans"/>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Very fast for prototyping</a:t>
            </a:r>
            <a:endParaRPr sz="1300">
              <a:solidFill>
                <a:schemeClr val="dk1"/>
              </a:solidFill>
            </a:endParaRPr>
          </a:p>
          <a:p>
            <a:pPr marL="0" marR="0" lvl="0" indent="0" algn="l" rtl="0">
              <a:spcBef>
                <a:spcPts val="0"/>
              </a:spcBef>
              <a:spcAft>
                <a:spcPts val="0"/>
              </a:spcAft>
              <a:buNone/>
            </a:pPr>
            <a:r>
              <a:rPr lang="en-GB" sz="1900">
                <a:solidFill>
                  <a:srgbClr val="FFFF00"/>
                </a:solidFill>
                <a:latin typeface="Quattrocento Sans"/>
                <a:ea typeface="Quattrocento Sans"/>
                <a:cs typeface="Quattrocento Sans"/>
                <a:sym typeface="Quattrocento Sans"/>
              </a:rPr>
              <a:t>Cons</a:t>
            </a:r>
            <a:endParaRPr sz="1300"/>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Not as powerful as UE6</a:t>
            </a:r>
            <a:endParaRPr sz="1300">
              <a:solidFill>
                <a:schemeClr val="dk1"/>
              </a:solidFill>
            </a:endParaRPr>
          </a:p>
          <a:p>
            <a:r>
              <a:rPr lang="en-GB" sz="1900">
                <a:solidFill>
                  <a:schemeClr val="dk1"/>
                </a:solidFill>
                <a:latin typeface="Quattrocento Sans"/>
                <a:ea typeface="Quattrocento Sans"/>
                <a:cs typeface="Quattrocento Sans"/>
                <a:sym typeface="Quattrocento Sans"/>
              </a:rPr>
              <a:t>WebGL code will be larger – there are options such as Needle Tools to build</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Shader, Lighting systems lagging behind UE5</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Has a more entry level feel – limited modelling and building</a:t>
            </a:r>
            <a:endParaRPr sz="3100">
              <a:solidFill>
                <a:schemeClr val="dk1"/>
              </a:solidFill>
              <a:latin typeface="Quattrocento Sans"/>
              <a:ea typeface="Quattrocento Sans"/>
              <a:cs typeface="Quattrocento Sans"/>
              <a:sym typeface="Quattrocento Sans"/>
            </a:endParaRPr>
          </a:p>
        </p:txBody>
      </p:sp>
      <p:sp>
        <p:nvSpPr>
          <p:cNvPr id="65" name="Google Shape;65;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p:nvPr/>
        </p:nvSpPr>
        <p:spPr>
          <a:xfrm>
            <a:off x="1946952" y="1340769"/>
            <a:ext cx="8253600"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Unreal Engine 5+</a:t>
            </a: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C++ in </a:t>
            </a:r>
            <a:r>
              <a:rPr lang="en-GB" sz="2000" err="1">
                <a:solidFill>
                  <a:schemeClr val="dk1"/>
                </a:solidFill>
                <a:latin typeface="Quattrocento Sans"/>
                <a:ea typeface="Quattrocento Sans"/>
                <a:cs typeface="Quattrocento Sans"/>
                <a:sym typeface="Quattrocento Sans"/>
              </a:rPr>
              <a:t>Unreal’s</a:t>
            </a:r>
            <a:r>
              <a:rPr lang="en-GB" sz="2000">
                <a:solidFill>
                  <a:schemeClr val="dk1"/>
                </a:solidFill>
                <a:latin typeface="Quattrocento Sans"/>
                <a:ea typeface="Quattrocento Sans"/>
                <a:cs typeface="Quattrocento Sans"/>
                <a:sym typeface="Quattrocento Sans"/>
              </a:rPr>
              <a:t> Blueprint visual scripting system</a:t>
            </a:r>
            <a:endParaRPr>
              <a:solidFill>
                <a:schemeClr val="dk1"/>
              </a:solidFill>
            </a:endParaRPr>
          </a:p>
          <a:p>
            <a:pPr marL="0" marR="0" lvl="0" indent="0" algn="l" rtl="0">
              <a:spcBef>
                <a:spcPts val="0"/>
              </a:spcBef>
              <a:spcAft>
                <a:spcPts val="0"/>
              </a:spcAft>
              <a:buNone/>
            </a:pPr>
            <a:r>
              <a:rPr lang="en-GB" sz="2000">
                <a:solidFill>
                  <a:srgbClr val="FFFF00"/>
                </a:solidFill>
                <a:latin typeface="Quattrocento Sans"/>
                <a:ea typeface="Quattrocento Sans"/>
                <a:cs typeface="Quattrocento Sans"/>
                <a:sym typeface="Quattrocento Sans"/>
              </a:rPr>
              <a:t>Pros</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Complete game development toolset</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Professional engine choice</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Powerful and expandable</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C++ blueprint base</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High end dynamic real time Lighting and Shading</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High number of particles</a:t>
            </a:r>
            <a:endParaRPr>
              <a:solidFill>
                <a:schemeClr val="dk1"/>
              </a:solidFill>
            </a:endParaRPr>
          </a:p>
          <a:p>
            <a:pPr marL="0" marR="0" lvl="0" indent="0" algn="l" rtl="0">
              <a:spcBef>
                <a:spcPts val="0"/>
              </a:spcBef>
              <a:spcAft>
                <a:spcPts val="0"/>
              </a:spcAft>
              <a:buNone/>
            </a:pPr>
            <a:r>
              <a:rPr lang="en-GB" sz="2000">
                <a:solidFill>
                  <a:srgbClr val="FFFF00"/>
                </a:solidFill>
                <a:latin typeface="Quattrocento Sans"/>
                <a:ea typeface="Quattrocento Sans"/>
                <a:cs typeface="Quattrocento Sans"/>
                <a:sym typeface="Quattrocento Sans"/>
              </a:rPr>
              <a:t>Cons</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Steeper Learning Curve than other engines</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Slower to support VR</a:t>
            </a:r>
            <a:endParaRPr>
              <a:solidFill>
                <a:schemeClr val="dk1"/>
              </a:solidFill>
            </a:endParaRPr>
          </a:p>
          <a:p>
            <a:r>
              <a:rPr lang="en-GB" sz="2000">
                <a:solidFill>
                  <a:schemeClr val="dk1"/>
                </a:solidFill>
                <a:latin typeface="Quattrocento Sans"/>
                <a:ea typeface="Quattrocento Sans"/>
                <a:cs typeface="Quattrocento Sans"/>
              </a:rPr>
              <a:t>Heavier to run and not always ideal for mobile games</a:t>
            </a: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endParaRPr lang="en-US" sz="3200" b="1">
              <a:solidFill>
                <a:srgbClr val="FFFF00"/>
              </a:solidFill>
              <a:latin typeface="Quattrocento Sans"/>
              <a:ea typeface="Quattrocento Sans"/>
              <a:cs typeface="Quattrocento Sans"/>
            </a:endParaRPr>
          </a:p>
        </p:txBody>
      </p:sp>
      <p:sp>
        <p:nvSpPr>
          <p:cNvPr id="72" name="Google Shape;72;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6"/>
          <p:cNvSpPr txBox="1"/>
          <p:nvPr/>
        </p:nvSpPr>
        <p:spPr>
          <a:xfrm>
            <a:off x="1946952" y="1340768"/>
            <a:ext cx="8253600" cy="554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Overview</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Unreal tended to be the market standard, but Unity has seemed to surpass it. It offers modular assets that cover any weak spots in the program, PhysX, a new GI PBR based system, and is the engine of choice for many new VR hardware manufacturers</a:t>
            </a:r>
            <a:endParaRPr sz="3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https://unity3d.com/public-relations</a:t>
            </a: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rgbClr val="FFFF00"/>
                </a:solidFill>
                <a:latin typeface="Quattrocento Sans"/>
                <a:ea typeface="Quattrocento Sans"/>
                <a:cs typeface="Quattrocento Sans"/>
                <a:sym typeface="Quattrocento Sans"/>
              </a:rPr>
              <a:t>Why?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Just good enough</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Flexible marketplace additions – developer opportunity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Decreases code complexity (C#)</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Large code library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Workflow is very streamlined - Iteration is fast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Multiple platforms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Solid and reliable – comfortable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Large support community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Overall strategy of inclusiveness</a:t>
            </a:r>
            <a:endParaRPr/>
          </a:p>
          <a:p>
            <a:pPr marL="0" marR="0" lvl="0" indent="0" algn="l" rtl="0">
              <a:spcBef>
                <a:spcPts val="0"/>
              </a:spcBef>
              <a:spcAft>
                <a:spcPts val="0"/>
              </a:spcAft>
              <a:buNone/>
            </a:pPr>
            <a:r>
              <a:rPr lang="en-GB" sz="1800" u="sng">
                <a:solidFill>
                  <a:schemeClr val="hlink"/>
                </a:solidFill>
                <a:latin typeface="Quattrocento Sans"/>
                <a:ea typeface="Quattrocento Sans"/>
                <a:cs typeface="Quattrocento Sans"/>
                <a:sym typeface="Quattrocento Sans"/>
                <a:hlinkClick r:id="rId4"/>
              </a:rPr>
              <a:t>https://www.quora.com/Why-is-Unity-Game-Engine-so-successful</a:t>
            </a: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p:txBody>
      </p:sp>
      <p:sp>
        <p:nvSpPr>
          <p:cNvPr id="79" name="Google Shape;79;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7"/>
          <p:cNvSpPr txBox="1"/>
          <p:nvPr/>
        </p:nvSpPr>
        <p:spPr>
          <a:xfrm>
            <a:off x="1946952" y="1340768"/>
            <a:ext cx="9878400" cy="4585830"/>
          </a:xfrm>
          <a:prstGeom prst="rect">
            <a:avLst/>
          </a:prstGeom>
          <a:noFill/>
          <a:ln>
            <a:noFill/>
          </a:ln>
        </p:spPr>
        <p:txBody>
          <a:bodyPr spcFirstLastPara="1" wrap="square" lIns="91425" tIns="45700" rIns="91425" bIns="45700" anchor="t" anchorCtr="0">
            <a:spAutoFit/>
          </a:bodyPr>
          <a:lstStyle/>
          <a:p>
            <a:r>
              <a:rPr lang="en-GB" sz="3200" dirty="0">
                <a:solidFill>
                  <a:srgbClr val="FFFF00"/>
                </a:solidFill>
                <a:latin typeface="Quattrocento Sans"/>
                <a:ea typeface="Quattrocento Sans"/>
                <a:cs typeface="Quattrocento Sans"/>
                <a:sym typeface="Quattrocento Sans"/>
              </a:rPr>
              <a:t>3D Web Game Engines/Frameworks Ecosystem</a:t>
            </a:r>
            <a:endParaRPr dirty="0"/>
          </a:p>
          <a:p>
            <a:endParaRPr lang="en-GB" sz="2400"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dirty="0">
                <a:solidFill>
                  <a:srgbClr val="FFFF00"/>
                </a:solidFill>
                <a:latin typeface="Quattrocento Sans"/>
                <a:ea typeface="Quattrocento Sans"/>
                <a:cs typeface="Quattrocento Sans"/>
                <a:sym typeface="Quattrocento Sans"/>
              </a:rPr>
              <a:t>3D Frameworks</a:t>
            </a:r>
            <a:endParaRPr dirty="0"/>
          </a:p>
          <a:p>
            <a:pPr marL="0" marR="0" lvl="0" indent="0" algn="l" rtl="0">
              <a:spcBef>
                <a:spcPts val="0"/>
              </a:spcBef>
              <a:spcAft>
                <a:spcPts val="0"/>
              </a:spcAft>
              <a:buNone/>
            </a:pPr>
            <a:r>
              <a:rPr lang="en-GB" sz="2000" dirty="0" err="1">
                <a:solidFill>
                  <a:schemeClr val="dk1"/>
                </a:solidFill>
                <a:latin typeface="Quattrocento Sans"/>
                <a:ea typeface="Quattrocento Sans"/>
                <a:cs typeface="Quattrocento Sans"/>
                <a:sym typeface="Quattrocento Sans"/>
              </a:rPr>
              <a:t>PlayCanvas</a:t>
            </a:r>
            <a:r>
              <a:rPr lang="en-GB" sz="2000" dirty="0">
                <a:solidFill>
                  <a:schemeClr val="dk1"/>
                </a:solidFill>
                <a:latin typeface="Quattrocento Sans"/>
                <a:ea typeface="Quattrocento Sans"/>
                <a:cs typeface="Quattrocento Sans"/>
                <a:sym typeface="Quattrocento Sans"/>
              </a:rPr>
              <a:t> - </a:t>
            </a:r>
            <a:r>
              <a:rPr lang="en-GB" sz="2000" u="sng"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https://playcanvas.com/</a:t>
            </a:r>
            <a:endParaRPr sz="20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dirty="0">
                <a:solidFill>
                  <a:schemeClr val="dk1"/>
                </a:solidFill>
                <a:latin typeface="Quattrocento Sans"/>
                <a:ea typeface="Quattrocento Sans"/>
                <a:cs typeface="Quattrocento Sans"/>
                <a:sym typeface="Quattrocento Sans"/>
              </a:rPr>
              <a:t>Babylon.js - </a:t>
            </a:r>
            <a:r>
              <a:rPr lang="en-GB" sz="2000" u="sng" dirty="0">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http://www.babylonjs.com/</a:t>
            </a:r>
            <a:endParaRPr sz="20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dirty="0">
                <a:solidFill>
                  <a:schemeClr val="dk1"/>
                </a:solidFill>
                <a:latin typeface="Quattrocento Sans"/>
                <a:ea typeface="Quattrocento Sans"/>
                <a:cs typeface="Quattrocento Sans"/>
                <a:sym typeface="Quattrocento Sans"/>
              </a:rPr>
              <a:t>Three.js - </a:t>
            </a:r>
            <a:r>
              <a:rPr lang="en-GB" sz="2000" u="sng" dirty="0">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https://threejs.org/</a:t>
            </a:r>
            <a:endParaRPr sz="2000" dirty="0">
              <a:solidFill>
                <a:schemeClr val="dk1"/>
              </a:solidFill>
              <a:latin typeface="Quattrocento Sans"/>
              <a:ea typeface="Quattrocento Sans"/>
              <a:cs typeface="Quattrocento Sans"/>
              <a:sym typeface="Quattrocento Sans"/>
            </a:endParaRPr>
          </a:p>
          <a:p>
            <a:endParaRPr lang="en-GB" sz="2400"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400" dirty="0">
                <a:solidFill>
                  <a:srgbClr val="FFFF00"/>
                </a:solidFill>
                <a:latin typeface="Quattrocento Sans"/>
                <a:ea typeface="Quattrocento Sans"/>
                <a:cs typeface="Quattrocento Sans"/>
                <a:sym typeface="Quattrocento Sans"/>
              </a:rPr>
              <a:t>Web VR Framework</a:t>
            </a:r>
            <a:endParaRPr dirty="0"/>
          </a:p>
          <a:p>
            <a:pPr marL="0" marR="0" lvl="0" indent="0" algn="l" rtl="0">
              <a:spcBef>
                <a:spcPts val="0"/>
              </a:spcBef>
              <a:spcAft>
                <a:spcPts val="0"/>
              </a:spcAft>
              <a:buNone/>
            </a:pPr>
            <a:r>
              <a:rPr lang="en-GB" sz="2000" dirty="0" err="1">
                <a:solidFill>
                  <a:schemeClr val="dk1"/>
                </a:solidFill>
                <a:latin typeface="Quattrocento Sans"/>
                <a:ea typeface="Quattrocento Sans"/>
                <a:cs typeface="Quattrocento Sans"/>
                <a:sym typeface="Quattrocento Sans"/>
              </a:rPr>
              <a:t>Aframe</a:t>
            </a:r>
            <a:r>
              <a:rPr lang="en-GB" sz="2000" dirty="0">
                <a:solidFill>
                  <a:schemeClr val="dk1"/>
                </a:solidFill>
                <a:latin typeface="Quattrocento Sans"/>
                <a:ea typeface="Quattrocento Sans"/>
                <a:cs typeface="Quattrocento Sans"/>
                <a:sym typeface="Quattrocento Sans"/>
              </a:rPr>
              <a:t> - </a:t>
            </a:r>
            <a:r>
              <a:rPr lang="en-GB" sz="2000" u="sng" dirty="0">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https://aframe.io/aframe-school/#/</a:t>
            </a:r>
            <a:endParaRPr sz="2400" dirty="0">
              <a:solidFill>
                <a:schemeClr val="dk1"/>
              </a:solidFill>
              <a:latin typeface="Quattrocento Sans"/>
              <a:ea typeface="Quattrocento Sans"/>
              <a:cs typeface="Quattrocento Sans"/>
              <a:sym typeface="Quattrocento Sans"/>
            </a:endParaRPr>
          </a:p>
          <a:p>
            <a:endParaRPr lang="en-GB" sz="2400"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400" dirty="0">
                <a:solidFill>
                  <a:srgbClr val="FFFF00"/>
                </a:solidFill>
                <a:latin typeface="Quattrocento Sans"/>
                <a:ea typeface="Quattrocento Sans"/>
                <a:cs typeface="Quattrocento Sans"/>
                <a:sym typeface="Quattrocento Sans"/>
              </a:rPr>
              <a:t>2D Game Frameworks (Some Overlap)</a:t>
            </a:r>
            <a:endParaRPr dirty="0"/>
          </a:p>
          <a:p>
            <a:pPr marL="0" marR="0" lvl="0" indent="0" algn="l" rtl="0">
              <a:spcBef>
                <a:spcPts val="0"/>
              </a:spcBef>
              <a:spcAft>
                <a:spcPts val="0"/>
              </a:spcAft>
              <a:buNone/>
            </a:pPr>
            <a:r>
              <a:rPr lang="en-GB" sz="2000" dirty="0">
                <a:solidFill>
                  <a:schemeClr val="dk1"/>
                </a:solidFill>
                <a:latin typeface="Quattrocento Sans"/>
                <a:ea typeface="Quattrocento Sans"/>
                <a:cs typeface="Quattrocento Sans"/>
                <a:sym typeface="Quattrocento Sans"/>
              </a:rPr>
              <a:t>HTML5 Game Engines - </a:t>
            </a:r>
            <a:r>
              <a:rPr lang="en-GB" sz="2000" u="sng" dirty="0">
                <a:solidFill>
                  <a:schemeClr val="dk1"/>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https://html5gameengine.com/</a:t>
            </a:r>
            <a:endParaRPr sz="20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600" b="1" dirty="0">
              <a:solidFill>
                <a:schemeClr val="dk1"/>
              </a:solidFill>
              <a:latin typeface="Quattrocento Sans"/>
              <a:ea typeface="Quattrocento Sans"/>
              <a:cs typeface="Quattrocento Sans"/>
              <a:sym typeface="Quattrocento Sans"/>
            </a:endParaRPr>
          </a:p>
        </p:txBody>
      </p:sp>
      <p:sp>
        <p:nvSpPr>
          <p:cNvPr id="86" name="Google Shape;86;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8"/>
          <p:cNvSpPr txBox="1"/>
          <p:nvPr/>
        </p:nvSpPr>
        <p:spPr>
          <a:xfrm>
            <a:off x="1946952" y="1340768"/>
            <a:ext cx="8253600" cy="39087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3D Web Game Engines/Frameworks</a:t>
            </a:r>
            <a:endParaRPr/>
          </a:p>
          <a:p>
            <a:pPr marL="0" marR="0" lvl="0" indent="0" algn="l" rtl="0">
              <a:spcBef>
                <a:spcPts val="0"/>
              </a:spcBef>
              <a:spcAft>
                <a:spcPts val="0"/>
              </a:spcAft>
              <a:buNone/>
            </a:pPr>
            <a:endParaRPr lang="en-GB" sz="2400">
              <a:solidFill>
                <a:srgbClr val="FFFF00"/>
              </a:solidFill>
              <a:latin typeface="Quattrocento Sans"/>
            </a:endParaRPr>
          </a:p>
          <a:p>
            <a:r>
              <a:rPr lang="en-GB" sz="1600" err="1">
                <a:solidFill>
                  <a:schemeClr val="dk1"/>
                </a:solidFill>
                <a:latin typeface="Quattrocento Sans"/>
                <a:ea typeface="Quattrocento Sans"/>
                <a:cs typeface="Quattrocento Sans"/>
                <a:sym typeface="Quattrocento Sans"/>
              </a:rPr>
              <a:t>MetaCampus</a:t>
            </a:r>
            <a:r>
              <a:rPr lang="en-GB" sz="1600">
                <a:solidFill>
                  <a:schemeClr val="dk1"/>
                </a:solidFill>
                <a:latin typeface="Quattrocento Sans"/>
                <a:ea typeface="Quattrocento Sans"/>
                <a:cs typeface="Quattrocento Sans"/>
                <a:sym typeface="Quattrocento Sans"/>
              </a:rPr>
              <a:t> with 3D augmentation </a:t>
            </a:r>
            <a:endParaRPr>
              <a:solidFill>
                <a:schemeClr val="dk1"/>
              </a:solidFill>
            </a:endParaRPr>
          </a:p>
          <a:p>
            <a:pPr marL="0" marR="0" lvl="0" indent="0" algn="l" rtl="0">
              <a:spcBef>
                <a:spcPts val="0"/>
              </a:spcBef>
              <a:spcAft>
                <a:spcPts val="0"/>
              </a:spcAft>
              <a:buNone/>
            </a:pPr>
            <a:r>
              <a:rPr lang="en-GB" sz="16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https://www.youtube.com/watch?v=XLMv_qEXJO0&amp;t=18s</a:t>
            </a: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Why use Unity for this?</a:t>
            </a:r>
            <a:endParaRPr/>
          </a:p>
          <a:p>
            <a:r>
              <a:rPr lang="en-GB" sz="2400">
                <a:solidFill>
                  <a:schemeClr val="dk1"/>
                </a:solidFill>
                <a:latin typeface="Quattrocento Sans"/>
                <a:ea typeface="Quattrocento Sans"/>
                <a:cs typeface="Quattrocento Sans"/>
                <a:sym typeface="Quattrocento Sans"/>
              </a:rPr>
              <a:t>	Builds to WebGL</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Fairly Optimised</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Good Entry to WebGL, Web3D, </a:t>
            </a:r>
            <a:r>
              <a:rPr lang="en-GB" sz="2400" err="1">
                <a:solidFill>
                  <a:schemeClr val="dk1"/>
                </a:solidFill>
                <a:latin typeface="Quattrocento Sans"/>
                <a:ea typeface="Quattrocento Sans"/>
                <a:cs typeface="Quattrocento Sans"/>
                <a:sym typeface="Quattrocento Sans"/>
              </a:rPr>
              <a:t>WebVR</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Powerful and simple Scripting</a:t>
            </a:r>
            <a:endParaRPr>
              <a:solidFill>
                <a:schemeClr val="dk1"/>
              </a:solidFill>
            </a:endParaRPr>
          </a:p>
          <a:p>
            <a:pPr marL="0" marR="0" lvl="0" indent="0" algn="l" rtl="0">
              <a:spcBef>
                <a:spcPts val="0"/>
              </a:spcBef>
              <a:spcAft>
                <a:spcPts val="0"/>
              </a:spcAft>
              <a:buNone/>
            </a:pPr>
            <a:endParaRPr sz="1600" b="1">
              <a:solidFill>
                <a:schemeClr val="dk1"/>
              </a:solidFill>
              <a:latin typeface="Quattrocento Sans"/>
              <a:ea typeface="Quattrocento Sans"/>
              <a:cs typeface="Quattrocento Sans"/>
              <a:sym typeface="Quattrocento Sans"/>
            </a:endParaRPr>
          </a:p>
        </p:txBody>
      </p:sp>
      <p:sp>
        <p:nvSpPr>
          <p:cNvPr id="93" name="Google Shape;93;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p:nvPr/>
        </p:nvSpPr>
        <p:spPr>
          <a:xfrm>
            <a:off x="680523" y="1305277"/>
            <a:ext cx="10731494" cy="4154943"/>
          </a:xfrm>
          <a:prstGeom prst="rect">
            <a:avLst/>
          </a:prstGeom>
          <a:noFill/>
          <a:ln>
            <a:noFill/>
          </a:ln>
        </p:spPr>
        <p:txBody>
          <a:bodyPr spcFirstLastPara="1" wrap="square" lIns="91425" tIns="45700" rIns="91425" bIns="45700" anchor="t" anchorCtr="0">
            <a:spAutoFit/>
          </a:bodyPr>
          <a:lstStyle/>
          <a:p>
            <a:r>
              <a:rPr lang="en-GB" sz="2400" dirty="0">
                <a:solidFill>
                  <a:srgbClr val="FFFF00"/>
                </a:solidFill>
                <a:latin typeface="Quattrocento Sans"/>
                <a:ea typeface="Quattrocento Sans"/>
                <a:cs typeface="Quattrocento Sans"/>
                <a:sym typeface="Quattrocento Sans"/>
              </a:rPr>
              <a:t>Unity3D Install </a:t>
            </a:r>
            <a:endParaRPr lang="en-GB" sz="2400" dirty="0">
              <a:solidFill>
                <a:srgbClr val="FFFF00"/>
              </a:solidFill>
              <a:latin typeface="Quattrocento Sans"/>
              <a:ea typeface="Quattrocento Sans"/>
              <a:cs typeface="Quattrocento Sans"/>
            </a:endParaRPr>
          </a:p>
          <a:p>
            <a:pPr marL="342900" marR="0" lvl="0" indent="-342900" algn="l" rtl="0">
              <a:spcBef>
                <a:spcPts val="0"/>
              </a:spcBef>
              <a:spcAft>
                <a:spcPts val="0"/>
              </a:spcAft>
              <a:buClr>
                <a:schemeClr val="dk1"/>
              </a:buClr>
              <a:buSzPts val="2400"/>
              <a:buChar char="•"/>
            </a:pPr>
            <a:r>
              <a:rPr lang="en-GB" sz="2400" dirty="0">
                <a:solidFill>
                  <a:schemeClr val="dk1"/>
                </a:solidFill>
                <a:latin typeface="Quattrocento Sans"/>
                <a:ea typeface="Quattrocento Sans"/>
                <a:cs typeface="Quattrocento Sans"/>
                <a:sym typeface="Quattrocento Sans"/>
              </a:rPr>
              <a:t>Must have personal account – free for our purposes</a:t>
            </a:r>
            <a:endParaRPr sz="2400" dirty="0">
              <a:solidFill>
                <a:schemeClr val="dk1"/>
              </a:solidFill>
              <a:latin typeface="Quattrocento Sans"/>
              <a:ea typeface="Quattrocento Sans"/>
              <a:cs typeface="Quattrocento Sans"/>
              <a:sym typeface="Quattrocento Sans"/>
            </a:endParaRPr>
          </a:p>
          <a:p>
            <a:pPr marL="342900" marR="0" lvl="0" indent="-342900" algn="l" rtl="0">
              <a:spcBef>
                <a:spcPts val="0"/>
              </a:spcBef>
              <a:spcAft>
                <a:spcPts val="0"/>
              </a:spcAft>
              <a:buClr>
                <a:schemeClr val="dk1"/>
              </a:buClr>
              <a:buSzPts val="2400"/>
              <a:buChar char="•"/>
            </a:pPr>
            <a:r>
              <a:rPr lang="en-GB" sz="2400" dirty="0">
                <a:solidFill>
                  <a:schemeClr val="dk1"/>
                </a:solidFill>
                <a:latin typeface="Quattrocento Sans"/>
                <a:ea typeface="Quattrocento Sans"/>
                <a:cs typeface="Quattrocento Sans"/>
                <a:sym typeface="Quattrocento Sans"/>
              </a:rPr>
              <a:t>Can have multiple versions installed – Via Unity Hub</a:t>
            </a:r>
            <a:endParaRPr dirty="0">
              <a:solidFill>
                <a:schemeClr val="dk1"/>
              </a:solidFill>
            </a:endParaRPr>
          </a:p>
          <a:p>
            <a:pPr marL="342900" indent="-342900">
              <a:buClr>
                <a:schemeClr val="dk1"/>
              </a:buClr>
              <a:buSzPts val="2400"/>
              <a:buChar char="•"/>
            </a:pPr>
            <a:r>
              <a:rPr lang="en-GB" sz="2400" dirty="0">
                <a:solidFill>
                  <a:schemeClr val="dk1"/>
                </a:solidFill>
                <a:latin typeface="Quattrocento Sans"/>
                <a:ea typeface="Quattrocento Sans"/>
                <a:cs typeface="Quattrocento Sans"/>
                <a:sym typeface="Quattrocento Sans"/>
              </a:rPr>
              <a:t>Some Unity Hub Tutorials are in 2020.3f</a:t>
            </a:r>
            <a:endParaRPr dirty="0">
              <a:solidFill>
                <a:schemeClr val="dk1"/>
              </a:solidFill>
            </a:endParaRPr>
          </a:p>
          <a:p>
            <a:pPr marL="342900" indent="-342900">
              <a:buClr>
                <a:srgbClr val="FFFF00"/>
              </a:buClr>
              <a:buSzPts val="2400"/>
              <a:buChar char="•"/>
            </a:pPr>
            <a:r>
              <a:rPr lang="en-GB" sz="2400" dirty="0">
                <a:solidFill>
                  <a:srgbClr val="FFFF00"/>
                </a:solidFill>
                <a:latin typeface="Quattrocento Sans"/>
                <a:ea typeface="Quattrocento Sans"/>
                <a:cs typeface="Quattrocento Sans"/>
                <a:sym typeface="Quattrocento Sans"/>
              </a:rPr>
              <a:t>Module Uses 6000.0.55f1 – it is the only version supported for the duration of the module in order to minimise issues</a:t>
            </a:r>
            <a:endParaRPr dirty="0"/>
          </a:p>
          <a:p>
            <a:pPr marL="342900" indent="-342900">
              <a:buClr>
                <a:schemeClr val="dk2"/>
              </a:buClr>
              <a:buSzPts val="2400"/>
              <a:buChar char="•"/>
            </a:pPr>
            <a:r>
              <a:rPr lang="en-GB" sz="2400" dirty="0">
                <a:solidFill>
                  <a:schemeClr val="dk2"/>
                </a:solidFill>
                <a:latin typeface="Quattrocento Sans"/>
                <a:ea typeface="Quattrocento Sans"/>
                <a:cs typeface="Quattrocento Sans"/>
                <a:sym typeface="Quattrocento Sans"/>
              </a:rPr>
              <a:t>Projects must Use </a:t>
            </a:r>
            <a:r>
              <a:rPr lang="en-GB" sz="2400" dirty="0">
                <a:solidFill>
                  <a:srgbClr val="FFFF00"/>
                </a:solidFill>
                <a:latin typeface="Quattrocento Sans"/>
                <a:ea typeface="Quattrocento Sans"/>
                <a:cs typeface="Quattrocento Sans"/>
                <a:sym typeface="Quattrocento Sans"/>
              </a:rPr>
              <a:t>6000.0.55f1 </a:t>
            </a:r>
            <a:endParaRPr dirty="0">
              <a:solidFill>
                <a:schemeClr val="dk2"/>
              </a:solidFill>
            </a:endParaRPr>
          </a:p>
          <a:p>
            <a:pPr marL="342900" marR="0" lvl="0" indent="-342900" algn="l" rtl="0">
              <a:spcBef>
                <a:spcPts val="0"/>
              </a:spcBef>
              <a:spcAft>
                <a:spcPts val="0"/>
              </a:spcAft>
              <a:buClr>
                <a:srgbClr val="FFFF00"/>
              </a:buClr>
              <a:buSzPts val="2400"/>
              <a:buChar char="•"/>
            </a:pPr>
            <a:r>
              <a:rPr lang="en-GB" sz="2400" i="1" dirty="0">
                <a:solidFill>
                  <a:srgbClr val="FFFF00"/>
                </a:solidFill>
                <a:latin typeface="Quattrocento Sans"/>
                <a:ea typeface="Quattrocento Sans"/>
                <a:cs typeface="Quattrocento Sans"/>
                <a:sym typeface="Quattrocento Sans"/>
              </a:rPr>
              <a:t>Must open projects in correct versions</a:t>
            </a:r>
            <a:endParaRPr dirty="0"/>
          </a:p>
          <a:p>
            <a:pPr marL="0" marR="0" lvl="0" indent="0" algn="l" rtl="0">
              <a:spcBef>
                <a:spcPts val="0"/>
              </a:spcBef>
              <a:spcAft>
                <a:spcPts val="0"/>
              </a:spcAft>
              <a:buNone/>
            </a:pPr>
            <a:endParaRPr sz="24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dirty="0">
                <a:solidFill>
                  <a:schemeClr val="dk1"/>
                </a:solidFill>
                <a:latin typeface="Quattrocento Sans"/>
                <a:ea typeface="Quattrocento Sans"/>
                <a:cs typeface="Quattrocento Sans"/>
                <a:sym typeface="Quattrocento Sans"/>
              </a:rPr>
              <a:t>Can work online or offline – login helps consolidate projects and</a:t>
            </a:r>
            <a:endParaRPr dirty="0">
              <a:solidFill>
                <a:schemeClr val="dk1"/>
              </a:solidFill>
            </a:endParaRPr>
          </a:p>
          <a:p>
            <a:r>
              <a:rPr lang="en-GB" sz="2400" dirty="0">
                <a:solidFill>
                  <a:schemeClr val="dk1"/>
                </a:solidFill>
                <a:latin typeface="Quattrocento Sans"/>
                <a:ea typeface="Quattrocento Sans"/>
                <a:cs typeface="Quattrocento Sans"/>
                <a:sym typeface="Quattrocento Sans"/>
              </a:rPr>
              <a:t>Hub </a:t>
            </a:r>
            <a:r>
              <a:rPr lang="en-GB" sz="2400" dirty="0" err="1">
                <a:solidFill>
                  <a:schemeClr val="dk1"/>
                </a:solidFill>
                <a:latin typeface="Quattrocento Sans"/>
                <a:ea typeface="Quattrocento Sans"/>
                <a:cs typeface="Quattrocento Sans"/>
                <a:sym typeface="Quattrocento Sans"/>
              </a:rPr>
              <a:t>DesktopSettings</a:t>
            </a:r>
            <a:r>
              <a:rPr lang="en-GB" sz="2400" dirty="0">
                <a:solidFill>
                  <a:schemeClr val="dk1"/>
                </a:solidFill>
                <a:latin typeface="Quattrocento Sans"/>
                <a:ea typeface="Quattrocento Sans"/>
                <a:cs typeface="Quattrocento Sans"/>
                <a:sym typeface="Quattrocento Sans"/>
              </a:rPr>
              <a:t> between machines, especially if using </a:t>
            </a:r>
            <a:r>
              <a:rPr lang="en-GB" sz="2400" dirty="0" err="1">
                <a:solidFill>
                  <a:srgbClr val="FFFF00"/>
                </a:solidFill>
                <a:latin typeface="Quattrocento Sans"/>
                <a:ea typeface="Quattrocento Sans"/>
                <a:cs typeface="Quattrocento Sans"/>
                <a:sym typeface="Quattrocento Sans"/>
              </a:rPr>
              <a:t>Github</a:t>
            </a:r>
            <a:r>
              <a:rPr lang="en-GB" sz="2400" dirty="0">
                <a:solidFill>
                  <a:srgbClr val="FFFF00"/>
                </a:solidFill>
                <a:latin typeface="Quattrocento Sans"/>
                <a:ea typeface="Quattrocento Sans"/>
                <a:cs typeface="Quattrocento Sans"/>
                <a:sym typeface="Quattrocento Sans"/>
              </a:rPr>
              <a:t> Website</a:t>
            </a:r>
            <a:endParaRPr lang="en-GB" sz="2400" dirty="0">
              <a:solidFill>
                <a:schemeClr val="dk1"/>
              </a:solidFill>
              <a:latin typeface="Quattrocento Sans"/>
            </a:endParaRPr>
          </a:p>
        </p:txBody>
      </p:sp>
      <p:sp>
        <p:nvSpPr>
          <p:cNvPr id="100" name="Google Shape;100;p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0"/>
          <p:cNvSpPr txBox="1"/>
          <p:nvPr/>
        </p:nvSpPr>
        <p:spPr>
          <a:xfrm>
            <a:off x="1938197" y="1412777"/>
            <a:ext cx="7403152" cy="4524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i="1">
                <a:solidFill>
                  <a:srgbClr val="FFFF00"/>
                </a:solidFill>
                <a:latin typeface="Quattrocento Sans"/>
                <a:ea typeface="Quattrocento Sans"/>
                <a:cs typeface="Quattrocento Sans"/>
                <a:sym typeface="Quattrocento Sans"/>
              </a:rPr>
              <a:t>This week covers:</a:t>
            </a:r>
            <a:endParaRPr/>
          </a:p>
          <a:p>
            <a:pPr marL="0" marR="0" lvl="0" indent="0" algn="l" rtl="0">
              <a:spcBef>
                <a:spcPts val="0"/>
              </a:spcBef>
              <a:spcAft>
                <a:spcPts val="0"/>
              </a:spcAft>
              <a:buNone/>
            </a:pPr>
            <a:endParaRPr sz="32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200" i="1">
                <a:solidFill>
                  <a:srgbClr val="FFFF00"/>
                </a:solidFill>
                <a:latin typeface="Quattrocento Sans"/>
                <a:ea typeface="Quattrocento Sans"/>
                <a:cs typeface="Quattrocento Sans"/>
                <a:sym typeface="Quattrocento Sans"/>
              </a:rPr>
              <a:t>Basic Architecture</a:t>
            </a:r>
            <a:endParaRPr/>
          </a:p>
          <a:p>
            <a:pPr marL="0" marR="0" lvl="0" indent="0" algn="l" rtl="0">
              <a:spcBef>
                <a:spcPts val="0"/>
              </a:spcBef>
              <a:spcAft>
                <a:spcPts val="0"/>
              </a:spcAft>
              <a:buNone/>
            </a:pPr>
            <a:endParaRPr sz="32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200" i="1">
                <a:solidFill>
                  <a:srgbClr val="FFFF00"/>
                </a:solidFill>
                <a:latin typeface="Quattrocento Sans"/>
                <a:ea typeface="Quattrocento Sans"/>
                <a:cs typeface="Quattrocento Sans"/>
                <a:sym typeface="Quattrocento Sans"/>
              </a:rPr>
              <a:t>User Interface</a:t>
            </a:r>
            <a:endParaRPr/>
          </a:p>
          <a:p>
            <a:pPr marL="0" marR="0" lvl="0" indent="0" algn="l" rtl="0">
              <a:spcBef>
                <a:spcPts val="0"/>
              </a:spcBef>
              <a:spcAft>
                <a:spcPts val="0"/>
              </a:spcAft>
              <a:buNone/>
            </a:pPr>
            <a:endParaRPr sz="32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200" i="1">
                <a:solidFill>
                  <a:srgbClr val="FFFF00"/>
                </a:solidFill>
                <a:latin typeface="Quattrocento Sans"/>
                <a:ea typeface="Quattrocento Sans"/>
                <a:cs typeface="Quattrocento Sans"/>
                <a:sym typeface="Quattrocento Sans"/>
              </a:rPr>
              <a:t>Concepts</a:t>
            </a:r>
            <a:endParaRPr/>
          </a:p>
          <a:p>
            <a:pPr marL="0" marR="0" lvl="0" indent="0" algn="l" rtl="0">
              <a:spcBef>
                <a:spcPts val="0"/>
              </a:spcBef>
              <a:spcAft>
                <a:spcPts val="0"/>
              </a:spcAft>
              <a:buNone/>
            </a:pPr>
            <a:endParaRPr sz="32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200" i="1">
                <a:solidFill>
                  <a:srgbClr val="FFFF00"/>
                </a:solidFill>
                <a:latin typeface="Quattrocento Sans"/>
                <a:ea typeface="Quattrocento Sans"/>
                <a:cs typeface="Quattrocento Sans"/>
                <a:sym typeface="Quattrocento Sans"/>
              </a:rPr>
              <a:t>Next Week: Basic Scripting in C#</a:t>
            </a:r>
            <a:endParaRPr/>
          </a:p>
        </p:txBody>
      </p:sp>
      <p:sp>
        <p:nvSpPr>
          <p:cNvPr id="107" name="Google Shape;107;p1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4"/>
          <p:cNvSpPr txBox="1"/>
          <p:nvPr/>
        </p:nvSpPr>
        <p:spPr>
          <a:xfrm>
            <a:off x="609600" y="1412777"/>
            <a:ext cx="10979580"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Quattrocento Sans"/>
                <a:ea typeface="Quattrocento Sans"/>
                <a:cs typeface="Quattrocento Sans"/>
                <a:sym typeface="Quattrocento Sans"/>
              </a:rPr>
              <a:t>Basic Architecture</a:t>
            </a:r>
            <a:endParaRPr lang="en-GB" sz="3600" dirty="0">
              <a:solidFill>
                <a:srgbClr val="FFFF00"/>
              </a:solidFill>
              <a:latin typeface="Quattrocento Sans"/>
              <a:ea typeface="Quattrocento Sans"/>
              <a:cs typeface="Quattrocento Sans"/>
            </a:endParaRPr>
          </a:p>
          <a:p>
            <a:endParaRPr lang="en-GB" sz="3600" dirty="0">
              <a:solidFill>
                <a:srgbClr val="FFFF00"/>
              </a:solidFill>
              <a:latin typeface="Quattrocento Sans"/>
            </a:endParaRPr>
          </a:p>
          <a:p>
            <a:r>
              <a:rPr lang="en-GB" sz="3600" dirty="0">
                <a:solidFill>
                  <a:srgbClr val="FFFF00"/>
                </a:solidFill>
                <a:latin typeface="Quattrocento Sans"/>
              </a:rPr>
              <a:t>If familiar, please work on brainstorming on: </a:t>
            </a:r>
          </a:p>
        </p:txBody>
      </p:sp>
      <p:sp>
        <p:nvSpPr>
          <p:cNvPr id="58" name="Google Shape;58;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1871136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1"/>
          <p:cNvSpPr txBox="1"/>
          <p:nvPr/>
        </p:nvSpPr>
        <p:spPr>
          <a:xfrm>
            <a:off x="1938201" y="1412775"/>
            <a:ext cx="52959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a:t>
            </a:r>
            <a:endParaRPr/>
          </a:p>
        </p:txBody>
      </p:sp>
      <p:sp>
        <p:nvSpPr>
          <p:cNvPr id="114" name="Google Shape;114;p1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2"/>
          <p:cNvSpPr txBox="1"/>
          <p:nvPr/>
        </p:nvSpPr>
        <p:spPr>
          <a:xfrm>
            <a:off x="1938197" y="1412777"/>
            <a:ext cx="9338347" cy="44011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(File in Top Menu)</a:t>
            </a:r>
            <a:endParaRPr/>
          </a:p>
          <a:p>
            <a:pPr marL="0" marR="0" lvl="0" indent="0" algn="l" rtl="0">
              <a:spcBef>
                <a:spcPts val="0"/>
              </a:spcBef>
              <a:spcAft>
                <a:spcPts val="0"/>
              </a:spcAft>
              <a:buNone/>
            </a:pPr>
            <a:br>
              <a:rPr lang="en-GB" sz="2000">
                <a:latin typeface="Quattrocento Sans"/>
                <a:ea typeface="Quattrocento Sans"/>
                <a:cs typeface="Quattrocento Sans"/>
              </a:rPr>
            </a:br>
            <a:r>
              <a:rPr lang="en-GB" sz="2000">
                <a:solidFill>
                  <a:schemeClr val="dk1"/>
                </a:solidFill>
                <a:latin typeface="Quattrocento Sans"/>
                <a:ea typeface="Quattrocento Sans"/>
                <a:cs typeface="Quattrocento Sans"/>
                <a:sym typeface="Quattrocento Sans"/>
              </a:rPr>
              <a:t>Creating Project:</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r>
              <a:rPr lang="en-GB" sz="2000">
                <a:solidFill>
                  <a:schemeClr val="dk1"/>
                </a:solidFill>
                <a:latin typeface="Quattrocento Sans"/>
                <a:ea typeface="Quattrocento Sans"/>
                <a:cs typeface="Quattrocento Sans"/>
                <a:sym typeface="Quattrocento Sans"/>
              </a:rPr>
              <a:t>You are prompted to create  2D or 3D</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	3D Contains 2D elements as well – images, textures, sprites</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You can swap at any time</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For 2.5D, select 3D and set camera and scene view to orthographic</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r>
              <a:rPr lang="en-GB" sz="2000">
                <a:solidFill>
                  <a:schemeClr val="dk1"/>
                </a:solidFill>
                <a:latin typeface="Quattrocento Sans"/>
                <a:ea typeface="Quattrocento Sans"/>
                <a:cs typeface="Quattrocento Sans"/>
                <a:sym typeface="Quattrocento Sans"/>
              </a:rPr>
              <a:t>There is Physics and Physics 2D settings you can adjust in edit/preferences </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
        <p:nvSpPr>
          <p:cNvPr id="121" name="Google Shape;121;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3"/>
          <p:cNvSpPr txBox="1"/>
          <p:nvPr/>
        </p:nvSpPr>
        <p:spPr>
          <a:xfrm>
            <a:off x="1938198" y="1412777"/>
            <a:ext cx="7727100" cy="50167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(Project Window)</a:t>
            </a:r>
            <a:endParaRPr/>
          </a:p>
          <a:p>
            <a:pPr marL="0" marR="0" lvl="0" indent="0" algn="l" rtl="0">
              <a:spcBef>
                <a:spcPts val="0"/>
              </a:spcBef>
              <a:spcAft>
                <a:spcPts val="0"/>
              </a:spcAft>
              <a:buNone/>
            </a:pPr>
            <a:br>
              <a:rPr lang="en-GB" sz="2000">
                <a:latin typeface="Quattrocento Sans"/>
                <a:ea typeface="Quattrocento Sans"/>
                <a:cs typeface="Quattrocento Sans"/>
              </a:rPr>
            </a:br>
            <a:r>
              <a:rPr lang="en-GB" sz="2000">
                <a:solidFill>
                  <a:schemeClr val="dk1"/>
                </a:solidFill>
                <a:latin typeface="Quattrocento Sans"/>
                <a:ea typeface="Quattrocento Sans"/>
                <a:cs typeface="Quattrocento Sans"/>
                <a:sym typeface="Quattrocento Sans"/>
              </a:rPr>
              <a:t>Projects – projects are hierarchal folders created by Unity that</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Contain all the assets of a work</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Assets may include Scripts, Data files, Animations, 3D Mesh Objects</a:t>
            </a:r>
            <a:endParaRPr>
              <a:solidFill>
                <a:schemeClr val="dk1"/>
              </a:solidFill>
            </a:endParaRPr>
          </a:p>
          <a:p>
            <a:r>
              <a:rPr lang="en-GB" sz="2000">
                <a:solidFill>
                  <a:schemeClr val="dk1"/>
                </a:solidFill>
                <a:latin typeface="Quattrocento Sans"/>
                <a:ea typeface="Quattrocento Sans"/>
                <a:cs typeface="Quattrocento Sans"/>
                <a:sym typeface="Quattrocento Sans"/>
              </a:rPr>
              <a:t>Fonts, Plugins, Materials,  Textures, </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r>
              <a:rPr lang="en-GB" sz="2000">
                <a:solidFill>
                  <a:schemeClr val="dk1"/>
                </a:solidFill>
                <a:latin typeface="Quattrocento Sans"/>
                <a:ea typeface="Quattrocento Sans"/>
                <a:cs typeface="Quattrocento Sans"/>
                <a:sym typeface="Quattrocento Sans"/>
              </a:rPr>
              <a:t>The Project File on Disk has Assets Folder, which displays all the </a:t>
            </a:r>
            <a:endParaRPr>
              <a:solidFill>
                <a:schemeClr val="dk1"/>
              </a:solidFill>
            </a:endParaRPr>
          </a:p>
          <a:p>
            <a:r>
              <a:rPr lang="en-GB" sz="2000">
                <a:solidFill>
                  <a:schemeClr val="dk1"/>
                </a:solidFill>
                <a:latin typeface="Quattrocento Sans"/>
                <a:ea typeface="Quattrocento Sans"/>
                <a:cs typeface="Quattrocento Sans"/>
                <a:sym typeface="Quattrocento Sans"/>
              </a:rPr>
              <a:t>items above, as well as other folders for Library items, Project Settings, Temp files, Builds, other data, and other operational items.</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r>
              <a:rPr lang="en-GB" sz="2000">
                <a:solidFill>
                  <a:schemeClr val="dk1"/>
                </a:solidFill>
                <a:latin typeface="Quattrocento Sans"/>
                <a:ea typeface="Quattrocento Sans"/>
                <a:cs typeface="Quattrocento Sans"/>
                <a:sym typeface="Quattrocento Sans"/>
              </a:rPr>
              <a:t>They may contain Visual Studio  or </a:t>
            </a:r>
            <a:r>
              <a:rPr lang="en-GB" sz="2000" err="1">
                <a:solidFill>
                  <a:schemeClr val="dk1"/>
                </a:solidFill>
                <a:latin typeface="Quattrocento Sans"/>
                <a:ea typeface="Quattrocento Sans"/>
                <a:cs typeface="Quattrocento Sans"/>
                <a:sym typeface="Quattrocento Sans"/>
              </a:rPr>
              <a:t>VSCode</a:t>
            </a:r>
            <a:r>
              <a:rPr lang="en-GB" sz="2000">
                <a:solidFill>
                  <a:schemeClr val="dk1"/>
                </a:solidFill>
                <a:latin typeface="Quattrocento Sans"/>
                <a:ea typeface="Quattrocento Sans"/>
                <a:cs typeface="Quattrocento Sans"/>
                <a:sym typeface="Quattrocento Sans"/>
              </a:rPr>
              <a:t> files if these are used as an IDE.</a:t>
            </a:r>
            <a:endParaRPr>
              <a:solidFill>
                <a:schemeClr val="dk1"/>
              </a:solidFill>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
        <p:nvSpPr>
          <p:cNvPr id="128" name="Google Shape;128;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p:nvPr/>
        </p:nvSpPr>
        <p:spPr>
          <a:xfrm>
            <a:off x="1938200" y="1412775"/>
            <a:ext cx="86604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(Project Window)</a:t>
            </a:r>
            <a:endParaRPr/>
          </a:p>
          <a:p>
            <a:pPr marL="0" marR="0" lvl="0" indent="0" algn="l" rtl="0">
              <a:spcBef>
                <a:spcPts val="0"/>
              </a:spcBef>
              <a:spcAft>
                <a:spcPts val="0"/>
              </a:spcAft>
              <a:buNone/>
            </a:pPr>
            <a:br>
              <a:rPr lang="en-GB" sz="2000">
                <a:solidFill>
                  <a:srgbClr val="FFFF00"/>
                </a:solidFill>
                <a:latin typeface="Quattrocento Sans"/>
                <a:ea typeface="Quattrocento Sans"/>
                <a:cs typeface="Quattrocento Sans"/>
                <a:sym typeface="Quattrocento Sans"/>
              </a:rPr>
            </a:br>
            <a:r>
              <a:rPr lang="en-GB" sz="2000">
                <a:solidFill>
                  <a:schemeClr val="dk1"/>
                </a:solidFill>
                <a:latin typeface="Quattrocento Sans"/>
                <a:ea typeface="Quattrocento Sans"/>
                <a:cs typeface="Quattrocento Sans"/>
                <a:sym typeface="Quattrocento Sans"/>
              </a:rPr>
              <a:t>Project Window in Unity</a:t>
            </a: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You may move or organise your files or folders in any way you see fit in the </a:t>
            </a:r>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Unity Project  Window within the Unity UI.</a:t>
            </a:r>
            <a:endParaRPr sz="20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If you do it here, Unity keeps track of your files and will create all necessary </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linkages without any work on your part.</a:t>
            </a:r>
            <a:endParaRPr sz="20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i="1">
                <a:solidFill>
                  <a:srgbClr val="FF0000"/>
                </a:solidFill>
                <a:latin typeface="Quattrocento Sans"/>
                <a:ea typeface="Quattrocento Sans"/>
                <a:cs typeface="Quattrocento Sans"/>
                <a:sym typeface="Quattrocento Sans"/>
              </a:rPr>
              <a:t>Do Not move files within the project in the windows interface, as this will </a:t>
            </a:r>
            <a:endParaRPr/>
          </a:p>
          <a:p>
            <a:pPr marL="0" marR="0" lvl="0" indent="0" algn="l" rtl="0">
              <a:spcBef>
                <a:spcPts val="0"/>
              </a:spcBef>
              <a:spcAft>
                <a:spcPts val="0"/>
              </a:spcAft>
              <a:buNone/>
            </a:pPr>
            <a:r>
              <a:rPr lang="en-GB" sz="2000" i="1">
                <a:solidFill>
                  <a:srgbClr val="FF0000"/>
                </a:solidFill>
                <a:latin typeface="Quattrocento Sans"/>
                <a:ea typeface="Quattrocento Sans"/>
                <a:cs typeface="Quattrocento Sans"/>
                <a:sym typeface="Quattrocento Sans"/>
              </a:rPr>
              <a:t>Break the linkages above.</a:t>
            </a:r>
            <a:endParaRPr sz="2000" i="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i="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The Project Window may also contain shortcuts for certain files at the top</a:t>
            </a:r>
            <a:endParaRPr/>
          </a:p>
        </p:txBody>
      </p:sp>
      <p:sp>
        <p:nvSpPr>
          <p:cNvPr id="135" name="Google Shape;135;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5"/>
          <p:cNvSpPr txBox="1"/>
          <p:nvPr/>
        </p:nvSpPr>
        <p:spPr>
          <a:xfrm>
            <a:off x="1984523" y="1364851"/>
            <a:ext cx="8378100" cy="4724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500">
                <a:solidFill>
                  <a:srgbClr val="FFFF00"/>
                </a:solidFill>
                <a:latin typeface="Quattrocento Sans"/>
                <a:ea typeface="Quattrocento Sans"/>
                <a:cs typeface="Quattrocento Sans"/>
                <a:sym typeface="Quattrocento Sans"/>
              </a:rPr>
              <a:t>Basic Architecture (Scenes, Builds)</a:t>
            </a:r>
            <a:endParaRPr sz="1300"/>
          </a:p>
          <a:p>
            <a:pPr marL="0" marR="0" lvl="0" indent="0" algn="l" rtl="0">
              <a:spcBef>
                <a:spcPts val="0"/>
              </a:spcBef>
              <a:spcAft>
                <a:spcPts val="0"/>
              </a:spcAft>
              <a:buNone/>
            </a:pPr>
            <a:br>
              <a:rPr lang="en-GB" sz="1900">
                <a:latin typeface="Quattrocento Sans"/>
                <a:ea typeface="Quattrocento Sans"/>
                <a:cs typeface="Quattrocento Sans"/>
              </a:rPr>
            </a:br>
            <a:r>
              <a:rPr lang="en-GB" sz="1900">
                <a:solidFill>
                  <a:schemeClr val="dk1"/>
                </a:solidFill>
                <a:latin typeface="Quattrocento Sans"/>
                <a:ea typeface="Quattrocento Sans"/>
                <a:cs typeface="Quattrocento Sans"/>
                <a:sym typeface="Quattrocento Sans"/>
              </a:rPr>
              <a:t>Scenes – these double up in Unity as Levels, and are sometimes</a:t>
            </a:r>
            <a:endParaRPr sz="1300">
              <a:solidFill>
                <a:schemeClr val="dk1"/>
              </a:solidFill>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referred to as such. There is a </a:t>
            </a:r>
            <a:r>
              <a:rPr lang="en-GB" sz="1900" err="1">
                <a:solidFill>
                  <a:schemeClr val="dk1"/>
                </a:solidFill>
                <a:latin typeface="Quattrocento Sans"/>
                <a:ea typeface="Quattrocento Sans"/>
                <a:cs typeface="Quattrocento Sans"/>
                <a:sym typeface="Quattrocento Sans"/>
              </a:rPr>
              <a:t>SceneManager</a:t>
            </a:r>
            <a:r>
              <a:rPr lang="en-GB" sz="1900">
                <a:solidFill>
                  <a:schemeClr val="dk1"/>
                </a:solidFill>
                <a:latin typeface="Quattrocento Sans"/>
                <a:ea typeface="Quattrocento Sans"/>
                <a:cs typeface="Quattrocento Sans"/>
                <a:sym typeface="Quattrocento Sans"/>
              </a:rPr>
              <a:t> class you can use if desired.</a:t>
            </a:r>
            <a:endParaRPr sz="1300">
              <a:solidFill>
                <a:schemeClr val="dk1"/>
              </a:solidFill>
            </a:endParaRPr>
          </a:p>
          <a:p>
            <a:pPr marL="0" marR="0" lvl="0" indent="0" algn="l" rtl="0">
              <a:spcBef>
                <a:spcPts val="0"/>
              </a:spcBef>
              <a:spcAft>
                <a:spcPts val="0"/>
              </a:spcAft>
              <a:buNone/>
            </a:pPr>
            <a:endParaRPr sz="19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900" i="1">
                <a:solidFill>
                  <a:schemeClr val="dk1"/>
                </a:solidFill>
                <a:latin typeface="Quattrocento Sans"/>
                <a:ea typeface="Quattrocento Sans"/>
                <a:cs typeface="Quattrocento Sans"/>
                <a:sym typeface="Quattrocento Sans"/>
              </a:rPr>
              <a:t>Scenes are saved in the Assets Folder and appear in the project Window.</a:t>
            </a:r>
            <a:endParaRPr sz="1300">
              <a:solidFill>
                <a:schemeClr val="dk1"/>
              </a:solidFill>
            </a:endParaRPr>
          </a:p>
          <a:p>
            <a:pPr marL="0" marR="0" lvl="0" indent="0" algn="l" rtl="0">
              <a:spcBef>
                <a:spcPts val="0"/>
              </a:spcBef>
              <a:spcAft>
                <a:spcPts val="0"/>
              </a:spcAft>
              <a:buNone/>
            </a:pPr>
            <a:endParaRPr sz="1900">
              <a:solidFill>
                <a:schemeClr val="dk1"/>
              </a:solidFill>
              <a:latin typeface="Quattrocento Sans"/>
              <a:ea typeface="Quattrocento Sans"/>
              <a:cs typeface="Quattrocento Sans"/>
              <a:sym typeface="Quattrocento Sans"/>
            </a:endParaRPr>
          </a:p>
          <a:p>
            <a:r>
              <a:rPr lang="en-GB" sz="1900">
                <a:solidFill>
                  <a:schemeClr val="dk1"/>
                </a:solidFill>
                <a:latin typeface="Quattrocento Sans"/>
                <a:ea typeface="Quattrocento Sans"/>
                <a:cs typeface="Quattrocento Sans"/>
                <a:sym typeface="Quattrocento Sans"/>
              </a:rPr>
              <a:t>Builds – in build Settings you can select scenes (levels) to add to the export. </a:t>
            </a:r>
            <a:endParaRPr lang="en-GB" sz="1300">
              <a:ea typeface="Quattrocento Sans"/>
              <a:sym typeface="Quattrocento Sans"/>
            </a:endParaRPr>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It will play the first scene unless scripts otherwise specify. You may export to </a:t>
            </a:r>
            <a:endParaRPr sz="1300"/>
          </a:p>
          <a:p>
            <a:r>
              <a:rPr lang="en-GB" sz="1900">
                <a:solidFill>
                  <a:schemeClr val="dk1"/>
                </a:solidFill>
                <a:latin typeface="Quattrocento Sans"/>
                <a:ea typeface="Quattrocento Sans"/>
                <a:cs typeface="Quattrocento Sans"/>
                <a:sym typeface="Quattrocento Sans"/>
              </a:rPr>
              <a:t>any Platform that is loaded. Install any platforms required at install stage or </a:t>
            </a:r>
            <a:endParaRPr sz="1300"/>
          </a:p>
          <a:p>
            <a:r>
              <a:rPr lang="en-GB" sz="1900">
                <a:solidFill>
                  <a:schemeClr val="dk1"/>
                </a:solidFill>
                <a:latin typeface="Quattrocento Sans"/>
                <a:ea typeface="Quattrocento Sans"/>
                <a:cs typeface="Quattrocento Sans"/>
                <a:sym typeface="Quattrocento Sans"/>
              </a:rPr>
              <a:t>now, as these are all optional, apart from a PC build.</a:t>
            </a:r>
            <a:endParaRPr lang="en-GB" sz="1900">
              <a:solidFill>
                <a:schemeClr val="dk1"/>
              </a:solidFill>
              <a:latin typeface="Quattrocento Sans"/>
            </a:endParaRPr>
          </a:p>
          <a:p>
            <a:pPr marL="0" marR="0" lvl="0" indent="0" algn="l" rtl="0">
              <a:spcBef>
                <a:spcPts val="0"/>
              </a:spcBef>
              <a:spcAft>
                <a:spcPts val="0"/>
              </a:spcAft>
              <a:buNone/>
            </a:pPr>
            <a:endParaRPr sz="1900">
              <a:solidFill>
                <a:schemeClr val="dk1"/>
              </a:solidFill>
              <a:latin typeface="Quattrocento Sans"/>
              <a:ea typeface="Quattrocento Sans"/>
              <a:cs typeface="Quattrocento Sans"/>
              <a:sym typeface="Quattrocento Sans"/>
            </a:endParaRPr>
          </a:p>
          <a:p>
            <a:r>
              <a:rPr lang="en-GB" sz="1900">
                <a:solidFill>
                  <a:schemeClr val="dk1"/>
                </a:solidFill>
                <a:latin typeface="Quattrocento Sans"/>
                <a:ea typeface="Quattrocento Sans"/>
                <a:cs typeface="Quattrocento Sans"/>
                <a:sym typeface="Quattrocento Sans"/>
              </a:rPr>
              <a:t>Build Platforms include: </a:t>
            </a:r>
            <a:r>
              <a:rPr lang="en-GB" sz="1900" err="1">
                <a:solidFill>
                  <a:schemeClr val="dk1"/>
                </a:solidFill>
                <a:latin typeface="Quattrocento Sans"/>
                <a:ea typeface="Quattrocento Sans"/>
                <a:cs typeface="Quattrocento Sans"/>
                <a:sym typeface="Quattrocento Sans"/>
              </a:rPr>
              <a:t>Webplayer</a:t>
            </a:r>
            <a:r>
              <a:rPr lang="en-GB" sz="1900">
                <a:solidFill>
                  <a:schemeClr val="dk1"/>
                </a:solidFill>
                <a:latin typeface="Quattrocento Sans"/>
                <a:ea typeface="Quattrocento Sans"/>
                <a:cs typeface="Quattrocento Sans"/>
                <a:sym typeface="Quattrocento Sans"/>
              </a:rPr>
              <a:t> (deprecated, now WebGL/GPU), Standalone (exe), Android, iOS, </a:t>
            </a:r>
            <a:r>
              <a:rPr lang="en-GB" sz="1900" err="1">
                <a:solidFill>
                  <a:schemeClr val="dk1"/>
                </a:solidFill>
                <a:latin typeface="Quattrocento Sans"/>
                <a:ea typeface="Quattrocento Sans"/>
                <a:cs typeface="Quattrocento Sans"/>
                <a:sym typeface="Quattrocento Sans"/>
              </a:rPr>
              <a:t>tvOS</a:t>
            </a:r>
            <a:r>
              <a:rPr lang="en-GB" sz="1900">
                <a:solidFill>
                  <a:schemeClr val="dk1"/>
                </a:solidFill>
                <a:latin typeface="Quattrocento Sans"/>
                <a:ea typeface="Quattrocento Sans"/>
                <a:cs typeface="Quattrocento Sans"/>
                <a:sym typeface="Quattrocento Sans"/>
              </a:rPr>
              <a:t>,  Tizen,  Xbox, PS, Windows Store, and Samsung TV</a:t>
            </a:r>
            <a:endParaRPr sz="1300">
              <a:solidFill>
                <a:schemeClr val="dk1"/>
              </a:solidFill>
            </a:endParaRPr>
          </a:p>
        </p:txBody>
      </p:sp>
      <p:sp>
        <p:nvSpPr>
          <p:cNvPr id="142" name="Google Shape;142;p15"/>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6"/>
          <p:cNvSpPr txBox="1"/>
          <p:nvPr/>
        </p:nvSpPr>
        <p:spPr>
          <a:xfrm>
            <a:off x="1938198" y="1412776"/>
            <a:ext cx="9536982"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(Top Menu)</a:t>
            </a:r>
            <a:endParaRPr/>
          </a:p>
          <a:p>
            <a:pPr marL="0" marR="0" lvl="0" indent="0" algn="l" rtl="0">
              <a:spcBef>
                <a:spcPts val="0"/>
              </a:spcBef>
              <a:spcAft>
                <a:spcPts val="0"/>
              </a:spcAft>
              <a:buNone/>
            </a:pPr>
            <a:br>
              <a:rPr lang="en-GB" sz="2000">
                <a:latin typeface="Quattrocento Sans"/>
                <a:ea typeface="Quattrocento Sans"/>
                <a:cs typeface="Quattrocento Sans"/>
              </a:rPr>
            </a:br>
            <a:r>
              <a:rPr lang="en-GB" sz="2000">
                <a:solidFill>
                  <a:srgbClr val="FFFF00"/>
                </a:solidFill>
                <a:latin typeface="Quattrocento Sans"/>
                <a:ea typeface="Quattrocento Sans"/>
                <a:cs typeface="Quattrocento Sans"/>
                <a:sym typeface="Quattrocento Sans"/>
              </a:rPr>
              <a:t>Edit - </a:t>
            </a:r>
            <a:r>
              <a:rPr lang="en-GB" sz="2000">
                <a:solidFill>
                  <a:schemeClr val="dk1"/>
                </a:solidFill>
                <a:latin typeface="Quattrocento Sans"/>
                <a:ea typeface="Quattrocento Sans"/>
                <a:cs typeface="Quattrocento Sans"/>
                <a:sym typeface="Quattrocento Sans"/>
              </a:rPr>
              <a:t>These are a very basic set of functions and preferences</a:t>
            </a:r>
            <a:endParaRPr>
              <a:solidFill>
                <a:schemeClr val="dk1"/>
              </a:solidFill>
            </a:endParaRPr>
          </a:p>
          <a:p>
            <a:pPr marL="0" marR="0" lvl="0" indent="0" algn="l" rtl="0">
              <a:spcBef>
                <a:spcPts val="0"/>
              </a:spcBef>
              <a:spcAft>
                <a:spcPts val="0"/>
              </a:spcAft>
              <a:buNone/>
            </a:pPr>
            <a:endParaRPr sz="20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rgbClr val="FFFF00"/>
                </a:solidFill>
                <a:latin typeface="Quattrocento Sans"/>
                <a:ea typeface="Quattrocento Sans"/>
                <a:cs typeface="Quattrocento Sans"/>
                <a:sym typeface="Quattrocento Sans"/>
              </a:rPr>
              <a:t>Preferences/External Tools:</a:t>
            </a:r>
            <a:endParaRPr/>
          </a:p>
          <a:p>
            <a:pPr marL="0" marR="0" lvl="0" indent="0" algn="l" rtl="0">
              <a:spcBef>
                <a:spcPts val="0"/>
              </a:spcBef>
              <a:spcAft>
                <a:spcPts val="0"/>
              </a:spcAft>
              <a:buNone/>
            </a:pPr>
            <a:endParaRPr sz="2000">
              <a:solidFill>
                <a:srgbClr val="FFFF00"/>
              </a:solidFill>
              <a:latin typeface="Quattrocento Sans"/>
              <a:ea typeface="Quattrocento Sans"/>
              <a:cs typeface="Quattrocento Sans"/>
              <a:sym typeface="Quattrocento Sans"/>
            </a:endParaRPr>
          </a:p>
          <a:p>
            <a:r>
              <a:rPr lang="en-GB" sz="2000">
                <a:solidFill>
                  <a:srgbClr val="FFFF00"/>
                </a:solidFill>
                <a:latin typeface="Quattrocento Sans"/>
                <a:ea typeface="Quattrocento Sans"/>
                <a:cs typeface="Quattrocento Sans"/>
                <a:sym typeface="Quattrocento Sans"/>
              </a:rPr>
              <a:t>IDE (Integrated Development Environment)- </a:t>
            </a:r>
            <a:r>
              <a:rPr lang="en-GB" sz="2000">
                <a:solidFill>
                  <a:schemeClr val="dk1"/>
                </a:solidFill>
                <a:latin typeface="Quattrocento Sans"/>
                <a:ea typeface="Quattrocento Sans"/>
                <a:cs typeface="Quattrocento Sans"/>
                <a:sym typeface="Quattrocento Sans"/>
              </a:rPr>
              <a:t>You can change IDE from </a:t>
            </a:r>
            <a:r>
              <a:rPr lang="en-GB" sz="2000" err="1">
                <a:solidFill>
                  <a:schemeClr val="dk1"/>
                </a:solidFill>
                <a:latin typeface="Quattrocento Sans"/>
                <a:ea typeface="Quattrocento Sans"/>
                <a:cs typeface="Quattrocento Sans"/>
                <a:sym typeface="Quattrocento Sans"/>
              </a:rPr>
              <a:t>Monodevelop</a:t>
            </a:r>
            <a:r>
              <a:rPr lang="en-GB" sz="2000">
                <a:solidFill>
                  <a:schemeClr val="dk1"/>
                </a:solidFill>
                <a:latin typeface="Quattrocento Sans"/>
                <a:ea typeface="Quattrocento Sans"/>
                <a:cs typeface="Quattrocento Sans"/>
                <a:sym typeface="Quattrocento Sans"/>
              </a:rPr>
              <a:t> to Visual Studio or VS Code in Preferences/External Tools. We will use Visual Studio.</a:t>
            </a:r>
            <a:endParaRPr>
              <a:solidFill>
                <a:schemeClr val="dk1"/>
              </a:solidFill>
            </a:endParaRPr>
          </a:p>
          <a:p>
            <a:r>
              <a:rPr lang="en-GB" sz="2000">
                <a:solidFill>
                  <a:srgbClr val="FFFF00"/>
                </a:solidFill>
                <a:latin typeface="Quattrocento Sans"/>
                <a:ea typeface="Quattrocento Sans"/>
                <a:cs typeface="Quattrocento Sans"/>
                <a:sym typeface="Quattrocento Sans"/>
              </a:rPr>
              <a:t>Image Editing Program Options – </a:t>
            </a:r>
            <a:r>
              <a:rPr lang="en-GB" sz="2000">
                <a:solidFill>
                  <a:schemeClr val="dk1"/>
                </a:solidFill>
                <a:latin typeface="Quattrocento Sans"/>
                <a:ea typeface="Quattrocento Sans"/>
                <a:cs typeface="Quattrocento Sans"/>
                <a:sym typeface="Quattrocento Sans"/>
              </a:rPr>
              <a:t>Open by Individual File</a:t>
            </a:r>
            <a:endParaRPr>
              <a:solidFill>
                <a:schemeClr val="dk1"/>
              </a:solidFill>
            </a:endParaRPr>
          </a:p>
          <a:p>
            <a:pPr marL="0" marR="0" lvl="0" indent="0" algn="l" rtl="0">
              <a:spcBef>
                <a:spcPts val="0"/>
              </a:spcBef>
              <a:spcAft>
                <a:spcPts val="0"/>
              </a:spcAft>
              <a:buNone/>
            </a:pPr>
            <a:r>
              <a:rPr lang="en-GB" sz="2000">
                <a:solidFill>
                  <a:srgbClr val="FFFF00"/>
                </a:solidFill>
                <a:latin typeface="Quattrocento Sans"/>
                <a:ea typeface="Quattrocento Sans"/>
                <a:cs typeface="Quattrocento Sans"/>
                <a:sym typeface="Quattrocento Sans"/>
              </a:rPr>
              <a:t>Android SDK - </a:t>
            </a:r>
            <a:r>
              <a:rPr lang="en-GB" sz="2000">
                <a:solidFill>
                  <a:schemeClr val="dk1"/>
                </a:solidFill>
                <a:latin typeface="Quattrocento Sans"/>
                <a:ea typeface="Quattrocento Sans"/>
                <a:cs typeface="Quattrocento Sans"/>
                <a:sym typeface="Quattrocento Sans"/>
              </a:rPr>
              <a:t>Also has the android SDK link to set up if you have that installed.</a:t>
            </a:r>
            <a:endParaRPr>
              <a:solidFill>
                <a:schemeClr val="dk1"/>
              </a:solidFill>
            </a:endParaRPr>
          </a:p>
          <a:p>
            <a:pPr marL="0" marR="0" lvl="0" indent="0" algn="l" rtl="0">
              <a:spcBef>
                <a:spcPts val="0"/>
              </a:spcBef>
              <a:spcAft>
                <a:spcPts val="0"/>
              </a:spcAft>
              <a:buNone/>
            </a:pPr>
            <a:r>
              <a:rPr lang="en-GB" sz="2000">
                <a:solidFill>
                  <a:srgbClr val="FFFF00"/>
                </a:solidFill>
                <a:latin typeface="Quattrocento Sans"/>
                <a:ea typeface="Quattrocento Sans"/>
                <a:cs typeface="Quattrocento Sans"/>
                <a:sym typeface="Quattrocento Sans"/>
              </a:rPr>
              <a:t>Version Control:</a:t>
            </a:r>
            <a:endParaRPr/>
          </a:p>
          <a:p>
            <a:r>
              <a:rPr lang="en-GB" sz="2000">
                <a:solidFill>
                  <a:srgbClr val="FFFF00"/>
                </a:solidFill>
                <a:latin typeface="Quattrocento Sans"/>
                <a:ea typeface="Quattrocento Sans"/>
                <a:cs typeface="Quattrocento Sans"/>
                <a:sym typeface="Quattrocento Sans"/>
              </a:rPr>
              <a:t>	</a:t>
            </a:r>
            <a:r>
              <a:rPr lang="en-GB" sz="2000">
                <a:solidFill>
                  <a:schemeClr val="dk1"/>
                </a:solidFill>
                <a:latin typeface="Quattrocento Sans"/>
                <a:ea typeface="Quattrocento Sans"/>
                <a:cs typeface="Quattrocento Sans"/>
                <a:sym typeface="Quattrocento Sans"/>
              </a:rPr>
              <a:t>Visual Studio and </a:t>
            </a:r>
            <a:r>
              <a:rPr lang="en-GB" sz="2000" err="1">
                <a:solidFill>
                  <a:schemeClr val="dk1"/>
                </a:solidFill>
                <a:latin typeface="Quattrocento Sans"/>
                <a:ea typeface="Quattrocento Sans"/>
                <a:cs typeface="Quattrocento Sans"/>
                <a:sym typeface="Quattrocento Sans"/>
              </a:rPr>
              <a:t>Github</a:t>
            </a:r>
            <a:r>
              <a:rPr lang="en-GB" sz="2000">
                <a:solidFill>
                  <a:schemeClr val="dk1"/>
                </a:solidFill>
                <a:latin typeface="Quattrocento Sans"/>
                <a:ea typeface="Quattrocento Sans"/>
                <a:cs typeface="Quattrocento Sans"/>
                <a:sym typeface="Quattrocento Sans"/>
              </a:rPr>
              <a:t> Web – This is seamless and straightforward for linking with Unity. You will have to setup </a:t>
            </a:r>
            <a:r>
              <a:rPr lang="en-GB" sz="2000" err="1">
                <a:solidFill>
                  <a:schemeClr val="dk1"/>
                </a:solidFill>
                <a:latin typeface="Quattrocento Sans"/>
                <a:ea typeface="Quattrocento Sans"/>
                <a:cs typeface="Quattrocento Sans"/>
                <a:sym typeface="Quattrocento Sans"/>
              </a:rPr>
              <a:t>Github</a:t>
            </a:r>
            <a:r>
              <a:rPr lang="en-GB" sz="2000">
                <a:solidFill>
                  <a:schemeClr val="dk1"/>
                </a:solidFill>
                <a:latin typeface="Quattrocento Sans"/>
                <a:ea typeface="Quattrocento Sans"/>
                <a:cs typeface="Quattrocento Sans"/>
                <a:sym typeface="Quattrocento Sans"/>
              </a:rPr>
              <a:t> accounts, and it may be a good idea to have a Group </a:t>
            </a:r>
            <a:r>
              <a:rPr lang="en-GB" sz="2000" err="1">
                <a:solidFill>
                  <a:schemeClr val="dk1"/>
                </a:solidFill>
                <a:latin typeface="Quattrocento Sans"/>
                <a:ea typeface="Quattrocento Sans"/>
                <a:cs typeface="Quattrocento Sans"/>
                <a:sym typeface="Quattrocento Sans"/>
              </a:rPr>
              <a:t>github</a:t>
            </a:r>
            <a:r>
              <a:rPr lang="en-GB" sz="2000">
                <a:solidFill>
                  <a:schemeClr val="dk1"/>
                </a:solidFill>
                <a:latin typeface="Quattrocento Sans"/>
                <a:ea typeface="Quattrocento Sans"/>
                <a:cs typeface="Quattrocento Sans"/>
                <a:sym typeface="Quattrocento Sans"/>
              </a:rPr>
              <a:t> account that all have a password for. From anywhere you work you can pull down projects, work on them, and push changes back up to the account as separate commits. </a:t>
            </a:r>
            <a:endParaRPr sz="2000">
              <a:solidFill>
                <a:schemeClr val="dk1"/>
              </a:solidFill>
              <a:latin typeface="Quattrocento Sans"/>
              <a:ea typeface="Quattrocento Sans"/>
              <a:cs typeface="Quattrocento Sans"/>
              <a:sym typeface="Quattrocento Sans"/>
            </a:endParaRPr>
          </a:p>
        </p:txBody>
      </p:sp>
      <p:sp>
        <p:nvSpPr>
          <p:cNvPr id="149" name="Google Shape;149;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7"/>
          <p:cNvSpPr txBox="1"/>
          <p:nvPr/>
        </p:nvSpPr>
        <p:spPr>
          <a:xfrm>
            <a:off x="1964873" y="1294527"/>
            <a:ext cx="8262300" cy="501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500">
                <a:solidFill>
                  <a:srgbClr val="FFFF00"/>
                </a:solidFill>
                <a:latin typeface="Quattrocento Sans"/>
                <a:ea typeface="Quattrocento Sans"/>
                <a:cs typeface="Quattrocento Sans"/>
                <a:sym typeface="Quattrocento Sans"/>
              </a:rPr>
              <a:t>Basic Architecture (Top Menu)</a:t>
            </a:r>
            <a:endParaRPr sz="1300"/>
          </a:p>
          <a:p>
            <a:pPr marL="0" marR="0" lvl="0" indent="0" algn="l" rtl="0">
              <a:spcBef>
                <a:spcPts val="0"/>
              </a:spcBef>
              <a:spcAft>
                <a:spcPts val="0"/>
              </a:spcAft>
              <a:buNone/>
            </a:pPr>
            <a:r>
              <a:rPr lang="en-GB" sz="1900">
                <a:solidFill>
                  <a:srgbClr val="FFFF00"/>
                </a:solidFill>
                <a:latin typeface="Quattrocento Sans"/>
                <a:ea typeface="Quattrocento Sans"/>
                <a:cs typeface="Quattrocento Sans"/>
                <a:sym typeface="Quattrocento Sans"/>
              </a:rPr>
              <a:t>Edit: </a:t>
            </a:r>
            <a:r>
              <a:rPr lang="en-GB" sz="1900">
                <a:solidFill>
                  <a:schemeClr val="dk1"/>
                </a:solidFill>
                <a:latin typeface="Quattrocento Sans"/>
                <a:ea typeface="Quattrocento Sans"/>
                <a:cs typeface="Quattrocento Sans"/>
                <a:sym typeface="Quattrocento Sans"/>
              </a:rPr>
              <a:t>These are a very basic set of functions, build modules and preferences.</a:t>
            </a:r>
            <a:endParaRPr sz="1300">
              <a:solidFill>
                <a:schemeClr val="dk1"/>
              </a:solidFill>
            </a:endParaRPr>
          </a:p>
          <a:p>
            <a:pPr marL="0" marR="0" lvl="0" indent="0" algn="l" rtl="0">
              <a:spcBef>
                <a:spcPts val="0"/>
              </a:spcBef>
              <a:spcAft>
                <a:spcPts val="0"/>
              </a:spcAft>
              <a:buNone/>
            </a:pPr>
            <a:endParaRPr sz="19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900">
                <a:solidFill>
                  <a:srgbClr val="FFFF00"/>
                </a:solidFill>
                <a:latin typeface="Quattrocento Sans"/>
                <a:ea typeface="Quattrocento Sans"/>
                <a:cs typeface="Quattrocento Sans"/>
                <a:sym typeface="Quattrocento Sans"/>
              </a:rPr>
              <a:t>Assets: </a:t>
            </a:r>
            <a:r>
              <a:rPr lang="en-GB" sz="1900">
                <a:solidFill>
                  <a:schemeClr val="dk1"/>
                </a:solidFill>
                <a:latin typeface="Quattrocento Sans"/>
                <a:ea typeface="Quattrocento Sans"/>
                <a:cs typeface="Quattrocento Sans"/>
                <a:sym typeface="Quattrocento Sans"/>
              </a:rPr>
              <a:t>All standard Assets packages from the Unity library can be created here, or downloaded or custom packages installed.</a:t>
            </a:r>
            <a:endParaRPr sz="19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900">
              <a:solidFill>
                <a:srgbClr val="FFFF00"/>
              </a:solidFill>
              <a:latin typeface="Quattrocento Sans"/>
              <a:ea typeface="Quattrocento Sans"/>
              <a:cs typeface="Quattrocento Sans"/>
              <a:sym typeface="Quattrocento Sans"/>
            </a:endParaRPr>
          </a:p>
          <a:p>
            <a:r>
              <a:rPr lang="en-GB" sz="1900" err="1">
                <a:solidFill>
                  <a:srgbClr val="FFFF00"/>
                </a:solidFill>
                <a:latin typeface="Quattrocento Sans"/>
                <a:ea typeface="Quattrocento Sans"/>
                <a:cs typeface="Quattrocento Sans"/>
                <a:sym typeface="Quattrocento Sans"/>
              </a:rPr>
              <a:t>GameObject</a:t>
            </a:r>
            <a:r>
              <a:rPr lang="en-GB" sz="1900">
                <a:solidFill>
                  <a:srgbClr val="FFFF00"/>
                </a:solidFill>
                <a:latin typeface="Quattrocento Sans"/>
                <a:ea typeface="Quattrocento Sans"/>
                <a:cs typeface="Quattrocento Sans"/>
                <a:sym typeface="Quattrocento Sans"/>
              </a:rPr>
              <a:t> (Empty Node) : </a:t>
            </a:r>
            <a:r>
              <a:rPr lang="en-GB" sz="1900">
                <a:solidFill>
                  <a:schemeClr val="dk1"/>
                </a:solidFill>
                <a:latin typeface="Quattrocento Sans"/>
                <a:ea typeface="Quattrocento Sans"/>
                <a:cs typeface="Quattrocento Sans"/>
                <a:sym typeface="Quattrocento Sans"/>
              </a:rPr>
              <a:t>This is the basic node used in Unity and is generic. From here you can create all library </a:t>
            </a:r>
            <a:r>
              <a:rPr lang="en-GB" sz="1900" err="1">
                <a:solidFill>
                  <a:schemeClr val="dk1"/>
                </a:solidFill>
                <a:latin typeface="Quattrocento Sans"/>
                <a:ea typeface="Quattrocento Sans"/>
                <a:cs typeface="Quattrocento Sans"/>
                <a:sym typeface="Quattrocento Sans"/>
              </a:rPr>
              <a:t>GameObjects</a:t>
            </a:r>
            <a:r>
              <a:rPr lang="en-GB" sz="1900">
                <a:solidFill>
                  <a:schemeClr val="dk1"/>
                </a:solidFill>
                <a:latin typeface="Quattrocento Sans"/>
                <a:ea typeface="Quattrocento Sans"/>
                <a:cs typeface="Quattrocento Sans"/>
                <a:sym typeface="Quattrocento Sans"/>
              </a:rPr>
              <a:t> from Unity </a:t>
            </a:r>
            <a:endParaRPr sz="19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900">
              <a:solidFill>
                <a:srgbClr val="FFFF00"/>
              </a:solidFill>
              <a:latin typeface="Quattrocento Sans"/>
              <a:ea typeface="Quattrocento Sans"/>
              <a:cs typeface="Quattrocento Sans"/>
              <a:sym typeface="Quattrocento Sans"/>
            </a:endParaRPr>
          </a:p>
          <a:p>
            <a:r>
              <a:rPr lang="en-GB" sz="1900">
                <a:solidFill>
                  <a:srgbClr val="FFFF00"/>
                </a:solidFill>
                <a:latin typeface="Quattrocento Sans"/>
                <a:ea typeface="Quattrocento Sans"/>
                <a:cs typeface="Quattrocento Sans"/>
                <a:sym typeface="Quattrocento Sans"/>
              </a:rPr>
              <a:t>Component (Script): </a:t>
            </a:r>
            <a:r>
              <a:rPr lang="en-GB" sz="1900">
                <a:solidFill>
                  <a:schemeClr val="dk1"/>
                </a:solidFill>
                <a:latin typeface="Quattrocento Sans"/>
                <a:ea typeface="Quattrocento Sans"/>
                <a:cs typeface="Quattrocento Sans"/>
                <a:sym typeface="Quattrocento Sans"/>
              </a:rPr>
              <a:t>This is a drop down menu of all Unity Components. This mirrors the Add Component button in the Inspector Window</a:t>
            </a:r>
            <a:endParaRPr sz="19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900">
              <a:solidFill>
                <a:srgbClr val="FFFF00"/>
              </a:solidFill>
              <a:latin typeface="Quattrocento Sans"/>
              <a:ea typeface="Quattrocento Sans"/>
              <a:cs typeface="Quattrocento Sans"/>
              <a:sym typeface="Quattrocento Sans"/>
            </a:endParaRPr>
          </a:p>
          <a:p>
            <a:r>
              <a:rPr lang="en-GB" sz="1900">
                <a:solidFill>
                  <a:srgbClr val="FFFF00"/>
                </a:solidFill>
                <a:latin typeface="Quattrocento Sans"/>
                <a:ea typeface="Quattrocento Sans"/>
                <a:cs typeface="Quattrocento Sans"/>
                <a:sym typeface="Quattrocento Sans"/>
              </a:rPr>
              <a:t>Window: </a:t>
            </a:r>
            <a:r>
              <a:rPr lang="en-GB" sz="1900">
                <a:solidFill>
                  <a:schemeClr val="dk1"/>
                </a:solidFill>
                <a:latin typeface="Quattrocento Sans"/>
                <a:ea typeface="Quattrocento Sans"/>
                <a:cs typeface="Quattrocento Sans"/>
                <a:sym typeface="Quattrocento Sans"/>
              </a:rPr>
              <a:t>Typical windows besides the default to use are Game, Animator, </a:t>
            </a:r>
            <a:endParaRPr sz="1300"/>
          </a:p>
          <a:p>
            <a:pPr marL="0" marR="0" lvl="0" indent="0" algn="l" rtl="0">
              <a:spcBef>
                <a:spcPts val="0"/>
              </a:spcBef>
              <a:spcAft>
                <a:spcPts val="0"/>
              </a:spcAft>
              <a:buNone/>
            </a:pPr>
            <a:r>
              <a:rPr lang="en-GB" sz="1900">
                <a:solidFill>
                  <a:schemeClr val="dk1"/>
                </a:solidFill>
                <a:latin typeface="Quattrocento Sans"/>
                <a:ea typeface="Quattrocento Sans"/>
                <a:cs typeface="Quattrocento Sans"/>
                <a:sym typeface="Quattrocento Sans"/>
              </a:rPr>
              <a:t>and Lighting. The Window menu also provides access to the asset store. Typically you will purchase and load packages directly through this window into Unity</a:t>
            </a:r>
            <a:endParaRPr sz="1300">
              <a:solidFill>
                <a:schemeClr val="dk1"/>
              </a:solidFill>
            </a:endParaRPr>
          </a:p>
        </p:txBody>
      </p:sp>
      <p:sp>
        <p:nvSpPr>
          <p:cNvPr id="156" name="Google Shape;156;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8"/>
          <p:cNvSpPr txBox="1"/>
          <p:nvPr/>
        </p:nvSpPr>
        <p:spPr>
          <a:xfrm>
            <a:off x="1938198" y="1412777"/>
            <a:ext cx="8262300" cy="544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(Hierarchy Window)</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This is your working directory - List of Game Objects in Scene.</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Drag items from Projects window into here or Scene View.</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Re-Order by dragging up and down.</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Can drag to other GameObjects to make child/parent.</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63" name="Google Shape;163;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p:nvPr/>
        </p:nvSpPr>
        <p:spPr>
          <a:xfrm>
            <a:off x="1938198" y="1412776"/>
            <a:ext cx="8281200" cy="354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err="1">
                <a:solidFill>
                  <a:srgbClr val="FFFF00"/>
                </a:solidFill>
                <a:latin typeface="Quattrocento Sans"/>
                <a:ea typeface="Quattrocento Sans"/>
                <a:cs typeface="Quattrocento Sans"/>
                <a:sym typeface="Quattrocento Sans"/>
              </a:rPr>
              <a:t>GameObjects</a:t>
            </a:r>
            <a:r>
              <a:rPr lang="en-GB" sz="2400">
                <a:solidFill>
                  <a:srgbClr val="FFFF00"/>
                </a:solidFill>
                <a:latin typeface="Quattrocento Sans"/>
                <a:ea typeface="Quattrocento Sans"/>
                <a:cs typeface="Quattrocento Sans"/>
                <a:sym typeface="Quattrocento Sans"/>
              </a:rPr>
              <a:t> </a:t>
            </a:r>
            <a:r>
              <a:rPr lang="en-GB" sz="2400" i="1">
                <a:solidFill>
                  <a:schemeClr val="dk1"/>
                </a:solidFill>
                <a:latin typeface="Quattrocento Sans"/>
                <a:ea typeface="Quattrocento Sans"/>
                <a:cs typeface="Quattrocento Sans"/>
                <a:sym typeface="Quattrocento Sans"/>
              </a:rPr>
              <a:t>are the fundamental objects in Unity that represent characters, props, and scenery.</a:t>
            </a:r>
            <a:endParaRPr>
              <a:solidFill>
                <a:schemeClr val="dk1"/>
              </a:solidFill>
            </a:endParaRPr>
          </a:p>
          <a:p>
            <a:pPr marL="0" marR="0" lvl="0" indent="0" algn="l" rtl="0">
              <a:spcBef>
                <a:spcPts val="0"/>
              </a:spcBef>
              <a:spcAft>
                <a:spcPts val="0"/>
              </a:spcAft>
              <a:buNone/>
            </a:pPr>
            <a:endParaRPr sz="24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They do not accomplish much in themselves, but they act as containers for</a:t>
            </a:r>
            <a:r>
              <a:rPr lang="en-GB" sz="2400" i="1">
                <a:solidFill>
                  <a:srgbClr val="FFFF00"/>
                </a:solidFill>
                <a:latin typeface="Quattrocento Sans"/>
                <a:ea typeface="Quattrocento Sans"/>
                <a:cs typeface="Quattrocento Sans"/>
                <a:sym typeface="Quattrocento Sans"/>
              </a:rPr>
              <a:t> Components(Scripts)</a:t>
            </a:r>
            <a:r>
              <a:rPr lang="en-GB" sz="2400" i="1">
                <a:solidFill>
                  <a:schemeClr val="dk1"/>
                </a:solidFill>
                <a:latin typeface="Quattrocento Sans"/>
                <a:ea typeface="Quattrocento Sans"/>
                <a:cs typeface="Quattrocento Sans"/>
                <a:sym typeface="Quattrocento Sans"/>
              </a:rPr>
              <a:t>, which implement the real functionality.</a:t>
            </a:r>
            <a:endParaRPr>
              <a:solidFill>
                <a:schemeClr val="dk1"/>
              </a:solidFill>
            </a:endParaRPr>
          </a:p>
          <a:p>
            <a:pPr marL="0" marR="0" lvl="0" indent="0" algn="l" rtl="0">
              <a:spcBef>
                <a:spcPts val="0"/>
              </a:spcBef>
              <a:spcAft>
                <a:spcPts val="0"/>
              </a:spcAft>
              <a:buNone/>
            </a:pPr>
            <a:endParaRPr sz="2400" b="1" i="1">
              <a:solidFill>
                <a:schemeClr val="dk1"/>
              </a:solidFill>
              <a:latin typeface="Quattrocento Sans"/>
              <a:ea typeface="Quattrocento Sans"/>
              <a:cs typeface="Quattrocento Sans"/>
              <a:sym typeface="Quattrocento Sans"/>
            </a:endParaRPr>
          </a:p>
        </p:txBody>
      </p:sp>
      <p:sp>
        <p:nvSpPr>
          <p:cNvPr id="170" name="Google Shape;170;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p:nvPr/>
        </p:nvSpPr>
        <p:spPr>
          <a:xfrm>
            <a:off x="1938198" y="1412777"/>
            <a:ext cx="9656171" cy="56322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err="1">
                <a:solidFill>
                  <a:srgbClr val="FFFF00"/>
                </a:solidFill>
                <a:latin typeface="Quattrocento Sans"/>
                <a:ea typeface="Quattrocento Sans"/>
                <a:cs typeface="Quattrocento Sans"/>
                <a:sym typeface="Quattrocento Sans"/>
              </a:rPr>
              <a:t>GameObjects</a:t>
            </a:r>
            <a:r>
              <a:rPr lang="en-GB" sz="2000">
                <a:solidFill>
                  <a:srgbClr val="FFFF00"/>
                </a:solidFill>
                <a:latin typeface="Quattrocento Sans"/>
                <a:ea typeface="Quattrocento Sans"/>
                <a:cs typeface="Quattrocento Sans"/>
                <a:sym typeface="Quattrocento Sans"/>
              </a:rPr>
              <a:t> and Components:</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Base </a:t>
            </a:r>
            <a:r>
              <a:rPr lang="en-GB" sz="2000" i="1" err="1">
                <a:solidFill>
                  <a:schemeClr val="dk1"/>
                </a:solidFill>
                <a:latin typeface="Quattrocento Sans"/>
                <a:ea typeface="Quattrocento Sans"/>
                <a:cs typeface="Quattrocento Sans"/>
                <a:sym typeface="Quattrocento Sans"/>
              </a:rPr>
              <a:t>GameObject</a:t>
            </a:r>
            <a:r>
              <a:rPr lang="en-GB" sz="2000" i="1">
                <a:solidFill>
                  <a:schemeClr val="dk1"/>
                </a:solidFill>
                <a:latin typeface="Quattrocento Sans"/>
                <a:ea typeface="Quattrocento Sans"/>
                <a:cs typeface="Quattrocento Sans"/>
                <a:sym typeface="Quattrocento Sans"/>
              </a:rPr>
              <a:t> has name, tag, layer, and transform component</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Scripts Are Components and define the empty </a:t>
            </a:r>
            <a:r>
              <a:rPr lang="en-GB" sz="2000" err="1">
                <a:solidFill>
                  <a:schemeClr val="dk1"/>
                </a:solidFill>
                <a:latin typeface="Quattrocento Sans"/>
                <a:ea typeface="Quattrocento Sans"/>
                <a:cs typeface="Quattrocento Sans"/>
                <a:sym typeface="Quattrocento Sans"/>
              </a:rPr>
              <a:t>GameObject</a:t>
            </a:r>
            <a:endParaRPr err="1">
              <a:solidFill>
                <a:schemeClr val="dk1"/>
              </a:solidFill>
            </a:endParaRPr>
          </a:p>
          <a:p>
            <a:r>
              <a:rPr lang="en-GB" sz="2000" err="1">
                <a:solidFill>
                  <a:srgbClr val="FFFF00"/>
                </a:solidFill>
                <a:latin typeface="Quattrocento Sans"/>
                <a:ea typeface="Quattrocento Sans"/>
                <a:cs typeface="Quattrocento Sans"/>
                <a:sym typeface="Quattrocento Sans"/>
              </a:rPr>
              <a:t>GameObjects</a:t>
            </a:r>
            <a:r>
              <a:rPr lang="en-GB" sz="2000">
                <a:solidFill>
                  <a:srgbClr val="FFFF00"/>
                </a:solidFill>
                <a:latin typeface="Quattrocento Sans"/>
                <a:ea typeface="Quattrocento Sans"/>
                <a:cs typeface="Quattrocento Sans"/>
                <a:sym typeface="Quattrocento Sans"/>
              </a:rPr>
              <a:t> </a:t>
            </a:r>
            <a:r>
              <a:rPr lang="en-GB" sz="2000">
                <a:solidFill>
                  <a:schemeClr val="tx1"/>
                </a:solidFill>
                <a:latin typeface="Quattrocento Sans"/>
                <a:ea typeface="Quattrocento Sans"/>
                <a:cs typeface="Quattrocento Sans"/>
                <a:sym typeface="Quattrocento Sans"/>
              </a:rPr>
              <a:t>and</a:t>
            </a:r>
            <a:r>
              <a:rPr lang="en-GB" sz="2000">
                <a:solidFill>
                  <a:srgbClr val="FFFF00"/>
                </a:solidFill>
                <a:latin typeface="Quattrocento Sans"/>
                <a:ea typeface="Quattrocento Sans"/>
                <a:cs typeface="Quattrocento Sans"/>
                <a:sym typeface="Quattrocento Sans"/>
              </a:rPr>
              <a:t> Components(Scripts)</a:t>
            </a:r>
            <a:r>
              <a:rPr lang="en-GB" sz="2000">
                <a:solidFill>
                  <a:schemeClr val="dk1"/>
                </a:solidFill>
                <a:latin typeface="Quattrocento Sans"/>
                <a:ea typeface="Quattrocento Sans"/>
                <a:cs typeface="Quattrocento Sans"/>
                <a:sym typeface="Quattrocento Sans"/>
              </a:rPr>
              <a:t> are </a:t>
            </a:r>
            <a:r>
              <a:rPr lang="en-GB" sz="2000">
                <a:solidFill>
                  <a:srgbClr val="FF0000"/>
                </a:solidFill>
                <a:latin typeface="Quattrocento Sans"/>
                <a:ea typeface="Quattrocento Sans"/>
                <a:cs typeface="Quattrocento Sans"/>
                <a:sym typeface="Quattrocento Sans"/>
              </a:rPr>
              <a:t>Initialised</a:t>
            </a:r>
            <a:r>
              <a:rPr lang="en-GB" sz="2000">
                <a:solidFill>
                  <a:schemeClr val="dk1"/>
                </a:solidFill>
                <a:latin typeface="Quattrocento Sans"/>
                <a:ea typeface="Quattrocento Sans"/>
                <a:cs typeface="Quattrocento Sans"/>
                <a:sym typeface="Quattrocento Sans"/>
              </a:rPr>
              <a:t> and run when play is pressed </a:t>
            </a:r>
            <a:endParaRPr lang="en-GB">
              <a:solidFill>
                <a:schemeClr val="dk1"/>
              </a:solidFill>
              <a:ea typeface="Quattrocento Sans"/>
              <a:sym typeface="Quattrocento Sans"/>
            </a:endParaRPr>
          </a:p>
          <a:p>
            <a:endParaRPr lang="en-GB" sz="2000">
              <a:solidFill>
                <a:schemeClr val="dk1"/>
              </a:solidFill>
              <a:latin typeface="Quattrocento Sans"/>
              <a:ea typeface="Quattrocento Sans"/>
              <a:cs typeface="Quattrocento Sans"/>
            </a:endParaRPr>
          </a:p>
          <a:p>
            <a:r>
              <a:rPr lang="en-GB" sz="2000">
                <a:solidFill>
                  <a:schemeClr val="dk1"/>
                </a:solidFill>
                <a:latin typeface="Quattrocento Sans"/>
                <a:ea typeface="Quattrocento Sans"/>
                <a:cs typeface="Quattrocento Sans"/>
                <a:sym typeface="Quattrocento Sans"/>
              </a:rPr>
              <a:t>Scripts must be attached to a </a:t>
            </a:r>
            <a:r>
              <a:rPr lang="en-GB" sz="2000" err="1">
                <a:solidFill>
                  <a:schemeClr val="dk1"/>
                </a:solidFill>
                <a:latin typeface="Quattrocento Sans"/>
                <a:ea typeface="Quattrocento Sans"/>
                <a:cs typeface="Quattrocento Sans"/>
                <a:sym typeface="Quattrocento Sans"/>
              </a:rPr>
              <a:t>GameObject</a:t>
            </a:r>
            <a:r>
              <a:rPr lang="en-GB" sz="2000">
                <a:solidFill>
                  <a:schemeClr val="dk1"/>
                </a:solidFill>
                <a:latin typeface="Quattrocento Sans"/>
                <a:ea typeface="Quattrocento Sans"/>
                <a:cs typeface="Quattrocento Sans"/>
                <a:sym typeface="Quattrocento Sans"/>
              </a:rPr>
              <a:t> in order for scripts to run </a:t>
            </a:r>
            <a:r>
              <a:rPr lang="en-GB" sz="2000">
                <a:solidFill>
                  <a:srgbClr val="FF0000"/>
                </a:solidFill>
                <a:latin typeface="Quattrocento Sans"/>
                <a:ea typeface="Quattrocento Sans"/>
                <a:cs typeface="Quattrocento Sans"/>
                <a:sym typeface="Quattrocento Sans"/>
              </a:rPr>
              <a:t>(more later)</a:t>
            </a:r>
            <a:r>
              <a:rPr lang="en-GB" sz="20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Scripts can be attached to an Empty </a:t>
            </a:r>
            <a:r>
              <a:rPr lang="en-GB" sz="2000" i="1" err="1">
                <a:solidFill>
                  <a:srgbClr val="FFFF00"/>
                </a:solidFill>
                <a:latin typeface="Quattrocento Sans"/>
                <a:ea typeface="Quattrocento Sans"/>
                <a:cs typeface="Quattrocento Sans"/>
                <a:sym typeface="Quattrocento Sans"/>
              </a:rPr>
              <a:t>gameObject</a:t>
            </a:r>
            <a:r>
              <a:rPr lang="en-GB" sz="2000" i="1">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All </a:t>
            </a:r>
            <a:r>
              <a:rPr lang="en-GB" sz="2000" err="1">
                <a:solidFill>
                  <a:schemeClr val="dk1"/>
                </a:solidFill>
                <a:latin typeface="Quattrocento Sans"/>
                <a:ea typeface="Quattrocento Sans"/>
                <a:cs typeface="Quattrocento Sans"/>
                <a:sym typeface="Quattrocento Sans"/>
              </a:rPr>
              <a:t>GameObjects</a:t>
            </a:r>
            <a:r>
              <a:rPr lang="en-GB" sz="2000">
                <a:solidFill>
                  <a:schemeClr val="dk1"/>
                </a:solidFill>
                <a:latin typeface="Quattrocento Sans"/>
                <a:ea typeface="Quattrocento Sans"/>
                <a:cs typeface="Quattrocento Sans"/>
                <a:sym typeface="Quattrocento Sans"/>
              </a:rPr>
              <a:t> Components and Scripts in scene(s) in build</a:t>
            </a:r>
            <a:endParaRPr>
              <a:solidFill>
                <a:schemeClr val="dk1"/>
              </a:solidFill>
            </a:endParaRPr>
          </a:p>
          <a:p>
            <a:r>
              <a:rPr lang="en-GB" sz="2000">
                <a:solidFill>
                  <a:schemeClr val="dk1"/>
                </a:solidFill>
                <a:latin typeface="Quattrocento Sans"/>
                <a:ea typeface="Quattrocento Sans"/>
                <a:cs typeface="Quattrocento Sans"/>
                <a:sym typeface="Quattrocento Sans"/>
              </a:rPr>
              <a:t>Are available to run if accessed and visible. </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i="1" err="1">
                <a:solidFill>
                  <a:srgbClr val="FFFF00"/>
                </a:solidFill>
                <a:latin typeface="Quattrocento Sans"/>
                <a:ea typeface="Quattrocento Sans"/>
                <a:cs typeface="Quattrocento Sans"/>
                <a:sym typeface="Quattrocento Sans"/>
              </a:rPr>
              <a:t>GameObjects</a:t>
            </a:r>
            <a:r>
              <a:rPr lang="en-GB" sz="2000" i="1">
                <a:solidFill>
                  <a:srgbClr val="FFFF00"/>
                </a:solidFill>
                <a:latin typeface="Quattrocento Sans"/>
                <a:ea typeface="Quattrocento Sans"/>
                <a:cs typeface="Quattrocento Sans"/>
                <a:sym typeface="Quattrocento Sans"/>
              </a:rPr>
              <a:t> will have variable and references that can be modified.</a:t>
            </a:r>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References can be to any Components, </a:t>
            </a:r>
            <a:r>
              <a:rPr lang="en-GB" sz="2000" i="1" err="1">
                <a:solidFill>
                  <a:srgbClr val="FFFF00"/>
                </a:solidFill>
                <a:latin typeface="Quattrocento Sans"/>
                <a:ea typeface="Quattrocento Sans"/>
                <a:cs typeface="Quattrocento Sans"/>
                <a:sym typeface="Quattrocento Sans"/>
              </a:rPr>
              <a:t>GameObjects</a:t>
            </a:r>
            <a:r>
              <a:rPr lang="en-GB" sz="2000" i="1">
                <a:solidFill>
                  <a:srgbClr val="FFFF00"/>
                </a:solidFill>
                <a:latin typeface="Quattrocento Sans"/>
                <a:ea typeface="Quattrocento Sans"/>
                <a:cs typeface="Quattrocento Sans"/>
                <a:sym typeface="Quattrocento Sans"/>
              </a:rPr>
              <a:t>, or Assets.</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77" name="Google Shape;177;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1"/>
          <p:cNvSpPr txBox="1"/>
          <p:nvPr/>
        </p:nvSpPr>
        <p:spPr>
          <a:xfrm>
            <a:off x="1938198" y="1412776"/>
            <a:ext cx="8550291"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Quattrocento Sans"/>
              <a:buNone/>
            </a:pPr>
            <a:endParaRPr sz="24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FF0000"/>
              </a:buClr>
              <a:buSzPts val="2400"/>
              <a:buFont typeface="Quattrocento Sans"/>
              <a:buNone/>
            </a:pPr>
            <a:r>
              <a:rPr lang="en-GB" sz="2400" b="1" i="1" u="none" strike="noStrike" cap="none">
                <a:solidFill>
                  <a:srgbClr val="FFFF00"/>
                </a:solidFill>
                <a:latin typeface="Quattrocento Sans"/>
                <a:ea typeface="Quattrocento Sans"/>
                <a:cs typeface="Quattrocento Sans"/>
                <a:sym typeface="Quattrocento Sans"/>
              </a:rPr>
              <a:t>Could create all elements from empty GO</a:t>
            </a:r>
            <a:endParaRPr>
              <a:solidFill>
                <a:srgbClr val="FFFF00"/>
              </a:solidFill>
            </a:endParaRPr>
          </a:p>
          <a:p>
            <a:pPr marL="0" marR="0" lvl="0" indent="0" algn="l" rtl="0">
              <a:lnSpc>
                <a:spcPct val="100000"/>
              </a:lnSpc>
              <a:spcBef>
                <a:spcPts val="0"/>
              </a:spcBef>
              <a:spcAft>
                <a:spcPts val="0"/>
              </a:spcAft>
              <a:buClr>
                <a:srgbClr val="FF0000"/>
              </a:buClr>
              <a:buSzPts val="2400"/>
              <a:buFont typeface="Quattrocento Sans"/>
              <a:buNone/>
            </a:pPr>
            <a:r>
              <a:rPr lang="en-GB" sz="2400" b="1" i="1"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https://docs.unity3d.com/Manual/class-GameObject.html</a:t>
            </a:r>
            <a:endParaRPr sz="2400" b="1" i="1" u="none" strike="noStrike" cap="none">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chemeClr val="dk1"/>
              </a:buClr>
              <a:buSzPts val="2400"/>
              <a:buFont typeface="Quattrocento Sans"/>
              <a:buNone/>
            </a:pPr>
            <a:endParaRPr sz="2400" b="1"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b="1" i="1">
                <a:solidFill>
                  <a:srgbClr val="FFFF00"/>
                </a:solidFill>
                <a:latin typeface="Quattrocento Sans"/>
                <a:ea typeface="Quattrocento Sans"/>
                <a:cs typeface="Quattrocento Sans"/>
                <a:sym typeface="Quattrocento Sans"/>
              </a:rPr>
              <a:t>Unity is initialised and run from the Main Camera object.</a:t>
            </a:r>
            <a:endParaRPr>
              <a:solidFill>
                <a:srgbClr val="FFFF00"/>
              </a:solidFill>
            </a:endParaRPr>
          </a:p>
          <a:p>
            <a:pPr marL="0" marR="0" lvl="0" indent="0" algn="l" rtl="0">
              <a:spcBef>
                <a:spcPts val="0"/>
              </a:spcBef>
              <a:spcAft>
                <a:spcPts val="0"/>
              </a:spcAft>
              <a:buNone/>
            </a:pPr>
            <a:r>
              <a:rPr lang="en-GB" sz="2400" b="1" i="1">
                <a:solidFill>
                  <a:srgbClr val="FFFF00"/>
                </a:solidFill>
                <a:latin typeface="Quattrocento Sans"/>
                <a:ea typeface="Quattrocento Sans"/>
                <a:cs typeface="Quattrocento Sans"/>
                <a:sym typeface="Quattrocento Sans"/>
              </a:rPr>
              <a:t>This is the minimum requirement in order to build and run a scene/level.</a:t>
            </a:r>
            <a:endParaRPr>
              <a:solidFill>
                <a:srgbClr val="FFFF00"/>
              </a:solidFill>
            </a:endParaRPr>
          </a:p>
          <a:p>
            <a:pPr marL="0" marR="0" lvl="0" indent="0" algn="l" rtl="0">
              <a:lnSpc>
                <a:spcPct val="100000"/>
              </a:lnSpc>
              <a:spcBef>
                <a:spcPts val="0"/>
              </a:spcBef>
              <a:spcAft>
                <a:spcPts val="0"/>
              </a:spcAft>
              <a:buClr>
                <a:schemeClr val="dk1"/>
              </a:buClr>
              <a:buSzPts val="2400"/>
              <a:buFont typeface="Quattrocento Sans"/>
              <a:buNone/>
            </a:pPr>
            <a:endParaRPr sz="24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chemeClr val="dk1"/>
              </a:buClr>
              <a:buSzPts val="2400"/>
              <a:buFont typeface="Quattrocento Sans"/>
              <a:buNone/>
            </a:pPr>
            <a:endParaRPr sz="2400" b="1" i="0" u="none" strike="noStrike" cap="none">
              <a:solidFill>
                <a:srgbClr val="FF0000"/>
              </a:solidFill>
              <a:latin typeface="Quattrocento Sans"/>
              <a:ea typeface="Quattrocento Sans"/>
              <a:cs typeface="Quattrocento Sans"/>
              <a:sym typeface="Quattrocento Sans"/>
            </a:endParaRPr>
          </a:p>
        </p:txBody>
      </p:sp>
      <p:sp>
        <p:nvSpPr>
          <p:cNvPr id="184" name="Google Shape;184;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p:nvPr/>
        </p:nvSpPr>
        <p:spPr>
          <a:xfrm>
            <a:off x="1938197" y="1412776"/>
            <a:ext cx="9781051" cy="46473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(Components)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Components are scripts, either pre-defined library or user defined</a:t>
            </a:r>
            <a:endParaRPr>
              <a:solidFill>
                <a:schemeClr val="dk1"/>
              </a:solidFill>
            </a:endParaRPr>
          </a:p>
          <a:p>
            <a:pPr marL="0" marR="0" lvl="0" indent="0" algn="l" rtl="0">
              <a:spcBef>
                <a:spcPts val="0"/>
              </a:spcBef>
              <a:spcAft>
                <a:spcPts val="0"/>
              </a:spcAft>
              <a:buNone/>
            </a:pPr>
            <a:endParaRPr sz="24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err="1">
                <a:solidFill>
                  <a:schemeClr val="dk1"/>
                </a:solidFill>
                <a:latin typeface="Quattrocento Sans"/>
                <a:ea typeface="Quattrocento Sans"/>
                <a:cs typeface="Quattrocento Sans"/>
                <a:sym typeface="Quattrocento Sans"/>
              </a:rPr>
              <a:t>GameObjects</a:t>
            </a:r>
            <a:r>
              <a:rPr lang="en-GB" sz="2400" i="1">
                <a:solidFill>
                  <a:schemeClr val="dk1"/>
                </a:solidFill>
                <a:latin typeface="Quattrocento Sans"/>
                <a:ea typeface="Quattrocento Sans"/>
                <a:cs typeface="Quattrocento Sans"/>
                <a:sym typeface="Quattrocento Sans"/>
              </a:rPr>
              <a:t> will come with default Components(scripts) depending on </a:t>
            </a:r>
            <a:endParaRPr>
              <a:solidFill>
                <a:schemeClr val="dk1"/>
              </a:solidFill>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Type, and these define the blank </a:t>
            </a:r>
            <a:r>
              <a:rPr lang="en-GB" sz="2400" i="1" err="1">
                <a:solidFill>
                  <a:schemeClr val="dk1"/>
                </a:solidFill>
                <a:latin typeface="Quattrocento Sans"/>
                <a:ea typeface="Quattrocento Sans"/>
                <a:cs typeface="Quattrocento Sans"/>
                <a:sym typeface="Quattrocento Sans"/>
              </a:rPr>
              <a:t>GameObject</a:t>
            </a:r>
            <a:r>
              <a:rPr lang="en-GB" sz="2400" i="1">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The Transform Component is the basic </a:t>
            </a:r>
            <a:r>
              <a:rPr lang="en-GB" sz="2400" err="1">
                <a:solidFill>
                  <a:srgbClr val="FFFF00"/>
                </a:solidFill>
                <a:latin typeface="Quattrocento Sans"/>
                <a:ea typeface="Quattrocento Sans"/>
                <a:cs typeface="Quattrocento Sans"/>
                <a:sym typeface="Quattrocento Sans"/>
              </a:rPr>
              <a:t>GameObject</a:t>
            </a:r>
            <a:r>
              <a:rPr lang="en-GB" sz="2400">
                <a:solidFill>
                  <a:srgbClr val="FFFF00"/>
                </a:solidFill>
                <a:latin typeface="Quattrocento Sans"/>
                <a:ea typeface="Quattrocento Sans"/>
                <a:cs typeface="Quattrocento Sans"/>
                <a:sym typeface="Quattrocento Sans"/>
              </a:rPr>
              <a:t> Component, </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Along with name, tag, and layer.</a:t>
            </a:r>
            <a:endParaRPr/>
          </a:p>
          <a:p>
            <a:pPr marL="0" marR="0" lvl="0" indent="0" algn="l" rtl="0">
              <a:spcBef>
                <a:spcPts val="0"/>
              </a:spcBef>
              <a:spcAft>
                <a:spcPts val="0"/>
              </a:spcAft>
              <a:buNone/>
            </a:pPr>
            <a:endParaRPr sz="20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91" name="Google Shape;191;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3"/>
          <p:cNvSpPr txBox="1"/>
          <p:nvPr/>
        </p:nvSpPr>
        <p:spPr>
          <a:xfrm>
            <a:off x="1938198" y="1412777"/>
            <a:ext cx="9646159" cy="49243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(Inspector Window)</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err="1">
                <a:solidFill>
                  <a:schemeClr val="dk1"/>
                </a:solidFill>
                <a:latin typeface="Quattrocento Sans"/>
                <a:ea typeface="Quattrocento Sans"/>
                <a:cs typeface="Quattrocento Sans"/>
                <a:sym typeface="Quattrocento Sans"/>
              </a:rPr>
              <a:t>GameObjects</a:t>
            </a:r>
            <a:r>
              <a:rPr lang="en-GB" sz="2000">
                <a:solidFill>
                  <a:schemeClr val="dk1"/>
                </a:solidFill>
                <a:latin typeface="Quattrocento Sans"/>
                <a:ea typeface="Quattrocento Sans"/>
                <a:cs typeface="Quattrocento Sans"/>
                <a:sym typeface="Quattrocento Sans"/>
              </a:rPr>
              <a:t>, Scripts, and other assets are available for review and change in the Inspector Window. This exposes the individual components attached. You can add, remove, toggle active mode, or change and add/subtract parameters that are exposed. </a:t>
            </a:r>
            <a:endParaRPr sz="2000">
              <a:solidFill>
                <a:schemeClr val="dk1"/>
              </a:solidFill>
            </a:endParaRPr>
          </a:p>
          <a:p>
            <a:pPr marL="0" marR="0" lvl="0" indent="0" algn="l" rtl="0">
              <a:spcBef>
                <a:spcPts val="0"/>
              </a:spcBef>
              <a:spcAft>
                <a:spcPts val="0"/>
              </a:spcAft>
              <a:buNone/>
            </a:pPr>
            <a:endParaRPr sz="20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Public script </a:t>
            </a:r>
            <a:r>
              <a:rPr lang="en-GB" sz="2000" i="1">
                <a:solidFill>
                  <a:srgbClr val="FFFF00"/>
                </a:solidFill>
                <a:latin typeface="Quattrocento Sans"/>
                <a:ea typeface="Quattrocento Sans"/>
                <a:cs typeface="Quattrocento Sans"/>
                <a:sym typeface="Quattrocento Sans"/>
              </a:rPr>
              <a:t>variables </a:t>
            </a:r>
            <a:r>
              <a:rPr lang="en-GB" sz="2000" i="1">
                <a:solidFill>
                  <a:schemeClr val="dk1"/>
                </a:solidFill>
                <a:latin typeface="Quattrocento Sans"/>
                <a:ea typeface="Quattrocento Sans"/>
                <a:cs typeface="Quattrocento Sans"/>
                <a:sym typeface="Quattrocento Sans"/>
              </a:rPr>
              <a:t>declared are exposed here for value input or links to other game objects by drag and drop.</a:t>
            </a:r>
            <a:endParaRPr sz="2000">
              <a:solidFill>
                <a:schemeClr val="dk1"/>
              </a:solidFill>
            </a:endParaRPr>
          </a:p>
          <a:p>
            <a:pPr marL="0" marR="0" lvl="0" indent="0" algn="l" rtl="0">
              <a:spcBef>
                <a:spcPts val="0"/>
              </a:spcBef>
              <a:spcAft>
                <a:spcPts val="0"/>
              </a:spcAft>
              <a:buNone/>
            </a:pPr>
            <a:endParaRPr sz="20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References </a:t>
            </a:r>
            <a:r>
              <a:rPr lang="en-GB" sz="2000" i="1">
                <a:solidFill>
                  <a:schemeClr val="dk1"/>
                </a:solidFill>
                <a:latin typeface="Quattrocento Sans"/>
                <a:ea typeface="Quattrocento Sans"/>
                <a:cs typeface="Quattrocento Sans"/>
                <a:sym typeface="Quattrocento Sans"/>
              </a:rPr>
              <a:t>to data files or other </a:t>
            </a:r>
            <a:r>
              <a:rPr lang="en-GB" sz="2000" i="1" err="1">
                <a:solidFill>
                  <a:schemeClr val="dk1"/>
                </a:solidFill>
                <a:latin typeface="Quattrocento Sans"/>
                <a:ea typeface="Quattrocento Sans"/>
                <a:cs typeface="Quattrocento Sans"/>
                <a:sym typeface="Quattrocento Sans"/>
              </a:rPr>
              <a:t>GameObjects</a:t>
            </a:r>
            <a:r>
              <a:rPr lang="en-GB" sz="2000" i="1">
                <a:solidFill>
                  <a:schemeClr val="dk1"/>
                </a:solidFill>
                <a:latin typeface="Quattrocento Sans"/>
                <a:ea typeface="Quattrocento Sans"/>
                <a:cs typeface="Quattrocento Sans"/>
                <a:sym typeface="Quattrocento Sans"/>
              </a:rPr>
              <a:t> may be exposed by the script and available here.</a:t>
            </a:r>
            <a:endParaRPr sz="2000">
              <a:solidFill>
                <a:schemeClr val="dk1"/>
              </a:solidFill>
            </a:endParaRPr>
          </a:p>
          <a:p>
            <a:pPr marL="0" marR="0" lvl="0" indent="0" algn="l" rtl="0">
              <a:spcBef>
                <a:spcPts val="0"/>
              </a:spcBef>
              <a:spcAft>
                <a:spcPts val="0"/>
              </a:spcAft>
              <a:buNone/>
            </a:pPr>
            <a:endParaRPr sz="20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Components are added at the bottom.</a:t>
            </a:r>
            <a:endParaRPr sz="2000">
              <a:solidFill>
                <a:schemeClr val="dk1"/>
              </a:solidFill>
            </a:endParaRPr>
          </a:p>
          <a:p>
            <a:pPr marL="0" marR="0" lvl="0" indent="0" algn="l" rtl="0">
              <a:spcBef>
                <a:spcPts val="0"/>
              </a:spcBef>
              <a:spcAft>
                <a:spcPts val="0"/>
              </a:spcAft>
              <a:buNone/>
            </a:pPr>
            <a:endParaRPr sz="1800" b="1" i="1">
              <a:solidFill>
                <a:schemeClr val="dk1"/>
              </a:solidFill>
              <a:latin typeface="Quattrocento Sans"/>
              <a:ea typeface="Quattrocento Sans"/>
              <a:cs typeface="Quattrocento Sans"/>
              <a:sym typeface="Quattrocento Sans"/>
            </a:endParaRPr>
          </a:p>
        </p:txBody>
      </p:sp>
      <p:sp>
        <p:nvSpPr>
          <p:cNvPr id="198" name="Google Shape;198;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p:nvPr/>
        </p:nvSpPr>
        <p:spPr>
          <a:xfrm>
            <a:off x="1938198" y="1412777"/>
            <a:ext cx="10253699" cy="4616608"/>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Basic Architecture (Inspector Window)</a:t>
            </a:r>
            <a:endParaRPr lang="en-US"/>
          </a:p>
          <a:p>
            <a:pPr marL="0" marR="0" lvl="0" indent="0" algn="l" rtl="0">
              <a:spcBef>
                <a:spcPts val="0"/>
              </a:spcBef>
              <a:spcAft>
                <a:spcPts val="0"/>
              </a:spcAft>
              <a:buNone/>
            </a:pPr>
            <a:endParaRPr sz="18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Some default and possible library/added components include:</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Name</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Visibility – Turns object on and off. Simple.</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Static – Game information Precomputed for non moving object</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Tag – Allows naming for scripts to access (Collisions)</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Layer – Cameras, Lights, can render certain layers, </a:t>
            </a:r>
            <a:r>
              <a:rPr lang="en-GB" sz="2400" err="1">
                <a:solidFill>
                  <a:schemeClr val="dk1"/>
                </a:solidFill>
                <a:latin typeface="Quattrocento Sans"/>
                <a:ea typeface="Quattrocento Sans"/>
                <a:cs typeface="Quattrocento Sans"/>
                <a:sym typeface="Quattrocento Sans"/>
              </a:rPr>
              <a:t>Raycasting</a:t>
            </a:r>
            <a:r>
              <a:rPr lang="en-GB" sz="2400">
                <a:solidFill>
                  <a:schemeClr val="dk1"/>
                </a:solidFill>
                <a:latin typeface="Quattrocento Sans"/>
                <a:ea typeface="Quattrocento Sans"/>
                <a:cs typeface="Quattrocento Sans"/>
                <a:sym typeface="Quattrocento Sans"/>
              </a:rPr>
              <a:t> can ignore</a:t>
            </a:r>
            <a:endParaRPr sz="2400">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(Camera Culling Mask, </a:t>
            </a:r>
            <a:r>
              <a:rPr lang="en-GB" sz="2400" err="1">
                <a:solidFill>
                  <a:schemeClr val="dk1"/>
                </a:solidFill>
                <a:latin typeface="Quattrocento Sans"/>
                <a:ea typeface="Quattrocento Sans"/>
                <a:cs typeface="Quattrocento Sans"/>
                <a:sym typeface="Quattrocento Sans"/>
              </a:rPr>
              <a:t>Raycast</a:t>
            </a:r>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Layermask</a:t>
            </a:r>
            <a:r>
              <a:rPr lang="en-GB" sz="2400">
                <a:solidFill>
                  <a:schemeClr val="dk1"/>
                </a:solidFill>
                <a:latin typeface="Quattrocento Sans"/>
                <a:ea typeface="Quattrocento Sans"/>
                <a:cs typeface="Quattrocento Sans"/>
                <a:sym typeface="Quattrocento Sans"/>
              </a:rPr>
              <a:t>)</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Transform – translation, rotation, scaling</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Mesh – has rendering options, materials</a:t>
            </a:r>
            <a:endParaRPr sz="2400">
              <a:solidFill>
                <a:schemeClr val="dk1"/>
              </a:solidFill>
            </a:endParaRPr>
          </a:p>
          <a:p>
            <a:pPr marL="285750" marR="0" lvl="0" indent="-285750" algn="l" rtl="0">
              <a:spcBef>
                <a:spcPts val="0"/>
              </a:spcBef>
              <a:spcAft>
                <a:spcPts val="0"/>
              </a:spcAft>
              <a:buClr>
                <a:schemeClr val="dk1"/>
              </a:buClr>
              <a:buSzPts val="1800"/>
              <a:buChar char="•"/>
            </a:pPr>
            <a:r>
              <a:rPr lang="en-GB" sz="2400">
                <a:solidFill>
                  <a:schemeClr val="dk1"/>
                </a:solidFill>
                <a:latin typeface="Quattrocento Sans"/>
                <a:ea typeface="Quattrocento Sans"/>
                <a:cs typeface="Quattrocento Sans"/>
                <a:sym typeface="Quattrocento Sans"/>
              </a:rPr>
              <a:t>Collider</a:t>
            </a:r>
            <a:endParaRPr sz="2400">
              <a:solidFill>
                <a:schemeClr val="dk1"/>
              </a:solidFill>
            </a:endParaRPr>
          </a:p>
        </p:txBody>
      </p:sp>
      <p:sp>
        <p:nvSpPr>
          <p:cNvPr id="205" name="Google Shape;205;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p:nvPr/>
        </p:nvSpPr>
        <p:spPr>
          <a:xfrm>
            <a:off x="1938197" y="1412777"/>
            <a:ext cx="9650828" cy="47704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(Scripts, Classes)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Scripts and Classes</a:t>
            </a:r>
            <a:endParaRPr>
              <a:solidFill>
                <a:srgbClr val="FFFF00"/>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err="1">
                <a:solidFill>
                  <a:schemeClr val="dk1"/>
                </a:solidFill>
                <a:latin typeface="Quattrocento Sans"/>
                <a:ea typeface="Quattrocento Sans"/>
                <a:cs typeface="Quattrocento Sans"/>
                <a:sym typeface="Quattrocento Sans"/>
              </a:rPr>
              <a:t>MonoBehaviour</a:t>
            </a:r>
            <a:r>
              <a:rPr lang="en-GB" sz="2400">
                <a:solidFill>
                  <a:schemeClr val="dk1"/>
                </a:solidFill>
                <a:latin typeface="Quattrocento Sans"/>
                <a:ea typeface="Quattrocento Sans"/>
                <a:cs typeface="Quattrocento Sans"/>
                <a:sym typeface="Quattrocento Sans"/>
              </a:rPr>
              <a:t> is the base class every script derives from.</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Using </a:t>
            </a:r>
            <a:r>
              <a:rPr lang="en-GB" sz="2000" err="1">
                <a:solidFill>
                  <a:schemeClr val="dk1"/>
                </a:solidFill>
                <a:latin typeface="Quattrocento Sans"/>
                <a:ea typeface="Quattrocento Sans"/>
                <a:cs typeface="Quattrocento Sans"/>
                <a:sym typeface="Quattrocento Sans"/>
              </a:rPr>
              <a:t>Javascript</a:t>
            </a:r>
            <a:r>
              <a:rPr lang="en-GB" sz="2000">
                <a:solidFill>
                  <a:schemeClr val="dk1"/>
                </a:solidFill>
                <a:latin typeface="Quattrocento Sans"/>
                <a:ea typeface="Quattrocento Sans"/>
                <a:cs typeface="Quattrocento Sans"/>
                <a:sym typeface="Quattrocento Sans"/>
              </a:rPr>
              <a:t> every script automatically derives from </a:t>
            </a:r>
            <a:r>
              <a:rPr lang="en-GB" sz="2000" err="1">
                <a:solidFill>
                  <a:schemeClr val="dk1"/>
                </a:solidFill>
                <a:latin typeface="Quattrocento Sans"/>
                <a:ea typeface="Quattrocento Sans"/>
                <a:cs typeface="Quattrocento Sans"/>
                <a:sym typeface="Quattrocento Sans"/>
              </a:rPr>
              <a:t>MonoBehaviour</a:t>
            </a:r>
            <a:r>
              <a:rPr lang="en-GB" sz="20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When using C# </a:t>
            </a:r>
            <a:r>
              <a:rPr lang="en-GB" sz="2000" strike="sngStrike">
                <a:solidFill>
                  <a:schemeClr val="dk1"/>
                </a:solidFill>
                <a:latin typeface="Quattrocento Sans"/>
                <a:ea typeface="Quattrocento Sans"/>
                <a:cs typeface="Quattrocento Sans"/>
                <a:sym typeface="Quattrocento Sans"/>
              </a:rPr>
              <a:t>or Boo </a:t>
            </a:r>
            <a:r>
              <a:rPr lang="en-GB" sz="2000">
                <a:solidFill>
                  <a:schemeClr val="dk1"/>
                </a:solidFill>
                <a:latin typeface="Quattrocento Sans"/>
                <a:ea typeface="Quattrocento Sans"/>
                <a:cs typeface="Quattrocento Sans"/>
                <a:sym typeface="Quattrocento Sans"/>
              </a:rPr>
              <a:t>you have to explicitly derive from </a:t>
            </a:r>
            <a:r>
              <a:rPr lang="en-GB" sz="2000" err="1">
                <a:solidFill>
                  <a:schemeClr val="dk1"/>
                </a:solidFill>
                <a:latin typeface="Quattrocento Sans"/>
                <a:ea typeface="Quattrocento Sans"/>
                <a:cs typeface="Quattrocento Sans"/>
                <a:sym typeface="Quattrocento Sans"/>
              </a:rPr>
              <a:t>MonoBehaviour</a:t>
            </a:r>
            <a:r>
              <a:rPr lang="en-GB" sz="20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a:spcBef>
                <a:spcPts val="0"/>
              </a:spcBef>
              <a:spcAft>
                <a:spcPts val="0"/>
              </a:spcAft>
              <a:buNone/>
            </a:pPr>
            <a:endParaRPr lang="en-GB" sz="2000">
              <a:solidFill>
                <a:schemeClr val="dk1"/>
              </a:solidFill>
              <a:latin typeface="Quattrocento Sans"/>
              <a:ea typeface="Quattrocento Sans"/>
              <a:cs typeface="Quattrocento Sans"/>
            </a:endParaRPr>
          </a:p>
          <a:p>
            <a:r>
              <a:rPr lang="en-GB" sz="2400">
                <a:solidFill>
                  <a:srgbClr val="FFFF00"/>
                </a:solidFill>
                <a:latin typeface="Quattrocento Sans"/>
              </a:rPr>
              <a:t>Classes </a:t>
            </a:r>
            <a:r>
              <a:rPr lang="en-GB" sz="2400">
                <a:solidFill>
                  <a:schemeClr val="dk1"/>
                </a:solidFill>
                <a:latin typeface="Quattrocento Sans"/>
              </a:rPr>
              <a:t>– derived from </a:t>
            </a:r>
            <a:r>
              <a:rPr lang="en-GB" sz="2400" err="1">
                <a:solidFill>
                  <a:schemeClr val="dk1"/>
                </a:solidFill>
                <a:latin typeface="Quattrocento Sans"/>
              </a:rPr>
              <a:t>monobehaviour</a:t>
            </a:r>
            <a:r>
              <a:rPr lang="en-GB" sz="2400">
                <a:solidFill>
                  <a:schemeClr val="dk1"/>
                </a:solidFill>
                <a:latin typeface="Quattrocento Sans"/>
              </a:rPr>
              <a:t>, which unity is built on. </a:t>
            </a:r>
            <a:r>
              <a:rPr lang="en-GB" sz="2400" err="1">
                <a:solidFill>
                  <a:schemeClr val="dk1"/>
                </a:solidFill>
                <a:latin typeface="Quattrocento Sans"/>
              </a:rPr>
              <a:t>MonoBehaviour</a:t>
            </a:r>
            <a:r>
              <a:rPr lang="en-GB" sz="2400">
                <a:solidFill>
                  <a:schemeClr val="dk1"/>
                </a:solidFill>
                <a:latin typeface="Quattrocento Sans"/>
              </a:rPr>
              <a:t> is the base class every script derives from. </a:t>
            </a:r>
            <a:r>
              <a:rPr lang="en-GB" sz="2000">
                <a:solidFill>
                  <a:schemeClr val="dk1"/>
                </a:solidFill>
                <a:latin typeface="Quattrocento Sans"/>
              </a:rPr>
              <a:t>Using </a:t>
            </a:r>
            <a:r>
              <a:rPr lang="en-GB" sz="2000" err="1">
                <a:solidFill>
                  <a:schemeClr val="dk1"/>
                </a:solidFill>
                <a:latin typeface="Quattrocento Sans"/>
              </a:rPr>
              <a:t>Javascript</a:t>
            </a:r>
            <a:r>
              <a:rPr lang="en-GB" sz="2000">
                <a:solidFill>
                  <a:schemeClr val="dk1"/>
                </a:solidFill>
                <a:latin typeface="Quattrocento Sans"/>
              </a:rPr>
              <a:t> every script automatically derives from </a:t>
            </a:r>
            <a:r>
              <a:rPr lang="en-GB" sz="2000" err="1">
                <a:solidFill>
                  <a:schemeClr val="dk1"/>
                </a:solidFill>
                <a:latin typeface="Quattrocento Sans"/>
              </a:rPr>
              <a:t>MonoBehaviour</a:t>
            </a:r>
            <a:r>
              <a:rPr lang="en-GB" sz="2000">
                <a:solidFill>
                  <a:schemeClr val="dk1"/>
                </a:solidFill>
                <a:latin typeface="Quattrocento Sans"/>
              </a:rPr>
              <a:t>.  When using C# </a:t>
            </a:r>
            <a:r>
              <a:rPr lang="en-GB" sz="2000" strike="sngStrike">
                <a:solidFill>
                  <a:schemeClr val="dk1"/>
                </a:solidFill>
                <a:latin typeface="Quattrocento Sans"/>
              </a:rPr>
              <a:t>or Boo </a:t>
            </a:r>
            <a:r>
              <a:rPr lang="en-GB" sz="2000">
                <a:solidFill>
                  <a:schemeClr val="dk1"/>
                </a:solidFill>
                <a:latin typeface="Quattrocento Sans"/>
              </a:rPr>
              <a:t>you have to explicitly derive from </a:t>
            </a:r>
            <a:r>
              <a:rPr lang="en-GB" sz="2000" err="1">
                <a:solidFill>
                  <a:schemeClr val="dk1"/>
                </a:solidFill>
                <a:latin typeface="Quattrocento Sans"/>
              </a:rPr>
              <a:t>MonoBehaviour</a:t>
            </a:r>
            <a:r>
              <a:rPr lang="en-GB" sz="2000">
                <a:solidFill>
                  <a:schemeClr val="dk1"/>
                </a:solidFill>
                <a:latin typeface="Quattrocento Sans"/>
              </a:rPr>
              <a:t>.</a:t>
            </a:r>
            <a:endParaRPr lang="en-GB">
              <a:solidFill>
                <a:schemeClr val="dk1"/>
              </a:solidFill>
            </a:endParaRPr>
          </a:p>
          <a:p>
            <a:endParaRPr lang="en-US" sz="2400" b="1">
              <a:solidFill>
                <a:srgbClr val="FF0000"/>
              </a:solidFill>
              <a:latin typeface="Quattrocento Sans"/>
              <a:ea typeface="Quattrocento Sans"/>
              <a:cs typeface="Quattrocento Sans"/>
            </a:endParaRPr>
          </a:p>
        </p:txBody>
      </p:sp>
      <p:sp>
        <p:nvSpPr>
          <p:cNvPr id="212" name="Google Shape;212;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1872682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p:nvPr/>
        </p:nvSpPr>
        <p:spPr>
          <a:xfrm>
            <a:off x="609600" y="1412776"/>
            <a:ext cx="11471728" cy="24313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r>
              <a:rPr lang="en-GB" sz="2400" err="1">
                <a:solidFill>
                  <a:srgbClr val="FFFF00"/>
                </a:solidFill>
                <a:latin typeface="Quattrocento Sans"/>
                <a:sym typeface="Quattrocento Sans"/>
              </a:rPr>
              <a:t>Monobehaviour</a:t>
            </a:r>
            <a:r>
              <a:rPr lang="en-GB" sz="2400">
                <a:solidFill>
                  <a:srgbClr val="FFFF00"/>
                </a:solidFill>
                <a:latin typeface="Quattrocento Sans"/>
                <a:sym typeface="Quattrocento Sans"/>
              </a:rPr>
              <a:t> and Unity structure:</a:t>
            </a:r>
            <a:endParaRPr lang="en-GB"/>
          </a:p>
          <a:p>
            <a:r>
              <a:rPr lang="en-GB" sz="2400">
                <a:solidFill>
                  <a:srgbClr val="FFFF00"/>
                </a:solidFill>
                <a:hlinkClick r:id="rId3"/>
              </a:rPr>
              <a:t>https://docs.unity3d.com/uploads/Main/monobehaviour_flowchart.svg</a:t>
            </a:r>
            <a:r>
              <a:rPr lang="en-GB" sz="2400">
                <a:solidFill>
                  <a:srgbClr val="FFFF00"/>
                </a:solidFill>
              </a:rPr>
              <a:t> </a:t>
            </a:r>
            <a:endParaRPr lang="en-GB"/>
          </a:p>
          <a:p>
            <a:pPr marL="0" marR="0" lvl="0" indent="0" algn="l" rtl="0">
              <a:spcBef>
                <a:spcPts val="0"/>
              </a:spcBef>
              <a:spcAft>
                <a:spcPts val="0"/>
              </a:spcAft>
              <a:buNone/>
            </a:pPr>
            <a:endParaRPr sz="2400" b="1"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86" name="Google Shape;286;p3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3426625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p:nvPr/>
        </p:nvSpPr>
        <p:spPr>
          <a:xfrm>
            <a:off x="1938197" y="1412777"/>
            <a:ext cx="10062564" cy="4462720"/>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Basic Architecture </a:t>
            </a:r>
            <a:endParaRPr lang="en-US">
              <a:ea typeface="Quattrocento Sans"/>
              <a:sym typeface="Quattrocento Sans"/>
            </a:endParaRPr>
          </a:p>
          <a:p>
            <a:r>
              <a:rPr lang="en-GB" sz="3600">
                <a:solidFill>
                  <a:srgbClr val="FFFF00"/>
                </a:solidFill>
                <a:latin typeface="Quattrocento Sans"/>
                <a:ea typeface="Quattrocento Sans"/>
                <a:cs typeface="Quattrocento Sans"/>
                <a:sym typeface="Quattrocento Sans"/>
              </a:rPr>
              <a:t>(Scripts, Classes, </a:t>
            </a:r>
            <a:r>
              <a:rPr lang="en-GB" sz="3600" err="1">
                <a:solidFill>
                  <a:srgbClr val="FFFF00"/>
                </a:solidFill>
                <a:latin typeface="Quattrocento Sans"/>
                <a:ea typeface="Quattrocento Sans"/>
                <a:cs typeface="Quattrocento Sans"/>
                <a:sym typeface="Quattrocento Sans"/>
              </a:rPr>
              <a:t>NameSpaces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endParaRPr lang="en-GB" sz="2000">
              <a:solidFill>
                <a:schemeClr val="dk1"/>
              </a:solidFill>
              <a:latin typeface="Quattrocento Sans"/>
            </a:endParaRPr>
          </a:p>
          <a:p>
            <a:r>
              <a:rPr lang="en-GB" sz="2400">
                <a:solidFill>
                  <a:srgbClr val="FFFF00"/>
                </a:solidFill>
                <a:latin typeface="Segoe UI"/>
                <a:cs typeface="Segoe UI"/>
              </a:rPr>
              <a:t>Namespaces</a:t>
            </a:r>
            <a:endParaRPr lang="en-US" sz="2400">
              <a:solidFill>
                <a:srgbClr val="FFFFFF"/>
              </a:solidFill>
              <a:latin typeface="Segoe UI"/>
              <a:cs typeface="Segoe UI"/>
            </a:endParaRPr>
          </a:p>
          <a:p>
            <a:r>
              <a:rPr lang="en-GB" sz="2400">
                <a:solidFill>
                  <a:schemeClr val="bg2"/>
                </a:solidFill>
                <a:latin typeface="Segoe UI"/>
                <a:cs typeface="Segoe UI"/>
              </a:rPr>
              <a:t>Libraries of Classes provided by Unity,  third parties, or yourself.</a:t>
            </a:r>
            <a:endParaRPr lang="en-US" sz="2400">
              <a:solidFill>
                <a:schemeClr val="bg2"/>
              </a:solidFill>
              <a:latin typeface="Segoe UI"/>
              <a:cs typeface="Segoe UI"/>
            </a:endParaRPr>
          </a:p>
          <a:p>
            <a:endParaRPr lang="en-GB" sz="2400">
              <a:solidFill>
                <a:srgbClr val="FFFF00"/>
              </a:solidFill>
              <a:latin typeface="Segoe UI"/>
              <a:cs typeface="Segoe UI"/>
            </a:endParaRPr>
          </a:p>
          <a:p>
            <a:r>
              <a:rPr lang="en-GB" sz="2400">
                <a:solidFill>
                  <a:srgbClr val="FFFF00"/>
                </a:solidFill>
                <a:latin typeface="Segoe UI"/>
                <a:cs typeface="Segoe UI"/>
              </a:rPr>
              <a:t>Typical:</a:t>
            </a:r>
            <a:endParaRPr lang="en-US" sz="2400">
              <a:solidFill>
                <a:srgbClr val="FFFF00"/>
              </a:solidFill>
              <a:latin typeface="Segoe UI"/>
              <a:cs typeface="Segoe UI"/>
            </a:endParaRPr>
          </a:p>
          <a:p>
            <a:r>
              <a:rPr lang="en-GB" sz="2400">
                <a:solidFill>
                  <a:schemeClr val="dk1"/>
                </a:solidFill>
                <a:latin typeface="Segoe UI"/>
                <a:cs typeface="Segoe UI"/>
              </a:rPr>
              <a:t>using </a:t>
            </a:r>
            <a:r>
              <a:rPr lang="en-GB" sz="2400" err="1">
                <a:solidFill>
                  <a:schemeClr val="dk1"/>
                </a:solidFill>
                <a:latin typeface="Segoe UI"/>
                <a:cs typeface="Segoe UI"/>
              </a:rPr>
              <a:t>UnityEngine</a:t>
            </a:r>
            <a:r>
              <a:rPr lang="en-GB" sz="2400">
                <a:solidFill>
                  <a:schemeClr val="dk1"/>
                </a:solidFill>
                <a:latin typeface="Segoe UI"/>
                <a:cs typeface="Segoe UI"/>
              </a:rPr>
              <a:t>;</a:t>
            </a:r>
            <a:endParaRPr lang="en-US" sz="2400">
              <a:solidFill>
                <a:schemeClr val="dk1"/>
              </a:solidFill>
              <a:latin typeface="Segoe UI"/>
              <a:cs typeface="Segoe UI"/>
            </a:endParaRPr>
          </a:p>
          <a:p>
            <a:r>
              <a:rPr lang="en-GB" sz="2400">
                <a:solidFill>
                  <a:schemeClr val="dk1"/>
                </a:solidFill>
                <a:latin typeface="Segoe UI"/>
                <a:cs typeface="Segoe UI"/>
              </a:rPr>
              <a:t>using </a:t>
            </a:r>
            <a:r>
              <a:rPr lang="en-GB" sz="2400" err="1">
                <a:solidFill>
                  <a:schemeClr val="dk1"/>
                </a:solidFill>
                <a:latin typeface="Segoe UI"/>
                <a:cs typeface="Segoe UI"/>
              </a:rPr>
              <a:t>System.Collections</a:t>
            </a:r>
            <a:r>
              <a:rPr lang="en-GB" sz="2400">
                <a:solidFill>
                  <a:schemeClr val="dk1"/>
                </a:solidFill>
                <a:latin typeface="Segoe UI"/>
                <a:cs typeface="Segoe UI"/>
              </a:rPr>
              <a:t>;</a:t>
            </a:r>
            <a:endParaRPr lang="en-US">
              <a:solidFill>
                <a:schemeClr val="dk1"/>
              </a:solidFill>
            </a:endParaRPr>
          </a:p>
          <a:p>
            <a:endParaRPr lang="en-US" sz="2400" b="1">
              <a:solidFill>
                <a:srgbClr val="FF0000"/>
              </a:solidFill>
              <a:latin typeface="Quattrocento Sans"/>
              <a:ea typeface="Quattrocento Sans"/>
              <a:cs typeface="Quattrocento Sans"/>
            </a:endParaRPr>
          </a:p>
        </p:txBody>
      </p:sp>
      <p:sp>
        <p:nvSpPr>
          <p:cNvPr id="212" name="Google Shape;212;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7"/>
          <p:cNvSpPr txBox="1"/>
          <p:nvPr/>
        </p:nvSpPr>
        <p:spPr>
          <a:xfrm>
            <a:off x="1938198" y="1412776"/>
            <a:ext cx="8977888" cy="2492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(Default Scene Views)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Scene – basic working 3D/2D view</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Game – View from Main Camera</a:t>
            </a: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26" name="Google Shape;226;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8"/>
          <p:cNvSpPr txBox="1"/>
          <p:nvPr/>
        </p:nvSpPr>
        <p:spPr>
          <a:xfrm>
            <a:off x="1938198" y="1412776"/>
            <a:ext cx="9059664" cy="3600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(Default Scene Views)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Main Camera – </a:t>
            </a:r>
            <a:r>
              <a:rPr lang="en-GB" sz="2400">
                <a:solidFill>
                  <a:srgbClr val="FF0000"/>
                </a:solidFill>
                <a:latin typeface="Quattrocento Sans"/>
                <a:ea typeface="Quattrocento Sans"/>
                <a:cs typeface="Quattrocento Sans"/>
                <a:sym typeface="Quattrocento Sans"/>
              </a:rPr>
              <a:t>causes scene to run</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Directional Light – required</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Cannot have two main cameras in name</a:t>
            </a:r>
            <a:endParaRPr i="1">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Later we can have a look at 3PC and FPC Cameras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33" name="Google Shape;233;p2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9"/>
          <p:cNvSpPr txBox="1"/>
          <p:nvPr/>
        </p:nvSpPr>
        <p:spPr>
          <a:xfrm>
            <a:off x="1938197" y="1412776"/>
            <a:ext cx="8262300" cy="3601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(Assets, Packages)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Three basic kinds:</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Unity Own</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User Created</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Third Party</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Unity comes with free assets and offers a library or premium </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(not free) assets</a:t>
            </a:r>
            <a:endParaRPr/>
          </a:p>
        </p:txBody>
      </p:sp>
      <p:sp>
        <p:nvSpPr>
          <p:cNvPr id="240" name="Google Shape;240;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p:nvPr/>
        </p:nvSpPr>
        <p:spPr>
          <a:xfrm>
            <a:off x="1938197" y="1412776"/>
            <a:ext cx="8262300" cy="504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500">
                <a:solidFill>
                  <a:srgbClr val="FFFF00"/>
                </a:solidFill>
                <a:latin typeface="Quattrocento Sans"/>
                <a:ea typeface="Quattrocento Sans"/>
                <a:cs typeface="Quattrocento Sans"/>
                <a:sym typeface="Quattrocento Sans"/>
              </a:rPr>
              <a:t>Basic Architecture (Assets, Packages)</a:t>
            </a:r>
            <a:endParaRPr sz="1300"/>
          </a:p>
          <a:p>
            <a:pPr marL="0" marR="0" lvl="0" indent="0" algn="l" rtl="0">
              <a:spcBef>
                <a:spcPts val="0"/>
              </a:spcBef>
              <a:spcAft>
                <a:spcPts val="0"/>
              </a:spcAft>
              <a:buNone/>
            </a:pPr>
            <a:endParaRPr sz="23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300">
                <a:solidFill>
                  <a:srgbClr val="FFFF00"/>
                </a:solidFill>
                <a:latin typeface="Quattrocento Sans"/>
                <a:ea typeface="Quattrocento Sans"/>
                <a:cs typeface="Quattrocento Sans"/>
                <a:sym typeface="Quattrocento Sans"/>
              </a:rPr>
              <a:t>Assets:</a:t>
            </a:r>
            <a:endParaRPr sz="1300"/>
          </a:p>
          <a:p>
            <a:pPr marL="0" marR="0" lvl="0" indent="0" algn="l" rtl="0">
              <a:spcBef>
                <a:spcPts val="0"/>
              </a:spcBef>
              <a:spcAft>
                <a:spcPts val="0"/>
              </a:spcAft>
              <a:buNone/>
            </a:pPr>
            <a:r>
              <a:rPr lang="en-GB" sz="2300">
                <a:solidFill>
                  <a:schemeClr val="dk1"/>
                </a:solidFill>
                <a:latin typeface="Quattrocento Sans"/>
                <a:ea typeface="Quattrocento Sans"/>
                <a:cs typeface="Quattrocento Sans"/>
                <a:sym typeface="Quattrocento Sans"/>
              </a:rPr>
              <a:t>Can be any individual file elements previously discussed.</a:t>
            </a:r>
            <a:endParaRPr sz="1300"/>
          </a:p>
          <a:p>
            <a:pPr marL="0" marR="0" lvl="0" indent="0" algn="l" rtl="0">
              <a:spcBef>
                <a:spcPts val="0"/>
              </a:spcBef>
              <a:spcAft>
                <a:spcPts val="0"/>
              </a:spcAft>
              <a:buNone/>
            </a:pPr>
            <a:r>
              <a:rPr lang="en-GB" sz="2300">
                <a:solidFill>
                  <a:schemeClr val="dk1"/>
                </a:solidFill>
                <a:latin typeface="Quattrocento Sans"/>
                <a:ea typeface="Quattrocento Sans"/>
                <a:cs typeface="Quattrocento Sans"/>
                <a:sym typeface="Quattrocento Sans"/>
              </a:rPr>
              <a:t>Can be Created  via Assets/Create/</a:t>
            </a:r>
            <a:endParaRPr sz="1300"/>
          </a:p>
          <a:p>
            <a:pPr marL="0" marR="0" lvl="0" indent="0" algn="l" rtl="0">
              <a:spcBef>
                <a:spcPts val="0"/>
              </a:spcBef>
              <a:spcAft>
                <a:spcPts val="0"/>
              </a:spcAft>
              <a:buNone/>
            </a:pPr>
            <a:r>
              <a:rPr lang="en-GB" sz="2300">
                <a:solidFill>
                  <a:schemeClr val="dk1"/>
                </a:solidFill>
                <a:latin typeface="Quattrocento Sans"/>
                <a:ea typeface="Quattrocento Sans"/>
                <a:cs typeface="Quattrocento Sans"/>
                <a:sym typeface="Quattrocento Sans"/>
              </a:rPr>
              <a:t>Can be imported via Assets/Import New Asset</a:t>
            </a:r>
            <a:endParaRPr sz="1300"/>
          </a:p>
          <a:p>
            <a:pPr marL="0" marR="0" lvl="0" indent="0" algn="l" rtl="0">
              <a:spcBef>
                <a:spcPts val="0"/>
              </a:spcBef>
              <a:spcAft>
                <a:spcPts val="0"/>
              </a:spcAft>
              <a:buNone/>
            </a:pPr>
            <a:endParaRPr sz="23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300">
                <a:solidFill>
                  <a:srgbClr val="FFFF00"/>
                </a:solidFill>
                <a:latin typeface="Quattrocento Sans"/>
                <a:ea typeface="Quattrocento Sans"/>
                <a:cs typeface="Quattrocento Sans"/>
                <a:sym typeface="Quattrocento Sans"/>
              </a:rPr>
              <a:t>Packages:</a:t>
            </a:r>
            <a:endParaRPr sz="1300"/>
          </a:p>
          <a:p>
            <a:pPr marL="0" marR="0" lvl="0" indent="0" algn="l" rtl="0">
              <a:spcBef>
                <a:spcPts val="0"/>
              </a:spcBef>
              <a:spcAft>
                <a:spcPts val="0"/>
              </a:spcAft>
              <a:buNone/>
            </a:pPr>
            <a:r>
              <a:rPr lang="en-GB" sz="2300">
                <a:solidFill>
                  <a:schemeClr val="dk1"/>
                </a:solidFill>
                <a:latin typeface="Quattrocento Sans"/>
                <a:ea typeface="Quattrocento Sans"/>
                <a:cs typeface="Quattrocento Sans"/>
                <a:sym typeface="Quattrocento Sans"/>
              </a:rPr>
              <a:t>These are any combinations of assets and can include anything in the normal range of assets or custom assets in combination.</a:t>
            </a:r>
            <a:endParaRPr sz="1300"/>
          </a:p>
          <a:p>
            <a:pPr marL="0" marR="0" lvl="0" indent="0" algn="l" rtl="0">
              <a:spcBef>
                <a:spcPts val="0"/>
              </a:spcBef>
              <a:spcAft>
                <a:spcPts val="0"/>
              </a:spcAft>
              <a:buNone/>
            </a:pPr>
            <a:r>
              <a:rPr lang="en-GB" sz="2300">
                <a:solidFill>
                  <a:schemeClr val="dk1"/>
                </a:solidFill>
                <a:latin typeface="Quattrocento Sans"/>
                <a:ea typeface="Quattrocento Sans"/>
                <a:cs typeface="Quattrocento Sans"/>
                <a:sym typeface="Quattrocento Sans"/>
              </a:rPr>
              <a:t>Unity provides a library of asset packages for various customised approaches </a:t>
            </a:r>
            <a:endParaRPr sz="23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(2D, Cameras, Characters, CrossPlatformInput, Effects, Environment, ParticleSystems, Prototyping, Utility, Vehicles)</a:t>
            </a:r>
            <a:endParaRPr sz="1300"/>
          </a:p>
        </p:txBody>
      </p:sp>
      <p:sp>
        <p:nvSpPr>
          <p:cNvPr id="247" name="Google Shape;247;p3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1"/>
          <p:cNvSpPr txBox="1"/>
          <p:nvPr/>
        </p:nvSpPr>
        <p:spPr>
          <a:xfrm>
            <a:off x="1938198" y="1412777"/>
            <a:ext cx="9588494" cy="50782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(PreFabs)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Good for enemies, multiple objects, scenery that is repeated,</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Slightly modified, or procedurally animated or scripted.</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GameObject Template to create Instances – one edit affects all</a:t>
            </a:r>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Note: Dragging Asset into Hierarcy or Scene/Game View will create</a:t>
            </a:r>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An Instance – changes to asset will change this instance. However,</a:t>
            </a:r>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It is not a prefab unless you define it as such. So, there can be two</a:t>
            </a:r>
            <a:r>
              <a:rPr lang="en-GB"/>
              <a:t> </a:t>
            </a:r>
            <a:r>
              <a:rPr lang="en-GB" sz="2400" i="1">
                <a:solidFill>
                  <a:srgbClr val="FFFF00"/>
                </a:solidFill>
                <a:latin typeface="Quattrocento Sans"/>
                <a:ea typeface="Quattrocento Sans"/>
                <a:cs typeface="Quattrocento Sans"/>
                <a:sym typeface="Quattrocento Sans"/>
              </a:rPr>
              <a:t>Levels of instancing for edits.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54" name="Google Shape;254;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2"/>
          <p:cNvSpPr txBox="1"/>
          <p:nvPr/>
        </p:nvSpPr>
        <p:spPr>
          <a:xfrm>
            <a:off x="1938197" y="1412777"/>
            <a:ext cx="9046252" cy="56322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(PreFabs)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You can drag the prefab in or spawn it in your scripts</a:t>
            </a:r>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(instantiating at runtime)</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Note: </a:t>
            </a:r>
            <a:r>
              <a:rPr lang="en-GB" sz="2000" i="1">
                <a:solidFill>
                  <a:schemeClr val="dk1"/>
                </a:solidFill>
                <a:latin typeface="Quattrocento Sans"/>
                <a:ea typeface="Quattrocento Sans"/>
                <a:cs typeface="Quattrocento Sans"/>
                <a:sym typeface="Quattrocento Sans"/>
              </a:rPr>
              <a:t>You can instantiate a Prefab from one line of code, with complete </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functionality. Creating equivalent GameObjects from code takes an average of </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five lines of code, but likely more.You can set up, test, and modify the Prefab </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quickly and easily in the Scene and Inspector.You can change the Prefab being </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instanced without changing the code that instantiates it. A simple rocket might </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be altered into a super-charged rocket, and no code changes are required</a:t>
            </a:r>
            <a:r>
              <a:rPr lang="en-GB" sz="2000" b="1" i="1">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i="1"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https://docs.unity3d.com/Manual/InstantiatingPrefabs.html</a:t>
            </a:r>
            <a:endParaRPr sz="20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61" name="Google Shape;261;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3"/>
          <p:cNvSpPr txBox="1"/>
          <p:nvPr/>
        </p:nvSpPr>
        <p:spPr>
          <a:xfrm>
            <a:off x="1938198" y="1412777"/>
            <a:ext cx="8681400" cy="471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(PreFab Example)</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A robot exploding to many pieces:</a:t>
            </a:r>
            <a:br>
              <a:rPr lang="en-GB" sz="2400">
                <a:solidFill>
                  <a:schemeClr val="dk1"/>
                </a:solidFill>
                <a:latin typeface="Quattrocento Sans"/>
                <a:ea typeface="Quattrocento Sans"/>
                <a:cs typeface="Quattrocento Sans"/>
                <a:sym typeface="Quattrocento Sans"/>
              </a:rPr>
            </a:b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The complete, operational robot is destroyed and replaced with a wrecked robot Prefab. This Prefab would consist of the robot split into many parts, all set up with Rigidbodies and Particle Systems of their own. This technique allows you to blow up a robot into many pieces, with just one line of code, replacing one object with a Prefab.</a:t>
            </a:r>
            <a:endParaRPr sz="20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68" name="Google Shape;268;p3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4"/>
          <p:cNvSpPr txBox="1"/>
          <p:nvPr/>
        </p:nvSpPr>
        <p:spPr>
          <a:xfrm>
            <a:off x="1938198" y="1412776"/>
            <a:ext cx="8262300" cy="517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(Controllers - MVC)</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These are Components or Packages provided by Unity libraries that can be added to a GameObject to give custom behaviour. These may be imported as packages, have own interface, or be added as a component.</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Animator: New System for handling animation </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(Add as Component, has Window with Visual interface, Use Inspector on Animation to preview in first instance) </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Character: System for Navigation and player animation</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(Import Character Package,  has Prefabs FPC and 3PC)</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Scripts: </a:t>
            </a:r>
            <a:r>
              <a:rPr lang="en-GB" sz="2000">
                <a:solidFill>
                  <a:schemeClr val="dk1"/>
                </a:solidFill>
                <a:latin typeface="Quattrocento Sans"/>
                <a:ea typeface="Quattrocento Sans"/>
                <a:cs typeface="Quattrocento Sans"/>
                <a:sym typeface="Quattrocento Sans"/>
              </a:rPr>
              <a:t>Various scripts can also act as controllers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http://wiki.unity3d.com/index.php/Scripts/Controllers#Animation_Controllers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75" name="Google Shape;275;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5"/>
          <p:cNvSpPr txBox="1"/>
          <p:nvPr/>
        </p:nvSpPr>
        <p:spPr>
          <a:xfrm>
            <a:off x="1938198" y="1412777"/>
            <a:ext cx="8262300" cy="471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(Scripts)</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These are added as components and are available for access</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By any GameObject or other Script if desired. Methods (Functions)  and variables can be accessed if desired.</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It is not necessary to define the start script, as all scripts are called when built and run.</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1"/>
                </a:solidFill>
                <a:latin typeface="Quattrocento Sans"/>
                <a:ea typeface="Quattrocento Sans"/>
                <a:cs typeface="Quattrocento Sans"/>
                <a:sym typeface="Quattrocento Sans"/>
              </a:rPr>
              <a:t>By default, the Awake, OnEnable and Update functions of different scripts are called in the order the scripts are loaded (which is arbitrary). However, it is possible to modify this order using the Script Execution Order settings (menu: Edit &gt; Project Settings &gt; Script Execution Order).</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82" name="Google Shape;282;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6"/>
          <p:cNvSpPr txBox="1"/>
          <p:nvPr/>
        </p:nvSpPr>
        <p:spPr>
          <a:xfrm>
            <a:off x="1938198" y="1412777"/>
            <a:ext cx="8262300" cy="434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(Animator)</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Mechanim</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Also legacy Animation</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Can co-exist as component controllers in different GameObjects in the scene.</a:t>
            </a:r>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To be covered in depth later in these slides</a:t>
            </a:r>
            <a:endParaRPr sz="2400">
              <a:solidFill>
                <a:schemeClr val="dk1"/>
              </a:solidFill>
              <a:latin typeface="Quattrocento Sans"/>
              <a:ea typeface="Quattrocento Sans"/>
              <a:cs typeface="Quattrocento Sans"/>
              <a:sym typeface="Quattrocento Sans"/>
            </a:endParaRPr>
          </a:p>
        </p:txBody>
      </p:sp>
      <p:sp>
        <p:nvSpPr>
          <p:cNvPr id="289" name="Google Shape;289;p3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294"/>
        <p:cNvGrpSpPr/>
        <p:nvPr/>
      </p:nvGrpSpPr>
      <p:grpSpPr>
        <a:xfrm>
          <a:off x="0" y="0"/>
          <a:ext cx="0" cy="0"/>
          <a:chOff x="0" y="0"/>
          <a:chExt cx="0" cy="0"/>
        </a:xfrm>
      </p:grpSpPr>
      <p:sp>
        <p:nvSpPr>
          <p:cNvPr id="295" name="Google Shape;295;p37"/>
          <p:cNvSpPr txBox="1"/>
          <p:nvPr/>
        </p:nvSpPr>
        <p:spPr>
          <a:xfrm>
            <a:off x="1938198" y="1412776"/>
            <a:ext cx="82623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(Shading and Lighting)</a:t>
            </a:r>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PBR GI</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Basic Skybox:</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To be covered in depth later</a:t>
            </a:r>
            <a:endParaRPr/>
          </a:p>
        </p:txBody>
      </p:sp>
      <p:sp>
        <p:nvSpPr>
          <p:cNvPr id="296" name="Google Shape;296;p3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301"/>
        <p:cNvGrpSpPr/>
        <p:nvPr/>
      </p:nvGrpSpPr>
      <p:grpSpPr>
        <a:xfrm>
          <a:off x="0" y="0"/>
          <a:ext cx="0" cy="0"/>
          <a:chOff x="0" y="0"/>
          <a:chExt cx="0" cy="0"/>
        </a:xfrm>
      </p:grpSpPr>
      <p:sp>
        <p:nvSpPr>
          <p:cNvPr id="302" name="Google Shape;302;p38"/>
          <p:cNvSpPr txBox="1"/>
          <p:nvPr/>
        </p:nvSpPr>
        <p:spPr>
          <a:xfrm>
            <a:off x="1938198" y="1412777"/>
            <a:ext cx="8550300" cy="471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Demo </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Skybox</a:t>
            </a:r>
            <a:endParaRPr/>
          </a:p>
          <a:p>
            <a:pPr marL="457200" marR="0" lvl="0" indent="-457200" algn="l" rtl="0">
              <a:spcBef>
                <a:spcPts val="0"/>
              </a:spcBef>
              <a:spcAft>
                <a:spcPts val="0"/>
              </a:spcAft>
              <a:buClr>
                <a:schemeClr val="dk2"/>
              </a:buClr>
              <a:buSzPts val="2400"/>
              <a:buFont typeface="Quattrocento Sans"/>
              <a:buAutoNum type="arabicPeriod"/>
            </a:pPr>
            <a:r>
              <a:rPr lang="en-GB" sz="2400" i="1">
                <a:solidFill>
                  <a:schemeClr val="dk2"/>
                </a:solidFill>
                <a:latin typeface="Quattrocento Sans"/>
                <a:ea typeface="Quattrocento Sans"/>
                <a:cs typeface="Quattrocento Sans"/>
                <a:sym typeface="Quattrocento Sans"/>
              </a:rPr>
              <a:t>Click on the Assets folder in the project view</a:t>
            </a:r>
            <a:endParaRPr/>
          </a:p>
          <a:p>
            <a:pPr marL="457200" marR="0" lvl="0" indent="-457200" algn="l" rtl="0">
              <a:spcBef>
                <a:spcPts val="0"/>
              </a:spcBef>
              <a:spcAft>
                <a:spcPts val="0"/>
              </a:spcAft>
              <a:buClr>
                <a:schemeClr val="dk2"/>
              </a:buClr>
              <a:buSzPts val="2400"/>
              <a:buFont typeface="Quattrocento Sans"/>
              <a:buAutoNum type="arabicPeriod"/>
            </a:pPr>
            <a:r>
              <a:rPr lang="en-GB" sz="2400" i="1">
                <a:solidFill>
                  <a:schemeClr val="dk2"/>
                </a:solidFill>
                <a:latin typeface="Quattrocento Sans"/>
                <a:ea typeface="Quattrocento Sans"/>
                <a:cs typeface="Quattrocento Sans"/>
                <a:sym typeface="Quattrocento Sans"/>
              </a:rPr>
              <a:t>Using the top menu bar, select Assets/Create/Material. This will create a new material object in the assets folder</a:t>
            </a:r>
            <a:endParaRPr/>
          </a:p>
          <a:p>
            <a:pPr marL="457200" marR="0" lvl="0" indent="-457200" algn="l" rtl="0">
              <a:spcBef>
                <a:spcPts val="0"/>
              </a:spcBef>
              <a:spcAft>
                <a:spcPts val="0"/>
              </a:spcAft>
              <a:buClr>
                <a:schemeClr val="dk2"/>
              </a:buClr>
              <a:buSzPts val="2400"/>
              <a:buFont typeface="Quattrocento Sans"/>
              <a:buAutoNum type="arabicPeriod"/>
            </a:pPr>
            <a:r>
              <a:rPr lang="en-GB" sz="2400" i="1">
                <a:solidFill>
                  <a:schemeClr val="dk2"/>
                </a:solidFill>
                <a:latin typeface="Quattrocento Sans"/>
                <a:ea typeface="Quattrocento Sans"/>
                <a:cs typeface="Quattrocento Sans"/>
                <a:sym typeface="Quattrocento Sans"/>
              </a:rPr>
              <a:t>Rename the new material as Skybox</a:t>
            </a:r>
            <a:endParaRPr/>
          </a:p>
          <a:p>
            <a:pPr marL="457200" marR="0" lvl="0" indent="-457200" algn="l" rtl="0">
              <a:spcBef>
                <a:spcPts val="0"/>
              </a:spcBef>
              <a:spcAft>
                <a:spcPts val="0"/>
              </a:spcAft>
              <a:buClr>
                <a:schemeClr val="dk2"/>
              </a:buClr>
              <a:buSzPts val="2400"/>
              <a:buFont typeface="Quattrocento Sans"/>
              <a:buAutoNum type="arabicPeriod"/>
            </a:pPr>
            <a:r>
              <a:rPr lang="en-GB" sz="2400" i="1">
                <a:solidFill>
                  <a:schemeClr val="dk2"/>
                </a:solidFill>
                <a:latin typeface="Quattrocento Sans"/>
                <a:ea typeface="Quattrocento Sans"/>
                <a:cs typeface="Quattrocento Sans"/>
                <a:sym typeface="Quattrocento Sans"/>
              </a:rPr>
              <a:t>Select the Skybox Asset in the project view</a:t>
            </a:r>
            <a:endParaRPr/>
          </a:p>
          <a:p>
            <a:pPr marL="457200" marR="0" lvl="0" indent="-457200" algn="l" rtl="0">
              <a:spcBef>
                <a:spcPts val="0"/>
              </a:spcBef>
              <a:spcAft>
                <a:spcPts val="0"/>
              </a:spcAft>
              <a:buClr>
                <a:schemeClr val="dk2"/>
              </a:buClr>
              <a:buSzPts val="2400"/>
              <a:buFont typeface="Quattrocento Sans"/>
              <a:buAutoNum type="arabicPeriod"/>
            </a:pPr>
            <a:r>
              <a:rPr lang="en-GB" sz="2400" i="1">
                <a:solidFill>
                  <a:schemeClr val="dk2"/>
                </a:solidFill>
                <a:latin typeface="Quattrocento Sans"/>
                <a:ea typeface="Quattrocento Sans"/>
                <a:cs typeface="Quattrocento Sans"/>
                <a:sym typeface="Quattrocento Sans"/>
              </a:rPr>
              <a:t>In the inspector view, The Shader  option is defaulted to standard. Change that to Skybox/6 sided. This will create 6 textural slots for your new material.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303" name="Google Shape;303;p3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9"/>
          <p:cNvSpPr txBox="1"/>
          <p:nvPr/>
        </p:nvSpPr>
        <p:spPr>
          <a:xfrm>
            <a:off x="1938197" y="1412777"/>
            <a:ext cx="8578800" cy="329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a:t>
            </a:r>
            <a:endParaRPr/>
          </a:p>
          <a:p>
            <a:pPr marL="0" marR="0" lvl="0" indent="0" algn="l" rtl="0">
              <a:spcBef>
                <a:spcPts val="0"/>
              </a:spcBef>
              <a:spcAft>
                <a:spcPts val="0"/>
              </a:spcAft>
              <a:buNone/>
            </a:pPr>
            <a:endParaRPr sz="36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800" i="1">
                <a:solidFill>
                  <a:schemeClr val="dk1"/>
                </a:solidFill>
                <a:latin typeface="Quattrocento Sans"/>
                <a:ea typeface="Quattrocento Sans"/>
                <a:cs typeface="Quattrocento Sans"/>
                <a:sym typeface="Quattrocento Sans"/>
              </a:rPr>
              <a:t>Create Login if needed, but can work offline</a:t>
            </a:r>
            <a:endParaRPr>
              <a:solidFill>
                <a:schemeClr val="dk1"/>
              </a:solidFill>
            </a:endParaRPr>
          </a:p>
          <a:p>
            <a:pPr marL="0" marR="0" lvl="0" indent="0" algn="l" rtl="0">
              <a:spcBef>
                <a:spcPts val="0"/>
              </a:spcBef>
              <a:spcAft>
                <a:spcPts val="0"/>
              </a:spcAft>
              <a:buNone/>
            </a:pPr>
            <a:r>
              <a:rPr lang="en-GB" sz="2800" i="1">
                <a:solidFill>
                  <a:schemeClr val="dk1"/>
                </a:solidFill>
                <a:latin typeface="Quattrocento Sans"/>
                <a:ea typeface="Quattrocento Sans"/>
                <a:cs typeface="Quattrocento Sans"/>
                <a:sym typeface="Quattrocento Sans"/>
              </a:rPr>
              <a:t>Download and Use Unity 6000.0.55f for duration of Module</a:t>
            </a:r>
            <a:endParaRPr>
              <a:solidFill>
                <a:schemeClr val="dk1"/>
              </a:solidFill>
            </a:endParaRPr>
          </a:p>
          <a:p>
            <a:pPr marL="0" marR="0" lvl="0" indent="0" algn="l" rtl="0">
              <a:spcBef>
                <a:spcPts val="0"/>
              </a:spcBef>
              <a:spcAft>
                <a:spcPts val="0"/>
              </a:spcAft>
              <a:buNone/>
            </a:pPr>
            <a:endParaRPr sz="28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310" name="Google Shape;310;p3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0"/>
          <p:cNvSpPr txBox="1"/>
          <p:nvPr/>
        </p:nvSpPr>
        <p:spPr>
          <a:xfrm>
            <a:off x="1938198" y="1412777"/>
            <a:ext cx="8136900" cy="471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(Toolbar)</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Basic Controls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Scene Window:</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Toolbar top left has pan, translate, scale, box transform</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a:t>
            </a:r>
            <a:r>
              <a:rPr lang="en-GB" sz="2400">
                <a:solidFill>
                  <a:srgbClr val="FFFF00"/>
                </a:solidFill>
                <a:latin typeface="Quattrocento Sans"/>
                <a:ea typeface="Quattrocento Sans"/>
                <a:cs typeface="Quattrocento Sans"/>
                <a:sym typeface="Quattrocento Sans"/>
              </a:rPr>
              <a:t>Transform Gizmos:</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Pivot or centre</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Local or Global </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Unity overlays a global coordinate system that may have a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different location pivot to the objects own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(we covered this last week with pivots)</a:t>
            </a:r>
            <a:endParaRPr/>
          </a:p>
        </p:txBody>
      </p:sp>
      <p:sp>
        <p:nvSpPr>
          <p:cNvPr id="317" name="Google Shape;317;p4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1"/>
          <p:cNvSpPr txBox="1"/>
          <p:nvPr/>
        </p:nvSpPr>
        <p:spPr>
          <a:xfrm>
            <a:off x="1938197" y="1412777"/>
            <a:ext cx="9551417" cy="50782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(Play Mode)</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Can be in Game Window or Full screen. View is from camera</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When in Play mode, public variables and other exposed settings</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May be adjusted for experimentation.</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Please note: These changes are not saved, so if you want to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Keep them, you must then adjust in the project after you exit</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Play mode.</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Console window shows Errors and script lines the occur on</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324" name="Google Shape;324;p4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2"/>
          <p:cNvSpPr txBox="1"/>
          <p:nvPr/>
        </p:nvSpPr>
        <p:spPr>
          <a:xfrm>
            <a:off x="1938201" y="1412775"/>
            <a:ext cx="9898805"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 IDEs)</a:t>
            </a:r>
            <a:endParaRPr/>
          </a:p>
          <a:p>
            <a:pPr marL="0" marR="0" lvl="0" indent="0" algn="l" rtl="0">
              <a:spcBef>
                <a:spcPts val="0"/>
              </a:spcBef>
              <a:spcAft>
                <a:spcPts val="0"/>
              </a:spcAft>
              <a:buNone/>
            </a:pPr>
            <a:endParaRPr sz="3600">
              <a:solidFill>
                <a:srgbClr val="FFFF00"/>
              </a:solidFill>
              <a:latin typeface="Quattrocento Sans"/>
              <a:ea typeface="Quattrocento Sans"/>
              <a:cs typeface="Quattrocento Sans"/>
              <a:sym typeface="Quattrocento Sans"/>
            </a:endParaRPr>
          </a:p>
          <a:p>
            <a:r>
              <a:rPr lang="en-GB" sz="2400" err="1">
                <a:solidFill>
                  <a:srgbClr val="FFFF00"/>
                </a:solidFill>
                <a:latin typeface="Quattrocento Sans"/>
                <a:ea typeface="Quattrocento Sans"/>
                <a:cs typeface="Quattrocento Sans"/>
                <a:sym typeface="Quattrocento Sans"/>
              </a:rPr>
              <a:t>Monodevelop</a:t>
            </a:r>
            <a:r>
              <a:rPr lang="en-GB" sz="2400">
                <a:solidFill>
                  <a:srgbClr val="FFFF00"/>
                </a:solidFill>
                <a:latin typeface="Quattrocento Sans"/>
                <a:ea typeface="Quattrocento Sans"/>
                <a:cs typeface="Quattrocento Sans"/>
                <a:sym typeface="Quattrocento Sans"/>
              </a:rPr>
              <a:t> IDE – Deprecated</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sym typeface="Quattrocento Sans"/>
            </a:endParaRPr>
          </a:p>
          <a:p>
            <a:r>
              <a:rPr lang="en-GB" sz="2400">
                <a:solidFill>
                  <a:srgbClr val="FFFF00"/>
                </a:solidFill>
                <a:latin typeface="Quattrocento Sans"/>
                <a:ea typeface="Quattrocento Sans"/>
                <a:cs typeface="Quattrocento Sans"/>
                <a:sym typeface="Quattrocento Sans"/>
              </a:rPr>
              <a:t>Visual Studio IDE – Now preferred option, works well with </a:t>
            </a:r>
            <a:r>
              <a:rPr lang="en-GB" sz="2400" err="1">
                <a:solidFill>
                  <a:srgbClr val="FFFF00"/>
                </a:solidFill>
                <a:latin typeface="Quattrocento Sans"/>
                <a:ea typeface="Quattrocento Sans"/>
                <a:cs typeface="Quattrocento Sans"/>
                <a:sym typeface="Quattrocento Sans"/>
              </a:rPr>
              <a:t>Github</a:t>
            </a:r>
            <a:r>
              <a:rPr lang="en-GB" sz="2400">
                <a:solidFill>
                  <a:srgbClr val="FFFF00"/>
                </a:solidFill>
                <a:latin typeface="Quattrocento Sans"/>
                <a:ea typeface="Quattrocento Sans"/>
                <a:cs typeface="Quattrocento Sans"/>
                <a:sym typeface="Quattrocento Sans"/>
              </a:rPr>
              <a:t> Website</a:t>
            </a:r>
            <a:endParaRPr lang="en-GB" sz="2400">
              <a:solidFill>
                <a:srgbClr val="FFFF00"/>
              </a:solidFill>
              <a:latin typeface="Quattrocento Sans"/>
              <a:ea typeface="Quattrocento Sans"/>
              <a:cs typeface="Quattrocento Sans"/>
            </a:endParaRPr>
          </a:p>
          <a:p>
            <a:endParaRPr lang="en-GB" sz="2400">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rPr>
              <a:t>VS Code IDE also works, and is lighter, works well with </a:t>
            </a:r>
            <a:r>
              <a:rPr lang="en-GB" sz="2400" err="1">
                <a:solidFill>
                  <a:srgbClr val="FFFF00"/>
                </a:solidFill>
                <a:latin typeface="Quattrocento Sans"/>
                <a:ea typeface="Quattrocento Sans"/>
                <a:cs typeface="Quattrocento Sans"/>
              </a:rPr>
              <a:t>Github</a:t>
            </a:r>
            <a:r>
              <a:rPr lang="en-GB" sz="2400">
                <a:solidFill>
                  <a:srgbClr val="FFFF00"/>
                </a:solidFill>
                <a:latin typeface="Quattrocento Sans"/>
                <a:ea typeface="Quattrocento Sans"/>
                <a:cs typeface="Quattrocento Sans"/>
              </a:rPr>
              <a:t> Desktop, but takes further setup for full options.</a:t>
            </a:r>
            <a:endParaRPr lang="en-GB"/>
          </a:p>
        </p:txBody>
      </p:sp>
      <p:sp>
        <p:nvSpPr>
          <p:cNvPr id="331" name="Google Shape;331;p4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3"/>
          <p:cNvSpPr txBox="1"/>
          <p:nvPr/>
        </p:nvSpPr>
        <p:spPr>
          <a:xfrm>
            <a:off x="1938198" y="1412777"/>
            <a:ext cx="8550300" cy="5756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sz="24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Classes, namespaces</a:t>
            </a:r>
            <a:endParaRPr/>
          </a:p>
          <a:p>
            <a:r>
              <a:rPr lang="en-GB" sz="2000">
                <a:solidFill>
                  <a:schemeClr val="dk1"/>
                </a:solidFill>
                <a:latin typeface="Quattrocento Sans"/>
                <a:ea typeface="Quattrocento Sans"/>
                <a:cs typeface="Quattrocento Sans"/>
                <a:sym typeface="Quattrocento Sans"/>
              </a:rPr>
              <a:t>Each script that you create will by default inherit from </a:t>
            </a:r>
            <a:r>
              <a:rPr lang="en-GB" sz="2000" err="1">
                <a:solidFill>
                  <a:schemeClr val="dk1"/>
                </a:solidFill>
                <a:latin typeface="Quattrocento Sans"/>
                <a:ea typeface="Quattrocento Sans"/>
                <a:cs typeface="Quattrocento Sans"/>
                <a:sym typeface="Quattrocento Sans"/>
              </a:rPr>
              <a:t>MonoBehaviour</a:t>
            </a:r>
            <a:r>
              <a:rPr lang="en-GB" sz="2000">
                <a:solidFill>
                  <a:schemeClr val="dk1"/>
                </a:solidFill>
                <a:latin typeface="Quattrocento Sans"/>
                <a:ea typeface="Quattrocento Sans"/>
                <a:cs typeface="Quattrocento Sans"/>
                <a:sym typeface="Quattrocento Sans"/>
              </a:rPr>
              <a:t>. Each script that you create will also have two functions defined by default: Start() and Update().</a:t>
            </a:r>
            <a:br>
              <a:rPr lang="en-GB" sz="2000">
                <a:latin typeface="Quattrocento Sans"/>
                <a:ea typeface="Quattrocento Sans"/>
                <a:cs typeface="Quattrocento Sans"/>
              </a:rPr>
            </a:b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 Start() function will be run only once at the start of the program. So any logic and data initializations that you need or want to do can be placed in the Start() function.</a:t>
            </a:r>
            <a:br>
              <a:rPr lang="en-GB" sz="2000">
                <a:latin typeface="Quattrocento Sans"/>
                <a:ea typeface="Quattrocento Sans"/>
                <a:cs typeface="Quattrocento Sans"/>
              </a:rPr>
            </a:b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 Update() function is where most of the magic happens. This is the function that gets called continuously throughout the life of your game or simulation. This is the function where you will update your game objects. In short it is the function which will be called each frame before rendering the scene.</a:t>
            </a:r>
            <a:endParaRPr>
              <a:solidFill>
                <a:schemeClr val="dk1"/>
              </a:solidFill>
            </a:endParaRPr>
          </a:p>
          <a:p>
            <a:pPr marL="0" marR="0" lvl="0" indent="0" algn="l" rtl="0">
              <a:spcBef>
                <a:spcPts val="0"/>
              </a:spcBef>
              <a:spcAft>
                <a:spcPts val="0"/>
              </a:spcAft>
              <a:buNone/>
            </a:pPr>
            <a:endParaRPr sz="2400" b="1" i="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338" name="Google Shape;338;p4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4"/>
          <p:cNvSpPr txBox="1"/>
          <p:nvPr/>
        </p:nvSpPr>
        <p:spPr>
          <a:xfrm>
            <a:off x="1938198" y="1412776"/>
            <a:ext cx="8729700" cy="86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a:t>
            </a:r>
            <a:endParaRPr/>
          </a:p>
          <a:p>
            <a:pPr marL="0" marR="0" lvl="0" indent="0" algn="l" rtl="0">
              <a:spcBef>
                <a:spcPts val="0"/>
              </a:spcBef>
              <a:spcAft>
                <a:spcPts val="0"/>
              </a:spcAft>
              <a:buNone/>
            </a:pPr>
            <a:endParaRPr sz="1400" b="1" i="1">
              <a:solidFill>
                <a:srgbClr val="FFFFFF"/>
              </a:solidFill>
              <a:latin typeface="Quattrocento Sans"/>
              <a:ea typeface="Quattrocento Sans"/>
              <a:cs typeface="Quattrocento Sans"/>
              <a:sym typeface="Quattrocento Sans"/>
            </a:endParaRPr>
          </a:p>
        </p:txBody>
      </p:sp>
      <p:sp>
        <p:nvSpPr>
          <p:cNvPr id="345" name="Google Shape;345;p4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5"/>
          <p:cNvSpPr txBox="1"/>
          <p:nvPr/>
        </p:nvSpPr>
        <p:spPr>
          <a:xfrm>
            <a:off x="1938198" y="1412777"/>
            <a:ext cx="8729700" cy="437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a:t>
            </a:r>
            <a:endParaRPr/>
          </a:p>
          <a:p>
            <a:pPr marL="0" marR="0" lvl="0" indent="0" algn="l" rtl="0">
              <a:spcBef>
                <a:spcPts val="0"/>
              </a:spcBef>
              <a:spcAft>
                <a:spcPts val="0"/>
              </a:spcAft>
              <a:buNone/>
            </a:pPr>
            <a:endParaRPr sz="3600">
              <a:solidFill>
                <a:srgbClr val="FFFF00"/>
              </a:solidFill>
              <a:latin typeface="Quattrocento Sans"/>
              <a:ea typeface="Quattrocento Sans"/>
              <a:cs typeface="Quattrocento Sans"/>
              <a:sym typeface="Quattrocento Sans"/>
            </a:endParaRPr>
          </a:p>
          <a:p>
            <a:pPr marL="457200" marR="0" lvl="0" indent="-457200" algn="l" rtl="0">
              <a:spcBef>
                <a:spcPts val="0"/>
              </a:spcBef>
              <a:spcAft>
                <a:spcPts val="0"/>
              </a:spcAft>
              <a:buClr>
                <a:srgbClr val="FFFF00"/>
              </a:buClr>
              <a:buSzPts val="2400"/>
              <a:buFont typeface="Quattrocento Sans"/>
              <a:buAutoNum type="arabicPeriod"/>
            </a:pPr>
            <a:r>
              <a:rPr lang="en-GB" sz="2400">
                <a:solidFill>
                  <a:srgbClr val="FFFF00"/>
                </a:solidFill>
                <a:latin typeface="Quattrocento Sans"/>
                <a:ea typeface="Quattrocento Sans"/>
                <a:cs typeface="Quattrocento Sans"/>
                <a:sym typeface="Quattrocento Sans"/>
              </a:rPr>
              <a:t>Dependencies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	</a:t>
            </a:r>
            <a:r>
              <a:rPr lang="en-GB" sz="2400">
                <a:solidFill>
                  <a:schemeClr val="dk2"/>
                </a:solidFill>
                <a:latin typeface="Quattrocento Sans"/>
                <a:ea typeface="Quattrocento Sans"/>
                <a:cs typeface="Quattrocento Sans"/>
                <a:sym typeface="Quattrocento Sans"/>
              </a:rPr>
              <a:t>Using UnityEngine: lets MainCamera be initiated.</a:t>
            </a:r>
            <a:endParaRPr/>
          </a:p>
          <a:p>
            <a:pPr marL="457200" marR="0" lvl="0" indent="-457200" algn="l" rtl="0">
              <a:spcBef>
                <a:spcPts val="0"/>
              </a:spcBef>
              <a:spcAft>
                <a:spcPts val="0"/>
              </a:spcAft>
              <a:buClr>
                <a:srgbClr val="FFFF00"/>
              </a:buClr>
              <a:buSzPts val="2400"/>
              <a:buFont typeface="Quattrocento Sans"/>
              <a:buAutoNum type="arabicPeriod"/>
            </a:pPr>
            <a:r>
              <a:rPr lang="en-GB" sz="2400">
                <a:solidFill>
                  <a:srgbClr val="FFFF00"/>
                </a:solidFill>
                <a:latin typeface="Quattrocento Sans"/>
                <a:ea typeface="Quattrocento Sans"/>
                <a:cs typeface="Quattrocento Sans"/>
                <a:sym typeface="Quattrocento Sans"/>
              </a:rPr>
              <a:t>Namespaces</a:t>
            </a:r>
            <a:endParaRPr/>
          </a:p>
          <a:p>
            <a:pPr marL="457200" marR="0" lvl="1" indent="0" algn="l" rtl="0">
              <a:spcBef>
                <a:spcPts val="0"/>
              </a:spcBef>
              <a:spcAft>
                <a:spcPts val="0"/>
              </a:spcAft>
              <a:buNone/>
            </a:pPr>
            <a:r>
              <a:rPr lang="en-GB" sz="2400" i="0" u="none" strike="noStrike" cap="none">
                <a:solidFill>
                  <a:srgbClr val="FFFF00"/>
                </a:solidFill>
                <a:latin typeface="Quattrocento Sans"/>
                <a:ea typeface="Quattrocento Sans"/>
                <a:cs typeface="Quattrocento Sans"/>
                <a:sym typeface="Quattrocento Sans"/>
              </a:rPr>
              <a:t>	</a:t>
            </a:r>
            <a:r>
              <a:rPr lang="en-GB" sz="2400" i="0" u="none" strike="noStrike" cap="none">
                <a:solidFill>
                  <a:schemeClr val="dk2"/>
                </a:solidFill>
                <a:latin typeface="Quattrocento Sans"/>
                <a:ea typeface="Quattrocento Sans"/>
                <a:cs typeface="Quattrocento Sans"/>
                <a:sym typeface="Quattrocento Sans"/>
              </a:rPr>
              <a:t>MonoBehaviour is a class in Namespace UnityEngine. 	Others are not Class Definitions.</a:t>
            </a:r>
            <a:endParaRPr/>
          </a:p>
          <a:p>
            <a:pPr marL="457200" marR="0" lvl="0" indent="-457200" algn="l" rtl="0">
              <a:spcBef>
                <a:spcPts val="0"/>
              </a:spcBef>
              <a:spcAft>
                <a:spcPts val="0"/>
              </a:spcAft>
              <a:buClr>
                <a:srgbClr val="FFFF00"/>
              </a:buClr>
              <a:buSzPts val="2400"/>
              <a:buFont typeface="Quattrocento Sans"/>
              <a:buAutoNum type="arabicPeriod"/>
            </a:pPr>
            <a:r>
              <a:rPr lang="en-GB" sz="2400">
                <a:solidFill>
                  <a:srgbClr val="FFFF00"/>
                </a:solidFill>
                <a:latin typeface="Quattrocento Sans"/>
                <a:ea typeface="Quattrocento Sans"/>
                <a:cs typeface="Quattrocento Sans"/>
                <a:sym typeface="Quattrocento Sans"/>
              </a:rPr>
              <a:t>Start and Update Functions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	</a:t>
            </a:r>
            <a:r>
              <a:rPr lang="en-GB" sz="2400">
                <a:solidFill>
                  <a:schemeClr val="dk2"/>
                </a:solidFill>
                <a:latin typeface="Quattrocento Sans"/>
                <a:ea typeface="Quattrocento Sans"/>
                <a:cs typeface="Quattrocento Sans"/>
                <a:sym typeface="Quattrocento Sans"/>
              </a:rPr>
              <a:t>Void means it does not return a value. </a:t>
            </a:r>
            <a:endParaRPr/>
          </a:p>
          <a:p>
            <a:pPr marL="0" marR="0" lvl="0" indent="0" algn="l" rtl="0">
              <a:spcBef>
                <a:spcPts val="0"/>
              </a:spcBef>
              <a:spcAft>
                <a:spcPts val="0"/>
              </a:spcAft>
              <a:buNone/>
            </a:pPr>
            <a:r>
              <a:rPr lang="en-GB" sz="2400">
                <a:solidFill>
                  <a:schemeClr val="dk2"/>
                </a:solidFill>
                <a:latin typeface="Quattrocento Sans"/>
                <a:ea typeface="Quattrocento Sans"/>
                <a:cs typeface="Quattrocento Sans"/>
                <a:sym typeface="Quattrocento Sans"/>
              </a:rPr>
              <a:t>	Start initializes, Update refreshes.</a:t>
            </a:r>
            <a:endParaRPr/>
          </a:p>
          <a:p>
            <a:pPr marL="0" marR="0" lvl="0" indent="0" algn="l" rtl="0">
              <a:spcBef>
                <a:spcPts val="0"/>
              </a:spcBef>
              <a:spcAft>
                <a:spcPts val="0"/>
              </a:spcAft>
              <a:buNone/>
            </a:pPr>
            <a:endParaRPr sz="1400" b="1" i="1">
              <a:solidFill>
                <a:srgbClr val="FFFFFF"/>
              </a:solidFill>
              <a:latin typeface="Quattrocento Sans"/>
              <a:ea typeface="Quattrocento Sans"/>
              <a:cs typeface="Quattrocento Sans"/>
              <a:sym typeface="Quattrocento Sans"/>
            </a:endParaRPr>
          </a:p>
        </p:txBody>
      </p:sp>
      <p:sp>
        <p:nvSpPr>
          <p:cNvPr id="352" name="Google Shape;352;p4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6"/>
          <p:cNvSpPr txBox="1"/>
          <p:nvPr/>
        </p:nvSpPr>
        <p:spPr>
          <a:xfrm>
            <a:off x="1938198" y="1412777"/>
            <a:ext cx="8550300" cy="5818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C# Basic Script</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using UnityEngine;</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using System.Collections;</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public class articleRotate : MonoBehaviour {</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Use this for initialization</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void Start () {</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Update is called once per frame</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void Update () {</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this.transform.Rotate (new Vector3 (0, 1, 0), 1);</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359" name="Google Shape;359;p4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6"/>
          <p:cNvSpPr txBox="1"/>
          <p:nvPr/>
        </p:nvSpPr>
        <p:spPr>
          <a:xfrm>
            <a:off x="1938198" y="1412777"/>
            <a:ext cx="8550300" cy="4708941"/>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Unity (C#) Vs. C#</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sym typeface="Quattrocento Sans"/>
            </a:endParaRPr>
          </a:p>
          <a:p>
            <a:r>
              <a:rPr lang="en-GB" sz="2400">
                <a:solidFill>
                  <a:schemeClr val="bg2"/>
                </a:solidFill>
              </a:rPr>
              <a:t>Unity provides a framework so that you don't have to work out input handling, graphics instance setup, game loop, game object handling, physics, rendering, lighting etc yourself.</a:t>
            </a:r>
          </a:p>
          <a:p>
            <a:endParaRPr lang="en-GB" sz="2400">
              <a:solidFill>
                <a:schemeClr val="bg2"/>
              </a:solidFill>
            </a:endParaRPr>
          </a:p>
          <a:p>
            <a:r>
              <a:rPr lang="en-GB" sz="1600">
                <a:solidFill>
                  <a:schemeClr val="bg2"/>
                </a:solidFill>
                <a:hlinkClick r:id="rId3">
                  <a:extLst>
                    <a:ext uri="{A12FA001-AC4F-418D-AE19-62706E023703}">
                      <ahyp:hlinkClr xmlns:ahyp="http://schemas.microsoft.com/office/drawing/2018/hyperlinkcolor" val="tx"/>
                    </a:ext>
                  </a:extLst>
                </a:hlinkClick>
              </a:rPr>
              <a:t>https://www.reddit.com/r/Unity3D/comments/32wps3/is_c_in_unity_different_to_general_c/</a:t>
            </a:r>
            <a:r>
              <a:rPr lang="en-GB" sz="1600">
                <a:solidFill>
                  <a:srgbClr val="FFFF00"/>
                </a:solidFill>
              </a:rPr>
              <a:t> </a:t>
            </a:r>
            <a:endParaRPr lang="en-GB"/>
          </a:p>
          <a:p>
            <a:endParaRPr lang="en-GB" sz="2400">
              <a:solidFill>
                <a:srgbClr val="FFFF00"/>
              </a:solidFill>
              <a:ea typeface="Quattrocento Sans"/>
            </a:endParaRPr>
          </a:p>
          <a:p>
            <a:endParaRPr lang="en-GB" sz="2400">
              <a:solidFill>
                <a:srgbClr val="FFFF00"/>
              </a:solidFill>
              <a:ea typeface="Quattrocento Sans"/>
            </a:endParaRPr>
          </a:p>
          <a:p>
            <a:endParaRPr lang="en-GB" sz="2400">
              <a:solidFill>
                <a:srgbClr val="FFFF00"/>
              </a:solidFill>
              <a:ea typeface="Quattrocento Sans"/>
            </a:endParaRPr>
          </a:p>
          <a:p>
            <a:endParaRPr lang="en-US" sz="2400" b="1" i="1">
              <a:solidFill>
                <a:srgbClr val="FFFF00"/>
              </a:solidFill>
              <a:latin typeface="Quattrocento Sans"/>
              <a:ea typeface="Quattrocento Sans"/>
              <a:cs typeface="Quattrocento Sans"/>
            </a:endParaRPr>
          </a:p>
          <a:p>
            <a:endParaRPr lang="en-US" sz="2400" b="1">
              <a:solidFill>
                <a:srgbClr val="FF0000"/>
              </a:solidFill>
              <a:latin typeface="Quattrocento Sans"/>
              <a:ea typeface="Quattrocento Sans"/>
              <a:cs typeface="Quattrocento Sans"/>
            </a:endParaRPr>
          </a:p>
        </p:txBody>
      </p:sp>
      <p:sp>
        <p:nvSpPr>
          <p:cNvPr id="359" name="Google Shape;359;p4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693498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6"/>
          <p:cNvSpPr txBox="1"/>
          <p:nvPr/>
        </p:nvSpPr>
        <p:spPr>
          <a:xfrm>
            <a:off x="1938198" y="1412777"/>
            <a:ext cx="8550300" cy="4339609"/>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Unity (C#) Vs. C#</a:t>
            </a:r>
            <a:endParaRPr lang="en-US"/>
          </a:p>
          <a:p>
            <a:pPr marL="0" marR="0" lvl="0" indent="0" algn="l" rtl="0">
              <a:spcBef>
                <a:spcPts val="0"/>
              </a:spcBef>
              <a:spcAft>
                <a:spcPts val="0"/>
              </a:spcAft>
              <a:buNone/>
            </a:pPr>
            <a:endParaRPr lang="en-GB" sz="1800">
              <a:solidFill>
                <a:srgbClr val="FFFFFF"/>
              </a:solidFill>
              <a:ea typeface="Quattrocento Sans"/>
            </a:endParaRPr>
          </a:p>
          <a:p>
            <a:r>
              <a:rPr lang="en-GB" sz="1800">
                <a:solidFill>
                  <a:schemeClr val="bg2"/>
                </a:solidFill>
              </a:rPr>
              <a:t>Constructors (the method that initializes a </a:t>
            </a:r>
            <a:r>
              <a:rPr lang="en-GB" sz="1800" err="1">
                <a:solidFill>
                  <a:schemeClr val="bg2"/>
                </a:solidFill>
              </a:rPr>
              <a:t>class'</a:t>
            </a:r>
            <a:r>
              <a:rPr lang="en-GB" sz="1800">
                <a:solidFill>
                  <a:schemeClr val="bg2"/>
                </a:solidFill>
              </a:rPr>
              <a:t> data). You almost never use constructors in Unity (in fact you can't for the most part), but you use them everywhere in normal development.</a:t>
            </a:r>
            <a:endParaRPr lang="en-GB">
              <a:solidFill>
                <a:schemeClr val="bg2"/>
              </a:solidFill>
            </a:endParaRPr>
          </a:p>
          <a:p>
            <a:endParaRPr lang="en-GB" sz="2400">
              <a:solidFill>
                <a:srgbClr val="FFFF00"/>
              </a:solidFill>
            </a:endParaRPr>
          </a:p>
          <a:p>
            <a:r>
              <a:rPr lang="en-GB" sz="1600">
                <a:solidFill>
                  <a:srgbClr val="FFFF00"/>
                </a:solidFill>
                <a:hlinkClick r:id="rId3"/>
              </a:rPr>
              <a:t>https://www.reddit.com/r/Unity3D/comments/32wps3/is_c_in_unity_different_to_general_c/</a:t>
            </a:r>
            <a:r>
              <a:rPr lang="en-GB" sz="1600">
                <a:solidFill>
                  <a:srgbClr val="FFFF00"/>
                </a:solidFill>
              </a:rPr>
              <a:t> </a:t>
            </a:r>
            <a:endParaRPr lang="en-GB" sz="1600"/>
          </a:p>
          <a:p>
            <a:endParaRPr lang="en-GB" sz="1600">
              <a:solidFill>
                <a:srgbClr val="FFFF00"/>
              </a:solidFill>
              <a:ea typeface="Quattrocento Sans"/>
            </a:endParaRPr>
          </a:p>
          <a:p>
            <a:endParaRPr lang="en-GB" sz="1800">
              <a:solidFill>
                <a:srgbClr val="FFFF00"/>
              </a:solidFill>
              <a:ea typeface="Quattrocento Sans"/>
            </a:endParaRPr>
          </a:p>
          <a:p>
            <a:endParaRPr lang="en-GB" sz="2400">
              <a:solidFill>
                <a:srgbClr val="FFFF00"/>
              </a:solidFill>
              <a:ea typeface="Quattrocento Sans"/>
            </a:endParaRPr>
          </a:p>
          <a:p>
            <a:endParaRPr lang="en-GB" sz="2400">
              <a:solidFill>
                <a:srgbClr val="FFFF00"/>
              </a:solidFill>
              <a:ea typeface="Quattrocento Sans"/>
            </a:endParaRPr>
          </a:p>
          <a:p>
            <a:endParaRPr lang="en-US" sz="2400" b="1" i="1">
              <a:solidFill>
                <a:srgbClr val="FFFF00"/>
              </a:solidFill>
              <a:latin typeface="Quattrocento Sans"/>
              <a:ea typeface="Quattrocento Sans"/>
              <a:cs typeface="Quattrocento Sans"/>
            </a:endParaRPr>
          </a:p>
          <a:p>
            <a:endParaRPr lang="en-US" sz="2400" b="1">
              <a:solidFill>
                <a:srgbClr val="FF0000"/>
              </a:solidFill>
              <a:latin typeface="Quattrocento Sans"/>
              <a:ea typeface="Quattrocento Sans"/>
              <a:cs typeface="Quattrocento Sans"/>
            </a:endParaRPr>
          </a:p>
        </p:txBody>
      </p:sp>
      <p:sp>
        <p:nvSpPr>
          <p:cNvPr id="359" name="Google Shape;359;p4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37636816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357"/>
        <p:cNvGrpSpPr/>
        <p:nvPr/>
      </p:nvGrpSpPr>
      <p:grpSpPr>
        <a:xfrm>
          <a:off x="0" y="0"/>
          <a:ext cx="0" cy="0"/>
          <a:chOff x="0" y="0"/>
          <a:chExt cx="0" cy="0"/>
        </a:xfrm>
      </p:grpSpPr>
      <p:sp>
        <p:nvSpPr>
          <p:cNvPr id="358" name="Google Shape;358;p46"/>
          <p:cNvSpPr txBox="1"/>
          <p:nvPr/>
        </p:nvSpPr>
        <p:spPr>
          <a:xfrm>
            <a:off x="1938198" y="1412777"/>
            <a:ext cx="8550300" cy="2769949"/>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Unity (C#) Vs. C# Constructors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sym typeface="Quattrocento Sans"/>
            </a:endParaRPr>
          </a:p>
          <a:p>
            <a:endParaRPr lang="en-GB" sz="1800">
              <a:solidFill>
                <a:schemeClr val="bg2"/>
              </a:solidFill>
            </a:endParaRPr>
          </a:p>
          <a:p>
            <a:endParaRPr lang="en-GB" sz="2400">
              <a:solidFill>
                <a:srgbClr val="FFFF00"/>
              </a:solidFill>
              <a:ea typeface="Quattrocento Sans"/>
            </a:endParaRPr>
          </a:p>
          <a:p>
            <a:endParaRPr lang="en-GB" sz="2400">
              <a:solidFill>
                <a:srgbClr val="FFFF00"/>
              </a:solidFill>
              <a:ea typeface="Quattrocento Sans"/>
            </a:endParaRPr>
          </a:p>
          <a:p>
            <a:endParaRPr lang="en-US" sz="2400" b="1" i="1">
              <a:solidFill>
                <a:srgbClr val="FFFF00"/>
              </a:solidFill>
              <a:latin typeface="Quattrocento Sans"/>
              <a:ea typeface="Quattrocento Sans"/>
              <a:cs typeface="Quattrocento Sans"/>
            </a:endParaRPr>
          </a:p>
          <a:p>
            <a:endParaRPr lang="en-US" sz="2400" b="1">
              <a:solidFill>
                <a:srgbClr val="FF0000"/>
              </a:solidFill>
              <a:latin typeface="Quattrocento Sans"/>
              <a:ea typeface="Quattrocento Sans"/>
              <a:cs typeface="Quattrocento Sans"/>
            </a:endParaRPr>
          </a:p>
        </p:txBody>
      </p:sp>
      <p:sp>
        <p:nvSpPr>
          <p:cNvPr id="359" name="Google Shape;359;p4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34927167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7"/>
          <p:cNvSpPr txBox="1"/>
          <p:nvPr/>
        </p:nvSpPr>
        <p:spPr>
          <a:xfrm>
            <a:off x="609600" y="1412776"/>
            <a:ext cx="96441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Demo  Tutorial - Gallery</a:t>
            </a:r>
            <a:endParaRPr/>
          </a:p>
        </p:txBody>
      </p:sp>
      <p:sp>
        <p:nvSpPr>
          <p:cNvPr id="366" name="Google Shape;366;p4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3757</Words>
  <Application>Microsoft Office PowerPoint</Application>
  <PresentationFormat>Widescreen</PresentationFormat>
  <Paragraphs>555</Paragraphs>
  <Slides>52</Slides>
  <Notes>52</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Calibri</vt:lpstr>
      <vt:lpstr>Quattrocento Sans</vt:lpstr>
      <vt:lpstr>Arial</vt:lpstr>
      <vt:lpstr>Segoe UI</vt: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 ferguson</dc:creator>
  <cp:lastModifiedBy>Jeffrey Ferguson</cp:lastModifiedBy>
  <cp:revision>6</cp:revision>
  <dcterms:created xsi:type="dcterms:W3CDTF">2016-10-08T10:37:01Z</dcterms:created>
  <dcterms:modified xsi:type="dcterms:W3CDTF">2026-08-10T10:29:52Z</dcterms:modified>
</cp:coreProperties>
</file>