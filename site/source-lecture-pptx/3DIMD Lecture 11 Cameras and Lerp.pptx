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7"/>
  </p:notesMasterIdLst>
  <p:sldIdLst>
    <p:sldId id="256" r:id="rId2"/>
    <p:sldId id="257" r:id="rId3"/>
    <p:sldId id="258" r:id="rId4"/>
    <p:sldId id="259" r:id="rId5"/>
    <p:sldId id="268" r:id="rId6"/>
    <p:sldId id="263" r:id="rId7"/>
    <p:sldId id="264" r:id="rId8"/>
    <p:sldId id="265" r:id="rId9"/>
    <p:sldId id="260" r:id="rId10"/>
    <p:sldId id="266" r:id="rId11"/>
    <p:sldId id="301" r:id="rId12"/>
    <p:sldId id="267" r:id="rId13"/>
    <p:sldId id="269" r:id="rId14"/>
    <p:sldId id="299" r:id="rId15"/>
    <p:sldId id="261" r:id="rId16"/>
    <p:sldId id="262"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6" r:id="rId38"/>
    <p:sldId id="290" r:id="rId39"/>
    <p:sldId id="291" r:id="rId40"/>
    <p:sldId id="292" r:id="rId41"/>
    <p:sldId id="293" r:id="rId42"/>
    <p:sldId id="297" r:id="rId43"/>
    <p:sldId id="303" r:id="rId44"/>
    <p:sldId id="304" r:id="rId45"/>
    <p:sldId id="305" r:id="rId46"/>
    <p:sldId id="306" r:id="rId47"/>
    <p:sldId id="307" r:id="rId48"/>
    <p:sldId id="294" r:id="rId49"/>
    <p:sldId id="302" r:id="rId50"/>
    <p:sldId id="308" r:id="rId51"/>
    <p:sldId id="311" r:id="rId52"/>
    <p:sldId id="312" r:id="rId53"/>
    <p:sldId id="309" r:id="rId54"/>
    <p:sldId id="310" r:id="rId55"/>
    <p:sldId id="295" r:id="rId56"/>
  </p:sldIdLst>
  <p:sldSz cx="12192000" cy="6858000"/>
  <p:notesSz cx="6858000" cy="9144000"/>
  <p:embeddedFontLst>
    <p:embeddedFont>
      <p:font typeface="Consolas" panose="020B0609020204030204" pitchFamily="49" charset="0"/>
      <p:regular r:id="rId58"/>
      <p:bold r:id="rId59"/>
      <p:italic r:id="rId60"/>
      <p:boldItalic r:id="rId61"/>
    </p:embeddedFont>
    <p:embeddedFont>
      <p:font typeface="Quattrocento Sans" panose="020B0502050000020003" pitchFamily="3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io7ucp3VdqzGDimf6IAyDxD367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F61A45-6407-E55E-CF64-357B41A53841}" v="1068" dt="2025-12-02T08:01:54.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viewProps" Target="viewProps.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customschemas.google.com/relationships/presentationmetadata" Target="metadata"/><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youtube.com/watch?v=-5RiMoILHTA"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forum.unity3d.com/threads/fly-move-camera-object-to-waypoint-with-button-click.46988/" TargetMode="Externa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a2a524aa40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ga2a524aa4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ga2a524aa4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en-GB" dirty="0"/>
          </a:p>
          <a:p>
            <a:pPr marL="0" lvl="0" indent="0" algn="l">
              <a:spcBef>
                <a:spcPts val="0"/>
              </a:spcBef>
              <a:spcAft>
                <a:spcPts val="0"/>
              </a:spcAft>
              <a:buNone/>
            </a:pPr>
            <a:endParaRPr dirty="0"/>
          </a:p>
        </p:txBody>
      </p:sp>
      <p:sp>
        <p:nvSpPr>
          <p:cNvPr id="111" name="Google Shape;11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11</a:t>
            </a:fld>
            <a:endParaRPr/>
          </a:p>
        </p:txBody>
      </p:sp>
    </p:spTree>
    <p:extLst>
      <p:ext uri="{BB962C8B-B14F-4D97-AF65-F5344CB8AC3E}">
        <p14:creationId xmlns:p14="http://schemas.microsoft.com/office/powerpoint/2010/main" val="26612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8dbd6329b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18dbd6329b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g18dbd6329b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 name="Google Shape;82;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acd2680354_0_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gacd2680354_0_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gacd2680354_0_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8" name="Google Shape;25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37</a:t>
            </a:fld>
            <a:endParaRPr/>
          </a:p>
        </p:txBody>
      </p:sp>
    </p:spTree>
    <p:extLst>
      <p:ext uri="{BB962C8B-B14F-4D97-AF65-F5344CB8AC3E}">
        <p14:creationId xmlns:p14="http://schemas.microsoft.com/office/powerpoint/2010/main" val="2498441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u="sng">
                <a:solidFill>
                  <a:schemeClr val="hlink"/>
                </a:solidFill>
                <a:hlinkClick r:id="rId3"/>
              </a:rPr>
              <a:t>https://www.youtube.com/watch?v=-5RiMoILHTA</a:t>
            </a:r>
            <a:endParaRPr/>
          </a:p>
          <a:p>
            <a:pPr marL="0" lvl="0" indent="0" algn="l" rtl="0">
              <a:spcBef>
                <a:spcPts val="0"/>
              </a:spcBef>
              <a:spcAft>
                <a:spcPts val="0"/>
              </a:spcAft>
              <a:buNone/>
            </a:pPr>
            <a:r>
              <a:rPr lang="en-GB" u="sng">
                <a:solidFill>
                  <a:schemeClr val="hlink"/>
                </a:solidFill>
                <a:hlinkClick r:id="rId4"/>
              </a:rPr>
              <a:t>https://forum.unity3d.com/threads/fly-move-camera-object-to-waypoint-with-button-click.46988/</a:t>
            </a:r>
            <a:endParaRPr/>
          </a:p>
          <a:p>
            <a:pPr marL="0" lvl="0" indent="0" algn="l" rtl="0">
              <a:spcBef>
                <a:spcPts val="0"/>
              </a:spcBef>
              <a:spcAft>
                <a:spcPts val="0"/>
              </a:spcAft>
              <a:buNone/>
            </a:pPr>
            <a:endParaRPr/>
          </a:p>
        </p:txBody>
      </p:sp>
      <p:sp>
        <p:nvSpPr>
          <p:cNvPr id="279" name="Google Shape;279;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acd2680354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gacd2680354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gacd2680354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42</a:t>
            </a:fld>
            <a:endParaRPr/>
          </a:p>
        </p:txBody>
      </p:sp>
    </p:spTree>
    <p:extLst>
      <p:ext uri="{BB962C8B-B14F-4D97-AF65-F5344CB8AC3E}">
        <p14:creationId xmlns:p14="http://schemas.microsoft.com/office/powerpoint/2010/main" val="14353699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43</a:t>
            </a:fld>
            <a:endParaRPr/>
          </a:p>
        </p:txBody>
      </p:sp>
    </p:spTree>
    <p:extLst>
      <p:ext uri="{BB962C8B-B14F-4D97-AF65-F5344CB8AC3E}">
        <p14:creationId xmlns:p14="http://schemas.microsoft.com/office/powerpoint/2010/main" val="25913859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44</a:t>
            </a:fld>
            <a:endParaRPr/>
          </a:p>
        </p:txBody>
      </p:sp>
    </p:spTree>
    <p:extLst>
      <p:ext uri="{BB962C8B-B14F-4D97-AF65-F5344CB8AC3E}">
        <p14:creationId xmlns:p14="http://schemas.microsoft.com/office/powerpoint/2010/main" val="25188554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45</a:t>
            </a:fld>
            <a:endParaRPr/>
          </a:p>
        </p:txBody>
      </p:sp>
    </p:spTree>
    <p:extLst>
      <p:ext uri="{BB962C8B-B14F-4D97-AF65-F5344CB8AC3E}">
        <p14:creationId xmlns:p14="http://schemas.microsoft.com/office/powerpoint/2010/main" val="29518621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46</a:t>
            </a:fld>
            <a:endParaRPr/>
          </a:p>
        </p:txBody>
      </p:sp>
    </p:spTree>
    <p:extLst>
      <p:ext uri="{BB962C8B-B14F-4D97-AF65-F5344CB8AC3E}">
        <p14:creationId xmlns:p14="http://schemas.microsoft.com/office/powerpoint/2010/main" val="5275024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47</a:t>
            </a:fld>
            <a:endParaRPr/>
          </a:p>
        </p:txBody>
      </p:sp>
    </p:spTree>
    <p:extLst>
      <p:ext uri="{BB962C8B-B14F-4D97-AF65-F5344CB8AC3E}">
        <p14:creationId xmlns:p14="http://schemas.microsoft.com/office/powerpoint/2010/main" val="15823063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49</a:t>
            </a:fld>
            <a:endParaRPr/>
          </a:p>
        </p:txBody>
      </p:sp>
    </p:spTree>
    <p:extLst>
      <p:ext uri="{BB962C8B-B14F-4D97-AF65-F5344CB8AC3E}">
        <p14:creationId xmlns:p14="http://schemas.microsoft.com/office/powerpoint/2010/main" val="18573256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7CB5F2E9-9993-8B51-EEF3-FC6AFD906CB8}"/>
            </a:ext>
          </a:extLst>
        </p:cNvPr>
        <p:cNvGrpSpPr/>
        <p:nvPr/>
      </p:nvGrpSpPr>
      <p:grpSpPr>
        <a:xfrm>
          <a:off x="0" y="0"/>
          <a:ext cx="0" cy="0"/>
          <a:chOff x="0" y="0"/>
          <a:chExt cx="0" cy="0"/>
        </a:xfrm>
      </p:grpSpPr>
      <p:sp>
        <p:nvSpPr>
          <p:cNvPr id="305" name="Google Shape;305;p35:notes">
            <a:extLst>
              <a:ext uri="{FF2B5EF4-FFF2-40B4-BE49-F238E27FC236}">
                <a16:creationId xmlns:a16="http://schemas.microsoft.com/office/drawing/2014/main" id="{B6839EA2-8124-067C-E607-CAFC498C63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a:extLst>
              <a:ext uri="{FF2B5EF4-FFF2-40B4-BE49-F238E27FC236}">
                <a16:creationId xmlns:a16="http://schemas.microsoft.com/office/drawing/2014/main" id="{992A7922-133A-B067-599E-7342A797332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a:extLst>
              <a:ext uri="{FF2B5EF4-FFF2-40B4-BE49-F238E27FC236}">
                <a16:creationId xmlns:a16="http://schemas.microsoft.com/office/drawing/2014/main" id="{C7799E4D-AA49-BBEB-DC82-14E6E5A9E08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50</a:t>
            </a:fld>
            <a:endParaRPr/>
          </a:p>
        </p:txBody>
      </p:sp>
    </p:spTree>
    <p:extLst>
      <p:ext uri="{BB962C8B-B14F-4D97-AF65-F5344CB8AC3E}">
        <p14:creationId xmlns:p14="http://schemas.microsoft.com/office/powerpoint/2010/main" val="1915210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C1814EB6-8C04-EE28-5FED-65FF75E263C2}"/>
            </a:ext>
          </a:extLst>
        </p:cNvPr>
        <p:cNvGrpSpPr/>
        <p:nvPr/>
      </p:nvGrpSpPr>
      <p:grpSpPr>
        <a:xfrm>
          <a:off x="0" y="0"/>
          <a:ext cx="0" cy="0"/>
          <a:chOff x="0" y="0"/>
          <a:chExt cx="0" cy="0"/>
        </a:xfrm>
      </p:grpSpPr>
      <p:sp>
        <p:nvSpPr>
          <p:cNvPr id="305" name="Google Shape;305;p35:notes">
            <a:extLst>
              <a:ext uri="{FF2B5EF4-FFF2-40B4-BE49-F238E27FC236}">
                <a16:creationId xmlns:a16="http://schemas.microsoft.com/office/drawing/2014/main" id="{8C7C31FB-F819-A478-04C1-EA8A7E6C89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a:extLst>
              <a:ext uri="{FF2B5EF4-FFF2-40B4-BE49-F238E27FC236}">
                <a16:creationId xmlns:a16="http://schemas.microsoft.com/office/drawing/2014/main" id="{07F236AA-F458-C02A-75DE-A871AED7E8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a:extLst>
              <a:ext uri="{FF2B5EF4-FFF2-40B4-BE49-F238E27FC236}">
                <a16:creationId xmlns:a16="http://schemas.microsoft.com/office/drawing/2014/main" id="{37950BE7-8BE9-7E62-4F5C-4122F196FE5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51</a:t>
            </a:fld>
            <a:endParaRPr/>
          </a:p>
        </p:txBody>
      </p:sp>
    </p:spTree>
    <p:extLst>
      <p:ext uri="{BB962C8B-B14F-4D97-AF65-F5344CB8AC3E}">
        <p14:creationId xmlns:p14="http://schemas.microsoft.com/office/powerpoint/2010/main" val="9723023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4AFB2661-03F0-D666-2D05-3E1AA0CD31B3}"/>
            </a:ext>
          </a:extLst>
        </p:cNvPr>
        <p:cNvGrpSpPr/>
        <p:nvPr/>
      </p:nvGrpSpPr>
      <p:grpSpPr>
        <a:xfrm>
          <a:off x="0" y="0"/>
          <a:ext cx="0" cy="0"/>
          <a:chOff x="0" y="0"/>
          <a:chExt cx="0" cy="0"/>
        </a:xfrm>
      </p:grpSpPr>
      <p:sp>
        <p:nvSpPr>
          <p:cNvPr id="305" name="Google Shape;305;p35:notes">
            <a:extLst>
              <a:ext uri="{FF2B5EF4-FFF2-40B4-BE49-F238E27FC236}">
                <a16:creationId xmlns:a16="http://schemas.microsoft.com/office/drawing/2014/main" id="{BB1AF61B-ECF9-A14A-AE55-A8759FF114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a:extLst>
              <a:ext uri="{FF2B5EF4-FFF2-40B4-BE49-F238E27FC236}">
                <a16:creationId xmlns:a16="http://schemas.microsoft.com/office/drawing/2014/main" id="{2467FF75-02B1-8866-5C67-80C8057BF51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a:extLst>
              <a:ext uri="{FF2B5EF4-FFF2-40B4-BE49-F238E27FC236}">
                <a16:creationId xmlns:a16="http://schemas.microsoft.com/office/drawing/2014/main" id="{3B0EDD8F-3ADA-60B6-0DE0-A403DE4ECEC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52</a:t>
            </a:fld>
            <a:endParaRPr/>
          </a:p>
        </p:txBody>
      </p:sp>
    </p:spTree>
    <p:extLst>
      <p:ext uri="{BB962C8B-B14F-4D97-AF65-F5344CB8AC3E}">
        <p14:creationId xmlns:p14="http://schemas.microsoft.com/office/powerpoint/2010/main" val="4603466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D39098C4-4C00-A250-723C-77D06BE4AA70}"/>
            </a:ext>
          </a:extLst>
        </p:cNvPr>
        <p:cNvGrpSpPr/>
        <p:nvPr/>
      </p:nvGrpSpPr>
      <p:grpSpPr>
        <a:xfrm>
          <a:off x="0" y="0"/>
          <a:ext cx="0" cy="0"/>
          <a:chOff x="0" y="0"/>
          <a:chExt cx="0" cy="0"/>
        </a:xfrm>
      </p:grpSpPr>
      <p:sp>
        <p:nvSpPr>
          <p:cNvPr id="305" name="Google Shape;305;p35:notes">
            <a:extLst>
              <a:ext uri="{FF2B5EF4-FFF2-40B4-BE49-F238E27FC236}">
                <a16:creationId xmlns:a16="http://schemas.microsoft.com/office/drawing/2014/main" id="{6FD175D8-4B32-0BD5-46F1-FA7419A6EA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a:extLst>
              <a:ext uri="{FF2B5EF4-FFF2-40B4-BE49-F238E27FC236}">
                <a16:creationId xmlns:a16="http://schemas.microsoft.com/office/drawing/2014/main" id="{4D21E49F-E416-0119-4FFA-00CB09EBA44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a:extLst>
              <a:ext uri="{FF2B5EF4-FFF2-40B4-BE49-F238E27FC236}">
                <a16:creationId xmlns:a16="http://schemas.microsoft.com/office/drawing/2014/main" id="{4B829861-291B-5A85-9E3A-A802376D2B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53</a:t>
            </a:fld>
            <a:endParaRPr/>
          </a:p>
        </p:txBody>
      </p:sp>
    </p:spTree>
    <p:extLst>
      <p:ext uri="{BB962C8B-B14F-4D97-AF65-F5344CB8AC3E}">
        <p14:creationId xmlns:p14="http://schemas.microsoft.com/office/powerpoint/2010/main" val="38730094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F56EF072-E265-7142-670E-0B85CCD3031A}"/>
            </a:ext>
          </a:extLst>
        </p:cNvPr>
        <p:cNvGrpSpPr/>
        <p:nvPr/>
      </p:nvGrpSpPr>
      <p:grpSpPr>
        <a:xfrm>
          <a:off x="0" y="0"/>
          <a:ext cx="0" cy="0"/>
          <a:chOff x="0" y="0"/>
          <a:chExt cx="0" cy="0"/>
        </a:xfrm>
      </p:grpSpPr>
      <p:sp>
        <p:nvSpPr>
          <p:cNvPr id="305" name="Google Shape;305;p35:notes">
            <a:extLst>
              <a:ext uri="{FF2B5EF4-FFF2-40B4-BE49-F238E27FC236}">
                <a16:creationId xmlns:a16="http://schemas.microsoft.com/office/drawing/2014/main" id="{F1A62FF1-AA43-BDE3-18B1-F35644DB0A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35:notes">
            <a:extLst>
              <a:ext uri="{FF2B5EF4-FFF2-40B4-BE49-F238E27FC236}">
                <a16:creationId xmlns:a16="http://schemas.microsoft.com/office/drawing/2014/main" id="{0138CE51-5002-ECA5-CB56-8E5C5C203E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t>https://stackoverflow.com/questions/61417584/unity-player-controller-not-moving-toward-mouse-cursor</a:t>
            </a:r>
            <a:endParaRPr/>
          </a:p>
        </p:txBody>
      </p:sp>
      <p:sp>
        <p:nvSpPr>
          <p:cNvPr id="307" name="Google Shape;307;p35:notes">
            <a:extLst>
              <a:ext uri="{FF2B5EF4-FFF2-40B4-BE49-F238E27FC236}">
                <a16:creationId xmlns:a16="http://schemas.microsoft.com/office/drawing/2014/main" id="{0EF3E170-DEEB-CFCF-D779-E5A21ED6297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54</a:t>
            </a:fld>
            <a:endParaRPr/>
          </a:p>
        </p:txBody>
      </p:sp>
    </p:spTree>
    <p:extLst>
      <p:ext uri="{BB962C8B-B14F-4D97-AF65-F5344CB8AC3E}">
        <p14:creationId xmlns:p14="http://schemas.microsoft.com/office/powerpoint/2010/main" val="421985203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private Vector2 destination;</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public float MoveSpeed;</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void Update()</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if (Input.GetMouseButtonDown(0))</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destination = Camera.main.ScreenToWorldPoint(Input.mousePosition);</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transform.DOMove(destination, MoveSpeed).SetEase(Ease.Linear);</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a:t>
            </a:r>
            <a:endParaRPr sz="1050">
              <a:solidFill>
                <a:srgbClr val="000000"/>
              </a:solidFill>
              <a:latin typeface="Arial"/>
              <a:ea typeface="Arial"/>
              <a:cs typeface="Arial"/>
              <a:sym typeface="Arial"/>
            </a:endParaRPr>
          </a:p>
          <a:p>
            <a:pPr marL="0" lvl="0" indent="0" algn="l" rtl="0">
              <a:spcBef>
                <a:spcPts val="0"/>
              </a:spcBef>
              <a:spcAft>
                <a:spcPts val="0"/>
              </a:spcAft>
              <a:buClr>
                <a:schemeClr val="dk1"/>
              </a:buClr>
              <a:buFont typeface="Arial"/>
              <a:buNone/>
            </a:pPr>
            <a:r>
              <a:rPr lang="en-GB" sz="1050">
                <a:solidFill>
                  <a:srgbClr val="000000"/>
                </a:solidFill>
                <a:latin typeface="Arial"/>
                <a:ea typeface="Arial"/>
                <a:cs typeface="Arial"/>
                <a:sym typeface="Arial"/>
              </a:rPr>
              <a:t>        }</a:t>
            </a:r>
            <a:endParaRPr sz="700">
              <a:solidFill>
                <a:srgbClr val="000000"/>
              </a:solidFill>
            </a:endParaRPr>
          </a:p>
        </p:txBody>
      </p:sp>
      <p:sp>
        <p:nvSpPr>
          <p:cNvPr id="314" name="Google Shape;314;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40"/>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0"/>
          <p:cNvSpPr txBox="1">
            <a:spLocks noGrp="1"/>
          </p:cNvSpPr>
          <p:nvPr>
            <p:ph type="subTitle" idx="1"/>
          </p:nvPr>
        </p:nvSpPr>
        <p:spPr>
          <a:xfrm>
            <a:off x="911424" y="3212976"/>
            <a:ext cx="10369152"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4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2"/>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43"/>
          <p:cNvSpPr/>
          <p:nvPr/>
        </p:nvSpPr>
        <p:spPr>
          <a:xfrm>
            <a:off x="6216395" y="1556056"/>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43"/>
          <p:cNvSpPr/>
          <p:nvPr/>
        </p:nvSpPr>
        <p:spPr>
          <a:xfrm>
            <a:off x="638677" y="1556792"/>
            <a:ext cx="5361312"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4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3"/>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43"/>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43"/>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43"/>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43">
            <a:hlinkClick r:id="" action="ppaction://hlinkshowjump?jump=nextslide"/>
          </p:cNvPr>
          <p:cNvPicPr preferRelativeResize="0"/>
          <p:nvPr/>
        </p:nvPicPr>
        <p:blipFill rotWithShape="1">
          <a:blip r:embed="rId2">
            <a:alphaModFix/>
          </a:blip>
          <a:srcRect/>
          <a:stretch/>
        </p:blipFill>
        <p:spPr>
          <a:xfrm>
            <a:off x="11713849" y="6309320"/>
            <a:ext cx="405329" cy="450964"/>
          </a:xfrm>
          <a:prstGeom prst="rect">
            <a:avLst/>
          </a:prstGeom>
          <a:noFill/>
          <a:ln>
            <a:noFill/>
          </a:ln>
        </p:spPr>
      </p:pic>
      <p:pic>
        <p:nvPicPr>
          <p:cNvPr id="34" name="Google Shape;34;p43">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4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44">
            <a:hlinkClick r:id="" action="ppaction://hlinkshowjump?jump=previousslide"/>
          </p:cNvPr>
          <p:cNvPicPr preferRelativeResize="0"/>
          <p:nvPr/>
        </p:nvPicPr>
        <p:blipFill rotWithShape="1">
          <a:blip r:embed="rId2">
            <a:alphaModFix/>
          </a:blip>
          <a:srcRect/>
          <a:stretch/>
        </p:blipFill>
        <p:spPr>
          <a:xfrm flipH="1">
            <a:off x="62622" y="6309320"/>
            <a:ext cx="405329"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3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9"/>
          <p:cNvSpPr txBox="1">
            <a:spLocks noGrp="1"/>
          </p:cNvSpPr>
          <p:nvPr>
            <p:ph type="body" idx="1"/>
          </p:nvPr>
        </p:nvSpPr>
        <p:spPr>
          <a:xfrm>
            <a:off x="609600" y="1268760"/>
            <a:ext cx="109728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39"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10672039" y="6348019"/>
            <a:ext cx="533400" cy="400050"/>
          </a:xfrm>
          <a:prstGeom prst="rect">
            <a:avLst/>
          </a:prstGeom>
          <a:noFill/>
          <a:ln>
            <a:noFill/>
          </a:ln>
        </p:spPr>
      </p:pic>
      <p:pic>
        <p:nvPicPr>
          <p:cNvPr id="13" name="Google Shape;13;p39"/>
          <p:cNvPicPr preferRelativeResize="0"/>
          <p:nvPr/>
        </p:nvPicPr>
        <p:blipFill rotWithShape="1">
          <a:blip r:embed="rId8">
            <a:alphaModFix/>
          </a:blip>
          <a:srcRect/>
          <a:stretch/>
        </p:blipFill>
        <p:spPr>
          <a:xfrm>
            <a:off x="11411520" y="6343213"/>
            <a:ext cx="533475" cy="400106"/>
          </a:xfrm>
          <a:prstGeom prst="rect">
            <a:avLst/>
          </a:prstGeom>
          <a:noFill/>
          <a:ln>
            <a:noFill/>
          </a:ln>
        </p:spPr>
      </p:pic>
      <p:pic>
        <p:nvPicPr>
          <p:cNvPr id="14" name="Google Shape;14;p39">
            <a:hlinkClick r:id="" action="ppaction://hlinkshowjump?jump=firstslide"/>
          </p:cNvPr>
          <p:cNvPicPr preferRelativeResize="0"/>
          <p:nvPr/>
        </p:nvPicPr>
        <p:blipFill rotWithShape="1">
          <a:blip r:embed="rId9">
            <a:alphaModFix/>
          </a:blip>
          <a:srcRect/>
          <a:stretch/>
        </p:blipFill>
        <p:spPr>
          <a:xfrm>
            <a:off x="9931877" y="6347991"/>
            <a:ext cx="533475" cy="400106"/>
          </a:xfrm>
          <a:prstGeom prst="rect">
            <a:avLst/>
          </a:prstGeom>
          <a:noFill/>
          <a:ln>
            <a:noFill/>
          </a:ln>
        </p:spPr>
      </p:pic>
      <p:pic>
        <p:nvPicPr>
          <p:cNvPr id="15" name="Google Shape;15;p39">
            <a:hlinkClick r:id="" action="ppaction://hlinkshowjump?jump=previousslide"/>
          </p:cNvPr>
          <p:cNvPicPr preferRelativeResize="0"/>
          <p:nvPr/>
        </p:nvPicPr>
        <p:blipFill rotWithShape="1">
          <a:blip r:embed="rId10">
            <a:alphaModFix/>
          </a:blip>
          <a:srcRect/>
          <a:stretch/>
        </p:blipFill>
        <p:spPr>
          <a:xfrm>
            <a:off x="9206401" y="6338466"/>
            <a:ext cx="558879" cy="419159"/>
          </a:xfrm>
          <a:prstGeom prst="rect">
            <a:avLst/>
          </a:prstGeom>
          <a:noFill/>
          <a:ln>
            <a:noFill/>
          </a:ln>
        </p:spPr>
      </p:pic>
      <p:sp>
        <p:nvSpPr>
          <p:cNvPr id="16" name="Google Shape;16;p39"/>
          <p:cNvSpPr/>
          <p:nvPr/>
        </p:nvSpPr>
        <p:spPr>
          <a:xfrm>
            <a:off x="5415345" y="6525344"/>
            <a:ext cx="1484508"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z_mJ_BjFqlU"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ssetstore.unity.com/search#q=starter%20asse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jimmyvegas.itch.io/first-person-controller-starter-asset"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assetstore.unity.com/packages/essentials/starter-assets-thirdperson-updates-in-new-charactercontroller-pa-196526"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assetstore.unity.com/packages/essentials/starterassets-firstperson-updates-in-new-charactercontroller-pac-196525"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dXzF-S9tVr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jimmyvegas.itch.io/standard-asset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dXzF-S9tVr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assetstore.unity.com/packages/package/267961"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dXzF-S9tVr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unity3d.com/learn/tutorials/projects/roll-ball-tutorial/setting-play-area?playlist=17141"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cs.unity3d.com/ScriptReference/Vector3.SmoothDamp.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www.whitevoid.com/#/main"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docs.unity3d.com/ScriptReference/Camera.WorldToViewportPoint.html" TargetMode="External"/><Relationship Id="rId3" Type="http://schemas.openxmlformats.org/officeDocument/2006/relationships/hyperlink" Target="https://www.youtube.com/watch?v=8HALMRhbpGI" TargetMode="External"/><Relationship Id="rId7" Type="http://schemas.openxmlformats.org/officeDocument/2006/relationships/hyperlink" Target="http://answers.unity3d.com/questions/891120/framing-an-object-bounds-encapsulating.ht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NULL" TargetMode="External"/><Relationship Id="rId5" Type="http://schemas.openxmlformats.org/officeDocument/2006/relationships/hyperlink" Target="https://docs.unity3d.com/2020.1/Documentation/ScriptReference/Transform.LookAt.html" TargetMode="External"/><Relationship Id="rId4" Type="http://schemas.openxmlformats.org/officeDocument/2006/relationships/hyperlink" Target="http://forum.unity3d.com/threads/camera-frame-selected-how-to.7308/" TargetMode="External"/><Relationship Id="rId9" Type="http://schemas.openxmlformats.org/officeDocument/2006/relationships/hyperlink" Target="http://docs.unity3d.com/ScriptReference/Camera.ViewportToScreenPoint.html"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answers.unity3d.com/questions/891120/framing-an-object-bounds-encapsulating.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answers.unity3d.com/questions/891120/framing-an-object-bounds-encapsulating.ht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tackoverflow.com/questions/34117591/c-sharp-with-unity-3d-how-do-i-make-a-camera-move-around-an-object-when-user-mo"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http://wiki.unity3d.com/index.php/MouseOrbitZoom" TargetMode="External"/><Relationship Id="rId4" Type="http://schemas.openxmlformats.org/officeDocument/2006/relationships/hyperlink" Target="http://wiki.unity3d.com/index.php?title=MouseOrbitImproved#Code_C.23"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coffeebreakcodes.com/camera-movement-with-mouse-unity3d-c/"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coffeebreakcodes.com/camera-movement-with-mouse-unity3d-c/"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coffeebreakcodes.com/camera-movement-with-mouse-unity3d-c/"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coffeebreakcodes.com/camera-movement-with-mouse-unity3d-c/"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CvEMvYUXxaE"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hyperlink" Target="https://universityofwestminster-my.sharepoint.com/:b:/g/personal/fergusj_westminster_ac_uk/EYneh4DsN09JrpgJO040U64B0j2ChZPEx1XezbrDF5r1hA?e=RhlZ4c" TargetMode="External"/><Relationship Id="rId4" Type="http://schemas.openxmlformats.org/officeDocument/2006/relationships/hyperlink" Target="https://learn.unity.com/project/roll-a-ball"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Yneh4DsN09JrpgJO040U64B0j2ChZPEx1XezbrDF5r1hA?e=RhlZ4c"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Yneh4DsN09JrpgJO040U64B0j2ChZPEx1XezbrDF5r1hA?e=RhlZ4c"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Yneh4DsN09JrpgJO040U64B0j2ChZPEx1XezbrDF5r1hA?e=RhlZ4c"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universityofwestminster-my.sharepoint.com/:b:/g/personal/fergusj_westminster_ac_uk/EYneh4DsN09JrpgJO040U64B0j2ChZPEx1XezbrDF5r1hA?e=RhlZ4c"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tars.chromeexperiments.com/"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gamedevbeginner.com/the-right-way-to-lerp-in-unity-with-examples/"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hyperlink" Target="https://youtu.be/kUP6OK36nrM" TargetMode="External"/><Relationship Id="rId5" Type="http://schemas.openxmlformats.org/officeDocument/2006/relationships/hyperlink" Target="https://gamedevbeginner.com/coroutines-in-unity-when-and-how-to-use-them/" TargetMode="External"/><Relationship Id="rId4" Type="http://schemas.openxmlformats.org/officeDocument/2006/relationships/hyperlink" Target="https://youtu.be/RNccTrsgO9g"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answers.unity.com/questions/1613407/how-to-use-smoothly-move-camera-to-position-using.html"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hyperlink" Target="https://gyazo.com/dbe0b0326cae37bb7fc7c1eda36fc6eb"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s://gyazo.com/11999acc16880e7cb1a5f0cd6a9d42c9"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hyperlink" Target="https://gyazo.com/ce67e7808baddeecad77d55ef3ea2ad2"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3.xml.rels><?xml version="1.0" encoding="UTF-8" standalone="yes"?>
<Relationships xmlns="http://schemas.openxmlformats.org/package/2006/relationships"><Relationship Id="rId3" Type="http://schemas.openxmlformats.org/officeDocument/2006/relationships/hyperlink" Target="https://gyazo.com/e1810339c3985cc0e137597b4569f9b2"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4.xml.rels><?xml version="1.0" encoding="UTF-8" standalone="yes"?>
<Relationships xmlns="http://schemas.openxmlformats.org/package/2006/relationships"><Relationship Id="rId3" Type="http://schemas.openxmlformats.org/officeDocument/2006/relationships/hyperlink" Target="https://gyazo.com/ce67e7808baddeecad77d55ef3ea2ad2"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z_mJ_BjFqlU"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hyperlink" Target="http://www.thegamecontriver.com/2014/10/move-to-mouse-click-touch-position-unity.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914400" y="2130426"/>
            <a:ext cx="103632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 Interactive Media Development</a:t>
            </a:r>
            <a:endParaRPr/>
          </a:p>
        </p:txBody>
      </p:sp>
      <p:sp>
        <p:nvSpPr>
          <p:cNvPr id="44" name="Google Shape;44;p1"/>
          <p:cNvSpPr txBox="1">
            <a:spLocks noGrp="1"/>
          </p:cNvSpPr>
          <p:nvPr>
            <p:ph type="subTitle" idx="1"/>
          </p:nvPr>
        </p:nvSpPr>
        <p:spPr>
          <a:xfrm>
            <a:off x="988925" y="3212975"/>
            <a:ext cx="10288800" cy="2808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FF00"/>
              </a:buClr>
              <a:buSzPts val="2800"/>
              <a:buNone/>
            </a:pPr>
            <a:r>
              <a:rPr lang="en-GB" dirty="0">
                <a:solidFill>
                  <a:srgbClr val="FFFF00"/>
                </a:solidFill>
                <a:latin typeface="Calibri"/>
              </a:rPr>
              <a:t>5MMCS001W						Lecture 11</a:t>
            </a:r>
            <a:endParaRPr dirty="0">
              <a:latin typeface="Calibri"/>
            </a:endParaRPr>
          </a:p>
          <a:p>
            <a:pPr marL="0" lvl="0" indent="0" algn="l" rtl="0">
              <a:spcBef>
                <a:spcPts val="560"/>
              </a:spcBef>
              <a:spcAft>
                <a:spcPts val="0"/>
              </a:spcAft>
              <a:buClr>
                <a:schemeClr val="dk1"/>
              </a:buClr>
              <a:buSzPts val="2800"/>
              <a:buNone/>
            </a:pPr>
            <a:endParaRPr>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1" name="Google Shape;51;p2"/>
          <p:cNvSpPr txBox="1"/>
          <p:nvPr/>
        </p:nvSpPr>
        <p:spPr>
          <a:xfrm>
            <a:off x="609600" y="1421654"/>
            <a:ext cx="10890738"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i="0" u="none" strike="noStrike" cap="none" dirty="0">
                <a:solidFill>
                  <a:srgbClr val="FFFF00"/>
                </a:solidFill>
                <a:latin typeface="Calibri"/>
                <a:ea typeface="Quattrocento Sans"/>
                <a:cs typeface="Quattrocento Sans"/>
                <a:sym typeface="Quattrocento Sans"/>
              </a:rPr>
              <a:t>Unity Camera Prefabs</a:t>
            </a:r>
            <a:endParaRPr dirty="0">
              <a:latin typeface="Calibri"/>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58" name="Google Shape;58;p3"/>
          <p:cNvSpPr txBox="1"/>
          <p:nvPr/>
        </p:nvSpPr>
        <p:spPr>
          <a:xfrm>
            <a:off x="609600" y="1421654"/>
            <a:ext cx="10890738" cy="54476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Calibri"/>
                <a:ea typeface="Quattrocento Sans"/>
                <a:cs typeface="Quattrocento Sans"/>
                <a:sym typeface="Quattrocento Sans"/>
              </a:rPr>
              <a:t>Unity Camera Prefabs</a:t>
            </a:r>
            <a:endParaRPr lang="en-US">
              <a:latin typeface="Calibri"/>
            </a:endParaRPr>
          </a:p>
          <a:p>
            <a:pPr marL="0" marR="0" lvl="0" indent="0" algn="l" rtl="0">
              <a:spcBef>
                <a:spcPts val="0"/>
              </a:spcBef>
              <a:spcAft>
                <a:spcPts val="0"/>
              </a:spcAft>
              <a:buNone/>
            </a:pPr>
            <a:endParaRPr sz="360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a:solidFill>
                  <a:srgbClr val="FFFF00"/>
                </a:solidFill>
                <a:latin typeface="Calibri"/>
                <a:ea typeface="Quattrocento Sans"/>
                <a:cs typeface="Quattrocento Sans"/>
                <a:sym typeface="Quattrocento Sans"/>
              </a:rPr>
              <a:t>Prefab:</a:t>
            </a:r>
            <a:endParaRPr>
              <a:latin typeface="Calibri"/>
            </a:endParaRPr>
          </a:p>
          <a:p>
            <a:pPr marL="0" marR="0" lvl="0" indent="0" algn="l" rtl="0">
              <a:spcBef>
                <a:spcPts val="0"/>
              </a:spcBef>
              <a:spcAft>
                <a:spcPts val="0"/>
              </a:spcAft>
              <a:buNone/>
            </a:pPr>
            <a:r>
              <a:rPr lang="en-GB" sz="2400">
                <a:solidFill>
                  <a:schemeClr val="dk1"/>
                </a:solidFill>
                <a:latin typeface="Calibri"/>
                <a:ea typeface="Quattrocento Sans"/>
                <a:cs typeface="Quattrocento Sans"/>
                <a:sym typeface="Quattrocento Sans"/>
              </a:rPr>
              <a:t>Prefab is a collection of assets and custom scripts that acts as a complete Game </a:t>
            </a:r>
            <a:r>
              <a:rPr lang="en-GB" sz="2400" err="1">
                <a:solidFill>
                  <a:schemeClr val="dk1"/>
                </a:solidFill>
                <a:latin typeface="Calibri"/>
                <a:ea typeface="Quattrocento Sans"/>
                <a:cs typeface="Quattrocento Sans"/>
                <a:sym typeface="Quattrocento Sans"/>
              </a:rPr>
              <a:t>Object.It</a:t>
            </a:r>
            <a:r>
              <a:rPr lang="en-GB" sz="2400">
                <a:solidFill>
                  <a:schemeClr val="dk1"/>
                </a:solidFill>
                <a:latin typeface="Calibri"/>
                <a:ea typeface="Quattrocento Sans"/>
                <a:cs typeface="Quattrocento Sans"/>
                <a:sym typeface="Quattrocento Sans"/>
              </a:rPr>
              <a:t> is also useful for using and editing multiple objects.</a:t>
            </a:r>
            <a:endParaRPr>
              <a:solidFill>
                <a:schemeClr val="dk1"/>
              </a:solidFill>
              <a:latin typeface="Calibri"/>
            </a:endParaRPr>
          </a:p>
          <a:p>
            <a:pPr marL="0" marR="0" lvl="0" indent="0" algn="l" rtl="0">
              <a:spcBef>
                <a:spcPts val="0"/>
              </a:spcBef>
              <a:spcAft>
                <a:spcPts val="0"/>
              </a:spcAft>
              <a:buNone/>
            </a:pPr>
            <a:endParaRPr sz="2400">
              <a:solidFill>
                <a:schemeClr val="dk1"/>
              </a:solidFill>
              <a:latin typeface="Calibri"/>
              <a:ea typeface="Quattrocento Sans"/>
              <a:cs typeface="Quattrocento Sans"/>
            </a:endParaRPr>
          </a:p>
          <a:p>
            <a:pPr marL="0" marR="0" lvl="0" indent="0" algn="l" rtl="0">
              <a:spcBef>
                <a:spcPts val="0"/>
              </a:spcBef>
              <a:spcAft>
                <a:spcPts val="0"/>
              </a:spcAft>
              <a:buNone/>
            </a:pPr>
            <a:r>
              <a:rPr lang="en-GB" sz="2400">
                <a:solidFill>
                  <a:schemeClr val="dk1"/>
                </a:solidFill>
                <a:latin typeface="Calibri"/>
                <a:ea typeface="Quattrocento Sans"/>
                <a:cs typeface="Quattrocento Sans"/>
                <a:sym typeface="Quattrocento Sans"/>
              </a:rPr>
              <a:t>Just right click to create a Prefab Variant, or drag into Hierarchy, then back for an Original Prefab. You can open and edit Prefabs in the top of the Inspector Window. Note: it is not necessary to create new prefabs for this CW, though it could be an extra.</a:t>
            </a:r>
            <a:endParaRPr>
              <a:solidFill>
                <a:schemeClr val="dk1"/>
              </a:solidFill>
              <a:latin typeface="Calibri"/>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65" name="Google Shape;65;p4"/>
          <p:cNvSpPr txBox="1"/>
          <p:nvPr/>
        </p:nvSpPr>
        <p:spPr>
          <a:xfrm>
            <a:off x="609600" y="1421654"/>
            <a:ext cx="10890738" cy="56938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Prefabs</a:t>
            </a:r>
            <a:endParaRPr lang="en-US" dirty="0">
              <a:latin typeface="Calibri"/>
            </a:endParaRPr>
          </a:p>
          <a:p>
            <a:endParaRPr lang="en-GB" sz="3600" dirty="0">
              <a:solidFill>
                <a:srgbClr val="FFFF00"/>
              </a:solidFill>
              <a:latin typeface="Calibri"/>
              <a:ea typeface="Quattrocento Sans"/>
              <a:cs typeface="Quattrocento Sans"/>
            </a:endParaRPr>
          </a:p>
          <a:p>
            <a:endParaRPr lang="en-GB" sz="3600">
              <a:solidFill>
                <a:srgbClr val="FFFF00"/>
              </a:solidFill>
              <a:latin typeface="Calibri"/>
              <a:ea typeface="Quattrocento Sans"/>
              <a:cs typeface="Quattrocento Sans"/>
              <a:sym typeface="Quattrocento Sans"/>
            </a:endParaRPr>
          </a:p>
          <a:p>
            <a:pPr marL="0" marR="0" lvl="0" indent="0" algn="l" rtl="0">
              <a:spcBef>
                <a:spcPts val="0"/>
              </a:spcBef>
              <a:spcAft>
                <a:spcPts val="0"/>
              </a:spcAft>
              <a:buNone/>
            </a:pPr>
            <a:r>
              <a:rPr lang="en-GB" sz="2000" dirty="0">
                <a:solidFill>
                  <a:schemeClr val="dk1"/>
                </a:solidFill>
                <a:latin typeface="Calibri"/>
                <a:ea typeface="Quattrocento Sans"/>
                <a:cs typeface="Quattrocento Sans"/>
                <a:sym typeface="Quattrocento Sans"/>
              </a:rPr>
              <a:t>In the Camera Prefabs folder are a few Camera Rigs, explained below.</a:t>
            </a:r>
            <a:endParaRPr dirty="0">
              <a:solidFill>
                <a:schemeClr val="dk1"/>
              </a:solidFill>
              <a:latin typeface="Calibri"/>
            </a:endParaRPr>
          </a:p>
          <a:p>
            <a:pPr marL="0" marR="0" lvl="0" indent="0" algn="l" rtl="0">
              <a:spcBef>
                <a:spcPts val="0"/>
              </a:spcBef>
              <a:spcAft>
                <a:spcPts val="0"/>
              </a:spcAft>
              <a:buNone/>
            </a:pPr>
            <a:endParaRPr sz="2000">
              <a:solidFill>
                <a:schemeClr val="dk1"/>
              </a:solidFill>
              <a:latin typeface="Calibri"/>
              <a:ea typeface="Quattrocento Sans"/>
              <a:cs typeface="Quattrocento Sans"/>
            </a:endParaRPr>
          </a:p>
          <a:p>
            <a:pPr marL="0" marR="0" lvl="0" indent="0" algn="l" rtl="0">
              <a:spcBef>
                <a:spcPts val="0"/>
              </a:spcBef>
              <a:spcAft>
                <a:spcPts val="0"/>
              </a:spcAft>
              <a:buNone/>
            </a:pPr>
            <a:r>
              <a:rPr lang="en-GB" sz="2000" dirty="0">
                <a:solidFill>
                  <a:schemeClr val="dk1"/>
                </a:solidFill>
                <a:latin typeface="Calibri"/>
                <a:ea typeface="Quattrocento Sans"/>
                <a:cs typeface="Quattrocento Sans"/>
                <a:sym typeface="Quattrocento Sans"/>
              </a:rPr>
              <a:t>To use them, simply drop one into your scene, and set the target field on the root of the camera rig.</a:t>
            </a:r>
            <a:endParaRPr dirty="0">
              <a:solidFill>
                <a:schemeClr val="dk1"/>
              </a:solidFill>
              <a:latin typeface="Calibri"/>
            </a:endParaRPr>
          </a:p>
          <a:p>
            <a:pPr marL="0" marR="0" lvl="0" indent="0" algn="l" rtl="0">
              <a:spcBef>
                <a:spcPts val="0"/>
              </a:spcBef>
              <a:spcAft>
                <a:spcPts val="0"/>
              </a:spcAft>
              <a:buNone/>
            </a:pPr>
            <a:endParaRPr sz="2000">
              <a:solidFill>
                <a:schemeClr val="dk1"/>
              </a:solidFill>
              <a:latin typeface="Calibri"/>
              <a:ea typeface="Quattrocento Sans"/>
              <a:cs typeface="Quattrocento Sans"/>
            </a:endParaRPr>
          </a:p>
          <a:p>
            <a:pPr marL="0" marR="0" lvl="0" indent="0" algn="l" rtl="0">
              <a:spcBef>
                <a:spcPts val="0"/>
              </a:spcBef>
              <a:spcAft>
                <a:spcPts val="0"/>
              </a:spcAft>
              <a:buNone/>
            </a:pPr>
            <a:r>
              <a:rPr lang="en-GB" sz="2000" dirty="0">
                <a:solidFill>
                  <a:schemeClr val="dk1"/>
                </a:solidFill>
                <a:latin typeface="Calibri"/>
                <a:ea typeface="Quattrocento Sans"/>
                <a:cs typeface="Quattrocento Sans"/>
                <a:sym typeface="Quattrocento Sans"/>
              </a:rPr>
              <a:t>If your player is tagged "Player", you don't even have to assign the target, as by default the cameras will automatically target the first object they find tagged "Player". You can uncheck this option if you don't want it.</a:t>
            </a:r>
            <a:endParaRPr dirty="0">
              <a:solidFill>
                <a:schemeClr val="dk1"/>
              </a:solidFill>
              <a:latin typeface="Calibri"/>
            </a:endParaRPr>
          </a:p>
          <a:p>
            <a:pPr marL="0" marR="0" lvl="0" indent="0" algn="l" rtl="0">
              <a:spcBef>
                <a:spcPts val="0"/>
              </a:spcBef>
              <a:spcAft>
                <a:spcPts val="0"/>
              </a:spcAft>
              <a:buNone/>
            </a:pPr>
            <a:endParaRPr sz="2000">
              <a:solidFill>
                <a:schemeClr val="dk1"/>
              </a:solidFill>
              <a:latin typeface="Calibri"/>
              <a:ea typeface="Quattrocento Sans"/>
              <a:cs typeface="Quattrocento Sans"/>
            </a:endParaRPr>
          </a:p>
          <a:p>
            <a:pPr marL="0" marR="0" lvl="0" indent="0" algn="l" rtl="0">
              <a:spcBef>
                <a:spcPts val="0"/>
              </a:spcBef>
              <a:spcAft>
                <a:spcPts val="0"/>
              </a:spcAft>
              <a:buNone/>
            </a:pPr>
            <a:r>
              <a:rPr lang="en-GB" sz="2000" dirty="0">
                <a:solidFill>
                  <a:schemeClr val="dk1"/>
                </a:solidFill>
                <a:latin typeface="Calibri"/>
                <a:ea typeface="Quattrocento Sans"/>
                <a:cs typeface="Quattrocento Sans"/>
                <a:sym typeface="Quattrocento Sans"/>
              </a:rPr>
              <a:t>After adding one to your scene, you will also probably want to delete the default "Main Camera" that was in your scene already, since the camera rigs contain their own cameras. Note: some of these scenes are just scripts attached to the main camera….</a:t>
            </a:r>
            <a:endParaRPr sz="2000" dirty="0">
              <a:solidFill>
                <a:schemeClr val="dk1"/>
              </a:solidFill>
              <a:latin typeface="Calibri"/>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pic>
        <p:nvPicPr>
          <p:cNvPr id="2" name="Picture 1" descr="A screenshot of a project&#10;&#10;Description automatically generated">
            <a:extLst>
              <a:ext uri="{FF2B5EF4-FFF2-40B4-BE49-F238E27FC236}">
                <a16:creationId xmlns:a16="http://schemas.microsoft.com/office/drawing/2014/main" id="{E8D13A07-9C3D-5399-DD3E-43A644B8BBC9}"/>
              </a:ext>
            </a:extLst>
          </p:cNvPr>
          <p:cNvPicPr>
            <a:picLocks noChangeAspect="1"/>
          </p:cNvPicPr>
          <p:nvPr/>
        </p:nvPicPr>
        <p:blipFill>
          <a:blip r:embed="rId3"/>
          <a:stretch>
            <a:fillRect/>
          </a:stretch>
        </p:blipFill>
        <p:spPr>
          <a:xfrm>
            <a:off x="8843319" y="1027474"/>
            <a:ext cx="2743199" cy="2352293"/>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F0833B87-0F77-D243-A01E-B61395527D03}"/>
              </a:ext>
            </a:extLst>
          </p:cNvPr>
          <p:cNvPicPr>
            <a:picLocks noChangeAspect="1"/>
          </p:cNvPicPr>
          <p:nvPr/>
        </p:nvPicPr>
        <p:blipFill>
          <a:blip r:embed="rId4"/>
          <a:stretch>
            <a:fillRect/>
          </a:stretch>
        </p:blipFill>
        <p:spPr>
          <a:xfrm>
            <a:off x="6104238" y="1024791"/>
            <a:ext cx="2743199" cy="20075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28" name="Google Shape;128;p12"/>
          <p:cNvSpPr txBox="1"/>
          <p:nvPr/>
        </p:nvSpPr>
        <p:spPr>
          <a:xfrm>
            <a:off x="609600" y="1421650"/>
            <a:ext cx="11580413" cy="4893607"/>
          </a:xfrm>
          <a:prstGeom prst="rect">
            <a:avLst/>
          </a:prstGeom>
          <a:noFill/>
          <a:ln>
            <a:noFill/>
          </a:ln>
        </p:spPr>
        <p:txBody>
          <a:bodyPr spcFirstLastPara="1" wrap="square" lIns="91425" tIns="45700" rIns="91425" bIns="45700" anchor="t" anchorCtr="0">
            <a:spAutoFit/>
          </a:bodyPr>
          <a:lstStyle/>
          <a:p>
            <a:r>
              <a:rPr lang="en-GB" sz="3600" dirty="0">
                <a:solidFill>
                  <a:srgbClr val="FFFF00"/>
                </a:solidFill>
                <a:latin typeface="Calibri"/>
                <a:ea typeface="Quattrocento Sans"/>
                <a:cs typeface="Quattrocento Sans"/>
                <a:sym typeface="Quattrocento Sans"/>
              </a:rPr>
              <a:t>Unity Camera Controllers – 3PC, FPC, Other Camera Prefabs</a:t>
            </a:r>
            <a:endParaRPr lang="en-US" dirty="0">
              <a:latin typeface="Calibri"/>
            </a:endParaRPr>
          </a:p>
          <a:p>
            <a:pPr marL="0" marR="0" lvl="0" indent="0" algn="l" rtl="0">
              <a:spcBef>
                <a:spcPts val="0"/>
              </a:spcBef>
              <a:spcAft>
                <a:spcPts val="0"/>
              </a:spcAft>
              <a:buNone/>
            </a:pPr>
            <a:r>
              <a:rPr lang="en-GB" sz="1800" u="sng" dirty="0">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https://www.youtube.com/watch?v=z_mJ_BjFqlU</a:t>
            </a:r>
            <a:endParaRPr sz="1800" dirty="0">
              <a:solidFill>
                <a:srgbClr val="FFFF00"/>
              </a:solidFill>
              <a:latin typeface="Calibri"/>
              <a:ea typeface="Quattrocento Sans"/>
              <a:cs typeface="Quattrocento Sans"/>
            </a:endParaRPr>
          </a:p>
          <a:p>
            <a:r>
              <a:rPr lang="en-GB" sz="3300" i="1" dirty="0">
                <a:solidFill>
                  <a:srgbClr val="FFFFFF"/>
                </a:solidFill>
                <a:latin typeface="Calibri"/>
                <a:ea typeface="Quattrocento Sans"/>
                <a:cs typeface="Quattrocento Sans"/>
                <a:sym typeface="Quattrocento Sans"/>
              </a:rPr>
              <a:t>Unity Project Scenes - Standard Assets: 3PC, FPC, Others</a:t>
            </a:r>
            <a:endParaRPr sz="1800" dirty="0">
              <a:solidFill>
                <a:srgbClr val="FFFF00"/>
              </a:solidFill>
              <a:latin typeface="Calibri"/>
              <a:ea typeface="Quattrocento Sans"/>
              <a:cs typeface="Quattrocento Sans"/>
            </a:endParaRPr>
          </a:p>
          <a:p>
            <a:pPr marL="0" marR="0" lvl="0" indent="0" algn="l" rtl="0">
              <a:spcBef>
                <a:spcPts val="0"/>
              </a:spcBef>
              <a:spcAft>
                <a:spcPts val="0"/>
              </a:spcAft>
              <a:buNone/>
            </a:pPr>
            <a:endParaRPr sz="1800" dirty="0">
              <a:solidFill>
                <a:srgbClr val="FFFF00"/>
              </a:solidFill>
              <a:latin typeface="Calibri"/>
              <a:ea typeface="Quattrocento Sans"/>
              <a:cs typeface="Quattrocento Sans"/>
            </a:endParaRPr>
          </a:p>
          <a:p>
            <a:r>
              <a:rPr lang="en-GB" sz="2300" dirty="0">
                <a:solidFill>
                  <a:schemeClr val="dk1"/>
                </a:solidFill>
                <a:latin typeface="Calibri"/>
                <a:ea typeface="Quattrocento Sans"/>
                <a:cs typeface="Quattrocento Sans"/>
                <a:sym typeface="Quattrocento Sans"/>
              </a:rPr>
              <a:t>This will be used more for the mouse orbit and waypoint navigation model, if at all. </a:t>
            </a:r>
            <a:endParaRPr lang="en-GB" sz="2300" dirty="0">
              <a:solidFill>
                <a:schemeClr val="dk1"/>
              </a:solidFill>
              <a:latin typeface="Calibri"/>
              <a:ea typeface="Quattrocento Sans"/>
              <a:sym typeface="Quattrocento Sans"/>
            </a:endParaRPr>
          </a:p>
          <a:p>
            <a:endParaRPr lang="en-GB" sz="2300" dirty="0">
              <a:solidFill>
                <a:schemeClr val="dk1"/>
              </a:solidFill>
              <a:latin typeface="Calibri"/>
              <a:ea typeface="Quattrocento Sans"/>
              <a:cs typeface="Quattrocento Sans"/>
              <a:sym typeface="Quattrocento Sans"/>
            </a:endParaRPr>
          </a:p>
          <a:p>
            <a:r>
              <a:rPr lang="en-GB" sz="2300" dirty="0">
                <a:solidFill>
                  <a:schemeClr val="dk1"/>
                </a:solidFill>
                <a:latin typeface="Calibri"/>
                <a:ea typeface="Quattrocento Sans"/>
                <a:cs typeface="Quattrocento Sans"/>
                <a:sym typeface="Quattrocento Sans"/>
              </a:rPr>
              <a:t>Comes with Freelook, </a:t>
            </a:r>
            <a:r>
              <a:rPr lang="en-GB" sz="2300" dirty="0" err="1">
                <a:solidFill>
                  <a:schemeClr val="dk1"/>
                </a:solidFill>
                <a:latin typeface="Calibri"/>
                <a:ea typeface="Quattrocento Sans"/>
                <a:cs typeface="Quattrocento Sans"/>
                <a:sym typeface="Quattrocento Sans"/>
              </a:rPr>
              <a:t>MouseLook</a:t>
            </a:r>
            <a:r>
              <a:rPr lang="en-GB" sz="2300" dirty="0">
                <a:solidFill>
                  <a:schemeClr val="dk1"/>
                </a:solidFill>
                <a:latin typeface="Calibri"/>
                <a:ea typeface="Quattrocento Sans"/>
                <a:cs typeface="Quattrocento Sans"/>
                <a:sym typeface="Quattrocento Sans"/>
              </a:rPr>
              <a:t> and Mouse Orbit Improved (MOI) scripts. </a:t>
            </a:r>
            <a:endParaRPr lang="en-GB" sz="2300">
              <a:solidFill>
                <a:schemeClr val="dk1"/>
              </a:solidFill>
              <a:latin typeface="Calibri"/>
              <a:ea typeface="Quattrocento Sans"/>
              <a:sym typeface="Quattrocento Sans"/>
            </a:endParaRPr>
          </a:p>
          <a:p>
            <a:r>
              <a:rPr lang="en-GB" sz="2300" dirty="0">
                <a:solidFill>
                  <a:schemeClr val="dk1"/>
                </a:solidFill>
                <a:latin typeface="Calibri"/>
                <a:ea typeface="Quattrocento Sans"/>
                <a:cs typeface="Quattrocento Sans"/>
                <a:sym typeface="Quattrocento Sans"/>
              </a:rPr>
              <a:t>I include these in </a:t>
            </a:r>
            <a:r>
              <a:rPr lang="en-GB" sz="2300" dirty="0">
                <a:solidFill>
                  <a:srgbClr val="00B0F0"/>
                </a:solidFill>
                <a:latin typeface="Calibri"/>
                <a:ea typeface="Quattrocento Sans"/>
                <a:cs typeface="Quattrocento Sans"/>
                <a:sym typeface="Quattrocento Sans"/>
              </a:rPr>
              <a:t> Camera Demos SA Project</a:t>
            </a:r>
            <a:r>
              <a:rPr lang="en-GB" sz="2300" dirty="0">
                <a:solidFill>
                  <a:schemeClr val="dk1"/>
                </a:solidFill>
                <a:latin typeface="Calibri"/>
                <a:ea typeface="Quattrocento Sans"/>
                <a:cs typeface="Quattrocento Sans"/>
                <a:sym typeface="Quattrocento Sans"/>
              </a:rPr>
              <a:t> so you do not have to do the complex import. </a:t>
            </a:r>
            <a:endParaRPr lang="en-GB" sz="2300">
              <a:solidFill>
                <a:schemeClr val="dk1"/>
              </a:solidFill>
              <a:latin typeface="Calibri"/>
              <a:ea typeface="Quattrocento Sans"/>
            </a:endParaRPr>
          </a:p>
          <a:p>
            <a:endParaRPr lang="en-GB" sz="2300" dirty="0">
              <a:solidFill>
                <a:schemeClr val="dk1"/>
              </a:solidFill>
              <a:latin typeface="Calibri"/>
              <a:ea typeface="Quattrocento Sans"/>
              <a:cs typeface="Quattrocento Sans"/>
              <a:sym typeface="Quattrocento Sans"/>
            </a:endParaRPr>
          </a:p>
          <a:p>
            <a:r>
              <a:rPr lang="en-GB" sz="2300" dirty="0">
                <a:solidFill>
                  <a:schemeClr val="dk1"/>
                </a:solidFill>
                <a:latin typeface="Calibri"/>
                <a:ea typeface="Quattrocento Sans"/>
                <a:cs typeface="Quattrocento Sans"/>
                <a:sym typeface="Quattrocento Sans"/>
              </a:rPr>
              <a:t>The FPC and 3PC is advanced and more suited for games (uses </a:t>
            </a:r>
            <a:r>
              <a:rPr lang="en-GB" sz="2300" dirty="0" err="1">
                <a:solidFill>
                  <a:schemeClr val="dk1"/>
                </a:solidFill>
                <a:latin typeface="Calibri"/>
                <a:ea typeface="Quattrocento Sans"/>
                <a:cs typeface="Quattrocento Sans"/>
                <a:sym typeface="Quattrocento Sans"/>
              </a:rPr>
              <a:t>Cinemachine</a:t>
            </a:r>
            <a:r>
              <a:rPr lang="en-GB" sz="2300" dirty="0">
                <a:solidFill>
                  <a:schemeClr val="dk1"/>
                </a:solidFill>
                <a:latin typeface="Calibri"/>
                <a:ea typeface="Quattrocento Sans"/>
                <a:cs typeface="Quattrocento Sans"/>
                <a:sym typeface="Quattrocento Sans"/>
              </a:rPr>
              <a:t> as well).</a:t>
            </a:r>
            <a:endParaRPr lang="en-GB" sz="1300" dirty="0">
              <a:solidFill>
                <a:schemeClr val="dk1"/>
              </a:solidFill>
              <a:latin typeface="Calibri"/>
              <a:ea typeface="Quattrocento Sans"/>
            </a:endParaRPr>
          </a:p>
          <a:p>
            <a:endParaRPr lang="en-GB" sz="2300" dirty="0">
              <a:solidFill>
                <a:schemeClr val="dk1"/>
              </a:solidFill>
              <a:latin typeface="Calibri"/>
              <a:ea typeface="Quattrocento Sans"/>
              <a:cs typeface="Quattrocento Sans"/>
              <a:sym typeface="Quattrocento Sans"/>
            </a:endParaRPr>
          </a:p>
          <a:p>
            <a:r>
              <a:rPr lang="en-GB" sz="2300" dirty="0">
                <a:solidFill>
                  <a:schemeClr val="dk1"/>
                </a:solidFill>
                <a:latin typeface="Calibri"/>
                <a:ea typeface="Quattrocento Sans"/>
                <a:cs typeface="Quattrocento Sans"/>
                <a:sym typeface="Quattrocento Sans"/>
              </a:rPr>
              <a:t>It also comes in a complex range of URP and Non-URP, Standard Assets (old), and Starter Assets (new)</a:t>
            </a:r>
            <a:endParaRPr sz="1300" dirty="0">
              <a:solidFill>
                <a:schemeClr val="dk1"/>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93" name="Google Shape;93;p7"/>
          <p:cNvSpPr txBox="1"/>
          <p:nvPr/>
        </p:nvSpPr>
        <p:spPr>
          <a:xfrm>
            <a:off x="609600" y="1421650"/>
            <a:ext cx="11461800" cy="4062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Character Controller Prefabs (with Cameras)</a:t>
            </a:r>
            <a:endParaRPr lang="en-US" sz="3600">
              <a:solidFill>
                <a:srgbClr val="FFFF00"/>
              </a:solidFill>
              <a:latin typeface="Calibri"/>
              <a:ea typeface="Quattrocento Sans"/>
              <a:cs typeface="Quattrocento Sans"/>
            </a:endParaRPr>
          </a:p>
          <a:p>
            <a:r>
              <a:rPr lang="en-GB" sz="3300" i="1" dirty="0">
                <a:solidFill>
                  <a:srgbClr val="FFFFFF"/>
                </a:solidFill>
                <a:latin typeface="Calibri"/>
                <a:ea typeface="Quattrocento Sans"/>
                <a:cs typeface="Quattrocento Sans"/>
                <a:sym typeface="Quattrocento Sans"/>
              </a:rPr>
              <a:t>Unity Project Scenes – Starter/Standard Assets: 3PC, FPC</a:t>
            </a:r>
          </a:p>
          <a:p>
            <a:endParaRPr lang="en-GB" sz="3300" i="1" dirty="0">
              <a:solidFill>
                <a:srgbClr val="FFFFFF"/>
              </a:solidFill>
              <a:latin typeface="Calibri"/>
              <a:ea typeface="Quattrocento Sans"/>
              <a:cs typeface="Quattrocento Sans"/>
            </a:endParaRPr>
          </a:p>
          <a:p>
            <a:r>
              <a:rPr lang="en-GB" sz="3300" i="1" dirty="0">
                <a:solidFill>
                  <a:srgbClr val="FFFFFF"/>
                </a:solidFill>
                <a:latin typeface="Calibri"/>
                <a:ea typeface="Quattrocento Sans"/>
                <a:cs typeface="Quattrocento Sans"/>
              </a:rPr>
              <a:t>Starter Is new and comes only in URP</a:t>
            </a:r>
          </a:p>
          <a:p>
            <a:r>
              <a:rPr lang="en-GB" sz="2400" dirty="0">
                <a:solidFill>
                  <a:srgbClr val="FFFFFF"/>
                </a:solidFill>
                <a:latin typeface="Calibri"/>
                <a:hlinkClick r:id="rId3"/>
              </a:rPr>
              <a:t>https://assetstore.unity.com/search#q=starter%20asset</a:t>
            </a:r>
            <a:r>
              <a:rPr lang="en-GB" sz="3300" dirty="0">
                <a:solidFill>
                  <a:srgbClr val="FFFFFF"/>
                </a:solidFill>
                <a:latin typeface="Calibri"/>
              </a:rPr>
              <a:t> </a:t>
            </a:r>
            <a:endParaRPr lang="en-GB">
              <a:latin typeface="Calibri"/>
            </a:endParaRPr>
          </a:p>
          <a:p>
            <a:endParaRPr lang="en-GB" sz="3300" i="1" dirty="0">
              <a:solidFill>
                <a:srgbClr val="FFFFFF"/>
              </a:solidFill>
              <a:latin typeface="Calibri"/>
              <a:ea typeface="Quattrocento Sans"/>
              <a:cs typeface="Quattrocento Sans"/>
            </a:endParaRPr>
          </a:p>
          <a:p>
            <a:r>
              <a:rPr lang="en-GB" sz="3300" i="1" dirty="0">
                <a:solidFill>
                  <a:srgbClr val="FFFFFF"/>
                </a:solidFill>
                <a:latin typeface="Calibri"/>
                <a:ea typeface="Quattrocento Sans"/>
                <a:cs typeface="Quattrocento Sans"/>
              </a:rPr>
              <a:t>Standard is old and did come in URP and Non URP</a:t>
            </a:r>
          </a:p>
          <a:p>
            <a:r>
              <a:rPr lang="en-GB" sz="2400" dirty="0">
                <a:solidFill>
                  <a:srgbClr val="FFFFFF"/>
                </a:solidFill>
                <a:latin typeface="Calibri"/>
                <a:hlinkClick r:id="rId4"/>
              </a:rPr>
              <a:t>https://jimmyvegas.itch.io/first-person-controller-starter-asset</a:t>
            </a:r>
            <a:r>
              <a:rPr lang="en-GB" sz="2400" dirty="0">
                <a:solidFill>
                  <a:srgbClr val="FFFFFF"/>
                </a:solidFill>
                <a:latin typeface="Calibri"/>
              </a:rPr>
              <a:t> </a:t>
            </a:r>
            <a:endParaRPr lang="en-GB" sz="2400">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00" name="Google Shape;100;p8"/>
          <p:cNvSpPr txBox="1"/>
          <p:nvPr/>
        </p:nvSpPr>
        <p:spPr>
          <a:xfrm>
            <a:off x="609600" y="1421654"/>
            <a:ext cx="10890738" cy="55861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(Character) Controllers</a:t>
            </a:r>
            <a:endParaRPr lang="en-US" dirty="0">
              <a:latin typeface="Calibri"/>
            </a:endParaRPr>
          </a:p>
          <a:p>
            <a:r>
              <a:rPr lang="en-GB" sz="3300" i="1" dirty="0">
                <a:solidFill>
                  <a:srgbClr val="FFFFFF"/>
                </a:solidFill>
                <a:latin typeface="Calibri"/>
                <a:ea typeface="Quattrocento Sans"/>
                <a:cs typeface="Quattrocento Sans"/>
                <a:sym typeface="Quattrocento Sans"/>
              </a:rPr>
              <a:t>Unity Project Scenes – Starter/Standard Assets: 3PC, FPC</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The character in a first- or third-person game will often need some collision-based physics so that it doesn’t fall through the floor or walk through walls. Usually, though, the character’s acceleration and movement will not be physically realistic, so it may be able to accelerate, brake and change direction almost instantly without being affected by momentum.</a:t>
            </a:r>
            <a:endParaRPr dirty="0">
              <a:solidFill>
                <a:schemeClr val="dk1"/>
              </a:solidFill>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In 3D physics, this type of behaviour can be created using a Character Controller. This component gives the character a simple, capsule-shaped collider that is always upright. The controller has its own special functions to set the object’s speed and direction but unlike true colliders, a </a:t>
            </a:r>
            <a:r>
              <a:rPr lang="en-GB" sz="1800" dirty="0" err="1">
                <a:solidFill>
                  <a:schemeClr val="dk1"/>
                </a:solidFill>
                <a:latin typeface="Calibri"/>
                <a:ea typeface="Quattrocento Sans"/>
                <a:cs typeface="Quattrocento Sans"/>
                <a:sym typeface="Quattrocento Sans"/>
              </a:rPr>
              <a:t>rigidbody</a:t>
            </a:r>
            <a:r>
              <a:rPr lang="en-GB" sz="1800" dirty="0">
                <a:solidFill>
                  <a:schemeClr val="dk1"/>
                </a:solidFill>
                <a:latin typeface="Calibri"/>
                <a:ea typeface="Quattrocento Sans"/>
                <a:cs typeface="Quattrocento Sans"/>
                <a:sym typeface="Quattrocento Sans"/>
              </a:rPr>
              <a:t> is not needed and the momentum effects are not realistic.</a:t>
            </a:r>
            <a:endParaRPr dirty="0">
              <a:solidFill>
                <a:schemeClr val="dk1"/>
              </a:solidFill>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 character controller cannot walk through static colliders in a scene, and so will follow floors and be obstructed by walls. It can push </a:t>
            </a:r>
            <a:r>
              <a:rPr lang="en-GB" sz="1800" dirty="0" err="1">
                <a:solidFill>
                  <a:schemeClr val="dk1"/>
                </a:solidFill>
                <a:latin typeface="Calibri"/>
                <a:ea typeface="Quattrocento Sans"/>
                <a:cs typeface="Quattrocento Sans"/>
                <a:sym typeface="Quattrocento Sans"/>
              </a:rPr>
              <a:t>rigidbody</a:t>
            </a:r>
            <a:r>
              <a:rPr lang="en-GB" sz="1800" dirty="0">
                <a:solidFill>
                  <a:schemeClr val="dk1"/>
                </a:solidFill>
                <a:latin typeface="Calibri"/>
                <a:ea typeface="Quattrocento Sans"/>
                <a:cs typeface="Quattrocento Sans"/>
                <a:sym typeface="Quattrocento Sans"/>
              </a:rPr>
              <a:t> objects aside while moving but will not be accelerated by incoming collisions. This means that you can use the standard 3D colliders to create a scene around which the controller will walk but you are not limited by realistic physical behaviour on the character itself.</a:t>
            </a:r>
            <a:endParaRPr dirty="0">
              <a:solidFill>
                <a:schemeClr val="dk1"/>
              </a:solidFill>
              <a:latin typeface="Calibri"/>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07" name="Google Shape;107;p9"/>
          <p:cNvSpPr txBox="1"/>
          <p:nvPr/>
        </p:nvSpPr>
        <p:spPr>
          <a:xfrm>
            <a:off x="609600" y="1421654"/>
            <a:ext cx="10890738" cy="38779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(Character) Controllers</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 Standard Assets: 3PC, FPC</a:t>
            </a:r>
            <a:endParaRPr sz="3300" i="1" dirty="0">
              <a:solidFill>
                <a:srgbClr val="FFFFFF"/>
              </a:solidFill>
              <a:latin typeface="Calibri"/>
              <a:ea typeface="Quattrocento Sans"/>
              <a:cs typeface="Quattrocento Sans"/>
            </a:endParaRPr>
          </a:p>
          <a:p>
            <a:pPr marL="0" lvl="0" indent="0" algn="l" rtl="0">
              <a:spcBef>
                <a:spcPts val="0"/>
              </a:spcBef>
              <a:spcAft>
                <a:spcPts val="0"/>
              </a:spcAft>
              <a:buNone/>
            </a:pPr>
            <a:endParaRPr sz="3300" i="1" dirty="0">
              <a:solidFill>
                <a:srgbClr val="FFFFFF"/>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3PC – Third Person Character Controller</a:t>
            </a:r>
            <a:endParaRPr dirty="0">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FPC – First Person Controller</a:t>
            </a:r>
            <a:endParaRPr dirty="0">
              <a:latin typeface="Calibri"/>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ga2a524aa40_0_0"/>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72" name="Google Shape;72;ga2a524aa40_0_0"/>
          <p:cNvSpPr txBox="1"/>
          <p:nvPr/>
        </p:nvSpPr>
        <p:spPr>
          <a:xfrm>
            <a:off x="609600" y="1421654"/>
            <a:ext cx="10890600" cy="1200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3600" i="0" u="none" strike="noStrike" cap="none">
                <a:solidFill>
                  <a:srgbClr val="FFFF00"/>
                </a:solidFill>
                <a:latin typeface="Calibri"/>
                <a:ea typeface="Quattrocento Sans"/>
                <a:cs typeface="Quattrocento Sans"/>
                <a:sym typeface="Quattrocento Sans"/>
              </a:rPr>
              <a:t>Unity Camera Prefabs - Unity </a:t>
            </a:r>
            <a:r>
              <a:rPr lang="en-GB" sz="3600">
                <a:solidFill>
                  <a:srgbClr val="FFFF00"/>
                </a:solidFill>
                <a:latin typeface="Calibri"/>
                <a:ea typeface="Quattrocento Sans"/>
                <a:cs typeface="Quattrocento Sans"/>
                <a:sym typeface="Quattrocento Sans"/>
              </a:rPr>
              <a:t>Starter</a:t>
            </a:r>
            <a:r>
              <a:rPr lang="en-GB" sz="3600" i="0" u="none" strike="noStrike" cap="none">
                <a:solidFill>
                  <a:srgbClr val="FFFF00"/>
                </a:solidFill>
                <a:latin typeface="Calibri"/>
                <a:ea typeface="Quattrocento Sans"/>
                <a:cs typeface="Quattrocento Sans"/>
                <a:sym typeface="Quattrocento Sans"/>
              </a:rPr>
              <a:t> </a:t>
            </a:r>
            <a:r>
              <a:rPr lang="en-GB" sz="3600">
                <a:solidFill>
                  <a:srgbClr val="FFFF00"/>
                </a:solidFill>
                <a:latin typeface="Calibri"/>
                <a:ea typeface="Quattrocento Sans"/>
                <a:cs typeface="Quattrocento Sans"/>
                <a:sym typeface="Quattrocento Sans"/>
              </a:rPr>
              <a:t>A</a:t>
            </a:r>
            <a:r>
              <a:rPr lang="en-GB" sz="3600" i="0" u="none" strike="noStrike" cap="none">
                <a:solidFill>
                  <a:srgbClr val="FFFF00"/>
                </a:solidFill>
                <a:latin typeface="Calibri"/>
                <a:ea typeface="Quattrocento Sans"/>
                <a:cs typeface="Quattrocento Sans"/>
                <a:sym typeface="Quattrocento Sans"/>
              </a:rPr>
              <a:t>ssets</a:t>
            </a:r>
            <a:endParaRPr lang="en-US" sz="3600" i="0" u="none" strike="noStrike" cap="none">
              <a:solidFill>
                <a:srgbClr val="FFFF00"/>
              </a:solidFill>
              <a:latin typeface="Calibri"/>
              <a:ea typeface="Quattrocento Sans"/>
              <a:cs typeface="Quattrocento Sans"/>
            </a:endParaRPr>
          </a:p>
          <a:p>
            <a:pPr marL="0" lvl="0" indent="0" algn="l" rtl="0">
              <a:spcBef>
                <a:spcPts val="0"/>
              </a:spcBef>
              <a:spcAft>
                <a:spcPts val="0"/>
              </a:spcAft>
              <a:buNone/>
            </a:pPr>
            <a:r>
              <a:rPr lang="en-GB" sz="2000">
                <a:solidFill>
                  <a:srgbClr val="FFFF00"/>
                </a:solidFill>
                <a:latin typeface="Calibri"/>
                <a:ea typeface="Calibri"/>
                <a:cs typeface="Calibri"/>
                <a:sym typeface="Calibri"/>
              </a:rPr>
              <a:t>Prefabs are already used in the demo Unity project, but Starter Asset Package is not there</a:t>
            </a:r>
            <a:endParaRPr sz="2000">
              <a:solidFill>
                <a:srgbClr val="FFFF00"/>
              </a:solidFill>
              <a:latin typeface="Calibri"/>
              <a:ea typeface="Calibri"/>
              <a:cs typeface="Calibri"/>
              <a:sym typeface="Calibri"/>
            </a:endParaRPr>
          </a:p>
          <a:p>
            <a:pPr marL="0" lvl="0" indent="0" algn="l" rtl="0">
              <a:spcBef>
                <a:spcPts val="0"/>
              </a:spcBef>
              <a:spcAft>
                <a:spcPts val="0"/>
              </a:spcAft>
              <a:buNone/>
            </a:pPr>
            <a:endParaRPr sz="2000">
              <a:solidFill>
                <a:srgbClr val="FFFF00"/>
              </a:solidFill>
              <a:latin typeface="Calibri"/>
              <a:ea typeface="Calibri"/>
              <a:cs typeface="Calibri"/>
            </a:endParaRPr>
          </a:p>
          <a:p>
            <a:pPr marL="0" lvl="0" indent="0" algn="l" rtl="0">
              <a:spcBef>
                <a:spcPts val="0"/>
              </a:spcBef>
              <a:spcAft>
                <a:spcPts val="0"/>
              </a:spcAft>
              <a:buNone/>
            </a:pPr>
            <a:r>
              <a:rPr lang="en-GB" sz="2000">
                <a:solidFill>
                  <a:srgbClr val="FFFF00"/>
                </a:solidFill>
                <a:latin typeface="Calibri"/>
                <a:ea typeface="Calibri"/>
                <a:cs typeface="Calibri"/>
                <a:sym typeface="Calibri"/>
              </a:rPr>
              <a:t>If you want to use it:</a:t>
            </a:r>
            <a:endParaRPr sz="2000">
              <a:solidFill>
                <a:srgbClr val="FFFF00"/>
              </a:solidFill>
              <a:latin typeface="Calibri"/>
              <a:ea typeface="Calibri"/>
              <a:cs typeface="Calibri"/>
              <a:sym typeface="Calibri"/>
            </a:endParaRPr>
          </a:p>
          <a:p>
            <a:r>
              <a:rPr lang="en-GB" sz="2000">
                <a:solidFill>
                  <a:srgbClr val="FFFF00"/>
                </a:solidFill>
                <a:latin typeface="Calibri"/>
                <a:ea typeface="Calibri"/>
                <a:cs typeface="Calibri"/>
                <a:sym typeface="Calibri"/>
              </a:rPr>
              <a:t>Import Unity Starter Assets packages: </a:t>
            </a:r>
            <a:br>
              <a:rPr lang="en-GB" sz="2000">
                <a:solidFill>
                  <a:srgbClr val="FFFF00"/>
                </a:solidFill>
                <a:latin typeface="Calibri"/>
                <a:ea typeface="Calibri"/>
                <a:cs typeface="Calibri"/>
                <a:sym typeface="Calibri"/>
              </a:rPr>
            </a:br>
            <a:r>
              <a:rPr lang="en-GB">
                <a:solidFill>
                  <a:schemeClr val="tx1"/>
                </a:solidFill>
                <a:latin typeface="Calibri"/>
                <a:ea typeface="Calibri"/>
                <a:hlinkClick r:id="rId3">
                  <a:extLst>
                    <a:ext uri="{A12FA001-AC4F-418D-AE19-62706E023703}">
                      <ahyp:hlinkClr xmlns:ahyp="http://schemas.microsoft.com/office/drawing/2018/hyperlinkcolor" val="tx"/>
                    </a:ext>
                  </a:extLst>
                </a:hlinkClick>
              </a:rPr>
              <a:t>https://assetstore.unity.com/packages/essentials/starter-assets-thirdperson-updates-in-new-charactercontroller-pa-196526</a:t>
            </a:r>
            <a:br>
              <a:rPr lang="en-GB">
                <a:latin typeface="Calibri"/>
                <a:ea typeface="Calibri"/>
              </a:rPr>
            </a:br>
            <a:r>
              <a:rPr lang="en-GB">
                <a:latin typeface="Calibri"/>
                <a:ea typeface="Calibri"/>
                <a:hlinkClick r:id="rId4"/>
              </a:rPr>
              <a:t>https://assetstore.unity.com/packages/essentials/starterassets-firstperson-updates-in-new-charactercontroller-pac-196525</a:t>
            </a:r>
            <a:endParaRPr lang="en-GB" i="1">
              <a:solidFill>
                <a:schemeClr val="tx1"/>
              </a:solidFill>
              <a:latin typeface="Calibri"/>
              <a:ea typeface="Calibri"/>
              <a:cs typeface="Calibri"/>
            </a:endParaRPr>
          </a:p>
          <a:p>
            <a:pPr marL="0" lvl="0" indent="0" algn="l">
              <a:spcBef>
                <a:spcPts val="0"/>
              </a:spcBef>
              <a:spcAft>
                <a:spcPts val="0"/>
              </a:spcAft>
              <a:buNone/>
            </a:pPr>
            <a:endParaRPr lang="en-GB" sz="3600" b="1">
              <a:solidFill>
                <a:srgbClr val="FFFF00"/>
              </a:solidFill>
              <a:latin typeface="Quattrocento Sans"/>
              <a:ea typeface="Calibri"/>
              <a:cs typeface="Calibri"/>
            </a:endParaRPr>
          </a:p>
        </p:txBody>
      </p:sp>
      <p:pic>
        <p:nvPicPr>
          <p:cNvPr id="2" name="Picture 1" descr="A screenshot of a video game&#10;&#10;Description automatically generated">
            <a:extLst>
              <a:ext uri="{FF2B5EF4-FFF2-40B4-BE49-F238E27FC236}">
                <a16:creationId xmlns:a16="http://schemas.microsoft.com/office/drawing/2014/main" id="{D984C3A6-EE1E-3A3B-1E27-E3FD0ADF82C2}"/>
              </a:ext>
            </a:extLst>
          </p:cNvPr>
          <p:cNvPicPr>
            <a:picLocks noChangeAspect="1"/>
          </p:cNvPicPr>
          <p:nvPr/>
        </p:nvPicPr>
        <p:blipFill>
          <a:blip r:embed="rId5"/>
          <a:stretch>
            <a:fillRect/>
          </a:stretch>
        </p:blipFill>
        <p:spPr>
          <a:xfrm>
            <a:off x="702198" y="3778275"/>
            <a:ext cx="4566211" cy="2436261"/>
          </a:xfrm>
          <a:prstGeom prst="rect">
            <a:avLst/>
          </a:prstGeom>
        </p:spPr>
      </p:pic>
      <p:pic>
        <p:nvPicPr>
          <p:cNvPr id="5" name="Picture 4" descr="A screenshot of a video game&#10;&#10;Description automatically generated">
            <a:extLst>
              <a:ext uri="{FF2B5EF4-FFF2-40B4-BE49-F238E27FC236}">
                <a16:creationId xmlns:a16="http://schemas.microsoft.com/office/drawing/2014/main" id="{32A49095-EFD3-1083-EF00-28475CC856AD}"/>
              </a:ext>
            </a:extLst>
          </p:cNvPr>
          <p:cNvPicPr>
            <a:picLocks noChangeAspect="1"/>
          </p:cNvPicPr>
          <p:nvPr/>
        </p:nvPicPr>
        <p:blipFill>
          <a:blip r:embed="rId6"/>
          <a:stretch>
            <a:fillRect/>
          </a:stretch>
        </p:blipFill>
        <p:spPr>
          <a:xfrm>
            <a:off x="6798198" y="3724724"/>
            <a:ext cx="4469756" cy="24854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14" name="Google Shape;114;p10"/>
          <p:cNvSpPr txBox="1"/>
          <p:nvPr/>
        </p:nvSpPr>
        <p:spPr>
          <a:xfrm>
            <a:off x="609600" y="1421650"/>
            <a:ext cx="11967000" cy="5647660"/>
          </a:xfrm>
          <a:prstGeom prst="rect">
            <a:avLst/>
          </a:prstGeom>
          <a:noFill/>
          <a:ln>
            <a:noFill/>
          </a:ln>
        </p:spPr>
        <p:txBody>
          <a:bodyPr spcFirstLastPara="1" wrap="square" lIns="91425" tIns="45700" rIns="91425" bIns="45700" anchor="t" anchorCtr="0">
            <a:spAutoFit/>
          </a:bodyPr>
          <a:lstStyle/>
          <a:p>
            <a:r>
              <a:rPr lang="en-GB" sz="3600" dirty="0">
                <a:solidFill>
                  <a:srgbClr val="FFFF00"/>
                </a:solidFill>
                <a:latin typeface="Calibri"/>
                <a:ea typeface="Quattrocento Sans"/>
                <a:cs typeface="Quattrocento Sans"/>
                <a:sym typeface="Quattrocento Sans"/>
              </a:rPr>
              <a:t>Unity Camera Controllers – 3PC, FPC</a:t>
            </a:r>
            <a:endParaRPr lang="en-US" dirty="0">
              <a:latin typeface="Calibri"/>
            </a:endParaRPr>
          </a:p>
          <a:p>
            <a:pPr marL="0" marR="0" lvl="0" indent="0" algn="l" rtl="0">
              <a:spcBef>
                <a:spcPts val="0"/>
              </a:spcBef>
              <a:spcAft>
                <a:spcPts val="0"/>
              </a:spcAft>
              <a:buNone/>
            </a:pPr>
            <a:r>
              <a:rPr lang="en-GB" sz="1800" u="sng" dirty="0">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https://www.youtube.com/watch?v=dXzF-S9tVrM</a:t>
            </a:r>
            <a:endParaRPr sz="1800">
              <a:solidFill>
                <a:srgbClr val="FFFF00"/>
              </a:solidFill>
              <a:latin typeface="Calibri"/>
              <a:ea typeface="Quattrocento Sans"/>
              <a:cs typeface="Quattrocento Sans"/>
            </a:endParaRPr>
          </a:p>
          <a:p>
            <a:r>
              <a:rPr lang="en-GB" sz="3300" i="1" dirty="0">
                <a:solidFill>
                  <a:srgbClr val="FFFFFF"/>
                </a:solidFill>
                <a:latin typeface="Calibri"/>
                <a:ea typeface="Quattrocento Sans"/>
                <a:cs typeface="Quattrocento Sans"/>
                <a:sym typeface="Quattrocento Sans"/>
              </a:rPr>
              <a:t>Unity Project Scenes - Standard Assets </a:t>
            </a:r>
            <a:r>
              <a:rPr lang="en-GB" sz="3300" i="1" dirty="0">
                <a:solidFill>
                  <a:srgbClr val="00B0F0"/>
                </a:solidFill>
                <a:latin typeface="Calibri"/>
                <a:ea typeface="Quattrocento Sans"/>
                <a:cs typeface="Quattrocento Sans"/>
                <a:sym typeface="Quattrocento Sans"/>
              </a:rPr>
              <a:t>non URP</a:t>
            </a:r>
            <a:r>
              <a:rPr lang="en-GB" sz="3300" i="1" dirty="0">
                <a:solidFill>
                  <a:srgbClr val="FFFFFF"/>
                </a:solidFill>
                <a:latin typeface="Calibri"/>
                <a:ea typeface="Quattrocento Sans"/>
                <a:cs typeface="Quattrocento Sans"/>
                <a:sym typeface="Quattrocento Sans"/>
              </a:rPr>
              <a:t>: 3PC, FPC</a:t>
            </a:r>
            <a:endParaRPr sz="18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1. Create new scene</a:t>
            </a:r>
            <a:endParaRPr sz="180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2.</a:t>
            </a:r>
            <a:r>
              <a:rPr lang="en-GB" sz="2200" dirty="0">
                <a:solidFill>
                  <a:srgbClr val="FFFF00"/>
                </a:solidFill>
                <a:latin typeface="Calibri"/>
                <a:ea typeface="Quattrocento Sans"/>
                <a:cs typeface="Quattrocento Sans"/>
                <a:sym typeface="Quattrocento Sans"/>
              </a:rPr>
              <a:t> </a:t>
            </a:r>
            <a:r>
              <a:rPr lang="en-GB" sz="1800" dirty="0">
                <a:solidFill>
                  <a:srgbClr val="FFFF00"/>
                </a:solidFill>
                <a:latin typeface="Calibri"/>
                <a:ea typeface="Calibri"/>
                <a:cs typeface="Calibri"/>
                <a:sym typeface="Calibri"/>
              </a:rPr>
              <a:t>Import Unity Standard Assets package/Characters from </a:t>
            </a:r>
            <a:r>
              <a:rPr lang="en-GB" sz="1800" dirty="0">
                <a:solidFill>
                  <a:srgbClr val="FFFF00"/>
                </a:solidFill>
                <a:latin typeface="Calibri"/>
                <a:ea typeface="Calibri"/>
                <a:sym typeface="Calibri"/>
                <a:hlinkClick r:id="rId4"/>
              </a:rPr>
              <a:t>https://jimmyvegas.itch.io/standard-assets</a:t>
            </a:r>
            <a:endParaRPr lang="en-GB" sz="1800">
              <a:solidFill>
                <a:srgbClr val="FFFF00"/>
              </a:solidFill>
              <a:latin typeface="Calibri"/>
              <a:ea typeface="Calibri"/>
            </a:endParaRPr>
          </a:p>
          <a:p>
            <a:r>
              <a:rPr lang="en-GB" sz="1800" dirty="0">
                <a:solidFill>
                  <a:srgbClr val="FF0000"/>
                </a:solidFill>
                <a:latin typeface="Calibri"/>
                <a:ea typeface="Calibri"/>
                <a:sym typeface="Calibri"/>
              </a:rPr>
              <a:t>Assets/Import Package/Custom Package/select downloaded “Standard Assets for Unity 20184.unitypackage”</a:t>
            </a:r>
            <a:endParaRPr lang="en-GB">
              <a:solidFill>
                <a:srgbClr val="FF0000"/>
              </a:solidFill>
              <a:latin typeface="Calibri"/>
            </a:endParaRPr>
          </a:p>
          <a:p>
            <a:pPr marL="0" marR="0" lvl="0" indent="457200" algn="l" rtl="0">
              <a:spcBef>
                <a:spcPts val="0"/>
              </a:spcBef>
              <a:spcAft>
                <a:spcPts val="0"/>
              </a:spcAft>
              <a:buNone/>
            </a:pPr>
            <a:r>
              <a:rPr lang="en-GB" sz="1800" dirty="0">
                <a:solidFill>
                  <a:srgbClr val="FFFFFF"/>
                </a:solidFill>
                <a:latin typeface="Calibri"/>
                <a:ea typeface="Calibri"/>
                <a:cs typeface="Calibri"/>
                <a:sym typeface="Calibri"/>
              </a:rPr>
              <a:t>You may need to change “</a:t>
            </a:r>
            <a:r>
              <a:rPr lang="en-GB" sz="1800" err="1">
                <a:solidFill>
                  <a:srgbClr val="FFFFFF"/>
                </a:solidFill>
                <a:latin typeface="Calibri"/>
                <a:ea typeface="Calibri"/>
                <a:cs typeface="Calibri"/>
                <a:sym typeface="Calibri"/>
              </a:rPr>
              <a:t>UI.Text</a:t>
            </a:r>
            <a:r>
              <a:rPr lang="en-GB" sz="1800" dirty="0">
                <a:solidFill>
                  <a:srgbClr val="FFFFFF"/>
                </a:solidFill>
                <a:latin typeface="Calibri"/>
                <a:ea typeface="Calibri"/>
                <a:cs typeface="Calibri"/>
                <a:sym typeface="Calibri"/>
              </a:rPr>
              <a:t>” to “</a:t>
            </a:r>
            <a:r>
              <a:rPr lang="en-GB" sz="1800" err="1">
                <a:solidFill>
                  <a:srgbClr val="FFFFFF"/>
                </a:solidFill>
                <a:latin typeface="Calibri"/>
                <a:ea typeface="Calibri"/>
                <a:cs typeface="Calibri"/>
                <a:sym typeface="Calibri"/>
              </a:rPr>
              <a:t>UnityEngine.UI.Text</a:t>
            </a:r>
            <a:r>
              <a:rPr lang="en-GB" sz="1800" dirty="0">
                <a:solidFill>
                  <a:srgbClr val="FFFFFF"/>
                </a:solidFill>
                <a:latin typeface="Calibri"/>
                <a:ea typeface="Calibri"/>
                <a:cs typeface="Calibri"/>
                <a:sym typeface="Calibri"/>
              </a:rPr>
              <a:t>” in 1 or 2 scripts with an error message</a:t>
            </a:r>
            <a:endParaRPr sz="1800">
              <a:solidFill>
                <a:srgbClr val="FFFFFF"/>
              </a:solidFill>
              <a:latin typeface="Calibri"/>
              <a:ea typeface="Calibri"/>
              <a:cs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3. Import all</a:t>
            </a:r>
            <a:endParaRPr sz="180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4. In Project window go to:</a:t>
            </a:r>
            <a:endParaRPr sz="1800">
              <a:solidFill>
                <a:srgbClr val="FFFF00"/>
              </a:solidFill>
              <a:latin typeface="Calibri"/>
              <a:ea typeface="Quattrocento Sans"/>
              <a:cs typeface="Quattrocento Sans"/>
            </a:endParaRPr>
          </a:p>
          <a:p>
            <a:pPr indent="457200"/>
            <a:r>
              <a:rPr lang="en-GB" sz="1800" dirty="0">
                <a:solidFill>
                  <a:schemeClr val="dk1"/>
                </a:solidFill>
                <a:latin typeface="Calibri"/>
                <a:ea typeface="Quattrocento Sans"/>
                <a:cs typeface="Quattrocento Sans"/>
                <a:sym typeface="Quattrocento Sans"/>
              </a:rPr>
              <a:t>Standard Assets/Characters/Third Person Character/Prefabs/</a:t>
            </a:r>
            <a:r>
              <a:rPr lang="en-GB" sz="1800" dirty="0" err="1">
                <a:solidFill>
                  <a:schemeClr val="dk1"/>
                </a:solidFill>
                <a:latin typeface="Calibri"/>
                <a:ea typeface="Quattrocento Sans"/>
                <a:cs typeface="Quattrocento Sans"/>
                <a:sym typeface="Quattrocento Sans"/>
              </a:rPr>
              <a:t>ThirdPersonController</a:t>
            </a:r>
            <a:r>
              <a:rPr lang="en-GB" sz="1800" dirty="0">
                <a:solidFill>
                  <a:schemeClr val="dk1"/>
                </a:solidFill>
                <a:latin typeface="Calibri"/>
                <a:ea typeface="Quattrocento Sans"/>
                <a:cs typeface="Quattrocento Sans"/>
                <a:sym typeface="Quattrocento Sans"/>
              </a:rPr>
              <a:t> or </a:t>
            </a:r>
            <a:r>
              <a:rPr lang="en-GB" sz="1800" dirty="0" err="1">
                <a:solidFill>
                  <a:schemeClr val="dk1"/>
                </a:solidFill>
                <a:latin typeface="Calibri"/>
                <a:ea typeface="Quattrocento Sans"/>
                <a:cs typeface="Quattrocento Sans"/>
                <a:sym typeface="Quattrocento Sans"/>
              </a:rPr>
              <a:t>FirstPersonController</a:t>
            </a:r>
            <a:endParaRPr sz="1800" dirty="0" err="1">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5. Drag into hierarchy</a:t>
            </a:r>
            <a:endParaRPr sz="1800">
              <a:solidFill>
                <a:srgbClr val="FFFF00"/>
              </a:solidFill>
              <a:latin typeface="Calibri"/>
              <a:ea typeface="Quattrocento Sans"/>
              <a:cs typeface="Quattrocento Sans"/>
            </a:endParaRPr>
          </a:p>
          <a:p>
            <a:pPr marL="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6. Create and zero out plane - Run and use </a:t>
            </a:r>
            <a:r>
              <a:rPr lang="en-GB" sz="1800" err="1">
                <a:solidFill>
                  <a:srgbClr val="FFFF00"/>
                </a:solidFill>
                <a:latin typeface="Calibri"/>
                <a:ea typeface="Quattrocento Sans"/>
                <a:cs typeface="Quattrocento Sans"/>
                <a:sym typeface="Quattrocento Sans"/>
              </a:rPr>
              <a:t>mouselook</a:t>
            </a:r>
            <a:r>
              <a:rPr lang="en-GB" sz="1800" dirty="0">
                <a:solidFill>
                  <a:srgbClr val="FFFF00"/>
                </a:solidFill>
                <a:latin typeface="Calibri"/>
                <a:ea typeface="Quattrocento Sans"/>
                <a:cs typeface="Quattrocento Sans"/>
                <a:sym typeface="Quattrocento Sans"/>
              </a:rPr>
              <a:t> and arrows to navigate</a:t>
            </a:r>
            <a:endParaRPr sz="1800">
              <a:solidFill>
                <a:srgbClr val="FFFF00"/>
              </a:solidFill>
              <a:latin typeface="Calibri"/>
              <a:ea typeface="Quattrocento Sans"/>
              <a:cs typeface="Quattrocento Sans"/>
            </a:endParaRPr>
          </a:p>
          <a:p>
            <a:pPr marL="914400" lvl="0" indent="-342900" algn="l" rtl="0">
              <a:spcBef>
                <a:spcPts val="0"/>
              </a:spcBef>
              <a:spcAft>
                <a:spcPts val="0"/>
              </a:spcAft>
              <a:buClr>
                <a:srgbClr val="FFFF00"/>
              </a:buClr>
              <a:buSzPts val="1800"/>
              <a:buFont typeface="Quattrocento Sans"/>
              <a:buAutoNum type="alphaLcPeriod"/>
            </a:pPr>
            <a:r>
              <a:rPr lang="en-GB" sz="1800" dirty="0">
                <a:solidFill>
                  <a:srgbClr val="FFFF00"/>
                </a:solidFill>
                <a:latin typeface="Calibri"/>
                <a:ea typeface="Quattrocento Sans"/>
                <a:cs typeface="Quattrocento Sans"/>
                <a:sym typeface="Quattrocento Sans"/>
              </a:rPr>
              <a:t>Create </a:t>
            </a:r>
            <a:r>
              <a:rPr lang="en-GB" sz="1800" err="1">
                <a:solidFill>
                  <a:srgbClr val="FFFF00"/>
                </a:solidFill>
                <a:latin typeface="Calibri"/>
                <a:ea typeface="Quattrocento Sans"/>
                <a:cs typeface="Quattrocento Sans"/>
                <a:sym typeface="Quattrocento Sans"/>
              </a:rPr>
              <a:t>GameObject</a:t>
            </a:r>
            <a:r>
              <a:rPr lang="en-GB" sz="1800" dirty="0">
                <a:solidFill>
                  <a:srgbClr val="FFFF00"/>
                </a:solidFill>
                <a:latin typeface="Calibri"/>
                <a:ea typeface="Quattrocento Sans"/>
                <a:cs typeface="Quattrocento Sans"/>
                <a:sym typeface="Quattrocento Sans"/>
              </a:rPr>
              <a:t>/3D Object/Plane</a:t>
            </a:r>
            <a:endParaRPr sz="1800" dirty="0">
              <a:solidFill>
                <a:srgbClr val="FFFF00"/>
              </a:solidFill>
              <a:latin typeface="Calibri"/>
              <a:ea typeface="Quattrocento Sans"/>
              <a:cs typeface="Quattrocento Sans"/>
            </a:endParaRPr>
          </a:p>
          <a:p>
            <a:pPr marL="914400" indent="-342900">
              <a:buClr>
                <a:srgbClr val="FFFF00"/>
              </a:buClr>
              <a:buSzPts val="1800"/>
              <a:buFont typeface="Quattrocento Sans"/>
              <a:buAutoNum type="alphaLcPeriod"/>
            </a:pPr>
            <a:r>
              <a:rPr lang="en-GB" sz="1800" dirty="0">
                <a:solidFill>
                  <a:srgbClr val="FFFF00"/>
                </a:solidFill>
                <a:latin typeface="Calibri"/>
                <a:ea typeface="Quattrocento Sans"/>
                <a:cs typeface="Quattrocento Sans"/>
              </a:rPr>
              <a:t>3PC or FPC character: Drag down below prefab - 0,0,0</a:t>
            </a:r>
          </a:p>
          <a:p>
            <a:r>
              <a:rPr lang="en-GB" sz="1800" dirty="0">
                <a:solidFill>
                  <a:srgbClr val="FFFF00"/>
                </a:solidFill>
                <a:latin typeface="Calibri"/>
                <a:ea typeface="Quattrocento Sans"/>
                <a:cs typeface="Quattrocento Sans"/>
                <a:sym typeface="Quattrocento Sans"/>
              </a:rPr>
              <a:t>7. When Creating your own 3PC or FPC:</a:t>
            </a:r>
            <a:endParaRPr sz="1800">
              <a:solidFill>
                <a:srgbClr val="FFFF00"/>
              </a:solidFill>
              <a:latin typeface="Calibri"/>
              <a:ea typeface="Quattrocento Sans"/>
              <a:cs typeface="Quattrocento Sans"/>
            </a:endParaRPr>
          </a:p>
          <a:p>
            <a:pPr marL="914400" marR="0" lvl="0" indent="-342900" algn="l" rtl="0">
              <a:spcBef>
                <a:spcPts val="0"/>
              </a:spcBef>
              <a:spcAft>
                <a:spcPts val="0"/>
              </a:spcAft>
              <a:buClr>
                <a:srgbClr val="FFFF00"/>
              </a:buClr>
              <a:buSzPts val="1800"/>
              <a:buFont typeface="Quattrocento Sans"/>
              <a:buAutoNum type="alphaLcPeriod"/>
            </a:pPr>
            <a:r>
              <a:rPr lang="en-GB" sz="1800" dirty="0">
                <a:solidFill>
                  <a:srgbClr val="FFFF00"/>
                </a:solidFill>
                <a:latin typeface="Calibri"/>
                <a:ea typeface="Quattrocento Sans"/>
                <a:cs typeface="Quattrocento Sans"/>
                <a:sym typeface="Quattrocento Sans"/>
              </a:rPr>
              <a:t>Position Main Camera to frame target/player</a:t>
            </a:r>
            <a:endParaRPr sz="1800">
              <a:solidFill>
                <a:srgbClr val="FFFF00"/>
              </a:solidFill>
              <a:latin typeface="Calibri"/>
              <a:ea typeface="Quattrocento Sans"/>
              <a:cs typeface="Quattrocento Sans"/>
            </a:endParaRPr>
          </a:p>
          <a:p>
            <a:pPr marL="914400" indent="-342900">
              <a:buClr>
                <a:srgbClr val="FFFF00"/>
              </a:buClr>
              <a:buSzPts val="1800"/>
              <a:buFont typeface="Quattrocento Sans"/>
              <a:buAutoNum type="alphaLcPeriod"/>
            </a:pPr>
            <a:r>
              <a:rPr lang="en-GB" sz="1800" dirty="0">
                <a:solidFill>
                  <a:srgbClr val="FFFF00"/>
                </a:solidFill>
                <a:latin typeface="Calibri"/>
                <a:ea typeface="Quattrocento Sans"/>
                <a:cs typeface="Quattrocento Sans"/>
                <a:sym typeface="Quattrocento Sans"/>
              </a:rPr>
              <a:t>Drag Main Camera into 3PC or FPC as Child</a:t>
            </a:r>
            <a:endParaRPr sz="1800" b="1">
              <a:solidFill>
                <a:srgbClr val="FFFF00"/>
              </a:solidFill>
              <a:latin typeface="Calibri"/>
              <a:ea typeface="Quattrocento Sans"/>
              <a:cs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14" name="Google Shape;114;p10"/>
          <p:cNvSpPr txBox="1"/>
          <p:nvPr/>
        </p:nvSpPr>
        <p:spPr>
          <a:xfrm>
            <a:off x="609600" y="1421650"/>
            <a:ext cx="11967000" cy="4816663"/>
          </a:xfrm>
          <a:prstGeom prst="rect">
            <a:avLst/>
          </a:prstGeom>
          <a:noFill/>
          <a:ln>
            <a:noFill/>
          </a:ln>
        </p:spPr>
        <p:txBody>
          <a:bodyPr spcFirstLastPara="1" wrap="square" lIns="91425" tIns="45700" rIns="91425" bIns="45700" anchor="t" anchorCtr="0">
            <a:spAutoFit/>
          </a:bodyPr>
          <a:lstStyle/>
          <a:p>
            <a:r>
              <a:rPr lang="en-GB" sz="3600" dirty="0">
                <a:solidFill>
                  <a:srgbClr val="FFFF00"/>
                </a:solidFill>
                <a:latin typeface="Calibri"/>
                <a:ea typeface="Quattrocento Sans"/>
                <a:cs typeface="Quattrocento Sans"/>
                <a:sym typeface="Quattrocento Sans"/>
              </a:rPr>
              <a:t>Unity Camera Controllers – 3PC, FPC</a:t>
            </a:r>
            <a:endParaRPr lang="en-US" dirty="0">
              <a:latin typeface="Calibri"/>
            </a:endParaRPr>
          </a:p>
          <a:p>
            <a:pPr marL="0" marR="0" lvl="0" indent="0" algn="l" rtl="0">
              <a:spcBef>
                <a:spcPts val="0"/>
              </a:spcBef>
              <a:spcAft>
                <a:spcPts val="0"/>
              </a:spcAft>
              <a:buNone/>
            </a:pPr>
            <a:r>
              <a:rPr lang="en-GB" sz="1800" u="sng" dirty="0">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https://www.youtube.com/watch?v=dXzF-S9tVrM</a:t>
            </a:r>
            <a:endParaRPr sz="1800">
              <a:solidFill>
                <a:srgbClr val="FFFF00"/>
              </a:solidFill>
              <a:latin typeface="Calibri"/>
              <a:ea typeface="Quattrocento Sans"/>
              <a:cs typeface="Quattrocento Sans"/>
            </a:endParaRPr>
          </a:p>
          <a:p>
            <a:r>
              <a:rPr lang="en-GB" sz="3300" i="1" dirty="0">
                <a:solidFill>
                  <a:srgbClr val="FFFFFF"/>
                </a:solidFill>
                <a:latin typeface="Calibri"/>
                <a:ea typeface="Quattrocento Sans"/>
                <a:cs typeface="Quattrocento Sans"/>
                <a:sym typeface="Quattrocento Sans"/>
              </a:rPr>
              <a:t>Unity Project Scenes - Starter Assets </a:t>
            </a:r>
            <a:r>
              <a:rPr lang="en-GB" sz="3300" i="1" dirty="0">
                <a:solidFill>
                  <a:srgbClr val="00B0F0"/>
                </a:solidFill>
                <a:latin typeface="Calibri"/>
                <a:ea typeface="Quattrocento Sans"/>
                <a:cs typeface="Quattrocento Sans"/>
                <a:sym typeface="Quattrocento Sans"/>
              </a:rPr>
              <a:t>URP</a:t>
            </a:r>
            <a:r>
              <a:rPr lang="en-GB" sz="3300" i="1" dirty="0">
                <a:solidFill>
                  <a:srgbClr val="FFFFFF"/>
                </a:solidFill>
                <a:latin typeface="Calibri"/>
                <a:ea typeface="Quattrocento Sans"/>
                <a:cs typeface="Quattrocento Sans"/>
                <a:sym typeface="Quattrocento Sans"/>
              </a:rPr>
              <a:t>: 3PC, FPC</a:t>
            </a:r>
            <a:endParaRPr sz="18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1. Create new scene</a:t>
            </a:r>
            <a:endParaRPr sz="1800" dirty="0">
              <a:solidFill>
                <a:srgbClr val="FFFF00"/>
              </a:solidFill>
              <a:latin typeface="Calibri"/>
              <a:ea typeface="Quattrocento Sans"/>
              <a:cs typeface="Quattrocento Sans"/>
            </a:endParaRPr>
          </a:p>
          <a:p>
            <a:r>
              <a:rPr lang="en-GB" sz="1800" dirty="0">
                <a:solidFill>
                  <a:srgbClr val="FFFF00"/>
                </a:solidFill>
                <a:latin typeface="Calibri"/>
                <a:ea typeface="Quattrocento Sans"/>
                <a:cs typeface="Quattrocento Sans"/>
                <a:sym typeface="Quattrocento Sans"/>
              </a:rPr>
              <a:t>2.</a:t>
            </a:r>
            <a:r>
              <a:rPr lang="en-GB" sz="2200" dirty="0">
                <a:solidFill>
                  <a:srgbClr val="FFFF00"/>
                </a:solidFill>
                <a:latin typeface="Calibri"/>
                <a:ea typeface="Quattrocento Sans"/>
                <a:cs typeface="Quattrocento Sans"/>
                <a:sym typeface="Quattrocento Sans"/>
              </a:rPr>
              <a:t> </a:t>
            </a:r>
            <a:r>
              <a:rPr lang="en-GB" sz="1800" dirty="0">
                <a:solidFill>
                  <a:srgbClr val="FFFF00"/>
                </a:solidFill>
                <a:latin typeface="Calibri"/>
                <a:ea typeface="Calibri"/>
                <a:cs typeface="Calibri"/>
                <a:sym typeface="Calibri"/>
              </a:rPr>
              <a:t>Import Unity Standard Assets package/Characters from </a:t>
            </a:r>
            <a:r>
              <a:rPr lang="en-GB" sz="1800" dirty="0">
                <a:solidFill>
                  <a:srgbClr val="FFFF00"/>
                </a:solidFill>
                <a:ea typeface="Calibri"/>
                <a:sym typeface="Calibri"/>
                <a:hlinkClick r:id="rId4"/>
              </a:rPr>
              <a:t>https://assetstore.unity.com/packages/package/267961</a:t>
            </a:r>
            <a:r>
              <a:rPr lang="en-GB" sz="1800" dirty="0">
                <a:solidFill>
                  <a:srgbClr val="FFFF00"/>
                </a:solidFill>
                <a:ea typeface="Calibri"/>
                <a:sym typeface="Calibri"/>
              </a:rPr>
              <a:t> </a:t>
            </a:r>
            <a:endParaRPr lang="en-GB" sz="1800" i="1" dirty="0">
              <a:solidFill>
                <a:srgbClr val="FFFF00"/>
              </a:solidFill>
              <a:latin typeface="Calibri"/>
              <a:ea typeface="Calibri"/>
              <a:cs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3. Import all</a:t>
            </a:r>
            <a:endParaRPr sz="1800" dirty="0">
              <a:solidFill>
                <a:srgbClr val="FFFF00"/>
              </a:solidFill>
              <a:latin typeface="Calibri"/>
              <a:ea typeface="Quattrocento Sans"/>
              <a:cs typeface="Quattrocento Sans"/>
            </a:endParaRPr>
          </a:p>
          <a:p>
            <a:r>
              <a:rPr lang="en-GB" sz="1800" dirty="0">
                <a:solidFill>
                  <a:srgbClr val="FFFF00"/>
                </a:solidFill>
                <a:latin typeface="Calibri"/>
                <a:ea typeface="Quattrocento Sans"/>
                <a:cs typeface="Quattrocento Sans"/>
                <a:sym typeface="Quattrocento Sans"/>
              </a:rPr>
              <a:t>4. In Scene drag in Prefabs from Package:</a:t>
            </a:r>
            <a:endParaRPr lang="en-GB" dirty="0">
              <a:ea typeface="Quattrocento Sans"/>
            </a:endParaRPr>
          </a:p>
          <a:p>
            <a:r>
              <a:rPr lang="en-GB" sz="1800" dirty="0">
                <a:solidFill>
                  <a:srgbClr val="FFFF00"/>
                </a:solidFill>
                <a:latin typeface="Calibri"/>
                <a:ea typeface="Quattrocento Sans"/>
                <a:cs typeface="Quattrocento Sans"/>
              </a:rPr>
              <a:t>  FPC: </a:t>
            </a:r>
            <a:r>
              <a:rPr lang="en-GB" sz="1800" dirty="0" err="1">
                <a:solidFill>
                  <a:srgbClr val="FFFF00"/>
                </a:solidFill>
                <a:latin typeface="Calibri"/>
                <a:ea typeface="Calibri"/>
                <a:cs typeface="Calibri"/>
              </a:rPr>
              <a:t>NestedParent_Unpack</a:t>
            </a:r>
            <a:r>
              <a:rPr lang="en-GB" sz="1800" dirty="0">
                <a:solidFill>
                  <a:srgbClr val="FFFF00"/>
                </a:solidFill>
                <a:latin typeface="Calibri"/>
                <a:ea typeface="Calibri"/>
                <a:cs typeface="Calibri"/>
              </a:rPr>
              <a:t> Prefab in scene</a:t>
            </a:r>
            <a:endParaRPr lang="en-GB"/>
          </a:p>
          <a:p>
            <a:r>
              <a:rPr lang="en-GB" sz="1800" dirty="0">
                <a:solidFill>
                  <a:srgbClr val="FFFF00"/>
                </a:solidFill>
                <a:latin typeface="Calibri"/>
                <a:ea typeface="Calibri"/>
                <a:cs typeface="Calibri"/>
              </a:rPr>
              <a:t>  3PC: Tool menu at top:</a:t>
            </a:r>
            <a:r>
              <a:rPr lang="en-GB" sz="1800" dirty="0">
                <a:solidFill>
                  <a:srgbClr val="FFFF00"/>
                </a:solidFill>
                <a:ea typeface="Calibri"/>
              </a:rPr>
              <a:t> reset player armature, controller capsule</a:t>
            </a:r>
          </a:p>
          <a:p>
            <a:r>
              <a:rPr lang="en-GB" sz="1800" dirty="0">
                <a:solidFill>
                  <a:srgbClr val="FFFF00"/>
                </a:solidFill>
                <a:latin typeface="Calibri"/>
                <a:ea typeface="Calibri"/>
              </a:rPr>
              <a:t>5. </a:t>
            </a:r>
            <a:r>
              <a:rPr lang="en-GB" sz="1800">
                <a:solidFill>
                  <a:srgbClr val="FFFF00"/>
                </a:solidFill>
                <a:latin typeface="Calibri"/>
                <a:ea typeface="Calibri"/>
              </a:rPr>
              <a:t>URP is Basic, will need to set up post processing volume (tutorial sheet next week)</a:t>
            </a:r>
            <a:endParaRPr lang="en-GB"/>
          </a:p>
          <a:p>
            <a:pPr marL="0" marR="0" lvl="0" indent="0" algn="l" rtl="0">
              <a:spcBef>
                <a:spcPts val="0"/>
              </a:spcBef>
              <a:spcAft>
                <a:spcPts val="0"/>
              </a:spcAft>
              <a:buNone/>
            </a:pPr>
            <a:endParaRPr lang="en-GB" sz="1800" dirty="0">
              <a:solidFill>
                <a:srgbClr val="FFFF00"/>
              </a:solidFill>
              <a:latin typeface="Calibri"/>
              <a:ea typeface="Quattrocento Sans"/>
              <a:cs typeface="Quattrocento Sans"/>
            </a:endParaRPr>
          </a:p>
          <a:p>
            <a:pPr marL="0" marR="0" lvl="0" indent="0" algn="l" rtl="0">
              <a:spcBef>
                <a:spcPts val="0"/>
              </a:spcBef>
              <a:spcAft>
                <a:spcPts val="0"/>
              </a:spcAft>
              <a:buNone/>
            </a:pPr>
            <a:endParaRPr lang="en-GB" sz="1800" dirty="0">
              <a:solidFill>
                <a:srgbClr val="FFFF00"/>
              </a:solidFill>
              <a:latin typeface="Calibri"/>
              <a:ea typeface="Quattrocento Sans"/>
              <a:cs typeface="Quattrocento Sans"/>
            </a:endParaRPr>
          </a:p>
          <a:p>
            <a:endParaRPr lang="en-GB" sz="1800" b="1">
              <a:solidFill>
                <a:srgbClr val="FFFF00"/>
              </a:solidFill>
              <a:latin typeface="Quattrocento Sans"/>
              <a:ea typeface="Quattrocento Sans"/>
              <a:cs typeface="Quattrocento Sans"/>
            </a:endParaRPr>
          </a:p>
          <a:p>
            <a:endParaRPr lang="en-US" sz="1800" b="1">
              <a:solidFill>
                <a:srgbClr val="FFFF00"/>
              </a:solidFill>
              <a:latin typeface="Quattrocento Sans"/>
              <a:ea typeface="Quattrocento Sans"/>
              <a:cs typeface="Quattrocento Sans"/>
            </a:endParaRPr>
          </a:p>
          <a:p>
            <a:endParaRPr lang="en-US" sz="1800" b="1">
              <a:solidFill>
                <a:srgbClr val="FFFF00"/>
              </a:solidFill>
              <a:latin typeface="Quattrocento Sans"/>
              <a:ea typeface="Quattrocento Sans"/>
              <a:cs typeface="Quattrocento Sans"/>
            </a:endParaRPr>
          </a:p>
        </p:txBody>
      </p:sp>
    </p:spTree>
    <p:extLst>
      <p:ext uri="{BB962C8B-B14F-4D97-AF65-F5344CB8AC3E}">
        <p14:creationId xmlns:p14="http://schemas.microsoft.com/office/powerpoint/2010/main" val="3989675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21" name="Google Shape;121;p11"/>
          <p:cNvSpPr txBox="1"/>
          <p:nvPr/>
        </p:nvSpPr>
        <p:spPr>
          <a:xfrm>
            <a:off x="609600" y="1421654"/>
            <a:ext cx="10890738" cy="47551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- 3PC</a:t>
            </a:r>
            <a:endParaRPr lang="en-US">
              <a:latin typeface="Calibri"/>
            </a:endParaRPr>
          </a:p>
          <a:p>
            <a:pPr marL="0" marR="0" lvl="0" indent="0" algn="l" rtl="0">
              <a:spcBef>
                <a:spcPts val="0"/>
              </a:spcBef>
              <a:spcAft>
                <a:spcPts val="0"/>
              </a:spcAft>
              <a:buNone/>
            </a:pPr>
            <a:r>
              <a:rPr lang="en-GB" sz="1800" u="sng" dirty="0">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https://www.youtube.com/watch?v=dXzF-S9tVrM</a:t>
            </a:r>
            <a:endParaRPr sz="1800">
              <a:solidFill>
                <a:srgbClr val="FFFF00"/>
              </a:solidFill>
              <a:latin typeface="Calibri"/>
              <a:ea typeface="Quattrocento Sans"/>
              <a:cs typeface="Quattrocento Sans"/>
            </a:endParaRPr>
          </a:p>
          <a:p>
            <a:r>
              <a:rPr lang="en-GB" sz="3300" i="1" dirty="0">
                <a:solidFill>
                  <a:srgbClr val="FFFFFF"/>
                </a:solidFill>
                <a:latin typeface="Calibri"/>
                <a:ea typeface="Quattrocento Sans"/>
                <a:cs typeface="Quattrocento Sans"/>
                <a:sym typeface="Quattrocento Sans"/>
              </a:rPr>
              <a:t>Unity Project Scenes – Starter Assets: 3PC, FPC</a:t>
            </a:r>
            <a:endParaRPr sz="180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Has:</a:t>
            </a:r>
            <a:endParaRPr>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r>
              <a:rPr lang="en-GB" sz="1800" err="1">
                <a:solidFill>
                  <a:schemeClr val="dk1"/>
                </a:solidFill>
                <a:latin typeface="Calibri"/>
                <a:ea typeface="Quattrocento Sans"/>
                <a:cs typeface="Quattrocento Sans"/>
                <a:sym typeface="Quattrocento Sans"/>
              </a:rPr>
              <a:t>Navmesh</a:t>
            </a:r>
            <a:r>
              <a:rPr lang="en-GB" sz="1800" dirty="0">
                <a:solidFill>
                  <a:schemeClr val="dk1"/>
                </a:solidFill>
                <a:latin typeface="Calibri"/>
                <a:ea typeface="Quattrocento Sans"/>
                <a:cs typeface="Quattrocento Sans"/>
                <a:sym typeface="Quattrocento Sans"/>
              </a:rPr>
              <a:t> AI (</a:t>
            </a:r>
            <a:r>
              <a:rPr lang="en-GB" sz="1800" err="1">
                <a:solidFill>
                  <a:schemeClr val="dk1"/>
                </a:solidFill>
                <a:latin typeface="Calibri"/>
                <a:ea typeface="Quattrocento Sans"/>
                <a:cs typeface="Quattrocento Sans"/>
                <a:sym typeface="Quattrocento Sans"/>
              </a:rPr>
              <a:t>uneeded</a:t>
            </a:r>
            <a:r>
              <a:rPr lang="en-GB" sz="1800" dirty="0">
                <a:solidFill>
                  <a:schemeClr val="dk1"/>
                </a:solidFill>
                <a:latin typeface="Calibri"/>
                <a:ea typeface="Quattrocento Sans"/>
                <a:cs typeface="Quattrocento Sans"/>
                <a:sym typeface="Quattrocento Sans"/>
              </a:rPr>
              <a:t>)</a:t>
            </a:r>
            <a:endParaRPr>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r>
              <a:rPr lang="en-GB" sz="1800" err="1">
                <a:solidFill>
                  <a:schemeClr val="dk1"/>
                </a:solidFill>
                <a:latin typeface="Calibri"/>
                <a:ea typeface="Quattrocento Sans"/>
                <a:cs typeface="Quattrocento Sans"/>
                <a:sym typeface="Quattrocento Sans"/>
              </a:rPr>
              <a:t>Rigidbody</a:t>
            </a:r>
            <a:endParaRPr sz="180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Capsule Collider</a:t>
            </a:r>
            <a:endParaRPr>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3 Person Control</a:t>
            </a:r>
            <a:endParaRPr>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Character with animator</a:t>
            </a:r>
            <a:endParaRPr sz="180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Must Add Camera:</a:t>
            </a:r>
            <a:endParaRPr>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Adjust view</a:t>
            </a:r>
            <a:endParaRPr>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Parent camera to 3PC</a:t>
            </a:r>
            <a:endParaRPr>
              <a:solidFill>
                <a:schemeClr val="dk1"/>
              </a:solidFill>
              <a:latin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Add colliders around desired scene to limit the navigation:</a:t>
            </a:r>
            <a:endParaRPr>
              <a:latin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	</a:t>
            </a:r>
            <a:r>
              <a:rPr lang="en-GB" sz="1800" dirty="0">
                <a:solidFill>
                  <a:schemeClr val="dk1"/>
                </a:solidFill>
                <a:latin typeface="Calibri"/>
                <a:ea typeface="Quattrocento Sans"/>
                <a:cs typeface="Quattrocento Sans"/>
                <a:sym typeface="Quattrocento Sans"/>
              </a:rPr>
              <a:t>(Setting up Play Area)</a:t>
            </a:r>
            <a:endParaRPr>
              <a:solidFill>
                <a:schemeClr val="dk1"/>
              </a:solidFill>
              <a:latin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	 </a:t>
            </a:r>
            <a:r>
              <a:rPr lang="en-GB" sz="1800" u="sng" dirty="0">
                <a:solidFill>
                  <a:srgbClr val="FFFF00"/>
                </a:solidFill>
                <a:latin typeface="Calibri"/>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https://unity3d.com/learn/tutorials/projects/roll-ball-tutorial/setting-play-area?playlist=17141</a:t>
            </a:r>
            <a:endParaRPr sz="1800">
              <a:solidFill>
                <a:srgbClr val="FFFF00"/>
              </a:solidFill>
              <a:latin typeface="Calibri"/>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35" name="Google Shape;135;p13"/>
          <p:cNvSpPr txBox="1"/>
          <p:nvPr/>
        </p:nvSpPr>
        <p:spPr>
          <a:xfrm>
            <a:off x="609600" y="1421654"/>
            <a:ext cx="10890738" cy="57707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Other Scripts</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endParaRPr sz="3300" i="1" dirty="0">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a:t>
            </a:r>
            <a:endParaRPr sz="3300" i="1" dirty="0">
              <a:solidFill>
                <a:srgbClr val="FFFFFF"/>
              </a:solidFill>
              <a:latin typeface="Calibri"/>
              <a:ea typeface="Quattrocento Sans"/>
              <a:cs typeface="Quattrocento Sans"/>
            </a:endParaRPr>
          </a:p>
          <a:p>
            <a:r>
              <a:rPr lang="en-GB" sz="3300" i="1" err="1">
                <a:solidFill>
                  <a:srgbClr val="FFFFFF"/>
                </a:solidFill>
                <a:latin typeface="Calibri"/>
                <a:ea typeface="Quattrocento Sans"/>
                <a:cs typeface="Quattrocento Sans"/>
                <a:sym typeface="Quattrocento Sans"/>
              </a:rPr>
              <a:t>SmoothFollow</a:t>
            </a:r>
            <a:endParaRPr lang="en-GB" sz="3300" i="1">
              <a:solidFill>
                <a:srgbClr val="FFFFFF"/>
              </a:solidFill>
              <a:latin typeface="Calibri"/>
              <a:ea typeface="Quattrocento Sans"/>
              <a:cs typeface="Quattrocento Sans"/>
              <a:sym typeface="Quattrocento Sans"/>
            </a:endParaRPr>
          </a:p>
          <a:p>
            <a:r>
              <a:rPr lang="en-GB" sz="3300" i="1" dirty="0">
                <a:solidFill>
                  <a:srgbClr val="FFFFFF"/>
                </a:solidFill>
                <a:latin typeface="Calibri"/>
                <a:ea typeface="Quattrocento Sans"/>
                <a:cs typeface="Quattrocento Sans"/>
                <a:sym typeface="Quattrocento Sans"/>
              </a:rPr>
              <a:t>Freelook</a:t>
            </a:r>
            <a:endParaRPr lang="en-GB" sz="3300" i="1" dirty="0">
              <a:solidFill>
                <a:srgbClr val="FFFFFF"/>
              </a:solidFill>
              <a:latin typeface="Calibri"/>
              <a:ea typeface="Quattrocento Sans"/>
              <a:cs typeface="Quattrocento Sans"/>
            </a:endParaRPr>
          </a:p>
          <a:p>
            <a:pPr marL="0" lvl="0" indent="0" algn="l">
              <a:spcBef>
                <a:spcPts val="0"/>
              </a:spcBef>
              <a:spcAft>
                <a:spcPts val="0"/>
              </a:spcAft>
              <a:buNone/>
            </a:pPr>
            <a:r>
              <a:rPr lang="en-GB" sz="3300" i="1" dirty="0">
                <a:solidFill>
                  <a:srgbClr val="FFFFFF"/>
                </a:solidFill>
                <a:latin typeface="Calibri"/>
                <a:ea typeface="Quattrocento Sans"/>
                <a:cs typeface="Quattrocento Sans"/>
                <a:sym typeface="Quattrocento Sans"/>
              </a:rPr>
              <a:t>Waypoint with Mouse Orbit</a:t>
            </a:r>
            <a:endParaRPr sz="3300" i="1" dirty="0">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RTS - Real Time Strategy Camera Controllers</a:t>
            </a:r>
            <a:endParaRPr sz="3300" i="1" dirty="0">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Diorama (follows player in 2.5D)</a:t>
            </a:r>
            <a:endParaRPr sz="3300" i="1" dirty="0">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Camera Switcher</a:t>
            </a:r>
            <a:endParaRPr sz="3300" i="1" dirty="0">
              <a:solidFill>
                <a:srgbClr val="FFFFFF"/>
              </a:solidFill>
              <a:latin typeface="Calibri"/>
              <a:ea typeface="Quattrocento Sans"/>
              <a:cs typeface="Quattrocento Sans"/>
              <a:sym typeface="Quattrocento Sans"/>
            </a:endParaRPr>
          </a:p>
          <a:p>
            <a:pPr marL="0" lvl="0" indent="0" algn="l" rtl="0">
              <a:spcBef>
                <a:spcPts val="0"/>
              </a:spcBef>
              <a:spcAft>
                <a:spcPts val="0"/>
              </a:spcAft>
              <a:buNone/>
            </a:pPr>
            <a:endParaRPr sz="3300" b="1" i="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18dbd6329b5_0_0"/>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dk1"/>
              </a:buClr>
              <a:buSzPts val="3600"/>
              <a:buFont typeface="Quattrocento Sans"/>
              <a:buNone/>
            </a:pPr>
            <a:r>
              <a:rPr lang="en-GB" sz="3600"/>
              <a:t>3D Interactive Media Development</a:t>
            </a:r>
            <a:endParaRPr sz="4000"/>
          </a:p>
        </p:txBody>
      </p:sp>
      <p:sp>
        <p:nvSpPr>
          <p:cNvPr id="303" name="Google Shape;303;g18dbd6329b5_0_0"/>
          <p:cNvSpPr txBox="1"/>
          <p:nvPr/>
        </p:nvSpPr>
        <p:spPr>
          <a:xfrm>
            <a:off x="609600" y="1421654"/>
            <a:ext cx="10890600" cy="5262939"/>
          </a:xfrm>
          <a:prstGeom prst="rect">
            <a:avLst/>
          </a:prstGeom>
          <a:noFill/>
          <a:ln>
            <a:noFill/>
          </a:ln>
        </p:spPr>
        <p:txBody>
          <a:bodyPr spcFirstLastPara="1" wrap="square" lIns="91425" tIns="45700" rIns="91425" bIns="45700" anchor="t" anchorCtr="0">
            <a:spAutoFit/>
          </a:bodyPr>
          <a:lstStyle/>
          <a:p>
            <a:pPr>
              <a:buSzPts val="3600"/>
            </a:pPr>
            <a:r>
              <a:rPr lang="en-GB" sz="3600" i="0" u="none" strike="noStrike" cap="none" dirty="0">
                <a:solidFill>
                  <a:srgbClr val="FFFF00"/>
                </a:solidFill>
                <a:latin typeface="Calibri"/>
                <a:ea typeface="Quattrocento Sans"/>
                <a:cs typeface="Quattrocento Sans"/>
                <a:sym typeface="Quattrocento Sans"/>
              </a:rPr>
              <a:t>Exercise: Unity </a:t>
            </a:r>
            <a:r>
              <a:rPr lang="en-GB" sz="3600" dirty="0" err="1">
                <a:solidFill>
                  <a:srgbClr val="FFFF00"/>
                </a:solidFill>
                <a:latin typeface="Calibri"/>
                <a:ea typeface="Quattrocento Sans"/>
                <a:cs typeface="Quattrocento Sans"/>
                <a:sym typeface="Quattrocento Sans"/>
              </a:rPr>
              <a:t>SmoothFollow</a:t>
            </a:r>
            <a:r>
              <a:rPr lang="en-GB" sz="3600" i="0" u="none" strike="noStrike" cap="none" dirty="0">
                <a:solidFill>
                  <a:srgbClr val="FFFF00"/>
                </a:solidFill>
                <a:latin typeface="Calibri"/>
                <a:ea typeface="Quattrocento Sans"/>
                <a:cs typeface="Quattrocento Sans"/>
                <a:sym typeface="Quattrocento Sans"/>
              </a:rPr>
              <a:t> </a:t>
            </a:r>
            <a:r>
              <a:rPr lang="en-GB" sz="3600" dirty="0">
                <a:solidFill>
                  <a:srgbClr val="FFFF00"/>
                </a:solidFill>
                <a:latin typeface="Calibri"/>
                <a:ea typeface="Quattrocento Sans"/>
                <a:cs typeface="Quattrocento Sans"/>
                <a:sym typeface="Quattrocento Sans"/>
              </a:rPr>
              <a:t>and </a:t>
            </a:r>
            <a:r>
              <a:rPr lang="en-GB" sz="3600" dirty="0" err="1">
                <a:solidFill>
                  <a:srgbClr val="FFFF00"/>
                </a:solidFill>
                <a:latin typeface="Calibri"/>
                <a:ea typeface="Quattrocento Sans"/>
                <a:cs typeface="Quattrocento Sans"/>
                <a:sym typeface="Quattrocento Sans"/>
              </a:rPr>
              <a:t>SmoothDamp</a:t>
            </a:r>
            <a:r>
              <a:rPr lang="en-GB" sz="3600" dirty="0">
                <a:solidFill>
                  <a:srgbClr val="FFFF00"/>
                </a:solidFill>
                <a:latin typeface="Calibri"/>
                <a:ea typeface="Quattrocento Sans"/>
                <a:cs typeface="Quattrocento Sans"/>
                <a:sym typeface="Quattrocento Sans"/>
              </a:rPr>
              <a:t> Camera</a:t>
            </a:r>
            <a:r>
              <a:rPr lang="en-GB" sz="3600" i="0" u="none" strike="noStrike" cap="none" dirty="0">
                <a:solidFill>
                  <a:srgbClr val="FFFF00"/>
                </a:solidFill>
                <a:latin typeface="Calibri"/>
                <a:ea typeface="Quattrocento Sans"/>
                <a:cs typeface="Quattrocento Sans"/>
                <a:sym typeface="Quattrocento Sans"/>
              </a:rPr>
              <a:t> </a:t>
            </a:r>
            <a:br>
              <a:rPr lang="en-GB" sz="3600" i="0" u="none" strike="noStrike" cap="none" dirty="0">
                <a:latin typeface="Calibri"/>
                <a:ea typeface="Quattrocento Sans"/>
                <a:cs typeface="Quattrocento Sans"/>
              </a:rPr>
            </a:br>
            <a:r>
              <a:rPr lang="en-GB" sz="3600" i="0" u="none" strike="noStrike" cap="none" dirty="0">
                <a:solidFill>
                  <a:srgbClr val="FFFF00"/>
                </a:solidFill>
                <a:latin typeface="Calibri"/>
                <a:ea typeface="Quattrocento Sans"/>
                <a:cs typeface="Quattrocento Sans"/>
                <a:sym typeface="Quattrocento Sans"/>
              </a:rPr>
              <a:t>(</a:t>
            </a:r>
            <a:r>
              <a:rPr lang="en-GB" sz="3600" dirty="0">
                <a:solidFill>
                  <a:srgbClr val="FFFF00"/>
                </a:solidFill>
                <a:latin typeface="Calibri"/>
                <a:ea typeface="Quattrocento Sans"/>
                <a:cs typeface="Quattrocento Sans"/>
                <a:sym typeface="Quattrocento Sans"/>
              </a:rPr>
              <a:t>Good for following Player Character from behind</a:t>
            </a:r>
            <a:r>
              <a:rPr lang="en-GB" sz="3600" i="0" u="none" strike="noStrike" cap="none" dirty="0">
                <a:solidFill>
                  <a:srgbClr val="FFFF00"/>
                </a:solidFill>
                <a:latin typeface="Calibri"/>
                <a:ea typeface="Quattrocento Sans"/>
                <a:cs typeface="Quattrocento Sans"/>
                <a:sym typeface="Quattrocento Sans"/>
              </a:rPr>
              <a:t>)</a:t>
            </a:r>
            <a:endParaRPr lang="en-US" sz="1400" i="0" u="none" strike="noStrike" cap="none">
              <a:solidFill>
                <a:srgbClr val="000000"/>
              </a:solidFill>
              <a:latin typeface="Calibri"/>
              <a:ea typeface="Arial"/>
              <a:cs typeface="Arial"/>
            </a:endParaRPr>
          </a:p>
          <a:p>
            <a:pPr marL="0" marR="0" lvl="0" indent="0" algn="l" rtl="0">
              <a:lnSpc>
                <a:spcPct val="100000"/>
              </a:lnSpc>
              <a:spcBef>
                <a:spcPts val="0"/>
              </a:spcBef>
              <a:spcAft>
                <a:spcPts val="0"/>
              </a:spcAft>
              <a:buClr>
                <a:srgbClr val="000000"/>
              </a:buClr>
              <a:buSzPts val="2800"/>
              <a:buFont typeface="Arial"/>
              <a:buNone/>
            </a:pPr>
            <a:r>
              <a:rPr lang="en-GB" sz="2400" u="sng" dirty="0">
                <a:solidFill>
                  <a:schemeClr val="hlink"/>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https://docs.unity3d.com/ScriptReference/Vector3.SmoothDamp.html</a:t>
            </a:r>
            <a:endParaRPr sz="2400">
              <a:solidFill>
                <a:schemeClr val="hlink"/>
              </a:solidFill>
              <a:latin typeface="Calibri"/>
              <a:ea typeface="Quattrocento Sans"/>
              <a:cs typeface="Quattrocento Sans"/>
            </a:endParaRPr>
          </a:p>
          <a:p>
            <a:pPr>
              <a:buSzPts val="2800"/>
            </a:pPr>
            <a:r>
              <a:rPr lang="en-GB" sz="1600" dirty="0">
                <a:solidFill>
                  <a:schemeClr val="hlink"/>
                </a:solidFill>
                <a:latin typeface="Calibri"/>
                <a:ea typeface="Quattrocento Sans"/>
                <a:cs typeface="Quattrocento Sans"/>
              </a:rPr>
              <a:t>New 3D Scene, Add Cube and Plane, Add camera code to camera, use cube as target</a:t>
            </a:r>
            <a:endParaRPr lang="en-GB" sz="2400" u="sng" dirty="0">
              <a:solidFill>
                <a:schemeClr val="hlink"/>
              </a:solidFill>
              <a:latin typeface="Calibri"/>
              <a:ea typeface="Quattrocento Sans"/>
              <a:cs typeface="Quattrocento Sans"/>
            </a:endParaRPr>
          </a:p>
          <a:p>
            <a:r>
              <a:rPr lang="en-GB" sz="1600" dirty="0">
                <a:solidFill>
                  <a:schemeClr val="hlink"/>
                </a:solidFill>
                <a:latin typeface="Calibri"/>
              </a:rPr>
              <a:t>public class </a:t>
            </a:r>
            <a:r>
              <a:rPr lang="en-GB" sz="1600" dirty="0" err="1">
                <a:solidFill>
                  <a:schemeClr val="hlink"/>
                </a:solidFill>
                <a:latin typeface="Calibri"/>
              </a:rPr>
              <a:t>EcameraSmoothFollow</a:t>
            </a:r>
            <a:r>
              <a:rPr lang="en-GB" sz="1600" dirty="0">
                <a:solidFill>
                  <a:schemeClr val="hlink"/>
                </a:solidFill>
                <a:latin typeface="Calibri"/>
              </a:rPr>
              <a:t> : </a:t>
            </a:r>
            <a:r>
              <a:rPr lang="en-GB" sz="1600" dirty="0" err="1">
                <a:solidFill>
                  <a:schemeClr val="hlink"/>
                </a:solidFill>
                <a:latin typeface="Calibri"/>
              </a:rPr>
              <a:t>MonoBehaviour</a:t>
            </a:r>
            <a:endParaRPr lang="en-GB" sz="1600" dirty="0">
              <a:solidFill>
                <a:schemeClr val="hlink"/>
              </a:solidFill>
              <a:latin typeface="Calibri"/>
            </a:endParaRPr>
          </a:p>
          <a:p>
            <a:r>
              <a:rPr lang="en-GB" sz="1600" dirty="0">
                <a:solidFill>
                  <a:schemeClr val="hlink"/>
                </a:solidFill>
                <a:latin typeface="Calibri"/>
              </a:rPr>
              <a:t>{</a:t>
            </a:r>
          </a:p>
          <a:p>
            <a:r>
              <a:rPr lang="en-GB" sz="1600" dirty="0">
                <a:solidFill>
                  <a:schemeClr val="hlink"/>
                </a:solidFill>
                <a:latin typeface="Calibri"/>
              </a:rPr>
              <a:t>    public Transform target;</a:t>
            </a:r>
          </a:p>
          <a:p>
            <a:r>
              <a:rPr lang="en-GB" sz="1600" dirty="0">
                <a:solidFill>
                  <a:schemeClr val="hlink"/>
                </a:solidFill>
                <a:latin typeface="Calibri"/>
              </a:rPr>
              <a:t>    public float </a:t>
            </a:r>
            <a:r>
              <a:rPr lang="en-GB" sz="1600" err="1">
                <a:solidFill>
                  <a:schemeClr val="hlink"/>
                </a:solidFill>
                <a:latin typeface="Calibri"/>
              </a:rPr>
              <a:t>smoothTime</a:t>
            </a:r>
            <a:r>
              <a:rPr lang="en-GB" sz="1600" dirty="0">
                <a:solidFill>
                  <a:schemeClr val="hlink"/>
                </a:solidFill>
                <a:latin typeface="Calibri"/>
              </a:rPr>
              <a:t> = 0.3F;</a:t>
            </a:r>
          </a:p>
          <a:p>
            <a:r>
              <a:rPr lang="en-GB" sz="1600" dirty="0">
                <a:solidFill>
                  <a:schemeClr val="hlink"/>
                </a:solidFill>
                <a:latin typeface="Calibri"/>
              </a:rPr>
              <a:t>    private Vector3 velocity = Vector3.zero;</a:t>
            </a:r>
          </a:p>
          <a:p>
            <a:r>
              <a:rPr lang="en-GB" sz="1600" dirty="0">
                <a:solidFill>
                  <a:schemeClr val="hlink"/>
                </a:solidFill>
                <a:latin typeface="Calibri"/>
              </a:rPr>
              <a:t>    void Update()</a:t>
            </a:r>
          </a:p>
          <a:p>
            <a:r>
              <a:rPr lang="en-GB" sz="1600" dirty="0">
                <a:solidFill>
                  <a:schemeClr val="hlink"/>
                </a:solidFill>
                <a:latin typeface="Calibri"/>
              </a:rPr>
              <a:t>    {</a:t>
            </a:r>
          </a:p>
          <a:p>
            <a:r>
              <a:rPr lang="en-GB" sz="1600" dirty="0">
                <a:solidFill>
                  <a:schemeClr val="hlink"/>
                </a:solidFill>
                <a:latin typeface="Calibri"/>
              </a:rPr>
              <a:t>        // Define a target position above and behind the target transform</a:t>
            </a:r>
          </a:p>
          <a:p>
            <a:r>
              <a:rPr lang="en-GB" sz="1600" dirty="0">
                <a:solidFill>
                  <a:schemeClr val="hlink"/>
                </a:solidFill>
                <a:latin typeface="Calibri"/>
              </a:rPr>
              <a:t>        Vector3 </a:t>
            </a:r>
            <a:r>
              <a:rPr lang="en-GB" sz="1600" err="1">
                <a:solidFill>
                  <a:schemeClr val="hlink"/>
                </a:solidFill>
                <a:latin typeface="Calibri"/>
              </a:rPr>
              <a:t>targetPosition</a:t>
            </a:r>
            <a:r>
              <a:rPr lang="en-GB" sz="1600" dirty="0">
                <a:solidFill>
                  <a:schemeClr val="hlink"/>
                </a:solidFill>
                <a:latin typeface="Calibri"/>
              </a:rPr>
              <a:t> = </a:t>
            </a:r>
            <a:r>
              <a:rPr lang="en-GB" sz="1600" err="1">
                <a:solidFill>
                  <a:schemeClr val="hlink"/>
                </a:solidFill>
                <a:latin typeface="Calibri"/>
              </a:rPr>
              <a:t>target.TransformPoint</a:t>
            </a:r>
            <a:r>
              <a:rPr lang="en-GB" sz="1600" dirty="0">
                <a:solidFill>
                  <a:schemeClr val="hlink"/>
                </a:solidFill>
                <a:latin typeface="Calibri"/>
              </a:rPr>
              <a:t>(new Vector3(0, 1, -10));</a:t>
            </a:r>
          </a:p>
          <a:p>
            <a:endParaRPr lang="en-GB" sz="1600" dirty="0">
              <a:latin typeface="Calibri"/>
            </a:endParaRPr>
          </a:p>
          <a:p>
            <a:r>
              <a:rPr lang="en-GB" sz="1600" dirty="0">
                <a:solidFill>
                  <a:schemeClr val="hlink"/>
                </a:solidFill>
                <a:latin typeface="Calibri"/>
              </a:rPr>
              <a:t>        // Smoothly move the camera towards that target position</a:t>
            </a:r>
          </a:p>
          <a:p>
            <a:r>
              <a:rPr lang="en-GB" sz="1600" dirty="0">
                <a:solidFill>
                  <a:schemeClr val="hlink"/>
                </a:solidFill>
                <a:latin typeface="Calibri"/>
              </a:rPr>
              <a:t>        </a:t>
            </a:r>
            <a:r>
              <a:rPr lang="en-GB" sz="1600" err="1">
                <a:solidFill>
                  <a:schemeClr val="hlink"/>
                </a:solidFill>
                <a:latin typeface="Calibri"/>
              </a:rPr>
              <a:t>transform.position</a:t>
            </a:r>
            <a:r>
              <a:rPr lang="en-GB" sz="1600" dirty="0">
                <a:solidFill>
                  <a:schemeClr val="hlink"/>
                </a:solidFill>
                <a:latin typeface="Calibri"/>
              </a:rPr>
              <a:t> = Vector3.SmoothDamp(</a:t>
            </a:r>
            <a:r>
              <a:rPr lang="en-GB" sz="1600" err="1">
                <a:solidFill>
                  <a:schemeClr val="hlink"/>
                </a:solidFill>
                <a:latin typeface="Calibri"/>
              </a:rPr>
              <a:t>transform.position</a:t>
            </a:r>
            <a:r>
              <a:rPr lang="en-GB" sz="1600" dirty="0">
                <a:solidFill>
                  <a:schemeClr val="hlink"/>
                </a:solidFill>
                <a:latin typeface="Calibri"/>
              </a:rPr>
              <a:t>, </a:t>
            </a:r>
            <a:r>
              <a:rPr lang="en-GB" sz="1600" err="1">
                <a:solidFill>
                  <a:schemeClr val="hlink"/>
                </a:solidFill>
                <a:latin typeface="Calibri"/>
              </a:rPr>
              <a:t>targetPosition</a:t>
            </a:r>
            <a:r>
              <a:rPr lang="en-GB" sz="1600" dirty="0">
                <a:solidFill>
                  <a:schemeClr val="hlink"/>
                </a:solidFill>
                <a:latin typeface="Calibri"/>
              </a:rPr>
              <a:t>, ref velocity, </a:t>
            </a:r>
            <a:r>
              <a:rPr lang="en-GB" sz="1600" err="1">
                <a:solidFill>
                  <a:schemeClr val="hlink"/>
                </a:solidFill>
                <a:latin typeface="Calibri"/>
              </a:rPr>
              <a:t>smoothTime</a:t>
            </a:r>
            <a:r>
              <a:rPr lang="en-GB" sz="1600" dirty="0">
                <a:solidFill>
                  <a:schemeClr val="hlink"/>
                </a:solidFill>
                <a:latin typeface="Calibri"/>
              </a:rPr>
              <a:t>);</a:t>
            </a:r>
          </a:p>
          <a:p>
            <a:r>
              <a:rPr lang="en-GB" sz="1600" dirty="0">
                <a:solidFill>
                  <a:schemeClr val="hlink"/>
                </a:solidFill>
                <a:latin typeface="Calibri"/>
              </a:rPr>
              <a:t>    }</a:t>
            </a:r>
          </a:p>
          <a:p>
            <a:r>
              <a:rPr lang="en-GB" sz="1600" dirty="0">
                <a:solidFill>
                  <a:schemeClr val="hlink"/>
                </a:solidFill>
                <a:latin typeface="Calibri"/>
              </a:rPr>
              <a:t>}</a:t>
            </a:r>
          </a:p>
        </p:txBody>
      </p:sp>
    </p:spTree>
    <p:extLst>
      <p:ext uri="{BB962C8B-B14F-4D97-AF65-F5344CB8AC3E}">
        <p14:creationId xmlns:p14="http://schemas.microsoft.com/office/powerpoint/2010/main" val="742868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79" name="Google Shape;79;p5"/>
          <p:cNvSpPr txBox="1"/>
          <p:nvPr/>
        </p:nvSpPr>
        <p:spPr>
          <a:xfrm>
            <a:off x="609600" y="1421650"/>
            <a:ext cx="11451000" cy="57092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a:solidFill>
                  <a:srgbClr val="FFFF00"/>
                </a:solidFill>
                <a:latin typeface="Calibri"/>
                <a:ea typeface="Quattrocento Sans"/>
                <a:cs typeface="Quattrocento Sans"/>
                <a:sym typeface="Quattrocento Sans"/>
              </a:rPr>
              <a:t>Unity Camera Prefabs – </a:t>
            </a:r>
            <a:r>
              <a:rPr lang="en-GB" sz="3600" err="1">
                <a:solidFill>
                  <a:srgbClr val="FFFF00"/>
                </a:solidFill>
                <a:latin typeface="Calibri"/>
                <a:ea typeface="Quattrocento Sans"/>
                <a:cs typeface="Quattrocento Sans"/>
                <a:sym typeface="Quattrocento Sans"/>
              </a:rPr>
              <a:t>FreeLook</a:t>
            </a:r>
            <a:r>
              <a:rPr lang="en-GB" sz="3600">
                <a:solidFill>
                  <a:srgbClr val="FFFF00"/>
                </a:solidFill>
                <a:latin typeface="Calibri"/>
                <a:ea typeface="Quattrocento Sans"/>
                <a:cs typeface="Quattrocento Sans"/>
                <a:sym typeface="Quattrocento Sans"/>
              </a:rPr>
              <a:t> (Similar to </a:t>
            </a:r>
            <a:r>
              <a:rPr lang="en-GB" sz="3600" err="1">
                <a:solidFill>
                  <a:srgbClr val="FFFF00"/>
                </a:solidFill>
                <a:latin typeface="Calibri"/>
                <a:ea typeface="Quattrocento Sans"/>
                <a:cs typeface="Quattrocento Sans"/>
                <a:sym typeface="Quattrocento Sans"/>
              </a:rPr>
              <a:t>Whitevoid</a:t>
            </a:r>
            <a:r>
              <a:rPr lang="en-GB" sz="3600">
                <a:solidFill>
                  <a:srgbClr val="FFFF00"/>
                </a:solidFill>
                <a:latin typeface="Calibri"/>
                <a:ea typeface="Quattrocento Sans"/>
                <a:cs typeface="Quattrocento Sans"/>
                <a:sym typeface="Quattrocento Sans"/>
              </a:rPr>
              <a:t>)</a:t>
            </a:r>
            <a:endParaRPr lang="en-US">
              <a:latin typeface="Calibri"/>
            </a:endParaRPr>
          </a:p>
          <a:p>
            <a:pPr marL="0" marR="0" lvl="0" indent="0" algn="l" rtl="0">
              <a:spcBef>
                <a:spcPts val="0"/>
              </a:spcBef>
              <a:spcAft>
                <a:spcPts val="0"/>
              </a:spcAft>
              <a:buNone/>
            </a:pPr>
            <a:r>
              <a:rPr lang="en-GB" sz="1800" u="sng">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http://www.whitevoid.com/#/main</a:t>
            </a:r>
            <a:endParaRPr sz="1800">
              <a:solidFill>
                <a:srgbClr val="FFFF00"/>
              </a:solidFill>
              <a:latin typeface="Calibri"/>
              <a:ea typeface="Quattrocento Sans"/>
              <a:cs typeface="Quattrocento Sans"/>
            </a:endParaRPr>
          </a:p>
          <a:p>
            <a:pPr marL="0" lvl="0" indent="0" algn="l" rtl="0">
              <a:spcBef>
                <a:spcPts val="0"/>
              </a:spcBef>
              <a:spcAft>
                <a:spcPts val="0"/>
              </a:spcAft>
              <a:buNone/>
            </a:pPr>
            <a:r>
              <a:rPr lang="en-GB" sz="3300" i="1">
                <a:solidFill>
                  <a:srgbClr val="FFFFFF"/>
                </a:solidFill>
                <a:latin typeface="Calibri"/>
                <a:ea typeface="Quattrocento Sans"/>
                <a:cs typeface="Quattrocento Sans"/>
                <a:sym typeface="Quattrocento Sans"/>
              </a:rPr>
              <a:t>Unity Project Scenes - Starter Assets: 3PC, FPC, </a:t>
            </a:r>
            <a:r>
              <a:rPr lang="en-GB" sz="3300" i="1" err="1">
                <a:solidFill>
                  <a:srgbClr val="FFFFFF"/>
                </a:solidFill>
                <a:latin typeface="Calibri"/>
                <a:ea typeface="Quattrocento Sans"/>
                <a:cs typeface="Quattrocento Sans"/>
                <a:sym typeface="Quattrocento Sans"/>
              </a:rPr>
              <a:t>FreeLook</a:t>
            </a:r>
            <a:endParaRPr sz="1800">
              <a:solidFill>
                <a:srgbClr val="FFFF00"/>
              </a:solidFill>
              <a:latin typeface="Calibri"/>
              <a:ea typeface="Quattrocento Sans"/>
              <a:cs typeface="Quattrocento Sans"/>
            </a:endParaRPr>
          </a:p>
          <a:p>
            <a:pPr marL="0" marR="0" lvl="0" indent="0" algn="l" rtl="0">
              <a:spcBef>
                <a:spcPts val="0"/>
              </a:spcBef>
              <a:spcAft>
                <a:spcPts val="0"/>
              </a:spcAft>
              <a:buNone/>
            </a:pPr>
            <a:endParaRPr>
              <a:latin typeface="Calibri"/>
            </a:endParaRPr>
          </a:p>
          <a:p>
            <a:pPr marL="0" marR="0" lvl="0" indent="0" algn="l" rtl="0">
              <a:spcBef>
                <a:spcPts val="0"/>
              </a:spcBef>
              <a:spcAft>
                <a:spcPts val="0"/>
              </a:spcAft>
              <a:buNone/>
            </a:pPr>
            <a:endParaRPr sz="2400">
              <a:solidFill>
                <a:schemeClr val="dk1"/>
              </a:solidFill>
              <a:latin typeface="Calibri"/>
              <a:ea typeface="Quattrocento Sans"/>
              <a:cs typeface="Quattrocento Sans"/>
            </a:endParaRPr>
          </a:p>
          <a:p>
            <a:pPr marL="0" marR="0" lvl="0" indent="0" algn="l" rtl="0">
              <a:spcBef>
                <a:spcPts val="0"/>
              </a:spcBef>
              <a:spcAft>
                <a:spcPts val="0"/>
              </a:spcAft>
              <a:buNone/>
            </a:pPr>
            <a:r>
              <a:rPr lang="en-GB" sz="2400">
                <a:solidFill>
                  <a:srgbClr val="FFFF00"/>
                </a:solidFill>
                <a:latin typeface="Calibri"/>
                <a:ea typeface="Quattrocento Sans"/>
                <a:cs typeface="Quattrocento Sans"/>
                <a:sym typeface="Quattrocento Sans"/>
              </a:rPr>
              <a:t>In Project window go to:</a:t>
            </a:r>
            <a:endParaRPr>
              <a:latin typeface="Calibri"/>
            </a:endParaRPr>
          </a:p>
          <a:p>
            <a:pPr marL="0" marR="0" lvl="0" indent="0" algn="l" rtl="0">
              <a:spcBef>
                <a:spcPts val="0"/>
              </a:spcBef>
              <a:spcAft>
                <a:spcPts val="0"/>
              </a:spcAft>
              <a:buNone/>
            </a:pPr>
            <a:r>
              <a:rPr lang="en-GB" sz="2400">
                <a:solidFill>
                  <a:schemeClr val="dk1"/>
                </a:solidFill>
                <a:latin typeface="Calibri"/>
                <a:ea typeface="Quattrocento Sans"/>
                <a:cs typeface="Quattrocento Sans"/>
                <a:sym typeface="Quattrocento Sans"/>
              </a:rPr>
              <a:t>Standard Assets/Cameras/Prefabs/</a:t>
            </a:r>
            <a:r>
              <a:rPr lang="en-GB" sz="2400" err="1">
                <a:solidFill>
                  <a:schemeClr val="dk1"/>
                </a:solidFill>
                <a:latin typeface="Calibri"/>
                <a:ea typeface="Quattrocento Sans"/>
                <a:cs typeface="Quattrocento Sans"/>
                <a:sym typeface="Quattrocento Sans"/>
              </a:rPr>
              <a:t>FreeLookCameraRig</a:t>
            </a:r>
            <a:endParaRPr sz="2400">
              <a:solidFill>
                <a:schemeClr val="dk1"/>
              </a:solidFill>
              <a:latin typeface="Calibri"/>
              <a:ea typeface="Quattrocento Sans"/>
              <a:cs typeface="Quattrocento Sans"/>
            </a:endParaRPr>
          </a:p>
          <a:p>
            <a:pPr marL="0" marR="0" lvl="0" indent="0" algn="l" rtl="0">
              <a:spcBef>
                <a:spcPts val="0"/>
              </a:spcBef>
              <a:spcAft>
                <a:spcPts val="0"/>
              </a:spcAft>
              <a:buNone/>
            </a:pPr>
            <a:endParaRPr sz="2400">
              <a:solidFill>
                <a:schemeClr val="dk1"/>
              </a:solidFill>
              <a:latin typeface="Calibri"/>
              <a:ea typeface="Quattrocento Sans"/>
              <a:cs typeface="Quattrocento Sans"/>
            </a:endParaRPr>
          </a:p>
          <a:p>
            <a:pPr marL="0" marR="0" lvl="0" indent="0" algn="l" rtl="0">
              <a:spcBef>
                <a:spcPts val="0"/>
              </a:spcBef>
              <a:spcAft>
                <a:spcPts val="0"/>
              </a:spcAft>
              <a:buNone/>
            </a:pPr>
            <a:r>
              <a:rPr lang="en-GB" sz="2400">
                <a:solidFill>
                  <a:srgbClr val="FFFF00"/>
                </a:solidFill>
                <a:latin typeface="Calibri"/>
                <a:ea typeface="Quattrocento Sans"/>
                <a:cs typeface="Quattrocento Sans"/>
                <a:sym typeface="Quattrocento Sans"/>
              </a:rPr>
              <a:t>Drag into hierarchy</a:t>
            </a:r>
            <a:endParaRPr>
              <a:latin typeface="Calibri"/>
            </a:endParaRPr>
          </a:p>
          <a:p>
            <a:pPr marL="0" marR="0" lvl="0" indent="0" algn="l" rtl="0">
              <a:spcBef>
                <a:spcPts val="0"/>
              </a:spcBef>
              <a:spcAft>
                <a:spcPts val="0"/>
              </a:spcAft>
              <a:buNone/>
            </a:pPr>
            <a:r>
              <a:rPr lang="en-GB" sz="2400">
                <a:solidFill>
                  <a:srgbClr val="FFFF00"/>
                </a:solidFill>
                <a:latin typeface="Calibri"/>
                <a:ea typeface="Quattrocento Sans"/>
                <a:cs typeface="Quattrocento Sans"/>
                <a:sym typeface="Quattrocento Sans"/>
              </a:rPr>
              <a:t>Create </a:t>
            </a:r>
            <a:r>
              <a:rPr lang="en-GB" sz="2400" err="1">
                <a:solidFill>
                  <a:srgbClr val="FFFF00"/>
                </a:solidFill>
                <a:latin typeface="Calibri"/>
                <a:ea typeface="Quattrocento Sans"/>
                <a:cs typeface="Quattrocento Sans"/>
                <a:sym typeface="Quattrocento Sans"/>
              </a:rPr>
              <a:t>GameObject</a:t>
            </a:r>
            <a:r>
              <a:rPr lang="en-GB" sz="2400">
                <a:solidFill>
                  <a:srgbClr val="FFFF00"/>
                </a:solidFill>
                <a:latin typeface="Calibri"/>
                <a:ea typeface="Quattrocento Sans"/>
                <a:cs typeface="Quattrocento Sans"/>
                <a:sym typeface="Quattrocento Sans"/>
              </a:rPr>
              <a:t>/3D Object/Cube/</a:t>
            </a:r>
            <a:endParaRPr>
              <a:latin typeface="Calibri"/>
            </a:endParaRPr>
          </a:p>
          <a:p>
            <a:pPr marL="0" marR="0" lvl="0" indent="0" algn="l" rtl="0">
              <a:spcBef>
                <a:spcPts val="0"/>
              </a:spcBef>
              <a:spcAft>
                <a:spcPts val="0"/>
              </a:spcAft>
              <a:buNone/>
            </a:pPr>
            <a:r>
              <a:rPr lang="en-GB" sz="2400">
                <a:solidFill>
                  <a:srgbClr val="FFFF00"/>
                </a:solidFill>
                <a:latin typeface="Calibri"/>
                <a:ea typeface="Quattrocento Sans"/>
                <a:cs typeface="Quattrocento Sans"/>
                <a:sym typeface="Quattrocento Sans"/>
              </a:rPr>
              <a:t>Tag as Player</a:t>
            </a:r>
            <a:endParaRPr>
              <a:latin typeface="Calibri"/>
            </a:endParaRPr>
          </a:p>
          <a:p>
            <a:pPr marL="0" marR="0" lvl="0" indent="0" algn="l" rtl="0">
              <a:spcBef>
                <a:spcPts val="0"/>
              </a:spcBef>
              <a:spcAft>
                <a:spcPts val="0"/>
              </a:spcAft>
              <a:buNone/>
            </a:pPr>
            <a:r>
              <a:rPr lang="en-GB" sz="2400">
                <a:solidFill>
                  <a:srgbClr val="FFFF00"/>
                </a:solidFill>
                <a:latin typeface="Calibri"/>
                <a:ea typeface="Quattrocento Sans"/>
                <a:cs typeface="Quattrocento Sans"/>
                <a:sym typeface="Quattrocento Sans"/>
              </a:rPr>
              <a:t>Delete Main Camera</a:t>
            </a:r>
            <a:endParaRPr sz="1800">
              <a:solidFill>
                <a:srgbClr val="FFFF00"/>
              </a:solidFill>
              <a:latin typeface="Calibri"/>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p:txBody>
      </p:sp>
      <p:pic>
        <p:nvPicPr>
          <p:cNvPr id="2" name="Picture 1" descr="A screenshot of a computer&#10;&#10;Description automatically generated">
            <a:extLst>
              <a:ext uri="{FF2B5EF4-FFF2-40B4-BE49-F238E27FC236}">
                <a16:creationId xmlns:a16="http://schemas.microsoft.com/office/drawing/2014/main" id="{34D3365C-0F60-5909-D10B-F4C96C1E489A}"/>
              </a:ext>
            </a:extLst>
          </p:cNvPr>
          <p:cNvPicPr>
            <a:picLocks noChangeAspect="1"/>
          </p:cNvPicPr>
          <p:nvPr/>
        </p:nvPicPr>
        <p:blipFill>
          <a:blip r:embed="rId4"/>
          <a:stretch>
            <a:fillRect/>
          </a:stretch>
        </p:blipFill>
        <p:spPr>
          <a:xfrm>
            <a:off x="7865076" y="3126737"/>
            <a:ext cx="3721442" cy="24580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86" name="Google Shape;86;p6"/>
          <p:cNvSpPr txBox="1"/>
          <p:nvPr/>
        </p:nvSpPr>
        <p:spPr>
          <a:xfrm>
            <a:off x="609600" y="1421650"/>
            <a:ext cx="11583074" cy="5032106"/>
          </a:xfrm>
          <a:prstGeom prst="rect">
            <a:avLst/>
          </a:prstGeom>
          <a:noFill/>
          <a:ln>
            <a:noFill/>
          </a:ln>
        </p:spPr>
        <p:txBody>
          <a:bodyPr spcFirstLastPara="1" wrap="square" lIns="91425" tIns="45700" rIns="91425" bIns="45700" anchor="t" anchorCtr="0">
            <a:spAutoFit/>
          </a:bodyPr>
          <a:lstStyle/>
          <a:p>
            <a:r>
              <a:rPr lang="en-GB" sz="3600" dirty="0">
                <a:solidFill>
                  <a:srgbClr val="FFFF00"/>
                </a:solidFill>
                <a:latin typeface="Calibri"/>
                <a:ea typeface="Quattrocento Sans"/>
                <a:cs typeface="Quattrocento Sans"/>
                <a:sym typeface="Quattrocento Sans"/>
              </a:rPr>
              <a:t>Unity Camera Prefabs – </a:t>
            </a:r>
            <a:r>
              <a:rPr lang="en-GB" sz="3600" dirty="0" err="1">
                <a:solidFill>
                  <a:srgbClr val="FFFF00"/>
                </a:solidFill>
                <a:latin typeface="Calibri"/>
                <a:ea typeface="Quattrocento Sans"/>
                <a:cs typeface="Quattrocento Sans"/>
                <a:sym typeface="Quattrocento Sans"/>
              </a:rPr>
              <a:t>FreeLook</a:t>
            </a:r>
            <a:r>
              <a:rPr lang="en-GB" sz="3600" dirty="0">
                <a:solidFill>
                  <a:srgbClr val="FFFF00"/>
                </a:solidFill>
                <a:latin typeface="Calibri"/>
                <a:ea typeface="Quattrocento Sans"/>
                <a:cs typeface="Quattrocento Sans"/>
                <a:sym typeface="Quattrocento Sans"/>
              </a:rPr>
              <a:t> (Like Web mouse rotation)</a:t>
            </a:r>
            <a:endParaRPr lang="en-US" dirty="0">
              <a:latin typeface="Calibri"/>
            </a:endParaRPr>
          </a:p>
          <a:p>
            <a:pPr marL="0" marR="0" lvl="0" indent="0" algn="l" rtl="0">
              <a:spcBef>
                <a:spcPts val="0"/>
              </a:spcBef>
              <a:spcAft>
                <a:spcPts val="0"/>
              </a:spcAft>
              <a:buNone/>
            </a:pPr>
            <a:endParaRPr lang="en-GB" sz="1800" u="sng" dirty="0">
              <a:solidFill>
                <a:srgbClr val="FFFF00"/>
              </a:solidFill>
              <a:latin typeface="Calibri"/>
              <a:ea typeface="Quattrocento Sans"/>
              <a:cs typeface="Quattrocento Sans"/>
            </a:endParaRPr>
          </a:p>
          <a:p>
            <a:r>
              <a:rPr lang="en-GB" sz="3300" i="1" dirty="0">
                <a:solidFill>
                  <a:srgbClr val="FFFFFF"/>
                </a:solidFill>
                <a:latin typeface="Calibri"/>
                <a:ea typeface="Quattrocento Sans"/>
                <a:cs typeface="Quattrocento Sans"/>
                <a:sym typeface="Quattrocento Sans"/>
              </a:rPr>
              <a:t>Unity Project Scenes – Starter/Standard Assets: 3PC, FPC, </a:t>
            </a:r>
            <a:r>
              <a:rPr lang="en-GB" sz="3300" i="1" dirty="0" err="1">
                <a:solidFill>
                  <a:srgbClr val="FFFFFF"/>
                </a:solidFill>
                <a:latin typeface="Calibri"/>
                <a:ea typeface="Quattrocento Sans"/>
                <a:cs typeface="Quattrocento Sans"/>
                <a:sym typeface="Quattrocento Sans"/>
              </a:rPr>
              <a:t>FreeLook</a:t>
            </a:r>
            <a:endParaRPr sz="1800" dirty="0">
              <a:solidFill>
                <a:srgbClr val="FFFF00"/>
              </a:solidFill>
              <a:latin typeface="Calibri"/>
              <a:ea typeface="Quattrocento Sans"/>
              <a:cs typeface="Quattrocento Sans"/>
            </a:endParaRPr>
          </a:p>
          <a:p>
            <a:r>
              <a:rPr lang="en-GB" sz="1800" dirty="0">
                <a:solidFill>
                  <a:schemeClr val="dk1"/>
                </a:solidFill>
                <a:latin typeface="Calibri"/>
                <a:ea typeface="Quattrocento Sans"/>
                <a:cs typeface="Quattrocento Sans"/>
                <a:sym typeface="Quattrocento Sans"/>
              </a:rPr>
              <a:t>The "Free Look" camera is designed to follow a target's position, while allowing the user to rotate the angle of the camera with the mouse (or a touch gesture). With the "Free Look" camera, the rig is designed so the root object of the rig should always look towards the target's position. The camera offset is specified by the height (the Y value) of the "Pivot" object, and the forward offset of the final "Camera" object. The camera lerps to the view position.</a:t>
            </a:r>
            <a:endParaRPr>
              <a:solidFill>
                <a:schemeClr val="dk1"/>
              </a:solidFill>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 typical set up for this would be to have the Y positional value of the Pivot set to 2 (for 2 meters above the target), and the Z positional value of the Camera set to -6 (for 6 meters behind the pivot).</a:t>
            </a:r>
            <a:endParaRPr>
              <a:solidFill>
                <a:schemeClr val="dk1"/>
              </a:solidFill>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r>
              <a:rPr lang="en-GB" sz="1800" dirty="0">
                <a:solidFill>
                  <a:schemeClr val="dk1"/>
                </a:solidFill>
                <a:latin typeface="Calibri"/>
                <a:ea typeface="Quattrocento Sans"/>
                <a:cs typeface="Quattrocento Sans"/>
                <a:sym typeface="Quattrocento Sans"/>
              </a:rPr>
              <a:t>If you wanted to adjust the camera to be to one side of the target (</a:t>
            </a:r>
            <a:r>
              <a:rPr lang="en-GB" sz="1800" err="1">
                <a:solidFill>
                  <a:schemeClr val="dk1"/>
                </a:solidFill>
                <a:latin typeface="Calibri"/>
                <a:ea typeface="Quattrocento Sans"/>
                <a:cs typeface="Quattrocento Sans"/>
                <a:sym typeface="Quattrocento Sans"/>
              </a:rPr>
              <a:t>eg</a:t>
            </a:r>
            <a:r>
              <a:rPr lang="en-GB" sz="1800" dirty="0">
                <a:solidFill>
                  <a:schemeClr val="dk1"/>
                </a:solidFill>
                <a:latin typeface="Calibri"/>
                <a:ea typeface="Quattrocento Sans"/>
                <a:cs typeface="Quattrocento Sans"/>
                <a:sym typeface="Quattrocento Sans"/>
              </a:rPr>
              <a:t>, for a closer over-shoulder third person view), you should adjust the X position value of the Pivot object. </a:t>
            </a:r>
            <a:endParaRPr sz="1800" dirty="0">
              <a:solidFill>
                <a:schemeClr val="dk1"/>
              </a:solidFill>
              <a:latin typeface="Calibri"/>
              <a:ea typeface="Quattrocento Sans"/>
              <a:cs typeface="Quattrocento Sans"/>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Camera Rig&lt;- position will move towards target.</a:t>
            </a:r>
            <a:endParaRPr>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Pivot&lt;- adjust Y position for height, X position for horizontal offset</a:t>
            </a:r>
            <a:endParaRPr>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Camera&lt;- adjust Z position for distance away from target</a:t>
            </a:r>
            <a:endParaRPr dirty="0">
              <a:solidFill>
                <a:schemeClr val="dk1"/>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gacd2680354_0_7"/>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42" name="Google Shape;142;gacd2680354_0_7"/>
          <p:cNvSpPr txBox="1"/>
          <p:nvPr/>
        </p:nvSpPr>
        <p:spPr>
          <a:xfrm>
            <a:off x="609600" y="1421650"/>
            <a:ext cx="11483400" cy="242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Waypoint and </a:t>
            </a:r>
            <a:r>
              <a:rPr lang="en-GB" sz="3600" dirty="0" err="1">
                <a:solidFill>
                  <a:srgbClr val="FFFF00"/>
                </a:solidFill>
                <a:latin typeface="Calibri"/>
                <a:ea typeface="Quattrocento Sans"/>
                <a:cs typeface="Quattrocento Sans"/>
                <a:sym typeface="Quattrocento Sans"/>
              </a:rPr>
              <a:t>MouseOrbit</a:t>
            </a:r>
            <a:endParaRPr lang="en-US" sz="3600" dirty="0">
              <a:solidFill>
                <a:srgbClr val="FFFF00"/>
              </a:solidFill>
              <a:latin typeface="Calibri"/>
              <a:ea typeface="Quattrocento Sans"/>
              <a:cs typeface="Quattrocento Sans"/>
            </a:endParaRPr>
          </a:p>
          <a:p>
            <a:pPr marL="0" marR="0" lvl="0" indent="0" algn="l" rtl="0">
              <a:spcBef>
                <a:spcPts val="0"/>
              </a:spcBef>
              <a:spcAft>
                <a:spcPts val="0"/>
              </a:spcAft>
              <a:buNone/>
            </a:pPr>
            <a:endParaRPr sz="3300" dirty="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a:t>
            </a:r>
            <a:endParaRPr sz="3300" i="1">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Waypoint with Mouse Orbit</a:t>
            </a:r>
            <a:endParaRPr sz="3300" b="1" i="1" dirty="0">
              <a:solidFill>
                <a:srgbClr val="FFFFFF"/>
              </a:solidFill>
              <a:latin typeface="Calibri"/>
              <a:ea typeface="Quattrocento Sans"/>
              <a:cs typeface="Quattrocento Sans"/>
            </a:endParaRPr>
          </a:p>
          <a:p>
            <a:pPr marL="0" lvl="0" indent="0" algn="l" rtl="0">
              <a:spcBef>
                <a:spcPts val="0"/>
              </a:spcBef>
              <a:spcAft>
                <a:spcPts val="0"/>
              </a:spcAft>
              <a:buNone/>
            </a:pPr>
            <a:endParaRPr sz="3300" b="1" i="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49" name="Google Shape;149;p14"/>
          <p:cNvSpPr txBox="1"/>
          <p:nvPr/>
        </p:nvSpPr>
        <p:spPr>
          <a:xfrm>
            <a:off x="609600" y="1421650"/>
            <a:ext cx="11687400" cy="44319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Waypoint and </a:t>
            </a:r>
            <a:r>
              <a:rPr lang="en-GB" sz="3600" dirty="0" err="1">
                <a:solidFill>
                  <a:srgbClr val="FFFF00"/>
                </a:solidFill>
                <a:latin typeface="Calibri"/>
                <a:ea typeface="Quattrocento Sans"/>
                <a:cs typeface="Quattrocento Sans"/>
                <a:sym typeface="Quattrocento Sans"/>
              </a:rPr>
              <a:t>MouseOrbit</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Waypoint with Mouse Orbit</a:t>
            </a:r>
            <a:endParaRPr sz="3300" i="1" dirty="0">
              <a:solidFill>
                <a:srgbClr val="FFFFFF"/>
              </a:solidFill>
              <a:latin typeface="Calibri"/>
              <a:ea typeface="Quattrocento Sans"/>
              <a:cs typeface="Quattrocento Sans"/>
            </a:endParaRPr>
          </a:p>
          <a:p>
            <a:pPr marL="0" lvl="0" indent="0" algn="l" rtl="0">
              <a:spcBef>
                <a:spcPts val="0"/>
              </a:spcBef>
              <a:spcAft>
                <a:spcPts val="0"/>
              </a:spcAft>
              <a:buNone/>
            </a:pPr>
            <a:endParaRPr sz="3300" i="1" dirty="0">
              <a:solidFill>
                <a:srgbClr val="FFFFFF"/>
              </a:solidFill>
              <a:latin typeface="Calibri"/>
              <a:ea typeface="Quattrocento Sans"/>
              <a:cs typeface="Quattrocento Sans"/>
            </a:endParaRPr>
          </a:p>
          <a:p>
            <a:pPr marL="457200" marR="0" lvl="0" indent="-457200" algn="l" rtl="0">
              <a:spcBef>
                <a:spcPts val="0"/>
              </a:spcBef>
              <a:spcAft>
                <a:spcPts val="0"/>
              </a:spcAft>
              <a:buClr>
                <a:srgbClr val="FFFF00"/>
              </a:buClr>
              <a:buSzPts val="3600"/>
              <a:buFont typeface="Quattrocento Sans"/>
              <a:buAutoNum type="arabicPeriod"/>
            </a:pPr>
            <a:r>
              <a:rPr lang="en-GB" sz="3600" dirty="0">
                <a:solidFill>
                  <a:srgbClr val="FFFF00"/>
                </a:solidFill>
                <a:latin typeface="Calibri"/>
                <a:ea typeface="Quattrocento Sans"/>
                <a:cs typeface="Quattrocento Sans"/>
                <a:sym typeface="Quattrocento Sans"/>
              </a:rPr>
              <a:t>Object Selection – Waypoints</a:t>
            </a:r>
            <a:endParaRPr>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457200" marR="0" lvl="0" indent="-457200" algn="l" rtl="0">
              <a:spcBef>
                <a:spcPts val="0"/>
              </a:spcBef>
              <a:spcAft>
                <a:spcPts val="0"/>
              </a:spcAft>
              <a:buClr>
                <a:srgbClr val="FFFF00"/>
              </a:buClr>
              <a:buSzPts val="3600"/>
              <a:buFont typeface="Quattrocento Sans"/>
              <a:buAutoNum type="arabicPeriod"/>
            </a:pPr>
            <a:r>
              <a:rPr lang="en-GB" sz="3600" dirty="0">
                <a:solidFill>
                  <a:srgbClr val="FFFF00"/>
                </a:solidFill>
                <a:latin typeface="Calibri"/>
                <a:ea typeface="Quattrocento Sans"/>
                <a:cs typeface="Quattrocento Sans"/>
                <a:sym typeface="Quattrocento Sans"/>
              </a:rPr>
              <a:t>Mouse Orbit – Around Waypoints with Focus</a:t>
            </a:r>
            <a:endParaRPr>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457200" marR="0" lvl="0" indent="-457200" algn="l" rtl="0">
              <a:spcBef>
                <a:spcPts val="0"/>
              </a:spcBef>
              <a:spcAft>
                <a:spcPts val="0"/>
              </a:spcAft>
              <a:buClr>
                <a:srgbClr val="FFFF00"/>
              </a:buClr>
              <a:buSzPts val="3600"/>
              <a:buFont typeface="Quattrocento Sans"/>
              <a:buAutoNum type="arabicPeriod"/>
            </a:pPr>
            <a:r>
              <a:rPr lang="en-GB" sz="3600" dirty="0">
                <a:solidFill>
                  <a:srgbClr val="FFFF00"/>
                </a:solidFill>
                <a:latin typeface="Calibri"/>
                <a:ea typeface="Quattrocento Sans"/>
                <a:cs typeface="Quattrocento Sans"/>
                <a:sym typeface="Quattrocento Sans"/>
              </a:rPr>
              <a:t>Focus – Camera Focus on </a:t>
            </a:r>
            <a:r>
              <a:rPr lang="en-GB" sz="3600" err="1">
                <a:solidFill>
                  <a:srgbClr val="FFFF00"/>
                </a:solidFill>
                <a:latin typeface="Calibri"/>
                <a:ea typeface="Quattrocento Sans"/>
                <a:cs typeface="Quattrocento Sans"/>
                <a:sym typeface="Quattrocento Sans"/>
              </a:rPr>
              <a:t>GameObject</a:t>
            </a:r>
            <a:endParaRPr sz="2400" b="1" dirty="0" err="1">
              <a:solidFill>
                <a:srgbClr val="FFFF00"/>
              </a:solidFill>
              <a:latin typeface="Calibri"/>
              <a:ea typeface="Quattrocento Sans"/>
              <a:cs typeface="Quattrocen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56" name="Google Shape;156;p15"/>
          <p:cNvSpPr txBox="1"/>
          <p:nvPr/>
        </p:nvSpPr>
        <p:spPr>
          <a:xfrm>
            <a:off x="609600" y="1421654"/>
            <a:ext cx="10890738" cy="5124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Waypoint with Mouse Orbit</a:t>
            </a:r>
            <a:endParaRPr sz="3300" i="1">
              <a:solidFill>
                <a:srgbClr val="FFFFFF"/>
              </a:solidFill>
              <a:latin typeface="Calibri"/>
              <a:ea typeface="Quattrocento Sans"/>
              <a:cs typeface="Quattrocento Sans"/>
            </a:endParaRPr>
          </a:p>
          <a:p>
            <a:pPr marL="0" lvl="0" indent="0" algn="l" rtl="0">
              <a:spcBef>
                <a:spcPts val="0"/>
              </a:spcBef>
              <a:spcAft>
                <a:spcPts val="0"/>
              </a:spcAft>
              <a:buNone/>
            </a:pPr>
            <a:endParaRPr sz="2400" i="1" dirty="0">
              <a:solidFill>
                <a:srgbClr val="FFFFFF"/>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Camera Waypoint Examples</a:t>
            </a:r>
            <a:endParaRPr dirty="0">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https://www.youtube.com/watch?v=8HALMRhbpGI</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http://forum.unity3d.com/threads/camera-frame-selected-how-to.7308/</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Transform look at</a:t>
            </a:r>
            <a:endParaRPr dirty="0">
              <a:latin typeface="Calibri"/>
            </a:endParaRPr>
          </a:p>
          <a:p>
            <a:pPr marL="0" marR="0" lvl="0" indent="0" algn="l" rtl="0">
              <a:spcBef>
                <a:spcPts val="0"/>
              </a:spcBef>
              <a:spcAft>
                <a:spcPts val="0"/>
              </a:spcAft>
              <a:buNone/>
            </a:pPr>
            <a:r>
              <a:rPr lang="en-GB" sz="1800" u="sng" dirty="0">
                <a:solidFill>
                  <a:schemeClr val="hlink"/>
                </a:solidFill>
                <a:latin typeface="Calibri"/>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https://docs.unity3d.com/2020.1/Documentation/ScriptReference/Transform.LookAt.html</a:t>
            </a:r>
            <a:endParaRPr sz="1800" dirty="0">
              <a:solidFill>
                <a:schemeClr val="hlink"/>
              </a:solidFill>
              <a:latin typeface="Calibri"/>
              <a:ea typeface="Quattrocento Sans"/>
              <a:cs typeface="Quattrocento Sans"/>
            </a:endParaRPr>
          </a:p>
          <a:p>
            <a:pPr marL="0" marR="0" lvl="0" indent="0" algn="l" rtl="0">
              <a:spcBef>
                <a:spcPts val="0"/>
              </a:spcBef>
              <a:spcAft>
                <a:spcPts val="0"/>
              </a:spcAft>
              <a:buNone/>
            </a:pPr>
            <a:endParaRPr sz="1800" u="sng" dirty="0">
              <a:solidFill>
                <a:schemeClr val="dk1"/>
              </a:solidFill>
              <a:latin typeface="Calibri"/>
              <a:ea typeface="Quattrocento Sans"/>
              <a:cs typeface="Quattrocento Sans"/>
              <a:hlinkClick r:id="rId6" invalidUrl="http://">
                <a:extLst>
                  <a:ext uri="{A12FA001-AC4F-418D-AE19-62706E023703}">
                    <ahyp:hlinkClr xmlns:ahyp="http://schemas.microsoft.com/office/drawing/2018/hyperlinkcolor" val="tx"/>
                  </a:ext>
                </a:extLst>
              </a:hlinkClick>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7">
                  <a:extLst>
                    <a:ext uri="{A12FA001-AC4F-418D-AE19-62706E023703}">
                      <ahyp:hlinkClr xmlns:ahyp="http://schemas.microsoft.com/office/drawing/2018/hyperlinkcolor" val="tx"/>
                    </a:ext>
                  </a:extLst>
                </a:hlinkClick>
              </a:rPr>
              <a:t>http://answers.unity3d.com/questions/891120/framing-an-object-bounds-encapsulating.html</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err="1">
                <a:solidFill>
                  <a:schemeClr val="dk1"/>
                </a:solidFill>
                <a:latin typeface="Calibri"/>
                <a:ea typeface="Quattrocento Sans"/>
                <a:cs typeface="Quattrocento Sans"/>
                <a:sym typeface="Quattrocento Sans"/>
              </a:rPr>
              <a:t>Selection.activeGameObject</a:t>
            </a:r>
            <a:r>
              <a:rPr lang="en-GB" sz="1800" dirty="0">
                <a:solidFill>
                  <a:schemeClr val="dk1"/>
                </a:solidFill>
                <a:latin typeface="Calibri"/>
                <a:ea typeface="Quattrocento Sans"/>
                <a:cs typeface="Quattrocento Sans"/>
                <a:sym typeface="Quattrocento Sans"/>
              </a:rPr>
              <a:t> = </a:t>
            </a:r>
            <a:r>
              <a:rPr lang="en-GB" sz="1800" err="1">
                <a:solidFill>
                  <a:schemeClr val="dk1"/>
                </a:solidFill>
                <a:latin typeface="Calibri"/>
                <a:ea typeface="Quattrocento Sans"/>
                <a:cs typeface="Quattrocento Sans"/>
                <a:sym typeface="Quattrocento Sans"/>
              </a:rPr>
              <a:t>yourObject</a:t>
            </a:r>
            <a:r>
              <a:rPr lang="en-GB" sz="1800" dirty="0">
                <a:solidFill>
                  <a:schemeClr val="dk1"/>
                </a:solidFill>
                <a:latin typeface="Calibri"/>
                <a:ea typeface="Quattrocento Sans"/>
                <a:cs typeface="Quattrocento Sans"/>
                <a:sym typeface="Quattrocento Sans"/>
              </a:rPr>
              <a:t>; </a:t>
            </a:r>
            <a:r>
              <a:rPr lang="en-GB" sz="1800" err="1">
                <a:solidFill>
                  <a:schemeClr val="dk1"/>
                </a:solidFill>
                <a:latin typeface="Calibri"/>
                <a:ea typeface="Quattrocento Sans"/>
                <a:cs typeface="Quattrocento Sans"/>
                <a:sym typeface="Quattrocento Sans"/>
              </a:rPr>
              <a:t>SceneView.FrameLastActiveSceneView</a:t>
            </a: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Maybe </a:t>
            </a:r>
            <a:r>
              <a:rPr lang="en-GB" sz="1800" u="sng" dirty="0">
                <a:solidFill>
                  <a:schemeClr val="dk1"/>
                </a:solidFill>
                <a:latin typeface="Calibri"/>
                <a:ea typeface="Quattrocento Sans"/>
                <a:cs typeface="Quattrocento Sans"/>
                <a:sym typeface="Quattrocento Sans"/>
                <a:hlinkClick r:id="rId8">
                  <a:extLst>
                    <a:ext uri="{A12FA001-AC4F-418D-AE19-62706E023703}">
                      <ahyp:hlinkClr xmlns:ahyp="http://schemas.microsoft.com/office/drawing/2018/hyperlinkcolor" val="tx"/>
                    </a:ext>
                  </a:extLst>
                </a:hlinkClick>
              </a:rPr>
              <a:t>Camera.WorldToViewportPoint</a:t>
            </a:r>
            <a:r>
              <a:rPr lang="en-GB" sz="1800" dirty="0">
                <a:solidFill>
                  <a:schemeClr val="dk1"/>
                </a:solidFill>
                <a:latin typeface="Calibri"/>
                <a:ea typeface="Quattrocento Sans"/>
                <a:cs typeface="Quattrocento Sans"/>
                <a:sym typeface="Quattrocento Sans"/>
              </a:rPr>
              <a:t> and</a:t>
            </a:r>
            <a:r>
              <a:rPr lang="en-GB" sz="1800" u="sng" dirty="0">
                <a:solidFill>
                  <a:schemeClr val="dk1"/>
                </a:solidFill>
                <a:latin typeface="Calibri"/>
                <a:ea typeface="Quattrocento Sans"/>
                <a:cs typeface="Quattrocento Sans"/>
                <a:sym typeface="Quattrocento Sans"/>
                <a:hlinkClick r:id="rId9">
                  <a:extLst>
                    <a:ext uri="{A12FA001-AC4F-418D-AE19-62706E023703}">
                      <ahyp:hlinkClr xmlns:ahyp="http://schemas.microsoft.com/office/drawing/2018/hyperlinkcolor" val="tx"/>
                    </a:ext>
                  </a:extLst>
                </a:hlinkClick>
              </a:rPr>
              <a:t>Camera.ViewportToScreenPoint</a:t>
            </a:r>
            <a:r>
              <a:rPr lang="en-GB" sz="1800" dirty="0">
                <a:solidFill>
                  <a:schemeClr val="dk1"/>
                </a:solidFill>
                <a:latin typeface="Calibri"/>
                <a:ea typeface="Quattrocento Sans"/>
                <a:cs typeface="Quattrocento Sans"/>
                <a:sym typeface="Quattrocento Sans"/>
              </a:rPr>
              <a:t> will come in handy.</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Simple scripts</a:t>
            </a:r>
            <a:endParaRPr dirty="0">
              <a:solidFill>
                <a:schemeClr val="dk1"/>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63" name="Google Shape;163;p16"/>
          <p:cNvSpPr txBox="1"/>
          <p:nvPr/>
        </p:nvSpPr>
        <p:spPr>
          <a:xfrm>
            <a:off x="609600" y="1421654"/>
            <a:ext cx="10890738"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Some basic Scripts to try</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Waypoint with Mouse Orbit</a:t>
            </a:r>
            <a:endParaRPr sz="3300" i="1">
              <a:solidFill>
                <a:srgbClr val="FFFFFF"/>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Camera Waypoint Script</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i="1" dirty="0">
                <a:solidFill>
                  <a:schemeClr val="dk1"/>
                </a:solidFill>
                <a:latin typeface="Calibri"/>
                <a:ea typeface="Quattrocento Sans"/>
                <a:cs typeface="Quattrocento Sans"/>
                <a:sym typeface="Quattrocento Sans"/>
              </a:rPr>
              <a:t>Pasted from &lt;</a:t>
            </a:r>
            <a:r>
              <a:rPr lang="en-GB" sz="1800" i="1"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http://answers.unity3d.com/questions/891120/framing-an-object-bounds-encapsulating.html</a:t>
            </a:r>
            <a:r>
              <a:rPr lang="en-GB" sz="1800" i="1" dirty="0">
                <a:solidFill>
                  <a:schemeClr val="dk1"/>
                </a:solidFill>
                <a:latin typeface="Calibri"/>
                <a:ea typeface="Quattrocento Sans"/>
                <a:cs typeface="Quattrocento Sans"/>
                <a:sym typeface="Quattrocento Sans"/>
              </a:rPr>
              <a:t>&gt; </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dirty="0">
              <a:solidFill>
                <a:schemeClr val="dk1"/>
              </a:solidFill>
              <a:latin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On your main camera:</a:t>
            </a:r>
            <a:endParaRPr dirty="0">
              <a:latin typeface="Calibri"/>
            </a:endParaRPr>
          </a:p>
          <a:p>
            <a:pPr marL="0" marR="0" lvl="0" indent="0" algn="l" rtl="0">
              <a:spcBef>
                <a:spcPts val="0"/>
              </a:spcBef>
              <a:spcAft>
                <a:spcPts val="0"/>
              </a:spcAft>
              <a:buNone/>
            </a:pP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public void Focus(Transform target, float offset)</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Vector3 direction = </a:t>
            </a:r>
            <a:r>
              <a:rPr lang="en-GB" sz="1800" err="1">
                <a:solidFill>
                  <a:schemeClr val="dk1"/>
                </a:solidFill>
                <a:latin typeface="Calibri"/>
                <a:ea typeface="Quattrocento Sans"/>
                <a:cs typeface="Quattrocento Sans"/>
                <a:sym typeface="Quattrocento Sans"/>
              </a:rPr>
              <a:t>transform.position</a:t>
            </a:r>
            <a:r>
              <a:rPr lang="en-GB" sz="1800" dirty="0">
                <a:solidFill>
                  <a:schemeClr val="dk1"/>
                </a:solidFill>
                <a:latin typeface="Calibri"/>
                <a:ea typeface="Quattrocento Sans"/>
                <a:cs typeface="Quattrocento Sans"/>
                <a:sym typeface="Quattrocento Sans"/>
              </a:rPr>
              <a:t> - </a:t>
            </a:r>
            <a:r>
              <a:rPr lang="en-GB" sz="1800" err="1">
                <a:solidFill>
                  <a:schemeClr val="dk1"/>
                </a:solidFill>
                <a:latin typeface="Calibri"/>
                <a:ea typeface="Quattrocento Sans"/>
                <a:cs typeface="Quattrocento Sans"/>
                <a:sym typeface="Quattrocento Sans"/>
              </a:rPr>
              <a:t>target.position</a:t>
            </a: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direction = offset * </a:t>
            </a:r>
            <a:r>
              <a:rPr lang="en-GB" sz="1800" err="1">
                <a:solidFill>
                  <a:schemeClr val="dk1"/>
                </a:solidFill>
                <a:latin typeface="Calibri"/>
                <a:ea typeface="Quattrocento Sans"/>
                <a:cs typeface="Quattrocento Sans"/>
                <a:sym typeface="Quattrocento Sans"/>
              </a:rPr>
              <a:t>direction.normalized</a:t>
            </a: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Vector3 </a:t>
            </a:r>
            <a:r>
              <a:rPr lang="en-GB" sz="1800" err="1">
                <a:solidFill>
                  <a:schemeClr val="dk1"/>
                </a:solidFill>
                <a:latin typeface="Calibri"/>
                <a:ea typeface="Quattrocento Sans"/>
                <a:cs typeface="Quattrocento Sans"/>
                <a:sym typeface="Quattrocento Sans"/>
              </a:rPr>
              <a:t>moveTo</a:t>
            </a:r>
            <a:r>
              <a:rPr lang="en-GB" sz="1800" dirty="0">
                <a:solidFill>
                  <a:schemeClr val="dk1"/>
                </a:solidFill>
                <a:latin typeface="Calibri"/>
                <a:ea typeface="Quattrocento Sans"/>
                <a:cs typeface="Quattrocento Sans"/>
                <a:sym typeface="Quattrocento Sans"/>
              </a:rPr>
              <a:t> = </a:t>
            </a:r>
            <a:r>
              <a:rPr lang="en-GB" sz="1800" err="1">
                <a:solidFill>
                  <a:schemeClr val="dk1"/>
                </a:solidFill>
                <a:latin typeface="Calibri"/>
                <a:ea typeface="Quattrocento Sans"/>
                <a:cs typeface="Quattrocento Sans"/>
                <a:sym typeface="Quattrocento Sans"/>
              </a:rPr>
              <a:t>target.position</a:t>
            </a:r>
            <a:r>
              <a:rPr lang="en-GB" sz="1800" dirty="0">
                <a:solidFill>
                  <a:schemeClr val="dk1"/>
                </a:solidFill>
                <a:latin typeface="Calibri"/>
                <a:ea typeface="Quattrocento Sans"/>
                <a:cs typeface="Quattrocento Sans"/>
                <a:sym typeface="Quattrocento Sans"/>
              </a:rPr>
              <a:t> + direction;</a:t>
            </a:r>
            <a:endParaRPr dirty="0">
              <a:solidFill>
                <a:schemeClr val="dk1"/>
              </a:solidFill>
              <a:latin typeface="Calibri"/>
            </a:endParaRPr>
          </a:p>
          <a:p>
            <a:pPr marL="457200" marR="0" lvl="0" indent="0" algn="l" rtl="0">
              <a:spcBef>
                <a:spcPts val="0"/>
              </a:spcBef>
              <a:spcAft>
                <a:spcPts val="0"/>
              </a:spcAft>
              <a:buNone/>
            </a:pPr>
            <a:r>
              <a:rPr lang="en-GB" sz="1800" err="1">
                <a:solidFill>
                  <a:schemeClr val="dk1"/>
                </a:solidFill>
                <a:latin typeface="Calibri"/>
                <a:ea typeface="Quattrocento Sans"/>
                <a:cs typeface="Quattrocento Sans"/>
                <a:sym typeface="Quattrocento Sans"/>
              </a:rPr>
              <a:t>transform.position</a:t>
            </a:r>
            <a:r>
              <a:rPr lang="en-GB" sz="1800" dirty="0">
                <a:solidFill>
                  <a:schemeClr val="dk1"/>
                </a:solidFill>
                <a:latin typeface="Calibri"/>
                <a:ea typeface="Quattrocento Sans"/>
                <a:cs typeface="Quattrocento Sans"/>
                <a:sym typeface="Quattrocento Sans"/>
              </a:rPr>
              <a:t> = new Vector3(</a:t>
            </a:r>
            <a:r>
              <a:rPr lang="en-GB" sz="1800" err="1">
                <a:solidFill>
                  <a:schemeClr val="dk1"/>
                </a:solidFill>
                <a:latin typeface="Calibri"/>
                <a:ea typeface="Quattrocento Sans"/>
                <a:cs typeface="Quattrocento Sans"/>
                <a:sym typeface="Quattrocento Sans"/>
              </a:rPr>
              <a:t>moveTo.x</a:t>
            </a:r>
            <a:r>
              <a:rPr lang="en-GB" sz="1800" dirty="0">
                <a:solidFill>
                  <a:schemeClr val="dk1"/>
                </a:solidFill>
                <a:latin typeface="Calibri"/>
                <a:ea typeface="Quattrocento Sans"/>
                <a:cs typeface="Quattrocento Sans"/>
                <a:sym typeface="Quattrocento Sans"/>
              </a:rPr>
              <a:t>, 3f, </a:t>
            </a:r>
            <a:r>
              <a:rPr lang="en-GB" sz="1800" err="1">
                <a:solidFill>
                  <a:schemeClr val="dk1"/>
                </a:solidFill>
                <a:latin typeface="Calibri"/>
                <a:ea typeface="Quattrocento Sans"/>
                <a:cs typeface="Quattrocento Sans"/>
                <a:sym typeface="Quattrocento Sans"/>
              </a:rPr>
              <a:t>moveTo.z</a:t>
            </a: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457200" marR="0" lvl="0" indent="0" algn="l" rtl="0">
              <a:spcBef>
                <a:spcPts val="0"/>
              </a:spcBef>
              <a:spcAft>
                <a:spcPts val="0"/>
              </a:spcAft>
              <a:buNone/>
            </a:pPr>
            <a:r>
              <a:rPr lang="en-GB" sz="1800" err="1">
                <a:solidFill>
                  <a:schemeClr val="dk1"/>
                </a:solidFill>
                <a:latin typeface="Calibri"/>
                <a:ea typeface="Quattrocento Sans"/>
                <a:cs typeface="Quattrocento Sans"/>
                <a:sym typeface="Quattrocento Sans"/>
              </a:rPr>
              <a:t>transform.LookAt</a:t>
            </a:r>
            <a:r>
              <a:rPr lang="en-GB" sz="1800" dirty="0">
                <a:solidFill>
                  <a:schemeClr val="dk1"/>
                </a:solidFill>
                <a:latin typeface="Calibri"/>
                <a:ea typeface="Quattrocento Sans"/>
                <a:cs typeface="Quattrocento Sans"/>
                <a:sym typeface="Quattrocento Sans"/>
              </a:rPr>
              <a:t>(target);</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70" name="Google Shape;170;p17"/>
          <p:cNvSpPr txBox="1"/>
          <p:nvPr/>
        </p:nvSpPr>
        <p:spPr>
          <a:xfrm>
            <a:off x="609600" y="1421654"/>
            <a:ext cx="10890738"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Some basic Scripts to try</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Waypoint with Mouse Orbit</a:t>
            </a:r>
            <a:endParaRPr sz="360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Camera Waypoint Script</a:t>
            </a:r>
            <a:endParaRPr dirty="0">
              <a:latin typeface="Calibri"/>
            </a:endParaRPr>
          </a:p>
          <a:p>
            <a:pPr marL="0" marR="0" lvl="0" indent="0" algn="l" rtl="0">
              <a:spcBef>
                <a:spcPts val="0"/>
              </a:spcBef>
              <a:spcAft>
                <a:spcPts val="0"/>
              </a:spcAft>
              <a:buNone/>
            </a:pPr>
            <a:r>
              <a:rPr lang="en-GB" sz="1800" i="1" dirty="0">
                <a:solidFill>
                  <a:schemeClr val="dk1"/>
                </a:solidFill>
                <a:latin typeface="Calibri"/>
                <a:ea typeface="Quattrocento Sans"/>
                <a:cs typeface="Quattrocento Sans"/>
                <a:sym typeface="Quattrocento Sans"/>
              </a:rPr>
              <a:t>Pasted from &lt;</a:t>
            </a:r>
            <a:r>
              <a:rPr lang="en-GB" sz="1800" i="1"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http://answers.unity3d.com/questions/891120/framing-an-object-bounds-encapsulating.html</a:t>
            </a:r>
            <a:r>
              <a:rPr lang="en-GB" sz="1800" i="1" dirty="0">
                <a:solidFill>
                  <a:schemeClr val="dk1"/>
                </a:solidFill>
                <a:latin typeface="Calibri"/>
                <a:ea typeface="Quattrocento Sans"/>
                <a:cs typeface="Quattrocento Sans"/>
                <a:sym typeface="Quattrocento Sans"/>
              </a:rPr>
              <a:t>&gt; </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On your </a:t>
            </a:r>
            <a:r>
              <a:rPr lang="en-GB" sz="1800" err="1">
                <a:solidFill>
                  <a:srgbClr val="FFFF00"/>
                </a:solidFill>
                <a:latin typeface="Calibri"/>
                <a:ea typeface="Quattrocento Sans"/>
                <a:cs typeface="Quattrocento Sans"/>
                <a:sym typeface="Quattrocento Sans"/>
              </a:rPr>
              <a:t>GameObject</a:t>
            </a:r>
            <a:r>
              <a:rPr lang="en-GB" sz="1800" dirty="0">
                <a:solidFill>
                  <a:srgbClr val="FFFF00"/>
                </a:solidFill>
                <a:latin typeface="Calibri"/>
                <a:ea typeface="Quattrocento Sans"/>
                <a:cs typeface="Quattrocento Sans"/>
                <a:sym typeface="Quattrocento Sans"/>
              </a:rPr>
              <a:t>:</a:t>
            </a:r>
            <a:endParaRPr dirty="0">
              <a:latin typeface="Calibri"/>
            </a:endParaRPr>
          </a:p>
          <a:p>
            <a:pPr marL="0" marR="0" lvl="0" indent="0" algn="l" rtl="0">
              <a:spcBef>
                <a:spcPts val="0"/>
              </a:spcBef>
              <a:spcAft>
                <a:spcPts val="0"/>
              </a:spcAft>
              <a:buNone/>
            </a:pP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float offset = 4.24264f</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void </a:t>
            </a:r>
            <a:r>
              <a:rPr lang="en-GB" sz="1800" err="1">
                <a:solidFill>
                  <a:schemeClr val="dk1"/>
                </a:solidFill>
                <a:latin typeface="Calibri"/>
                <a:ea typeface="Quattrocento Sans"/>
                <a:cs typeface="Quattrocento Sans"/>
                <a:sym typeface="Quattrocento Sans"/>
              </a:rPr>
              <a:t>OnMouseOver</a:t>
            </a: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if (</a:t>
            </a:r>
            <a:r>
              <a:rPr lang="en-GB" sz="1800" err="1">
                <a:solidFill>
                  <a:schemeClr val="dk1"/>
                </a:solidFill>
                <a:latin typeface="Calibri"/>
                <a:ea typeface="Quattrocento Sans"/>
                <a:cs typeface="Quattrocento Sans"/>
                <a:sym typeface="Quattrocento Sans"/>
              </a:rPr>
              <a:t>Input.GetMouseButtonDown</a:t>
            </a:r>
            <a:r>
              <a:rPr lang="en-GB" sz="1800" dirty="0">
                <a:solidFill>
                  <a:schemeClr val="dk1"/>
                </a:solidFill>
                <a:latin typeface="Calibri"/>
                <a:ea typeface="Quattrocento Sans"/>
                <a:cs typeface="Quattrocento Sans"/>
                <a:sym typeface="Quattrocento Sans"/>
              </a:rPr>
              <a:t>(0))</a:t>
            </a:r>
            <a:endParaRPr dirty="0">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457200" marR="0" lvl="0" indent="457200" algn="l" rtl="0">
              <a:spcBef>
                <a:spcPts val="0"/>
              </a:spcBef>
              <a:spcAft>
                <a:spcPts val="0"/>
              </a:spcAft>
              <a:buNone/>
            </a:pPr>
            <a:r>
              <a:rPr lang="en-GB" sz="1800" err="1">
                <a:solidFill>
                  <a:schemeClr val="dk1"/>
                </a:solidFill>
                <a:latin typeface="Calibri"/>
                <a:ea typeface="Quattrocento Sans"/>
                <a:cs typeface="Quattrocento Sans"/>
                <a:sym typeface="Quattrocento Sans"/>
              </a:rPr>
              <a:t>Camera.main.GetComponent</a:t>
            </a:r>
            <a:r>
              <a:rPr lang="en-GB" sz="1800" dirty="0">
                <a:solidFill>
                  <a:schemeClr val="dk1"/>
                </a:solidFill>
                <a:latin typeface="Calibri"/>
                <a:ea typeface="Quattrocento Sans"/>
                <a:cs typeface="Quattrocento Sans"/>
                <a:sym typeface="Quattrocento Sans"/>
              </a:rPr>
              <a:t>&lt;</a:t>
            </a:r>
            <a:r>
              <a:rPr lang="en-GB" sz="1800" err="1">
                <a:solidFill>
                  <a:schemeClr val="dk1"/>
                </a:solidFill>
                <a:latin typeface="Calibri"/>
                <a:ea typeface="Quattrocento Sans"/>
                <a:cs typeface="Quattrocento Sans"/>
                <a:sym typeface="Quattrocento Sans"/>
              </a:rPr>
              <a:t>FocusScript</a:t>
            </a:r>
            <a:r>
              <a:rPr lang="en-GB" sz="1800" dirty="0">
                <a:solidFill>
                  <a:schemeClr val="dk1"/>
                </a:solidFill>
                <a:latin typeface="Calibri"/>
                <a:ea typeface="Quattrocento Sans"/>
                <a:cs typeface="Quattrocento Sans"/>
                <a:sym typeface="Quattrocento Sans"/>
              </a:rPr>
              <a:t>&gt;().Focus(transform, offset);</a:t>
            </a:r>
            <a:endParaRPr dirty="0">
              <a:solidFill>
                <a:schemeClr val="dk1"/>
              </a:solidFill>
              <a:latin typeface="Calibri"/>
            </a:endParaRPr>
          </a:p>
          <a:p>
            <a:pPr marL="45720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dirty="0">
              <a:solidFill>
                <a:schemeClr val="dk1"/>
              </a:solidFill>
              <a:latin typeface="Calibri"/>
            </a:endParaRPr>
          </a:p>
          <a:p>
            <a:pPr marL="0" marR="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77" name="Google Shape;177;p18"/>
          <p:cNvSpPr txBox="1"/>
          <p:nvPr/>
        </p:nvSpPr>
        <p:spPr>
          <a:xfrm>
            <a:off x="609600" y="1421654"/>
            <a:ext cx="10890738" cy="50783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Some basic Scripts to try</a:t>
            </a:r>
            <a:endParaRPr lang="en-US">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Waypoint with Mouse Orbit</a:t>
            </a:r>
            <a:endParaRPr sz="3600">
              <a:solidFill>
                <a:srgbClr val="FFFF00"/>
              </a:solidFill>
              <a:latin typeface="Calibri"/>
              <a:ea typeface="Quattrocento Sans"/>
              <a:cs typeface="Quattrocento Sans"/>
            </a:endParaRPr>
          </a:p>
          <a:p>
            <a:r>
              <a:rPr lang="en-GB" sz="3600" dirty="0">
                <a:solidFill>
                  <a:srgbClr val="FFFF00"/>
                </a:solidFill>
                <a:latin typeface="Calibri"/>
                <a:ea typeface="Quattrocento Sans"/>
                <a:cs typeface="Quattrocento Sans"/>
                <a:sym typeface="Quattrocento Sans"/>
              </a:rPr>
              <a:t>Mouse Camera Orbit Improved (MOI) Examples:</a:t>
            </a:r>
            <a:endParaRPr>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Camera rotates around object selected and mouse orbited</a:t>
            </a:r>
            <a:endParaRPr>
              <a:solidFill>
                <a:schemeClr val="dk1"/>
              </a:solidFill>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http://stackoverflow.com/questions/34117591/c-sharp-with-unity-3d-how-do-i-make-a-camera-move-around-an-object-when-user-mo</a:t>
            </a:r>
            <a:endParaRPr sz="180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Mouse Orbit</a:t>
            </a:r>
            <a:endParaRPr>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http://wiki.unity3d.com/index.php?title=MouseOrbitImproved#Code_C.23</a:t>
            </a:r>
            <a:endParaRPr sz="180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Mouse Orbit Zoom</a:t>
            </a:r>
            <a:endParaRPr>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http://wiki.unity3d.com/index.php/MouseOrbitZoom</a:t>
            </a:r>
            <a:endParaRPr sz="1800">
              <a:solidFill>
                <a:schemeClr val="dk1"/>
              </a:solidFill>
              <a:latin typeface="Calibri"/>
              <a:ea typeface="Quattrocento Sans"/>
              <a:cs typeface="Quattrocento Sans"/>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Cursor Lock</a:t>
            </a:r>
            <a:endParaRPr>
              <a:latin typeface="Calibri"/>
            </a:endParaRPr>
          </a:p>
          <a:p>
            <a:pPr marL="0" marR="0" lvl="0" indent="0" algn="l" rtl="0">
              <a:spcBef>
                <a:spcPts val="0"/>
              </a:spcBef>
              <a:spcAft>
                <a:spcPts val="0"/>
              </a:spcAft>
              <a:buNone/>
            </a:pPr>
            <a:r>
              <a:rPr lang="en-GB" sz="1800" dirty="0">
                <a:solidFill>
                  <a:srgbClr val="FF0000"/>
                </a:solidFill>
                <a:latin typeface="Calibri"/>
                <a:ea typeface="Quattrocento Sans"/>
                <a:cs typeface="Quattrocento Sans"/>
                <a:sym typeface="Quattrocento Sans"/>
              </a:rPr>
              <a:t>Press key to turn mouse orbit on and off - modify</a:t>
            </a:r>
            <a:endParaRPr dirty="0">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84" name="Google Shape;184;p19"/>
          <p:cNvSpPr txBox="1"/>
          <p:nvPr/>
        </p:nvSpPr>
        <p:spPr>
          <a:xfrm>
            <a:off x="609600" y="1421648"/>
            <a:ext cx="10890900" cy="373944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RTS Camera Movement</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Real Time Strategy Cameras</a:t>
            </a:r>
            <a:endParaRPr sz="3600" dirty="0">
              <a:solidFill>
                <a:srgbClr val="FFFF00"/>
              </a:solidFill>
              <a:latin typeface="Calibri"/>
              <a:ea typeface="Quattrocento Sans"/>
              <a:cs typeface="Quattrocento Sans"/>
            </a:endParaRPr>
          </a:p>
          <a:p>
            <a:endParaRPr lang="en-GB" sz="2400" dirty="0">
              <a:solidFill>
                <a:srgbClr val="FFFF00"/>
              </a:solidFill>
              <a:latin typeface="Calibri"/>
              <a:ea typeface="Quattrocento Sans"/>
              <a:cs typeface="Quattrocento Sans"/>
              <a:sym typeface="Quattrocento Sans"/>
            </a:endParaRPr>
          </a:p>
          <a:p>
            <a:r>
              <a:rPr lang="en-GB" sz="2400" dirty="0">
                <a:solidFill>
                  <a:srgbClr val="FFFF00"/>
                </a:solidFill>
                <a:latin typeface="Calibri"/>
                <a:ea typeface="Quattrocento Sans"/>
                <a:cs typeface="Quattrocento Sans"/>
                <a:sym typeface="Quattrocento Sans"/>
              </a:rPr>
              <a:t>Mouse input movement similar to real time strategy games. </a:t>
            </a:r>
            <a:endParaRPr lang="en-GB" sz="2400">
              <a:solidFill>
                <a:srgbClr val="FFFF00"/>
              </a:solidFill>
              <a:latin typeface="Calibri"/>
              <a:ea typeface="Quattrocento Sans"/>
              <a:cs typeface="Quattrocento Sans"/>
              <a:sym typeface="Quattrocento Sans"/>
            </a:endParaRPr>
          </a:p>
          <a:p>
            <a:endParaRPr lang="en-GB" sz="2400" dirty="0">
              <a:solidFill>
                <a:srgbClr val="FFFF00"/>
              </a:solidFill>
              <a:latin typeface="Calibri"/>
              <a:ea typeface="Quattrocento Sans"/>
              <a:cs typeface="Quattrocento Sans"/>
              <a:sym typeface="Quattrocento Sans"/>
            </a:endParaRPr>
          </a:p>
          <a:p>
            <a:pPr marL="0" marR="0" lvl="0" indent="0" algn="l">
              <a:spcBef>
                <a:spcPts val="0"/>
              </a:spcBef>
              <a:spcAft>
                <a:spcPts val="0"/>
              </a:spcAft>
              <a:buNone/>
            </a:pPr>
            <a:r>
              <a:rPr lang="en-GB" sz="2400" dirty="0">
                <a:solidFill>
                  <a:srgbClr val="FFFF00"/>
                </a:solidFill>
                <a:latin typeface="Calibri"/>
                <a:ea typeface="Quattrocento Sans"/>
                <a:cs typeface="Quattrocento Sans"/>
                <a:sym typeface="Quattrocento Sans"/>
              </a:rPr>
              <a:t>The input translates the mouse 2D screen position into 2.5D or 3D camera movement.</a:t>
            </a:r>
            <a:endParaRPr sz="2400">
              <a:solidFill>
                <a:srgbClr val="FFFF00"/>
              </a:solidFill>
              <a:latin typeface="Calibri"/>
              <a:ea typeface="Quattrocento Sans"/>
              <a:cs typeface="Quattrocento Sans"/>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r>
              <a:rPr lang="en-GB" sz="3600" dirty="0">
                <a:solidFill>
                  <a:srgbClr val="FFFF00"/>
                </a:solidFill>
                <a:latin typeface="Calibri"/>
                <a:ea typeface="Quattrocento Sans"/>
                <a:cs typeface="Quattrocento Sans"/>
                <a:sym typeface="Quattrocento Sans"/>
              </a:rPr>
              <a:t>See Unity Project (Camera Demos SA) Scene and Code</a:t>
            </a:r>
            <a:endParaRPr sz="3600" dirty="0">
              <a:solidFill>
                <a:srgbClr val="FFFF00"/>
              </a:solidFill>
              <a:latin typeface="Calibri"/>
              <a:ea typeface="Quattrocento Sans"/>
              <a:cs typeface="Quattrocento Sans"/>
              <a:sym typeface="Quattrocento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91" name="Google Shape;191;p20"/>
          <p:cNvSpPr txBox="1"/>
          <p:nvPr/>
        </p:nvSpPr>
        <p:spPr>
          <a:xfrm>
            <a:off x="609600" y="1421650"/>
            <a:ext cx="11676900" cy="480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RTS Position</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Real Time Strategy Cameras</a:t>
            </a:r>
            <a:endParaRPr sz="360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Mouse RTS Position – Basic with RMB (</a:t>
            </a:r>
            <a:r>
              <a:rPr lang="en-GB" sz="3600" err="1">
                <a:solidFill>
                  <a:srgbClr val="FFFF00"/>
                </a:solidFill>
                <a:latin typeface="Calibri"/>
                <a:ea typeface="Quattrocento Sans"/>
                <a:cs typeface="Quattrocento Sans"/>
                <a:sym typeface="Quattrocento Sans"/>
              </a:rPr>
              <a:t>RightMouseButton</a:t>
            </a:r>
            <a:r>
              <a:rPr lang="en-GB" sz="3600" dirty="0">
                <a:solidFill>
                  <a:srgbClr val="FFFF00"/>
                </a:solidFill>
                <a:latin typeface="Calibri"/>
                <a:ea typeface="Quattrocento Sans"/>
                <a:cs typeface="Quattrocento Sans"/>
                <a:sym typeface="Quattrocento Sans"/>
              </a:rPr>
              <a:t>)</a:t>
            </a:r>
            <a:endParaRPr dirty="0">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http://coffeebreakcodes.com/camera-movement-with-mouse-unity3d-c/</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Mouse screen position translates camera when RMB pressed</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Inside screen</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Very basic</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Uses principles we looked at above and in previous lectures and tutorials</a:t>
            </a:r>
            <a:endParaRPr dirty="0">
              <a:solidFill>
                <a:schemeClr val="dk1"/>
              </a:solidFill>
              <a:latin typeface="Calibri"/>
            </a:endParaRPr>
          </a:p>
          <a:p>
            <a:pPr marL="800100" marR="0" lvl="1" indent="-342900" algn="l" rtl="0">
              <a:spcBef>
                <a:spcPts val="0"/>
              </a:spcBef>
              <a:spcAft>
                <a:spcPts val="0"/>
              </a:spcAft>
              <a:buClr>
                <a:schemeClr val="dk1"/>
              </a:buClr>
              <a:buSzPts val="1800"/>
              <a:buFont typeface="Quattrocento Sans"/>
              <a:buAutoNum type="arabicPeriod"/>
            </a:pPr>
            <a:r>
              <a:rPr lang="en-GB" sz="1800" i="0" u="none" strike="noStrike" cap="none" err="1">
                <a:solidFill>
                  <a:schemeClr val="dk1"/>
                </a:solidFill>
                <a:latin typeface="Calibri"/>
                <a:ea typeface="Quattrocento Sans"/>
                <a:cs typeface="Quattrocento Sans"/>
                <a:sym typeface="Quattrocento Sans"/>
              </a:rPr>
              <a:t>Input.GetMouse</a:t>
            </a:r>
            <a:r>
              <a:rPr lang="en-GB" sz="1800" i="0" u="none" strike="noStrike" cap="none" dirty="0">
                <a:solidFill>
                  <a:schemeClr val="dk1"/>
                </a:solidFill>
                <a:latin typeface="Calibri"/>
                <a:ea typeface="Quattrocento Sans"/>
                <a:cs typeface="Quattrocento Sans"/>
                <a:sym typeface="Quattrocento Sans"/>
              </a:rPr>
              <a:t> Button</a:t>
            </a:r>
            <a:endParaRPr dirty="0">
              <a:solidFill>
                <a:schemeClr val="dk1"/>
              </a:solidFill>
              <a:latin typeface="Calibri"/>
            </a:endParaRPr>
          </a:p>
          <a:p>
            <a:pPr marL="800100" marR="0" lvl="1" indent="-342900" algn="l" rtl="0">
              <a:spcBef>
                <a:spcPts val="0"/>
              </a:spcBef>
              <a:spcAft>
                <a:spcPts val="0"/>
              </a:spcAft>
              <a:buClr>
                <a:schemeClr val="dk1"/>
              </a:buClr>
              <a:buSzPts val="1800"/>
              <a:buFont typeface="Quattrocento Sans"/>
              <a:buAutoNum type="arabicPeriod"/>
            </a:pPr>
            <a:r>
              <a:rPr lang="en-GB" sz="1800" i="0" u="none" strike="noStrike" cap="none" err="1">
                <a:solidFill>
                  <a:schemeClr val="dk1"/>
                </a:solidFill>
                <a:latin typeface="Calibri"/>
                <a:ea typeface="Quattrocento Sans"/>
                <a:cs typeface="Quattrocento Sans"/>
                <a:sym typeface="Quattrocento Sans"/>
              </a:rPr>
              <a:t>Input.GetAxis</a:t>
            </a:r>
            <a:endParaRPr sz="1800" i="0" u="none" strike="noStrike" cap="none">
              <a:solidFill>
                <a:schemeClr val="dk1"/>
              </a:solidFill>
              <a:latin typeface="Calibri"/>
              <a:ea typeface="Quattrocento Sans"/>
              <a:cs typeface="Quattrocento Sans"/>
            </a:endParaRPr>
          </a:p>
          <a:p>
            <a:pPr marL="800100" marR="0" lvl="1" indent="-342900" algn="l" rtl="0">
              <a:spcBef>
                <a:spcPts val="0"/>
              </a:spcBef>
              <a:spcAft>
                <a:spcPts val="0"/>
              </a:spcAft>
              <a:buClr>
                <a:schemeClr val="dk1"/>
              </a:buClr>
              <a:buSzPts val="1800"/>
              <a:buFont typeface="Quattrocento Sans"/>
              <a:buAutoNum type="arabicPeriod"/>
            </a:pPr>
            <a:r>
              <a:rPr lang="en-GB" sz="1800" i="0" u="none" strike="noStrike" cap="none" dirty="0">
                <a:solidFill>
                  <a:schemeClr val="dk1"/>
                </a:solidFill>
                <a:latin typeface="Calibri"/>
                <a:ea typeface="Quattrocento Sans"/>
                <a:cs typeface="Quattrocento Sans"/>
                <a:sym typeface="Quattrocento Sans"/>
              </a:rPr>
              <a:t>Transform</a:t>
            </a:r>
            <a:endParaRPr dirty="0">
              <a:solidFill>
                <a:schemeClr val="dk1"/>
              </a:solidFill>
              <a:latin typeface="Calibri"/>
            </a:endParaRPr>
          </a:p>
          <a:p>
            <a:pPr marL="800100" marR="0" lvl="1" indent="-342900" algn="l" rtl="0">
              <a:spcBef>
                <a:spcPts val="0"/>
              </a:spcBef>
              <a:spcAft>
                <a:spcPts val="0"/>
              </a:spcAft>
              <a:buClr>
                <a:schemeClr val="dk1"/>
              </a:buClr>
              <a:buSzPts val="1800"/>
              <a:buFont typeface="Quattrocento Sans"/>
              <a:buAutoNum type="arabicPeriod"/>
            </a:pPr>
            <a:r>
              <a:rPr lang="en-GB" sz="1800" i="0" u="none" strike="noStrike" cap="none" dirty="0">
                <a:solidFill>
                  <a:schemeClr val="dk1"/>
                </a:solidFill>
                <a:latin typeface="Calibri"/>
                <a:ea typeface="Quattrocento Sans"/>
                <a:cs typeface="Quattrocento Sans"/>
                <a:sym typeface="Quattrocento Sans"/>
              </a:rPr>
              <a:t>Vector3</a:t>
            </a:r>
            <a:endParaRPr dirty="0">
              <a:solidFill>
                <a:schemeClr val="dk1"/>
              </a:solidFill>
              <a:latin typeface="Calibri"/>
            </a:endParaRPr>
          </a:p>
          <a:p>
            <a:pPr marL="800100" marR="0" lvl="1" indent="-342900" algn="l" rtl="0">
              <a:spcBef>
                <a:spcPts val="0"/>
              </a:spcBef>
              <a:spcAft>
                <a:spcPts val="0"/>
              </a:spcAft>
              <a:buClr>
                <a:schemeClr val="dk1"/>
              </a:buClr>
              <a:buSzPts val="1800"/>
              <a:buFont typeface="Quattrocento Sans"/>
              <a:buAutoNum type="arabicPeriod"/>
            </a:pPr>
            <a:r>
              <a:rPr lang="en-GB" sz="1800" i="0" u="none" strike="noStrike" cap="none" err="1">
                <a:solidFill>
                  <a:schemeClr val="dk1"/>
                </a:solidFill>
                <a:latin typeface="Calibri"/>
                <a:ea typeface="Quattrocento Sans"/>
                <a:cs typeface="Quattrocento Sans"/>
                <a:sym typeface="Quattrocento Sans"/>
              </a:rPr>
              <a:t>Time.DeltaTime</a:t>
            </a:r>
            <a:endParaRPr sz="1800" i="0" u="none" strike="noStrike" cap="none">
              <a:solidFill>
                <a:schemeClr val="dk1"/>
              </a:solidFill>
              <a:latin typeface="Calibri"/>
              <a:ea typeface="Quattrocento Sans"/>
              <a:cs typeface="Quattrocento Sans"/>
            </a:endParaRPr>
          </a:p>
          <a:p>
            <a:pPr marL="800100" marR="0" lvl="1" indent="-228600" algn="l" rtl="0">
              <a:spcBef>
                <a:spcPts val="0"/>
              </a:spcBef>
              <a:spcAft>
                <a:spcPts val="0"/>
              </a:spcAft>
              <a:buClr>
                <a:schemeClr val="dk1"/>
              </a:buClr>
              <a:buSzPts val="1800"/>
              <a:buFont typeface="Quattrocento Sans"/>
              <a:buNone/>
            </a:pPr>
            <a:endParaRPr sz="1800" b="1"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198" name="Google Shape;198;p21"/>
          <p:cNvSpPr txBox="1"/>
          <p:nvPr/>
        </p:nvSpPr>
        <p:spPr>
          <a:xfrm>
            <a:off x="609600" y="1421650"/>
            <a:ext cx="11687400" cy="563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RTS Position</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Real Time Strategy Cameras</a:t>
            </a:r>
            <a:endParaRPr sz="360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Mouse RTS Position – Basic with RMB (</a:t>
            </a:r>
            <a:r>
              <a:rPr lang="en-GB" sz="3600" err="1">
                <a:solidFill>
                  <a:srgbClr val="FFFF00"/>
                </a:solidFill>
                <a:latin typeface="Calibri"/>
                <a:ea typeface="Quattrocento Sans"/>
                <a:cs typeface="Quattrocento Sans"/>
                <a:sym typeface="Quattrocento Sans"/>
              </a:rPr>
              <a:t>RightMouseButton</a:t>
            </a:r>
            <a:r>
              <a:rPr lang="en-GB" sz="3600" dirty="0">
                <a:solidFill>
                  <a:srgbClr val="FFFF00"/>
                </a:solidFill>
                <a:latin typeface="Calibri"/>
                <a:ea typeface="Quattrocento Sans"/>
                <a:cs typeface="Quattrocento Sans"/>
                <a:sym typeface="Quattrocento Sans"/>
              </a:rPr>
              <a:t>)</a:t>
            </a:r>
            <a:endParaRPr sz="360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http://coffeebreakcodes.com/camera-movement-with-mouse-unity3d-c/</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if (</a:t>
            </a:r>
            <a:r>
              <a:rPr lang="en-GB" sz="1800" err="1">
                <a:solidFill>
                  <a:schemeClr val="dk1"/>
                </a:solidFill>
                <a:latin typeface="Calibri"/>
                <a:ea typeface="Quattrocento Sans"/>
                <a:cs typeface="Quattrocento Sans"/>
                <a:sym typeface="Quattrocento Sans"/>
              </a:rPr>
              <a:t>Input.GetMouseButton</a:t>
            </a:r>
            <a:r>
              <a:rPr lang="en-GB" sz="1800" dirty="0">
                <a:solidFill>
                  <a:schemeClr val="dk1"/>
                </a:solidFill>
                <a:latin typeface="Calibri"/>
                <a:ea typeface="Quattrocento Sans"/>
                <a:cs typeface="Quattrocento Sans"/>
                <a:sym typeface="Quattrocento Sans"/>
              </a:rPr>
              <a:t> (1)) {</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if (</a:t>
            </a:r>
            <a:r>
              <a:rPr lang="en-GB" sz="1800" err="1">
                <a:solidFill>
                  <a:schemeClr val="dk1"/>
                </a:solidFill>
                <a:latin typeface="Calibri"/>
                <a:ea typeface="Quattrocento Sans"/>
                <a:cs typeface="Quattrocento Sans"/>
                <a:sym typeface="Quattrocento Sans"/>
              </a:rPr>
              <a:t>Input.GetAxis</a:t>
            </a:r>
            <a:r>
              <a:rPr lang="en-GB" sz="1800" dirty="0">
                <a:solidFill>
                  <a:schemeClr val="dk1"/>
                </a:solidFill>
                <a:latin typeface="Calibri"/>
                <a:ea typeface="Quattrocento Sans"/>
                <a:cs typeface="Quattrocento Sans"/>
                <a:sym typeface="Quattrocento Sans"/>
              </a:rPr>
              <a:t> ("Mouse X") &gt; 0) {</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r>
              <a:rPr lang="en-GB" sz="1800" err="1">
                <a:solidFill>
                  <a:schemeClr val="dk1"/>
                </a:solidFill>
                <a:latin typeface="Calibri"/>
                <a:ea typeface="Quattrocento Sans"/>
                <a:cs typeface="Quattrocento Sans"/>
                <a:sym typeface="Quattrocento Sans"/>
              </a:rPr>
              <a:t>transform.position</a:t>
            </a:r>
            <a:r>
              <a:rPr lang="en-GB" sz="1800" dirty="0">
                <a:solidFill>
                  <a:schemeClr val="dk1"/>
                </a:solidFill>
                <a:latin typeface="Calibri"/>
                <a:ea typeface="Quattrocento Sans"/>
                <a:cs typeface="Quattrocento Sans"/>
                <a:sym typeface="Quattrocento Sans"/>
              </a:rPr>
              <a:t> += new Vector3 (</a:t>
            </a:r>
            <a:r>
              <a:rPr lang="en-GB" sz="1800" err="1">
                <a:solidFill>
                  <a:schemeClr val="dk1"/>
                </a:solidFill>
                <a:latin typeface="Calibri"/>
                <a:ea typeface="Quattrocento Sans"/>
                <a:cs typeface="Quattrocento Sans"/>
                <a:sym typeface="Quattrocento Sans"/>
              </a:rPr>
              <a:t>Input.GetAxisRaw</a:t>
            </a:r>
            <a:r>
              <a:rPr lang="en-GB" sz="1800" dirty="0">
                <a:solidFill>
                  <a:schemeClr val="dk1"/>
                </a:solidFill>
                <a:latin typeface="Calibri"/>
                <a:ea typeface="Quattrocento Sans"/>
                <a:cs typeface="Quattrocento Sans"/>
                <a:sym typeface="Quattrocento Sans"/>
              </a:rPr>
              <a:t> ("Mouse X") * </a:t>
            </a:r>
            <a:r>
              <a:rPr lang="en-GB" sz="1800" err="1">
                <a:solidFill>
                  <a:schemeClr val="dk1"/>
                </a:solidFill>
                <a:latin typeface="Calibri"/>
                <a:ea typeface="Quattrocento Sans"/>
                <a:cs typeface="Quattrocento Sans"/>
                <a:sym typeface="Quattrocento Sans"/>
              </a:rPr>
              <a:t>Time.deltaTime</a:t>
            </a:r>
            <a:r>
              <a:rPr lang="en-GB" sz="1800" dirty="0">
                <a:solidFill>
                  <a:schemeClr val="dk1"/>
                </a:solidFill>
                <a:latin typeface="Calibri"/>
                <a:ea typeface="Quattrocento Sans"/>
                <a:cs typeface="Quattrocento Sans"/>
                <a:sym typeface="Quattrocento Sans"/>
              </a:rPr>
              <a:t> * speed, </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0.0f, </a:t>
            </a:r>
            <a:r>
              <a:rPr lang="en-GB" sz="1800" err="1">
                <a:solidFill>
                  <a:schemeClr val="dk1"/>
                </a:solidFill>
                <a:latin typeface="Calibri"/>
                <a:ea typeface="Quattrocento Sans"/>
                <a:cs typeface="Quattrocento Sans"/>
                <a:sym typeface="Quattrocento Sans"/>
              </a:rPr>
              <a:t>Input.GetAxisRaw</a:t>
            </a:r>
            <a:r>
              <a:rPr lang="en-GB" sz="1800" dirty="0">
                <a:solidFill>
                  <a:schemeClr val="dk1"/>
                </a:solidFill>
                <a:latin typeface="Calibri"/>
                <a:ea typeface="Quattrocento Sans"/>
                <a:cs typeface="Quattrocento Sans"/>
                <a:sym typeface="Quattrocento Sans"/>
              </a:rPr>
              <a:t> ("Mouse Y") * </a:t>
            </a:r>
            <a:r>
              <a:rPr lang="en-GB" sz="1800" err="1">
                <a:solidFill>
                  <a:schemeClr val="dk1"/>
                </a:solidFill>
                <a:latin typeface="Calibri"/>
                <a:ea typeface="Quattrocento Sans"/>
                <a:cs typeface="Quattrocento Sans"/>
                <a:sym typeface="Quattrocento Sans"/>
              </a:rPr>
              <a:t>Time.deltaTime</a:t>
            </a:r>
            <a:r>
              <a:rPr lang="en-GB" sz="1800" dirty="0">
                <a:solidFill>
                  <a:schemeClr val="dk1"/>
                </a:solidFill>
                <a:latin typeface="Calibri"/>
                <a:ea typeface="Quattrocento Sans"/>
                <a:cs typeface="Quattrocento Sans"/>
                <a:sym typeface="Quattrocento Sans"/>
              </a:rPr>
              <a:t> * speed);</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endParaRPr dirty="0">
              <a:solidFill>
                <a:schemeClr val="dk1"/>
              </a:solidFill>
              <a:latin typeface="Calibri"/>
            </a:endParaRPr>
          </a:p>
          <a:p>
            <a:pPr marL="0" marR="0" lvl="0" indent="0" algn="l" rtl="0">
              <a:spcBef>
                <a:spcPts val="0"/>
              </a:spcBef>
              <a:spcAft>
                <a:spcPts val="0"/>
              </a:spcAft>
              <a:buNone/>
            </a:pP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else if (</a:t>
            </a:r>
            <a:r>
              <a:rPr lang="en-GB" sz="1800" err="1">
                <a:solidFill>
                  <a:schemeClr val="dk1"/>
                </a:solidFill>
                <a:latin typeface="Calibri"/>
                <a:ea typeface="Quattrocento Sans"/>
                <a:cs typeface="Quattrocento Sans"/>
                <a:sym typeface="Quattrocento Sans"/>
              </a:rPr>
              <a:t>Input.GetAxis</a:t>
            </a:r>
            <a:r>
              <a:rPr lang="en-GB" sz="1800" dirty="0">
                <a:solidFill>
                  <a:schemeClr val="dk1"/>
                </a:solidFill>
                <a:latin typeface="Calibri"/>
                <a:ea typeface="Quattrocento Sans"/>
                <a:cs typeface="Quattrocento Sans"/>
                <a:sym typeface="Quattrocento Sans"/>
              </a:rPr>
              <a:t> ("Mouse X") &lt; 0) {</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r>
              <a:rPr lang="en-GB" sz="1800" err="1">
                <a:solidFill>
                  <a:schemeClr val="dk1"/>
                </a:solidFill>
                <a:latin typeface="Calibri"/>
                <a:ea typeface="Quattrocento Sans"/>
                <a:cs typeface="Quattrocento Sans"/>
                <a:sym typeface="Quattrocento Sans"/>
              </a:rPr>
              <a:t>transform.position</a:t>
            </a:r>
            <a:r>
              <a:rPr lang="en-GB" sz="1800">
                <a:solidFill>
                  <a:schemeClr val="dk1"/>
                </a:solidFill>
                <a:latin typeface="Calibri"/>
                <a:ea typeface="Quattrocento Sans"/>
                <a:cs typeface="Quattrocento Sans"/>
                <a:sym typeface="Quattrocento Sans"/>
              </a:rPr>
              <a:t> += new Vector3 (</a:t>
            </a:r>
            <a:r>
              <a:rPr lang="en-GB" sz="1800" err="1">
                <a:solidFill>
                  <a:schemeClr val="dk1"/>
                </a:solidFill>
                <a:latin typeface="Calibri"/>
                <a:ea typeface="Quattrocento Sans"/>
                <a:cs typeface="Quattrocento Sans"/>
                <a:sym typeface="Quattrocento Sans"/>
              </a:rPr>
              <a:t>Input.GetAxisRaw</a:t>
            </a:r>
            <a:r>
              <a:rPr lang="en-GB" sz="1800">
                <a:solidFill>
                  <a:schemeClr val="dk1"/>
                </a:solidFill>
                <a:latin typeface="Calibri"/>
                <a:ea typeface="Quattrocento Sans"/>
                <a:cs typeface="Quattrocento Sans"/>
                <a:sym typeface="Quattrocento Sans"/>
              </a:rPr>
              <a:t> ("Mouse X") * </a:t>
            </a:r>
            <a:r>
              <a:rPr lang="en-GB" sz="1800" err="1">
                <a:solidFill>
                  <a:schemeClr val="dk1"/>
                </a:solidFill>
                <a:latin typeface="Calibri"/>
                <a:ea typeface="Quattrocento Sans"/>
                <a:cs typeface="Quattrocento Sans"/>
                <a:sym typeface="Quattrocento Sans"/>
              </a:rPr>
              <a:t>Time.deltaTime</a:t>
            </a:r>
            <a:r>
              <a:rPr lang="en-GB" sz="1800">
                <a:solidFill>
                  <a:schemeClr val="dk1"/>
                </a:solidFill>
                <a:latin typeface="Calibri"/>
                <a:ea typeface="Quattrocento Sans"/>
                <a:cs typeface="Quattrocento Sans"/>
                <a:sym typeface="Quattrocento Sans"/>
              </a:rPr>
              <a:t> * speed, </a:t>
            </a:r>
            <a:endParaRPr>
              <a:solidFill>
                <a:schemeClr val="dk1"/>
              </a:solidFill>
              <a:latin typeface="Calibri"/>
            </a:endParaRPr>
          </a:p>
          <a:p>
            <a:pPr marL="0" marR="0" lvl="0" indent="0" algn="l" rtl="0">
              <a:spcBef>
                <a:spcPts val="0"/>
              </a:spcBef>
              <a:spcAft>
                <a:spcPts val="0"/>
              </a:spcAft>
              <a:buNone/>
            </a:pPr>
            <a:r>
              <a:rPr lang="en-GB" sz="1800">
                <a:solidFill>
                  <a:schemeClr val="dk1"/>
                </a:solidFill>
                <a:latin typeface="Calibri"/>
                <a:ea typeface="Quattrocento Sans"/>
                <a:cs typeface="Quattrocento Sans"/>
                <a:sym typeface="Quattrocento Sans"/>
              </a:rPr>
              <a:t>                                   0.0f, </a:t>
            </a:r>
            <a:r>
              <a:rPr lang="en-GB" sz="1800" err="1">
                <a:solidFill>
                  <a:schemeClr val="dk1"/>
                </a:solidFill>
                <a:latin typeface="Calibri"/>
                <a:ea typeface="Quattrocento Sans"/>
                <a:cs typeface="Quattrocento Sans"/>
                <a:sym typeface="Quattrocento Sans"/>
              </a:rPr>
              <a:t>Input.GetAxisRaw</a:t>
            </a:r>
            <a:r>
              <a:rPr lang="en-GB" sz="1800">
                <a:solidFill>
                  <a:schemeClr val="dk1"/>
                </a:solidFill>
                <a:latin typeface="Calibri"/>
                <a:ea typeface="Quattrocento Sans"/>
                <a:cs typeface="Quattrocento Sans"/>
                <a:sym typeface="Quattrocento Sans"/>
              </a:rPr>
              <a:t> ("Mouse Y") * </a:t>
            </a:r>
            <a:r>
              <a:rPr lang="en-GB" sz="1800" err="1">
                <a:solidFill>
                  <a:schemeClr val="dk1"/>
                </a:solidFill>
                <a:latin typeface="Calibri"/>
                <a:ea typeface="Quattrocento Sans"/>
                <a:cs typeface="Quattrocento Sans"/>
                <a:sym typeface="Quattrocento Sans"/>
              </a:rPr>
              <a:t>Time.deltaTime</a:t>
            </a:r>
            <a:r>
              <a:rPr lang="en-GB" sz="1800">
                <a:solidFill>
                  <a:schemeClr val="dk1"/>
                </a:solidFill>
                <a:latin typeface="Calibri"/>
                <a:ea typeface="Quattrocento Sans"/>
                <a:cs typeface="Quattrocento Sans"/>
                <a:sym typeface="Quattrocento Sans"/>
              </a:rPr>
              <a:t> * speed);</a:t>
            </a:r>
            <a:endParaRPr>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r>
              <a:rPr lang="en-GB" sz="1800"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a:t>
            </a:r>
            <a:endParaRPr dirty="0">
              <a:solidFill>
                <a:schemeClr val="dk1"/>
              </a:solidFill>
            </a:endParaRPr>
          </a:p>
          <a:p>
            <a:pPr marL="800100" marR="0" lvl="1" indent="-228600" algn="l" rtl="0">
              <a:spcBef>
                <a:spcPts val="0"/>
              </a:spcBef>
              <a:spcAft>
                <a:spcPts val="0"/>
              </a:spcAft>
              <a:buClr>
                <a:schemeClr val="dk1"/>
              </a:buClr>
              <a:buSzPts val="1800"/>
              <a:buFont typeface="Quattrocento Sans"/>
              <a:buNone/>
            </a:pPr>
            <a:endParaRPr sz="1800" b="1" i="0" u="none" strike="noStrike" cap="non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05" name="Google Shape;205;p22"/>
          <p:cNvSpPr txBox="1"/>
          <p:nvPr/>
        </p:nvSpPr>
        <p:spPr>
          <a:xfrm>
            <a:off x="609600" y="1421654"/>
            <a:ext cx="10890738"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RTS Position</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Real Time Strategy Cameras</a:t>
            </a: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Mouse RTS Position – Mouse 2D Out Screen Drag</a:t>
            </a:r>
            <a:endParaRPr dirty="0">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http://coffeebreakcodes.com/camera-movement-with-mouse-unity3d-c/</a:t>
            </a:r>
            <a:endParaRPr dirty="0">
              <a:solidFill>
                <a:schemeClr val="dk1"/>
              </a:solidFill>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Mouse screen position translates camera – Script on Camera</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Outside screen</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Inside screen (1/2 code)</a:t>
            </a:r>
            <a:endParaRPr dirty="0">
              <a:solidFill>
                <a:schemeClr val="dk1"/>
              </a:solidFill>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12" name="Google Shape;212;p23"/>
          <p:cNvSpPr txBox="1"/>
          <p:nvPr/>
        </p:nvSpPr>
        <p:spPr>
          <a:xfrm>
            <a:off x="176463" y="1124744"/>
            <a:ext cx="10890738" cy="57246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float speed = 10.0f;</a:t>
            </a:r>
            <a:endParaRPr dirty="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int boundary = 1;</a:t>
            </a:r>
            <a:endParaRPr dirty="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int width;</a:t>
            </a:r>
            <a:endParaRPr dirty="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int height;</a:t>
            </a:r>
            <a:endParaRPr dirty="0">
              <a:solidFill>
                <a:schemeClr val="dk1"/>
              </a:solidFill>
            </a:endParaRPr>
          </a:p>
          <a:p>
            <a:pPr marL="0" marR="0" lvl="0" indent="0" algn="l" rtl="0">
              <a:spcBef>
                <a:spcPts val="0"/>
              </a:spcBef>
              <a:spcAft>
                <a:spcPts val="0"/>
              </a:spcAft>
              <a:buNone/>
            </a:pP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void Start ()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width = </a:t>
            </a:r>
            <a:r>
              <a:rPr lang="en-GB" err="1">
                <a:solidFill>
                  <a:schemeClr val="dk1"/>
                </a:solidFill>
                <a:latin typeface="Quattrocento Sans"/>
                <a:ea typeface="Quattrocento Sans"/>
                <a:cs typeface="Quattrocento Sans"/>
                <a:sym typeface="Quattrocento Sans"/>
              </a:rPr>
              <a:t>Screen.width</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height = </a:t>
            </a:r>
            <a:r>
              <a:rPr lang="en-GB" err="1">
                <a:solidFill>
                  <a:schemeClr val="dk1"/>
                </a:solidFill>
                <a:latin typeface="Quattrocento Sans"/>
                <a:ea typeface="Quattrocento Sans"/>
                <a:cs typeface="Quattrocento Sans"/>
                <a:sym typeface="Quattrocento Sans"/>
              </a:rPr>
              <a:t>Screen.height</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void Update ()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b="1" err="1">
                <a:solidFill>
                  <a:srgbClr val="FFFF00"/>
                </a:solidFill>
                <a:latin typeface="Quattrocento Sans"/>
                <a:ea typeface="Quattrocento Sans"/>
                <a:cs typeface="Quattrocento Sans"/>
                <a:sym typeface="Quattrocento Sans"/>
              </a:rPr>
              <a:t>Input.mousePosition.x</a:t>
            </a:r>
            <a:r>
              <a:rPr lang="en-GB" b="1" dirty="0">
                <a:solidFill>
                  <a:srgbClr val="FFFF00"/>
                </a:solidFill>
                <a:latin typeface="Quattrocento Sans"/>
                <a:ea typeface="Quattrocento Sans"/>
                <a:cs typeface="Quattrocento Sans"/>
                <a:sym typeface="Quattrocento Sans"/>
              </a:rPr>
              <a:t> &gt; width - boundary</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new Vector3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X") *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0.0f, 0.0f);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Input.mousePosition.x</a:t>
            </a:r>
            <a:r>
              <a:rPr lang="en-GB" dirty="0">
                <a:solidFill>
                  <a:schemeClr val="dk1"/>
                </a:solidFill>
                <a:latin typeface="Quattrocento Sans"/>
                <a:ea typeface="Quattrocento Sans"/>
                <a:cs typeface="Quattrocento Sans"/>
                <a:sym typeface="Quattrocento Sans"/>
              </a:rPr>
              <a:t> &lt; 0 + boundary)</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b="1" err="1">
                <a:solidFill>
                  <a:srgbClr val="FFFF00"/>
                </a:solidFill>
                <a:latin typeface="Quattrocento Sans"/>
                <a:ea typeface="Quattrocento Sans"/>
                <a:cs typeface="Quattrocento Sans"/>
                <a:sym typeface="Quattrocento Sans"/>
              </a:rPr>
              <a:t>transform.position</a:t>
            </a:r>
            <a:r>
              <a:rPr lang="en-GB" b="1" dirty="0">
                <a:solidFill>
                  <a:srgbClr val="FFFF00"/>
                </a:solidFill>
                <a:latin typeface="Quattrocento Sans"/>
                <a:ea typeface="Quattrocento Sans"/>
                <a:cs typeface="Quattrocento Sans"/>
                <a:sym typeface="Quattrocento Sans"/>
              </a:rPr>
              <a:t> </a:t>
            </a:r>
            <a:r>
              <a:rPr lang="en-GB" dirty="0">
                <a:solidFill>
                  <a:schemeClr val="dk1"/>
                </a:solidFill>
                <a:latin typeface="Quattrocento Sans"/>
                <a:ea typeface="Quattrocento Sans"/>
                <a:cs typeface="Quattrocento Sans"/>
                <a:sym typeface="Quattrocento Sans"/>
              </a:rPr>
              <a:t>-= new Vector3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X") *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0.0f, 0.0f);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Input.mousePosition.y</a:t>
            </a:r>
            <a:r>
              <a:rPr lang="en-GB" dirty="0">
                <a:solidFill>
                  <a:schemeClr val="dk1"/>
                </a:solidFill>
                <a:latin typeface="Quattrocento Sans"/>
                <a:ea typeface="Quattrocento Sans"/>
                <a:cs typeface="Quattrocento Sans"/>
                <a:sym typeface="Quattrocento Sans"/>
              </a:rPr>
              <a:t> &gt; height - boundary)</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a:t>
            </a:r>
            <a:r>
              <a:rPr lang="en-GB" b="1" dirty="0">
                <a:solidFill>
                  <a:srgbClr val="FFFF00"/>
                </a:solidFill>
                <a:latin typeface="Quattrocento Sans"/>
                <a:ea typeface="Quattrocento Sans"/>
                <a:cs typeface="Quattrocento Sans"/>
                <a:sym typeface="Quattrocento Sans"/>
              </a:rPr>
              <a:t>new</a:t>
            </a:r>
            <a:r>
              <a:rPr lang="en-GB" dirty="0">
                <a:solidFill>
                  <a:schemeClr val="dk1"/>
                </a:solidFill>
                <a:latin typeface="Quattrocento Sans"/>
                <a:ea typeface="Quattrocento Sans"/>
                <a:cs typeface="Quattrocento Sans"/>
                <a:sym typeface="Quattrocento Sans"/>
              </a:rPr>
              <a:t> </a:t>
            </a:r>
            <a:r>
              <a:rPr lang="en-GB" b="1" dirty="0">
                <a:solidFill>
                  <a:srgbClr val="FFFF00"/>
                </a:solidFill>
                <a:latin typeface="Quattrocento Sans"/>
                <a:ea typeface="Quattrocento Sans"/>
                <a:cs typeface="Quattrocento Sans"/>
                <a:sym typeface="Quattrocento Sans"/>
              </a:rPr>
              <a:t>Vector3 (0.0f, 0.0f, </a:t>
            </a:r>
            <a:r>
              <a:rPr lang="en-GB" b="1" err="1">
                <a:solidFill>
                  <a:srgbClr val="FFFF00"/>
                </a:solidFill>
                <a:latin typeface="Quattrocento Sans"/>
                <a:ea typeface="Quattrocento Sans"/>
                <a:cs typeface="Quattrocento Sans"/>
                <a:sym typeface="Quattrocento Sans"/>
              </a:rPr>
              <a:t>Input.GetAxisRaw</a:t>
            </a:r>
            <a:r>
              <a:rPr lang="en-GB" b="1" dirty="0">
                <a:solidFill>
                  <a:srgbClr val="FFFF00"/>
                </a:solidFill>
                <a:latin typeface="Quattrocento Sans"/>
                <a:ea typeface="Quattrocento Sans"/>
                <a:cs typeface="Quattrocento Sans"/>
                <a:sym typeface="Quattrocento Sans"/>
              </a:rPr>
              <a:t> ("Mouse Y") </a:t>
            </a:r>
            <a:r>
              <a:rPr lang="en-GB" dirty="0">
                <a:solidFill>
                  <a:schemeClr val="dk1"/>
                </a:solidFill>
                <a:latin typeface="Quattrocento Sans"/>
                <a:ea typeface="Quattrocento Sans"/>
                <a:cs typeface="Quattrocento Sans"/>
                <a:sym typeface="Quattrocento Sans"/>
              </a:rPr>
              <a:t>*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Input.mousePosition.y</a:t>
            </a:r>
            <a:r>
              <a:rPr lang="en-GB" dirty="0">
                <a:solidFill>
                  <a:schemeClr val="dk1"/>
                </a:solidFill>
                <a:latin typeface="Quattrocento Sans"/>
                <a:ea typeface="Quattrocento Sans"/>
                <a:cs typeface="Quattrocento Sans"/>
                <a:sym typeface="Quattrocento Sans"/>
              </a:rPr>
              <a:t> &lt; 0 + boundary)</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new Vector3 (0.0f, 0.0f,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Y") </a:t>
            </a:r>
            <a:r>
              <a:rPr lang="en-GB" b="1" dirty="0">
                <a:solidFill>
                  <a:srgbClr val="FFFF00"/>
                </a:solidFill>
                <a:latin typeface="Quattrocento Sans"/>
                <a:ea typeface="Quattrocento Sans"/>
                <a:cs typeface="Quattrocento Sans"/>
                <a:sym typeface="Quattrocento Sans"/>
              </a:rPr>
              <a:t>* </a:t>
            </a:r>
            <a:r>
              <a:rPr lang="en-GB" b="1" err="1">
                <a:solidFill>
                  <a:srgbClr val="FFFF00"/>
                </a:solidFill>
                <a:latin typeface="Quattrocento Sans"/>
                <a:ea typeface="Quattrocento Sans"/>
                <a:cs typeface="Quattrocento Sans"/>
                <a:sym typeface="Quattrocento Sans"/>
              </a:rPr>
              <a:t>Time.deltaTime</a:t>
            </a:r>
            <a:r>
              <a:rPr lang="en-GB" b="1" dirty="0">
                <a:solidFill>
                  <a:srgbClr val="FFFF00"/>
                </a:solidFill>
                <a:latin typeface="Quattrocento Sans"/>
                <a:ea typeface="Quattrocento Sans"/>
                <a:cs typeface="Quattrocento Sans"/>
                <a:sym typeface="Quattrocento Sans"/>
              </a:rPr>
              <a:t> * speed</a:t>
            </a:r>
            <a:r>
              <a:rPr lang="en-GB" dirty="0">
                <a:solidFill>
                  <a:schemeClr val="dk1"/>
                </a:solidFill>
                <a:latin typeface="Quattrocento Sans"/>
                <a:ea typeface="Quattrocento Sans"/>
                <a:cs typeface="Quattrocento Sans"/>
                <a:sym typeface="Quattrocento Sans"/>
              </a:rPr>
              <a:t>); }</a:t>
            </a:r>
            <a:endParaRPr dirty="0">
              <a:solidFill>
                <a:schemeClr val="dk1"/>
              </a:solidFill>
            </a:endParaRPr>
          </a:p>
          <a:p>
            <a:pPr marL="0" marR="0" lvl="0" indent="0" algn="l" rtl="0">
              <a:spcBef>
                <a:spcPts val="0"/>
              </a:spcBef>
              <a:spcAft>
                <a:spcPts val="0"/>
              </a:spcAft>
              <a:buNone/>
            </a:pP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19" name="Google Shape;219;p24"/>
          <p:cNvSpPr txBox="1"/>
          <p:nvPr/>
        </p:nvSpPr>
        <p:spPr>
          <a:xfrm>
            <a:off x="609600" y="1421654"/>
            <a:ext cx="10890738"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RTS Position Live Input</a:t>
            </a:r>
            <a:endParaRPr lang="en-US" dirty="0">
              <a:latin typeface="Calibri"/>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Real Time Strategy Cameras</a:t>
            </a: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Mouse RTS Position – Mouse 2D In Screen Drag</a:t>
            </a:r>
            <a:endParaRPr dirty="0">
              <a:latin typeface="Calibri"/>
            </a:endParaRPr>
          </a:p>
          <a:p>
            <a:pPr marL="0" marR="0" lvl="0" indent="0" algn="l" rtl="0">
              <a:spcBef>
                <a:spcPts val="0"/>
              </a:spcBef>
              <a:spcAft>
                <a:spcPts val="0"/>
              </a:spcAft>
              <a:buNone/>
            </a:pPr>
            <a:r>
              <a:rPr lang="en-GB" sz="1800" u="sng"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http://coffeebreakcodes.com/camera-movement-with-mouse-unity3d-c/</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Mouse screen position translates camera – Script on Camera</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Outside screen</a:t>
            </a:r>
            <a:endParaRPr dirty="0">
              <a:solidFill>
                <a:schemeClr val="dk1"/>
              </a:solidFill>
              <a:latin typeface="Calibri"/>
            </a:endParaRPr>
          </a:p>
          <a:p>
            <a:pPr marL="342900" marR="0" lvl="0" indent="-342900" algn="l" rtl="0">
              <a:spcBef>
                <a:spcPts val="0"/>
              </a:spcBef>
              <a:spcAft>
                <a:spcPts val="0"/>
              </a:spcAft>
              <a:buClr>
                <a:schemeClr val="dk1"/>
              </a:buClr>
              <a:buSzPts val="1800"/>
              <a:buFont typeface="Quattrocento Sans"/>
              <a:buAutoNum type="arabicPeriod"/>
            </a:pPr>
            <a:r>
              <a:rPr lang="en-GB" sz="1800" dirty="0">
                <a:solidFill>
                  <a:schemeClr val="dk1"/>
                </a:solidFill>
                <a:latin typeface="Calibri"/>
                <a:ea typeface="Quattrocento Sans"/>
                <a:cs typeface="Quattrocento Sans"/>
                <a:sym typeface="Quattrocento Sans"/>
              </a:rPr>
              <a:t>Inside screen (½ code)</a:t>
            </a:r>
            <a:endParaRPr dirty="0">
              <a:solidFill>
                <a:schemeClr val="dk1"/>
              </a:solidFill>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26" name="Google Shape;226;p25"/>
          <p:cNvSpPr txBox="1"/>
          <p:nvPr/>
        </p:nvSpPr>
        <p:spPr>
          <a:xfrm>
            <a:off x="176463" y="1124744"/>
            <a:ext cx="10890738" cy="57246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float speed = 10.0f;</a:t>
            </a:r>
            <a:endParaRPr dirty="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int boundary = 1;</a:t>
            </a:r>
            <a:endParaRPr dirty="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int width;</a:t>
            </a:r>
            <a:endParaRPr dirty="0">
              <a:solidFill>
                <a:schemeClr val="dk1"/>
              </a:solidFill>
            </a:endParaRPr>
          </a:p>
          <a:p>
            <a:pPr marL="0" marR="0" lvl="0" indent="0" algn="l" rtl="0">
              <a:spcBef>
                <a:spcPts val="0"/>
              </a:spcBef>
              <a:spcAft>
                <a:spcPts val="0"/>
              </a:spcAft>
              <a:buNone/>
            </a:pPr>
            <a:r>
              <a:rPr lang="en-GB" sz="1600" dirty="0">
                <a:solidFill>
                  <a:schemeClr val="dk1"/>
                </a:solidFill>
                <a:latin typeface="Quattrocento Sans"/>
                <a:ea typeface="Quattrocento Sans"/>
                <a:cs typeface="Quattrocento Sans"/>
                <a:sym typeface="Quattrocento Sans"/>
              </a:rPr>
              <a:t>int height;</a:t>
            </a:r>
            <a:endParaRPr dirty="0">
              <a:solidFill>
                <a:schemeClr val="dk1"/>
              </a:solidFill>
            </a:endParaRPr>
          </a:p>
          <a:p>
            <a:pPr marL="0" marR="0" lvl="0" indent="0" algn="l" rtl="0">
              <a:spcBef>
                <a:spcPts val="0"/>
              </a:spcBef>
              <a:spcAft>
                <a:spcPts val="0"/>
              </a:spcAft>
              <a:buNone/>
            </a:pP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void Start ()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width = </a:t>
            </a:r>
            <a:r>
              <a:rPr lang="en-GB" err="1">
                <a:solidFill>
                  <a:schemeClr val="dk1"/>
                </a:solidFill>
                <a:latin typeface="Quattrocento Sans"/>
                <a:ea typeface="Quattrocento Sans"/>
                <a:cs typeface="Quattrocento Sans"/>
                <a:sym typeface="Quattrocento Sans"/>
              </a:rPr>
              <a:t>Screen.width</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height = </a:t>
            </a:r>
            <a:r>
              <a:rPr lang="en-GB" err="1">
                <a:solidFill>
                  <a:schemeClr val="dk1"/>
                </a:solidFill>
                <a:latin typeface="Quattrocento Sans"/>
                <a:ea typeface="Quattrocento Sans"/>
                <a:cs typeface="Quattrocento Sans"/>
                <a:sym typeface="Quattrocento Sans"/>
              </a:rPr>
              <a:t>Screen.height</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void Update ()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Input.mousePosition.x</a:t>
            </a:r>
            <a:r>
              <a:rPr lang="en-GB" dirty="0">
                <a:solidFill>
                  <a:schemeClr val="dk1"/>
                </a:solidFill>
                <a:latin typeface="Quattrocento Sans"/>
                <a:ea typeface="Quattrocento Sans"/>
                <a:cs typeface="Quattrocento Sans"/>
                <a:sym typeface="Quattrocento Sans"/>
              </a:rPr>
              <a:t> &gt; </a:t>
            </a:r>
            <a:r>
              <a:rPr lang="en-GB" b="1" dirty="0">
                <a:solidFill>
                  <a:srgbClr val="FFFF00"/>
                </a:solidFill>
                <a:latin typeface="Quattrocento Sans"/>
                <a:ea typeface="Quattrocento Sans"/>
                <a:cs typeface="Quattrocento Sans"/>
                <a:sym typeface="Quattrocento Sans"/>
              </a:rPr>
              <a:t>(width/2) </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new Vector3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X") *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0.0f, 0.0f);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Input.mousePosition.x</a:t>
            </a:r>
            <a:r>
              <a:rPr lang="en-GB" dirty="0">
                <a:solidFill>
                  <a:schemeClr val="dk1"/>
                </a:solidFill>
                <a:latin typeface="Quattrocento Sans"/>
                <a:ea typeface="Quattrocento Sans"/>
                <a:cs typeface="Quattrocento Sans"/>
                <a:sym typeface="Quattrocento Sans"/>
              </a:rPr>
              <a:t> &lt; </a:t>
            </a:r>
            <a:r>
              <a:rPr lang="en-GB" b="1" dirty="0">
                <a:solidFill>
                  <a:srgbClr val="FFFF00"/>
                </a:solidFill>
                <a:latin typeface="Quattrocento Sans"/>
                <a:ea typeface="Quattrocento Sans"/>
                <a:cs typeface="Quattrocento Sans"/>
                <a:sym typeface="Quattrocento Sans"/>
              </a:rPr>
              <a:t>(width/2) </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new Vector3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X") *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0.0f, 0.0f);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Input.mousePosition.y</a:t>
            </a:r>
            <a:r>
              <a:rPr lang="en-GB" dirty="0">
                <a:solidFill>
                  <a:schemeClr val="dk1"/>
                </a:solidFill>
                <a:latin typeface="Quattrocento Sans"/>
                <a:ea typeface="Quattrocento Sans"/>
                <a:cs typeface="Quattrocento Sans"/>
                <a:sym typeface="Quattrocento Sans"/>
              </a:rPr>
              <a:t> &gt; </a:t>
            </a:r>
            <a:r>
              <a:rPr lang="en-GB" b="1" dirty="0">
                <a:solidFill>
                  <a:srgbClr val="FFFF00"/>
                </a:solidFill>
                <a:latin typeface="Quattrocento Sans"/>
                <a:ea typeface="Quattrocento Sans"/>
                <a:cs typeface="Quattrocento Sans"/>
                <a:sym typeface="Quattrocento Sans"/>
              </a:rPr>
              <a:t>(height/2) </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new Vector3 (0.0f, 0.0f,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Y") *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if (</a:t>
            </a:r>
            <a:r>
              <a:rPr lang="en-GB" err="1">
                <a:solidFill>
                  <a:schemeClr val="dk1"/>
                </a:solidFill>
                <a:latin typeface="Quattrocento Sans"/>
                <a:ea typeface="Quattrocento Sans"/>
                <a:cs typeface="Quattrocento Sans"/>
                <a:sym typeface="Quattrocento Sans"/>
              </a:rPr>
              <a:t>Input.mousePosition.y</a:t>
            </a:r>
            <a:r>
              <a:rPr lang="en-GB" dirty="0">
                <a:solidFill>
                  <a:schemeClr val="dk1"/>
                </a:solidFill>
                <a:latin typeface="Quattrocento Sans"/>
                <a:ea typeface="Quattrocento Sans"/>
                <a:cs typeface="Quattrocento Sans"/>
                <a:sym typeface="Quattrocento Sans"/>
              </a:rPr>
              <a:t> &lt; </a:t>
            </a:r>
            <a:r>
              <a:rPr lang="en-GB" b="1" dirty="0">
                <a:solidFill>
                  <a:srgbClr val="FFFF00"/>
                </a:solidFill>
                <a:latin typeface="Quattrocento Sans"/>
                <a:ea typeface="Quattrocento Sans"/>
                <a:cs typeface="Quattrocento Sans"/>
                <a:sym typeface="Quattrocento Sans"/>
              </a:rPr>
              <a:t>(height/2) </a:t>
            </a: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		{ </a:t>
            </a:r>
            <a:r>
              <a:rPr lang="en-GB" err="1">
                <a:solidFill>
                  <a:schemeClr val="dk1"/>
                </a:solidFill>
                <a:latin typeface="Quattrocento Sans"/>
                <a:ea typeface="Quattrocento Sans"/>
                <a:cs typeface="Quattrocento Sans"/>
                <a:sym typeface="Quattrocento Sans"/>
              </a:rPr>
              <a:t>transform.position</a:t>
            </a:r>
            <a:r>
              <a:rPr lang="en-GB" dirty="0">
                <a:solidFill>
                  <a:schemeClr val="dk1"/>
                </a:solidFill>
                <a:latin typeface="Quattrocento Sans"/>
                <a:ea typeface="Quattrocento Sans"/>
                <a:cs typeface="Quattrocento Sans"/>
                <a:sym typeface="Quattrocento Sans"/>
              </a:rPr>
              <a:t> -= new Vector3 (0.0f, 0.0f, </a:t>
            </a:r>
            <a:r>
              <a:rPr lang="en-GB" err="1">
                <a:solidFill>
                  <a:schemeClr val="dk1"/>
                </a:solidFill>
                <a:latin typeface="Quattrocento Sans"/>
                <a:ea typeface="Quattrocento Sans"/>
                <a:cs typeface="Quattrocento Sans"/>
                <a:sym typeface="Quattrocento Sans"/>
              </a:rPr>
              <a:t>Input.GetAxisRaw</a:t>
            </a:r>
            <a:r>
              <a:rPr lang="en-GB" dirty="0">
                <a:solidFill>
                  <a:schemeClr val="dk1"/>
                </a:solidFill>
                <a:latin typeface="Quattrocento Sans"/>
                <a:ea typeface="Quattrocento Sans"/>
                <a:cs typeface="Quattrocento Sans"/>
                <a:sym typeface="Quattrocento Sans"/>
              </a:rPr>
              <a:t> ("Mouse Y") * </a:t>
            </a:r>
            <a:r>
              <a:rPr lang="en-GB" err="1">
                <a:solidFill>
                  <a:schemeClr val="dk1"/>
                </a:solidFill>
                <a:latin typeface="Quattrocento Sans"/>
                <a:ea typeface="Quattrocento Sans"/>
                <a:cs typeface="Quattrocento Sans"/>
                <a:sym typeface="Quattrocento Sans"/>
              </a:rPr>
              <a:t>Time.deltaTime</a:t>
            </a:r>
            <a:r>
              <a:rPr lang="en-GB" dirty="0">
                <a:solidFill>
                  <a:schemeClr val="dk1"/>
                </a:solidFill>
                <a:latin typeface="Quattrocento Sans"/>
                <a:ea typeface="Quattrocento Sans"/>
                <a:cs typeface="Quattrocento Sans"/>
                <a:sym typeface="Quattrocento Sans"/>
              </a:rPr>
              <a:t> * speed); }</a:t>
            </a:r>
            <a:endParaRPr dirty="0">
              <a:solidFill>
                <a:schemeClr val="dk1"/>
              </a:solidFill>
            </a:endParaRPr>
          </a:p>
          <a:p>
            <a:pPr marL="0" marR="0" lvl="0" indent="0" algn="l" rtl="0">
              <a:spcBef>
                <a:spcPts val="0"/>
              </a:spcBef>
              <a:spcAft>
                <a:spcPts val="0"/>
              </a:spcAft>
              <a:buNone/>
            </a:pPr>
            <a:endParaRPr dirty="0">
              <a:solidFill>
                <a:schemeClr val="dk1"/>
              </a:solidFill>
            </a:endParaRPr>
          </a:p>
          <a:p>
            <a:pPr marL="0" marR="0" lvl="0" indent="0" algn="l" rtl="0">
              <a:spcBef>
                <a:spcPts val="0"/>
              </a:spcBef>
              <a:spcAft>
                <a:spcPts val="0"/>
              </a:spcAft>
              <a:buNone/>
            </a:pPr>
            <a:r>
              <a:rPr lang="en-GB"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Shape 231"/>
        <p:cNvGrpSpPr/>
        <p:nvPr/>
      </p:nvGrpSpPr>
      <p:grpSpPr>
        <a:xfrm>
          <a:off x="0" y="0"/>
          <a:ext cx="0" cy="0"/>
          <a:chOff x="0" y="0"/>
          <a:chExt cx="0" cy="0"/>
        </a:xfrm>
      </p:grpSpPr>
      <p:sp>
        <p:nvSpPr>
          <p:cNvPr id="232" name="Google Shape;232;p26"/>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33" name="Google Shape;233;p26"/>
          <p:cNvSpPr txBox="1"/>
          <p:nvPr/>
        </p:nvSpPr>
        <p:spPr>
          <a:xfrm>
            <a:off x="609600" y="1421654"/>
            <a:ext cx="10890738"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Unity Camera Controllers – RTS Rotation Live Input</a:t>
            </a:r>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3600" b="1">
                <a:solidFill>
                  <a:srgbClr val="FFFF00"/>
                </a:solidFill>
                <a:latin typeface="Quattrocento Sans"/>
                <a:ea typeface="Quattrocento Sans"/>
                <a:cs typeface="Quattrocento Sans"/>
                <a:sym typeface="Quattrocento Sans"/>
              </a:rPr>
              <a:t>Mouse RTS Rotation</a:t>
            </a:r>
            <a:endParaRPr/>
          </a:p>
          <a:p>
            <a:pPr marL="0" marR="0" lvl="0" indent="0" algn="l" rtl="0">
              <a:spcBef>
                <a:spcPts val="0"/>
              </a:spcBef>
              <a:spcAft>
                <a:spcPts val="0"/>
              </a:spcAft>
              <a:buNone/>
            </a:pPr>
            <a:endParaRPr sz="18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0000"/>
                </a:solidFill>
                <a:latin typeface="Quattrocento Sans"/>
                <a:ea typeface="Quattrocento Sans"/>
                <a:cs typeface="Quattrocento Sans"/>
                <a:sym typeface="Quattrocento Sans"/>
              </a:rPr>
              <a:t>Mouse screen position rotates camera</a:t>
            </a:r>
            <a:endParaRPr/>
          </a:p>
          <a:p>
            <a:pPr marL="0" marR="0" lvl="0" indent="0" algn="l" rtl="0">
              <a:spcBef>
                <a:spcPts val="0"/>
              </a:spcBef>
              <a:spcAft>
                <a:spcPts val="0"/>
              </a:spcAft>
              <a:buNone/>
            </a:pPr>
            <a:endParaRPr sz="18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0000"/>
                </a:solidFill>
                <a:latin typeface="Quattrocento Sans"/>
                <a:ea typeface="Quattrocento Sans"/>
                <a:cs typeface="Quattrocento Sans"/>
                <a:sym typeface="Quattrocento Sans"/>
              </a:rPr>
              <a:t>This does not have focus for target, we will use other code instead.</a:t>
            </a:r>
            <a:endParaRPr/>
          </a:p>
          <a:p>
            <a:pPr marL="0" marR="0" lvl="0" indent="0" algn="l" rtl="0">
              <a:spcBef>
                <a:spcPts val="0"/>
              </a:spcBef>
              <a:spcAft>
                <a:spcPts val="0"/>
              </a:spcAft>
              <a:buNone/>
            </a:pPr>
            <a:endParaRPr sz="18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0000"/>
                </a:solidFill>
                <a:latin typeface="Quattrocento Sans"/>
                <a:ea typeface="Quattrocento Sans"/>
                <a:cs typeface="Quattrocento Sans"/>
                <a:sym typeface="Quattrocento Sans"/>
              </a:rPr>
              <a:t>Mouse Orbit and waypoint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40" name="Google Shape;240;p27"/>
          <p:cNvSpPr txBox="1"/>
          <p:nvPr/>
        </p:nvSpPr>
        <p:spPr>
          <a:xfrm>
            <a:off x="609600" y="1421654"/>
            <a:ext cx="10890738" cy="17081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Camera Controllers - 2.5D Diorama Style </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 Noor5 and Rollerbal</a:t>
            </a:r>
            <a:r>
              <a:rPr lang="en-GB" sz="3300" b="1" i="1" dirty="0">
                <a:solidFill>
                  <a:srgbClr val="FFFFFF"/>
                </a:solidFill>
                <a:latin typeface="Quattrocento Sans"/>
                <a:ea typeface="Quattrocento Sans"/>
                <a:cs typeface="Quattrocento Sans"/>
                <a:sym typeface="Quattrocento Sans"/>
              </a:rPr>
              <a:t>l</a:t>
            </a:r>
            <a:endParaRPr sz="3600" b="1" i="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47" name="Google Shape;247;p28"/>
          <p:cNvSpPr txBox="1"/>
          <p:nvPr/>
        </p:nvSpPr>
        <p:spPr>
          <a:xfrm>
            <a:off x="609600" y="1421654"/>
            <a:ext cx="11582400" cy="86792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2.5D Camera – Diorama</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Diorama - Noor5 and Rollerball</a:t>
            </a:r>
            <a:endParaRPr sz="3600" dirty="0">
              <a:solidFill>
                <a:srgbClr val="FFFF00"/>
              </a:solidFill>
              <a:latin typeface="Calibri"/>
              <a:ea typeface="Quattrocento Sans"/>
              <a:cs typeface="Quattrocento Sans"/>
            </a:endParaRPr>
          </a:p>
          <a:p>
            <a:r>
              <a:rPr lang="en-GB" sz="2800" dirty="0">
                <a:solidFill>
                  <a:srgbClr val="FFFF00"/>
                </a:solidFill>
                <a:latin typeface="Calibri"/>
                <a:ea typeface="Quattrocento Sans"/>
                <a:cs typeface="Quattrocento Sans"/>
                <a:sym typeface="Quattrocento Sans"/>
              </a:rPr>
              <a:t>Example: </a:t>
            </a:r>
            <a:r>
              <a:rPr lang="en-GB" sz="2800" u="sng" dirty="0">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https://www.youtube.com/watch?v=CvEMvYUXxaE</a:t>
            </a:r>
            <a:br>
              <a:rPr lang="en-GB" sz="2800" dirty="0">
                <a:latin typeface="Calibri"/>
                <a:ea typeface="Quattrocento Sans"/>
                <a:cs typeface="Quattrocento Sans"/>
              </a:rPr>
            </a:br>
            <a:r>
              <a:rPr lang="en-GB" sz="2800" dirty="0">
                <a:latin typeface="Calibri"/>
                <a:ea typeface="Quattrocento Sans"/>
                <a:sym typeface="Quattrocento Sans"/>
                <a:hlinkClick r:id="rId4"/>
              </a:rPr>
              <a:t>https://learn.unity.com/project/roll-a-ball</a:t>
            </a:r>
            <a:r>
              <a:rPr lang="en-GB" sz="2800" dirty="0">
                <a:latin typeface="Calibri"/>
                <a:ea typeface="Quattrocento Sans"/>
                <a:sym typeface="Quattrocento Sans"/>
              </a:rPr>
              <a:t> </a:t>
            </a:r>
            <a:endParaRPr sz="2000">
              <a:solidFill>
                <a:srgbClr val="FFFF00"/>
              </a:solidFill>
              <a:latin typeface="Calibri"/>
              <a:ea typeface="Quattrocento Sans"/>
              <a:cs typeface="Quattrocento Sans"/>
            </a:endParaRPr>
          </a:p>
          <a:p>
            <a:r>
              <a:rPr lang="en-GB" sz="2400" dirty="0">
                <a:solidFill>
                  <a:srgbClr val="00B0F0"/>
                </a:solidFill>
                <a:latin typeface="Calibri"/>
                <a:ea typeface="Quattrocento Sans"/>
                <a:sym typeface="Quattrocento Sans"/>
                <a:hlinkClick r:id="rId5">
                  <a:extLst>
                    <a:ext uri="{A12FA001-AC4F-418D-AE19-62706E023703}">
                      <ahyp:hlinkClr xmlns:ahyp="http://schemas.microsoft.com/office/drawing/2018/hyperlinkcolor" val="tx"/>
                    </a:ext>
                  </a:extLst>
                </a:hlinkClick>
              </a:rPr>
              <a:t>Noorcon Inc. - Unity 3D Game Programming Part 5 - Vahe Karamian</a:t>
            </a:r>
            <a:endParaRPr lang="en-GB">
              <a:solidFill>
                <a:srgbClr val="00B0F0"/>
              </a:solidFill>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742950" marR="0" lvl="0" indent="-742950" algn="l" rtl="0">
              <a:spcBef>
                <a:spcPts val="0"/>
              </a:spcBef>
              <a:spcAft>
                <a:spcPts val="0"/>
              </a:spcAft>
              <a:buClr>
                <a:srgbClr val="FFFF00"/>
              </a:buClr>
              <a:buSzPts val="2800"/>
              <a:buFont typeface="Quattrocento Sans"/>
              <a:buAutoNum type="arabicPeriod"/>
            </a:pPr>
            <a:r>
              <a:rPr lang="en-GB" sz="2800" dirty="0">
                <a:solidFill>
                  <a:srgbClr val="FFFF00"/>
                </a:solidFill>
                <a:latin typeface="Calibri"/>
                <a:ea typeface="Quattrocento Sans"/>
                <a:cs typeface="Quattrocento Sans"/>
                <a:sym typeface="Quattrocento Sans"/>
              </a:rPr>
              <a:t>Camera with transparent player controlled by input keys</a:t>
            </a:r>
            <a:endParaRPr lang="en-GB" sz="2800" dirty="0">
              <a:solidFill>
                <a:srgbClr val="FFFF00"/>
              </a:solidFill>
              <a:latin typeface="Calibri"/>
              <a:ea typeface="Quattrocento Sans"/>
              <a:cs typeface="Quattrocento Sans"/>
            </a:endParaRPr>
          </a:p>
          <a:p>
            <a:pPr lvl="2">
              <a:buClr>
                <a:srgbClr val="FFFF00"/>
              </a:buClr>
              <a:buSzPts val="2800"/>
            </a:pPr>
            <a:r>
              <a:rPr lang="en-GB" sz="2400" dirty="0">
                <a:solidFill>
                  <a:schemeClr val="bg2"/>
                </a:solidFill>
                <a:latin typeface="Calibri"/>
                <a:sym typeface="Quattrocento Sans"/>
              </a:rPr>
              <a:t>(Parented, constrained by script, or constrained by Unity “Align with View”)</a:t>
            </a:r>
            <a:endParaRPr sz="2400">
              <a:solidFill>
                <a:schemeClr val="bg2"/>
              </a:solidFill>
              <a:latin typeface="Calibri"/>
            </a:endParaRPr>
          </a:p>
          <a:p>
            <a:pPr marL="742950" marR="0" lvl="0" indent="-742950" algn="l" rtl="0">
              <a:spcBef>
                <a:spcPts val="0"/>
              </a:spcBef>
              <a:spcAft>
                <a:spcPts val="0"/>
              </a:spcAft>
              <a:buClr>
                <a:srgbClr val="FFFF00"/>
              </a:buClr>
              <a:buSzPts val="2800"/>
              <a:buFont typeface="Quattrocento Sans"/>
              <a:buAutoNum type="arabicPeriod"/>
            </a:pPr>
            <a:r>
              <a:rPr lang="en-GB" sz="2800" dirty="0">
                <a:solidFill>
                  <a:srgbClr val="FFFF00"/>
                </a:solidFill>
                <a:latin typeface="Calibri"/>
                <a:ea typeface="Quattrocento Sans"/>
                <a:cs typeface="Quattrocento Sans"/>
                <a:sym typeface="Quattrocento Sans"/>
              </a:rPr>
              <a:t>Collider boxes for lockdown</a:t>
            </a:r>
            <a:endParaRPr>
              <a:latin typeface="Calibri"/>
            </a:endParaRPr>
          </a:p>
          <a:p>
            <a:pPr marL="742950" marR="0" lvl="0" indent="-742950" algn="l" rtl="0">
              <a:spcBef>
                <a:spcPts val="0"/>
              </a:spcBef>
              <a:spcAft>
                <a:spcPts val="0"/>
              </a:spcAft>
              <a:buClr>
                <a:srgbClr val="FFFF00"/>
              </a:buClr>
              <a:buSzPts val="2800"/>
              <a:buFont typeface="Quattrocento Sans"/>
              <a:buAutoNum type="arabicPeriod"/>
            </a:pPr>
            <a:r>
              <a:rPr lang="en-GB" sz="2800" dirty="0">
                <a:solidFill>
                  <a:srgbClr val="FFFF00"/>
                </a:solidFill>
                <a:latin typeface="Calibri"/>
                <a:ea typeface="Quattrocento Sans"/>
                <a:cs typeface="Quattrocento Sans"/>
                <a:sym typeface="Quattrocento Sans"/>
              </a:rPr>
              <a:t>Similar to Rollerball tutorial</a:t>
            </a:r>
            <a:endParaRPr sz="2800" dirty="0">
              <a:solidFill>
                <a:srgbClr val="FFFF00"/>
              </a:solidFill>
              <a:latin typeface="Calibri"/>
              <a:ea typeface="Quattrocento Sans"/>
              <a:cs typeface="Quattrocento Sans"/>
              <a:sym typeface="Quattrocento Sans"/>
            </a:endParaRPr>
          </a:p>
          <a:p>
            <a:pPr marL="0" marR="0" lvl="0" indent="0" algn="l" rtl="0">
              <a:spcBef>
                <a:spcPts val="0"/>
              </a:spcBef>
              <a:spcAft>
                <a:spcPts val="0"/>
              </a:spcAft>
              <a:buNone/>
            </a:pPr>
            <a:endParaRPr sz="2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300" b="1" i="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endParaRPr>
          </a:p>
          <a:p>
            <a:pPr marL="742950" marR="0" lvl="0" indent="-514350" algn="l" rtl="0">
              <a:spcBef>
                <a:spcPts val="0"/>
              </a:spcBef>
              <a:spcAft>
                <a:spcPts val="0"/>
              </a:spcAft>
              <a:buClr>
                <a:schemeClr val="dk1"/>
              </a:buClr>
              <a:buSzPts val="3600"/>
              <a:buFont typeface="Quattrocento Sans"/>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br>
              <a:rPr lang="en-GB" sz="3600" b="1" dirty="0">
                <a:latin typeface="Quattrocento Sans"/>
                <a:ea typeface="Quattrocento Sans"/>
                <a:cs typeface="Quattrocento Sans"/>
              </a:rPr>
            </a:b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9"/>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54" name="Google Shape;254;p29"/>
          <p:cNvSpPr txBox="1"/>
          <p:nvPr/>
        </p:nvSpPr>
        <p:spPr>
          <a:xfrm>
            <a:off x="609600" y="1421654"/>
            <a:ext cx="11402728" cy="68325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2.5D Camera – Diorama Tutorial with Player object and Aligned Camera</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Diorama - Noor5 and Rollerball</a:t>
            </a:r>
            <a:endParaRPr sz="3600" dirty="0">
              <a:solidFill>
                <a:srgbClr val="FFFF00"/>
              </a:solidFill>
              <a:latin typeface="Calibri"/>
              <a:ea typeface="Quattrocento Sans"/>
              <a:cs typeface="Quattrocento Sans"/>
            </a:endParaRPr>
          </a:p>
          <a:p>
            <a:r>
              <a:rPr lang="en-GB" sz="2400" dirty="0">
                <a:solidFill>
                  <a:srgbClr val="00B0F0"/>
                </a:solidFill>
                <a:latin typeface="Calibri"/>
                <a:ea typeface="Quattrocento Sans"/>
                <a:sym typeface="Quattrocento Sans"/>
                <a:hlinkClick r:id="rId3">
                  <a:extLst>
                    <a:ext uri="{A12FA001-AC4F-418D-AE19-62706E023703}">
                      <ahyp:hlinkClr xmlns:ahyp="http://schemas.microsoft.com/office/drawing/2018/hyperlinkcolor" val="tx"/>
                    </a:ext>
                  </a:extLst>
                </a:hlinkClick>
              </a:rPr>
              <a:t>Noorcon Inc. - Unity 3D Game Programming Part 5 - Vahe Karamian</a:t>
            </a:r>
            <a:endParaRPr>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br>
              <a:rPr lang="en-GB" sz="1800" dirty="0">
                <a:latin typeface="Calibri"/>
                <a:ea typeface="Quattrocento Sans"/>
                <a:cs typeface="Quattrocento Sans"/>
              </a:rPr>
            </a:br>
            <a:r>
              <a:rPr lang="en-GB" sz="1800" dirty="0">
                <a:solidFill>
                  <a:srgbClr val="FFFF00"/>
                </a:solidFill>
                <a:latin typeface="Calibri"/>
                <a:ea typeface="Quattrocento Sans"/>
                <a:cs typeface="Quattrocento Sans"/>
                <a:sym typeface="Quattrocento Sans"/>
              </a:rPr>
              <a:t>Create </a:t>
            </a:r>
            <a:r>
              <a:rPr lang="en-GB" sz="1800" err="1">
                <a:solidFill>
                  <a:srgbClr val="FFFF00"/>
                </a:solidFill>
                <a:latin typeface="Calibri"/>
                <a:ea typeface="Quattrocento Sans"/>
                <a:cs typeface="Quattrocento Sans"/>
                <a:sym typeface="Quattrocento Sans"/>
              </a:rPr>
              <a:t>Gameobject</a:t>
            </a:r>
            <a:r>
              <a:rPr lang="en-GB" sz="1800" dirty="0">
                <a:solidFill>
                  <a:srgbClr val="FFFF00"/>
                </a:solidFill>
                <a:latin typeface="Calibri"/>
                <a:ea typeface="Quattrocento Sans"/>
                <a:cs typeface="Quattrocento Sans"/>
                <a:sym typeface="Quattrocento Sans"/>
              </a:rPr>
              <a:t> (Player):</a:t>
            </a:r>
            <a:endParaRPr>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Add </a:t>
            </a:r>
            <a:r>
              <a:rPr lang="en-GB" sz="1800" err="1">
                <a:solidFill>
                  <a:schemeClr val="dk1"/>
                </a:solidFill>
                <a:latin typeface="Calibri"/>
                <a:ea typeface="Quattrocento Sans"/>
                <a:cs typeface="Quattrocento Sans"/>
                <a:sym typeface="Quattrocento Sans"/>
              </a:rPr>
              <a:t>Rigidbody</a:t>
            </a:r>
            <a:r>
              <a:rPr lang="en-GB" sz="1800" dirty="0">
                <a:solidFill>
                  <a:schemeClr val="dk1"/>
                </a:solidFill>
                <a:latin typeface="Calibri"/>
                <a:ea typeface="Quattrocento Sans"/>
                <a:cs typeface="Quattrocento Sans"/>
                <a:sym typeface="Quattrocento Sans"/>
              </a:rPr>
              <a:t> (Physics, Gravity)</a:t>
            </a:r>
            <a:endParaRPr>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Freeze rotation on X and Z</a:t>
            </a:r>
            <a:endParaRPr sz="1800">
              <a:solidFill>
                <a:schemeClr val="dk1"/>
              </a:solidFill>
              <a:latin typeface="Calibri"/>
              <a:ea typeface="Quattrocento Sans"/>
              <a:cs typeface="Quattrocento Sans"/>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 Noor5 and Rollerball</a:t>
            </a:r>
            <a:br>
              <a:rPr lang="en-GB" sz="3600" dirty="0">
                <a:latin typeface="Calibri"/>
                <a:ea typeface="Quattrocento Sans"/>
                <a:cs typeface="Quattrocento Sans"/>
              </a:rPr>
            </a:b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0"/>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61" name="Google Shape;261;p30"/>
          <p:cNvSpPr txBox="1"/>
          <p:nvPr/>
        </p:nvSpPr>
        <p:spPr>
          <a:xfrm>
            <a:off x="609600" y="1421654"/>
            <a:ext cx="11402728" cy="80021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2.5D Camera – Diorama Tutorial with Player object and Aligned Camera</a:t>
            </a:r>
            <a:endParaRPr dirty="0"/>
          </a:p>
          <a:p>
            <a:r>
              <a:rPr lang="en-GB" sz="2400" dirty="0">
                <a:solidFill>
                  <a:srgbClr val="00B0F0"/>
                </a:solidFill>
                <a:ea typeface="Quattrocento Sans"/>
                <a:sym typeface="Quattrocento Sans"/>
                <a:hlinkClick r:id="rId3">
                  <a:extLst>
                    <a:ext uri="{A12FA001-AC4F-418D-AE19-62706E023703}">
                      <ahyp:hlinkClr xmlns:ahyp="http://schemas.microsoft.com/office/drawing/2018/hyperlinkcolor" val="tx"/>
                    </a:ext>
                  </a:extLst>
                </a:hlinkClick>
              </a:rPr>
              <a:t>Noorcon Inc. - Unity 3D Game Programming Part 5 - Vahe Karamian</a:t>
            </a:r>
            <a:endParaRPr>
              <a:solidFill>
                <a:srgbClr val="00B0F0"/>
              </a:solidFill>
            </a:endParaRPr>
          </a:p>
          <a:p>
            <a:pPr marL="0" marR="0" lvl="0" indent="0" algn="l"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Add Script to Player </a:t>
            </a:r>
            <a:r>
              <a:rPr lang="en-GB" sz="1800" b="1" dirty="0" err="1">
                <a:solidFill>
                  <a:srgbClr val="FFFF00"/>
                </a:solidFill>
                <a:latin typeface="Quattrocento Sans"/>
                <a:ea typeface="Quattrocento Sans"/>
                <a:cs typeface="Quattrocento Sans"/>
                <a:sym typeface="Quattrocento Sans"/>
              </a:rPr>
              <a:t>GameObject</a:t>
            </a:r>
            <a:r>
              <a:rPr lang="en-GB" sz="1800" b="1" dirty="0">
                <a:solidFill>
                  <a:srgbClr val="FFFF00"/>
                </a:solidFill>
                <a:latin typeface="Quattrocento Sans"/>
                <a:ea typeface="Quattrocento Sans"/>
                <a:cs typeface="Quattrocento Sans"/>
                <a:sym typeface="Quattrocento Sans"/>
              </a:rPr>
              <a:t>:</a:t>
            </a:r>
            <a:endParaRPr dirty="0"/>
          </a:p>
          <a:p>
            <a:pPr marL="0" marR="0" lvl="0" indent="0" algn="l" rtl="0">
              <a:spcBef>
                <a:spcPts val="0"/>
              </a:spcBef>
              <a:spcAft>
                <a:spcPts val="0"/>
              </a:spcAft>
              <a:buNone/>
            </a:pPr>
            <a:r>
              <a:rPr lang="en-GB" sz="1000" dirty="0">
                <a:solidFill>
                  <a:schemeClr val="dk1"/>
                </a:solidFill>
                <a:latin typeface="Quattrocento Sans"/>
                <a:ea typeface="Quattrocento Sans"/>
                <a:cs typeface="Quattrocento Sans"/>
                <a:sym typeface="Quattrocento Sans"/>
              </a:rPr>
              <a:t>using </a:t>
            </a:r>
            <a:r>
              <a:rPr lang="en-GB" sz="1000" dirty="0" err="1">
                <a:solidFill>
                  <a:schemeClr val="dk1"/>
                </a:solidFill>
                <a:latin typeface="Quattrocento Sans"/>
                <a:ea typeface="Quattrocento Sans"/>
                <a:cs typeface="Quattrocento Sans"/>
                <a:sym typeface="Quattrocento Sans"/>
              </a:rPr>
              <a:t>UnityEngine</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using </a:t>
            </a:r>
            <a:r>
              <a:rPr lang="en-GB" sz="1000" dirty="0" err="1">
                <a:solidFill>
                  <a:schemeClr val="dk1"/>
                </a:solidFill>
                <a:latin typeface="Quattrocento Sans"/>
                <a:ea typeface="Quattrocento Sans"/>
                <a:cs typeface="Quattrocento Sans"/>
                <a:sym typeface="Quattrocento Sans"/>
              </a:rPr>
              <a:t>System.Collections</a:t>
            </a:r>
            <a:r>
              <a:rPr lang="en-GB" sz="1000" dirty="0">
                <a:solidFill>
                  <a:schemeClr val="dk1"/>
                </a:solidFill>
                <a:latin typeface="Quattrocento Sans"/>
                <a:ea typeface="Quattrocento Sans"/>
                <a:cs typeface="Quattrocento Sans"/>
                <a:sym typeface="Quattrocento Sans"/>
              </a:rPr>
              <a:t>;</a:t>
            </a:r>
            <a:endParaRPr dirty="0">
              <a:solidFill>
                <a:schemeClr val="dk1"/>
              </a:solidFill>
            </a:endParaRPr>
          </a:p>
          <a:p>
            <a:pPr marL="0" marR="0" lvl="0" indent="0" algn="l" rtl="0">
              <a:spcBef>
                <a:spcPts val="0"/>
              </a:spcBef>
              <a:spcAft>
                <a:spcPts val="0"/>
              </a:spcAft>
              <a:buNone/>
            </a:pPr>
            <a:r>
              <a:rPr lang="en-GB" sz="1000" dirty="0">
                <a:solidFill>
                  <a:schemeClr val="dk1"/>
                </a:solidFill>
                <a:latin typeface="Quattrocento Sans"/>
                <a:ea typeface="Quattrocento Sans"/>
                <a:cs typeface="Quattrocento Sans"/>
                <a:sym typeface="Quattrocento Sans"/>
              </a:rPr>
              <a:t>public class </a:t>
            </a:r>
            <a:r>
              <a:rPr lang="en-GB" sz="1000" dirty="0" err="1">
                <a:solidFill>
                  <a:schemeClr val="dk1"/>
                </a:solidFill>
                <a:latin typeface="Quattrocento Sans"/>
                <a:ea typeface="Quattrocento Sans"/>
                <a:cs typeface="Quattrocento Sans"/>
                <a:sym typeface="Quattrocento Sans"/>
              </a:rPr>
              <a:t>playerInput</a:t>
            </a:r>
            <a:r>
              <a:rPr lang="en-GB" sz="1000" dirty="0">
                <a:solidFill>
                  <a:schemeClr val="dk1"/>
                </a:solidFill>
                <a:latin typeface="Quattrocento Sans"/>
                <a:ea typeface="Quattrocento Sans"/>
                <a:cs typeface="Quattrocento Sans"/>
                <a:sym typeface="Quattrocento Sans"/>
              </a:rPr>
              <a:t> : </a:t>
            </a:r>
            <a:r>
              <a:rPr lang="en-GB" sz="1000" dirty="0" err="1">
                <a:solidFill>
                  <a:schemeClr val="dk1"/>
                </a:solidFill>
                <a:latin typeface="Quattrocento Sans"/>
                <a:ea typeface="Quattrocento Sans"/>
                <a:cs typeface="Quattrocento Sans"/>
                <a:sym typeface="Quattrocento Sans"/>
              </a:rPr>
              <a:t>MonoBehaviour</a:t>
            </a:r>
            <a:r>
              <a:rPr lang="en-GB" sz="1000" dirty="0">
                <a:solidFill>
                  <a:schemeClr val="dk1"/>
                </a:solidFill>
                <a:latin typeface="Quattrocento Sans"/>
                <a:ea typeface="Quattrocento Sans"/>
                <a:cs typeface="Quattrocento Sans"/>
                <a:sym typeface="Quattrocento Sans"/>
              </a:rPr>
              <a:t> {</a:t>
            </a:r>
            <a:endParaRPr dirty="0">
              <a:solidFill>
                <a:schemeClr val="dk1"/>
              </a:solidFill>
            </a:endParaRPr>
          </a:p>
          <a:p>
            <a:r>
              <a:rPr lang="en-GB" sz="1000" dirty="0">
                <a:solidFill>
                  <a:schemeClr val="dk1"/>
                </a:solidFill>
                <a:latin typeface="Quattrocento Sans"/>
                <a:ea typeface="Quattrocento Sans"/>
                <a:cs typeface="Quattrocento Sans"/>
                <a:sym typeface="Quattrocento Sans"/>
              </a:rPr>
              <a:t>// Use this for initialization</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void Start ()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 Update is called once per frame</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void Update ()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 code for the movement of player (CP) forward</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if(</a:t>
            </a:r>
            <a:r>
              <a:rPr lang="en-GB" sz="1000" dirty="0" err="1">
                <a:solidFill>
                  <a:schemeClr val="dk1"/>
                </a:solidFill>
                <a:latin typeface="Quattrocento Sans"/>
                <a:ea typeface="Quattrocento Sans"/>
                <a:cs typeface="Quattrocento Sans"/>
                <a:sym typeface="Quattrocento Sans"/>
              </a:rPr>
              <a:t>Input.GetKey</a:t>
            </a:r>
            <a:r>
              <a:rPr lang="en-GB" sz="1000" dirty="0">
                <a:solidFill>
                  <a:schemeClr val="dk1"/>
                </a:solidFill>
                <a:latin typeface="Quattrocento Sans"/>
                <a:ea typeface="Quattrocento Sans"/>
                <a:cs typeface="Quattrocento Sans"/>
                <a:sym typeface="Quattrocento Sans"/>
              </a:rPr>
              <a:t>(</a:t>
            </a:r>
            <a:r>
              <a:rPr lang="en-GB" sz="1000" dirty="0" err="1">
                <a:solidFill>
                  <a:schemeClr val="dk1"/>
                </a:solidFill>
                <a:latin typeface="Quattrocento Sans"/>
                <a:ea typeface="Quattrocento Sans"/>
                <a:cs typeface="Quattrocento Sans"/>
                <a:sym typeface="Quattrocento Sans"/>
              </a:rPr>
              <a:t>KeyCode.UpArrow</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r>
              <a:rPr lang="en-GB" sz="1000" dirty="0" err="1">
                <a:solidFill>
                  <a:schemeClr val="dk1"/>
                </a:solidFill>
                <a:latin typeface="Quattrocento Sans"/>
                <a:ea typeface="Quattrocento Sans"/>
                <a:cs typeface="Quattrocento Sans"/>
                <a:sym typeface="Quattrocento Sans"/>
              </a:rPr>
              <a:t>this.transform.Translate</a:t>
            </a:r>
            <a:r>
              <a:rPr lang="en-GB" sz="1000" dirty="0">
                <a:solidFill>
                  <a:schemeClr val="dk1"/>
                </a:solidFill>
                <a:latin typeface="Quattrocento Sans"/>
                <a:ea typeface="Quattrocento Sans"/>
                <a:cs typeface="Quattrocento Sans"/>
                <a:sym typeface="Quattrocento Sans"/>
              </a:rPr>
              <a:t>(Vector3.forward * </a:t>
            </a:r>
            <a:r>
              <a:rPr lang="en-GB" sz="1000" dirty="0" err="1">
                <a:solidFill>
                  <a:schemeClr val="dk1"/>
                </a:solidFill>
                <a:latin typeface="Quattrocento Sans"/>
                <a:ea typeface="Quattrocento Sans"/>
                <a:cs typeface="Quattrocento Sans"/>
                <a:sym typeface="Quattrocento Sans"/>
              </a:rPr>
              <a:t>Time.deltaTime</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 code for the movement of player (CP) backward</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if(</a:t>
            </a:r>
            <a:r>
              <a:rPr lang="en-GB" sz="1000" dirty="0" err="1">
                <a:solidFill>
                  <a:schemeClr val="dk1"/>
                </a:solidFill>
                <a:latin typeface="Quattrocento Sans"/>
                <a:ea typeface="Quattrocento Sans"/>
                <a:cs typeface="Quattrocento Sans"/>
                <a:sym typeface="Quattrocento Sans"/>
              </a:rPr>
              <a:t>Input.GetKey</a:t>
            </a:r>
            <a:r>
              <a:rPr lang="en-GB" sz="1000" dirty="0">
                <a:solidFill>
                  <a:schemeClr val="dk1"/>
                </a:solidFill>
                <a:latin typeface="Quattrocento Sans"/>
                <a:ea typeface="Quattrocento Sans"/>
                <a:cs typeface="Quattrocento Sans"/>
                <a:sym typeface="Quattrocento Sans"/>
              </a:rPr>
              <a:t>(</a:t>
            </a:r>
            <a:r>
              <a:rPr lang="en-GB" sz="1000" dirty="0" err="1">
                <a:solidFill>
                  <a:schemeClr val="dk1"/>
                </a:solidFill>
                <a:latin typeface="Quattrocento Sans"/>
                <a:ea typeface="Quattrocento Sans"/>
                <a:cs typeface="Quattrocento Sans"/>
                <a:sym typeface="Quattrocento Sans"/>
              </a:rPr>
              <a:t>KeyCode.DownArrow</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r>
              <a:rPr lang="en-GB" sz="1000" dirty="0" err="1">
                <a:solidFill>
                  <a:schemeClr val="dk1"/>
                </a:solidFill>
                <a:latin typeface="Quattrocento Sans"/>
                <a:ea typeface="Quattrocento Sans"/>
                <a:cs typeface="Quattrocento Sans"/>
                <a:sym typeface="Quattrocento Sans"/>
              </a:rPr>
              <a:t>this.transform.Translate</a:t>
            </a:r>
            <a:r>
              <a:rPr lang="en-GB" sz="1000" dirty="0">
                <a:solidFill>
                  <a:schemeClr val="dk1"/>
                </a:solidFill>
                <a:latin typeface="Quattrocento Sans"/>
                <a:ea typeface="Quattrocento Sans"/>
                <a:cs typeface="Quattrocento Sans"/>
                <a:sym typeface="Quattrocento Sans"/>
              </a:rPr>
              <a:t>(Vector3.back * </a:t>
            </a:r>
            <a:r>
              <a:rPr lang="en-GB" sz="1000" dirty="0" err="1">
                <a:solidFill>
                  <a:schemeClr val="dk1"/>
                </a:solidFill>
                <a:latin typeface="Quattrocento Sans"/>
                <a:ea typeface="Quattrocento Sans"/>
                <a:cs typeface="Quattrocento Sans"/>
                <a:sym typeface="Quattrocento Sans"/>
              </a:rPr>
              <a:t>Time.deltaTime</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 code for the movement of player (CP) left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if(</a:t>
            </a:r>
            <a:r>
              <a:rPr lang="en-GB" sz="1000" dirty="0" err="1">
                <a:solidFill>
                  <a:schemeClr val="dk1"/>
                </a:solidFill>
                <a:latin typeface="Quattrocento Sans"/>
                <a:ea typeface="Quattrocento Sans"/>
                <a:cs typeface="Quattrocento Sans"/>
                <a:sym typeface="Quattrocento Sans"/>
              </a:rPr>
              <a:t>Input.GetKey</a:t>
            </a:r>
            <a:r>
              <a:rPr lang="en-GB" sz="1000" dirty="0">
                <a:solidFill>
                  <a:schemeClr val="dk1"/>
                </a:solidFill>
                <a:latin typeface="Quattrocento Sans"/>
                <a:ea typeface="Quattrocento Sans"/>
                <a:cs typeface="Quattrocento Sans"/>
                <a:sym typeface="Quattrocento Sans"/>
              </a:rPr>
              <a:t>(</a:t>
            </a:r>
            <a:r>
              <a:rPr lang="en-GB" sz="1000" dirty="0" err="1">
                <a:solidFill>
                  <a:schemeClr val="dk1"/>
                </a:solidFill>
                <a:latin typeface="Quattrocento Sans"/>
                <a:ea typeface="Quattrocento Sans"/>
                <a:cs typeface="Quattrocento Sans"/>
                <a:sym typeface="Quattrocento Sans"/>
              </a:rPr>
              <a:t>KeyCode.LeftArrow</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r>
              <a:rPr lang="en-GB" sz="1000" dirty="0" err="1">
                <a:solidFill>
                  <a:schemeClr val="dk1"/>
                </a:solidFill>
                <a:latin typeface="Quattrocento Sans"/>
                <a:ea typeface="Quattrocento Sans"/>
                <a:cs typeface="Quattrocento Sans"/>
                <a:sym typeface="Quattrocento Sans"/>
              </a:rPr>
              <a:t>this.transform.Translate</a:t>
            </a:r>
            <a:r>
              <a:rPr lang="en-GB" sz="1000" dirty="0">
                <a:solidFill>
                  <a:schemeClr val="dk1"/>
                </a:solidFill>
                <a:latin typeface="Quattrocento Sans"/>
                <a:ea typeface="Quattrocento Sans"/>
                <a:cs typeface="Quattrocento Sans"/>
                <a:sym typeface="Quattrocento Sans"/>
              </a:rPr>
              <a:t>(Vector3.right, -5);</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 code for the movement of player (CP) right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if(</a:t>
            </a:r>
            <a:r>
              <a:rPr lang="en-GB" sz="1000" dirty="0" err="1">
                <a:solidFill>
                  <a:schemeClr val="dk1"/>
                </a:solidFill>
                <a:latin typeface="Quattrocento Sans"/>
                <a:ea typeface="Quattrocento Sans"/>
                <a:cs typeface="Quattrocento Sans"/>
                <a:sym typeface="Quattrocento Sans"/>
              </a:rPr>
              <a:t>Input.GetKey</a:t>
            </a:r>
            <a:r>
              <a:rPr lang="en-GB" sz="1000" dirty="0">
                <a:solidFill>
                  <a:schemeClr val="dk1"/>
                </a:solidFill>
                <a:latin typeface="Quattrocento Sans"/>
                <a:ea typeface="Quattrocento Sans"/>
                <a:cs typeface="Quattrocento Sans"/>
                <a:sym typeface="Quattrocento Sans"/>
              </a:rPr>
              <a:t>(</a:t>
            </a:r>
            <a:r>
              <a:rPr lang="en-GB" sz="1000" dirty="0" err="1">
                <a:solidFill>
                  <a:schemeClr val="dk1"/>
                </a:solidFill>
                <a:latin typeface="Quattrocento Sans"/>
                <a:ea typeface="Quattrocento Sans"/>
                <a:cs typeface="Quattrocento Sans"/>
                <a:sym typeface="Quattrocento Sans"/>
              </a:rPr>
              <a:t>KeyCode.RightArrow</a:t>
            </a:r>
            <a:r>
              <a:rPr lang="en-GB" sz="1000" dirty="0">
                <a:solidFill>
                  <a:schemeClr val="dk1"/>
                </a:solidFill>
                <a:latin typeface="Quattrocento Sans"/>
                <a:ea typeface="Quattrocento Sans"/>
                <a:cs typeface="Quattrocento Sans"/>
                <a:sym typeface="Quattrocento Sans"/>
              </a:rPr>
              <a:t>)){</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r>
              <a:rPr lang="en-GB" sz="1000" dirty="0" err="1">
                <a:solidFill>
                  <a:schemeClr val="dk1"/>
                </a:solidFill>
                <a:latin typeface="Quattrocento Sans"/>
                <a:ea typeface="Quattrocento Sans"/>
                <a:cs typeface="Quattrocento Sans"/>
                <a:sym typeface="Quattrocento Sans"/>
              </a:rPr>
              <a:t>this.transform.Translate</a:t>
            </a:r>
            <a:r>
              <a:rPr lang="en-GB" sz="1000" dirty="0">
                <a:solidFill>
                  <a:schemeClr val="dk1"/>
                </a:solidFill>
                <a:latin typeface="Quattrocento Sans"/>
                <a:ea typeface="Quattrocento Sans"/>
                <a:cs typeface="Quattrocento Sans"/>
                <a:sym typeface="Quattrocento Sans"/>
              </a:rPr>
              <a:t>(Vector3.right, 5);</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 </a:t>
            </a:r>
            <a:br>
              <a:rPr lang="en-GB" sz="1000" dirty="0">
                <a:latin typeface="Quattrocento Sans"/>
                <a:ea typeface="Quattrocento Sans"/>
                <a:cs typeface="Quattrocento Sans"/>
              </a:rPr>
            </a:br>
            <a:r>
              <a:rPr lang="en-GB" sz="1000" dirty="0">
                <a:solidFill>
                  <a:schemeClr val="dk1"/>
                </a:solidFill>
                <a:latin typeface="Quattrocento Sans"/>
                <a:ea typeface="Quattrocento Sans"/>
                <a:cs typeface="Quattrocento Sans"/>
                <a:sym typeface="Quattrocento Sans"/>
              </a:rPr>
              <a:t> }</a:t>
            </a:r>
            <a:endParaRPr dirty="0">
              <a:solidFill>
                <a:schemeClr val="dk1"/>
              </a:solidFill>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br>
              <a:rPr lang="en-GB" sz="3600" b="1" dirty="0">
                <a:latin typeface="Quattrocento Sans"/>
                <a:ea typeface="Quattrocento Sans"/>
                <a:cs typeface="Quattrocento Sans"/>
              </a:rPr>
            </a:b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1"/>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68" name="Google Shape;268;p31"/>
          <p:cNvSpPr txBox="1"/>
          <p:nvPr/>
        </p:nvSpPr>
        <p:spPr>
          <a:xfrm>
            <a:off x="609600" y="1421654"/>
            <a:ext cx="11402728" cy="52167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b="1" dirty="0">
                <a:solidFill>
                  <a:srgbClr val="FFFF00"/>
                </a:solidFill>
                <a:latin typeface="Quattrocento Sans"/>
                <a:ea typeface="Quattrocento Sans"/>
                <a:cs typeface="Quattrocento Sans"/>
                <a:sym typeface="Quattrocento Sans"/>
              </a:rPr>
              <a:t>Unity 2.5D Camera – Diorama Tutorial with Player object and Aligned Camera</a:t>
            </a:r>
            <a:endParaRPr sz="3600" b="1" dirty="0">
              <a:solidFill>
                <a:srgbClr val="FFFF00"/>
              </a:solidFill>
              <a:latin typeface="Quattrocento Sans"/>
              <a:ea typeface="Quattrocento Sans"/>
              <a:cs typeface="Quattrocento Sans"/>
              <a:sym typeface="Quattrocento Sans"/>
            </a:endParaRPr>
          </a:p>
          <a:p>
            <a:pPr marL="0" lvl="0" indent="0" algn="l" rtl="0">
              <a:spcBef>
                <a:spcPts val="0"/>
              </a:spcBef>
              <a:spcAft>
                <a:spcPts val="0"/>
              </a:spcAft>
              <a:buNone/>
            </a:pPr>
            <a:r>
              <a:rPr lang="en-GB" sz="3300" b="1" i="1" dirty="0">
                <a:solidFill>
                  <a:srgbClr val="FFFFFF"/>
                </a:solidFill>
                <a:latin typeface="Quattrocento Sans"/>
                <a:ea typeface="Quattrocento Sans"/>
                <a:cs typeface="Quattrocento Sans"/>
                <a:sym typeface="Quattrocento Sans"/>
              </a:rPr>
              <a:t>Unity Project Scenes: Diorama - Noor5 and Rollerball</a:t>
            </a:r>
            <a:endParaRPr sz="3600" b="1" dirty="0">
              <a:solidFill>
                <a:srgbClr val="FFFF00"/>
              </a:solidFill>
              <a:latin typeface="Quattrocento Sans"/>
              <a:ea typeface="Quattrocento Sans"/>
              <a:cs typeface="Quattrocento Sans"/>
              <a:sym typeface="Quattrocento Sans"/>
            </a:endParaRPr>
          </a:p>
          <a:p>
            <a:r>
              <a:rPr lang="en-GB" sz="2400" dirty="0">
                <a:solidFill>
                  <a:srgbClr val="00B0F0"/>
                </a:solidFill>
                <a:ea typeface="Quattrocento Sans"/>
                <a:sym typeface="Quattrocento Sans"/>
                <a:hlinkClick r:id="rId3">
                  <a:extLst>
                    <a:ext uri="{A12FA001-AC4F-418D-AE19-62706E023703}">
                      <ahyp:hlinkClr xmlns:ahyp="http://schemas.microsoft.com/office/drawing/2018/hyperlinkcolor" val="tx"/>
                    </a:ext>
                  </a:extLst>
                </a:hlinkClick>
              </a:rPr>
              <a:t>Noorcon Inc. - Unity 3D Game Programming Part 5 - Vahe Karamian</a:t>
            </a:r>
            <a:br>
              <a:rPr lang="en-GB" sz="1800" b="1" dirty="0">
                <a:latin typeface="Quattrocento Sans"/>
                <a:ea typeface="Quattrocento Sans"/>
                <a:cs typeface="Quattrocento Sans"/>
              </a:rPr>
            </a:br>
            <a:r>
              <a:rPr lang="en-GB" sz="1800" b="1" dirty="0">
                <a:solidFill>
                  <a:srgbClr val="FFFF00"/>
                </a:solidFill>
                <a:latin typeface="Quattrocento Sans"/>
                <a:ea typeface="Quattrocento Sans"/>
                <a:cs typeface="Quattrocento Sans"/>
                <a:sym typeface="Quattrocento Sans"/>
              </a:rPr>
              <a:t>In Scene Window:</a:t>
            </a:r>
            <a:endParaRPr dirty="0"/>
          </a:p>
          <a:p>
            <a:pPr marL="0" marR="0" lvl="0" indent="0" algn="l" rtl="0">
              <a:spcBef>
                <a:spcPts val="0"/>
              </a:spcBef>
              <a:spcAft>
                <a:spcPts val="0"/>
              </a:spcAft>
              <a:buNone/>
            </a:pPr>
            <a:r>
              <a:rPr lang="en-GB" sz="1800" b="1" dirty="0">
                <a:solidFill>
                  <a:schemeClr val="dk1"/>
                </a:solidFill>
                <a:latin typeface="Quattrocento Sans"/>
                <a:ea typeface="Quattrocento Sans"/>
                <a:cs typeface="Quattrocento Sans"/>
                <a:sym typeface="Quattrocento Sans"/>
              </a:rPr>
              <a:t>	Create </a:t>
            </a:r>
            <a:r>
              <a:rPr lang="en-GB" sz="1800" b="1" dirty="0" err="1">
                <a:solidFill>
                  <a:schemeClr val="dk1"/>
                </a:solidFill>
                <a:latin typeface="Quattrocento Sans"/>
                <a:ea typeface="Quattrocento Sans"/>
                <a:cs typeface="Quattrocento Sans"/>
                <a:sym typeface="Quattrocento Sans"/>
              </a:rPr>
              <a:t>GameObject</a:t>
            </a:r>
            <a:r>
              <a:rPr lang="en-GB" sz="1800" b="1" dirty="0">
                <a:solidFill>
                  <a:schemeClr val="dk1"/>
                </a:solidFill>
                <a:latin typeface="Quattrocento Sans"/>
                <a:ea typeface="Quattrocento Sans"/>
                <a:cs typeface="Quattrocento Sans"/>
                <a:sym typeface="Quattrocento Sans"/>
              </a:rPr>
              <a:t>/3D Object/Plane</a:t>
            </a:r>
            <a:endParaRPr lang="en-US" dirty="0">
              <a:solidFill>
                <a:schemeClr val="dk1"/>
              </a:solidFill>
            </a:endParaRPr>
          </a:p>
          <a:p>
            <a:pPr marL="0" marR="0" lvl="0" indent="0" algn="l" rtl="0">
              <a:spcBef>
                <a:spcPts val="0"/>
              </a:spcBef>
              <a:spcAft>
                <a:spcPts val="0"/>
              </a:spcAft>
              <a:buNone/>
            </a:pPr>
            <a:r>
              <a:rPr lang="en-GB" sz="1800" b="1" dirty="0">
                <a:solidFill>
                  <a:schemeClr val="dk1"/>
                </a:solidFill>
                <a:latin typeface="Quattrocento Sans"/>
                <a:ea typeface="Quattrocento Sans"/>
                <a:cs typeface="Quattrocento Sans"/>
                <a:sym typeface="Quattrocento Sans"/>
              </a:rPr>
              <a:t>	Drag down below prefab in Scene – this is so the Player Controller does not drop through the scene.</a:t>
            </a:r>
            <a:endParaRPr lang="en-US" dirty="0">
              <a:solidFill>
                <a:schemeClr val="dk1"/>
              </a:solidFill>
            </a:endParaRPr>
          </a:p>
          <a:p>
            <a:pPr marL="0" marR="0" lvl="0" indent="0" algn="l" rtl="0">
              <a:spcBef>
                <a:spcPts val="0"/>
              </a:spcBef>
              <a:spcAft>
                <a:spcPts val="0"/>
              </a:spcAft>
              <a:buNone/>
            </a:pPr>
            <a:r>
              <a:rPr lang="en-GB" sz="1800" b="1" dirty="0">
                <a:solidFill>
                  <a:schemeClr val="dk1"/>
                </a:solidFill>
                <a:latin typeface="Quattrocento Sans"/>
                <a:ea typeface="Quattrocento Sans"/>
                <a:cs typeface="Quattrocento Sans"/>
                <a:sym typeface="Quattrocento Sans"/>
              </a:rPr>
              <a:t>	Position Main Camera to frame object and scene</a:t>
            </a:r>
            <a:endParaRPr lang="en-US" dirty="0">
              <a:solidFill>
                <a:schemeClr val="dk1"/>
              </a:solidFill>
            </a:endParaRPr>
          </a:p>
          <a:p>
            <a:pPr marL="0" marR="0" lvl="0" indent="0" algn="l" rtl="0">
              <a:spcBef>
                <a:spcPts val="0"/>
              </a:spcBef>
              <a:spcAft>
                <a:spcPts val="0"/>
              </a:spcAft>
              <a:buNone/>
            </a:pPr>
            <a:r>
              <a:rPr lang="en-GB" sz="1800" b="1" dirty="0">
                <a:solidFill>
                  <a:schemeClr val="dk1"/>
                </a:solidFill>
                <a:latin typeface="Quattrocento Sans"/>
                <a:ea typeface="Quattrocento Sans"/>
                <a:cs typeface="Quattrocento Sans"/>
                <a:sym typeface="Quattrocento Sans"/>
              </a:rPr>
              <a:t>	Make sure your boundaries (Planes? Lego?) have colliders on</a:t>
            </a:r>
            <a:endParaRPr lang="en-US" dirty="0">
              <a:solidFill>
                <a:schemeClr val="dk1"/>
              </a:solidFill>
            </a:endParaRPr>
          </a:p>
          <a:p>
            <a:pPr marL="0" marR="0" lvl="0" indent="0" algn="l" rtl="0">
              <a:spcBef>
                <a:spcPts val="0"/>
              </a:spcBef>
              <a:spcAft>
                <a:spcPts val="0"/>
              </a:spcAft>
              <a:buNone/>
            </a:pPr>
            <a:r>
              <a:rPr lang="en-GB" sz="1800" b="1" dirty="0">
                <a:solidFill>
                  <a:srgbClr val="FFFF00"/>
                </a:solidFill>
                <a:latin typeface="Quattrocento Sans"/>
                <a:ea typeface="Quattrocento Sans"/>
                <a:cs typeface="Quattrocento Sans"/>
                <a:sym typeface="Quattrocento Sans"/>
              </a:rPr>
              <a:t>In Scene Window:</a:t>
            </a:r>
            <a:endParaRPr dirty="0"/>
          </a:p>
          <a:p>
            <a:r>
              <a:rPr lang="en-GB" sz="1800">
                <a:solidFill>
                  <a:schemeClr val="dk1"/>
                </a:solidFill>
                <a:latin typeface="Quattrocento Sans"/>
                <a:ea typeface="Quattrocento Sans"/>
                <a:cs typeface="Quattrocento Sans"/>
                <a:sym typeface="Quattrocento Sans"/>
              </a:rPr>
              <a:t>In the scene window, use your mouse to position your view in the behind the Player. When you are </a:t>
            </a:r>
            <a:r>
              <a:rPr lang="en-GB" sz="1800" dirty="0">
                <a:solidFill>
                  <a:schemeClr val="dk1"/>
                </a:solidFill>
                <a:latin typeface="Quattrocento Sans"/>
                <a:ea typeface="Quattrocento Sans"/>
                <a:cs typeface="Quattrocento Sans"/>
                <a:sym typeface="Quattrocento Sans"/>
              </a:rPr>
              <a:t>satisfied with what you see in the </a:t>
            </a:r>
            <a:r>
              <a:rPr lang="en-GB" sz="1800" b="1" dirty="0">
                <a:solidFill>
                  <a:schemeClr val="dk1"/>
                </a:solidFill>
                <a:latin typeface="Quattrocento Sans"/>
                <a:ea typeface="Quattrocento Sans"/>
                <a:cs typeface="Quattrocento Sans"/>
                <a:sym typeface="Quattrocento Sans"/>
              </a:rPr>
              <a:t>Scene Window</a:t>
            </a:r>
            <a:r>
              <a:rPr lang="en-GB" sz="1800" dirty="0">
                <a:solidFill>
                  <a:schemeClr val="dk1"/>
                </a:solidFill>
                <a:latin typeface="Quattrocento Sans"/>
                <a:ea typeface="Quattrocento Sans"/>
                <a:cs typeface="Quattrocento Sans"/>
                <a:sym typeface="Quattrocento Sans"/>
              </a:rPr>
              <a:t>, select the </a:t>
            </a:r>
            <a:r>
              <a:rPr lang="en-GB" sz="1800" b="1" dirty="0">
                <a:solidFill>
                  <a:schemeClr val="dk1"/>
                </a:solidFill>
                <a:latin typeface="Quattrocento Sans"/>
                <a:ea typeface="Quattrocento Sans"/>
                <a:cs typeface="Quattrocento Sans"/>
                <a:sym typeface="Quattrocento Sans"/>
              </a:rPr>
              <a:t>Main </a:t>
            </a:r>
            <a:r>
              <a:rPr lang="en-GB" sz="1800" b="1" err="1">
                <a:solidFill>
                  <a:schemeClr val="dk1"/>
                </a:solidFill>
                <a:latin typeface="Quattrocento Sans"/>
                <a:ea typeface="Quattrocento Sans"/>
                <a:cs typeface="Quattrocento Sans"/>
                <a:sym typeface="Quattrocento Sans"/>
              </a:rPr>
              <a:t>Camera</a:t>
            </a:r>
            <a:r>
              <a:rPr lang="en-GB" sz="1800" err="1">
                <a:solidFill>
                  <a:schemeClr val="dk1"/>
                </a:solidFill>
                <a:latin typeface="Quattrocento Sans"/>
                <a:ea typeface="Quattrocento Sans"/>
                <a:cs typeface="Quattrocento Sans"/>
                <a:sym typeface="Quattrocento Sans"/>
              </a:rPr>
              <a:t>Object</a:t>
            </a:r>
            <a:r>
              <a:rPr lang="en-GB" sz="1800" dirty="0">
                <a:solidFill>
                  <a:schemeClr val="dk1"/>
                </a:solidFill>
                <a:latin typeface="Quattrocento Sans"/>
                <a:ea typeface="Quattrocento Sans"/>
                <a:cs typeface="Quattrocento Sans"/>
                <a:sym typeface="Quattrocento Sans"/>
              </a:rPr>
              <a:t>. From the main menu, select </a:t>
            </a:r>
            <a:r>
              <a:rPr lang="en-GB" sz="1800" i="1" err="1">
                <a:solidFill>
                  <a:schemeClr val="dk1"/>
                </a:solidFill>
                <a:latin typeface="Quattrocento Sans"/>
                <a:ea typeface="Quattrocento Sans"/>
                <a:cs typeface="Quattrocento Sans"/>
                <a:sym typeface="Quattrocento Sans"/>
              </a:rPr>
              <a:t>GameObject</a:t>
            </a:r>
            <a:r>
              <a:rPr lang="en-GB" sz="1800" i="1" dirty="0">
                <a:solidFill>
                  <a:schemeClr val="dk1"/>
                </a:solidFill>
                <a:latin typeface="Quattrocento Sans"/>
                <a:ea typeface="Quattrocento Sans"/>
                <a:cs typeface="Quattrocento Sans"/>
                <a:sym typeface="Quattrocento Sans"/>
              </a:rPr>
              <a:t>-&gt; Align With View</a:t>
            </a:r>
            <a:r>
              <a:rPr lang="en-GB" sz="1800" dirty="0">
                <a:solidFill>
                  <a:schemeClr val="dk1"/>
                </a:solidFill>
                <a:latin typeface="Quattrocento Sans"/>
                <a:ea typeface="Quattrocento Sans"/>
                <a:cs typeface="Quattrocento Sans"/>
                <a:sym typeface="Quattrocento Sans"/>
              </a:rPr>
              <a:t>. This will move the </a:t>
            </a:r>
            <a:r>
              <a:rPr lang="en-GB" sz="1800" b="1" dirty="0">
                <a:solidFill>
                  <a:schemeClr val="dk1"/>
                </a:solidFill>
                <a:latin typeface="Quattrocento Sans"/>
                <a:ea typeface="Quattrocento Sans"/>
                <a:cs typeface="Quattrocento Sans"/>
                <a:sym typeface="Quattrocento Sans"/>
              </a:rPr>
              <a:t>Main Camera</a:t>
            </a:r>
            <a:r>
              <a:rPr lang="en-GB" sz="1800" dirty="0">
                <a:solidFill>
                  <a:schemeClr val="dk1"/>
                </a:solidFill>
                <a:latin typeface="Quattrocento Sans"/>
                <a:ea typeface="Quattrocento Sans"/>
                <a:cs typeface="Quattrocento Sans"/>
                <a:sym typeface="Quattrocento Sans"/>
              </a:rPr>
              <a:t> </a:t>
            </a:r>
            <a:r>
              <a:rPr lang="en-GB" sz="1800" err="1">
                <a:solidFill>
                  <a:schemeClr val="dk1"/>
                </a:solidFill>
                <a:latin typeface="Quattrocento Sans"/>
                <a:ea typeface="Quattrocento Sans"/>
                <a:cs typeface="Quattrocento Sans"/>
                <a:sym typeface="Quattrocento Sans"/>
              </a:rPr>
              <a:t>GameObject</a:t>
            </a:r>
            <a:r>
              <a:rPr lang="en-GB" sz="1800" dirty="0">
                <a:solidFill>
                  <a:schemeClr val="dk1"/>
                </a:solidFill>
                <a:latin typeface="Quattrocento Sans"/>
                <a:ea typeface="Quattrocento Sans"/>
                <a:cs typeface="Quattrocento Sans"/>
                <a:sym typeface="Quattrocento Sans"/>
              </a:rPr>
              <a:t>, or the current selected </a:t>
            </a:r>
            <a:r>
              <a:rPr lang="en-GB" sz="1800" err="1">
                <a:solidFill>
                  <a:schemeClr val="dk1"/>
                </a:solidFill>
                <a:latin typeface="Quattrocento Sans"/>
                <a:ea typeface="Quattrocento Sans"/>
                <a:cs typeface="Quattrocento Sans"/>
                <a:sym typeface="Quattrocento Sans"/>
              </a:rPr>
              <a:t>GameObject</a:t>
            </a:r>
            <a:r>
              <a:rPr lang="en-GB" sz="1800" dirty="0">
                <a:solidFill>
                  <a:schemeClr val="dk1"/>
                </a:solidFill>
                <a:latin typeface="Quattrocento Sans"/>
                <a:ea typeface="Quattrocento Sans"/>
                <a:cs typeface="Quattrocento Sans"/>
                <a:sym typeface="Quattrocento Sans"/>
              </a:rPr>
              <a:t>, to be aligned with the view in the scene</a:t>
            </a:r>
            <a:endParaRPr lang="en-US" sz="2400" b="1" i="1">
              <a:solidFill>
                <a:schemeClr val="dk1"/>
              </a:solidFill>
              <a:latin typeface="Quattrocento Sans"/>
              <a:ea typeface="Quattrocento Sans"/>
              <a:cs typeface="Quattrocento Sans"/>
            </a:endParaRPr>
          </a:p>
          <a:p>
            <a:pPr marL="0" marR="0" lvl="0" indent="0" algn="l" rtl="0">
              <a:spcBef>
                <a:spcPts val="0"/>
              </a:spcBef>
              <a:spcAft>
                <a:spcPts val="0"/>
              </a:spcAft>
              <a:buNone/>
            </a:pPr>
            <a:r>
              <a:rPr lang="en-GB" sz="2400" b="1" i="1" dirty="0">
                <a:solidFill>
                  <a:srgbClr val="FFFF00"/>
                </a:solidFill>
                <a:latin typeface="Quattrocento Sans"/>
                <a:ea typeface="Quattrocento Sans"/>
                <a:cs typeface="Quattrocento Sans"/>
                <a:sym typeface="Quattrocento Sans"/>
              </a:rPr>
              <a:t>Run with Play key at top and use key input to move about and see result</a:t>
            </a:r>
            <a:endParaRPr lang="en-GB" sz="3600" b="1" dirty="0">
              <a:latin typeface="Quattrocento Sans"/>
              <a:ea typeface="Quattrocento Sans"/>
              <a:cs typeface="Quattrocento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273"/>
        <p:cNvGrpSpPr/>
        <p:nvPr/>
      </p:nvGrpSpPr>
      <p:grpSpPr>
        <a:xfrm>
          <a:off x="0" y="0"/>
          <a:ext cx="0" cy="0"/>
          <a:chOff x="0" y="0"/>
          <a:chExt cx="0" cy="0"/>
        </a:xfrm>
      </p:grpSpPr>
      <p:sp>
        <p:nvSpPr>
          <p:cNvPr id="274" name="Google Shape;274;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75" name="Google Shape;275;p32"/>
          <p:cNvSpPr txBox="1"/>
          <p:nvPr/>
        </p:nvSpPr>
        <p:spPr>
          <a:xfrm>
            <a:off x="609599" y="1421654"/>
            <a:ext cx="11190973" cy="512443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2.5D Camera – Diorama Tutorial with Player object and Aligned Camera</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Diorama - Noor5 and Rollerball</a:t>
            </a:r>
            <a:endParaRPr sz="3600">
              <a:solidFill>
                <a:srgbClr val="FFFF00"/>
              </a:solidFill>
              <a:latin typeface="Calibri"/>
              <a:ea typeface="Quattrocento Sans"/>
              <a:cs typeface="Quattrocento Sans"/>
            </a:endParaRPr>
          </a:p>
          <a:p>
            <a:r>
              <a:rPr lang="en-GB" sz="2400" dirty="0">
                <a:solidFill>
                  <a:srgbClr val="00B0F0"/>
                </a:solidFill>
                <a:latin typeface="Calibri"/>
                <a:ea typeface="Quattrocento Sans"/>
                <a:sym typeface="Quattrocento Sans"/>
                <a:hlinkClick r:id="rId3">
                  <a:extLst>
                    <a:ext uri="{A12FA001-AC4F-418D-AE19-62706E023703}">
                      <ahyp:hlinkClr xmlns:ahyp="http://schemas.microsoft.com/office/drawing/2018/hyperlinkcolor" val="tx"/>
                    </a:ext>
                  </a:extLst>
                </a:hlinkClick>
              </a:rPr>
              <a:t>Noorcon Inc. - Unity 3D Game Programming Part 5 - Vahe Karamian</a:t>
            </a:r>
            <a:endParaRPr>
              <a:latin typeface="Calibri"/>
            </a:endParaRPr>
          </a:p>
          <a:p>
            <a:pPr marL="0" marR="0" lvl="0" indent="0" algn="l" rtl="0">
              <a:spcBef>
                <a:spcPts val="0"/>
              </a:spcBef>
              <a:spcAft>
                <a:spcPts val="0"/>
              </a:spcAft>
              <a:buNone/>
            </a:pPr>
            <a:br>
              <a:rPr lang="en-GB" sz="1800" dirty="0">
                <a:latin typeface="Calibri"/>
                <a:ea typeface="Quattrocento Sans"/>
                <a:cs typeface="Quattrocento Sans"/>
              </a:rPr>
            </a:br>
            <a:r>
              <a:rPr lang="en-GB" sz="1800" dirty="0">
                <a:solidFill>
                  <a:srgbClr val="FFFF00"/>
                </a:solidFill>
                <a:latin typeface="Calibri"/>
                <a:ea typeface="Quattrocento Sans"/>
                <a:cs typeface="Quattrocento Sans"/>
                <a:sym typeface="Quattrocento Sans"/>
              </a:rPr>
              <a:t>Add Static Colliders:</a:t>
            </a:r>
            <a:endParaRPr>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Make sure walls or </a:t>
            </a:r>
            <a:r>
              <a:rPr lang="en-GB" sz="1800" err="1">
                <a:solidFill>
                  <a:schemeClr val="dk1"/>
                </a:solidFill>
                <a:latin typeface="Calibri"/>
                <a:ea typeface="Quattrocento Sans"/>
                <a:cs typeface="Quattrocento Sans"/>
                <a:sym typeface="Quattrocento Sans"/>
              </a:rPr>
              <a:t>lego</a:t>
            </a:r>
            <a:r>
              <a:rPr lang="en-GB" sz="1800" dirty="0">
                <a:solidFill>
                  <a:schemeClr val="dk1"/>
                </a:solidFill>
                <a:latin typeface="Calibri"/>
                <a:ea typeface="Quattrocento Sans"/>
                <a:cs typeface="Quattrocento Sans"/>
                <a:sym typeface="Quattrocento Sans"/>
              </a:rPr>
              <a:t> cubes constraining diorama have colliders to stop object</a:t>
            </a:r>
            <a:endParaRPr>
              <a:solidFill>
                <a:schemeClr val="dk1"/>
              </a:solidFill>
              <a:latin typeface="Calibri"/>
            </a:endParaRPr>
          </a:p>
          <a:p>
            <a:pPr marL="0" marR="0" lvl="0" indent="0" algn="l" rtl="0">
              <a:spcBef>
                <a:spcPts val="0"/>
              </a:spcBef>
              <a:spcAft>
                <a:spcPts val="0"/>
              </a:spcAft>
              <a:buNone/>
            </a:pPr>
            <a:r>
              <a:rPr lang="en-GB" sz="1800" dirty="0">
                <a:solidFill>
                  <a:srgbClr val="FFFF00"/>
                </a:solidFill>
                <a:latin typeface="Calibri"/>
                <a:ea typeface="Quattrocento Sans"/>
                <a:cs typeface="Quattrocento Sans"/>
                <a:sym typeface="Quattrocento Sans"/>
              </a:rPr>
              <a:t>Make Player Controller Transparent or Small</a:t>
            </a:r>
            <a:endParaRPr lang="en-GB" sz="1800" dirty="0">
              <a:solidFill>
                <a:srgbClr val="FFFF00"/>
              </a:solidFill>
              <a:latin typeface="Calibri"/>
              <a:ea typeface="Quattrocento Sans"/>
              <a:cs typeface="Quattrocento Sans"/>
            </a:endParaRPr>
          </a:p>
          <a:p>
            <a:endParaRPr lang="en-GB" sz="1800" dirty="0">
              <a:solidFill>
                <a:srgbClr val="FFFF00"/>
              </a:solidFill>
              <a:latin typeface="Calibri"/>
            </a:endParaRPr>
          </a:p>
          <a:p>
            <a:r>
              <a:rPr lang="en-GB" sz="1800" dirty="0">
                <a:solidFill>
                  <a:srgbClr val="FF0000"/>
                </a:solidFill>
                <a:latin typeface="Calibri"/>
              </a:rPr>
              <a:t>In the scene, use your mouse to position your view behind the CP, the Sphere. When you are satisfied with what you see in the Scene Window, select the </a:t>
            </a:r>
            <a:r>
              <a:rPr lang="en-GB" sz="1800" err="1">
                <a:solidFill>
                  <a:srgbClr val="FF0000"/>
                </a:solidFill>
                <a:latin typeface="Calibri"/>
              </a:rPr>
              <a:t>MainCamera</a:t>
            </a:r>
            <a:r>
              <a:rPr lang="en-GB" sz="1800" dirty="0">
                <a:solidFill>
                  <a:srgbClr val="FF0000"/>
                </a:solidFill>
                <a:latin typeface="Calibri"/>
              </a:rPr>
              <a:t> object. From the main menu, select </a:t>
            </a:r>
            <a:r>
              <a:rPr lang="en-GB" sz="1800" err="1">
                <a:solidFill>
                  <a:srgbClr val="FF0000"/>
                </a:solidFill>
                <a:latin typeface="Calibri"/>
              </a:rPr>
              <a:t>GameObject</a:t>
            </a:r>
            <a:r>
              <a:rPr lang="en-GB" sz="1800" dirty="0">
                <a:solidFill>
                  <a:srgbClr val="FF0000"/>
                </a:solidFill>
                <a:latin typeface="Calibri"/>
              </a:rPr>
              <a:t>-&gt;</a:t>
            </a:r>
            <a:r>
              <a:rPr lang="en-GB" sz="1800" err="1">
                <a:solidFill>
                  <a:srgbClr val="FF0000"/>
                </a:solidFill>
                <a:latin typeface="Calibri"/>
              </a:rPr>
              <a:t>Alighn</a:t>
            </a:r>
            <a:r>
              <a:rPr lang="en-GB" sz="1800" dirty="0">
                <a:solidFill>
                  <a:srgbClr val="FF0000"/>
                </a:solidFill>
                <a:latin typeface="Calibri"/>
              </a:rPr>
              <a:t> With View. This will move the Main Camera </a:t>
            </a:r>
            <a:r>
              <a:rPr lang="en-GB" sz="1800" err="1">
                <a:solidFill>
                  <a:srgbClr val="FF0000"/>
                </a:solidFill>
                <a:latin typeface="Calibri"/>
              </a:rPr>
              <a:t>GameObject</a:t>
            </a:r>
            <a:r>
              <a:rPr lang="en-GB" sz="1800" dirty="0">
                <a:solidFill>
                  <a:srgbClr val="FF0000"/>
                </a:solidFill>
                <a:latin typeface="Calibri"/>
              </a:rPr>
              <a:t>, or the current selected </a:t>
            </a:r>
            <a:r>
              <a:rPr lang="en-GB" sz="1800" err="1">
                <a:solidFill>
                  <a:srgbClr val="FF0000"/>
                </a:solidFill>
                <a:latin typeface="Calibri"/>
              </a:rPr>
              <a:t>GameObject</a:t>
            </a:r>
            <a:r>
              <a:rPr lang="en-GB" sz="1800" dirty="0">
                <a:solidFill>
                  <a:srgbClr val="FF0000"/>
                </a:solidFill>
                <a:latin typeface="Calibri"/>
              </a:rPr>
              <a:t>, to be aligned with the view in the scene!</a:t>
            </a:r>
            <a:endParaRPr lang="en-GB">
              <a:solidFill>
                <a:srgbClr val="FF0000"/>
              </a:solidFill>
              <a:latin typeface="Calibri"/>
            </a:endParaRPr>
          </a:p>
          <a:p>
            <a:endParaRPr lang="en-GB" sz="1800" dirty="0">
              <a:solidFill>
                <a:srgbClr val="FFFF00"/>
              </a:solidFill>
              <a:latin typeface="Calibri"/>
              <a:ea typeface="Quattrocento Sans"/>
              <a:cs typeface="Quattrocento Sans"/>
            </a:endParaRPr>
          </a:p>
          <a:p>
            <a:r>
              <a:rPr lang="en-GB" sz="1800" dirty="0">
                <a:solidFill>
                  <a:srgbClr val="FFFF00"/>
                </a:solidFill>
                <a:latin typeface="Calibri"/>
                <a:ea typeface="Quattrocento Sans"/>
                <a:cs typeface="Quattrocento Sans"/>
                <a:sym typeface="Quattrocento Sans"/>
              </a:rPr>
              <a:t>Adjust as needed, </a:t>
            </a:r>
            <a:r>
              <a:rPr lang="en-GB" sz="1800" i="1" dirty="0">
                <a:solidFill>
                  <a:srgbClr val="FFFF00"/>
                </a:solidFill>
                <a:latin typeface="Calibri"/>
                <a:ea typeface="Quattrocento Sans"/>
                <a:cs typeface="Quattrocento Sans"/>
                <a:sym typeface="Quattrocento Sans"/>
              </a:rPr>
              <a:t>Run with Play key at top and use key input to move about and see result</a:t>
            </a:r>
            <a:endParaRPr lang="en-GB" sz="3600" dirty="0">
              <a:latin typeface="Calibri"/>
              <a:ea typeface="Quattrocento Sans"/>
              <a:cs typeface="Quattrocento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2"/>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75" name="Google Shape;275;p32"/>
          <p:cNvSpPr txBox="1"/>
          <p:nvPr/>
        </p:nvSpPr>
        <p:spPr>
          <a:xfrm>
            <a:off x="609599" y="1421654"/>
            <a:ext cx="11190973" cy="57246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Unity 2.5D Camera – Camera Switcher</a:t>
            </a:r>
            <a:endParaRPr lang="en-US" sz="3600">
              <a:solidFill>
                <a:srgbClr val="FFFF00"/>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Unity Project Scenes: Camera Switcher</a:t>
            </a:r>
            <a:endParaRPr lang="en-GB" sz="3300" i="1" dirty="0">
              <a:solidFill>
                <a:srgbClr val="FFFFFF"/>
              </a:solidFill>
              <a:latin typeface="Calibri"/>
              <a:ea typeface="Quattrocento Sans"/>
              <a:cs typeface="Quattrocento Sans"/>
            </a:endParaRPr>
          </a:p>
          <a:p>
            <a:pPr marL="0" lvl="0" indent="0" algn="l" rtl="0">
              <a:spcBef>
                <a:spcPts val="0"/>
              </a:spcBef>
              <a:spcAft>
                <a:spcPts val="0"/>
              </a:spcAft>
              <a:buNone/>
            </a:pPr>
            <a:endParaRPr lang="en-GB" sz="3300" i="1" dirty="0">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Works with all previous cameras!</a:t>
            </a:r>
            <a:endParaRPr lang="en-GB" sz="3300" i="1" dirty="0">
              <a:solidFill>
                <a:srgbClr val="FFFFFF"/>
              </a:solidFill>
              <a:latin typeface="Calibri"/>
              <a:ea typeface="Quattrocento Sans"/>
              <a:cs typeface="Quattrocento Sans"/>
            </a:endParaRPr>
          </a:p>
          <a:p>
            <a:pPr marL="0" lvl="0" indent="0" algn="l" rtl="0">
              <a:spcBef>
                <a:spcPts val="0"/>
              </a:spcBef>
              <a:spcAft>
                <a:spcPts val="0"/>
              </a:spcAft>
              <a:buNone/>
            </a:pPr>
            <a:endParaRPr lang="en-GB" sz="3300" i="1" dirty="0">
              <a:solidFill>
                <a:srgbClr val="FFFFFF"/>
              </a:solidFill>
              <a:latin typeface="Calibri"/>
              <a:ea typeface="Quattrocento Sans"/>
              <a:cs typeface="Quattrocento Sans"/>
            </a:endParaRPr>
          </a:p>
          <a:p>
            <a:pPr marL="0" lvl="0" indent="0" algn="l" rtl="0">
              <a:spcBef>
                <a:spcPts val="0"/>
              </a:spcBef>
              <a:spcAft>
                <a:spcPts val="0"/>
              </a:spcAft>
              <a:buNone/>
            </a:pPr>
            <a:r>
              <a:rPr lang="en-GB" sz="3300" i="1" dirty="0">
                <a:solidFill>
                  <a:srgbClr val="FFFFFF"/>
                </a:solidFill>
                <a:latin typeface="Calibri"/>
                <a:ea typeface="Quattrocento Sans"/>
                <a:cs typeface="Quattrocento Sans"/>
                <a:sym typeface="Quattrocento Sans"/>
              </a:rPr>
              <a:t>Try this and experiment – move objects with cameras attached and switch to them, use triggered animations and lerps….</a:t>
            </a:r>
            <a:endParaRPr sz="3600" dirty="0">
              <a:solidFill>
                <a:srgbClr val="FFFF00"/>
              </a:solidFill>
              <a:latin typeface="Calibri"/>
              <a:ea typeface="Quattrocento Sans"/>
              <a:cs typeface="Quattrocento Sans"/>
              <a:sym typeface="Quattrocento Sans"/>
            </a:endParaRPr>
          </a:p>
          <a:p>
            <a:pPr marL="0" marR="0" lvl="0" indent="0" algn="l" rtl="0">
              <a:spcBef>
                <a:spcPts val="0"/>
              </a:spcBef>
              <a:spcAft>
                <a:spcPts val="0"/>
              </a:spcAft>
              <a:buNone/>
            </a:pPr>
            <a:br>
              <a:rPr lang="en-GB" sz="3600" b="1" dirty="0">
                <a:latin typeface="Quattrocento Sans"/>
                <a:ea typeface="Quattrocento Sans"/>
                <a:cs typeface="Quattrocento Sans"/>
              </a:rPr>
            </a:b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3318575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3"/>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82" name="Google Shape;282;p33"/>
          <p:cNvSpPr txBox="1"/>
          <p:nvPr/>
        </p:nvSpPr>
        <p:spPr>
          <a:xfrm>
            <a:off x="609600" y="1421654"/>
            <a:ext cx="10890738" cy="4555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200" dirty="0">
                <a:solidFill>
                  <a:srgbClr val="FFFF00"/>
                </a:solidFill>
                <a:latin typeface="Calibri"/>
                <a:ea typeface="Quattrocento Sans"/>
                <a:cs typeface="Quattrocento Sans"/>
                <a:sym typeface="Quattrocento Sans"/>
              </a:rPr>
              <a:t>Exercise: Unity 3D Camera- Waypoints and mouse orbits </a:t>
            </a:r>
            <a:r>
              <a:rPr lang="en-GB" sz="2400" dirty="0">
                <a:solidFill>
                  <a:srgbClr val="FFFF00"/>
                </a:solidFill>
                <a:latin typeface="Calibri"/>
                <a:ea typeface="Quattrocento Sans"/>
                <a:cs typeface="Quattrocento Sans"/>
                <a:sym typeface="Quattrocento Sans"/>
              </a:rPr>
              <a:t>Example: 100,000 Stars </a:t>
            </a:r>
            <a:r>
              <a:rPr lang="en-GB" sz="2400" u="sng" dirty="0">
                <a:solidFill>
                  <a:srgbClr val="FFFF00"/>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http://stars.chromeexperiments.com/</a:t>
            </a:r>
            <a:br>
              <a:rPr lang="en-GB" sz="2400" dirty="0">
                <a:latin typeface="Calibri"/>
                <a:ea typeface="Quattrocento Sans"/>
                <a:cs typeface="Quattrocento Sans"/>
              </a:rPr>
            </a:br>
            <a:r>
              <a:rPr lang="en-GB" sz="2400" dirty="0">
                <a:solidFill>
                  <a:srgbClr val="FFFF00"/>
                </a:solidFill>
                <a:latin typeface="Calibri"/>
                <a:ea typeface="Quattrocento Sans"/>
                <a:cs typeface="Quattrocento Sans"/>
                <a:sym typeface="Quattrocento Sans"/>
              </a:rPr>
              <a:t>In Camera Demos Unity Project</a:t>
            </a:r>
            <a:endParaRPr lang="en-US" dirty="0">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742950" marR="0" lvl="0" indent="-742950" algn="l" rtl="0">
              <a:spcBef>
                <a:spcPts val="0"/>
              </a:spcBef>
              <a:spcAft>
                <a:spcPts val="0"/>
              </a:spcAft>
              <a:buClr>
                <a:srgbClr val="FFFF00"/>
              </a:buClr>
              <a:buSzPts val="3200"/>
              <a:buFont typeface="Quattrocento Sans"/>
              <a:buAutoNum type="arabicPeriod"/>
            </a:pPr>
            <a:r>
              <a:rPr lang="en-GB" sz="3200" dirty="0">
                <a:solidFill>
                  <a:srgbClr val="FFFF00"/>
                </a:solidFill>
                <a:latin typeface="Calibri"/>
                <a:ea typeface="Quattrocento Sans"/>
                <a:cs typeface="Quattrocento Sans"/>
                <a:sym typeface="Quattrocento Sans"/>
              </a:rPr>
              <a:t>Has mouse orbit with no limits</a:t>
            </a:r>
            <a:endParaRPr dirty="0">
              <a:latin typeface="Calibri"/>
            </a:endParaRPr>
          </a:p>
          <a:p>
            <a:pPr marL="742950" marR="0" lvl="0" indent="-742950" algn="l" rtl="0">
              <a:spcBef>
                <a:spcPts val="0"/>
              </a:spcBef>
              <a:spcAft>
                <a:spcPts val="0"/>
              </a:spcAft>
              <a:buClr>
                <a:srgbClr val="FFFF00"/>
              </a:buClr>
              <a:buSzPts val="3200"/>
              <a:buFont typeface="Quattrocento Sans"/>
              <a:buAutoNum type="arabicPeriod"/>
            </a:pPr>
            <a:r>
              <a:rPr lang="en-GB" sz="3200" dirty="0">
                <a:solidFill>
                  <a:srgbClr val="FFFF00"/>
                </a:solidFill>
                <a:latin typeface="Calibri"/>
                <a:ea typeface="Quattrocento Sans"/>
                <a:cs typeface="Quattrocento Sans"/>
                <a:sym typeface="Quattrocento Sans"/>
              </a:rPr>
              <a:t>Can have Boolean for game object framed</a:t>
            </a:r>
            <a:endParaRPr dirty="0">
              <a:latin typeface="Calibri"/>
            </a:endParaRPr>
          </a:p>
          <a:p>
            <a:pPr marL="742950" marR="0" lvl="0" indent="-742950" algn="l" rtl="0">
              <a:spcBef>
                <a:spcPts val="0"/>
              </a:spcBef>
              <a:spcAft>
                <a:spcPts val="0"/>
              </a:spcAft>
              <a:buClr>
                <a:srgbClr val="FFFF00"/>
              </a:buClr>
              <a:buSzPts val="3200"/>
              <a:buFont typeface="Quattrocento Sans"/>
              <a:buAutoNum type="arabicPeriod"/>
            </a:pPr>
            <a:r>
              <a:rPr lang="en-GB" sz="3200" dirty="0">
                <a:solidFill>
                  <a:srgbClr val="FFFF00"/>
                </a:solidFill>
                <a:latin typeface="Calibri"/>
                <a:ea typeface="Quattrocento Sans"/>
                <a:cs typeface="Quattrocento Sans"/>
                <a:sym typeface="Quattrocento Sans"/>
              </a:rPr>
              <a:t>Right Mouse Button goes Back to Start Object</a:t>
            </a:r>
            <a:endParaRPr dirty="0">
              <a:latin typeface="Calibri"/>
            </a:endParaRPr>
          </a:p>
          <a:p>
            <a:pPr marL="742950" marR="0" lvl="0" indent="-742950" algn="l" rtl="0">
              <a:spcBef>
                <a:spcPts val="0"/>
              </a:spcBef>
              <a:spcAft>
                <a:spcPts val="0"/>
              </a:spcAft>
              <a:buClr>
                <a:srgbClr val="FFFF00"/>
              </a:buClr>
              <a:buSzPts val="3200"/>
              <a:buFont typeface="Quattrocento Sans"/>
              <a:buAutoNum type="arabicPeriod"/>
            </a:pPr>
            <a:r>
              <a:rPr lang="en-GB" sz="3200" dirty="0">
                <a:solidFill>
                  <a:srgbClr val="FFFF00"/>
                </a:solidFill>
                <a:latin typeface="Calibri"/>
                <a:ea typeface="Quattrocento Sans"/>
                <a:cs typeface="Quattrocento Sans"/>
                <a:sym typeface="Quattrocento Sans"/>
              </a:rPr>
              <a:t>Esc key deactivates Mouse orbit deactivate </a:t>
            </a:r>
            <a:endParaRPr dirty="0">
              <a:latin typeface="Calibri"/>
            </a:endParaRPr>
          </a:p>
          <a:p>
            <a:pPr marL="0" marR="0" lvl="0" indent="0" algn="l" rtl="0">
              <a:spcBef>
                <a:spcPts val="0"/>
              </a:spcBef>
              <a:spcAft>
                <a:spcPts val="0"/>
              </a:spcAft>
              <a:buNone/>
            </a:pPr>
            <a:r>
              <a:rPr lang="en-GB" sz="3200" dirty="0">
                <a:solidFill>
                  <a:srgbClr val="FFFF00"/>
                </a:solidFill>
                <a:latin typeface="Calibri"/>
                <a:ea typeface="Quattrocento Sans"/>
                <a:cs typeface="Quattrocento Sans"/>
                <a:sym typeface="Quattrocento Sans"/>
              </a:rPr>
              <a:t>	(for easier mouse cursor selectio</a:t>
            </a:r>
            <a:r>
              <a:rPr lang="en-GB" sz="3200" b="1" dirty="0">
                <a:solidFill>
                  <a:srgbClr val="FFFF00"/>
                </a:solidFill>
                <a:latin typeface="Quattrocento Sans"/>
                <a:ea typeface="Quattrocento Sans"/>
                <a:cs typeface="Quattrocento Sans"/>
                <a:sym typeface="Quattrocento Sans"/>
              </a:rPr>
              <a:t>n)</a:t>
            </a:r>
            <a:endParaRPr dirty="0"/>
          </a:p>
          <a:p>
            <a:pPr marL="0" marR="0" lvl="0" indent="0" algn="l" rtl="0">
              <a:spcBef>
                <a:spcPts val="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4"/>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89" name="Google Shape;289;p34"/>
          <p:cNvSpPr txBox="1"/>
          <p:nvPr/>
        </p:nvSpPr>
        <p:spPr>
          <a:xfrm>
            <a:off x="609600" y="1421654"/>
            <a:ext cx="10890738" cy="60016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Exercise: Unity 2.5D Camera – </a:t>
            </a:r>
            <a:r>
              <a:rPr lang="en-GB" sz="3600" err="1">
                <a:solidFill>
                  <a:srgbClr val="FFFF00"/>
                </a:solidFill>
                <a:latin typeface="Calibri"/>
                <a:ea typeface="Quattrocento Sans"/>
                <a:cs typeface="Quattrocento Sans"/>
                <a:sym typeface="Quattrocento Sans"/>
              </a:rPr>
              <a:t>FreeLook</a:t>
            </a:r>
            <a:r>
              <a:rPr lang="en-GB" sz="3600" dirty="0">
                <a:solidFill>
                  <a:srgbClr val="FFFF00"/>
                </a:solidFill>
                <a:latin typeface="Calibri"/>
                <a:ea typeface="Quattrocento Sans"/>
                <a:cs typeface="Quattrocento Sans"/>
                <a:sym typeface="Quattrocento Sans"/>
              </a:rPr>
              <a:t> Camera </a:t>
            </a:r>
            <a:br>
              <a:rPr lang="en-GB" sz="3600" dirty="0">
                <a:latin typeface="Calibri"/>
                <a:ea typeface="Quattrocento Sans"/>
                <a:cs typeface="Quattrocento Sans"/>
              </a:rPr>
            </a:br>
            <a:r>
              <a:rPr lang="en-GB" sz="3600" dirty="0">
                <a:solidFill>
                  <a:srgbClr val="FFFF00"/>
                </a:solidFill>
                <a:latin typeface="Calibri"/>
                <a:ea typeface="Quattrocento Sans"/>
                <a:cs typeface="Quattrocento Sans"/>
                <a:sym typeface="Quattrocento Sans"/>
              </a:rPr>
              <a:t>(Limited mouse orbit – </a:t>
            </a:r>
            <a:r>
              <a:rPr lang="en-GB" sz="3600" err="1">
                <a:solidFill>
                  <a:srgbClr val="FFFF00"/>
                </a:solidFill>
                <a:latin typeface="Calibri"/>
                <a:ea typeface="Quattrocento Sans"/>
                <a:cs typeface="Quattrocento Sans"/>
                <a:sym typeface="Quattrocento Sans"/>
              </a:rPr>
              <a:t>Whitevoid</a:t>
            </a:r>
            <a:r>
              <a:rPr lang="en-GB" sz="3600" dirty="0">
                <a:solidFill>
                  <a:srgbClr val="FFFF00"/>
                </a:solidFill>
                <a:latin typeface="Calibri"/>
                <a:ea typeface="Quattrocento Sans"/>
                <a:cs typeface="Quattrocento Sans"/>
                <a:sym typeface="Quattrocento Sans"/>
              </a:rPr>
              <a:t> – Outside In)</a:t>
            </a:r>
            <a:endParaRPr lang="en-US" dirty="0">
              <a:latin typeface="Calibri"/>
            </a:endParaRPr>
          </a:p>
          <a:p>
            <a:pPr marL="0" marR="0" lvl="0" indent="0" algn="l" rtl="0">
              <a:spcBef>
                <a:spcPts val="0"/>
              </a:spcBef>
              <a:spcAft>
                <a:spcPts val="0"/>
              </a:spcAft>
              <a:buNone/>
            </a:pPr>
            <a:r>
              <a:rPr lang="en-GB" sz="2400" dirty="0">
                <a:solidFill>
                  <a:srgbClr val="FFFF00"/>
                </a:solidFill>
                <a:latin typeface="Calibri"/>
                <a:ea typeface="Quattrocento Sans"/>
                <a:cs typeface="Quattrocento Sans"/>
                <a:sym typeface="Quattrocento Sans"/>
              </a:rPr>
              <a:t>Freelook in Camera Demos Unity Project – Add camera moves</a:t>
            </a:r>
            <a:endParaRPr dirty="0">
              <a:latin typeface="Calibri"/>
            </a:endParaRPr>
          </a:p>
          <a:p>
            <a:pPr marL="0" marR="0" lvl="0" indent="0" algn="l" rtl="0">
              <a:spcBef>
                <a:spcPts val="0"/>
              </a:spcBef>
              <a:spcAft>
                <a:spcPts val="0"/>
              </a:spcAft>
              <a:buNone/>
            </a:pPr>
            <a:endParaRPr sz="2400" dirty="0">
              <a:solidFill>
                <a:srgbClr val="FFFF00"/>
              </a:solidFill>
              <a:latin typeface="Calibri"/>
              <a:ea typeface="Quattrocento Sans"/>
              <a:cs typeface="Quattrocento Sans"/>
            </a:endParaRPr>
          </a:p>
          <a:p>
            <a:pPr marL="742950" marR="0" lvl="0" indent="-742950" algn="l" rtl="0">
              <a:spcBef>
                <a:spcPts val="0"/>
              </a:spcBef>
              <a:spcAft>
                <a:spcPts val="0"/>
              </a:spcAft>
              <a:buClr>
                <a:srgbClr val="FFFF00"/>
              </a:buClr>
              <a:buSzPts val="2800"/>
              <a:buFont typeface="Quattrocento Sans"/>
              <a:buAutoNum type="arabicPeriod"/>
            </a:pPr>
            <a:r>
              <a:rPr lang="en-GB" sz="2800" dirty="0">
                <a:solidFill>
                  <a:srgbClr val="FFFF00"/>
                </a:solidFill>
                <a:latin typeface="Calibri"/>
                <a:ea typeface="Quattrocento Sans"/>
                <a:cs typeface="Quattrocento Sans"/>
                <a:sym typeface="Quattrocento Sans"/>
              </a:rPr>
              <a:t>Mouse orbit by 2D screen mapping</a:t>
            </a:r>
            <a:endParaRPr dirty="0">
              <a:latin typeface="Calibri"/>
            </a:endParaRPr>
          </a:p>
          <a:p>
            <a:pPr marL="0" marR="0" lvl="0" indent="0" algn="l" rtl="0">
              <a:spcBef>
                <a:spcPts val="0"/>
              </a:spcBef>
              <a:spcAft>
                <a:spcPts val="0"/>
              </a:spcAft>
              <a:buNone/>
            </a:pPr>
            <a:r>
              <a:rPr lang="en-GB" sz="2800" dirty="0">
                <a:solidFill>
                  <a:srgbClr val="FFFF00"/>
                </a:solidFill>
                <a:latin typeface="Calibri"/>
                <a:ea typeface="Quattrocento Sans"/>
                <a:cs typeface="Quattrocento Sans"/>
                <a:sym typeface="Quattrocento Sans"/>
              </a:rPr>
              <a:t>	</a:t>
            </a:r>
            <a:r>
              <a:rPr lang="en-GB" sz="2800" dirty="0">
                <a:solidFill>
                  <a:schemeClr val="dk2"/>
                </a:solidFill>
                <a:latin typeface="Calibri"/>
                <a:ea typeface="Quattrocento Sans"/>
                <a:cs typeface="Quattrocento Sans"/>
                <a:sym typeface="Quattrocento Sans"/>
              </a:rPr>
              <a:t>(adjust limits)</a:t>
            </a:r>
            <a:endParaRPr dirty="0">
              <a:solidFill>
                <a:schemeClr val="dk2"/>
              </a:solidFill>
              <a:latin typeface="Calibri"/>
            </a:endParaRPr>
          </a:p>
          <a:p>
            <a:pPr marL="0" marR="0" lvl="0" indent="0" algn="l" rtl="0">
              <a:spcBef>
                <a:spcPts val="0"/>
              </a:spcBef>
              <a:spcAft>
                <a:spcPts val="0"/>
              </a:spcAft>
              <a:buNone/>
            </a:pPr>
            <a:r>
              <a:rPr lang="en-GB" sz="2800" dirty="0">
                <a:solidFill>
                  <a:srgbClr val="FFFF00"/>
                </a:solidFill>
                <a:latin typeface="Calibri"/>
                <a:ea typeface="Quattrocento Sans"/>
                <a:cs typeface="Quattrocento Sans"/>
                <a:sym typeface="Quattrocento Sans"/>
              </a:rPr>
              <a:t>2.	Add Camera Focus to </a:t>
            </a:r>
            <a:r>
              <a:rPr lang="en-GB" sz="2800" err="1">
                <a:solidFill>
                  <a:srgbClr val="FFFF00"/>
                </a:solidFill>
                <a:latin typeface="Calibri"/>
                <a:ea typeface="Quattrocento Sans"/>
                <a:cs typeface="Quattrocento Sans"/>
                <a:sym typeface="Quattrocento Sans"/>
              </a:rPr>
              <a:t>GameObject</a:t>
            </a:r>
            <a:r>
              <a:rPr lang="en-GB" sz="2800" dirty="0">
                <a:solidFill>
                  <a:srgbClr val="FFFF00"/>
                </a:solidFill>
                <a:latin typeface="Calibri"/>
                <a:ea typeface="Quattrocento Sans"/>
                <a:cs typeface="Quattrocento Sans"/>
                <a:sym typeface="Quattrocento Sans"/>
              </a:rPr>
              <a:t> </a:t>
            </a:r>
            <a:endParaRPr dirty="0">
              <a:latin typeface="Calibri"/>
            </a:endParaRPr>
          </a:p>
          <a:p>
            <a:pPr marL="0" marR="0" lvl="0" indent="0" algn="l" rtl="0">
              <a:spcBef>
                <a:spcPts val="0"/>
              </a:spcBef>
              <a:spcAft>
                <a:spcPts val="0"/>
              </a:spcAft>
              <a:buNone/>
            </a:pPr>
            <a:r>
              <a:rPr lang="en-GB" sz="2800" dirty="0">
                <a:solidFill>
                  <a:srgbClr val="FFFF00"/>
                </a:solidFill>
                <a:latin typeface="Calibri"/>
                <a:ea typeface="Quattrocento Sans"/>
                <a:cs typeface="Quattrocento Sans"/>
                <a:sym typeface="Quattrocento Sans"/>
              </a:rPr>
              <a:t>	</a:t>
            </a:r>
            <a:r>
              <a:rPr lang="en-GB" sz="2800" dirty="0">
                <a:solidFill>
                  <a:schemeClr val="dk2"/>
                </a:solidFill>
                <a:latin typeface="Calibri"/>
                <a:ea typeface="Quattrocento Sans"/>
                <a:cs typeface="Quattrocento Sans"/>
                <a:sym typeface="Quattrocento Sans"/>
              </a:rPr>
              <a:t>(try swapping targets)</a:t>
            </a:r>
            <a:endParaRPr dirty="0">
              <a:solidFill>
                <a:schemeClr val="dk2"/>
              </a:solidFill>
              <a:latin typeface="Calibri"/>
            </a:endParaRPr>
          </a:p>
          <a:p>
            <a:pPr marL="0" marR="0" lvl="0" indent="0" algn="l" rtl="0">
              <a:spcBef>
                <a:spcPts val="0"/>
              </a:spcBef>
              <a:spcAft>
                <a:spcPts val="0"/>
              </a:spcAft>
              <a:buNone/>
            </a:pPr>
            <a:r>
              <a:rPr lang="en-GB" sz="2800" dirty="0">
                <a:solidFill>
                  <a:srgbClr val="FFFF00"/>
                </a:solidFill>
                <a:latin typeface="Calibri"/>
                <a:ea typeface="Quattrocento Sans"/>
                <a:cs typeface="Quattrocento Sans"/>
                <a:sym typeface="Quattrocento Sans"/>
              </a:rPr>
              <a:t>3.	Or use Lerp, </a:t>
            </a:r>
            <a:r>
              <a:rPr lang="en-GB" sz="2800" err="1">
                <a:solidFill>
                  <a:srgbClr val="FFFF00"/>
                </a:solidFill>
                <a:latin typeface="Calibri"/>
                <a:ea typeface="Quattrocento Sans"/>
                <a:cs typeface="Quattrocento Sans"/>
                <a:sym typeface="Quattrocento Sans"/>
              </a:rPr>
              <a:t>Movetowards</a:t>
            </a:r>
            <a:r>
              <a:rPr lang="en-GB" sz="2800" dirty="0">
                <a:solidFill>
                  <a:srgbClr val="FFFF00"/>
                </a:solidFill>
                <a:latin typeface="Calibri"/>
                <a:ea typeface="Quattrocento Sans"/>
                <a:cs typeface="Quattrocento Sans"/>
                <a:sym typeface="Quattrocento Sans"/>
              </a:rPr>
              <a:t>, Translate, or Animations triggered</a:t>
            </a:r>
            <a:endParaRPr dirty="0">
              <a:latin typeface="Calibri"/>
            </a:endParaRPr>
          </a:p>
          <a:p>
            <a:pPr marL="0" marR="0" lvl="0" indent="0" algn="l" rtl="0">
              <a:spcBef>
                <a:spcPts val="0"/>
              </a:spcBef>
              <a:spcAft>
                <a:spcPts val="0"/>
              </a:spcAft>
              <a:buNone/>
            </a:pPr>
            <a:r>
              <a:rPr lang="en-GB" sz="2800" dirty="0">
                <a:solidFill>
                  <a:srgbClr val="FFFF00"/>
                </a:solidFill>
                <a:latin typeface="Calibri"/>
                <a:ea typeface="Quattrocento Sans"/>
                <a:cs typeface="Quattrocento Sans"/>
                <a:sym typeface="Quattrocento Sans"/>
              </a:rPr>
              <a:t>	</a:t>
            </a:r>
            <a:r>
              <a:rPr lang="en-GB" sz="2800" dirty="0">
                <a:solidFill>
                  <a:schemeClr val="dk2"/>
                </a:solidFill>
                <a:latin typeface="Calibri"/>
                <a:ea typeface="Quattrocento Sans"/>
                <a:cs typeface="Quattrocento Sans"/>
                <a:sym typeface="Quattrocento Sans"/>
              </a:rPr>
              <a:t>(move camera, script settings, or new focus as abov</a:t>
            </a:r>
            <a:r>
              <a:rPr lang="en-GB" sz="2800" b="1" dirty="0">
                <a:solidFill>
                  <a:schemeClr val="dk2"/>
                </a:solidFill>
                <a:latin typeface="Quattrocento Sans"/>
                <a:ea typeface="Quattrocento Sans"/>
                <a:cs typeface="Quattrocento Sans"/>
                <a:sym typeface="Quattrocento Sans"/>
              </a:rPr>
              <a:t>e)</a:t>
            </a:r>
            <a:br>
              <a:rPr lang="en-GB" sz="3600" b="1" dirty="0">
                <a:latin typeface="Quattrocento Sans"/>
                <a:ea typeface="Quattrocento Sans"/>
                <a:cs typeface="Quattrocento Sans"/>
              </a:rPr>
            </a:br>
            <a:endParaRPr sz="3600" b="1" i="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7"/>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296" name="Google Shape;296;p37"/>
          <p:cNvSpPr txBox="1"/>
          <p:nvPr/>
        </p:nvSpPr>
        <p:spPr>
          <a:xfrm>
            <a:off x="609600" y="1421650"/>
            <a:ext cx="11986500" cy="53552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Exercise: Animation Trigger Waypoints</a:t>
            </a:r>
            <a:endParaRPr lang="en-US" sz="3600">
              <a:solidFill>
                <a:srgbClr val="FFFF00"/>
              </a:solidFill>
              <a:latin typeface="Calibri"/>
              <a:ea typeface="Quattrocento Sans"/>
              <a:cs typeface="Quattrocento Sans"/>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Position Changes (Animated)</a:t>
            </a:r>
            <a:endParaRPr sz="3600" dirty="0">
              <a:solidFill>
                <a:srgbClr val="FFFF00"/>
              </a:solidFill>
              <a:latin typeface="Calibri"/>
              <a:ea typeface="Quattrocento Sans"/>
              <a:cs typeface="Quattrocento Sans"/>
            </a:endParaRPr>
          </a:p>
          <a:p>
            <a:pPr marL="457200" lvl="0" indent="0" algn="l" rtl="0">
              <a:spcBef>
                <a:spcPts val="0"/>
              </a:spcBef>
              <a:spcAft>
                <a:spcPts val="0"/>
              </a:spcAft>
              <a:buNone/>
            </a:pPr>
            <a:r>
              <a:rPr lang="en-GB" sz="2400" dirty="0">
                <a:solidFill>
                  <a:srgbClr val="FFFFFF"/>
                </a:solidFill>
                <a:latin typeface="Calibri"/>
                <a:ea typeface="Quattrocento Sans"/>
                <a:cs typeface="Quattrocento Sans"/>
                <a:sym typeface="Quattrocento Sans"/>
              </a:rPr>
              <a:t>Camera Animations for movement</a:t>
            </a:r>
            <a:endParaRPr sz="2400" dirty="0">
              <a:solidFill>
                <a:srgbClr val="FFFFFF"/>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Rotation (Inside Out)</a:t>
            </a:r>
            <a:endParaRPr dirty="0">
              <a:latin typeface="Calibri"/>
            </a:endParaRPr>
          </a:p>
          <a:p>
            <a:pPr marL="0" marR="0" lvl="0" indent="457200" algn="l" rtl="0">
              <a:spcBef>
                <a:spcPts val="0"/>
              </a:spcBef>
              <a:spcAft>
                <a:spcPts val="0"/>
              </a:spcAft>
              <a:buNone/>
            </a:pPr>
            <a:r>
              <a:rPr lang="en-GB" sz="2400" dirty="0">
                <a:solidFill>
                  <a:srgbClr val="FFFFFF"/>
                </a:solidFill>
                <a:latin typeface="Calibri"/>
                <a:ea typeface="Quattrocento Sans"/>
                <a:cs typeface="Quattrocento Sans"/>
                <a:sym typeface="Quattrocento Sans"/>
              </a:rPr>
              <a:t>Camera </a:t>
            </a:r>
            <a:r>
              <a:rPr lang="en-GB" sz="2400" err="1">
                <a:solidFill>
                  <a:srgbClr val="FFFFFF"/>
                </a:solidFill>
                <a:latin typeface="Calibri"/>
                <a:ea typeface="Quattrocento Sans"/>
                <a:cs typeface="Quattrocento Sans"/>
                <a:sym typeface="Quattrocento Sans"/>
              </a:rPr>
              <a:t>MouseLook</a:t>
            </a:r>
            <a:r>
              <a:rPr lang="en-GB" sz="2400" dirty="0">
                <a:solidFill>
                  <a:srgbClr val="FFFFFF"/>
                </a:solidFill>
                <a:latin typeface="Calibri"/>
                <a:ea typeface="Quattrocento Sans"/>
                <a:cs typeface="Quattrocento Sans"/>
                <a:sym typeface="Quattrocento Sans"/>
              </a:rPr>
              <a:t> Script or RTS </a:t>
            </a:r>
            <a:r>
              <a:rPr lang="en-GB" sz="2400" err="1">
                <a:solidFill>
                  <a:srgbClr val="FFFFFF"/>
                </a:solidFill>
                <a:latin typeface="Calibri"/>
                <a:ea typeface="Quattrocento Sans"/>
                <a:cs typeface="Quattrocento Sans"/>
                <a:sym typeface="Quattrocento Sans"/>
              </a:rPr>
              <a:t>Middledrag</a:t>
            </a:r>
            <a:r>
              <a:rPr lang="en-GB" sz="2400" dirty="0">
                <a:solidFill>
                  <a:srgbClr val="FFFFFF"/>
                </a:solidFill>
                <a:latin typeface="Calibri"/>
                <a:ea typeface="Quattrocento Sans"/>
                <a:cs typeface="Quattrocento Sans"/>
                <a:sym typeface="Quattrocento Sans"/>
              </a:rPr>
              <a:t> (rotation)</a:t>
            </a:r>
            <a:endParaRPr sz="2400" dirty="0">
              <a:solidFill>
                <a:srgbClr val="FFFFFF"/>
              </a:solidFill>
              <a:latin typeface="Calibri"/>
              <a:ea typeface="Quattrocento Sans"/>
              <a:cs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gacd2680354_0_19"/>
          <p:cNvSpPr txBox="1">
            <a:spLocks noGrp="1"/>
          </p:cNvSpPr>
          <p:nvPr>
            <p:ph type="title"/>
          </p:nvPr>
        </p:nvSpPr>
        <p:spPr>
          <a:xfrm>
            <a:off x="609600" y="274638"/>
            <a:ext cx="10972800" cy="850200"/>
          </a:xfrm>
          <a:prstGeom prst="rect">
            <a:avLst/>
          </a:prstGeom>
          <a:solidFill>
            <a:schemeClr val="accent1"/>
          </a:solid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03" name="Google Shape;303;gacd2680354_0_19"/>
          <p:cNvSpPr txBox="1"/>
          <p:nvPr/>
        </p:nvSpPr>
        <p:spPr>
          <a:xfrm>
            <a:off x="609600" y="1421650"/>
            <a:ext cx="12466500" cy="5109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Exercise: Movement Scripted Free Waypoints</a:t>
            </a:r>
            <a:endParaRPr lang="en-US" sz="3600">
              <a:solidFill>
                <a:srgbClr val="FFFF00"/>
              </a:solidFill>
              <a:latin typeface="Calibri"/>
              <a:ea typeface="Quattrocento Sans"/>
              <a:cs typeface="Quattrocento Sans"/>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Position Changes (Scripted)</a:t>
            </a:r>
            <a:endParaRPr sz="3600" dirty="0">
              <a:solidFill>
                <a:srgbClr val="FFFF00"/>
              </a:solidFill>
              <a:latin typeface="Calibri"/>
              <a:ea typeface="Quattrocento Sans"/>
              <a:cs typeface="Quattrocento Sans"/>
            </a:endParaRPr>
          </a:p>
          <a:p>
            <a:pPr marL="457200" lvl="0" indent="0" algn="l" rtl="0">
              <a:spcBef>
                <a:spcPts val="0"/>
              </a:spcBef>
              <a:spcAft>
                <a:spcPts val="0"/>
              </a:spcAft>
              <a:buNone/>
            </a:pPr>
            <a:r>
              <a:rPr lang="en-GB" sz="2400" dirty="0">
                <a:solidFill>
                  <a:srgbClr val="FF0000"/>
                </a:solidFill>
                <a:latin typeface="Calibri"/>
                <a:ea typeface="Quattrocento Sans"/>
                <a:cs typeface="Quattrocento Sans"/>
                <a:sym typeface="Quattrocento Sans"/>
              </a:rPr>
              <a:t>Code from Lego Bricks Tutorial 03</a:t>
            </a:r>
            <a:endParaRPr sz="2400" dirty="0">
              <a:solidFill>
                <a:srgbClr val="FF0000"/>
              </a:solidFill>
              <a:latin typeface="Calibri"/>
              <a:ea typeface="Quattrocento Sans"/>
              <a:cs typeface="Quattrocento Sans"/>
            </a:endParaRPr>
          </a:p>
          <a:p>
            <a:pPr marL="457200" lvl="0" indent="0" algn="l" rtl="0">
              <a:spcBef>
                <a:spcPts val="0"/>
              </a:spcBef>
              <a:spcAft>
                <a:spcPts val="0"/>
              </a:spcAft>
              <a:buNone/>
            </a:pPr>
            <a:r>
              <a:rPr lang="en-GB" sz="2400" dirty="0">
                <a:solidFill>
                  <a:srgbClr val="FFFFFF"/>
                </a:solidFill>
                <a:latin typeface="Calibri"/>
                <a:ea typeface="Quattrocento Sans"/>
                <a:cs typeface="Quattrocento Sans"/>
                <a:sym typeface="Quattrocento Sans"/>
              </a:rPr>
              <a:t>Try some more advanced code – Vector3, </a:t>
            </a:r>
            <a:r>
              <a:rPr lang="en-GB" sz="2400" err="1">
                <a:solidFill>
                  <a:srgbClr val="FFFFFF"/>
                </a:solidFill>
                <a:latin typeface="Calibri"/>
                <a:ea typeface="Quattrocento Sans"/>
                <a:cs typeface="Quattrocento Sans"/>
                <a:sym typeface="Quattrocento Sans"/>
              </a:rPr>
              <a:t>movetowards</a:t>
            </a:r>
            <a:r>
              <a:rPr lang="en-GB" sz="2400" dirty="0">
                <a:solidFill>
                  <a:srgbClr val="FFFFFF"/>
                </a:solidFill>
                <a:latin typeface="Calibri"/>
                <a:ea typeface="Quattrocento Sans"/>
                <a:cs typeface="Quattrocento Sans"/>
                <a:sym typeface="Quattrocento Sans"/>
              </a:rPr>
              <a:t>, Lerp</a:t>
            </a:r>
            <a:endParaRPr sz="2400" dirty="0">
              <a:solidFill>
                <a:srgbClr val="FFFFFF"/>
              </a:solidFill>
              <a:latin typeface="Calibri"/>
              <a:ea typeface="Quattrocento Sans"/>
              <a:cs typeface="Quattrocento Sans"/>
            </a:endParaRPr>
          </a:p>
          <a:p>
            <a:pPr marL="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Rotation (Inside Out)</a:t>
            </a:r>
            <a:endParaRPr dirty="0">
              <a:latin typeface="Calibri"/>
            </a:endParaRPr>
          </a:p>
          <a:p>
            <a:pPr marL="0" lvl="0" indent="457200" algn="l" rtl="0">
              <a:spcBef>
                <a:spcPts val="0"/>
              </a:spcBef>
              <a:spcAft>
                <a:spcPts val="0"/>
              </a:spcAft>
              <a:buNone/>
            </a:pPr>
            <a:r>
              <a:rPr lang="en-GB" sz="2400" dirty="0">
                <a:solidFill>
                  <a:srgbClr val="FFFFFF"/>
                </a:solidFill>
                <a:latin typeface="Calibri"/>
                <a:ea typeface="Quattrocento Sans"/>
                <a:cs typeface="Quattrocento Sans"/>
                <a:sym typeface="Quattrocento Sans"/>
              </a:rPr>
              <a:t>Camera </a:t>
            </a:r>
            <a:r>
              <a:rPr lang="en-GB" sz="2400" err="1">
                <a:solidFill>
                  <a:srgbClr val="FFFFFF"/>
                </a:solidFill>
                <a:latin typeface="Calibri"/>
                <a:ea typeface="Quattrocento Sans"/>
                <a:cs typeface="Quattrocento Sans"/>
                <a:sym typeface="Quattrocento Sans"/>
              </a:rPr>
              <a:t>MouseLook</a:t>
            </a:r>
            <a:r>
              <a:rPr lang="en-GB" sz="2400" dirty="0">
                <a:solidFill>
                  <a:srgbClr val="FFFFFF"/>
                </a:solidFill>
                <a:latin typeface="Calibri"/>
                <a:ea typeface="Quattrocento Sans"/>
                <a:cs typeface="Quattrocento Sans"/>
                <a:sym typeface="Quattrocento Sans"/>
              </a:rPr>
              <a:t> Script or RTS </a:t>
            </a:r>
            <a:r>
              <a:rPr lang="en-GB" sz="2400" err="1">
                <a:solidFill>
                  <a:srgbClr val="FFFFFF"/>
                </a:solidFill>
                <a:latin typeface="Calibri"/>
                <a:ea typeface="Quattrocento Sans"/>
                <a:cs typeface="Quattrocento Sans"/>
                <a:sym typeface="Quattrocento Sans"/>
              </a:rPr>
              <a:t>Middledrag</a:t>
            </a:r>
            <a:r>
              <a:rPr lang="en-GB" sz="2400" dirty="0">
                <a:solidFill>
                  <a:srgbClr val="FFFFFF"/>
                </a:solidFill>
                <a:latin typeface="Calibri"/>
                <a:ea typeface="Quattrocento Sans"/>
                <a:cs typeface="Quattrocento Sans"/>
                <a:sym typeface="Quattrocento Sans"/>
              </a:rPr>
              <a:t> (rotation)</a:t>
            </a:r>
            <a:endParaRPr sz="1800" dirty="0">
              <a:solidFill>
                <a:srgbClr val="FF0000"/>
              </a:solidFill>
              <a:latin typeface="Calibri"/>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a:p>
          <a:p>
            <a:pPr marL="0" marR="0" lvl="0" indent="0" algn="l" rtl="0">
              <a:spcBef>
                <a:spcPts val="0"/>
              </a:spcBef>
              <a:spcAft>
                <a:spcPts val="0"/>
              </a:spcAft>
              <a:buNone/>
            </a:pPr>
            <a:endParaRPr sz="18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46166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LERP Reference</a:t>
            </a:r>
            <a:endParaRPr lang="en-US">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https://gamedevbeginner.com/the-right-way-to-lerp-in-unity-with-examples/</a:t>
            </a:r>
            <a:endParaRPr lang="en-GB" sz="1800">
              <a:solidFill>
                <a:schemeClr val="dk1"/>
              </a:solidFill>
              <a:latin typeface="Calibri"/>
              <a:ea typeface="Quattrocento Sans"/>
              <a:cs typeface="Quattrocento Sans"/>
            </a:endParaRPr>
          </a:p>
          <a:p>
            <a:pPr marL="0" marR="0" lvl="0" indent="0" algn="l">
              <a:spcBef>
                <a:spcPts val="0"/>
              </a:spcBef>
              <a:spcAft>
                <a:spcPts val="0"/>
              </a:spcAft>
              <a:buNone/>
            </a:pPr>
            <a:r>
              <a:rPr lang="en-GB" sz="1800" dirty="0">
                <a:solidFill>
                  <a:schemeClr val="dk1"/>
                </a:solidFill>
                <a:latin typeface="Calibri"/>
                <a:hlinkClick r:id="rId4">
                  <a:extLst>
                    <a:ext uri="{A12FA001-AC4F-418D-AE19-62706E023703}">
                      <ahyp:hlinkClr xmlns:ahyp="http://schemas.microsoft.com/office/drawing/2018/hyperlinkcolor" val="tx"/>
                    </a:ext>
                  </a:extLst>
                </a:hlinkClick>
              </a:rPr>
              <a:t>https://youtu.be/RNccTrsgO9g</a:t>
            </a:r>
            <a:endParaRPr lang="en-GB">
              <a:solidFill>
                <a:schemeClr val="dk1"/>
              </a:solidFill>
              <a:latin typeface="Calibri"/>
              <a:hlinkClick r:id="" action="ppaction://noaction">
                <a:extLst>
                  <a:ext uri="{A12FA001-AC4F-418D-AE19-62706E023703}">
                    <ahyp:hlinkClr xmlns:ahyp="http://schemas.microsoft.com/office/drawing/2018/hyperlinkcolor" val="tx"/>
                  </a:ext>
                </a:extLst>
              </a:hlinkClick>
            </a:endParaRPr>
          </a:p>
          <a:p>
            <a:endParaRPr lang="en-GB" sz="1800" dirty="0">
              <a:solidFill>
                <a:schemeClr val="dk1"/>
              </a:solidFill>
              <a:latin typeface="Calibri"/>
              <a:ea typeface="Quattrocento Sans"/>
            </a:endParaRPr>
          </a:p>
          <a:p>
            <a:endParaRPr lang="en-GB"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https://gamedevbeginner.com/coroutines-in-unity-when-and-how-to-use-them/</a:t>
            </a:r>
            <a:endParaRPr lang="en-GB" sz="1800">
              <a:solidFill>
                <a:schemeClr val="dk1"/>
              </a:solidFill>
              <a:latin typeface="Calibri"/>
              <a:ea typeface="Quattrocento Sans"/>
              <a:cs typeface="Quattrocento Sans"/>
            </a:endParaRPr>
          </a:p>
          <a:p>
            <a:r>
              <a:rPr lang="en-GB" sz="1800" dirty="0">
                <a:solidFill>
                  <a:schemeClr val="dk1"/>
                </a:solidFill>
                <a:latin typeface="Calibri"/>
                <a:hlinkClick r:id="rId6">
                  <a:extLst>
                    <a:ext uri="{A12FA001-AC4F-418D-AE19-62706E023703}">
                      <ahyp:hlinkClr xmlns:ahyp="http://schemas.microsoft.com/office/drawing/2018/hyperlinkcolor" val="tx"/>
                    </a:ext>
                  </a:extLst>
                </a:hlinkClick>
              </a:rPr>
              <a:t>https://youtu.be/kUP6OK36nrM</a:t>
            </a:r>
            <a:endParaRPr lang="en-GB">
              <a:solidFill>
                <a:schemeClr val="dk1"/>
              </a:solidFill>
              <a:latin typeface="Calibri"/>
              <a:hlinkClick r:id="rId6">
                <a:extLst>
                  <a:ext uri="{A12FA001-AC4F-418D-AE19-62706E023703}">
                    <ahyp:hlinkClr xmlns:ahyp="http://schemas.microsoft.com/office/drawing/2018/hyperlinkcolor" val="tx"/>
                  </a:ext>
                </a:extLst>
              </a:hlinkClick>
            </a:endParaRPr>
          </a:p>
          <a:p>
            <a:endParaRPr lang="en-GB" sz="1800" dirty="0">
              <a:solidFill>
                <a:schemeClr val="dk1"/>
              </a:solidFill>
              <a:ea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 </a:t>
            </a:r>
            <a:endParaRPr sz="18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391255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LERP Reference</a:t>
            </a:r>
            <a:endParaRPr lang="en-US">
              <a:latin typeface="Calibri"/>
            </a:endParaRPr>
          </a:p>
          <a:p>
            <a:endParaRPr lang="en-US" sz="1800" dirty="0">
              <a:solidFill>
                <a:schemeClr val="dk1"/>
              </a:solidFill>
              <a:latin typeface="Calibri"/>
              <a:ea typeface="Calibri"/>
              <a:cs typeface="Calibri"/>
            </a:endParaRPr>
          </a:p>
          <a:p>
            <a:r>
              <a:rPr lang="en-US" sz="2400" dirty="0">
                <a:solidFill>
                  <a:schemeClr val="dk1"/>
                </a:solidFill>
                <a:latin typeface="Calibri"/>
                <a:ea typeface="Calibri"/>
                <a:cs typeface="Calibri"/>
              </a:rPr>
              <a:t>Good: Linear Move "from – to" in period of time</a:t>
            </a:r>
            <a:endParaRPr lang="en-US" sz="2400" dirty="0">
              <a:solidFill>
                <a:schemeClr val="dk1"/>
              </a:solidFill>
              <a:latin typeface="Calibri"/>
            </a:endParaRPr>
          </a:p>
          <a:p>
            <a:pPr marL="285750" lvl="1" indent="-285750">
              <a:buChar char="•"/>
            </a:pPr>
            <a:r>
              <a:rPr lang="en-US" sz="1800" dirty="0">
                <a:solidFill>
                  <a:schemeClr val="dk1"/>
                </a:solidFill>
                <a:latin typeface="Calibri"/>
                <a:ea typeface="Calibri"/>
                <a:cs typeface="Calibri"/>
              </a:rPr>
              <a:t>1. Defined start end and duration</a:t>
            </a:r>
            <a:endParaRPr lang="en-US" sz="1800" dirty="0">
              <a:solidFill>
                <a:schemeClr val="dk1"/>
              </a:solidFill>
              <a:ea typeface="Calibri"/>
            </a:endParaRPr>
          </a:p>
          <a:p>
            <a:pPr marL="285750" lvl="1" indent="-285750">
              <a:buChar char="•"/>
            </a:pPr>
            <a:r>
              <a:rPr lang="en-US" sz="1800" dirty="0">
                <a:solidFill>
                  <a:schemeClr val="dk1"/>
                </a:solidFill>
                <a:latin typeface="Calibri"/>
                <a:ea typeface="Calibri"/>
                <a:cs typeface="Calibri"/>
              </a:rPr>
              <a:t>2. Elapsed time divided by duration</a:t>
            </a:r>
            <a:endParaRPr lang="en-US" sz="1800" dirty="0">
              <a:solidFill>
                <a:schemeClr val="dk1"/>
              </a:solidFill>
              <a:latin typeface="Calibri"/>
            </a:endParaRPr>
          </a:p>
          <a:p>
            <a:pPr marL="285750" lvl="1" indent="-285750">
              <a:buChar char="•"/>
            </a:pPr>
            <a:r>
              <a:rPr lang="en-US" sz="1800" dirty="0">
                <a:solidFill>
                  <a:schemeClr val="dk1"/>
                </a:solidFill>
                <a:latin typeface="Calibri"/>
                <a:ea typeface="Calibri"/>
                <a:cs typeface="Calibri"/>
              </a:rPr>
              <a:t>3. Checks for elapsed=duration to snap to end</a:t>
            </a:r>
            <a:endParaRPr lang="en-US" sz="1800" dirty="0">
              <a:solidFill>
                <a:schemeClr val="dk1"/>
              </a:solidFill>
              <a:latin typeface="Calibri"/>
            </a:endParaRPr>
          </a:p>
          <a:p>
            <a:pPr marL="285750" lvl="1" indent="-285750">
              <a:buChar char="•"/>
            </a:pPr>
            <a:r>
              <a:rPr lang="en-US" sz="1800" dirty="0">
                <a:solidFill>
                  <a:schemeClr val="dk1"/>
                </a:solidFill>
                <a:latin typeface="Calibri"/>
                <a:ea typeface="Calibri"/>
                <a:cs typeface="Calibri"/>
              </a:rPr>
              <a:t>4. Usually put in a coroutine</a:t>
            </a:r>
            <a:endParaRPr sz="1800" dirty="0">
              <a:solidFill>
                <a:schemeClr val="dk1"/>
              </a:solidFill>
              <a:latin typeface="Calibri"/>
            </a:endParaRPr>
          </a:p>
          <a:p>
            <a:pPr lvl="1"/>
            <a:endParaRPr lang="en-US" sz="2400" dirty="0">
              <a:solidFill>
                <a:schemeClr val="dk1"/>
              </a:solidFill>
              <a:latin typeface="Calibri"/>
              <a:ea typeface="Calibri"/>
              <a:cs typeface="Calibri"/>
            </a:endParaRPr>
          </a:p>
          <a:p>
            <a:pPr lvl="1"/>
            <a:endParaRPr lang="en-US" sz="2400" dirty="0">
              <a:solidFill>
                <a:schemeClr val="dk1"/>
              </a:solidFill>
              <a:latin typeface="Calibri"/>
              <a:ea typeface="Calibri"/>
              <a:cs typeface="Calibri"/>
            </a:endParaRPr>
          </a:p>
          <a:p>
            <a:pPr lvl="1"/>
            <a:endParaRPr lang="en-US" sz="1800" dirty="0">
              <a:solidFill>
                <a:schemeClr val="dk1"/>
              </a:solidFill>
              <a:latin typeface="Calibri"/>
              <a:ea typeface="Calibri"/>
              <a:cs typeface="Calibri"/>
            </a:endParaRPr>
          </a:p>
        </p:txBody>
      </p:sp>
      <p:pic>
        <p:nvPicPr>
          <p:cNvPr id="2" name="Picture 1" descr="A computer screen shot of code&#10;&#10;Description automatically generated">
            <a:extLst>
              <a:ext uri="{FF2B5EF4-FFF2-40B4-BE49-F238E27FC236}">
                <a16:creationId xmlns:a16="http://schemas.microsoft.com/office/drawing/2014/main" id="{4489F332-ECBB-0101-C5D3-ED0B020B41A8}"/>
              </a:ext>
            </a:extLst>
          </p:cNvPr>
          <p:cNvPicPr>
            <a:picLocks noChangeAspect="1"/>
          </p:cNvPicPr>
          <p:nvPr/>
        </p:nvPicPr>
        <p:blipFill>
          <a:blip r:embed="rId3"/>
          <a:stretch>
            <a:fillRect/>
          </a:stretch>
        </p:blipFill>
        <p:spPr>
          <a:xfrm>
            <a:off x="6829107" y="1630363"/>
            <a:ext cx="5239385" cy="4460875"/>
          </a:xfrm>
          <a:prstGeom prst="rect">
            <a:avLst/>
          </a:prstGeom>
        </p:spPr>
      </p:pic>
      <p:pic>
        <p:nvPicPr>
          <p:cNvPr id="3" name="Picture 2" descr="A computer screen shot of text&#10;&#10;Description automatically generated">
            <a:extLst>
              <a:ext uri="{FF2B5EF4-FFF2-40B4-BE49-F238E27FC236}">
                <a16:creationId xmlns:a16="http://schemas.microsoft.com/office/drawing/2014/main" id="{E27D732B-8FED-C412-7483-96717C682E7B}"/>
              </a:ext>
            </a:extLst>
          </p:cNvPr>
          <p:cNvPicPr>
            <a:picLocks noChangeAspect="1"/>
          </p:cNvPicPr>
          <p:nvPr/>
        </p:nvPicPr>
        <p:blipFill>
          <a:blip r:embed="rId4"/>
          <a:stretch>
            <a:fillRect/>
          </a:stretch>
        </p:blipFill>
        <p:spPr>
          <a:xfrm>
            <a:off x="1001712" y="3866198"/>
            <a:ext cx="2964815" cy="2894965"/>
          </a:xfrm>
          <a:prstGeom prst="rect">
            <a:avLst/>
          </a:prstGeom>
        </p:spPr>
      </p:pic>
    </p:spTree>
    <p:extLst>
      <p:ext uri="{BB962C8B-B14F-4D97-AF65-F5344CB8AC3E}">
        <p14:creationId xmlns:p14="http://schemas.microsoft.com/office/powerpoint/2010/main" val="3317124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39702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LERP Reference</a:t>
            </a:r>
            <a:endParaRPr lang="en-US">
              <a:latin typeface="Calibri"/>
            </a:endParaRPr>
          </a:p>
          <a:p>
            <a:endParaRPr lang="en-US" sz="1800" dirty="0">
              <a:solidFill>
                <a:schemeClr val="dk1"/>
              </a:solidFill>
              <a:latin typeface="Calibri"/>
              <a:ea typeface="Calibri"/>
              <a:cs typeface="Calibri"/>
            </a:endParaRPr>
          </a:p>
          <a:p>
            <a:pPr lvl="1"/>
            <a:r>
              <a:rPr lang="en-US" sz="2400" dirty="0">
                <a:solidFill>
                  <a:schemeClr val="dk1"/>
                </a:solidFill>
                <a:latin typeface="Calibri"/>
                <a:ea typeface="Calibri"/>
                <a:cs typeface="Calibri"/>
              </a:rPr>
              <a:t>"Bad": Dynamic easing method - </a:t>
            </a:r>
            <a:endParaRPr lang="en-US" sz="2400" dirty="0">
              <a:solidFill>
                <a:schemeClr val="dk1"/>
              </a:solidFill>
              <a:ea typeface="Calibri"/>
            </a:endParaRPr>
          </a:p>
          <a:p>
            <a:pPr lvl="1"/>
            <a:r>
              <a:rPr lang="en-US" sz="2400" dirty="0">
                <a:solidFill>
                  <a:schemeClr val="dk1"/>
                </a:solidFill>
                <a:latin typeface="Calibri"/>
                <a:ea typeface="Calibri"/>
                <a:cs typeface="Calibri"/>
              </a:rPr>
              <a:t>constantly moved to changing target</a:t>
            </a:r>
            <a:endParaRPr lang="en-US" sz="2400">
              <a:solidFill>
                <a:schemeClr val="dk1"/>
              </a:solidFill>
            </a:endParaRPr>
          </a:p>
          <a:p>
            <a:pPr lvl="1"/>
            <a:endParaRPr lang="en-US" sz="2400" dirty="0">
              <a:solidFill>
                <a:schemeClr val="dk1"/>
              </a:solidFill>
              <a:latin typeface="Calibri"/>
              <a:ea typeface="Calibri"/>
              <a:cs typeface="Calibri"/>
            </a:endParaRPr>
          </a:p>
          <a:p>
            <a:pPr lvl="1"/>
            <a:r>
              <a:rPr lang="en-US" sz="1800" dirty="0">
                <a:solidFill>
                  <a:schemeClr val="dk1"/>
                </a:solidFill>
                <a:latin typeface="Calibri"/>
                <a:ea typeface="Calibri"/>
                <a:cs typeface="Calibri"/>
              </a:rPr>
              <a:t> 1. Use current target as minimum lerp value</a:t>
            </a:r>
            <a:endParaRPr lang="en-US" dirty="0">
              <a:solidFill>
                <a:schemeClr val="dk1"/>
              </a:solidFill>
              <a:ea typeface="Calibri"/>
            </a:endParaRPr>
          </a:p>
          <a:p>
            <a:pPr lvl="1"/>
            <a:r>
              <a:rPr lang="en-US" sz="1800" dirty="0">
                <a:solidFill>
                  <a:schemeClr val="dk1"/>
                </a:solidFill>
                <a:latin typeface="Calibri"/>
                <a:ea typeface="Calibri"/>
                <a:cs typeface="Calibri"/>
              </a:rPr>
              <a:t> 2. Maximum lerp is moving target (passed in)</a:t>
            </a:r>
            <a:endParaRPr lang="en-US" dirty="0">
              <a:solidFill>
                <a:schemeClr val="dk1"/>
              </a:solidFill>
            </a:endParaRPr>
          </a:p>
          <a:p>
            <a:pPr lvl="1"/>
            <a:r>
              <a:rPr lang="en-US" sz="1800" dirty="0">
                <a:solidFill>
                  <a:schemeClr val="dk1"/>
                </a:solidFill>
                <a:latin typeface="Calibri"/>
                <a:ea typeface="Calibri"/>
                <a:cs typeface="Calibri"/>
              </a:rPr>
              <a:t> 3. T = </a:t>
            </a:r>
            <a:r>
              <a:rPr lang="en-US" sz="1800" dirty="0" err="1">
                <a:solidFill>
                  <a:schemeClr val="dk1"/>
                </a:solidFill>
                <a:latin typeface="Calibri"/>
                <a:ea typeface="Calibri"/>
                <a:cs typeface="Calibri"/>
              </a:rPr>
              <a:t>Time.deltaTime</a:t>
            </a:r>
            <a:endParaRPr lang="en-US" dirty="0" err="1">
              <a:solidFill>
                <a:schemeClr val="dk1"/>
              </a:solidFill>
            </a:endParaRPr>
          </a:p>
          <a:p>
            <a:pPr lvl="1"/>
            <a:r>
              <a:rPr lang="en-US" sz="1800" dirty="0">
                <a:solidFill>
                  <a:schemeClr val="dk1"/>
                </a:solidFill>
                <a:latin typeface="Calibri"/>
                <a:ea typeface="Calibri"/>
                <a:cs typeface="Calibri"/>
              </a:rPr>
              <a:t> 4. Constantly update as fractionally closer to target.</a:t>
            </a:r>
            <a:endParaRPr lang="en-US">
              <a:solidFill>
                <a:schemeClr val="dk1"/>
              </a:solidFill>
              <a:ea typeface="Calibri"/>
            </a:endParaRPr>
          </a:p>
          <a:p>
            <a:pPr lvl="1"/>
            <a:r>
              <a:rPr lang="en-US" sz="1800" dirty="0">
                <a:solidFill>
                  <a:schemeClr val="dk1"/>
                </a:solidFill>
                <a:latin typeface="Calibri"/>
                <a:ea typeface="Calibri"/>
                <a:cs typeface="Calibri"/>
              </a:rPr>
              <a:t> 5. Change gets smaller - incorrect ease - can snap though</a:t>
            </a:r>
            <a:endParaRPr lang="en-US" dirty="0">
              <a:solidFill>
                <a:schemeClr val="dk1"/>
              </a:solidFill>
            </a:endParaRPr>
          </a:p>
          <a:p>
            <a:pPr lvl="1"/>
            <a:r>
              <a:rPr lang="en-US" sz="1800" dirty="0">
                <a:solidFill>
                  <a:schemeClr val="dk1"/>
                </a:solidFill>
                <a:latin typeface="Calibri"/>
                <a:ea typeface="Calibri"/>
                <a:cs typeface="Calibri"/>
              </a:rPr>
              <a:t> 6. Also rate of change is not scaled</a:t>
            </a:r>
            <a:endParaRPr lang="en-US" dirty="0">
              <a:solidFill>
                <a:schemeClr val="dk1"/>
              </a:solidFill>
            </a:endParaRPr>
          </a:p>
          <a:p>
            <a:pPr lvl="1"/>
            <a:endParaRPr lang="en-US" sz="1800" dirty="0">
              <a:solidFill>
                <a:schemeClr val="dk1"/>
              </a:solidFill>
              <a:latin typeface="Calibri"/>
              <a:ea typeface="Calibri"/>
              <a:cs typeface="Calibri"/>
            </a:endParaRPr>
          </a:p>
        </p:txBody>
      </p:sp>
      <p:pic>
        <p:nvPicPr>
          <p:cNvPr id="2" name="Picture 1">
            <a:extLst>
              <a:ext uri="{FF2B5EF4-FFF2-40B4-BE49-F238E27FC236}">
                <a16:creationId xmlns:a16="http://schemas.microsoft.com/office/drawing/2014/main" id="{1DAED9E1-6C7D-5DBC-3E2D-DB9885862C0D}"/>
              </a:ext>
            </a:extLst>
          </p:cNvPr>
          <p:cNvPicPr>
            <a:picLocks noChangeAspect="1"/>
          </p:cNvPicPr>
          <p:nvPr/>
        </p:nvPicPr>
        <p:blipFill>
          <a:blip r:embed="rId3"/>
          <a:stretch>
            <a:fillRect/>
          </a:stretch>
        </p:blipFill>
        <p:spPr>
          <a:xfrm>
            <a:off x="6045835" y="1544955"/>
            <a:ext cx="5539740" cy="2161540"/>
          </a:xfrm>
          <a:prstGeom prst="rect">
            <a:avLst/>
          </a:prstGeom>
        </p:spPr>
      </p:pic>
      <p:pic>
        <p:nvPicPr>
          <p:cNvPr id="3" name="Picture 2" descr="A purple background with white text&#10;&#10;Description automatically generated">
            <a:extLst>
              <a:ext uri="{FF2B5EF4-FFF2-40B4-BE49-F238E27FC236}">
                <a16:creationId xmlns:a16="http://schemas.microsoft.com/office/drawing/2014/main" id="{4E221522-2F9C-9B10-0440-F7B914DA3D93}"/>
              </a:ext>
            </a:extLst>
          </p:cNvPr>
          <p:cNvPicPr>
            <a:picLocks noChangeAspect="1"/>
          </p:cNvPicPr>
          <p:nvPr/>
        </p:nvPicPr>
        <p:blipFill>
          <a:blip r:embed="rId4"/>
          <a:stretch>
            <a:fillRect/>
          </a:stretch>
        </p:blipFill>
        <p:spPr>
          <a:xfrm>
            <a:off x="6605270" y="3994150"/>
            <a:ext cx="4980305" cy="2025015"/>
          </a:xfrm>
          <a:prstGeom prst="rect">
            <a:avLst/>
          </a:prstGeom>
        </p:spPr>
      </p:pic>
    </p:spTree>
    <p:extLst>
      <p:ext uri="{BB962C8B-B14F-4D97-AF65-F5344CB8AC3E}">
        <p14:creationId xmlns:p14="http://schemas.microsoft.com/office/powerpoint/2010/main" val="33378585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53552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LERP Reference</a:t>
            </a:r>
            <a:endParaRPr lang="en-US">
              <a:latin typeface="Calibri"/>
            </a:endParaRPr>
          </a:p>
          <a:p>
            <a:endParaRPr lang="en-US" sz="1800" dirty="0">
              <a:solidFill>
                <a:schemeClr val="dk1"/>
              </a:solidFill>
              <a:latin typeface="Calibri"/>
              <a:ea typeface="Calibri"/>
              <a:cs typeface="Calibri"/>
            </a:endParaRPr>
          </a:p>
          <a:p>
            <a:r>
              <a:rPr lang="en-US" sz="2400" dirty="0" err="1">
                <a:solidFill>
                  <a:schemeClr val="tx1"/>
                </a:solidFill>
                <a:latin typeface="Calibri"/>
                <a:ea typeface="Calibri"/>
                <a:cs typeface="Calibri"/>
              </a:rPr>
              <a:t>SmoothDamp</a:t>
            </a:r>
            <a:r>
              <a:rPr lang="en-US" sz="2400" dirty="0">
                <a:solidFill>
                  <a:schemeClr val="tx1"/>
                </a:solidFill>
                <a:latin typeface="Calibri"/>
                <a:ea typeface="Calibri"/>
                <a:cs typeface="Calibri"/>
              </a:rPr>
              <a:t> is preferred</a:t>
            </a:r>
            <a:endParaRPr lang="en-US" sz="1800" dirty="0">
              <a:solidFill>
                <a:schemeClr val="tx1"/>
              </a:solidFill>
              <a:ea typeface="Calibri"/>
            </a:endParaRPr>
          </a:p>
          <a:p>
            <a:endParaRPr lang="en-US" sz="2400" dirty="0">
              <a:solidFill>
                <a:schemeClr val="tx1"/>
              </a:solidFill>
              <a:latin typeface="Calibri"/>
              <a:ea typeface="Calibri"/>
              <a:cs typeface="Calibri"/>
            </a:endParaRPr>
          </a:p>
          <a:p>
            <a:pPr marL="342900" indent="-342900">
              <a:buAutoNum type="arabicPeriod"/>
            </a:pPr>
            <a:r>
              <a:rPr lang="en-US" sz="1800" dirty="0">
                <a:solidFill>
                  <a:schemeClr val="tx1"/>
                </a:solidFill>
                <a:latin typeface="Calibri"/>
                <a:ea typeface="Calibri"/>
                <a:cs typeface="Calibri"/>
              </a:rPr>
              <a:t>Smoothly move towards a dynamic target </a:t>
            </a:r>
            <a:endParaRPr lang="en-US" sz="1800" dirty="0">
              <a:solidFill>
                <a:schemeClr val="tx1"/>
              </a:solidFill>
              <a:ea typeface="Calibri"/>
            </a:endParaRPr>
          </a:p>
          <a:p>
            <a:pPr marL="742950" lvl="2" indent="-285750">
              <a:buChar char="•"/>
            </a:pPr>
            <a:r>
              <a:rPr lang="en-US" sz="1800" dirty="0">
                <a:solidFill>
                  <a:schemeClr val="tx1"/>
                </a:solidFill>
                <a:latin typeface="Calibri"/>
                <a:ea typeface="Calibri"/>
                <a:cs typeface="Calibri"/>
              </a:rPr>
              <a:t>over </a:t>
            </a:r>
            <a:r>
              <a:rPr lang="en-US" sz="1800" dirty="0" err="1">
                <a:solidFill>
                  <a:schemeClr val="tx1"/>
                </a:solidFill>
                <a:latin typeface="Calibri"/>
                <a:ea typeface="Calibri"/>
                <a:cs typeface="Calibri"/>
              </a:rPr>
              <a:t>approx</a:t>
            </a:r>
            <a:r>
              <a:rPr lang="en-US" sz="1800" dirty="0">
                <a:solidFill>
                  <a:schemeClr val="tx1"/>
                </a:solidFill>
                <a:latin typeface="Calibri"/>
                <a:ea typeface="Calibri"/>
                <a:cs typeface="Calibri"/>
              </a:rPr>
              <a:t> amount of time.</a:t>
            </a:r>
            <a:endParaRPr lang="en-US" sz="1800">
              <a:solidFill>
                <a:schemeClr val="tx1"/>
              </a:solidFill>
              <a:latin typeface="Calibri"/>
            </a:endParaRPr>
          </a:p>
          <a:p>
            <a:pPr marL="285750" lvl="1" indent="-285750">
              <a:buAutoNum type="arabicPeriod"/>
            </a:pPr>
            <a:r>
              <a:rPr lang="en-US" sz="1800" dirty="0">
                <a:solidFill>
                  <a:schemeClr val="tx1"/>
                </a:solidFill>
                <a:latin typeface="Calibri"/>
                <a:ea typeface="Calibri"/>
                <a:cs typeface="Calibri"/>
              </a:rPr>
              <a:t>Beginning and end will be slowed</a:t>
            </a:r>
            <a:endParaRPr lang="en-US" sz="1800">
              <a:solidFill>
                <a:schemeClr val="tx1"/>
              </a:solidFill>
              <a:latin typeface="Calibri"/>
            </a:endParaRPr>
          </a:p>
          <a:p>
            <a:pPr marL="285750" lvl="1" indent="-285750">
              <a:buAutoNum type="arabicPeriod"/>
            </a:pPr>
            <a:r>
              <a:rPr lang="en-US" sz="1800" dirty="0">
                <a:solidFill>
                  <a:schemeClr val="tx1"/>
                </a:solidFill>
                <a:latin typeface="Calibri"/>
                <a:ea typeface="Calibri"/>
                <a:cs typeface="Calibri"/>
              </a:rPr>
              <a:t>Clamped?</a:t>
            </a:r>
            <a:endParaRPr lang="en-US" sz="1800">
              <a:solidFill>
                <a:schemeClr val="tx1"/>
              </a:solidFill>
              <a:latin typeface="Calibri"/>
            </a:endParaRPr>
          </a:p>
          <a:p>
            <a:pPr marL="285750" lvl="1" indent="-285750">
              <a:buAutoNum type="arabicPeriod"/>
            </a:pPr>
            <a:r>
              <a:rPr lang="en-US" sz="1800" dirty="0">
                <a:solidFill>
                  <a:schemeClr val="tx1"/>
                </a:solidFill>
                <a:latin typeface="Calibri"/>
                <a:ea typeface="Calibri"/>
                <a:cs typeface="Calibri"/>
              </a:rPr>
              <a:t>Good for follow camera</a:t>
            </a:r>
            <a:endParaRPr lang="en-US" sz="1800">
              <a:solidFill>
                <a:schemeClr val="tx1"/>
              </a:solidFill>
              <a:latin typeface="Calibri"/>
            </a:endParaRPr>
          </a:p>
          <a:p>
            <a:pPr marL="285750" lvl="2" indent="-285750">
              <a:buChar char="•"/>
            </a:pPr>
            <a:r>
              <a:rPr lang="en-US" sz="1800" dirty="0">
                <a:solidFill>
                  <a:schemeClr val="tx1"/>
                </a:solidFill>
                <a:latin typeface="Calibri"/>
                <a:ea typeface="Calibri"/>
                <a:cs typeface="Calibri"/>
              </a:rPr>
              <a:t>Current velocity</a:t>
            </a:r>
            <a:endParaRPr lang="en-US" sz="1800">
              <a:solidFill>
                <a:schemeClr val="tx1"/>
              </a:solidFill>
              <a:latin typeface="Calibri"/>
            </a:endParaRPr>
          </a:p>
          <a:p>
            <a:pPr marL="285750" lvl="2" indent="-285750">
              <a:buChar char="•"/>
            </a:pPr>
            <a:r>
              <a:rPr lang="en-US" sz="1800" dirty="0">
                <a:solidFill>
                  <a:schemeClr val="tx1"/>
                </a:solidFill>
                <a:latin typeface="Calibri"/>
                <a:ea typeface="Calibri"/>
                <a:cs typeface="Calibri"/>
              </a:rPr>
              <a:t>How fast changing</a:t>
            </a:r>
            <a:endParaRPr lang="en-US" sz="1800">
              <a:solidFill>
                <a:schemeClr val="tx1"/>
              </a:solidFill>
              <a:latin typeface="Calibri"/>
            </a:endParaRPr>
          </a:p>
          <a:p>
            <a:pPr marL="285750" lvl="2" indent="-285750">
              <a:buChar char="•"/>
            </a:pPr>
            <a:r>
              <a:rPr lang="en-US" sz="1800" dirty="0">
                <a:solidFill>
                  <a:schemeClr val="tx1"/>
                </a:solidFill>
                <a:latin typeface="Calibri"/>
                <a:ea typeface="Calibri"/>
                <a:cs typeface="Calibri"/>
              </a:rPr>
              <a:t>Remaining distance to target</a:t>
            </a:r>
            <a:endParaRPr lang="en-US" sz="1800" dirty="0">
              <a:solidFill>
                <a:schemeClr val="tx1"/>
              </a:solidFill>
            </a:endParaRPr>
          </a:p>
          <a:p>
            <a:pPr marL="285750" lvl="2" indent="-285750">
              <a:buChar char="•"/>
            </a:pPr>
            <a:endParaRPr lang="en-US" sz="1800" dirty="0">
              <a:solidFill>
                <a:schemeClr val="tx1"/>
              </a:solidFill>
              <a:latin typeface="Calibri"/>
              <a:ea typeface="Calibri"/>
              <a:cs typeface="Calibri"/>
            </a:endParaRPr>
          </a:p>
          <a:p>
            <a:pPr marL="285750" lvl="2" indent="-285750">
              <a:buChar char="•"/>
            </a:pPr>
            <a:endParaRPr lang="en-US" sz="1800" dirty="0">
              <a:solidFill>
                <a:schemeClr val="tx1"/>
              </a:solidFill>
              <a:latin typeface="Calibri"/>
              <a:ea typeface="Calibri"/>
              <a:cs typeface="Calibri"/>
            </a:endParaRPr>
          </a:p>
          <a:p>
            <a:pPr marL="285750" lvl="2" indent="-285750">
              <a:buChar char="•"/>
            </a:pPr>
            <a:r>
              <a:rPr lang="en-US" sz="1800" dirty="0">
                <a:solidFill>
                  <a:schemeClr val="tx1"/>
                </a:solidFill>
                <a:latin typeface="Calibri"/>
                <a:ea typeface="Calibri"/>
                <a:cs typeface="Calibri"/>
              </a:rPr>
              <a:t>In </a:t>
            </a:r>
            <a:r>
              <a:rPr lang="en-US" sz="1800" dirty="0" err="1">
                <a:solidFill>
                  <a:schemeClr val="tx1"/>
                </a:solidFill>
                <a:latin typeface="Calibri"/>
                <a:ea typeface="Calibri"/>
                <a:cs typeface="Calibri"/>
              </a:rPr>
              <a:t>CameraSmoothFloow</a:t>
            </a:r>
            <a:r>
              <a:rPr lang="en-US" sz="1800" dirty="0">
                <a:solidFill>
                  <a:schemeClr val="tx1"/>
                </a:solidFill>
                <a:latin typeface="Calibri"/>
                <a:ea typeface="Calibri"/>
                <a:cs typeface="Calibri"/>
              </a:rPr>
              <a:t> Example in "Camera Demos SA" Project</a:t>
            </a:r>
            <a:endParaRPr lang="en-US" dirty="0">
              <a:solidFill>
                <a:schemeClr val="tx1"/>
              </a:solidFill>
            </a:endParaRPr>
          </a:p>
          <a:p>
            <a:pPr lvl="1"/>
            <a:endParaRPr lang="en-US" sz="2400" dirty="0">
              <a:solidFill>
                <a:schemeClr val="dk1"/>
              </a:solidFill>
              <a:latin typeface="Calibri"/>
              <a:ea typeface="Calibri"/>
              <a:cs typeface="Calibri"/>
            </a:endParaRPr>
          </a:p>
          <a:p>
            <a:pPr lvl="1"/>
            <a:endParaRPr lang="en-US" sz="1800" dirty="0">
              <a:solidFill>
                <a:schemeClr val="dk1"/>
              </a:solidFill>
              <a:latin typeface="Calibri"/>
              <a:ea typeface="Calibri"/>
              <a:cs typeface="Calibri"/>
            </a:endParaRPr>
          </a:p>
        </p:txBody>
      </p:sp>
      <p:pic>
        <p:nvPicPr>
          <p:cNvPr id="4" name="Picture 3" descr="A purple sign with pink text&#10;&#10;Description automatically generated">
            <a:extLst>
              <a:ext uri="{FF2B5EF4-FFF2-40B4-BE49-F238E27FC236}">
                <a16:creationId xmlns:a16="http://schemas.microsoft.com/office/drawing/2014/main" id="{5D4BAA21-B396-D308-43AA-32057C10800F}"/>
              </a:ext>
            </a:extLst>
          </p:cNvPr>
          <p:cNvPicPr>
            <a:picLocks noChangeAspect="1"/>
          </p:cNvPicPr>
          <p:nvPr/>
        </p:nvPicPr>
        <p:blipFill>
          <a:blip r:embed="rId3"/>
          <a:stretch>
            <a:fillRect/>
          </a:stretch>
        </p:blipFill>
        <p:spPr>
          <a:xfrm>
            <a:off x="6156497" y="1718362"/>
            <a:ext cx="5428735" cy="1171574"/>
          </a:xfrm>
          <a:prstGeom prst="rect">
            <a:avLst/>
          </a:prstGeom>
        </p:spPr>
      </p:pic>
      <p:pic>
        <p:nvPicPr>
          <p:cNvPr id="5" name="Picture 4" descr="A computer screen shot of a computer code&#10;&#10;Description automatically generated">
            <a:extLst>
              <a:ext uri="{FF2B5EF4-FFF2-40B4-BE49-F238E27FC236}">
                <a16:creationId xmlns:a16="http://schemas.microsoft.com/office/drawing/2014/main" id="{028A76FF-3573-716B-897E-5858F2761C03}"/>
              </a:ext>
            </a:extLst>
          </p:cNvPr>
          <p:cNvPicPr>
            <a:picLocks noChangeAspect="1"/>
          </p:cNvPicPr>
          <p:nvPr/>
        </p:nvPicPr>
        <p:blipFill>
          <a:blip r:embed="rId4"/>
          <a:stretch>
            <a:fillRect/>
          </a:stretch>
        </p:blipFill>
        <p:spPr>
          <a:xfrm>
            <a:off x="4631210" y="3426426"/>
            <a:ext cx="7102303" cy="2037835"/>
          </a:xfrm>
          <a:prstGeom prst="rect">
            <a:avLst/>
          </a:prstGeom>
        </p:spPr>
      </p:pic>
    </p:spTree>
    <p:extLst>
      <p:ext uri="{BB962C8B-B14F-4D97-AF65-F5344CB8AC3E}">
        <p14:creationId xmlns:p14="http://schemas.microsoft.com/office/powerpoint/2010/main" val="23083737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26776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LERP Reference</a:t>
            </a:r>
            <a:endParaRPr lang="en-US">
              <a:latin typeface="Calibri"/>
            </a:endParaRPr>
          </a:p>
          <a:p>
            <a:endParaRPr lang="en-US" sz="1800" dirty="0">
              <a:solidFill>
                <a:schemeClr val="dk1"/>
              </a:solidFill>
              <a:latin typeface="Calibri"/>
              <a:ea typeface="Calibri"/>
              <a:cs typeface="Calibri"/>
            </a:endParaRPr>
          </a:p>
          <a:p>
            <a:r>
              <a:rPr lang="en-US" sz="2400" dirty="0">
                <a:solidFill>
                  <a:schemeClr val="tx1"/>
                </a:solidFill>
                <a:latin typeface="Calibri"/>
                <a:ea typeface="Calibri"/>
                <a:cs typeface="Calibri"/>
              </a:rPr>
              <a:t>Lerp with fixed time scale and curve </a:t>
            </a:r>
            <a:endParaRPr lang="en-US" dirty="0">
              <a:solidFill>
                <a:schemeClr val="tx1"/>
              </a:solidFill>
              <a:ea typeface="Calibri"/>
            </a:endParaRPr>
          </a:p>
          <a:p>
            <a:r>
              <a:rPr lang="en-US" sz="2400" dirty="0">
                <a:solidFill>
                  <a:schemeClr val="tx1"/>
                </a:solidFill>
                <a:latin typeface="Calibri"/>
                <a:ea typeface="Calibri"/>
                <a:cs typeface="Calibri"/>
              </a:rPr>
              <a:t>(ease in and out)</a:t>
            </a:r>
            <a:endParaRPr lang="en-US" dirty="0">
              <a:solidFill>
                <a:schemeClr val="tx1"/>
              </a:solidFill>
            </a:endParaRPr>
          </a:p>
          <a:p>
            <a:endParaRPr lang="en-US" sz="2400" dirty="0">
              <a:solidFill>
                <a:schemeClr val="tx1"/>
              </a:solidFill>
              <a:latin typeface="Calibri"/>
              <a:ea typeface="Calibri"/>
              <a:cs typeface="Calibri"/>
            </a:endParaRPr>
          </a:p>
          <a:p>
            <a:pPr lvl="1"/>
            <a:endParaRPr lang="en-US" sz="2400" dirty="0">
              <a:solidFill>
                <a:schemeClr val="tx1"/>
              </a:solidFill>
              <a:latin typeface="Calibri"/>
              <a:ea typeface="Calibri"/>
              <a:cs typeface="Calibri"/>
            </a:endParaRPr>
          </a:p>
          <a:p>
            <a:pPr lvl="1"/>
            <a:endParaRPr lang="en-US" sz="1800" dirty="0">
              <a:solidFill>
                <a:schemeClr val="dk1"/>
              </a:solidFill>
              <a:latin typeface="Calibri"/>
              <a:ea typeface="Calibri"/>
              <a:cs typeface="Calibri"/>
            </a:endParaRPr>
          </a:p>
        </p:txBody>
      </p:sp>
      <p:pic>
        <p:nvPicPr>
          <p:cNvPr id="2" name="Picture 1" descr="A screen shot of a computer code&#10;&#10;Description automatically generated">
            <a:extLst>
              <a:ext uri="{FF2B5EF4-FFF2-40B4-BE49-F238E27FC236}">
                <a16:creationId xmlns:a16="http://schemas.microsoft.com/office/drawing/2014/main" id="{46935E5D-E849-E4F9-CF76-28B598A94F67}"/>
              </a:ext>
            </a:extLst>
          </p:cNvPr>
          <p:cNvPicPr>
            <a:picLocks noChangeAspect="1"/>
          </p:cNvPicPr>
          <p:nvPr/>
        </p:nvPicPr>
        <p:blipFill>
          <a:blip r:embed="rId3"/>
          <a:stretch>
            <a:fillRect/>
          </a:stretch>
        </p:blipFill>
        <p:spPr>
          <a:xfrm>
            <a:off x="6938835" y="1254339"/>
            <a:ext cx="4647170" cy="5028943"/>
          </a:xfrm>
          <a:prstGeom prst="rect">
            <a:avLst/>
          </a:prstGeom>
        </p:spPr>
      </p:pic>
    </p:spTree>
    <p:extLst>
      <p:ext uri="{BB962C8B-B14F-4D97-AF65-F5344CB8AC3E}">
        <p14:creationId xmlns:p14="http://schemas.microsoft.com/office/powerpoint/2010/main" val="4077775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LERP Reference</a:t>
            </a:r>
            <a:endParaRPr lang="en-US">
              <a:latin typeface="Calibri"/>
            </a:endParaRPr>
          </a:p>
          <a:p>
            <a:endParaRPr lang="en-US" sz="1800" dirty="0">
              <a:solidFill>
                <a:schemeClr val="dk1"/>
              </a:solidFill>
              <a:latin typeface="Calibri"/>
              <a:ea typeface="Calibri"/>
              <a:cs typeface="Calibri"/>
            </a:endParaRPr>
          </a:p>
          <a:p>
            <a:r>
              <a:rPr lang="en-US" sz="2400" dirty="0">
                <a:solidFill>
                  <a:schemeClr val="tx1"/>
                </a:solidFill>
                <a:latin typeface="Calibri"/>
                <a:ea typeface="Calibri"/>
                <a:cs typeface="Calibri"/>
              </a:rPr>
              <a:t>Or pass in </a:t>
            </a:r>
            <a:r>
              <a:rPr lang="en-US" sz="2400" dirty="0" err="1">
                <a:solidFill>
                  <a:schemeClr val="tx1"/>
                </a:solidFill>
                <a:latin typeface="Calibri"/>
                <a:ea typeface="Calibri"/>
                <a:cs typeface="Calibri"/>
              </a:rPr>
              <a:t>normalised</a:t>
            </a:r>
            <a:r>
              <a:rPr lang="en-US" sz="2400" dirty="0">
                <a:solidFill>
                  <a:schemeClr val="tx1"/>
                </a:solidFill>
                <a:latin typeface="Calibri"/>
                <a:ea typeface="Calibri"/>
                <a:cs typeface="Calibri"/>
              </a:rPr>
              <a:t> animation curve</a:t>
            </a:r>
            <a:endParaRPr lang="en-US" dirty="0">
              <a:solidFill>
                <a:schemeClr val="tx1"/>
              </a:solidFill>
            </a:endParaRPr>
          </a:p>
          <a:p>
            <a:pPr lvl="1"/>
            <a:endParaRPr lang="en-US" sz="1800" dirty="0">
              <a:solidFill>
                <a:schemeClr val="tx1"/>
              </a:solidFill>
              <a:latin typeface="Calibri"/>
              <a:ea typeface="Calibri"/>
              <a:cs typeface="Calibri"/>
            </a:endParaRPr>
          </a:p>
        </p:txBody>
      </p:sp>
      <p:pic>
        <p:nvPicPr>
          <p:cNvPr id="2" name="Picture 1" descr="A screen shot of a graph&#10;&#10;Description automatically generated">
            <a:extLst>
              <a:ext uri="{FF2B5EF4-FFF2-40B4-BE49-F238E27FC236}">
                <a16:creationId xmlns:a16="http://schemas.microsoft.com/office/drawing/2014/main" id="{F31AE551-28FA-435B-90BD-A7A6BC71A33E}"/>
              </a:ext>
            </a:extLst>
          </p:cNvPr>
          <p:cNvPicPr>
            <a:picLocks noChangeAspect="1"/>
          </p:cNvPicPr>
          <p:nvPr/>
        </p:nvPicPr>
        <p:blipFill>
          <a:blip r:embed="rId3"/>
          <a:stretch>
            <a:fillRect/>
          </a:stretch>
        </p:blipFill>
        <p:spPr>
          <a:xfrm>
            <a:off x="3499793" y="2851064"/>
            <a:ext cx="3551796" cy="3365415"/>
          </a:xfrm>
          <a:prstGeom prst="rect">
            <a:avLst/>
          </a:prstGeom>
        </p:spPr>
      </p:pic>
      <p:pic>
        <p:nvPicPr>
          <p:cNvPr id="3" name="Picture 2" descr="A screen shot of a computer code&#10;&#10;Description automatically generated">
            <a:extLst>
              <a:ext uri="{FF2B5EF4-FFF2-40B4-BE49-F238E27FC236}">
                <a16:creationId xmlns:a16="http://schemas.microsoft.com/office/drawing/2014/main" id="{7F7CF85F-4858-94F6-D602-21639451D928}"/>
              </a:ext>
            </a:extLst>
          </p:cNvPr>
          <p:cNvPicPr>
            <a:picLocks noChangeAspect="1"/>
          </p:cNvPicPr>
          <p:nvPr/>
        </p:nvPicPr>
        <p:blipFill>
          <a:blip r:embed="rId4"/>
          <a:stretch>
            <a:fillRect/>
          </a:stretch>
        </p:blipFill>
        <p:spPr>
          <a:xfrm>
            <a:off x="7411480" y="1418453"/>
            <a:ext cx="4168088" cy="4800599"/>
          </a:xfrm>
          <a:prstGeom prst="rect">
            <a:avLst/>
          </a:prstGeom>
        </p:spPr>
      </p:pic>
    </p:spTree>
    <p:extLst>
      <p:ext uri="{BB962C8B-B14F-4D97-AF65-F5344CB8AC3E}">
        <p14:creationId xmlns:p14="http://schemas.microsoft.com/office/powerpoint/2010/main" val="28844828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3416279"/>
          </a:xfrm>
          <a:prstGeom prst="rect">
            <a:avLst/>
          </a:prstGeom>
          <a:noFill/>
          <a:ln>
            <a:noFill/>
          </a:ln>
        </p:spPr>
        <p:txBody>
          <a:bodyPr spcFirstLastPara="1" wrap="square" lIns="91425" tIns="45700" rIns="91425" bIns="45700" anchor="t" anchorCtr="0">
            <a:spAutoFit/>
          </a:bodyPr>
          <a:lstStyle/>
          <a:p>
            <a:r>
              <a:rPr lang="en-GB" sz="3600" dirty="0" err="1">
                <a:solidFill>
                  <a:srgbClr val="FFFF00"/>
                </a:solidFill>
                <a:latin typeface="Calibri"/>
                <a:ea typeface="Quattrocento Sans"/>
                <a:cs typeface="Quattrocento Sans"/>
                <a:sym typeface="Quattrocento Sans"/>
              </a:rPr>
              <a:t>ClickLerp</a:t>
            </a:r>
            <a:r>
              <a:rPr lang="en-GB" sz="3600" dirty="0">
                <a:solidFill>
                  <a:srgbClr val="FFFF00"/>
                </a:solidFill>
                <a:latin typeface="Calibri"/>
                <a:ea typeface="Quattrocento Sans"/>
                <a:cs typeface="Quattrocento Sans"/>
                <a:sym typeface="Quattrocento Sans"/>
              </a:rPr>
              <a:t>: New camera position by keypress, Mouse click</a:t>
            </a:r>
            <a:endParaRPr lang="en-US" dirty="0">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function </a:t>
            </a:r>
            <a:r>
              <a:rPr lang="en-GB" sz="1800" err="1">
                <a:solidFill>
                  <a:schemeClr val="dk1"/>
                </a:solidFill>
                <a:latin typeface="Calibri"/>
                <a:ea typeface="Quattrocento Sans"/>
                <a:cs typeface="Quattrocento Sans"/>
                <a:sym typeface="Quattrocento Sans"/>
              </a:rPr>
              <a:t>OnMouseEnter</a:t>
            </a:r>
            <a:r>
              <a:rPr lang="en-GB" sz="1800" dirty="0">
                <a:solidFill>
                  <a:schemeClr val="dk1"/>
                </a:solidFill>
                <a:latin typeface="Calibri"/>
                <a:ea typeface="Quattrocento Sans"/>
                <a:cs typeface="Quattrocento Sans"/>
                <a:sym typeface="Quattrocento Sans"/>
              </a:rPr>
              <a:t>() {</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	</a:t>
            </a:r>
            <a:r>
              <a:rPr lang="en-GB" sz="1800" err="1">
                <a:solidFill>
                  <a:schemeClr val="dk1"/>
                </a:solidFill>
                <a:latin typeface="Calibri"/>
                <a:ea typeface="Quattrocento Sans"/>
                <a:cs typeface="Quattrocento Sans"/>
                <a:sym typeface="Quattrocento Sans"/>
              </a:rPr>
              <a:t>transform.position</a:t>
            </a:r>
            <a:r>
              <a:rPr lang="en-GB" sz="1800" dirty="0">
                <a:solidFill>
                  <a:schemeClr val="dk1"/>
                </a:solidFill>
                <a:latin typeface="Calibri"/>
                <a:ea typeface="Quattrocento Sans"/>
                <a:cs typeface="Quattrocento Sans"/>
                <a:sym typeface="Quattrocento Sans"/>
              </a:rPr>
              <a:t> = Vector3.Lerp(</a:t>
            </a:r>
            <a:r>
              <a:rPr lang="en-GB" sz="1800" err="1">
                <a:solidFill>
                  <a:schemeClr val="dk1"/>
                </a:solidFill>
                <a:latin typeface="Calibri"/>
                <a:ea typeface="Quattrocento Sans"/>
                <a:cs typeface="Quattrocento Sans"/>
                <a:sym typeface="Quattrocento Sans"/>
              </a:rPr>
              <a:t>this.transform.position</a:t>
            </a:r>
            <a:r>
              <a:rPr lang="en-GB" sz="1800" dirty="0">
                <a:solidFill>
                  <a:schemeClr val="dk1"/>
                </a:solidFill>
                <a:latin typeface="Calibri"/>
                <a:ea typeface="Quattrocento Sans"/>
                <a:cs typeface="Quattrocento Sans"/>
                <a:sym typeface="Quattrocento Sans"/>
              </a:rPr>
              <a:t>, new Vector3(0.0512155,0.5632893,5.466473), 0.2);</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a:t>
            </a: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The parameters that Vector3.Lerp as also the Vector3.MoveTowards require are the following:</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1 parameter is the actual position </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2 parameter is the position that you want to move to</a:t>
            </a:r>
            <a:endParaRPr dirty="0">
              <a:solidFill>
                <a:schemeClr val="dk1"/>
              </a:solidFill>
              <a:latin typeface="Calibri"/>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3 parameter is the time to move from the actual position to the final position.</a:t>
            </a:r>
            <a:endParaRPr dirty="0">
              <a:solidFill>
                <a:schemeClr val="dk1"/>
              </a:solidFill>
              <a:latin typeface="Calibri"/>
            </a:endParaRPr>
          </a:p>
          <a:p>
            <a:pPr marL="0" marR="0" lvl="0" indent="0" algn="l" rtl="0">
              <a:spcBef>
                <a:spcPts val="0"/>
              </a:spcBef>
              <a:spcAft>
                <a:spcPts val="0"/>
              </a:spcAft>
              <a:buNone/>
            </a:pPr>
            <a:endParaRPr sz="1800" dirty="0">
              <a:solidFill>
                <a:schemeClr val="dk1"/>
              </a:solidFill>
              <a:latin typeface="Calibri"/>
              <a:ea typeface="Quattrocento Sans"/>
              <a:cs typeface="Quattrocento Sans"/>
            </a:endParaRPr>
          </a:p>
          <a:p>
            <a:pPr marL="0" marR="0" lvl="0" indent="0" algn="l" rtl="0">
              <a:spcBef>
                <a:spcPts val="0"/>
              </a:spcBef>
              <a:spcAft>
                <a:spcPts val="0"/>
              </a:spcAft>
              <a:buNone/>
            </a:pPr>
            <a:r>
              <a:rPr lang="en-GB" sz="1800" dirty="0">
                <a:solidFill>
                  <a:schemeClr val="dk1"/>
                </a:solidFill>
                <a:latin typeface="Calibri"/>
                <a:ea typeface="Quattrocento Sans"/>
                <a:cs typeface="Quattrocento Sans"/>
                <a:sym typeface="Quattrocento Sans"/>
              </a:rPr>
              <a:t>Easier to Animate Camera!</a:t>
            </a:r>
            <a:endParaRPr dirty="0">
              <a:solidFill>
                <a:schemeClr val="dk1"/>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5"/>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p:cNvSpPr txBox="1"/>
          <p:nvPr/>
        </p:nvSpPr>
        <p:spPr>
          <a:xfrm>
            <a:off x="609600" y="1421654"/>
            <a:ext cx="11460480" cy="5201384"/>
          </a:xfrm>
          <a:prstGeom prst="rect">
            <a:avLst/>
          </a:prstGeom>
          <a:noFill/>
          <a:ln>
            <a:noFill/>
          </a:ln>
        </p:spPr>
        <p:txBody>
          <a:bodyPr spcFirstLastPara="1" wrap="square" lIns="91425" tIns="45700" rIns="91425" bIns="45700" anchor="t" anchorCtr="0">
            <a:spAutoFit/>
          </a:bodyPr>
          <a:lstStyle/>
          <a:p>
            <a:r>
              <a:rPr lang="en-GB" sz="3600" b="1" dirty="0" err="1">
                <a:solidFill>
                  <a:srgbClr val="FFFF00"/>
                </a:solidFill>
                <a:latin typeface="Quattrocento Sans"/>
                <a:ea typeface="Quattrocento Sans"/>
                <a:cs typeface="Quattrocento Sans"/>
                <a:sym typeface="Quattrocento Sans"/>
              </a:rPr>
              <a:t>ClickLerp</a:t>
            </a:r>
            <a:r>
              <a:rPr lang="en-GB" sz="3600" b="1" dirty="0">
                <a:solidFill>
                  <a:srgbClr val="FFFF00"/>
                </a:solidFill>
                <a:latin typeface="Quattrocento Sans"/>
                <a:ea typeface="Quattrocento Sans"/>
                <a:cs typeface="Quattrocento Sans"/>
                <a:sym typeface="Quattrocento Sans"/>
              </a:rPr>
              <a:t>: New camera position by keypress, Mouse</a:t>
            </a:r>
            <a:endParaRPr dirty="0"/>
          </a:p>
          <a:p>
            <a:r>
              <a:rPr lang="en-GB" sz="1600" dirty="0">
                <a:solidFill>
                  <a:srgbClr val="FFFF00"/>
                </a:solidFill>
                <a:latin typeface="Calibri"/>
              </a:rPr>
              <a:t>public class </a:t>
            </a:r>
            <a:r>
              <a:rPr lang="en-GB" sz="1600" dirty="0" err="1">
                <a:solidFill>
                  <a:srgbClr val="FFFF00"/>
                </a:solidFill>
                <a:latin typeface="Calibri"/>
              </a:rPr>
              <a:t>ClickLerp</a:t>
            </a:r>
            <a:r>
              <a:rPr lang="en-GB" sz="1600" dirty="0">
                <a:solidFill>
                  <a:srgbClr val="FFFF00"/>
                </a:solidFill>
                <a:latin typeface="Calibri"/>
              </a:rPr>
              <a:t> : </a:t>
            </a:r>
            <a:r>
              <a:rPr lang="en-GB" sz="1600" dirty="0" err="1">
                <a:solidFill>
                  <a:srgbClr val="FFFF00"/>
                </a:solidFill>
                <a:latin typeface="Calibri"/>
              </a:rPr>
              <a:t>MonoBehaviour</a:t>
            </a:r>
            <a:r>
              <a:rPr lang="en-GB" sz="1600" dirty="0">
                <a:solidFill>
                  <a:srgbClr val="FFFF00"/>
                </a:solidFill>
                <a:latin typeface="Calibri"/>
              </a:rPr>
              <a:t> {</a:t>
            </a:r>
            <a:endParaRPr lang="en-GB" sz="1600">
              <a:latin typeface="Calibri"/>
            </a:endParaRPr>
          </a:p>
          <a:p>
            <a:r>
              <a:rPr lang="en-GB" sz="1600" dirty="0">
                <a:solidFill>
                  <a:srgbClr val="FFFF00"/>
                </a:solidFill>
                <a:latin typeface="Calibri"/>
              </a:rPr>
              <a:t>//Code From: </a:t>
            </a:r>
            <a:r>
              <a:rPr lang="en-GB" sz="1600" dirty="0">
                <a:solidFill>
                  <a:srgbClr val="FFFF00"/>
                </a:solidFill>
                <a:latin typeface="Calibri"/>
                <a:hlinkClick r:id="rId3"/>
              </a:rPr>
              <a:t>https://answers.unity.com/questions/1613407/how-to-use-smoothly-move-camera-to-position-using.html</a:t>
            </a:r>
            <a:endParaRPr lang="en-GB" sz="1600" dirty="0">
              <a:latin typeface="Calibri"/>
            </a:endParaRPr>
          </a:p>
          <a:p>
            <a:r>
              <a:rPr lang="en-GB" sz="1600" dirty="0">
                <a:solidFill>
                  <a:srgbClr val="FFFF00"/>
                </a:solidFill>
                <a:latin typeface="Calibri"/>
              </a:rPr>
              <a:t>public Transform </a:t>
            </a:r>
            <a:r>
              <a:rPr lang="en-GB" sz="1600" dirty="0" err="1">
                <a:solidFill>
                  <a:srgbClr val="FFFF00"/>
                </a:solidFill>
                <a:latin typeface="Calibri"/>
              </a:rPr>
              <a:t>camPos</a:t>
            </a:r>
            <a:r>
              <a:rPr lang="en-GB" sz="1600" dirty="0">
                <a:solidFill>
                  <a:srgbClr val="FFFF00"/>
                </a:solidFill>
                <a:latin typeface="Calibri"/>
              </a:rPr>
              <a:t>;</a:t>
            </a:r>
            <a:endParaRPr lang="en-GB" sz="1600">
              <a:latin typeface="Calibri"/>
            </a:endParaRPr>
          </a:p>
          <a:p>
            <a:r>
              <a:rPr lang="en-GB" sz="1600" dirty="0">
                <a:solidFill>
                  <a:srgbClr val="FFFF00"/>
                </a:solidFill>
                <a:latin typeface="Calibri"/>
              </a:rPr>
              <a:t>public float </a:t>
            </a:r>
            <a:r>
              <a:rPr lang="en-GB" sz="1600" dirty="0" err="1">
                <a:solidFill>
                  <a:srgbClr val="FFFF00"/>
                </a:solidFill>
                <a:latin typeface="Calibri"/>
              </a:rPr>
              <a:t>CamMoveSpeed</a:t>
            </a:r>
            <a:r>
              <a:rPr lang="en-GB" sz="1600" dirty="0">
                <a:solidFill>
                  <a:srgbClr val="FFFF00"/>
                </a:solidFill>
                <a:latin typeface="Calibri"/>
              </a:rPr>
              <a:t> = 5f;</a:t>
            </a:r>
            <a:endParaRPr lang="en-GB" sz="1600" dirty="0">
              <a:latin typeface="Calibri"/>
            </a:endParaRPr>
          </a:p>
          <a:p>
            <a:r>
              <a:rPr lang="en-GB" sz="1600" dirty="0">
                <a:solidFill>
                  <a:srgbClr val="FFFF00"/>
                </a:solidFill>
                <a:latin typeface="Calibri"/>
              </a:rPr>
              <a:t>Vector3 </a:t>
            </a:r>
            <a:r>
              <a:rPr lang="en-GB" sz="1600" dirty="0" err="1">
                <a:solidFill>
                  <a:srgbClr val="FFFF00"/>
                </a:solidFill>
                <a:latin typeface="Calibri"/>
              </a:rPr>
              <a:t>camNewPos</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private void Start() {</a:t>
            </a:r>
            <a:r>
              <a:rPr lang="en-GB" sz="1600" dirty="0" err="1">
                <a:solidFill>
                  <a:srgbClr val="FFFF00"/>
                </a:solidFill>
                <a:latin typeface="Calibri"/>
              </a:rPr>
              <a:t>camNewPos</a:t>
            </a:r>
            <a:r>
              <a:rPr lang="en-GB" sz="1600" dirty="0">
                <a:solidFill>
                  <a:srgbClr val="FFFF00"/>
                </a:solidFill>
                <a:latin typeface="Calibri"/>
              </a:rPr>
              <a:t> = </a:t>
            </a:r>
            <a:r>
              <a:rPr lang="en-GB" sz="1600" dirty="0" err="1">
                <a:solidFill>
                  <a:srgbClr val="FFFF00"/>
                </a:solidFill>
                <a:latin typeface="Calibri"/>
              </a:rPr>
              <a:t>camPos.position</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private void Update() {</a:t>
            </a:r>
            <a:endParaRPr lang="en-GB" sz="1600">
              <a:latin typeface="Calibri"/>
            </a:endParaRPr>
          </a:p>
          <a:p>
            <a:r>
              <a:rPr lang="en-GB" sz="1600" dirty="0">
                <a:solidFill>
                  <a:srgbClr val="FFFF00"/>
                </a:solidFill>
                <a:latin typeface="Calibri"/>
              </a:rPr>
              <a:t>        if (</a:t>
            </a:r>
            <a:r>
              <a:rPr lang="en-GB" sz="1600" dirty="0" err="1">
                <a:solidFill>
                  <a:srgbClr val="FFFF00"/>
                </a:solidFill>
                <a:latin typeface="Calibri"/>
              </a:rPr>
              <a:t>Input.GetMouseButton</a:t>
            </a:r>
            <a:r>
              <a:rPr lang="en-GB" sz="1600" dirty="0">
                <a:solidFill>
                  <a:srgbClr val="FFFF00"/>
                </a:solidFill>
                <a:latin typeface="Calibri"/>
              </a:rPr>
              <a:t>(0)) {</a:t>
            </a:r>
            <a:endParaRPr lang="en-GB" sz="1600" dirty="0">
              <a:latin typeface="Calibri"/>
            </a:endParaRPr>
          </a:p>
          <a:p>
            <a:r>
              <a:rPr lang="en-GB" sz="1600" dirty="0">
                <a:solidFill>
                  <a:srgbClr val="FFFF00"/>
                </a:solidFill>
                <a:latin typeface="Calibri"/>
              </a:rPr>
              <a:t>            float </a:t>
            </a:r>
            <a:r>
              <a:rPr lang="en-GB" sz="1600" err="1">
                <a:solidFill>
                  <a:srgbClr val="FFFF00"/>
                </a:solidFill>
                <a:latin typeface="Calibri"/>
              </a:rPr>
              <a:t>xinput</a:t>
            </a:r>
            <a:r>
              <a:rPr lang="en-GB" sz="1600" dirty="0">
                <a:solidFill>
                  <a:srgbClr val="FFFF00"/>
                </a:solidFill>
                <a:latin typeface="Calibri"/>
              </a:rPr>
              <a:t> = </a:t>
            </a:r>
            <a:r>
              <a:rPr lang="en-GB" sz="1600" err="1">
                <a:solidFill>
                  <a:srgbClr val="FFFF00"/>
                </a:solidFill>
                <a:latin typeface="Calibri"/>
              </a:rPr>
              <a:t>Input.GetAxisRaw</a:t>
            </a:r>
            <a:r>
              <a:rPr lang="en-GB" sz="1600" dirty="0">
                <a:solidFill>
                  <a:srgbClr val="FFFF00"/>
                </a:solidFill>
                <a:latin typeface="Calibri"/>
              </a:rPr>
              <a:t>("Mouse X");</a:t>
            </a:r>
            <a:endParaRPr lang="en-GB" sz="1600" dirty="0">
              <a:latin typeface="Calibri"/>
            </a:endParaRPr>
          </a:p>
          <a:p>
            <a:r>
              <a:rPr lang="en-GB" sz="1600" dirty="0">
                <a:solidFill>
                  <a:srgbClr val="FFFF00"/>
                </a:solidFill>
                <a:latin typeface="Calibri"/>
              </a:rPr>
              <a:t>            float </a:t>
            </a:r>
            <a:r>
              <a:rPr lang="en-GB" sz="1600" dirty="0" err="1">
                <a:solidFill>
                  <a:srgbClr val="FFFF00"/>
                </a:solidFill>
                <a:latin typeface="Calibri"/>
              </a:rPr>
              <a:t>zinput</a:t>
            </a:r>
            <a:r>
              <a:rPr lang="en-GB" sz="1600" dirty="0">
                <a:solidFill>
                  <a:srgbClr val="FFFF00"/>
                </a:solidFill>
                <a:latin typeface="Calibri"/>
              </a:rPr>
              <a:t> = </a:t>
            </a:r>
            <a:r>
              <a:rPr lang="en-GB" sz="1600" dirty="0" err="1">
                <a:solidFill>
                  <a:srgbClr val="FFFF00"/>
                </a:solidFill>
                <a:latin typeface="Calibri"/>
              </a:rPr>
              <a:t>Input.GetAxisRaw</a:t>
            </a:r>
            <a:r>
              <a:rPr lang="en-GB" sz="1600" dirty="0">
                <a:solidFill>
                  <a:srgbClr val="FFFF00"/>
                </a:solidFill>
                <a:latin typeface="Calibri"/>
              </a:rPr>
              <a:t>("Mouse Y");</a:t>
            </a:r>
            <a:endParaRPr lang="en-GB" sz="1600" dirty="0">
              <a:latin typeface="Calibri"/>
            </a:endParaRPr>
          </a:p>
          <a:p>
            <a:r>
              <a:rPr lang="en-GB" sz="1600" dirty="0">
                <a:solidFill>
                  <a:srgbClr val="FFFF00"/>
                </a:solidFill>
                <a:latin typeface="Calibri"/>
              </a:rPr>
              <a:t>            float x = </a:t>
            </a:r>
            <a:r>
              <a:rPr lang="en-GB" sz="1600" err="1">
                <a:solidFill>
                  <a:srgbClr val="FFFF00"/>
                </a:solidFill>
                <a:latin typeface="Calibri"/>
              </a:rPr>
              <a:t>camPos.position.x</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            float z = </a:t>
            </a:r>
            <a:r>
              <a:rPr lang="en-GB" sz="1600" err="1">
                <a:solidFill>
                  <a:srgbClr val="FFFF00"/>
                </a:solidFill>
                <a:latin typeface="Calibri"/>
              </a:rPr>
              <a:t>camPos.position.z</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            float y = </a:t>
            </a:r>
            <a:r>
              <a:rPr lang="en-GB" sz="1600" dirty="0" err="1">
                <a:solidFill>
                  <a:srgbClr val="FFFF00"/>
                </a:solidFill>
                <a:latin typeface="Calibri"/>
              </a:rPr>
              <a:t>camPos.position.y</a:t>
            </a:r>
            <a:r>
              <a:rPr lang="en-GB" sz="1600" dirty="0">
                <a:solidFill>
                  <a:srgbClr val="FFFF00"/>
                </a:solidFill>
                <a:latin typeface="Calibri"/>
              </a:rPr>
              <a:t>;</a:t>
            </a:r>
            <a:endParaRPr lang="en-GB" sz="1600">
              <a:latin typeface="Calibri"/>
            </a:endParaRPr>
          </a:p>
          <a:p>
            <a:r>
              <a:rPr lang="en-GB" sz="1600" dirty="0">
                <a:solidFill>
                  <a:srgbClr val="FFFF00"/>
                </a:solidFill>
                <a:latin typeface="Calibri"/>
              </a:rPr>
              <a:t>            </a:t>
            </a:r>
            <a:r>
              <a:rPr lang="en-GB" sz="1600" dirty="0" err="1">
                <a:solidFill>
                  <a:srgbClr val="FFFF00"/>
                </a:solidFill>
                <a:latin typeface="Calibri"/>
              </a:rPr>
              <a:t>camNewPos</a:t>
            </a:r>
            <a:r>
              <a:rPr lang="en-GB" sz="1600" dirty="0">
                <a:solidFill>
                  <a:srgbClr val="FFFF00"/>
                </a:solidFill>
                <a:latin typeface="Calibri"/>
              </a:rPr>
              <a:t> = new Vector3(x + </a:t>
            </a:r>
            <a:r>
              <a:rPr lang="en-GB" sz="1600" dirty="0" err="1">
                <a:solidFill>
                  <a:srgbClr val="FFFF00"/>
                </a:solidFill>
                <a:latin typeface="Calibri"/>
              </a:rPr>
              <a:t>xinput</a:t>
            </a:r>
            <a:r>
              <a:rPr lang="en-GB" sz="1600" dirty="0">
                <a:solidFill>
                  <a:srgbClr val="FFFF00"/>
                </a:solidFill>
                <a:latin typeface="Calibri"/>
              </a:rPr>
              <a:t>, y, z + </a:t>
            </a:r>
            <a:r>
              <a:rPr lang="en-GB" sz="1600" dirty="0" err="1">
                <a:solidFill>
                  <a:srgbClr val="FFFF00"/>
                </a:solidFill>
                <a:latin typeface="Calibri"/>
              </a:rPr>
              <a:t>zinput</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        //</a:t>
            </a:r>
            <a:r>
              <a:rPr lang="en-GB" sz="1600" err="1">
                <a:solidFill>
                  <a:srgbClr val="FFFF00"/>
                </a:solidFill>
                <a:latin typeface="Calibri"/>
              </a:rPr>
              <a:t>camPos.position</a:t>
            </a:r>
            <a:r>
              <a:rPr lang="en-GB" sz="1600" dirty="0">
                <a:solidFill>
                  <a:srgbClr val="FFFF00"/>
                </a:solidFill>
                <a:latin typeface="Calibri"/>
              </a:rPr>
              <a:t> = Vector3.MoveTowards(</a:t>
            </a:r>
            <a:r>
              <a:rPr lang="en-GB" sz="1600" err="1">
                <a:solidFill>
                  <a:srgbClr val="FFFF00"/>
                </a:solidFill>
                <a:latin typeface="Calibri"/>
              </a:rPr>
              <a:t>camPos.position</a:t>
            </a:r>
            <a:r>
              <a:rPr lang="en-GB" sz="1600" dirty="0">
                <a:solidFill>
                  <a:srgbClr val="FFFF00"/>
                </a:solidFill>
                <a:latin typeface="Calibri"/>
              </a:rPr>
              <a:t>, </a:t>
            </a:r>
            <a:r>
              <a:rPr lang="en-GB" sz="1600" err="1">
                <a:solidFill>
                  <a:srgbClr val="FFFF00"/>
                </a:solidFill>
                <a:latin typeface="Calibri"/>
              </a:rPr>
              <a:t>camNewPos</a:t>
            </a:r>
            <a:r>
              <a:rPr lang="en-GB" sz="1600" dirty="0">
                <a:solidFill>
                  <a:srgbClr val="FFFF00"/>
                </a:solidFill>
                <a:latin typeface="Calibri"/>
              </a:rPr>
              <a:t>, </a:t>
            </a:r>
            <a:r>
              <a:rPr lang="en-GB" sz="1600" err="1">
                <a:solidFill>
                  <a:srgbClr val="FFFF00"/>
                </a:solidFill>
                <a:latin typeface="Calibri"/>
              </a:rPr>
              <a:t>CamMoveSpeed</a:t>
            </a:r>
            <a:r>
              <a:rPr lang="en-GB" sz="1600" dirty="0">
                <a:solidFill>
                  <a:srgbClr val="FFFF00"/>
                </a:solidFill>
                <a:latin typeface="Calibri"/>
              </a:rPr>
              <a:t> * </a:t>
            </a:r>
            <a:r>
              <a:rPr lang="en-GB" sz="1600" err="1">
                <a:solidFill>
                  <a:srgbClr val="FFFF00"/>
                </a:solidFill>
                <a:latin typeface="Calibri"/>
              </a:rPr>
              <a:t>Time.deltaTime</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        </a:t>
            </a:r>
            <a:r>
              <a:rPr lang="en-GB" sz="1600" err="1">
                <a:solidFill>
                  <a:srgbClr val="FFFF00"/>
                </a:solidFill>
                <a:latin typeface="Calibri"/>
              </a:rPr>
              <a:t>camPos.position</a:t>
            </a:r>
            <a:r>
              <a:rPr lang="en-GB" sz="1600" dirty="0">
                <a:solidFill>
                  <a:srgbClr val="FFFF00"/>
                </a:solidFill>
                <a:latin typeface="Calibri"/>
              </a:rPr>
              <a:t> = Vector3.Lerp(</a:t>
            </a:r>
            <a:r>
              <a:rPr lang="en-GB" sz="1600" err="1">
                <a:solidFill>
                  <a:srgbClr val="FFFF00"/>
                </a:solidFill>
                <a:latin typeface="Calibri"/>
              </a:rPr>
              <a:t>camPos.position</a:t>
            </a:r>
            <a:r>
              <a:rPr lang="en-GB" sz="1600" dirty="0">
                <a:solidFill>
                  <a:srgbClr val="FFFF00"/>
                </a:solidFill>
                <a:latin typeface="Calibri"/>
              </a:rPr>
              <a:t>, </a:t>
            </a:r>
            <a:r>
              <a:rPr lang="en-GB" sz="1600" err="1">
                <a:solidFill>
                  <a:srgbClr val="FFFF00"/>
                </a:solidFill>
                <a:latin typeface="Calibri"/>
              </a:rPr>
              <a:t>camNewPos</a:t>
            </a:r>
            <a:r>
              <a:rPr lang="en-GB" sz="1600" dirty="0">
                <a:solidFill>
                  <a:srgbClr val="FFFF00"/>
                </a:solidFill>
                <a:latin typeface="Calibri"/>
              </a:rPr>
              <a:t>, </a:t>
            </a:r>
            <a:r>
              <a:rPr lang="en-GB" sz="1600" err="1">
                <a:solidFill>
                  <a:srgbClr val="FFFF00"/>
                </a:solidFill>
                <a:latin typeface="Calibri"/>
              </a:rPr>
              <a:t>CamMoveSpeed</a:t>
            </a:r>
            <a:r>
              <a:rPr lang="en-GB" sz="1600" dirty="0">
                <a:solidFill>
                  <a:srgbClr val="FFFF00"/>
                </a:solidFill>
                <a:latin typeface="Calibri"/>
              </a:rPr>
              <a:t> * </a:t>
            </a:r>
            <a:r>
              <a:rPr lang="en-GB" sz="1600" err="1">
                <a:solidFill>
                  <a:srgbClr val="FFFF00"/>
                </a:solidFill>
                <a:latin typeface="Calibri"/>
              </a:rPr>
              <a:t>Time.deltaTime</a:t>
            </a:r>
            <a:r>
              <a:rPr lang="en-GB" sz="1600" dirty="0">
                <a:solidFill>
                  <a:srgbClr val="FFFF00"/>
                </a:solidFill>
                <a:latin typeface="Calibri"/>
              </a:rPr>
              <a:t>);</a:t>
            </a:r>
            <a:endParaRPr lang="en-GB" sz="1600" dirty="0">
              <a:latin typeface="Calibri"/>
            </a:endParaRPr>
          </a:p>
          <a:p>
            <a:r>
              <a:rPr lang="en-GB" sz="1600" dirty="0">
                <a:solidFill>
                  <a:srgbClr val="FFFF00"/>
                </a:solidFill>
                <a:latin typeface="Calibri"/>
              </a:rPr>
              <a:t>    }</a:t>
            </a:r>
            <a:endParaRPr lang="en-GB" sz="1600" dirty="0">
              <a:latin typeface="Calibri"/>
            </a:endParaRPr>
          </a:p>
          <a:p>
            <a:pPr marL="0" marR="0" lvl="0" indent="0" algn="l">
              <a:spcBef>
                <a:spcPts val="0"/>
              </a:spcBef>
              <a:spcAft>
                <a:spcPts val="0"/>
              </a:spcAft>
              <a:buNone/>
            </a:pPr>
            <a:r>
              <a:rPr lang="en-GB" sz="1600" dirty="0">
                <a:solidFill>
                  <a:srgbClr val="FFFF00"/>
                </a:solidFill>
                <a:latin typeface="Calibri"/>
              </a:rPr>
              <a:t>}</a:t>
            </a:r>
            <a:endParaRPr lang="en-GB" sz="1600" dirty="0">
              <a:latin typeface="Calibri"/>
            </a:endParaRPr>
          </a:p>
          <a:p>
            <a:endParaRPr lang="en-GB" sz="800" dirty="0">
              <a:latin typeface="Consolas"/>
            </a:endParaRPr>
          </a:p>
        </p:txBody>
      </p:sp>
    </p:spTree>
    <p:extLst>
      <p:ext uri="{BB962C8B-B14F-4D97-AF65-F5344CB8AC3E}">
        <p14:creationId xmlns:p14="http://schemas.microsoft.com/office/powerpoint/2010/main" val="10620999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08">
          <a:extLst>
            <a:ext uri="{FF2B5EF4-FFF2-40B4-BE49-F238E27FC236}">
              <a16:creationId xmlns:a16="http://schemas.microsoft.com/office/drawing/2014/main" id="{1E0AF07D-45DE-5CBA-6119-245B9D7B3FE9}"/>
            </a:ext>
          </a:extLst>
        </p:cNvPr>
        <p:cNvGrpSpPr/>
        <p:nvPr/>
      </p:nvGrpSpPr>
      <p:grpSpPr>
        <a:xfrm>
          <a:off x="0" y="0"/>
          <a:ext cx="0" cy="0"/>
          <a:chOff x="0" y="0"/>
          <a:chExt cx="0" cy="0"/>
        </a:xfrm>
      </p:grpSpPr>
      <p:sp>
        <p:nvSpPr>
          <p:cNvPr id="309" name="Google Shape;309;p35">
            <a:extLst>
              <a:ext uri="{FF2B5EF4-FFF2-40B4-BE49-F238E27FC236}">
                <a16:creationId xmlns:a16="http://schemas.microsoft.com/office/drawing/2014/main" id="{C9F0A67A-13A2-63D0-F877-7D041814D1A6}"/>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a:extLst>
              <a:ext uri="{FF2B5EF4-FFF2-40B4-BE49-F238E27FC236}">
                <a16:creationId xmlns:a16="http://schemas.microsoft.com/office/drawing/2014/main" id="{A0051DDA-9370-AA7D-E500-705220E65186}"/>
              </a:ext>
            </a:extLst>
          </p:cNvPr>
          <p:cNvSpPr txBox="1"/>
          <p:nvPr/>
        </p:nvSpPr>
        <p:spPr>
          <a:xfrm>
            <a:off x="609600" y="1421654"/>
            <a:ext cx="11460480" cy="5386049"/>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sym typeface="Quattrocento Sans"/>
              </a:rPr>
              <a:t>Lego Museum Camera System </a:t>
            </a:r>
            <a:endParaRPr lang="en-GB" sz="3600" b="1" dirty="0">
              <a:solidFill>
                <a:srgbClr val="FFFF00"/>
              </a:solidFill>
              <a:latin typeface="Quattrocento Sans"/>
            </a:endParaRPr>
          </a:p>
          <a:p>
            <a:r>
              <a:rPr lang="en-GB" sz="1800" dirty="0">
                <a:solidFill>
                  <a:schemeClr val="dk1"/>
                </a:solidFill>
                <a:latin typeface="Calibri"/>
                <a:ea typeface="Calibri"/>
                <a:cs typeface="Calibri"/>
              </a:rPr>
              <a:t>Player Game Object</a:t>
            </a:r>
          </a:p>
          <a:p>
            <a:r>
              <a:rPr lang="en-GB" sz="1800" dirty="0">
                <a:solidFill>
                  <a:schemeClr val="dk1"/>
                </a:solidFill>
                <a:latin typeface="Calibri"/>
                <a:ea typeface="Calibri"/>
                <a:cs typeface="Calibri"/>
              </a:rPr>
              <a:t> </a:t>
            </a:r>
            <a:r>
              <a:rPr lang="en-GB" sz="1800" err="1">
                <a:solidFill>
                  <a:schemeClr val="dk1"/>
                </a:solidFill>
                <a:latin typeface="Calibri"/>
                <a:ea typeface="Calibri"/>
                <a:cs typeface="Calibri"/>
              </a:rPr>
              <a:t>PlayerMovement.cs</a:t>
            </a:r>
            <a:endParaRPr lang="en-GB" sz="1800" dirty="0">
              <a:solidFill>
                <a:schemeClr val="dk1"/>
              </a:solidFill>
              <a:latin typeface="Calibri"/>
              <a:ea typeface="Calibri"/>
              <a:cs typeface="Calibri"/>
            </a:endParaRPr>
          </a:p>
          <a:p>
            <a:endParaRPr lang="en-GB" sz="1800" dirty="0">
              <a:solidFill>
                <a:schemeClr val="dk1"/>
              </a:solidFill>
              <a:latin typeface="Calibri"/>
              <a:ea typeface="Calibri"/>
              <a:cs typeface="Calibri"/>
            </a:endParaRPr>
          </a:p>
          <a:p>
            <a:r>
              <a:rPr lang="en-GB" sz="1800" dirty="0">
                <a:solidFill>
                  <a:schemeClr val="dk1"/>
                </a:solidFill>
                <a:latin typeface="Calibri"/>
                <a:ea typeface="Calibri"/>
                <a:cs typeface="Calibri"/>
              </a:rPr>
              <a:t>1.Creates public variable type Transform called </a:t>
            </a:r>
            <a:r>
              <a:rPr lang="en-GB" sz="1800" dirty="0">
                <a:solidFill>
                  <a:srgbClr val="FFFF00"/>
                </a:solidFill>
                <a:latin typeface="Calibri"/>
                <a:ea typeface="Calibri"/>
                <a:cs typeface="Calibri"/>
              </a:rPr>
              <a:t>Orientation</a:t>
            </a:r>
            <a:br>
              <a:rPr lang="en-GB" sz="1800" dirty="0">
                <a:latin typeface="Calibri"/>
                <a:ea typeface="Calibri"/>
                <a:cs typeface="Calibri"/>
              </a:rPr>
            </a:br>
            <a:r>
              <a:rPr lang="en-GB" sz="1800" dirty="0">
                <a:solidFill>
                  <a:schemeClr val="dk1"/>
                </a:solidFill>
                <a:latin typeface="Calibri"/>
                <a:ea typeface="Calibri"/>
                <a:cs typeface="Calibri"/>
              </a:rPr>
              <a:t>  Populates with the Orientation Game Object which is its child</a:t>
            </a:r>
            <a:endParaRPr lang="en-GB">
              <a:solidFill>
                <a:schemeClr val="dk1"/>
              </a:solidFill>
            </a:endParaRPr>
          </a:p>
          <a:p>
            <a:r>
              <a:rPr lang="en-GB" sz="1800" dirty="0">
                <a:solidFill>
                  <a:schemeClr val="dk1"/>
                </a:solidFill>
                <a:latin typeface="Calibri"/>
                <a:ea typeface="Calibri"/>
                <a:cs typeface="Calibri"/>
              </a:rPr>
              <a:t> </a:t>
            </a:r>
            <a:r>
              <a:rPr lang="en-GB" sz="1800" dirty="0">
                <a:solidFill>
                  <a:srgbClr val="FFFF00"/>
                </a:solidFill>
                <a:latin typeface="Calibri"/>
                <a:ea typeface="Calibri"/>
                <a:cs typeface="Calibri"/>
              </a:rPr>
              <a:t> </a:t>
            </a:r>
            <a:r>
              <a:rPr lang="en-GB" sz="1800" dirty="0" err="1">
                <a:solidFill>
                  <a:srgbClr val="FFFF00"/>
                </a:solidFill>
                <a:latin typeface="Calibri"/>
                <a:ea typeface="Calibri"/>
                <a:cs typeface="Calibri"/>
              </a:rPr>
              <a:t>PlayerCam.cs</a:t>
            </a:r>
            <a:r>
              <a:rPr lang="en-GB" sz="1800" dirty="0">
                <a:solidFill>
                  <a:schemeClr val="dk1"/>
                </a:solidFill>
                <a:latin typeface="Calibri"/>
                <a:ea typeface="Calibri"/>
                <a:cs typeface="Calibri"/>
              </a:rPr>
              <a:t> updates the </a:t>
            </a:r>
            <a:r>
              <a:rPr lang="en-GB" sz="1800" dirty="0">
                <a:solidFill>
                  <a:srgbClr val="FFFF00"/>
                </a:solidFill>
                <a:latin typeface="Calibri"/>
                <a:ea typeface="Calibri"/>
                <a:cs typeface="Calibri"/>
              </a:rPr>
              <a:t>Orientation</a:t>
            </a:r>
            <a:r>
              <a:rPr lang="en-GB" sz="1800" dirty="0">
                <a:solidFill>
                  <a:schemeClr val="dk1"/>
                </a:solidFill>
                <a:latin typeface="Calibri"/>
                <a:ea typeface="Calibri"/>
                <a:cs typeface="Calibri"/>
              </a:rPr>
              <a:t>, which is used by this script</a:t>
            </a:r>
          </a:p>
          <a:p>
            <a:r>
              <a:rPr lang="en-GB" sz="1800" dirty="0">
                <a:solidFill>
                  <a:schemeClr val="dk1"/>
                </a:solidFill>
                <a:latin typeface="Calibri"/>
                <a:ea typeface="Calibri"/>
                <a:cs typeface="Calibri"/>
              </a:rPr>
              <a:t>2. Takes in </a:t>
            </a:r>
            <a:r>
              <a:rPr lang="en-GB" sz="1800" dirty="0">
                <a:solidFill>
                  <a:srgbClr val="FFFF00"/>
                </a:solidFill>
                <a:latin typeface="Calibri"/>
                <a:ea typeface="Calibri"/>
                <a:cs typeface="Calibri"/>
              </a:rPr>
              <a:t>Horizontal</a:t>
            </a:r>
            <a:r>
              <a:rPr lang="en-GB" sz="1800" dirty="0">
                <a:solidFill>
                  <a:schemeClr val="dk1"/>
                </a:solidFill>
                <a:latin typeface="Calibri"/>
                <a:ea typeface="Calibri"/>
                <a:cs typeface="Calibri"/>
              </a:rPr>
              <a:t> and </a:t>
            </a:r>
            <a:r>
              <a:rPr lang="en-GB" sz="1800" dirty="0">
                <a:solidFill>
                  <a:srgbClr val="FFFF00"/>
                </a:solidFill>
                <a:latin typeface="Calibri"/>
                <a:ea typeface="Calibri"/>
                <a:cs typeface="Calibri"/>
              </a:rPr>
              <a:t>Vertical Input</a:t>
            </a:r>
            <a:r>
              <a:rPr lang="en-GB" sz="1800" dirty="0">
                <a:solidFill>
                  <a:schemeClr val="dk1"/>
                </a:solidFill>
                <a:latin typeface="Calibri"/>
                <a:ea typeface="Calibri"/>
                <a:cs typeface="Calibri"/>
              </a:rPr>
              <a:t>:</a:t>
            </a:r>
          </a:p>
          <a:p>
            <a:r>
              <a:rPr lang="en-GB" sz="1800" dirty="0">
                <a:solidFill>
                  <a:schemeClr val="dk1"/>
                </a:solidFill>
                <a:latin typeface="Calibri"/>
                <a:ea typeface="Calibri"/>
              </a:rPr>
              <a:t>        </a:t>
            </a:r>
            <a:r>
              <a:rPr lang="en-GB" sz="1800" err="1">
                <a:solidFill>
                  <a:schemeClr val="dk1"/>
                </a:solidFill>
                <a:latin typeface="Calibri"/>
                <a:ea typeface="Calibri"/>
              </a:rPr>
              <a:t>horizontalInput</a:t>
            </a:r>
            <a:r>
              <a:rPr lang="en-GB" sz="1800" dirty="0">
                <a:solidFill>
                  <a:schemeClr val="dk1"/>
                </a:solidFill>
                <a:latin typeface="Calibri"/>
                <a:ea typeface="Calibri"/>
              </a:rPr>
              <a:t> = </a:t>
            </a:r>
            <a:r>
              <a:rPr lang="en-GB" sz="1800" err="1">
                <a:solidFill>
                  <a:schemeClr val="dk1"/>
                </a:solidFill>
                <a:latin typeface="Calibri"/>
                <a:ea typeface="Calibri"/>
              </a:rPr>
              <a:t>Input.GetAxisRaw</a:t>
            </a:r>
            <a:r>
              <a:rPr lang="en-GB" sz="1800" dirty="0">
                <a:solidFill>
                  <a:schemeClr val="dk1"/>
                </a:solidFill>
                <a:latin typeface="Calibri"/>
                <a:ea typeface="Calibri"/>
              </a:rPr>
              <a:t>("Horizontal");</a:t>
            </a:r>
            <a:endParaRPr lang="en-GB" sz="1800">
              <a:solidFill>
                <a:schemeClr val="dk1"/>
              </a:solidFill>
              <a:latin typeface="Calibri"/>
            </a:endParaRPr>
          </a:p>
          <a:p>
            <a:r>
              <a:rPr lang="en-GB" sz="1800" dirty="0">
                <a:solidFill>
                  <a:schemeClr val="dk1"/>
                </a:solidFill>
                <a:latin typeface="Calibri"/>
                <a:ea typeface="Calibri"/>
              </a:rPr>
              <a:t>        </a:t>
            </a:r>
            <a:r>
              <a:rPr lang="en-GB" sz="1800" dirty="0" err="1">
                <a:solidFill>
                  <a:schemeClr val="dk1"/>
                </a:solidFill>
                <a:latin typeface="Calibri"/>
                <a:ea typeface="Calibri"/>
              </a:rPr>
              <a:t>verticalInput</a:t>
            </a:r>
            <a:r>
              <a:rPr lang="en-GB" sz="1800" dirty="0">
                <a:solidFill>
                  <a:schemeClr val="dk1"/>
                </a:solidFill>
                <a:latin typeface="Calibri"/>
                <a:ea typeface="Calibri"/>
              </a:rPr>
              <a:t> = </a:t>
            </a:r>
            <a:r>
              <a:rPr lang="en-GB" sz="1800" dirty="0" err="1">
                <a:solidFill>
                  <a:schemeClr val="dk1"/>
                </a:solidFill>
                <a:latin typeface="Calibri"/>
                <a:ea typeface="Calibri"/>
              </a:rPr>
              <a:t>Input.GetAxisRaw</a:t>
            </a:r>
            <a:r>
              <a:rPr lang="en-GB" sz="1800" dirty="0">
                <a:solidFill>
                  <a:schemeClr val="dk1"/>
                </a:solidFill>
                <a:latin typeface="Calibri"/>
                <a:ea typeface="Calibri"/>
              </a:rPr>
              <a:t>("Vertical");</a:t>
            </a:r>
          </a:p>
          <a:p>
            <a:r>
              <a:rPr lang="en-GB" sz="1800" dirty="0">
                <a:solidFill>
                  <a:schemeClr val="dk1"/>
                </a:solidFill>
                <a:latin typeface="Calibri"/>
                <a:ea typeface="Calibri"/>
              </a:rPr>
              <a:t>3. Performs </a:t>
            </a:r>
            <a:r>
              <a:rPr lang="en-GB" sz="1800" dirty="0" err="1">
                <a:solidFill>
                  <a:srgbClr val="FFFF00"/>
                </a:solidFill>
                <a:latin typeface="Calibri"/>
                <a:ea typeface="Calibri"/>
              </a:rPr>
              <a:t>FixedUpdate</a:t>
            </a:r>
            <a:r>
              <a:rPr lang="en-GB" sz="1800" dirty="0">
                <a:solidFill>
                  <a:schemeClr val="dk1"/>
                </a:solidFill>
                <a:latin typeface="Calibri"/>
                <a:ea typeface="Calibri"/>
              </a:rPr>
              <a:t> on </a:t>
            </a:r>
            <a:r>
              <a:rPr lang="en-GB" sz="1800" dirty="0" err="1">
                <a:solidFill>
                  <a:srgbClr val="FFFF00"/>
                </a:solidFill>
                <a:latin typeface="Calibri"/>
                <a:ea typeface="Calibri"/>
              </a:rPr>
              <a:t>RigidBody</a:t>
            </a:r>
            <a:r>
              <a:rPr lang="en-GB" sz="1800" dirty="0">
                <a:solidFill>
                  <a:schemeClr val="dk1"/>
                </a:solidFill>
                <a:latin typeface="Calibri"/>
                <a:ea typeface="Calibri"/>
              </a:rPr>
              <a:t> on </a:t>
            </a:r>
            <a:r>
              <a:rPr lang="en-GB" sz="1800" dirty="0">
                <a:solidFill>
                  <a:srgbClr val="FFFF00"/>
                </a:solidFill>
                <a:latin typeface="Calibri"/>
                <a:ea typeface="Calibri"/>
              </a:rPr>
              <a:t>Player</a:t>
            </a:r>
            <a:r>
              <a:rPr lang="en-GB" sz="1800" dirty="0">
                <a:solidFill>
                  <a:schemeClr val="dk1"/>
                </a:solidFill>
                <a:latin typeface="Calibri"/>
                <a:ea typeface="Calibri"/>
              </a:rPr>
              <a:t> Game Object with </a:t>
            </a:r>
          </a:p>
          <a:p>
            <a:r>
              <a:rPr lang="en-GB" sz="1800" dirty="0">
                <a:solidFill>
                  <a:schemeClr val="dk1"/>
                </a:solidFill>
                <a:latin typeface="Calibri"/>
                <a:ea typeface="Calibri"/>
              </a:rPr>
              <a:t>position and orientation input</a:t>
            </a:r>
            <a:endParaRPr lang="en-GB" dirty="0">
              <a:solidFill>
                <a:schemeClr val="dk1"/>
              </a:solidFill>
            </a:endParaRPr>
          </a:p>
          <a:p>
            <a:r>
              <a:rPr lang="en-GB" sz="1800" dirty="0">
                <a:solidFill>
                  <a:srgbClr val="00B0F0"/>
                </a:solidFill>
                <a:latin typeface="Calibri"/>
                <a:ea typeface="Calibri"/>
                <a:cs typeface="Calibri"/>
              </a:rPr>
              <a:t>        </a:t>
            </a:r>
            <a:r>
              <a:rPr lang="en-GB" dirty="0">
                <a:solidFill>
                  <a:srgbClr val="00B0F0"/>
                </a:solidFill>
                <a:latin typeface="Calibri"/>
                <a:ea typeface="Calibri"/>
                <a:cs typeface="Calibri"/>
              </a:rPr>
              <a:t>//movement based on orientation which in specific object</a:t>
            </a:r>
            <a:endParaRPr lang="en-GB" dirty="0">
              <a:solidFill>
                <a:srgbClr val="00B0F0"/>
              </a:solidFill>
            </a:endParaRPr>
          </a:p>
          <a:p>
            <a:r>
              <a:rPr lang="en-GB" dirty="0">
                <a:solidFill>
                  <a:srgbClr val="00B0F0"/>
                </a:solidFill>
                <a:latin typeface="Calibri"/>
                <a:ea typeface="Calibri"/>
                <a:cs typeface="Calibri"/>
              </a:rPr>
              <a:t>        </a:t>
            </a:r>
            <a:r>
              <a:rPr lang="en-GB" err="1">
                <a:solidFill>
                  <a:srgbClr val="00B0F0"/>
                </a:solidFill>
                <a:latin typeface="Calibri"/>
                <a:ea typeface="Calibri"/>
                <a:cs typeface="Calibri"/>
              </a:rPr>
              <a:t>moveDirection</a:t>
            </a:r>
            <a:r>
              <a:rPr lang="en-GB" dirty="0">
                <a:solidFill>
                  <a:srgbClr val="00B0F0"/>
                </a:solidFill>
                <a:latin typeface="Calibri"/>
                <a:ea typeface="Calibri"/>
                <a:cs typeface="Calibri"/>
              </a:rPr>
              <a:t> = </a:t>
            </a:r>
            <a:r>
              <a:rPr lang="en-GB" err="1">
                <a:solidFill>
                  <a:srgbClr val="00B0F0"/>
                </a:solidFill>
                <a:latin typeface="Calibri"/>
                <a:ea typeface="Calibri"/>
                <a:cs typeface="Calibri"/>
              </a:rPr>
              <a:t>orientation.forward</a:t>
            </a:r>
            <a:r>
              <a:rPr lang="en-GB" dirty="0">
                <a:solidFill>
                  <a:srgbClr val="00B0F0"/>
                </a:solidFill>
                <a:latin typeface="Calibri"/>
                <a:ea typeface="Calibri"/>
                <a:cs typeface="Calibri"/>
              </a:rPr>
              <a:t> * </a:t>
            </a:r>
            <a:r>
              <a:rPr lang="en-GB" err="1">
                <a:solidFill>
                  <a:srgbClr val="00B0F0"/>
                </a:solidFill>
                <a:latin typeface="Calibri"/>
                <a:ea typeface="Calibri"/>
                <a:cs typeface="Calibri"/>
              </a:rPr>
              <a:t>verticalInput</a:t>
            </a:r>
            <a:r>
              <a:rPr lang="en-GB" dirty="0">
                <a:solidFill>
                  <a:srgbClr val="00B0F0"/>
                </a:solidFill>
                <a:latin typeface="Calibri"/>
                <a:ea typeface="Calibri"/>
                <a:cs typeface="Calibri"/>
              </a:rPr>
              <a:t> + </a:t>
            </a:r>
            <a:r>
              <a:rPr lang="en-GB" err="1">
                <a:solidFill>
                  <a:srgbClr val="00B0F0"/>
                </a:solidFill>
                <a:latin typeface="Calibri"/>
                <a:ea typeface="Calibri"/>
                <a:cs typeface="Calibri"/>
              </a:rPr>
              <a:t>orientation.right</a:t>
            </a:r>
            <a:r>
              <a:rPr lang="en-GB" dirty="0">
                <a:solidFill>
                  <a:srgbClr val="00B0F0"/>
                </a:solidFill>
                <a:latin typeface="Calibri"/>
                <a:ea typeface="Calibri"/>
                <a:cs typeface="Calibri"/>
              </a:rPr>
              <a:t> * </a:t>
            </a:r>
            <a:r>
              <a:rPr lang="en-GB" err="1">
                <a:solidFill>
                  <a:srgbClr val="00B0F0"/>
                </a:solidFill>
                <a:latin typeface="Calibri"/>
                <a:ea typeface="Calibri"/>
                <a:cs typeface="Calibri"/>
              </a:rPr>
              <a:t>horizontalInput</a:t>
            </a:r>
            <a:r>
              <a:rPr lang="en-GB" dirty="0">
                <a:solidFill>
                  <a:srgbClr val="00B0F0"/>
                </a:solidFill>
                <a:latin typeface="Calibri"/>
                <a:ea typeface="Calibri"/>
                <a:cs typeface="Calibri"/>
              </a:rPr>
              <a:t>;</a:t>
            </a:r>
            <a:endParaRPr lang="en-GB" dirty="0">
              <a:solidFill>
                <a:srgbClr val="00B0F0"/>
              </a:solidFill>
            </a:endParaRPr>
          </a:p>
          <a:p>
            <a:endParaRPr lang="en-GB" dirty="0">
              <a:solidFill>
                <a:srgbClr val="00B0F0"/>
              </a:solidFill>
            </a:endParaRPr>
          </a:p>
          <a:p>
            <a:r>
              <a:rPr lang="en-GB" dirty="0">
                <a:solidFill>
                  <a:srgbClr val="00B0F0"/>
                </a:solidFill>
                <a:latin typeface="Calibri"/>
                <a:ea typeface="Calibri"/>
                <a:cs typeface="Calibri"/>
              </a:rPr>
              <a:t>        </a:t>
            </a:r>
            <a:r>
              <a:rPr lang="en-GB" err="1">
                <a:solidFill>
                  <a:srgbClr val="00B0F0"/>
                </a:solidFill>
                <a:latin typeface="Calibri"/>
                <a:ea typeface="Calibri"/>
                <a:cs typeface="Calibri"/>
              </a:rPr>
              <a:t>rb.linearDamping</a:t>
            </a:r>
            <a:r>
              <a:rPr lang="en-GB" dirty="0">
                <a:solidFill>
                  <a:srgbClr val="00B0F0"/>
                </a:solidFill>
                <a:latin typeface="Calibri"/>
                <a:ea typeface="Calibri"/>
                <a:cs typeface="Calibri"/>
              </a:rPr>
              <a:t> = (speed / </a:t>
            </a:r>
            <a:r>
              <a:rPr lang="en-GB" err="1">
                <a:solidFill>
                  <a:srgbClr val="00B0F0"/>
                </a:solidFill>
                <a:latin typeface="Calibri"/>
                <a:ea typeface="Calibri"/>
                <a:cs typeface="Calibri"/>
              </a:rPr>
              <a:t>maxSpeed</a:t>
            </a:r>
            <a:r>
              <a:rPr lang="en-GB" dirty="0">
                <a:solidFill>
                  <a:srgbClr val="00B0F0"/>
                </a:solidFill>
                <a:latin typeface="Calibri"/>
                <a:ea typeface="Calibri"/>
                <a:cs typeface="Calibri"/>
              </a:rPr>
              <a:t>); //used to be drag, not sure if it has an impact</a:t>
            </a:r>
            <a:endParaRPr lang="en-GB" dirty="0">
              <a:solidFill>
                <a:srgbClr val="00B0F0"/>
              </a:solidFill>
            </a:endParaRPr>
          </a:p>
          <a:p>
            <a:r>
              <a:rPr lang="en-GB" dirty="0">
                <a:solidFill>
                  <a:srgbClr val="00B0F0"/>
                </a:solidFill>
                <a:latin typeface="Calibri"/>
                <a:ea typeface="Calibri"/>
                <a:cs typeface="Calibri"/>
              </a:rPr>
              <a:t>        </a:t>
            </a:r>
            <a:r>
              <a:rPr lang="en-GB" err="1">
                <a:solidFill>
                  <a:srgbClr val="00B0F0"/>
                </a:solidFill>
                <a:latin typeface="Calibri"/>
                <a:ea typeface="Calibri"/>
                <a:cs typeface="Calibri"/>
              </a:rPr>
              <a:t>rb.AddForce</a:t>
            </a:r>
            <a:r>
              <a:rPr lang="en-GB" dirty="0">
                <a:solidFill>
                  <a:srgbClr val="00B0F0"/>
                </a:solidFill>
                <a:latin typeface="Calibri"/>
                <a:ea typeface="Calibri"/>
                <a:cs typeface="Calibri"/>
              </a:rPr>
              <a:t>(</a:t>
            </a:r>
            <a:r>
              <a:rPr lang="en-GB" err="1">
                <a:solidFill>
                  <a:srgbClr val="00B0F0"/>
                </a:solidFill>
                <a:latin typeface="Calibri"/>
                <a:ea typeface="Calibri"/>
                <a:cs typeface="Calibri"/>
              </a:rPr>
              <a:t>moveDirection.normalized</a:t>
            </a:r>
            <a:r>
              <a:rPr lang="en-GB" dirty="0">
                <a:solidFill>
                  <a:srgbClr val="00B0F0"/>
                </a:solidFill>
                <a:latin typeface="Calibri"/>
                <a:ea typeface="Calibri"/>
                <a:cs typeface="Calibri"/>
              </a:rPr>
              <a:t> * speed, </a:t>
            </a:r>
            <a:r>
              <a:rPr lang="en-GB" err="1">
                <a:solidFill>
                  <a:srgbClr val="00B0F0"/>
                </a:solidFill>
                <a:latin typeface="Calibri"/>
                <a:ea typeface="Calibri"/>
                <a:cs typeface="Calibri"/>
              </a:rPr>
              <a:t>ForceMode.Force</a:t>
            </a:r>
            <a:r>
              <a:rPr lang="en-GB" dirty="0">
                <a:solidFill>
                  <a:srgbClr val="00B0F0"/>
                </a:solidFill>
                <a:latin typeface="Calibri"/>
                <a:ea typeface="Calibri"/>
                <a:cs typeface="Calibri"/>
              </a:rPr>
              <a:t>);</a:t>
            </a:r>
            <a:endParaRPr lang="en-GB" dirty="0">
              <a:solidFill>
                <a:srgbClr val="00B0F0"/>
              </a:solidFill>
            </a:endParaRPr>
          </a:p>
          <a:p>
            <a:endParaRPr lang="en-GB" dirty="0">
              <a:solidFill>
                <a:srgbClr val="FFFF00"/>
              </a:solidFill>
              <a:latin typeface="Calibri"/>
            </a:endParaRPr>
          </a:p>
          <a:p>
            <a:endParaRPr lang="en-GB" dirty="0">
              <a:latin typeface="Consolas"/>
            </a:endParaRPr>
          </a:p>
        </p:txBody>
      </p:sp>
      <p:pic>
        <p:nvPicPr>
          <p:cNvPr id="2" name="Picture 1" descr="A screenshot of a computer&#10;&#10;AI-generated content may be incorrect.">
            <a:extLst>
              <a:ext uri="{FF2B5EF4-FFF2-40B4-BE49-F238E27FC236}">
                <a16:creationId xmlns:a16="http://schemas.microsoft.com/office/drawing/2014/main" id="{9A52CEFF-3FF7-C3F7-79C8-D0B302EE16EB}"/>
              </a:ext>
            </a:extLst>
          </p:cNvPr>
          <p:cNvPicPr>
            <a:picLocks noChangeAspect="1"/>
          </p:cNvPicPr>
          <p:nvPr/>
        </p:nvPicPr>
        <p:blipFill>
          <a:blip r:embed="rId3"/>
          <a:stretch>
            <a:fillRect/>
          </a:stretch>
        </p:blipFill>
        <p:spPr>
          <a:xfrm>
            <a:off x="7625861" y="1196430"/>
            <a:ext cx="4140199" cy="5656984"/>
          </a:xfrm>
          <a:prstGeom prst="rect">
            <a:avLst/>
          </a:prstGeom>
        </p:spPr>
      </p:pic>
      <p:sp>
        <p:nvSpPr>
          <p:cNvPr id="3" name="TextBox 2">
            <a:extLst>
              <a:ext uri="{FF2B5EF4-FFF2-40B4-BE49-F238E27FC236}">
                <a16:creationId xmlns:a16="http://schemas.microsoft.com/office/drawing/2014/main" id="{57365010-1676-F14C-0FAF-A1A8DD26F0EE}"/>
              </a:ext>
            </a:extLst>
          </p:cNvPr>
          <p:cNvSpPr txBox="1"/>
          <p:nvPr/>
        </p:nvSpPr>
        <p:spPr>
          <a:xfrm>
            <a:off x="468923" y="633046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4"/>
              </a:rPr>
              <a:t>https://gyazo.com/dbe0b0326cae37bb7fc7c1eda36fc6eb</a:t>
            </a:r>
            <a:r>
              <a:rPr lang="en-US" dirty="0"/>
              <a:t> </a:t>
            </a:r>
            <a:endParaRPr lang="en-US"/>
          </a:p>
          <a:p>
            <a:pPr algn="ctr"/>
            <a:endParaRPr lang="en-GB"/>
          </a:p>
        </p:txBody>
      </p:sp>
    </p:spTree>
    <p:extLst>
      <p:ext uri="{BB962C8B-B14F-4D97-AF65-F5344CB8AC3E}">
        <p14:creationId xmlns:p14="http://schemas.microsoft.com/office/powerpoint/2010/main" val="3677538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08">
          <a:extLst>
            <a:ext uri="{FF2B5EF4-FFF2-40B4-BE49-F238E27FC236}">
              <a16:creationId xmlns:a16="http://schemas.microsoft.com/office/drawing/2014/main" id="{4699EAE3-3567-307B-74F7-0BC9204B006E}"/>
            </a:ext>
          </a:extLst>
        </p:cNvPr>
        <p:cNvGrpSpPr/>
        <p:nvPr/>
      </p:nvGrpSpPr>
      <p:grpSpPr>
        <a:xfrm>
          <a:off x="0" y="0"/>
          <a:ext cx="0" cy="0"/>
          <a:chOff x="0" y="0"/>
          <a:chExt cx="0" cy="0"/>
        </a:xfrm>
      </p:grpSpPr>
      <p:sp>
        <p:nvSpPr>
          <p:cNvPr id="309" name="Google Shape;309;p35">
            <a:extLst>
              <a:ext uri="{FF2B5EF4-FFF2-40B4-BE49-F238E27FC236}">
                <a16:creationId xmlns:a16="http://schemas.microsoft.com/office/drawing/2014/main" id="{542DDFBD-CF45-9D2A-5A74-B77C85F28E2F}"/>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a:extLst>
              <a:ext uri="{FF2B5EF4-FFF2-40B4-BE49-F238E27FC236}">
                <a16:creationId xmlns:a16="http://schemas.microsoft.com/office/drawing/2014/main" id="{B92582FF-1059-FACA-4E26-D64517A84791}"/>
              </a:ext>
            </a:extLst>
          </p:cNvPr>
          <p:cNvSpPr txBox="1"/>
          <p:nvPr/>
        </p:nvSpPr>
        <p:spPr>
          <a:xfrm>
            <a:off x="609600" y="1421654"/>
            <a:ext cx="11460480" cy="156962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sym typeface="Quattrocento Sans"/>
              </a:rPr>
              <a:t>Lego Museum Camera System </a:t>
            </a:r>
            <a:endParaRPr lang="en-GB" sz="3600" b="1" dirty="0">
              <a:solidFill>
                <a:srgbClr val="FFFF00"/>
              </a:solidFill>
              <a:latin typeface="Quattrocento Sans"/>
            </a:endParaRPr>
          </a:p>
          <a:p>
            <a:r>
              <a:rPr lang="en-GB" sz="1800" dirty="0">
                <a:solidFill>
                  <a:schemeClr val="dk1"/>
                </a:solidFill>
                <a:latin typeface="Calibri"/>
                <a:ea typeface="Calibri"/>
                <a:cs typeface="Calibri"/>
              </a:rPr>
              <a:t>Player Game Object</a:t>
            </a:r>
          </a:p>
          <a:p>
            <a:r>
              <a:rPr lang="en-GB" sz="1800" dirty="0">
                <a:solidFill>
                  <a:schemeClr val="dk1"/>
                </a:solidFill>
                <a:latin typeface="Calibri"/>
                <a:ea typeface="Calibri"/>
                <a:cs typeface="Calibri"/>
              </a:rPr>
              <a:t> Orientation Game Object</a:t>
            </a:r>
          </a:p>
          <a:p>
            <a:endParaRPr lang="en-GB" sz="1600" dirty="0">
              <a:solidFill>
                <a:srgbClr val="FFFF00"/>
              </a:solidFill>
              <a:latin typeface="Calibri"/>
            </a:endParaRPr>
          </a:p>
          <a:p>
            <a:endParaRPr lang="en-GB" sz="800" dirty="0">
              <a:latin typeface="Consolas"/>
            </a:endParaRPr>
          </a:p>
        </p:txBody>
      </p:sp>
      <p:sp>
        <p:nvSpPr>
          <p:cNvPr id="3" name="TextBox 2">
            <a:extLst>
              <a:ext uri="{FF2B5EF4-FFF2-40B4-BE49-F238E27FC236}">
                <a16:creationId xmlns:a16="http://schemas.microsoft.com/office/drawing/2014/main" id="{7C10B90F-F290-35F9-8AC5-EEC34EC1DBB5}"/>
              </a:ext>
            </a:extLst>
          </p:cNvPr>
          <p:cNvSpPr txBox="1"/>
          <p:nvPr/>
        </p:nvSpPr>
        <p:spPr>
          <a:xfrm>
            <a:off x="468923" y="633046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https://gyazo.com/11999acc16880e7cb1a5f0cd6a9d42c9</a:t>
            </a:r>
            <a:r>
              <a:rPr lang="en-US" dirty="0"/>
              <a:t> </a:t>
            </a:r>
            <a:endParaRPr lang="en-US"/>
          </a:p>
          <a:p>
            <a:pPr algn="ctr"/>
            <a:endParaRPr lang="en-GB"/>
          </a:p>
        </p:txBody>
      </p:sp>
      <p:pic>
        <p:nvPicPr>
          <p:cNvPr id="5" name="Picture 4" descr="A screenshot of a computer&#10;&#10;AI-generated content may be incorrect.">
            <a:extLst>
              <a:ext uri="{FF2B5EF4-FFF2-40B4-BE49-F238E27FC236}">
                <a16:creationId xmlns:a16="http://schemas.microsoft.com/office/drawing/2014/main" id="{29A80FC7-100B-0BD9-AB6B-32A50381AB38}"/>
              </a:ext>
            </a:extLst>
          </p:cNvPr>
          <p:cNvPicPr>
            <a:picLocks noChangeAspect="1"/>
          </p:cNvPicPr>
          <p:nvPr/>
        </p:nvPicPr>
        <p:blipFill>
          <a:blip r:embed="rId4"/>
          <a:stretch>
            <a:fillRect/>
          </a:stretch>
        </p:blipFill>
        <p:spPr>
          <a:xfrm>
            <a:off x="6346093" y="2069462"/>
            <a:ext cx="5253891" cy="4555689"/>
          </a:xfrm>
          <a:prstGeom prst="rect">
            <a:avLst/>
          </a:prstGeom>
        </p:spPr>
      </p:pic>
    </p:spTree>
    <p:extLst>
      <p:ext uri="{BB962C8B-B14F-4D97-AF65-F5344CB8AC3E}">
        <p14:creationId xmlns:p14="http://schemas.microsoft.com/office/powerpoint/2010/main" val="10140700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08">
          <a:extLst>
            <a:ext uri="{FF2B5EF4-FFF2-40B4-BE49-F238E27FC236}">
              <a16:creationId xmlns:a16="http://schemas.microsoft.com/office/drawing/2014/main" id="{2307CB89-4155-6A26-8284-3DE81D2C2199}"/>
            </a:ext>
          </a:extLst>
        </p:cNvPr>
        <p:cNvGrpSpPr/>
        <p:nvPr/>
      </p:nvGrpSpPr>
      <p:grpSpPr>
        <a:xfrm>
          <a:off x="0" y="0"/>
          <a:ext cx="0" cy="0"/>
          <a:chOff x="0" y="0"/>
          <a:chExt cx="0" cy="0"/>
        </a:xfrm>
      </p:grpSpPr>
      <p:sp>
        <p:nvSpPr>
          <p:cNvPr id="309" name="Google Shape;309;p35">
            <a:extLst>
              <a:ext uri="{FF2B5EF4-FFF2-40B4-BE49-F238E27FC236}">
                <a16:creationId xmlns:a16="http://schemas.microsoft.com/office/drawing/2014/main" id="{4D1D3123-918A-EDA5-5354-EF648253CC7C}"/>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a:extLst>
              <a:ext uri="{FF2B5EF4-FFF2-40B4-BE49-F238E27FC236}">
                <a16:creationId xmlns:a16="http://schemas.microsoft.com/office/drawing/2014/main" id="{B5BC1FDD-F77F-7D92-9FA6-7AEB3ACB6A72}"/>
              </a:ext>
            </a:extLst>
          </p:cNvPr>
          <p:cNvSpPr txBox="1"/>
          <p:nvPr/>
        </p:nvSpPr>
        <p:spPr>
          <a:xfrm>
            <a:off x="609600" y="1421654"/>
            <a:ext cx="11460480" cy="156962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sym typeface="Quattrocento Sans"/>
              </a:rPr>
              <a:t>Lego Museum Camera System </a:t>
            </a:r>
            <a:endParaRPr lang="en-GB" sz="3600" b="1" dirty="0">
              <a:solidFill>
                <a:srgbClr val="FFFF00"/>
              </a:solidFill>
              <a:latin typeface="Quattrocento Sans"/>
            </a:endParaRPr>
          </a:p>
          <a:p>
            <a:r>
              <a:rPr lang="en-GB" sz="1800" dirty="0">
                <a:solidFill>
                  <a:schemeClr val="dk1"/>
                </a:solidFill>
                <a:latin typeface="Calibri"/>
                <a:ea typeface="Calibri"/>
                <a:cs typeface="Calibri"/>
              </a:rPr>
              <a:t>Player Game Object</a:t>
            </a:r>
          </a:p>
          <a:p>
            <a:r>
              <a:rPr lang="en-GB" sz="1800" dirty="0">
                <a:solidFill>
                  <a:schemeClr val="dk1"/>
                </a:solidFill>
                <a:latin typeface="Calibri"/>
                <a:ea typeface="Calibri"/>
                <a:cs typeface="Calibri"/>
              </a:rPr>
              <a:t> Camera Position Game Object</a:t>
            </a:r>
          </a:p>
          <a:p>
            <a:endParaRPr lang="en-GB" sz="1600" dirty="0">
              <a:solidFill>
                <a:srgbClr val="FFFF00"/>
              </a:solidFill>
              <a:latin typeface="Calibri"/>
            </a:endParaRPr>
          </a:p>
          <a:p>
            <a:endParaRPr lang="en-GB" sz="800" dirty="0">
              <a:latin typeface="Consolas"/>
            </a:endParaRPr>
          </a:p>
        </p:txBody>
      </p:sp>
      <p:sp>
        <p:nvSpPr>
          <p:cNvPr id="3" name="TextBox 2">
            <a:extLst>
              <a:ext uri="{FF2B5EF4-FFF2-40B4-BE49-F238E27FC236}">
                <a16:creationId xmlns:a16="http://schemas.microsoft.com/office/drawing/2014/main" id="{BC69D7D4-3015-5E92-7328-AF40C3926288}"/>
              </a:ext>
            </a:extLst>
          </p:cNvPr>
          <p:cNvSpPr txBox="1"/>
          <p:nvPr/>
        </p:nvSpPr>
        <p:spPr>
          <a:xfrm>
            <a:off x="468923" y="633046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https://gyazo.com/ce67e7808baddeecad77d55ef3ea2ad2</a:t>
            </a:r>
            <a:r>
              <a:rPr lang="en-US" dirty="0"/>
              <a:t> </a:t>
            </a:r>
            <a:endParaRPr lang="en-US"/>
          </a:p>
          <a:p>
            <a:pPr algn="ctr"/>
            <a:endParaRPr lang="en-GB"/>
          </a:p>
        </p:txBody>
      </p:sp>
      <p:pic>
        <p:nvPicPr>
          <p:cNvPr id="2" name="Picture 1" descr="A screenshot of a computer&#10;&#10;AI-generated content may be incorrect.">
            <a:extLst>
              <a:ext uri="{FF2B5EF4-FFF2-40B4-BE49-F238E27FC236}">
                <a16:creationId xmlns:a16="http://schemas.microsoft.com/office/drawing/2014/main" id="{547A2E00-A6B1-F858-1B09-245450308097}"/>
              </a:ext>
            </a:extLst>
          </p:cNvPr>
          <p:cNvPicPr>
            <a:picLocks noChangeAspect="1"/>
          </p:cNvPicPr>
          <p:nvPr/>
        </p:nvPicPr>
        <p:blipFill>
          <a:blip r:embed="rId4"/>
          <a:stretch>
            <a:fillRect/>
          </a:stretch>
        </p:blipFill>
        <p:spPr>
          <a:xfrm>
            <a:off x="6346092" y="2202726"/>
            <a:ext cx="5156200" cy="4377085"/>
          </a:xfrm>
          <a:prstGeom prst="rect">
            <a:avLst/>
          </a:prstGeom>
        </p:spPr>
      </p:pic>
    </p:spTree>
    <p:extLst>
      <p:ext uri="{BB962C8B-B14F-4D97-AF65-F5344CB8AC3E}">
        <p14:creationId xmlns:p14="http://schemas.microsoft.com/office/powerpoint/2010/main" val="26833771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08">
          <a:extLst>
            <a:ext uri="{FF2B5EF4-FFF2-40B4-BE49-F238E27FC236}">
              <a16:creationId xmlns:a16="http://schemas.microsoft.com/office/drawing/2014/main" id="{FF212A8C-931A-27DD-F373-AFA1717F854F}"/>
            </a:ext>
          </a:extLst>
        </p:cNvPr>
        <p:cNvGrpSpPr/>
        <p:nvPr/>
      </p:nvGrpSpPr>
      <p:grpSpPr>
        <a:xfrm>
          <a:off x="0" y="0"/>
          <a:ext cx="0" cy="0"/>
          <a:chOff x="0" y="0"/>
          <a:chExt cx="0" cy="0"/>
        </a:xfrm>
      </p:grpSpPr>
      <p:sp>
        <p:nvSpPr>
          <p:cNvPr id="309" name="Google Shape;309;p35">
            <a:extLst>
              <a:ext uri="{FF2B5EF4-FFF2-40B4-BE49-F238E27FC236}">
                <a16:creationId xmlns:a16="http://schemas.microsoft.com/office/drawing/2014/main" id="{6FEE8F41-0B2A-29FF-7D82-82D15F10AA1D}"/>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a:extLst>
              <a:ext uri="{FF2B5EF4-FFF2-40B4-BE49-F238E27FC236}">
                <a16:creationId xmlns:a16="http://schemas.microsoft.com/office/drawing/2014/main" id="{FE1EC2EA-28D7-BDAE-EE42-05376DD287F2}"/>
              </a:ext>
            </a:extLst>
          </p:cNvPr>
          <p:cNvSpPr txBox="1"/>
          <p:nvPr/>
        </p:nvSpPr>
        <p:spPr>
          <a:xfrm>
            <a:off x="609600" y="1421654"/>
            <a:ext cx="11460480" cy="4062610"/>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sym typeface="Quattrocento Sans"/>
              </a:rPr>
              <a:t>Lego Museum Camera System </a:t>
            </a:r>
            <a:endParaRPr lang="en-GB" sz="3600" b="1" dirty="0">
              <a:solidFill>
                <a:srgbClr val="FFFF00"/>
              </a:solidFill>
              <a:latin typeface="Quattrocento Sans"/>
            </a:endParaRPr>
          </a:p>
          <a:p>
            <a:r>
              <a:rPr lang="en-GB" sz="1800" dirty="0">
                <a:solidFill>
                  <a:schemeClr val="dk1"/>
                </a:solidFill>
                <a:latin typeface="Calibri"/>
                <a:ea typeface="Calibri"/>
                <a:cs typeface="Calibri"/>
              </a:rPr>
              <a:t>Camera Holder Game Object</a:t>
            </a:r>
          </a:p>
          <a:p>
            <a:r>
              <a:rPr lang="en-GB" sz="1800" dirty="0">
                <a:solidFill>
                  <a:schemeClr val="dk1"/>
                </a:solidFill>
                <a:latin typeface="Calibri"/>
                <a:ea typeface="Calibri"/>
                <a:cs typeface="Calibri"/>
              </a:rPr>
              <a:t> </a:t>
            </a:r>
            <a:r>
              <a:rPr lang="en-GB" sz="1800" dirty="0" err="1">
                <a:solidFill>
                  <a:schemeClr val="dk1"/>
                </a:solidFill>
                <a:latin typeface="Calibri"/>
                <a:ea typeface="Calibri"/>
                <a:cs typeface="Calibri"/>
              </a:rPr>
              <a:t>CameraMove.cs</a:t>
            </a:r>
            <a:endParaRPr lang="en-GB" sz="1800" dirty="0">
              <a:solidFill>
                <a:schemeClr val="dk1"/>
              </a:solidFill>
              <a:latin typeface="Calibri"/>
              <a:ea typeface="Calibri"/>
              <a:cs typeface="Calibri"/>
            </a:endParaRPr>
          </a:p>
          <a:p>
            <a:endParaRPr lang="en-GB" sz="1800" dirty="0">
              <a:solidFill>
                <a:schemeClr val="dk1"/>
              </a:solidFill>
              <a:latin typeface="Calibri"/>
              <a:ea typeface="Calibri"/>
              <a:cs typeface="Calibri"/>
            </a:endParaRPr>
          </a:p>
          <a:p>
            <a:r>
              <a:rPr lang="en-GB" sz="1800" dirty="0">
                <a:solidFill>
                  <a:schemeClr val="dk1"/>
                </a:solidFill>
                <a:latin typeface="Calibri"/>
                <a:ea typeface="Calibri"/>
                <a:cs typeface="Calibri"/>
              </a:rPr>
              <a:t>1.CameraPosition </a:t>
            </a:r>
            <a:r>
              <a:rPr lang="en-GB" sz="1800" dirty="0" err="1">
                <a:solidFill>
                  <a:schemeClr val="dk1"/>
                </a:solidFill>
                <a:latin typeface="Calibri"/>
                <a:ea typeface="Calibri"/>
                <a:cs typeface="Calibri"/>
              </a:rPr>
              <a:t>GameObject</a:t>
            </a:r>
            <a:r>
              <a:rPr lang="en-GB" sz="1800" dirty="0">
                <a:solidFill>
                  <a:schemeClr val="dk1"/>
                </a:solidFill>
                <a:latin typeface="Calibri"/>
                <a:ea typeface="Calibri"/>
                <a:cs typeface="Calibri"/>
              </a:rPr>
              <a:t> child of Player </a:t>
            </a:r>
            <a:r>
              <a:rPr lang="en-GB" sz="1800" dirty="0" err="1">
                <a:solidFill>
                  <a:schemeClr val="dk1"/>
                </a:solidFill>
                <a:latin typeface="Calibri"/>
                <a:ea typeface="Calibri"/>
                <a:cs typeface="Calibri"/>
              </a:rPr>
              <a:t>GameObject</a:t>
            </a:r>
            <a:r>
              <a:rPr lang="en-GB" sz="1800" dirty="0">
                <a:solidFill>
                  <a:schemeClr val="dk1"/>
                </a:solidFill>
                <a:latin typeface="Calibri"/>
                <a:ea typeface="Calibri"/>
                <a:cs typeface="Calibri"/>
              </a:rPr>
              <a:t> is followed </a:t>
            </a:r>
          </a:p>
          <a:p>
            <a:r>
              <a:rPr lang="en-GB" sz="1800" dirty="0">
                <a:solidFill>
                  <a:schemeClr val="dk1"/>
                </a:solidFill>
                <a:latin typeface="Calibri"/>
                <a:ea typeface="Calibri"/>
                <a:cs typeface="Calibri"/>
              </a:rPr>
              <a:t>for transform position</a:t>
            </a:r>
            <a:endParaRPr lang="en-GB" dirty="0">
              <a:solidFill>
                <a:schemeClr val="dk1"/>
              </a:solidFill>
            </a:endParaRPr>
          </a:p>
          <a:p>
            <a:endParaRPr lang="en-GB" sz="1800" dirty="0">
              <a:solidFill>
                <a:schemeClr val="dk1"/>
              </a:solidFill>
              <a:latin typeface="Calibri"/>
              <a:ea typeface="Calibri"/>
              <a:cs typeface="Calibri"/>
            </a:endParaRPr>
          </a:p>
          <a:p>
            <a:r>
              <a:rPr lang="en-GB" sz="1800" dirty="0">
                <a:solidFill>
                  <a:schemeClr val="dk1"/>
                </a:solidFill>
                <a:latin typeface="Calibri"/>
                <a:ea typeface="Calibri"/>
                <a:cs typeface="Calibri"/>
              </a:rPr>
              <a:t>2. This handles the position via </a:t>
            </a:r>
            <a:r>
              <a:rPr lang="en-GB" sz="1800" dirty="0" err="1">
                <a:solidFill>
                  <a:schemeClr val="dk1"/>
                </a:solidFill>
                <a:latin typeface="Calibri"/>
                <a:ea typeface="Calibri"/>
                <a:cs typeface="Calibri"/>
              </a:rPr>
              <a:t>PlayerGO</a:t>
            </a:r>
            <a:r>
              <a:rPr lang="en-GB" sz="1800" dirty="0">
                <a:solidFill>
                  <a:schemeClr val="dk1"/>
                </a:solidFill>
                <a:latin typeface="Calibri"/>
                <a:ea typeface="Calibri"/>
                <a:cs typeface="Calibri"/>
              </a:rPr>
              <a:t>/</a:t>
            </a:r>
            <a:r>
              <a:rPr lang="en-GB" sz="1800" dirty="0" err="1">
                <a:solidFill>
                  <a:schemeClr val="dk1"/>
                </a:solidFill>
                <a:latin typeface="Calibri"/>
                <a:ea typeface="Calibri"/>
                <a:cs typeface="Calibri"/>
              </a:rPr>
              <a:t>PlayerMovement.cs</a:t>
            </a:r>
            <a:r>
              <a:rPr lang="en-GB" sz="1800" dirty="0">
                <a:solidFill>
                  <a:schemeClr val="dk1"/>
                </a:solidFill>
                <a:latin typeface="Calibri"/>
                <a:ea typeface="Calibri"/>
                <a:cs typeface="Calibri"/>
              </a:rPr>
              <a:t> </a:t>
            </a:r>
            <a:r>
              <a:rPr lang="en-GB" sz="1800" dirty="0" err="1">
                <a:solidFill>
                  <a:schemeClr val="dk1"/>
                </a:solidFill>
                <a:latin typeface="Calibri"/>
                <a:ea typeface="Calibri"/>
                <a:cs typeface="Calibri"/>
              </a:rPr>
              <a:t>RigidBody</a:t>
            </a:r>
          </a:p>
          <a:p>
            <a:r>
              <a:rPr lang="en-GB" sz="1800" dirty="0">
                <a:solidFill>
                  <a:schemeClr val="dk1"/>
                </a:solidFill>
                <a:latin typeface="Calibri"/>
                <a:ea typeface="Calibri"/>
                <a:cs typeface="Calibri"/>
              </a:rPr>
              <a:t> controller script</a:t>
            </a:r>
            <a:endParaRPr lang="en-GB">
              <a:solidFill>
                <a:schemeClr val="dk1"/>
              </a:solidFill>
            </a:endParaRPr>
          </a:p>
          <a:p>
            <a:endParaRPr lang="en-GB" sz="1800" dirty="0">
              <a:solidFill>
                <a:schemeClr val="dk1"/>
              </a:solidFill>
              <a:latin typeface="Calibri"/>
              <a:ea typeface="Calibri"/>
              <a:cs typeface="Calibri"/>
            </a:endParaRPr>
          </a:p>
          <a:p>
            <a:r>
              <a:rPr lang="en-GB" sz="1800" dirty="0">
                <a:solidFill>
                  <a:schemeClr val="dk1"/>
                </a:solidFill>
                <a:latin typeface="Calibri"/>
                <a:ea typeface="Calibri"/>
                <a:cs typeface="Calibri"/>
              </a:rPr>
              <a:t>3. This allows the </a:t>
            </a:r>
            <a:r>
              <a:rPr lang="en-GB" sz="1800" dirty="0" err="1">
                <a:solidFill>
                  <a:schemeClr val="dk1"/>
                </a:solidFill>
                <a:latin typeface="Calibri"/>
                <a:ea typeface="Calibri"/>
                <a:cs typeface="Calibri"/>
              </a:rPr>
              <a:t>PlayerCam.cs</a:t>
            </a:r>
            <a:r>
              <a:rPr lang="en-GB" sz="1800" dirty="0">
                <a:solidFill>
                  <a:schemeClr val="dk1"/>
                </a:solidFill>
                <a:latin typeface="Calibri"/>
                <a:ea typeface="Calibri"/>
                <a:cs typeface="Calibri"/>
              </a:rPr>
              <a:t> on the </a:t>
            </a:r>
            <a:r>
              <a:rPr lang="en-GB" sz="1800" dirty="0" err="1">
                <a:solidFill>
                  <a:schemeClr val="dk1"/>
                </a:solidFill>
                <a:latin typeface="Calibri"/>
                <a:ea typeface="Calibri"/>
                <a:cs typeface="Calibri"/>
              </a:rPr>
              <a:t>PlayerCamera</a:t>
            </a:r>
            <a:r>
              <a:rPr lang="en-GB" sz="1800" dirty="0">
                <a:solidFill>
                  <a:schemeClr val="dk1"/>
                </a:solidFill>
                <a:latin typeface="Calibri"/>
                <a:ea typeface="Calibri"/>
                <a:cs typeface="Calibri"/>
              </a:rPr>
              <a:t> GO to handle the </a:t>
            </a:r>
            <a:endParaRPr lang="en-GB">
              <a:solidFill>
                <a:schemeClr val="dk1"/>
              </a:solidFill>
            </a:endParaRPr>
          </a:p>
          <a:p>
            <a:r>
              <a:rPr lang="en-GB" sz="1800" dirty="0">
                <a:solidFill>
                  <a:schemeClr val="dk1"/>
                </a:solidFill>
                <a:latin typeface="Calibri"/>
                <a:ea typeface="Calibri"/>
                <a:cs typeface="Calibri"/>
              </a:rPr>
              <a:t>orientation</a:t>
            </a:r>
            <a:endParaRPr lang="en-GB" dirty="0">
              <a:solidFill>
                <a:schemeClr val="dk1"/>
              </a:solidFill>
            </a:endParaRPr>
          </a:p>
          <a:p>
            <a:endParaRPr lang="en-GB" sz="1600" dirty="0">
              <a:solidFill>
                <a:srgbClr val="FFFF00"/>
              </a:solidFill>
              <a:latin typeface="Calibri"/>
            </a:endParaRPr>
          </a:p>
          <a:p>
            <a:endParaRPr lang="en-GB" sz="800" dirty="0">
              <a:latin typeface="Consolas"/>
            </a:endParaRPr>
          </a:p>
        </p:txBody>
      </p:sp>
      <p:sp>
        <p:nvSpPr>
          <p:cNvPr id="3" name="TextBox 2">
            <a:extLst>
              <a:ext uri="{FF2B5EF4-FFF2-40B4-BE49-F238E27FC236}">
                <a16:creationId xmlns:a16="http://schemas.microsoft.com/office/drawing/2014/main" id="{49B1DAD2-7075-EBAE-CB1E-7B05FB3014AF}"/>
              </a:ext>
            </a:extLst>
          </p:cNvPr>
          <p:cNvSpPr txBox="1"/>
          <p:nvPr/>
        </p:nvSpPr>
        <p:spPr>
          <a:xfrm>
            <a:off x="468923" y="633046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https://gyazo.com/e1810339c3985cc0e137597b4569f9b2</a:t>
            </a:r>
            <a:r>
              <a:rPr lang="en-US" dirty="0"/>
              <a:t> </a:t>
            </a:r>
            <a:endParaRPr lang="en-US"/>
          </a:p>
          <a:p>
            <a:pPr algn="ctr"/>
            <a:endParaRPr lang="en-GB"/>
          </a:p>
        </p:txBody>
      </p:sp>
      <p:pic>
        <p:nvPicPr>
          <p:cNvPr id="4" name="Picture 3" descr="A screenshot of a computer&#10;&#10;AI-generated content may be incorrect.">
            <a:extLst>
              <a:ext uri="{FF2B5EF4-FFF2-40B4-BE49-F238E27FC236}">
                <a16:creationId xmlns:a16="http://schemas.microsoft.com/office/drawing/2014/main" id="{832C63CA-0CCC-6B73-800E-84B353479C31}"/>
              </a:ext>
            </a:extLst>
          </p:cNvPr>
          <p:cNvPicPr>
            <a:picLocks noChangeAspect="1"/>
          </p:cNvPicPr>
          <p:nvPr/>
        </p:nvPicPr>
        <p:blipFill>
          <a:blip r:embed="rId4"/>
          <a:stretch>
            <a:fillRect/>
          </a:stretch>
        </p:blipFill>
        <p:spPr>
          <a:xfrm>
            <a:off x="7547709" y="1247504"/>
            <a:ext cx="4052276" cy="5525531"/>
          </a:xfrm>
          <a:prstGeom prst="rect">
            <a:avLst/>
          </a:prstGeom>
        </p:spPr>
      </p:pic>
    </p:spTree>
    <p:extLst>
      <p:ext uri="{BB962C8B-B14F-4D97-AF65-F5344CB8AC3E}">
        <p14:creationId xmlns:p14="http://schemas.microsoft.com/office/powerpoint/2010/main" val="13509492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08">
          <a:extLst>
            <a:ext uri="{FF2B5EF4-FFF2-40B4-BE49-F238E27FC236}">
              <a16:creationId xmlns:a16="http://schemas.microsoft.com/office/drawing/2014/main" id="{DFB8271D-F5D3-7849-F48C-4D209181F43E}"/>
            </a:ext>
          </a:extLst>
        </p:cNvPr>
        <p:cNvGrpSpPr/>
        <p:nvPr/>
      </p:nvGrpSpPr>
      <p:grpSpPr>
        <a:xfrm>
          <a:off x="0" y="0"/>
          <a:ext cx="0" cy="0"/>
          <a:chOff x="0" y="0"/>
          <a:chExt cx="0" cy="0"/>
        </a:xfrm>
      </p:grpSpPr>
      <p:sp>
        <p:nvSpPr>
          <p:cNvPr id="309" name="Google Shape;309;p35">
            <a:extLst>
              <a:ext uri="{FF2B5EF4-FFF2-40B4-BE49-F238E27FC236}">
                <a16:creationId xmlns:a16="http://schemas.microsoft.com/office/drawing/2014/main" id="{197FB4E3-5A33-9CEC-B39D-8322EB543F07}"/>
              </a:ext>
            </a:extLst>
          </p:cNvPr>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0" name="Google Shape;310;p35">
            <a:extLst>
              <a:ext uri="{FF2B5EF4-FFF2-40B4-BE49-F238E27FC236}">
                <a16:creationId xmlns:a16="http://schemas.microsoft.com/office/drawing/2014/main" id="{E555022E-D500-7F5B-35E6-8FFCCE9397B7}"/>
              </a:ext>
            </a:extLst>
          </p:cNvPr>
          <p:cNvSpPr txBox="1"/>
          <p:nvPr/>
        </p:nvSpPr>
        <p:spPr>
          <a:xfrm>
            <a:off x="609600" y="1421654"/>
            <a:ext cx="11460480" cy="5447605"/>
          </a:xfrm>
          <a:prstGeom prst="rect">
            <a:avLst/>
          </a:prstGeom>
          <a:noFill/>
          <a:ln>
            <a:noFill/>
          </a:ln>
        </p:spPr>
        <p:txBody>
          <a:bodyPr spcFirstLastPara="1" wrap="square" lIns="91425" tIns="45700" rIns="91425" bIns="45700" anchor="t" anchorCtr="0">
            <a:spAutoFit/>
          </a:bodyPr>
          <a:lstStyle/>
          <a:p>
            <a:r>
              <a:rPr lang="en-GB" sz="3600" b="1" dirty="0">
                <a:solidFill>
                  <a:srgbClr val="FFFF00"/>
                </a:solidFill>
                <a:latin typeface="Quattrocento Sans"/>
                <a:sym typeface="Quattrocento Sans"/>
              </a:rPr>
              <a:t>Lego Museum Camera System </a:t>
            </a:r>
            <a:endParaRPr lang="en-GB" sz="3600" b="1" dirty="0">
              <a:solidFill>
                <a:srgbClr val="FFFF00"/>
              </a:solidFill>
              <a:latin typeface="Quattrocento Sans"/>
            </a:endParaRPr>
          </a:p>
          <a:p>
            <a:r>
              <a:rPr lang="en-GB" sz="1800" dirty="0">
                <a:solidFill>
                  <a:schemeClr val="dk1"/>
                </a:solidFill>
                <a:latin typeface="Calibri"/>
                <a:ea typeface="Calibri"/>
                <a:cs typeface="Calibri"/>
              </a:rPr>
              <a:t>Camera Holder Game Object</a:t>
            </a:r>
            <a:endParaRPr lang="en-GB" dirty="0">
              <a:solidFill>
                <a:schemeClr val="dk1"/>
              </a:solidFill>
            </a:endParaRPr>
          </a:p>
          <a:p>
            <a:r>
              <a:rPr lang="en-GB" sz="1800" dirty="0">
                <a:solidFill>
                  <a:schemeClr val="dk1"/>
                </a:solidFill>
                <a:latin typeface="Calibri"/>
                <a:ea typeface="Calibri"/>
                <a:cs typeface="Calibri"/>
              </a:rPr>
              <a:t> </a:t>
            </a:r>
            <a:r>
              <a:rPr lang="en-GB" sz="1800" dirty="0" err="1">
                <a:solidFill>
                  <a:schemeClr val="dk1"/>
                </a:solidFill>
                <a:latin typeface="Calibri"/>
                <a:ea typeface="Calibri"/>
                <a:cs typeface="Calibri"/>
              </a:rPr>
              <a:t>PlayerCamera</a:t>
            </a:r>
            <a:r>
              <a:rPr lang="en-GB" sz="1800" dirty="0">
                <a:solidFill>
                  <a:schemeClr val="dk1"/>
                </a:solidFill>
                <a:latin typeface="Calibri"/>
                <a:ea typeface="Calibri"/>
                <a:cs typeface="Calibri"/>
              </a:rPr>
              <a:t> Game Object </a:t>
            </a:r>
            <a:br>
              <a:rPr lang="en-GB" sz="1800" dirty="0">
                <a:solidFill>
                  <a:schemeClr val="dk1"/>
                </a:solidFill>
                <a:latin typeface="Calibri"/>
                <a:ea typeface="Calibri"/>
                <a:cs typeface="Calibri"/>
              </a:rPr>
            </a:br>
            <a:r>
              <a:rPr lang="en-GB" sz="1800" dirty="0">
                <a:solidFill>
                  <a:srgbClr val="FFFFFF"/>
                </a:solidFill>
                <a:latin typeface="Calibri"/>
                <a:ea typeface="Calibri"/>
                <a:cs typeface="Calibri"/>
              </a:rPr>
              <a:t>  </a:t>
            </a:r>
            <a:r>
              <a:rPr lang="en-GB" sz="1800" dirty="0" err="1">
                <a:solidFill>
                  <a:srgbClr val="FFFFFF"/>
                </a:solidFill>
                <a:latin typeface="Calibri"/>
                <a:ea typeface="Calibri"/>
                <a:cs typeface="Calibri"/>
              </a:rPr>
              <a:t>PlayerCam.cs</a:t>
            </a:r>
            <a:br>
              <a:rPr lang="en-GB" sz="1800" dirty="0">
                <a:solidFill>
                  <a:srgbClr val="FFFFFF"/>
                </a:solidFill>
                <a:latin typeface="Calibri"/>
                <a:ea typeface="Calibri"/>
                <a:cs typeface="Calibri"/>
              </a:rPr>
            </a:br>
            <a:endParaRPr lang="en-GB" sz="1800" dirty="0">
              <a:solidFill>
                <a:srgbClr val="FFFFFF"/>
              </a:solidFill>
              <a:latin typeface="Calibri"/>
              <a:ea typeface="Calibri"/>
              <a:cs typeface="Calibri"/>
            </a:endParaRPr>
          </a:p>
          <a:p>
            <a:r>
              <a:rPr lang="en-GB" sz="1800" dirty="0">
                <a:solidFill>
                  <a:srgbClr val="FFFFFF"/>
                </a:solidFill>
                <a:latin typeface="Calibri"/>
                <a:ea typeface="Calibri"/>
                <a:cs typeface="Calibri"/>
              </a:rPr>
              <a:t>1.Mouse-look controller - Reads mouse X/Y, </a:t>
            </a:r>
            <a:br>
              <a:rPr lang="en-GB" sz="1800" dirty="0">
                <a:solidFill>
                  <a:srgbClr val="FFFFFF"/>
                </a:solidFill>
                <a:latin typeface="Calibri"/>
                <a:ea typeface="Calibri"/>
                <a:cs typeface="Calibri"/>
              </a:rPr>
            </a:br>
            <a:r>
              <a:rPr lang="en-GB" sz="1800" dirty="0">
                <a:solidFill>
                  <a:srgbClr val="FFFFFF"/>
                </a:solidFill>
                <a:latin typeface="Calibri"/>
                <a:ea typeface="Calibri"/>
                <a:cs typeface="Calibri"/>
              </a:rPr>
              <a:t> applies sensitivities and </a:t>
            </a:r>
            <a:r>
              <a:rPr lang="en-GB" sz="1800" dirty="0" err="1">
                <a:solidFill>
                  <a:srgbClr val="FFFFFF"/>
                </a:solidFill>
                <a:latin typeface="Calibri"/>
                <a:ea typeface="Calibri"/>
                <a:cs typeface="Calibri"/>
              </a:rPr>
              <a:t>Time.deltaTime</a:t>
            </a:r>
            <a:r>
              <a:rPr lang="en-GB" sz="1800" dirty="0">
                <a:solidFill>
                  <a:srgbClr val="FFFFFF"/>
                </a:solidFill>
                <a:latin typeface="Calibri"/>
                <a:ea typeface="Calibri"/>
                <a:cs typeface="Calibri"/>
              </a:rPr>
              <a:t>, </a:t>
            </a:r>
            <a:br>
              <a:rPr lang="en-GB" sz="1800" dirty="0">
                <a:solidFill>
                  <a:srgbClr val="FFFFFF"/>
                </a:solidFill>
                <a:latin typeface="Calibri"/>
                <a:ea typeface="Calibri"/>
                <a:cs typeface="Calibri"/>
              </a:rPr>
            </a:br>
            <a:r>
              <a:rPr lang="en-GB" sz="1800" dirty="0">
                <a:solidFill>
                  <a:srgbClr val="FFFFFF"/>
                </a:solidFill>
                <a:latin typeface="Calibri"/>
                <a:ea typeface="Calibri"/>
                <a:cs typeface="Calibri"/>
              </a:rPr>
              <a:t> clamps pitch, updates camera rotation.</a:t>
            </a:r>
            <a:endParaRPr lang="en-GB"/>
          </a:p>
          <a:p>
            <a:r>
              <a:rPr lang="en-GB" sz="1800" dirty="0">
                <a:solidFill>
                  <a:srgbClr val="FFFFFF"/>
                </a:solidFill>
                <a:latin typeface="Calibri"/>
                <a:ea typeface="Calibri"/>
                <a:cs typeface="Calibri"/>
              </a:rPr>
              <a:t>2. Writes yaw to a </a:t>
            </a:r>
            <a:r>
              <a:rPr lang="en-GB" sz="1800" dirty="0">
                <a:solidFill>
                  <a:srgbClr val="FFFF00"/>
                </a:solidFill>
                <a:latin typeface="Calibri"/>
                <a:ea typeface="Calibri"/>
                <a:cs typeface="Calibri"/>
              </a:rPr>
              <a:t>public Transform variable called "orientation" which </a:t>
            </a:r>
            <a:endParaRPr lang="en-GB" dirty="0">
              <a:ea typeface="Calibri"/>
            </a:endParaRPr>
          </a:p>
          <a:p>
            <a:r>
              <a:rPr lang="en-GB" sz="1800" dirty="0">
                <a:solidFill>
                  <a:srgbClr val="FFFF00"/>
                </a:solidFill>
                <a:latin typeface="Calibri"/>
                <a:ea typeface="Calibri"/>
                <a:cs typeface="Calibri"/>
              </a:rPr>
              <a:t>Updates the Orientation GO child of the Player GO </a:t>
            </a:r>
            <a:br>
              <a:rPr lang="en-GB" sz="1800" dirty="0">
                <a:solidFill>
                  <a:srgbClr val="FFFFFF"/>
                </a:solidFill>
                <a:latin typeface="Calibri"/>
                <a:ea typeface="Calibri"/>
                <a:cs typeface="Calibri"/>
              </a:rPr>
            </a:br>
            <a:r>
              <a:rPr lang="en-GB" sz="1800">
                <a:solidFill>
                  <a:srgbClr val="FFFFFF"/>
                </a:solidFill>
                <a:latin typeface="Calibri"/>
                <a:ea typeface="Calibri"/>
                <a:cs typeface="Calibri"/>
              </a:rPr>
              <a:t> </a:t>
            </a:r>
            <a:r>
              <a:rPr lang="en-GB" sz="1800" dirty="0">
                <a:solidFill>
                  <a:srgbClr val="FFFFFF"/>
                </a:solidFill>
                <a:latin typeface="Calibri"/>
                <a:ea typeface="Calibri"/>
                <a:cs typeface="Calibri"/>
              </a:rPr>
              <a:t>(</a:t>
            </a:r>
            <a:r>
              <a:rPr lang="en-GB" sz="1800" err="1">
                <a:solidFill>
                  <a:srgbClr val="FFFFFF"/>
                </a:solidFill>
                <a:latin typeface="Calibri"/>
                <a:ea typeface="Calibri"/>
                <a:cs typeface="Calibri"/>
              </a:rPr>
              <a:t>orientation.rotation</a:t>
            </a:r>
            <a:r>
              <a:rPr lang="en-GB" sz="1800" dirty="0">
                <a:solidFill>
                  <a:srgbClr val="FFFFFF"/>
                </a:solidFill>
                <a:latin typeface="Calibri"/>
                <a:ea typeface="Calibri"/>
                <a:cs typeface="Calibri"/>
              </a:rPr>
              <a:t> = </a:t>
            </a:r>
            <a:r>
              <a:rPr lang="en-GB" sz="1800" err="1">
                <a:solidFill>
                  <a:srgbClr val="FFFFFF"/>
                </a:solidFill>
                <a:latin typeface="Calibri"/>
                <a:ea typeface="Calibri"/>
                <a:cs typeface="Calibri"/>
              </a:rPr>
              <a:t>Quaternion.Euler</a:t>
            </a:r>
            <a:r>
              <a:rPr lang="en-GB" sz="1800" dirty="0">
                <a:solidFill>
                  <a:srgbClr val="FFFFFF"/>
                </a:solidFill>
                <a:latin typeface="Calibri"/>
                <a:ea typeface="Calibri"/>
                <a:cs typeface="Calibri"/>
              </a:rPr>
              <a:t>(0, </a:t>
            </a:r>
            <a:r>
              <a:rPr lang="en-GB" sz="1800" err="1">
                <a:solidFill>
                  <a:srgbClr val="FFFFFF"/>
                </a:solidFill>
                <a:latin typeface="Calibri"/>
                <a:ea typeface="Calibri"/>
                <a:cs typeface="Calibri"/>
              </a:rPr>
              <a:t>yrotation</a:t>
            </a:r>
            <a:r>
              <a:rPr lang="en-GB" sz="1800" dirty="0">
                <a:solidFill>
                  <a:srgbClr val="FFFFFF"/>
                </a:solidFill>
                <a:latin typeface="Calibri"/>
                <a:ea typeface="Calibri"/>
                <a:cs typeface="Calibri"/>
              </a:rPr>
              <a:t>, 0)) </a:t>
            </a:r>
            <a:br>
              <a:rPr lang="en-US" dirty="0"/>
            </a:br>
            <a:r>
              <a:rPr lang="en-GB" sz="1800">
                <a:solidFill>
                  <a:srgbClr val="FFFFFF"/>
                </a:solidFill>
                <a:latin typeface="Calibri"/>
                <a:ea typeface="Calibri"/>
                <a:cs typeface="Calibri"/>
              </a:rPr>
              <a:t> </a:t>
            </a:r>
            <a:r>
              <a:rPr lang="en-GB" sz="1800" dirty="0">
                <a:solidFill>
                  <a:srgbClr val="FFFFFF"/>
                </a:solidFill>
                <a:latin typeface="Calibri"/>
                <a:ea typeface="Calibri"/>
                <a:cs typeface="Calibri"/>
              </a:rPr>
              <a:t>so movement aligns with camera yaw.</a:t>
            </a:r>
            <a:endParaRPr lang="en-GB"/>
          </a:p>
          <a:p>
            <a:endParaRPr lang="en-GB" sz="1800" dirty="0">
              <a:solidFill>
                <a:srgbClr val="FFFFFF"/>
              </a:solidFill>
              <a:latin typeface="Calibri"/>
              <a:ea typeface="Calibri"/>
              <a:cs typeface="Calibri"/>
            </a:endParaRPr>
          </a:p>
          <a:p>
            <a:br>
              <a:rPr lang="en-GB" sz="1800" dirty="0">
                <a:solidFill>
                  <a:srgbClr val="FFFFFF"/>
                </a:solidFill>
                <a:latin typeface="Calibri"/>
                <a:ea typeface="Calibri"/>
                <a:cs typeface="Calibri"/>
              </a:rPr>
            </a:br>
            <a:r>
              <a:rPr lang="en-GB" sz="1800" dirty="0">
                <a:solidFill>
                  <a:srgbClr val="FFFFFF"/>
                </a:solidFill>
                <a:latin typeface="Calibri"/>
                <a:ea typeface="Calibri"/>
                <a:cs typeface="Calibri"/>
              </a:rPr>
              <a:t>Note: its cursor-locking startup code is commented out; </a:t>
            </a:r>
            <a:br>
              <a:rPr lang="en-GB" sz="1800" dirty="0">
                <a:solidFill>
                  <a:srgbClr val="FFFFFF"/>
                </a:solidFill>
                <a:latin typeface="Calibri"/>
                <a:ea typeface="Calibri"/>
                <a:cs typeface="Calibri"/>
              </a:rPr>
            </a:br>
            <a:r>
              <a:rPr lang="en-GB" sz="1800" dirty="0">
                <a:solidFill>
                  <a:srgbClr val="FFFFFF"/>
                </a:solidFill>
                <a:latin typeface="Calibri"/>
                <a:ea typeface="Calibri"/>
                <a:cs typeface="Calibri"/>
              </a:rPr>
              <a:t>cursor state is handled elsewhere.</a:t>
            </a:r>
            <a:endParaRPr lang="en-GB" dirty="0"/>
          </a:p>
          <a:p>
            <a:endParaRPr lang="en-GB" sz="1800" dirty="0">
              <a:solidFill>
                <a:schemeClr val="dk1"/>
              </a:solidFill>
              <a:latin typeface="Calibri"/>
              <a:ea typeface="Calibri"/>
              <a:cs typeface="Calibri"/>
            </a:endParaRPr>
          </a:p>
          <a:p>
            <a:endParaRPr lang="en-GB" sz="1600" dirty="0">
              <a:solidFill>
                <a:srgbClr val="FFFF00"/>
              </a:solidFill>
              <a:latin typeface="Calibri"/>
            </a:endParaRPr>
          </a:p>
          <a:p>
            <a:endParaRPr lang="en-GB" sz="800" dirty="0">
              <a:latin typeface="Consolas"/>
            </a:endParaRPr>
          </a:p>
        </p:txBody>
      </p:sp>
      <p:sp>
        <p:nvSpPr>
          <p:cNvPr id="3" name="TextBox 2">
            <a:extLst>
              <a:ext uri="{FF2B5EF4-FFF2-40B4-BE49-F238E27FC236}">
                <a16:creationId xmlns:a16="http://schemas.microsoft.com/office/drawing/2014/main" id="{684B1A96-7957-AF58-AD2B-7D35F5CE7ED0}"/>
              </a:ext>
            </a:extLst>
          </p:cNvPr>
          <p:cNvSpPr txBox="1"/>
          <p:nvPr/>
        </p:nvSpPr>
        <p:spPr>
          <a:xfrm>
            <a:off x="468923" y="633046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3"/>
              </a:rPr>
              <a:t>https://gyazo.com/ce67e7808baddeecad77d55ef3ea2ad2</a:t>
            </a:r>
            <a:r>
              <a:rPr lang="en-US" dirty="0"/>
              <a:t> </a:t>
            </a:r>
            <a:endParaRPr lang="en-US"/>
          </a:p>
          <a:p>
            <a:pPr algn="ctr"/>
            <a:endParaRPr lang="en-GB"/>
          </a:p>
        </p:txBody>
      </p:sp>
      <p:pic>
        <p:nvPicPr>
          <p:cNvPr id="2" name="Picture 1" descr="A screenshot of a computer&#10;&#10;AI-generated content may be incorrect.">
            <a:extLst>
              <a:ext uri="{FF2B5EF4-FFF2-40B4-BE49-F238E27FC236}">
                <a16:creationId xmlns:a16="http://schemas.microsoft.com/office/drawing/2014/main" id="{E41DBCAE-3FB1-9205-622A-E93827F8DB71}"/>
              </a:ext>
            </a:extLst>
          </p:cNvPr>
          <p:cNvPicPr>
            <a:picLocks noChangeAspect="1"/>
          </p:cNvPicPr>
          <p:nvPr/>
        </p:nvPicPr>
        <p:blipFill>
          <a:blip r:embed="rId4"/>
          <a:stretch>
            <a:fillRect/>
          </a:stretch>
        </p:blipFill>
        <p:spPr>
          <a:xfrm>
            <a:off x="7645401" y="1273116"/>
            <a:ext cx="3954584" cy="5435230"/>
          </a:xfrm>
          <a:prstGeom prst="rect">
            <a:avLst/>
          </a:prstGeom>
        </p:spPr>
      </p:pic>
    </p:spTree>
    <p:extLst>
      <p:ext uri="{BB962C8B-B14F-4D97-AF65-F5344CB8AC3E}">
        <p14:creationId xmlns:p14="http://schemas.microsoft.com/office/powerpoint/2010/main" val="4106304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Shape 315"/>
        <p:cNvGrpSpPr/>
        <p:nvPr/>
      </p:nvGrpSpPr>
      <p:grpSpPr>
        <a:xfrm>
          <a:off x="0" y="0"/>
          <a:ext cx="0" cy="0"/>
          <a:chOff x="0" y="0"/>
          <a:chExt cx="0" cy="0"/>
        </a:xfrm>
      </p:grpSpPr>
      <p:sp>
        <p:nvSpPr>
          <p:cNvPr id="316" name="Google Shape;316;p38"/>
          <p:cNvSpPr txBox="1">
            <a:spLocks noGrp="1"/>
          </p:cNvSpPr>
          <p:nvPr>
            <p:ph type="title"/>
          </p:nvPr>
        </p:nvSpPr>
        <p:spPr>
          <a:xfrm>
            <a:off x="609600" y="274638"/>
            <a:ext cx="109728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317" name="Google Shape;317;p38"/>
          <p:cNvSpPr txBox="1"/>
          <p:nvPr/>
        </p:nvSpPr>
        <p:spPr>
          <a:xfrm>
            <a:off x="609600" y="1421654"/>
            <a:ext cx="11460480" cy="58477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3600" dirty="0">
                <a:solidFill>
                  <a:srgbClr val="FFFF00"/>
                </a:solidFill>
                <a:latin typeface="Calibri"/>
                <a:ea typeface="Quattrocento Sans"/>
                <a:cs typeface="Quattrocento Sans"/>
                <a:sym typeface="Quattrocento Sans"/>
              </a:rPr>
              <a:t>Case 04 Unity 2.5D Camera – Position State Changes</a:t>
            </a:r>
            <a:br>
              <a:rPr lang="en-GB" sz="3600" dirty="0">
                <a:latin typeface="Calibri"/>
                <a:ea typeface="Quattrocento Sans"/>
                <a:cs typeface="Quattrocento Sans"/>
              </a:rPr>
            </a:br>
            <a:r>
              <a:rPr lang="en-GB" sz="3600" dirty="0">
                <a:solidFill>
                  <a:srgbClr val="FFFF00"/>
                </a:solidFill>
                <a:latin typeface="Calibri"/>
                <a:ea typeface="Quattrocento Sans"/>
                <a:cs typeface="Quattrocento Sans"/>
                <a:sym typeface="Quattrocento Sans"/>
              </a:rPr>
              <a:t>(Tap to move camera – TGC, Krak, Sniper(FPS) )</a:t>
            </a:r>
            <a:endParaRPr lang="en-US" dirty="0">
              <a:latin typeface="Calibri"/>
            </a:endParaRPr>
          </a:p>
          <a:p>
            <a:pPr marL="0" marR="0" lvl="0" indent="0" algn="l" rtl="0">
              <a:spcBef>
                <a:spcPts val="0"/>
              </a:spcBef>
              <a:spcAft>
                <a:spcPts val="0"/>
              </a:spcAft>
              <a:buNone/>
            </a:pPr>
            <a:endParaRPr sz="3600" dirty="0">
              <a:solidFill>
                <a:srgbClr val="FFFF00"/>
              </a:solidFill>
              <a:latin typeface="Calibri"/>
              <a:ea typeface="Quattrocento Sans"/>
              <a:cs typeface="Quattrocento Sans"/>
            </a:endParaRPr>
          </a:p>
          <a:p>
            <a:pPr marL="742950" marR="0" lvl="0" indent="-742950" algn="l" rtl="0">
              <a:spcBef>
                <a:spcPts val="0"/>
              </a:spcBef>
              <a:spcAft>
                <a:spcPts val="0"/>
              </a:spcAft>
              <a:buClr>
                <a:srgbClr val="FFFF00"/>
              </a:buClr>
              <a:buSzPts val="3600"/>
              <a:buFont typeface="Quattrocento Sans"/>
              <a:buAutoNum type="arabicPeriod"/>
            </a:pPr>
            <a:r>
              <a:rPr lang="en-GB" sz="3600" dirty="0">
                <a:solidFill>
                  <a:srgbClr val="FFFF00"/>
                </a:solidFill>
                <a:latin typeface="Calibri"/>
                <a:ea typeface="Quattrocento Sans"/>
                <a:cs typeface="Quattrocento Sans"/>
                <a:sym typeface="Quattrocento Sans"/>
              </a:rPr>
              <a:t>New camera position by keypress</a:t>
            </a:r>
            <a:endParaRPr dirty="0">
              <a:latin typeface="Calibri"/>
            </a:endParaRPr>
          </a:p>
          <a:p>
            <a:pPr marL="1200150" marR="0" lvl="1" indent="-742950" algn="l" rtl="0">
              <a:spcBef>
                <a:spcPts val="0"/>
              </a:spcBef>
              <a:spcAft>
                <a:spcPts val="0"/>
              </a:spcAft>
              <a:buClr>
                <a:srgbClr val="FFFF00"/>
              </a:buClr>
              <a:buSzPts val="2400"/>
              <a:buFont typeface="Quattrocento Sans"/>
              <a:buAutoNum type="arabicPeriod"/>
            </a:pPr>
            <a:r>
              <a:rPr lang="en-GB" sz="2400" i="0" u="none" strike="noStrike" cap="none" dirty="0">
                <a:solidFill>
                  <a:srgbClr val="FFFF00"/>
                </a:solidFill>
                <a:latin typeface="Calibri"/>
                <a:ea typeface="Quattrocento Sans"/>
                <a:cs typeface="Quattrocento Sans"/>
                <a:sym typeface="Quattrocento Sans"/>
              </a:rPr>
              <a:t>Move Camera to new Vector3 </a:t>
            </a:r>
            <a:r>
              <a:rPr lang="en-GB" sz="2400" i="0" u="none" strike="noStrike" cap="none" err="1">
                <a:solidFill>
                  <a:srgbClr val="FFFF00"/>
                </a:solidFill>
                <a:latin typeface="Calibri"/>
                <a:ea typeface="Quattrocento Sans"/>
                <a:cs typeface="Quattrocento Sans"/>
                <a:sym typeface="Quattrocento Sans"/>
              </a:rPr>
              <a:t>Postion</a:t>
            </a:r>
            <a:r>
              <a:rPr lang="en-GB" sz="2400" i="0" u="none" strike="noStrike" cap="none" dirty="0">
                <a:solidFill>
                  <a:srgbClr val="FFFF00"/>
                </a:solidFill>
                <a:latin typeface="Calibri"/>
                <a:ea typeface="Quattrocento Sans"/>
                <a:cs typeface="Quattrocento Sans"/>
                <a:sym typeface="Quattrocento Sans"/>
              </a:rPr>
              <a:t>, Keep Orbit Options </a:t>
            </a:r>
            <a:r>
              <a:rPr lang="en-GB" sz="2400" i="0" u="none" strike="noStrike" cap="none" dirty="0">
                <a:solidFill>
                  <a:srgbClr val="FF0000"/>
                </a:solidFill>
                <a:latin typeface="Calibri"/>
                <a:ea typeface="Quattrocento Sans"/>
                <a:cs typeface="Quattrocento Sans"/>
                <a:sym typeface="Quattrocento Sans"/>
              </a:rPr>
              <a:t>(Code to Come)</a:t>
            </a:r>
            <a:endParaRPr dirty="0">
              <a:latin typeface="Calibri"/>
            </a:endParaRPr>
          </a:p>
          <a:p>
            <a:pPr marL="1200150" marR="0" lvl="1" indent="-742950" algn="l" rtl="0">
              <a:spcBef>
                <a:spcPts val="0"/>
              </a:spcBef>
              <a:spcAft>
                <a:spcPts val="0"/>
              </a:spcAft>
              <a:buClr>
                <a:srgbClr val="FFFF00"/>
              </a:buClr>
              <a:buSzPts val="2400"/>
              <a:buFont typeface="Quattrocento Sans"/>
              <a:buAutoNum type="arabicPeriod"/>
            </a:pPr>
            <a:r>
              <a:rPr lang="en-GB" sz="2400" i="0" u="none" strike="noStrike" cap="none" dirty="0">
                <a:solidFill>
                  <a:srgbClr val="FFFF00"/>
                </a:solidFill>
                <a:latin typeface="Calibri"/>
                <a:ea typeface="Quattrocento Sans"/>
                <a:cs typeface="Quattrocento Sans"/>
                <a:sym typeface="Quattrocento Sans"/>
              </a:rPr>
              <a:t>Sniper (complex with FPS, at 12:00 on)</a:t>
            </a:r>
            <a:endParaRPr dirty="0">
              <a:latin typeface="Calibri"/>
            </a:endParaRPr>
          </a:p>
          <a:p>
            <a:pPr marL="1657350" marR="0" lvl="2" indent="-742950" algn="l" rtl="0">
              <a:spcBef>
                <a:spcPts val="0"/>
              </a:spcBef>
              <a:spcAft>
                <a:spcPts val="0"/>
              </a:spcAft>
              <a:buClr>
                <a:schemeClr val="dk1"/>
              </a:buClr>
              <a:buSzPts val="1800"/>
              <a:buFont typeface="Quattrocento Sans"/>
              <a:buAutoNum type="arabicPeriod"/>
            </a:pPr>
            <a:r>
              <a:rPr lang="en-GB" sz="1800" b="0" i="0" u="sng" strike="noStrike" cap="none" dirty="0">
                <a:solidFill>
                  <a:schemeClr val="dk1"/>
                </a:solidFill>
                <a:latin typeface="Calibri"/>
                <a:ea typeface="Quattrocento Sans"/>
                <a:cs typeface="Quattrocento Sans"/>
                <a:sym typeface="Quattrocento Sans"/>
                <a:hlinkClick r:id="rId3">
                  <a:extLst>
                    <a:ext uri="{A12FA001-AC4F-418D-AE19-62706E023703}">
                      <ahyp:hlinkClr xmlns:ahyp="http://schemas.microsoft.com/office/drawing/2018/hyperlinkcolor" val="tx"/>
                    </a:ext>
                  </a:extLst>
                </a:hlinkClick>
              </a:rPr>
              <a:t>Unity 3D Tutorial Third Person Shooter part 2 The Aiming [Outdated]</a:t>
            </a:r>
            <a:endParaRPr sz="3600" i="0" u="none" strike="noStrike" cap="none">
              <a:solidFill>
                <a:schemeClr val="dk1"/>
              </a:solidFill>
              <a:latin typeface="Calibri"/>
              <a:ea typeface="Quattrocento Sans"/>
              <a:cs typeface="Quattrocento Sans"/>
            </a:endParaRPr>
          </a:p>
          <a:p>
            <a:pPr marL="742950" marR="0" lvl="0" indent="-742950" algn="l" rtl="0">
              <a:spcBef>
                <a:spcPts val="0"/>
              </a:spcBef>
              <a:spcAft>
                <a:spcPts val="0"/>
              </a:spcAft>
              <a:buClr>
                <a:srgbClr val="FFFF00"/>
              </a:buClr>
              <a:buSzPts val="3600"/>
              <a:buFont typeface="Quattrocento Sans"/>
              <a:buAutoNum type="arabicPeriod"/>
            </a:pPr>
            <a:r>
              <a:rPr lang="en-GB" sz="3600" dirty="0">
                <a:solidFill>
                  <a:srgbClr val="FFFF00"/>
                </a:solidFill>
                <a:latin typeface="Calibri"/>
                <a:ea typeface="Quattrocento Sans"/>
                <a:cs typeface="Quattrocento Sans"/>
                <a:sym typeface="Quattrocento Sans"/>
              </a:rPr>
              <a:t>New camera position by screen tap</a:t>
            </a:r>
            <a:endParaRPr dirty="0">
              <a:latin typeface="Calibri"/>
            </a:endParaRPr>
          </a:p>
          <a:p>
            <a:pPr marL="1200150" marR="0" lvl="1" indent="-742950" algn="l" rtl="0">
              <a:spcBef>
                <a:spcPts val="0"/>
              </a:spcBef>
              <a:spcAft>
                <a:spcPts val="0"/>
              </a:spcAft>
              <a:buClr>
                <a:srgbClr val="FFFF00"/>
              </a:buClr>
              <a:buSzPts val="2400"/>
              <a:buFont typeface="Quattrocento Sans"/>
              <a:buAutoNum type="arabicPeriod"/>
            </a:pPr>
            <a:r>
              <a:rPr lang="en-GB" sz="2400" i="0" u="none" strike="noStrike" cap="none" err="1">
                <a:solidFill>
                  <a:srgbClr val="FFFF00"/>
                </a:solidFill>
                <a:latin typeface="Calibri"/>
                <a:ea typeface="Quattrocento Sans"/>
                <a:cs typeface="Quattrocento Sans"/>
                <a:sym typeface="Quattrocento Sans"/>
              </a:rPr>
              <a:t>Raycast</a:t>
            </a:r>
            <a:r>
              <a:rPr lang="en-GB" sz="2400" i="0" u="none" strike="noStrike" cap="none" dirty="0">
                <a:solidFill>
                  <a:srgbClr val="FFFF00"/>
                </a:solidFill>
                <a:latin typeface="Calibri"/>
                <a:ea typeface="Quattrocento Sans"/>
                <a:cs typeface="Quattrocento Sans"/>
                <a:sym typeface="Quattrocento Sans"/>
              </a:rPr>
              <a:t> and Lerp (Complex with 3PC, TGC)</a:t>
            </a:r>
            <a:endParaRPr dirty="0">
              <a:latin typeface="Calibri"/>
            </a:endParaRPr>
          </a:p>
          <a:p>
            <a:pPr marL="0" marR="0" lvl="0" indent="0" algn="l" rtl="0">
              <a:spcBef>
                <a:spcPts val="0"/>
              </a:spcBef>
              <a:spcAft>
                <a:spcPts val="0"/>
              </a:spcAft>
              <a:buNone/>
            </a:pPr>
            <a:r>
              <a:rPr lang="en-GB" sz="2000" u="sng" dirty="0">
                <a:solidFill>
                  <a:srgbClr val="FFFF00"/>
                </a:solidFill>
                <a:latin typeface="Calibri"/>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http://www.thegamecontriver.com/2014/10/move-to-mouse-click-touch-position-unity.html</a:t>
            </a:r>
            <a:endParaRPr sz="2000" b="1" dirty="0">
              <a:solidFill>
                <a:srgbClr val="FFFF00"/>
              </a:solidFill>
              <a:latin typeface="Calibri"/>
              <a:ea typeface="Quattrocento Sans"/>
              <a:cs typeface="Quattrocento Sans"/>
            </a:endParaRPr>
          </a:p>
          <a:p>
            <a:pPr marL="1200150" marR="0" lvl="1" indent="-590550" algn="l" rtl="0">
              <a:spcBef>
                <a:spcPts val="0"/>
              </a:spcBef>
              <a:spcAft>
                <a:spcPts val="0"/>
              </a:spcAft>
              <a:buClr>
                <a:schemeClr val="dk1"/>
              </a:buClr>
              <a:buSzPts val="2400"/>
              <a:buFont typeface="Quattrocento Sans"/>
              <a:buNone/>
            </a:pP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6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55</Slides>
  <Notes>55</Notes>
  <HiddenSlides>3</HiddenSlide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1_Office Theme</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lpstr>3D Interactive Media Development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 ferguson</dc:creator>
  <cp:revision>605</cp:revision>
  <dcterms:created xsi:type="dcterms:W3CDTF">2016-10-08T10:37:01Z</dcterms:created>
  <dcterms:modified xsi:type="dcterms:W3CDTF">2025-12-02T08:04:45Z</dcterms:modified>
</cp:coreProperties>
</file>