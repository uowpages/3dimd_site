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1" r:id="rId4"/>
    <p:sldId id="258" r:id="rId5"/>
    <p:sldId id="272" r:id="rId6"/>
    <p:sldId id="270" r:id="rId7"/>
    <p:sldId id="273" r:id="rId8"/>
    <p:sldId id="259" r:id="rId9"/>
    <p:sldId id="274" r:id="rId10"/>
    <p:sldId id="260" r:id="rId11"/>
    <p:sldId id="261" r:id="rId12"/>
    <p:sldId id="263" r:id="rId13"/>
    <p:sldId id="262" r:id="rId14"/>
    <p:sldId id="264" r:id="rId15"/>
    <p:sldId id="276" r:id="rId16"/>
    <p:sldId id="277" r:id="rId17"/>
    <p:sldId id="278" r:id="rId18"/>
    <p:sldId id="265" r:id="rId19"/>
    <p:sldId id="266" r:id="rId20"/>
    <p:sldId id="267" r:id="rId21"/>
    <p:sldId id="268" r:id="rId22"/>
    <p:sldId id="269" r:id="rId23"/>
    <p:sldId id="275" r:id="rId24"/>
  </p:sldIdLst>
  <p:sldSz cx="12192000" cy="6858000"/>
  <p:notesSz cx="6858000" cy="9144000"/>
  <p:embeddedFontLst>
    <p:embeddedFont>
      <p:font typeface="Quattrocento Sans" panose="020B05020500000200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8T1ol9rix+WvLWIFfA3FyIR5j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BCC997-E429-3E40-D2D3-0D99CE567093}" v="3" dt="2026-03-27T14:20:21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customschemas.google.com/relationships/presentationmetadata" Target="meta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" name="Google Shape;4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lang="en-GB" sz="1800" b="0" i="0" u="none" strike="noStrike" cap="none">
                <a:solidFill>
                  <a:srgbClr val="000000"/>
                </a:solidFill>
              </a:rPr>
              <a:t>1</a:t>
            </a:fld>
            <a:endParaRPr sz="1800" b="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" name="Google Shape;48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1eb29230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11eb292302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g11eb292302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1555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1eb29230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11eb292302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g11eb292302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1eb29230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11eb292302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g11eb292302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20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1eb29230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11eb292302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g11eb292302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8608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1eb29230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11eb292302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g11eb292302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8290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1eb292302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11eb2923022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g11eb2923022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1eb29230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11eb292302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g11eb292302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8640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1eb292302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11eb2923022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g11eb2923022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1eb2923022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g11eb2923022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" name="Google Shape;76;g11eb2923022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eb292302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11eb2923022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g11eb2923022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1eb292302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11eb2923022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11eb2923022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1eb2923022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1eb2923022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g11eb2923022_0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65971E75-3D32-F95E-1A02-840C33D7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1eb2923022_0_60:notes">
            <a:extLst>
              <a:ext uri="{FF2B5EF4-FFF2-40B4-BE49-F238E27FC236}">
                <a16:creationId xmlns:a16="http://schemas.microsoft.com/office/drawing/2014/main" id="{1943A91D-99BE-4F0D-3610-1A782E302F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1eb2923022_0_60:notes">
            <a:extLst>
              <a:ext uri="{FF2B5EF4-FFF2-40B4-BE49-F238E27FC236}">
                <a16:creationId xmlns:a16="http://schemas.microsoft.com/office/drawing/2014/main" id="{E992AA9D-ACAB-EACC-F4D8-C8F5217D60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g11eb2923022_0_60:notes">
            <a:extLst>
              <a:ext uri="{FF2B5EF4-FFF2-40B4-BE49-F238E27FC236}">
                <a16:creationId xmlns:a16="http://schemas.microsoft.com/office/drawing/2014/main" id="{68F60FBF-9E94-B16C-C823-28A990A692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40427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2F7FF9AA-D9AC-8DFE-4F97-F35469832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1eb2923022_0_60:notes">
            <a:extLst>
              <a:ext uri="{FF2B5EF4-FFF2-40B4-BE49-F238E27FC236}">
                <a16:creationId xmlns:a16="http://schemas.microsoft.com/office/drawing/2014/main" id="{81684DB1-0E93-2FA6-A8CF-875EB28F0B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1eb2923022_0_60:notes">
            <a:extLst>
              <a:ext uri="{FF2B5EF4-FFF2-40B4-BE49-F238E27FC236}">
                <a16:creationId xmlns:a16="http://schemas.microsoft.com/office/drawing/2014/main" id="{C7FF90EC-B35A-64FC-FA93-2621B10497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g11eb2923022_0_60:notes">
            <a:extLst>
              <a:ext uri="{FF2B5EF4-FFF2-40B4-BE49-F238E27FC236}">
                <a16:creationId xmlns:a16="http://schemas.microsoft.com/office/drawing/2014/main" id="{5C6125F0-6188-5F49-5606-33FD86B9DC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48163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70E0AFC3-B445-2E8D-3C90-5138A79CF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1eb2923022_0_60:notes">
            <a:extLst>
              <a:ext uri="{FF2B5EF4-FFF2-40B4-BE49-F238E27FC236}">
                <a16:creationId xmlns:a16="http://schemas.microsoft.com/office/drawing/2014/main" id="{3E9A735C-4579-94FD-7B18-DEC6983E0C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11eb2923022_0_60:notes">
            <a:extLst>
              <a:ext uri="{FF2B5EF4-FFF2-40B4-BE49-F238E27FC236}">
                <a16:creationId xmlns:a16="http://schemas.microsoft.com/office/drawing/2014/main" id="{835A24C8-39EE-64F8-3620-FB0116048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g11eb2923022_0_60:notes">
            <a:extLst>
              <a:ext uri="{FF2B5EF4-FFF2-40B4-BE49-F238E27FC236}">
                <a16:creationId xmlns:a16="http://schemas.microsoft.com/office/drawing/2014/main" id="{2E9721AF-8B83-1507-3B4F-D084EA1044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23889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eb2923022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11eb2923022_0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11eb2923022_0_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eb2923022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1eb2923022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g11eb2923022_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1eb292302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1eb2923022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1eb2923022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1eb292302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1eb2923022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g11eb2923022_0_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1eb292302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1eb2923022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g11eb2923022_0_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0116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EE99DFC3-26A0-DD28-8682-AE0A48E91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1eb2923022_0_74:notes">
            <a:extLst>
              <a:ext uri="{FF2B5EF4-FFF2-40B4-BE49-F238E27FC236}">
                <a16:creationId xmlns:a16="http://schemas.microsoft.com/office/drawing/2014/main" id="{6D088E77-896C-82F2-4FAE-C965532383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1eb2923022_0_74:notes">
            <a:extLst>
              <a:ext uri="{FF2B5EF4-FFF2-40B4-BE49-F238E27FC236}">
                <a16:creationId xmlns:a16="http://schemas.microsoft.com/office/drawing/2014/main" id="{F7E4E1D3-4533-07EC-332E-3003BF2466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g11eb2923022_0_74:notes">
            <a:extLst>
              <a:ext uri="{FF2B5EF4-FFF2-40B4-BE49-F238E27FC236}">
                <a16:creationId xmlns:a16="http://schemas.microsoft.com/office/drawing/2014/main" id="{689FFA0E-F6B6-CC1A-2696-7822CECAD6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4665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010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subTitle" idx="1"/>
          </p:nvPr>
        </p:nvSpPr>
        <p:spPr>
          <a:xfrm>
            <a:off x="911424" y="3212976"/>
            <a:ext cx="1036915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body" idx="1"/>
          </p:nvPr>
        </p:nvSpPr>
        <p:spPr>
          <a:xfrm>
            <a:off x="609600" y="1268760"/>
            <a:ext cx="10972800" cy="53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/>
          <p:nvPr/>
        </p:nvSpPr>
        <p:spPr>
          <a:xfrm>
            <a:off x="6216395" y="1556056"/>
            <a:ext cx="5361312" cy="613784"/>
          </a:xfrm>
          <a:prstGeom prst="rect">
            <a:avLst/>
          </a:prstGeom>
          <a:solidFill>
            <a:srgbClr val="FFFFFF">
              <a:alpha val="3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" name="Google Shape;27;p33"/>
          <p:cNvSpPr/>
          <p:nvPr/>
        </p:nvSpPr>
        <p:spPr>
          <a:xfrm>
            <a:off x="638677" y="1556792"/>
            <a:ext cx="5361312" cy="613784"/>
          </a:xfrm>
          <a:prstGeom prst="rect">
            <a:avLst/>
          </a:prstGeom>
          <a:solidFill>
            <a:srgbClr val="FFFFFF">
              <a:alpha val="3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" name="Google Shape;28;p3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pic>
        <p:nvPicPr>
          <p:cNvPr id="33" name="Google Shape;33;p33">
            <a:hlinkClick r:id="" action="ppaction://hlinkshowjump?jump=nextslide"/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13849" y="6309320"/>
            <a:ext cx="405329" cy="450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3">
            <a:hlinkClick r:id="" action="ppaction://hlinkshowjump?jump=previousslide"/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62622" y="6309320"/>
            <a:ext cx="405329" cy="450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7" name="Google Shape;37;p34">
            <a:hlinkClick r:id="" action="ppaction://hlinkshowjump?jump=previousslide"/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62622" y="6309320"/>
            <a:ext cx="405329" cy="450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80000">
              <a:srgbClr val="0F243E"/>
            </a:gs>
            <a:gs pos="100000">
              <a:srgbClr val="538CD5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sz="4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609600" y="1268760"/>
            <a:ext cx="10972800" cy="5328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pic>
        <p:nvPicPr>
          <p:cNvPr id="12" name="Google Shape;12;p29" descr="C:\Users\jw\Documents\Visual Studio 2010\Projects\JSBubbles\JSBubbles.Game\images\themes\metro\Next.png">
            <a:hlinkClick r:id="" action="ppaction://hlinkshowjump?jump=nextslide"/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72039" y="6348019"/>
            <a:ext cx="5334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11520" y="6343213"/>
            <a:ext cx="533475" cy="400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9">
            <a:hlinkClick r:id="" action="ppaction://hlinkshowjump?jump=firstslide"/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31877" y="6347991"/>
            <a:ext cx="533475" cy="400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9">
            <a:hlinkClick r:id="" action="ppaction://hlinkshowjump?jump=previousslide"/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206401" y="6338466"/>
            <a:ext cx="558879" cy="41915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9"/>
          <p:cNvSpPr/>
          <p:nvPr/>
        </p:nvSpPr>
        <p:spPr>
          <a:xfrm>
            <a:off x="5415345" y="6525344"/>
            <a:ext cx="1484508" cy="360040"/>
          </a:xfrm>
          <a:prstGeom prst="rect">
            <a:avLst/>
          </a:prstGeom>
          <a:blipFill rotWithShape="1">
            <a:blip r:embed="rId11">
              <a:alphaModFix amt="3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end4web.com/apps/dairy_plant/dairy_plant.html?v=93906d9bd04fe610df690c519724295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gwYjnWCcw18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p37Hz1t1Q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0MXZ6AXzT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WFkbqdo2OI4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Fkbqdo2OI4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Fkbqdo2OI4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ly9mK0TGJJo" TargetMode="External"/><Relationship Id="rId3" Type="http://schemas.openxmlformats.org/officeDocument/2006/relationships/hyperlink" Target="https://www.youtube.com/watch?v=e94KggaEAr4" TargetMode="External"/><Relationship Id="rId7" Type="http://schemas.openxmlformats.org/officeDocument/2006/relationships/hyperlink" Target="https://www.youtube.com/watch?v=2MkNoaWJWf4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cussions.unity.com/t/rigidbody-3d-platformer-controller-condfused/847979" TargetMode="External"/><Relationship Id="rId5" Type="http://schemas.openxmlformats.org/officeDocument/2006/relationships/hyperlink" Target="https://www.youtube.com/watch?v=qdskE8PJy6Q&amp;t=9s" TargetMode="External"/><Relationship Id="rId10" Type="http://schemas.openxmlformats.org/officeDocument/2006/relationships/hyperlink" Target="https://discussions.unity.com/t/how-to-get-a-character-to-move-with-a-moving-platform/1720" TargetMode="External"/><Relationship Id="rId4" Type="http://schemas.openxmlformats.org/officeDocument/2006/relationships/hyperlink" Target="https://discussions.unity.com/t/character-controller-vs-rigidbody/909343/5" TargetMode="External"/><Relationship Id="rId9" Type="http://schemas.openxmlformats.org/officeDocument/2006/relationships/hyperlink" Target="https://discussions.unity.com/t/charactercontroller-on-a-moving-platform/684563/7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010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/>
          </a:p>
        </p:txBody>
      </p:sp>
      <p:sp>
        <p:nvSpPr>
          <p:cNvPr id="44" name="Google Shape;44;p1"/>
          <p:cNvSpPr txBox="1">
            <a:spLocks noGrp="1"/>
          </p:cNvSpPr>
          <p:nvPr>
            <p:ph type="subTitle" idx="1"/>
          </p:nvPr>
        </p:nvSpPr>
        <p:spPr>
          <a:xfrm>
            <a:off x="914400" y="3212975"/>
            <a:ext cx="10447500" cy="28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Clr>
                <a:srgbClr val="FFFF00"/>
              </a:buClr>
            </a:pPr>
            <a:r>
              <a:rPr lang="en-GB" b="1">
                <a:solidFill>
                  <a:srgbClr val="FFFF00"/>
                </a:solidFill>
              </a:rPr>
              <a:t>5MMCS007W/5CCGD013W					 Lecture 10</a:t>
            </a:r>
            <a:endParaRPr lang="en-US"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b="1">
                <a:solidFill>
                  <a:srgbClr val="FFFF00"/>
                </a:solidFill>
              </a:rPr>
              <a:t>	</a:t>
            </a:r>
            <a:endParaRPr lang="en-GB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None/>
            </a:pPr>
            <a:r>
              <a:rPr lang="en-GB" b="1">
                <a:solidFill>
                  <a:srgbClr val="FFFF00"/>
                </a:solidFill>
              </a:rPr>
              <a:t>Unity Physics /Collision</a:t>
            </a:r>
            <a:endParaRPr b="1">
              <a:solidFill>
                <a:srgbClr val="FFFF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solidFill>
                <a:srgbClr val="FF000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700" u="sng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https://www.blend4web.com/apps/dairy_plant/dairy_plant.html?v=93906d9bd04fe610df690c519724295f</a:t>
            </a:r>
            <a:endParaRPr sz="1700">
              <a:solidFill>
                <a:schemeClr val="hlink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r>
              <a:rPr lang="en-GB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https://www.youtube.com/watch?v=gwYjnWCcw18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51" name="Google Shape;51;p28"/>
          <p:cNvSpPr txBox="1"/>
          <p:nvPr/>
        </p:nvSpPr>
        <p:spPr>
          <a:xfrm>
            <a:off x="609600" y="1421654"/>
            <a:ext cx="10890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3600"/>
            </a:pPr>
            <a:r>
              <a:rPr lang="en-GB" sz="3600" b="1" i="0" u="none" strike="noStrike" cap="none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UI </a:t>
            </a: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Physics, Collision and Triggering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eb2923022_0_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Google Shape;58;g11eb2923022_0_0">
            <a:extLst>
              <a:ext uri="{FF2B5EF4-FFF2-40B4-BE49-F238E27FC236}">
                <a16:creationId xmlns:a16="http://schemas.microsoft.com/office/drawing/2014/main" id="{391B0160-FA78-DBD4-2223-7289CF946003}"/>
              </a:ext>
            </a:extLst>
          </p:cNvPr>
          <p:cNvSpPr txBox="1"/>
          <p:nvPr/>
        </p:nvSpPr>
        <p:spPr>
          <a:xfrm>
            <a:off x="609600" y="1193054"/>
            <a:ext cx="10890600" cy="123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600" b="1" err="1">
                <a:solidFill>
                  <a:srgbClr val="FFFF00"/>
                </a:solidFill>
                <a:latin typeface="Quattrocento Sans"/>
                <a:cs typeface="Calibri"/>
                <a:sym typeface="Quattrocento Sans"/>
              </a:rPr>
              <a:t>GameObject</a:t>
            </a:r>
            <a:r>
              <a:rPr lang="en-GB" sz="3600" b="1">
                <a:solidFill>
                  <a:srgbClr val="FFFF00"/>
                </a:solidFill>
                <a:latin typeface="Quattrocento Sans"/>
                <a:cs typeface="Calibri"/>
                <a:sym typeface="Quattrocento Sans"/>
              </a:rPr>
              <a:t> Dynamics Options</a:t>
            </a:r>
            <a:endParaRPr lang="en-GB" sz="3600" b="1">
              <a:solidFill>
                <a:srgbClr val="FFFF00"/>
              </a:solidFill>
              <a:latin typeface="Quattrocento Sans"/>
              <a:cs typeface="Calibri"/>
            </a:endParaRPr>
          </a:p>
          <a:p>
            <a:r>
              <a:rPr lang="en-GB" sz="1800" b="1">
                <a:solidFill>
                  <a:srgbClr val="FFFF00"/>
                </a:solidFill>
                <a:latin typeface="Quattrocento Sans"/>
                <a:sym typeface="Quattrocento Sans"/>
                <a:hlinkClick r:id="rId3"/>
              </a:rPr>
              <a:t>https://www.youtube.com/watch?v=xp37Hz1t1Q8</a:t>
            </a:r>
            <a:r>
              <a:rPr lang="en-GB" sz="1800" b="1">
                <a:solidFill>
                  <a:srgbClr val="FFFF00"/>
                </a:solidFill>
                <a:latin typeface="Quattrocento Sans"/>
                <a:sym typeface="Quattrocento Sans"/>
              </a:rPr>
              <a:t>  </a:t>
            </a:r>
            <a:endParaRPr lang="en-GB" sz="1800"/>
          </a:p>
          <a:p>
            <a:pPr>
              <a:buSzPts val="2000"/>
            </a:pPr>
            <a:endParaRPr lang="en-GB"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2145183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eb2923022_0_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58" name="Google Shape;58;g11eb2923022_0_0"/>
          <p:cNvSpPr txBox="1"/>
          <p:nvPr/>
        </p:nvSpPr>
        <p:spPr>
          <a:xfrm>
            <a:off x="609600" y="1388703"/>
            <a:ext cx="11580518" cy="4912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000"/>
            </a:pPr>
            <a:r>
              <a:rPr lang="en-GB" sz="2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Static </a:t>
            </a:r>
            <a:r>
              <a:rPr lang="en-GB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No Movement, no Effects (Static ticked)</a:t>
            </a:r>
            <a:endParaRPr lang="en-GB" sz="24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buSzPts val="2000"/>
            </a:pPr>
            <a:endParaRPr lang="en-GB" sz="24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>
              <a:buSzPts val="2000"/>
            </a:pPr>
            <a:r>
              <a:rPr lang="en-GB" sz="2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Kinematic </a:t>
            </a:r>
            <a:r>
              <a:rPr lang="en-GB" sz="2400" err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RigidBody</a:t>
            </a:r>
            <a:r>
              <a:rPr lang="en-GB" sz="2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240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RigidBody</a:t>
            </a:r>
            <a:r>
              <a:rPr lang="en-GB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GB" sz="240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IsKinematic</a:t>
            </a:r>
            <a:r>
              <a:rPr lang="en-GB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Static Not ticked)</a:t>
            </a:r>
            <a:endParaRPr lang="en-GB" sz="24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914400" lvl="1" indent="-368300">
              <a:lnSpc>
                <a:spcPct val="114999"/>
              </a:lnSpc>
              <a:buClr>
                <a:srgbClr val="FFFFFF"/>
              </a:buClr>
              <a:buSzPts val="2200"/>
              <a:buFont typeface="Courier New"/>
              <a:buChar char="o"/>
            </a:pPr>
            <a:r>
              <a:rPr lang="en-GB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 be moved, no forces affect it </a:t>
            </a:r>
            <a:endParaRPr lang="en-GB" sz="24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914400" lvl="1" indent="-368300">
              <a:lnSpc>
                <a:spcPct val="114999"/>
              </a:lnSpc>
              <a:buClr>
                <a:srgbClr val="FFFFFF"/>
              </a:buClr>
              <a:buSzPts val="2200"/>
              <a:buFont typeface="Courier New"/>
              <a:buChar char="o"/>
            </a:pPr>
            <a:r>
              <a:rPr lang="en-GB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 can affect Dynamic </a:t>
            </a:r>
            <a:r>
              <a:rPr lang="en-GB" sz="2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RigidBody</a:t>
            </a:r>
            <a:r>
              <a:rPr lang="en-GB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Game Objects</a:t>
            </a:r>
          </a:p>
          <a:p>
            <a:pPr marL="914400" lvl="1" indent="-368300">
              <a:lnSpc>
                <a:spcPct val="114999"/>
              </a:lnSpc>
              <a:buClr>
                <a:srgbClr val="FFFFFF"/>
              </a:buClr>
              <a:buSzPts val="2200"/>
              <a:buFont typeface="Courier New"/>
              <a:buChar char="o"/>
            </a:pPr>
            <a:r>
              <a:rPr lang="en-GB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Unity Transform (Translate, Rotate, etc.) to move it</a:t>
            </a:r>
          </a:p>
          <a:p>
            <a:pPr marL="88900">
              <a:lnSpc>
                <a:spcPct val="114999"/>
              </a:lnSpc>
              <a:buSzPts val="2200"/>
            </a:pPr>
            <a:endParaRPr lang="en-GB" sz="24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88900">
              <a:lnSpc>
                <a:spcPct val="114999"/>
              </a:lnSpc>
              <a:buSzPts val="2200"/>
            </a:pPr>
            <a:r>
              <a:rPr lang="en-GB" sz="24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Dynamic</a:t>
            </a:r>
            <a:r>
              <a:rPr lang="en-GB" sz="2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 err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RigidBody</a:t>
            </a:r>
            <a:r>
              <a:rPr lang="en-GB" sz="24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GB" sz="240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RigidBody</a:t>
            </a:r>
            <a:r>
              <a:rPr lang="en-GB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 No </a:t>
            </a:r>
            <a:r>
              <a:rPr lang="en-GB" sz="240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IsKinematic</a:t>
            </a:r>
            <a:r>
              <a:rPr lang="en-GB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Static Not ticked)</a:t>
            </a:r>
            <a:endParaRPr lang="en-GB" sz="24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914400" lvl="1" indent="-368300">
              <a:lnSpc>
                <a:spcPct val="114999"/>
              </a:lnSpc>
              <a:buClr>
                <a:srgbClr val="FFFFFF"/>
              </a:buClr>
              <a:buSzPts val="2200"/>
              <a:buFont typeface="Courier New"/>
              <a:buChar char="o"/>
            </a:pPr>
            <a:r>
              <a:rPr lang="en-GB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forces affect it and other Game Objects </a:t>
            </a:r>
            <a:endParaRPr lang="en-GB" sz="24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914400" lvl="1" indent="-368300">
              <a:lnSpc>
                <a:spcPct val="114999"/>
              </a:lnSpc>
              <a:buClr>
                <a:srgbClr val="FFFFFF"/>
              </a:buClr>
              <a:buSzPts val="2200"/>
              <a:buFont typeface="Courier New"/>
              <a:buChar char="o"/>
            </a:pPr>
            <a:r>
              <a:rPr lang="en-GB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Unity Physics (</a:t>
            </a:r>
            <a:r>
              <a:rPr lang="en-GB" sz="240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addForce</a:t>
            </a:r>
            <a:r>
              <a:rPr lang="en-GB" sz="2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) to move it</a:t>
            </a:r>
            <a:endParaRPr lang="en-GB" sz="2400"/>
          </a:p>
          <a:p>
            <a:pPr>
              <a:buSzPts val="2000"/>
            </a:pPr>
            <a:endParaRPr lang="en-GB" sz="24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>
              <a:buSzPts val="2000"/>
            </a:pPr>
            <a:r>
              <a:rPr lang="en-GB" sz="24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Gravity </a:t>
            </a:r>
            <a:r>
              <a:rPr lang="en-GB" sz="24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(can be on or off)</a:t>
            </a:r>
            <a:endParaRPr lang="en-GB" sz="240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eb2923022_0_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Google Shape;58;g11eb2923022_0_0">
            <a:extLst>
              <a:ext uri="{FF2B5EF4-FFF2-40B4-BE49-F238E27FC236}">
                <a16:creationId xmlns:a16="http://schemas.microsoft.com/office/drawing/2014/main" id="{A895EA23-C1F3-4A39-9A58-70371D63670A}"/>
              </a:ext>
            </a:extLst>
          </p:cNvPr>
          <p:cNvSpPr txBox="1"/>
          <p:nvPr/>
        </p:nvSpPr>
        <p:spPr>
          <a:xfrm>
            <a:off x="609600" y="1193054"/>
            <a:ext cx="108906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Collisions and Triggers</a:t>
            </a:r>
            <a:endParaRPr lang="en-GB" sz="3600" b="1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>
              <a:buSzPts val="2000"/>
            </a:pPr>
            <a:endParaRPr lang="en-GB"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767566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eb2923022_0_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58" name="Google Shape;58;g11eb2923022_0_0"/>
          <p:cNvSpPr txBox="1"/>
          <p:nvPr/>
        </p:nvSpPr>
        <p:spPr>
          <a:xfrm>
            <a:off x="609600" y="1193054"/>
            <a:ext cx="10890600" cy="4955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000"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Collisions and Triggers</a:t>
            </a:r>
            <a:endParaRPr lang="en-GB" sz="2000">
              <a:solidFill>
                <a:srgbClr val="FFFFFF"/>
              </a:solidFill>
              <a:ea typeface="Quattrocento Sans"/>
              <a:sym typeface="Quattrocento Sans"/>
            </a:endParaRPr>
          </a:p>
          <a:p>
            <a:pPr>
              <a:buSzPts val="2000"/>
            </a:pPr>
            <a:endParaRPr lang="en-GB" sz="2000">
              <a:solidFill>
                <a:srgbClr val="FFFF00"/>
              </a:solidFill>
              <a:ea typeface="Quattrocento Sans"/>
              <a:sym typeface="Quattrocento Sans"/>
            </a:endParaRPr>
          </a:p>
          <a:p>
            <a:pPr>
              <a:buSzPts val="2000"/>
            </a:pPr>
            <a:endParaRPr lang="en-GB" sz="2000">
              <a:solidFill>
                <a:srgbClr val="FFFF00"/>
              </a:solidFill>
              <a:ea typeface="Quattrocento Sans"/>
              <a:sym typeface="Quattrocento Sans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GB" sz="2000">
                <a:solidFill>
                  <a:srgbClr val="FFFF00"/>
                </a:solidFill>
                <a:ea typeface="Quattrocento Sans"/>
                <a:sym typeface="Quattrocento Sans"/>
              </a:rPr>
              <a:t>Collision</a:t>
            </a:r>
            <a:r>
              <a:rPr lang="en-GB" sz="2000">
                <a:solidFill>
                  <a:srgbClr val="FFFF00"/>
                </a:solidFill>
                <a:latin typeface="Quattrocento Sans"/>
              </a:rPr>
              <a:t> Detection - Needs:</a:t>
            </a:r>
            <a:endParaRPr lang="en-GB" sz="2000">
              <a:solidFill>
                <a:srgbClr val="FFFFFF"/>
              </a:solidFill>
              <a:latin typeface="Quattrocento Sans"/>
            </a:endParaRPr>
          </a:p>
          <a:p>
            <a:pPr marL="1016000" lvl="1" indent="-457200">
              <a:buFont typeface="Courier New,monospace"/>
              <a:buChar char="o"/>
            </a:pPr>
            <a:r>
              <a:rPr lang="en-GB" sz="2000">
                <a:solidFill>
                  <a:srgbClr val="FFFFFF"/>
                </a:solidFill>
                <a:latin typeface="Quattrocento Sans"/>
              </a:rPr>
              <a:t>Collider Shape – can be edited to taste</a:t>
            </a:r>
          </a:p>
          <a:p>
            <a:pPr marL="1016000" lvl="1" indent="-457200">
              <a:buFont typeface="Courier New,monospace"/>
              <a:buChar char="o"/>
            </a:pPr>
            <a:r>
              <a:rPr lang="en-GB" sz="2000" err="1">
                <a:solidFill>
                  <a:srgbClr val="FFFFFF"/>
                </a:solidFill>
                <a:latin typeface="Quattrocento Sans"/>
              </a:rPr>
              <a:t>IsTrigger</a:t>
            </a:r>
            <a:r>
              <a:rPr lang="en-GB" sz="2000">
                <a:solidFill>
                  <a:srgbClr val="FFFFFF"/>
                </a:solidFill>
                <a:latin typeface="Quattrocento Sans"/>
              </a:rPr>
              <a:t> in Collider Off</a:t>
            </a:r>
          </a:p>
          <a:p>
            <a:pPr marL="1016000" lvl="1" indent="-457200">
              <a:buFont typeface="Courier New,monospace"/>
              <a:buChar char="o"/>
            </a:pPr>
            <a:r>
              <a:rPr lang="en-GB" sz="2000">
                <a:solidFill>
                  <a:srgbClr val="FFFFFF"/>
                </a:solidFill>
                <a:latin typeface="Quattrocento Sans"/>
              </a:rPr>
              <a:t>OnCollisionEnter(Collision Col)</a:t>
            </a:r>
            <a:endParaRPr lang="en-GB">
              <a:sym typeface="Quattrocento Sans"/>
            </a:endParaRPr>
          </a:p>
          <a:p>
            <a:pPr marL="101600">
              <a:buSzPts val="2000"/>
            </a:pPr>
            <a:endParaRPr lang="en-GB" sz="2000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01600">
              <a:buSzPts val="2000"/>
            </a:pPr>
            <a:r>
              <a:rPr lang="en-GB" sz="2000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Trigger Detection – Needs</a:t>
            </a:r>
            <a:endParaRPr lang="en-GB" sz="2000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  <a:p>
            <a:pPr marL="1016000" lvl="1" indent="-457200">
              <a:buClr>
                <a:srgbClr val="FFFFFF"/>
              </a:buClr>
              <a:buSzPts val="2000"/>
              <a:buFont typeface="Courier New"/>
              <a:buChar char="o"/>
            </a:pPr>
            <a:r>
              <a:rPr lang="en-GB" sz="2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Collider Shape – can be edited to taste</a:t>
            </a:r>
            <a:endParaRPr lang="en-GB" sz="2000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pPr marL="1016000" lvl="1" indent="-457200">
              <a:buClr>
                <a:srgbClr val="FFFFFF"/>
              </a:buClr>
              <a:buSzPts val="2000"/>
              <a:buFont typeface="Courier New"/>
              <a:buChar char="o"/>
            </a:pPr>
            <a:r>
              <a:rPr lang="en-GB" sz="2000" err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IsTrigger</a:t>
            </a:r>
            <a:r>
              <a:rPr lang="en-GB" sz="2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 Collider On</a:t>
            </a:r>
            <a:endParaRPr lang="en-GB" sz="2000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pPr marL="1016000" lvl="1" indent="-457200">
              <a:buClr>
                <a:srgbClr val="FFFFFF"/>
              </a:buClr>
              <a:buSzPts val="2000"/>
              <a:buFont typeface="Courier New"/>
              <a:buChar char="o"/>
            </a:pPr>
            <a:r>
              <a:rPr lang="en-GB" sz="2000" err="1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OnTriggerEnter</a:t>
            </a:r>
            <a:r>
              <a:rPr lang="en-GB" sz="2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(Collider Other)</a:t>
            </a:r>
            <a:endParaRPr lang="en-GB" sz="2000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pPr marL="1016000" lvl="1" indent="-457200">
              <a:buClr>
                <a:srgbClr val="FFFFFF"/>
              </a:buClr>
              <a:buSzPts val="2000"/>
              <a:buFont typeface="Courier New"/>
              <a:buChar char="o"/>
            </a:pPr>
            <a:endParaRPr lang="en-GB" sz="20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016000" lvl="1" indent="-457200">
              <a:buClr>
                <a:srgbClr val="FFFFFF"/>
              </a:buClr>
              <a:buSzPts val="2000"/>
              <a:buFont typeface="Courier New"/>
              <a:buChar char="o"/>
            </a:pPr>
            <a:endParaRPr lang="en-GB" sz="2000">
              <a:solidFill>
                <a:srgbClr val="FFFFFF"/>
              </a:solidFill>
              <a:latin typeface="Quattrocento Sans"/>
              <a:ea typeface="Quattrocento Sans"/>
              <a:cs typeface="Quattrocento Sans"/>
            </a:endParaRPr>
          </a:p>
          <a:p>
            <a:pPr>
              <a:buSzPts val="2000"/>
            </a:pPr>
            <a:endParaRPr lang="en-GB"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1719462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eb2923022_0_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58" name="Google Shape;58;g11eb2923022_0_0"/>
          <p:cNvSpPr txBox="1"/>
          <p:nvPr/>
        </p:nvSpPr>
        <p:spPr>
          <a:xfrm>
            <a:off x="609600" y="1388702"/>
            <a:ext cx="1158051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000"/>
            </a:pPr>
            <a:r>
              <a:rPr lang="en-GB" sz="3600">
                <a:solidFill>
                  <a:srgbClr val="FFFF00"/>
                </a:solidFill>
                <a:latin typeface="Calibri"/>
                <a:cs typeface="Calibri"/>
                <a:sym typeface="Calibri"/>
              </a:rPr>
              <a:t>Unity Collider and Trigger Matrix</a:t>
            </a:r>
            <a:endParaRPr lang="en-GB" sz="3600">
              <a:solidFill>
                <a:srgbClr val="FFFF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7500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1eb2923022_0_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pic>
        <p:nvPicPr>
          <p:cNvPr id="65" name="Google Shape;65;g11eb2923022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550" y="1255738"/>
            <a:ext cx="9650420" cy="5428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eb2923022_0_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Google Shape;72;g11eb2923022_0_21">
            <a:extLst>
              <a:ext uri="{FF2B5EF4-FFF2-40B4-BE49-F238E27FC236}">
                <a16:creationId xmlns:a16="http://schemas.microsoft.com/office/drawing/2014/main" id="{F4DDF4D5-E345-05D2-9ACD-837CD2723B58}"/>
              </a:ext>
            </a:extLst>
          </p:cNvPr>
          <p:cNvSpPr txBox="1"/>
          <p:nvPr/>
        </p:nvSpPr>
        <p:spPr>
          <a:xfrm>
            <a:off x="609600" y="1149922"/>
            <a:ext cx="1158071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3600"/>
            </a:pPr>
            <a:r>
              <a:rPr lang="en-GB" sz="3600" b="1">
                <a:solidFill>
                  <a:srgbClr val="FFFF00"/>
                </a:solidFill>
                <a:latin typeface="Calibri"/>
                <a:ea typeface="Quattrocento Sans"/>
                <a:cs typeface="Quattrocento Sans"/>
                <a:sym typeface="Quattrocento Sans"/>
              </a:rPr>
              <a:t>Unity Collisions for Triggers</a:t>
            </a:r>
            <a:endParaRPr lang="en-GB" sz="22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5341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eb2923022_0_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72" name="Google Shape;72;g11eb2923022_0_21"/>
          <p:cNvSpPr txBox="1"/>
          <p:nvPr/>
        </p:nvSpPr>
        <p:spPr>
          <a:xfrm>
            <a:off x="609600" y="1149922"/>
            <a:ext cx="11580713" cy="531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3600"/>
            </a:pPr>
            <a:r>
              <a:rPr lang="en-GB" sz="3600" b="1">
                <a:solidFill>
                  <a:srgbClr val="FFFF00"/>
                </a:solidFill>
                <a:latin typeface="Calibri"/>
                <a:ea typeface="Quattrocento Sans"/>
                <a:cs typeface="Quattrocento Sans"/>
                <a:sym typeface="Quattrocento Sans"/>
              </a:rPr>
              <a:t>Unity Collisions for Triggers </a:t>
            </a:r>
            <a:r>
              <a:rPr lang="en-GB" sz="2000">
                <a:solidFill>
                  <a:srgbClr val="FFFFFF"/>
                </a:solidFill>
                <a:latin typeface="Calibri"/>
                <a:ea typeface="Quattrocento Sans"/>
                <a:cs typeface="Calibri"/>
                <a:sym typeface="Quattrocento Sans"/>
              </a:rPr>
              <a:t>Does</a:t>
            </a:r>
            <a:r>
              <a:rPr lang="en-GB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not "Collide", detects intersection for trigger</a:t>
            </a:r>
            <a:endParaRPr lang="en-GB" sz="2000" u="sng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15000"/>
              </a:lnSpc>
            </a:pP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Needs: Collider Shape and Script for Trigger Detection - </a:t>
            </a:r>
            <a:r>
              <a:rPr lang="en-GB" sz="2200" err="1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OnTriggerEnter</a:t>
            </a:r>
            <a:r>
              <a:rPr lang="en-GB" sz="22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(Collider other)</a:t>
            </a:r>
            <a:endParaRPr sz="2200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  <a:p>
            <a:pPr marL="914400" lvl="1" indent="-361950">
              <a:lnSpc>
                <a:spcPct val="115000"/>
              </a:lnSpc>
              <a:buClr>
                <a:srgbClr val="FFFF00"/>
              </a:buClr>
              <a:buSzPts val="2100"/>
              <a:buFont typeface="Calibri"/>
              <a:buAutoNum type="arabicPeriod"/>
            </a:pPr>
            <a:r>
              <a:rPr lang="en-GB" sz="220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Dynamics: Objects can be Static or Non Static (Animated, Scripted Movement, </a:t>
            </a:r>
            <a:r>
              <a:rPr lang="en-GB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Physics</a:t>
            </a:r>
            <a:r>
              <a:rPr lang="en-GB" sz="220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200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  <a:p>
            <a:pPr marL="1371600" lvl="2" indent="-361950">
              <a:lnSpc>
                <a:spcPct val="115000"/>
              </a:lnSpc>
              <a:buClr>
                <a:srgbClr val="FFFF00"/>
              </a:buClr>
              <a:buSzPts val="2100"/>
              <a:buFont typeface="Calibri"/>
              <a:buAutoNum type="arabicPeriod"/>
            </a:pP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Static Collider – cannot have two!</a:t>
            </a:r>
            <a:endParaRPr sz="22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1371600" lvl="2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Calibri"/>
              <a:buAutoNum type="arabicPeriod"/>
            </a:pP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Static Trigger Collider</a:t>
            </a:r>
            <a:endParaRPr sz="22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1371600" lvl="2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Calibri"/>
              <a:buAutoNum type="arabicPeriod"/>
            </a:pP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Collider</a:t>
            </a:r>
            <a:endParaRPr sz="22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1371600" lvl="2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Calibri"/>
              <a:buAutoNum type="arabicPeriod"/>
            </a:pP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Trigger Collider</a:t>
            </a:r>
            <a:endParaRPr sz="22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Calibri"/>
              <a:buAutoNum type="arabicPeriod"/>
            </a:pPr>
            <a:r>
              <a:rPr lang="en-GB" sz="220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Trigger Collider</a:t>
            </a:r>
            <a:endParaRPr sz="2200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  <a:p>
            <a:pPr marL="1371600" lvl="2" indent="-361950">
              <a:lnSpc>
                <a:spcPct val="115000"/>
              </a:lnSpc>
              <a:buClr>
                <a:srgbClr val="FFFF00"/>
              </a:buClr>
              <a:buSzPts val="2100"/>
              <a:buFont typeface="Calibri"/>
              <a:buAutoNum type="arabicPeriod"/>
            </a:pPr>
            <a:r>
              <a:rPr lang="en-GB" sz="2200" err="1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IsTrigger</a:t>
            </a:r>
            <a:r>
              <a:rPr lang="en-GB" sz="220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 On</a:t>
            </a: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GB" sz="2200" i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Objects Now Pass through</a:t>
            </a: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, needs overlap, not collision !</a:t>
            </a:r>
            <a:endParaRPr sz="22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1371600" lvl="2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00"/>
              <a:buFont typeface="Calibri"/>
              <a:buAutoNum type="arabicPeriod"/>
            </a:pP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Detects if another collider entered</a:t>
            </a:r>
            <a:endParaRPr sz="22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1371600" lvl="2" indent="-361950">
              <a:lnSpc>
                <a:spcPct val="114999"/>
              </a:lnSpc>
              <a:buClr>
                <a:srgbClr val="FFFF00"/>
              </a:buClr>
              <a:buSzPts val="2100"/>
              <a:buAutoNum type="arabicPeriod"/>
            </a:pPr>
            <a:r>
              <a:rPr lang="en-GB" sz="220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IsKinematic</a:t>
            </a: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 RB Collider to </a:t>
            </a:r>
            <a:r>
              <a:rPr lang="en-GB" sz="220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IsKinematic</a:t>
            </a: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 RB Collider do not need </a:t>
            </a:r>
            <a:r>
              <a:rPr lang="en-GB" sz="220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IsTrigger</a:t>
            </a:r>
            <a:r>
              <a:rPr lang="en-GB" sz="22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 On</a:t>
            </a:r>
            <a:endParaRPr lang="en-GB" sz="2200">
              <a:solidFill>
                <a:schemeClr val="bg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1950">
              <a:lnSpc>
                <a:spcPct val="114999"/>
              </a:lnSpc>
              <a:buClr>
                <a:srgbClr val="FFFF00"/>
              </a:buClr>
              <a:buSzPts val="2100"/>
              <a:buAutoNum type="arabicPeriod"/>
            </a:pP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Moving a static object will give unwanted results</a:t>
            </a:r>
            <a:endParaRPr lang="en-GB" sz="22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914400" lvl="1" indent="-361950">
              <a:lnSpc>
                <a:spcPct val="114999"/>
              </a:lnSpc>
              <a:buClr>
                <a:srgbClr val="FFFF00"/>
              </a:buClr>
              <a:buSzPts val="2100"/>
              <a:buAutoNum type="arabicPeriod"/>
            </a:pP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Script: Use </a:t>
            </a:r>
            <a:r>
              <a:rPr lang="en-GB" sz="2200" err="1">
                <a:solidFill>
                  <a:srgbClr val="00B0F0"/>
                </a:solidFill>
                <a:latin typeface="Calibri"/>
                <a:ea typeface="Calibri"/>
              </a:rPr>
              <a:t>OnTriggerEnter</a:t>
            </a:r>
            <a:r>
              <a:rPr lang="en-GB" sz="2200">
                <a:solidFill>
                  <a:srgbClr val="00B0F0"/>
                </a:solidFill>
                <a:latin typeface="Calibri"/>
                <a:ea typeface="Calibri"/>
              </a:rPr>
              <a:t>(Collider other)</a:t>
            </a:r>
            <a:r>
              <a:rPr lang="en-GB" sz="2200">
                <a:solidFill>
                  <a:schemeClr val="bg2"/>
                </a:solidFill>
                <a:latin typeface="Calibri"/>
                <a:ea typeface="Calibri"/>
              </a:rPr>
              <a:t> </a:t>
            </a:r>
            <a:r>
              <a:rPr lang="en-GB" sz="2200">
                <a:solidFill>
                  <a:srgbClr val="FFFF00"/>
                </a:solidFill>
                <a:latin typeface="Calibri"/>
                <a:ea typeface="Calibri"/>
              </a:rPr>
              <a:t>to perform functions upon detection</a:t>
            </a:r>
            <a:endParaRPr lang="en-GB" sz="22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1eb2923022_0_4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79" name="Google Shape;79;g11eb2923022_0_49"/>
          <p:cNvSpPr txBox="1"/>
          <p:nvPr/>
        </p:nvSpPr>
        <p:spPr>
          <a:xfrm>
            <a:off x="609600" y="1193054"/>
            <a:ext cx="10890600" cy="1336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Collisions again</a:t>
            </a:r>
            <a:endParaRPr sz="36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1eb2923022_0_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94" name="Google Shape;94;g11eb2923022_0_36"/>
          <p:cNvSpPr txBox="1"/>
          <p:nvPr/>
        </p:nvSpPr>
        <p:spPr>
          <a:xfrm>
            <a:off x="609600" y="1193050"/>
            <a:ext cx="11133000" cy="453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Collisions</a:t>
            </a:r>
            <a:endParaRPr sz="36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Collider hitting Rigid Body/Collider (for Collision Detection)</a:t>
            </a:r>
            <a:r>
              <a:rPr lang="en-GB" sz="23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3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This is true Collision Detection, not Triggering  in slide above</a:t>
            </a:r>
            <a:endParaRPr sz="23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Collision and Physics: </a:t>
            </a:r>
            <a:r>
              <a:rPr lang="en-GB" sz="230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OnCollisonEnter</a:t>
            </a:r>
            <a:r>
              <a:rPr lang="en-GB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(Collision col)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Calibri"/>
              <a:buAutoNum type="arabicPeriod"/>
            </a:pPr>
            <a:r>
              <a:rPr lang="en-GB" sz="2200" err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RigidBody</a:t>
            </a: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enables a collision - Solid</a:t>
            </a:r>
            <a:endParaRPr sz="2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Calibri"/>
              <a:buAutoNum type="arabicPeriod"/>
            </a:pP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True RB - should only move by forces - ideal situation</a:t>
            </a:r>
            <a:endParaRPr sz="2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Calibri"/>
              <a:buAutoNum type="arabicPeriod"/>
            </a:pPr>
            <a:r>
              <a:rPr lang="en-GB" sz="2200" err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IsKinematic</a:t>
            </a: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RB, or No RB can use movement scripting</a:t>
            </a:r>
            <a:endParaRPr sz="2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Calibri"/>
              <a:buAutoNum type="arabicPeriod"/>
            </a:pPr>
            <a:r>
              <a:rPr lang="en-GB" sz="2200" err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IsTrigger</a:t>
            </a:r>
            <a:r>
              <a:rPr lang="en-GB" sz="2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Off enables a collision - Solid</a:t>
            </a:r>
            <a:endParaRPr sz="3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eb2923022_0_2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87" name="Google Shape;87;g11eb2923022_0_29"/>
          <p:cNvSpPr txBox="1"/>
          <p:nvPr/>
        </p:nvSpPr>
        <p:spPr>
          <a:xfrm>
            <a:off x="609600" y="1193050"/>
            <a:ext cx="11133000" cy="5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Collisions</a:t>
            </a:r>
            <a:endParaRPr sz="36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16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Collider hitting Rigid Body/Collider (Collision Detection) </a:t>
            </a:r>
            <a:endParaRPr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This is true Collision Detection, not Triggering  in slide above</a:t>
            </a:r>
            <a:endParaRPr sz="23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Gravity</a:t>
            </a:r>
            <a:r>
              <a:rPr lang="en-GB" sz="23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- on off</a:t>
            </a:r>
            <a:endParaRPr sz="23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rPr>
              <a:t>Static</a:t>
            </a:r>
            <a:r>
              <a:rPr lang="en-GB" sz="23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- No Movement, no effects</a:t>
            </a:r>
            <a:endParaRPr sz="23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Kinematic </a:t>
            </a:r>
            <a:r>
              <a:rPr lang="en-GB" sz="2300" b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GB" sz="23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Can be moved, no forces affect - on off</a:t>
            </a:r>
            <a:endParaRPr sz="23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300" err="1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IsKinematic</a:t>
            </a:r>
            <a:r>
              <a:rPr lang="en-GB" sz="2300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 On - Use Transform</a:t>
            </a:r>
            <a:endParaRPr sz="2300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8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Dynamic </a:t>
            </a:r>
            <a:r>
              <a:rPr lang="en-GB" sz="2300" b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- Physics, Rigid Body - </a:t>
            </a:r>
            <a:r>
              <a:rPr lang="en-GB" sz="23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all forces affect it and others</a:t>
            </a:r>
            <a:endParaRPr sz="23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28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Controls whether physics affects the </a:t>
            </a:r>
            <a:r>
              <a:rPr lang="en-GB" sz="2300" err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rigidbody</a:t>
            </a:r>
            <a:r>
              <a:rPr lang="en-GB" sz="23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3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28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err="1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IsKinematic</a:t>
            </a:r>
            <a:r>
              <a:rPr lang="en-GB" sz="2300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 off - Use forces</a:t>
            </a:r>
            <a:endParaRPr sz="2300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Collision and Physics:</a:t>
            </a:r>
            <a:endParaRPr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GB" sz="2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https://www.youtube.com/watch?v=S0MXZ6AXzTE</a:t>
            </a:r>
            <a:r>
              <a:rPr lang="en-GB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eb2923022_0_6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01" name="Google Shape;101;g11eb2923022_0_60"/>
          <p:cNvSpPr txBox="1"/>
          <p:nvPr/>
        </p:nvSpPr>
        <p:spPr>
          <a:xfrm>
            <a:off x="609600" y="1193050"/>
            <a:ext cx="11133000" cy="524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3600"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Collisions Dynamics Options</a:t>
            </a:r>
            <a:endParaRPr sz="36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457200">
              <a:lnSpc>
                <a:spcPct val="115000"/>
              </a:lnSpc>
            </a:pPr>
            <a:r>
              <a:rPr lang="en-GB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Game Objects with </a:t>
            </a:r>
            <a:r>
              <a:rPr lang="en-GB" sz="2000" err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RigidBody</a:t>
            </a:r>
            <a:r>
              <a:rPr lang="en-GB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, Collision:</a:t>
            </a:r>
            <a:endParaRPr sz="20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1371600" lvl="2" indent="-336550">
              <a:lnSpc>
                <a:spcPct val="115000"/>
              </a:lnSpc>
              <a:buClr>
                <a:srgbClr val="FFFF00"/>
              </a:buClr>
              <a:buSzPts val="1700"/>
              <a:buFont typeface="Calibri"/>
              <a:buAutoNum type="arabicPeriod"/>
            </a:pPr>
            <a:r>
              <a:rPr lang="en-GB" sz="20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Static – no movement, no effects</a:t>
            </a:r>
          </a:p>
          <a:p>
            <a:pPr marL="1371600" lvl="2" indent="-33655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700"/>
              <a:buAutoNum type="arabicPeriod"/>
            </a:pPr>
            <a:r>
              <a:rPr lang="en-GB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Gravity On - Will fall</a:t>
            </a:r>
            <a:endParaRPr sz="20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700"/>
              <a:buFont typeface="Calibri"/>
              <a:buAutoNum type="arabicPeriod"/>
            </a:pPr>
            <a:r>
              <a:rPr lang="en-GB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Gravity Off, </a:t>
            </a:r>
            <a:r>
              <a:rPr lang="en-GB" sz="2000" err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IsKinematic</a:t>
            </a:r>
            <a:r>
              <a:rPr lang="en-GB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Off</a:t>
            </a:r>
            <a:endParaRPr sz="20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1492250"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700"/>
            </a:pPr>
            <a:r>
              <a:rPr lang="en-GB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Acts as Static, but forces affect</a:t>
            </a:r>
            <a:endParaRPr sz="20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1371600" lvl="2" indent="-336550">
              <a:lnSpc>
                <a:spcPct val="115000"/>
              </a:lnSpc>
              <a:buClr>
                <a:srgbClr val="FFFF00"/>
              </a:buClr>
              <a:buSzPts val="1700"/>
              <a:buFont typeface="Calibri"/>
              <a:buAutoNum type="arabicPeriod"/>
            </a:pPr>
            <a:r>
              <a:rPr lang="en-GB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Kinematic: </a:t>
            </a:r>
            <a:r>
              <a:rPr lang="en-GB" sz="2000" err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IsKinematic</a:t>
            </a:r>
            <a:r>
              <a:rPr lang="en-GB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on, Gravity on</a:t>
            </a:r>
          </a:p>
          <a:p>
            <a:pPr marL="1828800" lvl="3" indent="-336550">
              <a:lnSpc>
                <a:spcPct val="114999"/>
              </a:lnSpc>
              <a:buClr>
                <a:srgbClr val="FFFF00"/>
              </a:buClr>
              <a:buSzPts val="1700"/>
              <a:buChar char="•"/>
            </a:pPr>
            <a:r>
              <a:rPr lang="en-GB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May be moved, but not affected by forces</a:t>
            </a:r>
          </a:p>
          <a:p>
            <a:pPr marL="1828800" lvl="3" indent="-336550">
              <a:lnSpc>
                <a:spcPct val="114999"/>
              </a:lnSpc>
              <a:buClr>
                <a:srgbClr val="FFFF00"/>
              </a:buClr>
              <a:buSzPts val="1700"/>
              <a:buChar char="•"/>
            </a:pPr>
            <a:r>
              <a:rPr lang="en-GB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Compare to Static collider: SC Is not calculated for – optimised</a:t>
            </a:r>
            <a:endParaRPr lang="en-GB" sz="20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1828800" lvl="3" indent="-336550">
              <a:lnSpc>
                <a:spcPct val="114999"/>
              </a:lnSpc>
              <a:buClr>
                <a:srgbClr val="FFFF00"/>
              </a:buClr>
              <a:buSzPts val="1700"/>
              <a:buChar char="•"/>
            </a:pPr>
            <a:r>
              <a:rPr lang="en-GB" sz="2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Is Kinematic cancels out Gravity</a:t>
            </a:r>
            <a:endParaRPr lang="en-GB" sz="200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 marL="1371600" lvl="2" indent="-336550">
              <a:lnSpc>
                <a:spcPct val="115000"/>
              </a:lnSpc>
              <a:buClr>
                <a:srgbClr val="FFFF00"/>
              </a:buClr>
              <a:buSzPts val="1700"/>
              <a:buAutoNum type="arabicPeriod"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Kinematic: </a:t>
            </a:r>
            <a:r>
              <a:rPr lang="en-GB" sz="200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IsKinematic</a:t>
            </a: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On, Gravity Off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  <a:p>
            <a:pPr marL="1492250" lvl="3">
              <a:lnSpc>
                <a:spcPct val="114999"/>
              </a:lnSpc>
            </a:pPr>
            <a:r>
              <a:rPr lang="en-GB" sz="2000">
                <a:solidFill>
                  <a:srgbClr val="FF0000"/>
                </a:solidFill>
                <a:latin typeface="Calibri"/>
                <a:cs typeface="Calibri"/>
              </a:rPr>
              <a:t>Acts as static, but is real collision</a:t>
            </a:r>
            <a:endParaRPr lang="en-GB">
              <a:solidFill>
                <a:srgbClr val="FF0000"/>
              </a:solidFill>
            </a:endParaRPr>
          </a:p>
          <a:p>
            <a:pPr marL="1371600" lvl="2" indent="-336550">
              <a:lnSpc>
                <a:spcPct val="114999"/>
              </a:lnSpc>
              <a:buClr>
                <a:srgbClr val="FFFF00"/>
              </a:buClr>
              <a:buSzPts val="1700"/>
              <a:buAutoNum type="arabicPeriod"/>
            </a:pPr>
            <a:r>
              <a:rPr lang="en-GB" sz="20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Dynamic: </a:t>
            </a:r>
            <a:r>
              <a:rPr lang="en-GB" sz="200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IsKinematic</a:t>
            </a:r>
            <a:r>
              <a:rPr lang="en-GB" sz="20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 Off, Gravity On or Off</a:t>
            </a:r>
          </a:p>
          <a:p>
            <a:pPr marL="1492250" lvl="3">
              <a:lnSpc>
                <a:spcPct val="114999"/>
              </a:lnSpc>
              <a:buClr>
                <a:srgbClr val="FFFF00"/>
              </a:buClr>
              <a:buSzPts val="1700"/>
            </a:pPr>
            <a:r>
              <a:rPr lang="en-GB" sz="200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Uses Forces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8D70E0A9-9EB7-E283-9C67-1C80F829E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eb2923022_0_60">
            <a:extLst>
              <a:ext uri="{FF2B5EF4-FFF2-40B4-BE49-F238E27FC236}">
                <a16:creationId xmlns:a16="http://schemas.microsoft.com/office/drawing/2014/main" id="{595532BE-3439-3481-B979-0F25CF2952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 dirty="0"/>
              <a:t>XR Multimodal Interaction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01" name="Google Shape;101;g11eb2923022_0_60">
            <a:extLst>
              <a:ext uri="{FF2B5EF4-FFF2-40B4-BE49-F238E27FC236}">
                <a16:creationId xmlns:a16="http://schemas.microsoft.com/office/drawing/2014/main" id="{729267B8-3AEE-3F55-1472-081C4AF36251}"/>
              </a:ext>
            </a:extLst>
          </p:cNvPr>
          <p:cNvSpPr txBox="1"/>
          <p:nvPr/>
        </p:nvSpPr>
        <p:spPr>
          <a:xfrm>
            <a:off x="609600" y="1193050"/>
            <a:ext cx="111330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3600"/>
            </a:pPr>
            <a:r>
              <a:rPr lang="en-GB" sz="36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Linking it to XRIT…</a:t>
            </a:r>
          </a:p>
          <a:p>
            <a:pPr>
              <a:buSzPts val="3600"/>
            </a:pPr>
            <a:endParaRPr lang="en-GB" sz="20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r>
              <a:rPr lang="en-US" sz="28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A </a:t>
            </a:r>
            <a:r>
              <a:rPr lang="en-US" sz="28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Rigidbody</a:t>
            </a:r>
            <a:r>
              <a:rPr lang="en-US" sz="28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 is required for an object to be grabbable using the Unity XR Interaction Toolkit (XRIT) </a:t>
            </a:r>
            <a:r>
              <a:rPr lang="en-US" sz="28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XRGrabInteractable</a:t>
            </a:r>
            <a:r>
              <a:rPr lang="en-US" sz="28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 component. </a:t>
            </a:r>
          </a:p>
          <a:p>
            <a:pPr>
              <a:buSzPts val="3600"/>
            </a:pPr>
            <a:endParaRPr lang="en-US" sz="28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r>
              <a:rPr lang="en-US" sz="28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Automatic Addition: When you add an </a:t>
            </a:r>
            <a:r>
              <a:rPr lang="en-US" sz="28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XRGrabInteractable</a:t>
            </a:r>
            <a:r>
              <a:rPr lang="en-US" sz="28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 component to a </a:t>
            </a:r>
            <a:r>
              <a:rPr lang="en-US" sz="28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GameObject</a:t>
            </a:r>
            <a:r>
              <a:rPr lang="en-US" sz="28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, Unity will automatically add a </a:t>
            </a:r>
            <a:r>
              <a:rPr lang="en-US" sz="28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Rigidbody</a:t>
            </a:r>
            <a:r>
              <a:rPr lang="en-US" sz="28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 component if one is not already present. </a:t>
            </a:r>
          </a:p>
          <a:p>
            <a:pPr>
              <a:buSzPts val="3600"/>
            </a:pPr>
            <a:endParaRPr lang="en-US" sz="16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endParaRPr lang="en-GB" sz="20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endParaRPr lang="en-GB" sz="20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endParaRPr lang="en-GB" sz="20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74037F-BCF2-2E4B-F372-BCF4E8694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10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3CCB7DE3-BB46-DB75-836D-976B20FAE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eb2923022_0_60">
            <a:extLst>
              <a:ext uri="{FF2B5EF4-FFF2-40B4-BE49-F238E27FC236}">
                <a16:creationId xmlns:a16="http://schemas.microsoft.com/office/drawing/2014/main" id="{B91A6263-DD58-04ED-E693-D93B24DD0D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 dirty="0"/>
              <a:t>XR Multimodal Interaction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01" name="Google Shape;101;g11eb2923022_0_60">
            <a:extLst>
              <a:ext uri="{FF2B5EF4-FFF2-40B4-BE49-F238E27FC236}">
                <a16:creationId xmlns:a16="http://schemas.microsoft.com/office/drawing/2014/main" id="{0A83E302-E9EF-C174-602E-FD9FA8128513}"/>
              </a:ext>
            </a:extLst>
          </p:cNvPr>
          <p:cNvSpPr txBox="1"/>
          <p:nvPr/>
        </p:nvSpPr>
        <p:spPr>
          <a:xfrm>
            <a:off x="609600" y="1193050"/>
            <a:ext cx="11133000" cy="529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3600"/>
            </a:pPr>
            <a:r>
              <a:rPr lang="en-GB" sz="24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Key Movement Types for XRIT </a:t>
            </a:r>
            <a:r>
              <a:rPr lang="en-GB" sz="2400" dirty="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Rigidbody</a:t>
            </a:r>
            <a:r>
              <a:rPr lang="en-GB" sz="24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 Handling…</a:t>
            </a:r>
          </a:p>
          <a:p>
            <a:pPr>
              <a:buSzPts val="3600"/>
            </a:pPr>
            <a:endParaRPr lang="en-GB" sz="20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r>
              <a:rPr lang="en-US" sz="24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XRGrabInteractible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24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Rigidbody</a:t>
            </a: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 behavior during interaction</a:t>
            </a:r>
          </a:p>
          <a:p>
            <a:pPr>
              <a:buSzPts val="3600"/>
            </a:pPr>
            <a:endParaRPr lang="en-US" sz="1800" dirty="0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Instantaneous</a:t>
            </a:r>
          </a:p>
          <a:p>
            <a:pPr>
              <a:buSzPts val="3600"/>
            </a:pPr>
            <a:r>
              <a:rPr lang="en-US" sz="20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Direct movement by setting transform each frame</a:t>
            </a:r>
          </a:p>
          <a:p>
            <a:pPr>
              <a:buSzPts val="3600"/>
            </a:pPr>
            <a:endParaRPr lang="en-US" sz="2000" dirty="0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Kinematic</a:t>
            </a:r>
          </a:p>
          <a:p>
            <a:pPr>
              <a:buSzPts val="3600"/>
            </a:pPr>
            <a:r>
              <a:rPr lang="en-US" sz="2000" dirty="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isKinematic</a:t>
            </a:r>
            <a:r>
              <a:rPr lang="en-US" sz="20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 while grabbing, moving via </a:t>
            </a:r>
            <a:r>
              <a:rPr lang="en-US" sz="2000" dirty="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Rigidbody.MovePosition</a:t>
            </a:r>
            <a:endParaRPr lang="en-US" sz="20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endParaRPr lang="en-US" sz="2000" dirty="0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r>
              <a:rPr lang="en-US" sz="24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Velocity Tracking</a:t>
            </a:r>
          </a:p>
          <a:p>
            <a:pPr>
              <a:buSzPts val="3600"/>
            </a:pPr>
            <a:r>
              <a:rPr lang="en-US" sz="20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Calculates velocity/angular velocity to move the object via physics – can push other objects without lagging behind the hand</a:t>
            </a:r>
          </a:p>
          <a:p>
            <a:pPr>
              <a:buSzPts val="3600"/>
            </a:pPr>
            <a:endParaRPr lang="en-GB" sz="20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endParaRPr lang="en-GB" sz="20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endParaRPr lang="en-GB" sz="20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81DACE-9C5A-4C9B-8A07-A51CF51AA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09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C6F8D630-28A6-66FF-ECB4-0F617EF3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eb2923022_0_60">
            <a:extLst>
              <a:ext uri="{FF2B5EF4-FFF2-40B4-BE49-F238E27FC236}">
                <a16:creationId xmlns:a16="http://schemas.microsoft.com/office/drawing/2014/main" id="{C53D1E14-A8FF-94C2-7756-9BB4C0DAA3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 dirty="0"/>
              <a:t>XR Multimodal Interaction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101" name="Google Shape;101;g11eb2923022_0_60">
            <a:extLst>
              <a:ext uri="{FF2B5EF4-FFF2-40B4-BE49-F238E27FC236}">
                <a16:creationId xmlns:a16="http://schemas.microsoft.com/office/drawing/2014/main" id="{8BA2FB7A-2D12-0ACA-EB8E-D8428671D4B3}"/>
              </a:ext>
            </a:extLst>
          </p:cNvPr>
          <p:cNvSpPr txBox="1"/>
          <p:nvPr/>
        </p:nvSpPr>
        <p:spPr>
          <a:xfrm>
            <a:off x="609600" y="1193050"/>
            <a:ext cx="11133000" cy="643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3600"/>
            </a:pPr>
            <a:r>
              <a:rPr lang="en-GB" sz="36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Linking it to XRIT…</a:t>
            </a:r>
          </a:p>
          <a:p>
            <a:pPr>
              <a:buSzPts val="3600"/>
            </a:pPr>
            <a:endParaRPr lang="en-US" sz="16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r>
              <a:rPr lang="en-US" sz="20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Purpose: The </a:t>
            </a:r>
            <a:r>
              <a:rPr lang="en-US" sz="20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Rigidbody</a:t>
            </a:r>
            <a:r>
              <a:rPr lang="en-US" sz="20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 handles physics simulation (gravity, falling, collisions) when the object is released or thrown. </a:t>
            </a:r>
          </a:p>
          <a:p>
            <a:pPr>
              <a:buSzPts val="3600"/>
            </a:pPr>
            <a:r>
              <a:rPr lang="en-US" sz="20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Kinematic Handling: While grabbed, the </a:t>
            </a:r>
            <a:r>
              <a:rPr lang="en-US" sz="2000" dirty="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XRGrabInteractable</a:t>
            </a:r>
            <a:r>
              <a:rPr lang="en-US" sz="20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 often sets the </a:t>
            </a:r>
            <a:r>
              <a:rPr lang="en-US" sz="2000" dirty="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Rigidbody</a:t>
            </a:r>
            <a:r>
              <a:rPr lang="en-US" sz="20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 to be Kinematic (i.e., </a:t>
            </a:r>
            <a:r>
              <a:rPr lang="en-US" sz="2000" dirty="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isKinematic</a:t>
            </a:r>
            <a:r>
              <a:rPr lang="en-US" sz="20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 = true). This tells the physics engine that the object's movement is driven by the VR controller's position, not by forces like gravity. </a:t>
            </a:r>
          </a:p>
          <a:p>
            <a:pPr>
              <a:buSzPts val="3600"/>
            </a:pPr>
            <a:r>
              <a:rPr lang="en-US" sz="20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Alternatives: If you use the "Instantaneous" movement type, the object follows the hand transform directly, but it generally still requires a </a:t>
            </a:r>
            <a:r>
              <a:rPr lang="en-US" sz="2000" dirty="0" err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Rigidbody</a:t>
            </a:r>
            <a:r>
              <a:rPr lang="en-US" sz="20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 to interact properly with the XR interaction system's collision detection. </a:t>
            </a:r>
          </a:p>
          <a:p>
            <a:pPr>
              <a:buSzPts val="3600"/>
            </a:pPr>
            <a:endParaRPr lang="en-US" sz="20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r>
              <a:rPr lang="en-US" sz="20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Essential Setup for Grabbable Objects:</a:t>
            </a:r>
          </a:p>
          <a:p>
            <a:pPr marL="285750" indent="-285750">
              <a:buSzPts val="36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Collider: </a:t>
            </a:r>
            <a:r>
              <a:rPr lang="en-US" sz="20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To define the collision boundary and allow interaction.</a:t>
            </a:r>
          </a:p>
          <a:p>
            <a:pPr marL="285750" indent="-285750">
              <a:buSzPts val="36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Rigidbody</a:t>
            </a:r>
            <a:r>
              <a:rPr lang="en-US" sz="20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: </a:t>
            </a:r>
            <a:r>
              <a:rPr lang="en-US" sz="20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For physics behavior.</a:t>
            </a:r>
          </a:p>
          <a:p>
            <a:pPr marL="285750" indent="-285750">
              <a:buSzPts val="36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XR Grab Interactable: </a:t>
            </a:r>
            <a:r>
              <a:rPr lang="en-US" sz="20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To handle the grabbing logic. </a:t>
            </a:r>
          </a:p>
          <a:p>
            <a:pPr>
              <a:buSzPts val="3600"/>
            </a:pPr>
            <a:r>
              <a:rPr lang="en-US" sz="20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It is highly recommended to ensure the Collider is not set to "Is Trigger" unless you have a specific reason to do so, as this affects collision detection.</a:t>
            </a:r>
          </a:p>
          <a:p>
            <a:pPr>
              <a:buSzPts val="3600"/>
            </a:pPr>
            <a:endParaRPr lang="en-GB" sz="20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endParaRPr lang="en-GB" sz="20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  <a:p>
            <a:pPr>
              <a:buSzPts val="3600"/>
            </a:pPr>
            <a:endParaRPr lang="en-GB" sz="2000" dirty="0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6BCF43-E366-A640-3310-25B8A08C9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232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1eb2923022_0_6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08" name="Google Shape;108;g11eb2923022_0_66"/>
          <p:cNvSpPr txBox="1"/>
          <p:nvPr/>
        </p:nvSpPr>
        <p:spPr>
          <a:xfrm>
            <a:off x="609600" y="1193050"/>
            <a:ext cx="11133000" cy="57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Collisions</a:t>
            </a:r>
            <a:endParaRPr sz="36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Collider hitting Rigid Body/Collider (for Collision Detection)</a:t>
            </a:r>
            <a:r>
              <a:rPr lang="en-GB" sz="23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3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This is true Collision Detection, not Triggering  in slide above</a:t>
            </a:r>
            <a:endParaRPr sz="23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Collision and Physics: SHORTCUT</a:t>
            </a:r>
            <a:endParaRPr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500"/>
              <a:buFont typeface="Calibri"/>
              <a:buAutoNum type="arabicPeriod"/>
            </a:pPr>
            <a:r>
              <a:rPr lang="en-GB" sz="2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Shortcut</a:t>
            </a:r>
            <a:endParaRPr sz="2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500"/>
              <a:buFont typeface="Calibri"/>
              <a:buAutoNum type="arabicPeriod"/>
            </a:pPr>
            <a:r>
              <a:rPr lang="en-GB" sz="2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Kinematic RB Trigger Colliders - transformed to move</a:t>
            </a:r>
            <a:endParaRPr sz="2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500"/>
              <a:buFont typeface="Calibri"/>
              <a:buAutoNum type="arabicPeriod"/>
            </a:pPr>
            <a:r>
              <a:rPr lang="en-GB" sz="2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True RB - </a:t>
            </a:r>
            <a:r>
              <a:rPr lang="en-GB" sz="2500" err="1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Addforce</a:t>
            </a:r>
            <a:endParaRPr sz="2500" err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500"/>
              <a:buFont typeface="Calibri"/>
              <a:buAutoNum type="arabicPeriod"/>
            </a:pPr>
            <a:r>
              <a:rPr lang="en-GB" sz="2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Movement Scripting</a:t>
            </a:r>
            <a:endParaRPr sz="2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1eb2923022_0_4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15" name="Google Shape;115;g11eb2923022_0_42"/>
          <p:cNvSpPr txBox="1"/>
          <p:nvPr/>
        </p:nvSpPr>
        <p:spPr>
          <a:xfrm>
            <a:off x="609600" y="1193054"/>
            <a:ext cx="10890600" cy="12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Collisions and Triggers</a:t>
            </a:r>
            <a:endParaRPr sz="36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16" name="Google Shape;116;g11eb2923022_0_42" descr="Make sure to SUBSCRIBE so you don't miss a video! Also, please feel free to ask lots of questions in the comments.&#10;This link has some info on colliders and triggers: http://docs.unity3d.com/Documentation/Components/class-MeshCollider.html&#10;&#10;This channel is mostly all about game programming tutorials, specifically with Unity 3d.  You may also be interested in my primary channel, where I play and review games: http://youtube.com/quill18&#10;&#10;You can download most of the files for my tutorials from my website here: http://quill18.com/unity_tutorials/&#10;&#10;I can be reached at:&#10;quill18@quill18.com&#10;http://twitter.com/quill18&#10;http://facebook.com/quill18﻿" title="Unity 3d: Collisions, Triggers, Rigidbodies, and Kinematic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8900" y="2192579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1eb2923022_0_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23" name="Google Shape;123;g11eb2923022_0_14"/>
          <p:cNvSpPr txBox="1"/>
          <p:nvPr/>
        </p:nvSpPr>
        <p:spPr>
          <a:xfrm>
            <a:off x="609600" y="1193054"/>
            <a:ext cx="10890600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Collisions and Triggers Test Project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/>
              </a:rPr>
              <a:t>https://www.youtube.com/watch?v=WFkbqdo2OI4</a:t>
            </a: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24" name="Google Shape;124;g11eb2923022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000" y="2249825"/>
            <a:ext cx="8039374" cy="427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1eb2923022_0_7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31" name="Google Shape;131;g11eb2923022_0_74"/>
          <p:cNvSpPr txBox="1"/>
          <p:nvPr/>
        </p:nvSpPr>
        <p:spPr>
          <a:xfrm>
            <a:off x="609600" y="1193050"/>
            <a:ext cx="11236200" cy="58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GB" sz="36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Unity Collisions and Triggers Test Project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u="sng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/>
              </a:rPr>
              <a:t>https://www.youtube.com/watch?v=WFkbqdo2OI4</a:t>
            </a: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Demo:</a:t>
            </a: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Quattrocento Sans"/>
              <a:buAutoNum type="arabicPeriod"/>
            </a:pP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Make Cube and Sphere - have colliders - play - nothing, can move, but is bad (unoptimised) essentially static, even if not ticked</a:t>
            </a: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Quattrocento Sans"/>
              <a:buAutoNum type="arabicPeriod"/>
            </a:pP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RB on ball - real and physical - gravity and Collision with cube - physics engine - may just need trigger</a:t>
            </a: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Quattrocento Sans"/>
              <a:buAutoNum type="arabicPeriod"/>
            </a:pP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script to both - 90% just need triggers</a:t>
            </a: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Quattrocento Sans"/>
              <a:buAutoNum type="arabicPeriod"/>
            </a:pP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Collision or trigger notifies both objects</a:t>
            </a: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Quattrocento Sans"/>
              <a:buAutoNum type="arabicPeriod"/>
            </a:pP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Collision: When True RB hits collider (not trigger)</a:t>
            </a: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Quattrocento Sans"/>
              <a:buAutoNum type="arabicPeriod"/>
            </a:pP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Try box with and without IsTrigger and look at console</a:t>
            </a: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Quattrocento Sans"/>
              <a:buAutoNum type="arabicPeriod"/>
            </a:pP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Turn box non-static (RB) - add RB, has gravity, will fall - turn off gravity - then collision moves it</a:t>
            </a: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Quattrocento Sans"/>
              <a:buAutoNum type="arabicPeriod"/>
            </a:pP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Turn Box into IsKinematic - Box not moved - IsKinematic (may be moved - no Physics) vs Static (will never move - 0ptimised)</a:t>
            </a: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Quattrocento Sans"/>
              <a:buAutoNum type="arabicPeriod"/>
            </a:pP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Turn Sphere to IsKinematic - no movement, but dragging  - they do not affect each other</a:t>
            </a: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Quattrocento Sans"/>
              <a:buAutoNum type="arabicPeriod"/>
            </a:pPr>
            <a:r>
              <a:rPr lang="en-GB" sz="2000" b="1">
                <a:solidFill>
                  <a:srgbClr val="FFFF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IsKinematic RB with IsTrigger</a:t>
            </a:r>
            <a:endParaRPr sz="2000" b="1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FFFF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1eb2923022_0_7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31" name="Google Shape;131;g11eb2923022_0_74"/>
          <p:cNvSpPr txBox="1"/>
          <p:nvPr/>
        </p:nvSpPr>
        <p:spPr>
          <a:xfrm>
            <a:off x="609600" y="1193050"/>
            <a:ext cx="11236200" cy="542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3600"/>
            </a:pPr>
            <a:r>
              <a:rPr lang="en-GB" sz="3600" b="1">
                <a:solidFill>
                  <a:srgbClr val="FF0000"/>
                </a:solidFill>
                <a:latin typeface="Quattrocento Sans"/>
                <a:sym typeface="Quattrocento Sans"/>
              </a:rPr>
              <a:t>Character Controller Overview (Extra)</a:t>
            </a:r>
            <a:endParaRPr>
              <a:solidFill>
                <a:srgbClr val="FF0000"/>
              </a:solidFill>
            </a:endParaRPr>
          </a:p>
          <a:p>
            <a:r>
              <a:rPr lang="en-US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3 Options</a:t>
            </a:r>
            <a:endParaRPr lang="en-GB">
              <a:latin typeface="Calibri"/>
            </a:endParaRPr>
          </a:p>
          <a:p>
            <a:pPr marL="285750" indent="-285750">
              <a:buChar char="•"/>
            </a:pPr>
            <a:r>
              <a:rPr lang="en-US">
                <a:solidFill>
                  <a:srgbClr val="FFFF00"/>
                </a:solidFill>
                <a:latin typeface="Calibri"/>
                <a:ea typeface="Calibri"/>
                <a:cs typeface="Calibri"/>
                <a:hlinkClick r:id="rId3"/>
              </a:rPr>
              <a:t>How to Move Characters In Unity 3D | Character Controllers Explained</a:t>
            </a:r>
            <a:endParaRPr lang="en-GB">
              <a:latin typeface="Calibri"/>
            </a:endParaRPr>
          </a:p>
          <a:p>
            <a:pPr marL="285750" indent="-285750">
              <a:buChar char="•"/>
            </a:pPr>
            <a:r>
              <a:rPr lang="en-US">
                <a:solidFill>
                  <a:srgbClr val="FFFF00"/>
                </a:solidFill>
                <a:latin typeface="Calibri"/>
                <a:ea typeface="Calibri"/>
                <a:cs typeface="Calibri"/>
                <a:hlinkClick r:id="rId4"/>
              </a:rPr>
              <a:t>https://discussions.unity.com/t/character-controller-vs-rigidbody/909343/5</a:t>
            </a:r>
            <a:endParaRPr lang="en-GB">
              <a:latin typeface="Calibri"/>
            </a:endParaRPr>
          </a:p>
          <a:p>
            <a:pPr marL="285750" indent="-285750">
              <a:buChar char="•"/>
            </a:pPr>
            <a:r>
              <a:rPr lang="en-US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Non-RB custom (Unity CC) - not good with physics</a:t>
            </a:r>
            <a:endParaRPr lang="en-GB">
              <a:latin typeface="Calibri"/>
            </a:endParaRPr>
          </a:p>
          <a:p>
            <a:pPr marL="285750" indent="-285750">
              <a:buChar char="•"/>
            </a:pPr>
            <a:r>
              <a:rPr lang="en-US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Dynamic RB</a:t>
            </a:r>
            <a:endParaRPr lang="en-GB">
              <a:latin typeface="Calibri"/>
            </a:endParaRPr>
          </a:p>
          <a:p>
            <a:pPr marL="285750" indent="-285750">
              <a:buChar char="•"/>
            </a:pPr>
            <a:r>
              <a:rPr lang="en-US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Kinematic RB</a:t>
            </a:r>
            <a:endParaRPr lang="en-GB">
              <a:latin typeface="Calibri"/>
            </a:endParaRPr>
          </a:p>
          <a:p>
            <a:endParaRPr lang="en-GB">
              <a:latin typeface="Calibri"/>
            </a:endParaRPr>
          </a:p>
          <a:p>
            <a:r>
              <a:rPr lang="en-US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Physics (dynamic or kinematic RB)</a:t>
            </a:r>
            <a:endParaRPr lang="en-GB">
              <a:latin typeface="Calibri"/>
            </a:endParaRPr>
          </a:p>
          <a:p>
            <a:pPr marL="285750" indent="-285750">
              <a:buChar char="•"/>
            </a:pPr>
            <a:r>
              <a:rPr lang="en-US">
                <a:solidFill>
                  <a:srgbClr val="FFFF00"/>
                </a:solidFill>
                <a:latin typeface="Calibri"/>
                <a:ea typeface="Calibri"/>
                <a:cs typeface="Calibri"/>
                <a:hlinkClick r:id="rId5"/>
              </a:rPr>
              <a:t>Making A Physics Based Character Controller In Unity (for Very Very Valet)</a:t>
            </a:r>
            <a:endParaRPr lang="en-GB">
              <a:latin typeface="Calibri"/>
            </a:endParaRPr>
          </a:p>
          <a:p>
            <a:pPr marL="285750" indent="-285750">
              <a:buChar char="•"/>
            </a:pPr>
            <a:r>
              <a:rPr lang="en-US">
                <a:solidFill>
                  <a:srgbClr val="FFFF00"/>
                </a:solidFill>
                <a:latin typeface="Calibri"/>
                <a:ea typeface="Calibri"/>
                <a:cs typeface="Calibri"/>
                <a:hlinkClick r:id="rId6"/>
              </a:rPr>
              <a:t>https://discussions.unity.com/t/rigidbody-3d-platformer-controller-condfused/847979</a:t>
            </a:r>
            <a:endParaRPr lang="en-GB">
              <a:latin typeface="Calibri"/>
            </a:endParaRPr>
          </a:p>
          <a:p>
            <a:endParaRPr lang="en-GB">
              <a:latin typeface="Calibri"/>
            </a:endParaRPr>
          </a:p>
          <a:p>
            <a:r>
              <a:rPr lang="en-US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Platforms:</a:t>
            </a:r>
            <a:endParaRPr lang="en-GB">
              <a:latin typeface="Calibri"/>
            </a:endParaRPr>
          </a:p>
          <a:p>
            <a:pPr marL="285750" indent="-285750">
              <a:buChar char="•"/>
            </a:pPr>
            <a:r>
              <a:rPr lang="en-US">
                <a:solidFill>
                  <a:srgbClr val="FFFF00"/>
                </a:solidFill>
                <a:latin typeface="Calibri"/>
                <a:ea typeface="Calibri"/>
                <a:cs typeface="Calibri"/>
                <a:hlinkClick r:id="rId7"/>
              </a:rPr>
              <a:t>Simple Moving Platform Setup Rigidbody/Character Controller - Unity Bolt Tutorial |Visual Scripting</a:t>
            </a:r>
            <a:endParaRPr lang="en-GB">
              <a:latin typeface="Calibri"/>
            </a:endParaRPr>
          </a:p>
          <a:p>
            <a:r>
              <a:rPr lang="en-GB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After more than 4 hours stuck with this video + Character controller, I will only say this: Edit -&gt; Project Settings -&gt; Physics (or Physics 2d) -&gt; Auto Sync Transforms</a:t>
            </a:r>
            <a:endParaRPr lang="en-GB">
              <a:latin typeface="Calibri"/>
            </a:endParaRPr>
          </a:p>
          <a:p>
            <a:r>
              <a:rPr lang="en-GB" i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From &lt;</a:t>
            </a:r>
            <a:r>
              <a:rPr lang="en-GB" i="1">
                <a:solidFill>
                  <a:srgbClr val="595959"/>
                </a:solidFill>
                <a:latin typeface="Calibri"/>
                <a:ea typeface="Calibri"/>
                <a:cs typeface="Calibri"/>
                <a:hlinkClick r:id="rId7"/>
              </a:rPr>
              <a:t>https://www.youtube.com/watch?v=2MkNoaWJWf4</a:t>
            </a:r>
            <a:r>
              <a:rPr lang="en-GB" i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&gt; </a:t>
            </a:r>
            <a:endParaRPr lang="en-GB">
              <a:latin typeface="Calibri"/>
            </a:endParaRPr>
          </a:p>
          <a:p>
            <a:r>
              <a:rPr lang="en-GB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 the trigger must not intersect main collider on the platform.</a:t>
            </a:r>
            <a:endParaRPr lang="en-GB">
              <a:latin typeface="Calibri"/>
            </a:endParaRPr>
          </a:p>
          <a:p>
            <a:r>
              <a:rPr lang="en-GB" i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From &lt;</a:t>
            </a:r>
            <a:r>
              <a:rPr lang="en-GB" i="1">
                <a:solidFill>
                  <a:srgbClr val="595959"/>
                </a:solidFill>
                <a:latin typeface="Calibri"/>
                <a:ea typeface="Calibri"/>
                <a:cs typeface="Calibri"/>
                <a:hlinkClick r:id="rId7"/>
              </a:rPr>
              <a:t>https://www.youtube.com/watch?v=2MkNoaWJWf4</a:t>
            </a:r>
            <a:r>
              <a:rPr lang="en-GB" i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&gt; </a:t>
            </a:r>
            <a:endParaRPr lang="en-GB">
              <a:latin typeface="Calibri"/>
            </a:endParaRPr>
          </a:p>
          <a:p>
            <a:pPr marL="285750" indent="-285750">
              <a:buChar char="•"/>
            </a:pPr>
            <a:r>
              <a:rPr lang="en-US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Basic: parent character transform to new platform when platform collider triggered</a:t>
            </a:r>
            <a:endParaRPr lang="en-GB">
              <a:latin typeface="Calibri"/>
            </a:endParaRPr>
          </a:p>
          <a:p>
            <a:pPr marL="285750" indent="-285750">
              <a:buChar char="•"/>
            </a:pPr>
            <a:r>
              <a:rPr lang="en-US">
                <a:solidFill>
                  <a:srgbClr val="FFFF00"/>
                </a:solidFill>
                <a:latin typeface="Calibri"/>
                <a:ea typeface="Calibri"/>
                <a:cs typeface="Calibri"/>
                <a:hlinkClick r:id="rId8"/>
              </a:rPr>
              <a:t>How to Create 3D Moving Platforms (Unity Tutorial)</a:t>
            </a:r>
            <a:endParaRPr lang="en-GB">
              <a:latin typeface="Calibri"/>
            </a:endParaRPr>
          </a:p>
          <a:p>
            <a:pPr marL="285750" indent="-285750">
              <a:buChar char="•"/>
            </a:pPr>
            <a:r>
              <a:rPr lang="en-US">
                <a:solidFill>
                  <a:srgbClr val="FFFF00"/>
                </a:solidFill>
                <a:latin typeface="Calibri"/>
                <a:ea typeface="Calibri"/>
                <a:cs typeface="Calibri"/>
                <a:hlinkClick r:id="rId9"/>
              </a:rPr>
              <a:t>https://discussions.unity.com/t/charactercontroller-on-a-moving-platform/684563/7</a:t>
            </a:r>
            <a:endParaRPr lang="en-GB">
              <a:latin typeface="Calibri"/>
            </a:endParaRPr>
          </a:p>
          <a:p>
            <a:pPr marL="285750" indent="-285750">
              <a:buChar char="•"/>
            </a:pPr>
            <a:r>
              <a:rPr lang="en-US">
                <a:solidFill>
                  <a:srgbClr val="FFFF00"/>
                </a:solidFill>
                <a:latin typeface="Calibri"/>
                <a:ea typeface="Calibri"/>
                <a:cs typeface="Calibri"/>
                <a:hlinkClick r:id="rId10"/>
              </a:rPr>
              <a:t>https://discussions.unity.com/t/how-to-get-a-character-to-move-with-a-moving-platform/1720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738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D3B6390A-8F64-B9E7-7F3B-7B59BDA0D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1eb2923022_0_74">
            <a:extLst>
              <a:ext uri="{FF2B5EF4-FFF2-40B4-BE49-F238E27FC236}">
                <a16:creationId xmlns:a16="http://schemas.microsoft.com/office/drawing/2014/main" id="{0601A899-7758-982D-FDF4-1AB94D075F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8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GB"/>
              <a:t>3DIMD and XR Multimodal Interaction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31" name="Google Shape;131;g11eb2923022_0_74">
            <a:extLst>
              <a:ext uri="{FF2B5EF4-FFF2-40B4-BE49-F238E27FC236}">
                <a16:creationId xmlns:a16="http://schemas.microsoft.com/office/drawing/2014/main" id="{F2749CA4-BF28-FED9-4052-436DDC504C0F}"/>
              </a:ext>
            </a:extLst>
          </p:cNvPr>
          <p:cNvSpPr txBox="1"/>
          <p:nvPr/>
        </p:nvSpPr>
        <p:spPr>
          <a:xfrm>
            <a:off x="609600" y="1193050"/>
            <a:ext cx="11236200" cy="196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3600"/>
            </a:pPr>
            <a:r>
              <a:rPr lang="en-GB" sz="3600" b="1">
                <a:solidFill>
                  <a:srgbClr val="FF0000"/>
                </a:solidFill>
                <a:latin typeface="Quattrocento Sans"/>
                <a:sym typeface="Quattrocento Sans"/>
              </a:rPr>
              <a:t>Software Architecture</a:t>
            </a:r>
            <a:endParaRPr lang="en-US">
              <a:solidFill>
                <a:srgbClr val="FF0000"/>
              </a:solidFill>
            </a:endParaRPr>
          </a:p>
          <a:p>
            <a:pPr>
              <a:buSzPts val="3600"/>
            </a:pPr>
            <a:endParaRPr lang="en-GB" sz="3600" b="1">
              <a:solidFill>
                <a:srgbClr val="FF0000"/>
              </a:solidFill>
              <a:latin typeface="Quattrocento Sans"/>
              <a:ea typeface="Calibri"/>
            </a:endParaRPr>
          </a:p>
          <a:p>
            <a:pPr>
              <a:buSzPts val="3600"/>
            </a:pPr>
            <a:r>
              <a:rPr lang="en-GB" sz="3600" b="1">
                <a:solidFill>
                  <a:srgbClr val="FF0000"/>
                </a:solidFill>
                <a:latin typeface="Quattrocento Sans"/>
                <a:ea typeface="Calibri"/>
              </a:rPr>
              <a:t>Forefront</a:t>
            </a:r>
          </a:p>
          <a:p>
            <a:endParaRPr lang="en-US">
              <a:solidFill>
                <a:srgbClr val="FFFF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2864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Metro">
      <a:dk1>
        <a:srgbClr val="FFFFFF"/>
      </a:dk1>
      <a:lt1>
        <a:srgbClr val="1F497D"/>
      </a:lt1>
      <a:dk2>
        <a:srgbClr val="FFFFFF"/>
      </a:dk2>
      <a:lt2>
        <a:srgbClr val="1F497D"/>
      </a:lt2>
      <a:accent1>
        <a:srgbClr val="E8402E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C6D9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23</Slides>
  <Notes>23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1_Office Theme</vt:lpstr>
      <vt:lpstr>3DIMD and XR Multimodal Interaction</vt:lpstr>
      <vt:lpstr>3DIMD and XR Multimodal Interaction</vt:lpstr>
      <vt:lpstr>3DIMD and XR Multimodal Interaction</vt:lpstr>
      <vt:lpstr>3DIMD and XR Multimodal Interaction</vt:lpstr>
      <vt:lpstr>3DIMD and XR Multimodal Interaction</vt:lpstr>
      <vt:lpstr>3DIMD and XR Multimodal Interaction</vt:lpstr>
      <vt:lpstr>3DIMD and XR Multimodal Interaction</vt:lpstr>
      <vt:lpstr>3DIMD and XR Multimodal Interaction</vt:lpstr>
      <vt:lpstr>3DIMD and XR Multimodal Interaction</vt:lpstr>
      <vt:lpstr>3DIMD and XR Multimodal Interaction</vt:lpstr>
      <vt:lpstr>3DIMD and XR Multimodal Interaction</vt:lpstr>
      <vt:lpstr>3DIMD and XR Multimodal Interaction</vt:lpstr>
      <vt:lpstr>3DIMD and XR Multimodal Interaction</vt:lpstr>
      <vt:lpstr>3DIMD and XR Multimodal Interaction</vt:lpstr>
      <vt:lpstr>XR Multimodal Interaction</vt:lpstr>
      <vt:lpstr>XR Multimodal Interaction</vt:lpstr>
      <vt:lpstr>XR Multimodal Interaction</vt:lpstr>
      <vt:lpstr>3DIMD and XR Multimodal Interaction</vt:lpstr>
      <vt:lpstr>3DIMD and XR Multimodal Interaction</vt:lpstr>
      <vt:lpstr>3DIMD and XR Multimodal Interaction</vt:lpstr>
      <vt:lpstr>3DIMD and XR Multimodal Interaction</vt:lpstr>
      <vt:lpstr>3DIMD and XR Multimodal Interaction</vt:lpstr>
      <vt:lpstr>3DIMD and XR Multimodal Interaction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XR Multimodal Interaction</dc:title>
  <dc:creator>jeff ferguson</dc:creator>
  <cp:revision>3</cp:revision>
  <dcterms:created xsi:type="dcterms:W3CDTF">2016-10-08T10:37:01Z</dcterms:created>
  <dcterms:modified xsi:type="dcterms:W3CDTF">2026-08-10T09:55:30Z</dcterms:modified>
</cp:coreProperties>
</file>