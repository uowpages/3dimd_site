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7"/>
  </p:notesMasterIdLst>
  <p:sldIdLst>
    <p:sldId id="256" r:id="rId2"/>
    <p:sldId id="259" r:id="rId3"/>
    <p:sldId id="258" r:id="rId4"/>
    <p:sldId id="296" r:id="rId5"/>
    <p:sldId id="262" r:id="rId6"/>
    <p:sldId id="263" r:id="rId7"/>
    <p:sldId id="264" r:id="rId8"/>
    <p:sldId id="260" r:id="rId9"/>
    <p:sldId id="261" r:id="rId10"/>
    <p:sldId id="266" r:id="rId11"/>
    <p:sldId id="267" r:id="rId12"/>
    <p:sldId id="268" r:id="rId13"/>
    <p:sldId id="269" r:id="rId14"/>
    <p:sldId id="270" r:id="rId15"/>
    <p:sldId id="271" r:id="rId16"/>
    <p:sldId id="279" r:id="rId17"/>
    <p:sldId id="278" r:id="rId18"/>
    <p:sldId id="297" r:id="rId19"/>
    <p:sldId id="312" r:id="rId20"/>
    <p:sldId id="311" r:id="rId21"/>
    <p:sldId id="298" r:id="rId22"/>
    <p:sldId id="272" r:id="rId23"/>
    <p:sldId id="273" r:id="rId24"/>
    <p:sldId id="274" r:id="rId25"/>
    <p:sldId id="275" r:id="rId26"/>
    <p:sldId id="276" r:id="rId27"/>
    <p:sldId id="277" r:id="rId28"/>
    <p:sldId id="308" r:id="rId29"/>
    <p:sldId id="309" r:id="rId30"/>
    <p:sldId id="280" r:id="rId31"/>
    <p:sldId id="281" r:id="rId32"/>
    <p:sldId id="282" r:id="rId33"/>
    <p:sldId id="283" r:id="rId34"/>
    <p:sldId id="284" r:id="rId35"/>
    <p:sldId id="285" r:id="rId36"/>
    <p:sldId id="306" r:id="rId37"/>
    <p:sldId id="305" r:id="rId38"/>
    <p:sldId id="304" r:id="rId39"/>
    <p:sldId id="303" r:id="rId40"/>
    <p:sldId id="302" r:id="rId41"/>
    <p:sldId id="307" r:id="rId42"/>
    <p:sldId id="301" r:id="rId43"/>
    <p:sldId id="300" r:id="rId44"/>
    <p:sldId id="286" r:id="rId45"/>
    <p:sldId id="287" r:id="rId46"/>
    <p:sldId id="310" r:id="rId47"/>
    <p:sldId id="299" r:id="rId48"/>
    <p:sldId id="288" r:id="rId49"/>
    <p:sldId id="289" r:id="rId50"/>
    <p:sldId id="290" r:id="rId51"/>
    <p:sldId id="291" r:id="rId52"/>
    <p:sldId id="292" r:id="rId53"/>
    <p:sldId id="293" r:id="rId54"/>
    <p:sldId id="294" r:id="rId55"/>
    <p:sldId id="295" r:id="rId56"/>
  </p:sldIdLst>
  <p:sldSz cx="12192000" cy="6858000"/>
  <p:notesSz cx="6858000" cy="9144000"/>
  <p:embeddedFontLst>
    <p:embeddedFont>
      <p:font typeface="Consolas" panose="020B0609020204030204" pitchFamily="49" charset="0"/>
      <p:regular r:id="rId58"/>
      <p:bold r:id="rId59"/>
      <p:italic r:id="rId60"/>
      <p:boldItalic r:id="rId61"/>
    </p:embeddedFont>
    <p:embeddedFont>
      <p:font typeface="Quattrocento Sans" panose="020B0502050000020003" pitchFamily="34" charset="0"/>
      <p:regular r:id="rId62"/>
      <p:bold r:id="rId63"/>
      <p:italic r:id="rId64"/>
      <p:boldItalic r:id="rId65"/>
    </p:embeddedFont>
    <p:embeddedFont>
      <p:font typeface="Roboto" panose="02000000000000000000" pitchFamily="2" charset="0"/>
      <p:regular r:id="rId66"/>
      <p:bold r:id="rId67"/>
      <p:italic r:id="rId68"/>
      <p:boldItalic r:id="rId69"/>
    </p:embeddedFont>
    <p:embeddedFont>
      <p:font typeface="Segoe UI" panose="020B0502040204020203" pitchFamily="34" charset="0"/>
      <p:regular r:id="rId70"/>
      <p:bold r:id="rId71"/>
      <p:italic r:id="rId72"/>
      <p:boldItalic r:id="rId7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4" roundtripDataSignature="AMtx7mjNTC9IYlAf5YTLufWdvFzf+1604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D9ACB8-CCDD-2763-D900-B1D81BBA6CCA}" v="1337" dt="2025-11-11T07:00:16.540"/>
    <p1510:client id="{FAABE7EE-1E84-ABBD-87B8-FCECE931838E}" v="866" dt="2025-11-11T07:49:41.4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font" Target="fonts/font11.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font" Target="fonts/font9.fntdata"/><Relationship Id="rId74" Type="http://customschemas.google.com/relationships/presentationmetadata" Target="metadata"/><Relationship Id="rId79"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7.fntdata"/><Relationship Id="rId69" Type="http://schemas.openxmlformats.org/officeDocument/2006/relationships/font" Target="fonts/font12.fntdata"/><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font" Target="fonts/font13.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font" Target="fonts/font16.fntdata"/><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font" Target="fonts/font14.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www.codeproject.com/Articles/876478/UNITY-D-GAME-PROGRAMMING-PART"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www.codeproject.com/Articles/876478/UNITY-D-GAME-PROGRAMMING-PART"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www.codeproject.com/Articles/876478/UNITY-D-GAME-PROGRAMMING-PART"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www.codeproject.com/Articles/876478/UNITY-D-GAME-PROGRAMMING-PART"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www.codeproject.com/Articles/876478/UNITY-D-GAME-PROGRAMMING-PART"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3" Type="http://schemas.openxmlformats.org/officeDocument/2006/relationships/hyperlink" Target="http://www.thegamecontriver.com/2014/10/move-to-mouse-click-touch-position-unity.html"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chicounity3d.wordpress.com/2014/05/23/how-to-lerp-like-a-pro/"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 name="Google Shape;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 name="Google Shape;4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1</a:t>
            </a:fld>
            <a:endParaRPr sz="1800" b="0" i="0" u="none" strike="noStrike" cap="none">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 name="Google Shape;6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 name="Google Shape;6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a:t>
            </a:fld>
            <a:endParaRPr/>
          </a:p>
        </p:txBody>
      </p:sp>
    </p:spTree>
    <p:extLst>
      <p:ext uri="{BB962C8B-B14F-4D97-AF65-F5344CB8AC3E}">
        <p14:creationId xmlns:p14="http://schemas.microsoft.com/office/powerpoint/2010/main" val="1854422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 name="Google Shape;7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 name="Google Shape;7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11</a:t>
            </a:fld>
            <a:endParaRPr sz="1800" b="0" i="0" u="none" strike="noStrike" cap="none">
              <a:solidFill>
                <a:srgbClr val="000000"/>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12</a:t>
            </a:fld>
            <a:endParaRPr sz="1800" b="0" i="0" u="none" strike="noStrike" cap="none">
              <a:solidFill>
                <a:srgbClr val="000000"/>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13</a:t>
            </a:fld>
            <a:endParaRPr sz="1800" b="0" i="0" u="none" strike="noStrike" cap="none">
              <a:solidFill>
                <a:srgbClr val="000000"/>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u="sng">
                <a:solidFill>
                  <a:schemeClr val="hlink"/>
                </a:solidFill>
                <a:hlinkClick r:id="rId3"/>
              </a:rPr>
              <a:t>http://www.codeproject.com/Articles/876478/UNITY-D-GAME-PROGRAMMING-PART</a:t>
            </a:r>
            <a:endParaRPr sz="1200"/>
          </a:p>
          <a:p>
            <a:pPr marL="0" lvl="0" indent="0" algn="l" rtl="0">
              <a:spcBef>
                <a:spcPts val="0"/>
              </a:spcBef>
              <a:spcAft>
                <a:spcPts val="0"/>
              </a:spcAft>
              <a:buNone/>
            </a:pPr>
            <a:endParaRPr/>
          </a:p>
        </p:txBody>
      </p:sp>
      <p:sp>
        <p:nvSpPr>
          <p:cNvPr id="153" name="Google Shape;153;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16</a:t>
            </a:fld>
            <a:endParaRPr sz="1800" b="0" i="0" u="none" strike="noStrike" cap="none">
              <a:solidFill>
                <a:srgbClr val="000000"/>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17</a:t>
            </a:fld>
            <a:endParaRPr sz="1800" b="0" i="0" u="none" strike="noStrike" cap="none">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u="sng">
                <a:solidFill>
                  <a:schemeClr val="hlink"/>
                </a:solidFill>
                <a:hlinkClick r:id="rId3"/>
              </a:rPr>
              <a:t>http://www.codeproject.com/Articles/876478/UNITY-D-GAME-PROGRAMMING-PART</a:t>
            </a:r>
            <a:endParaRPr sz="1200"/>
          </a:p>
          <a:p>
            <a:pPr marL="0" lvl="0" indent="0" algn="l" rtl="0">
              <a:spcBef>
                <a:spcPts val="0"/>
              </a:spcBef>
              <a:spcAft>
                <a:spcPts val="0"/>
              </a:spcAft>
              <a:buNone/>
            </a:pPr>
            <a:endParaRPr/>
          </a:p>
        </p:txBody>
      </p:sp>
      <p:sp>
        <p:nvSpPr>
          <p:cNvPr id="153" name="Google Shape;153;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18</a:t>
            </a:fld>
            <a:endParaRPr/>
          </a:p>
        </p:txBody>
      </p:sp>
    </p:spTree>
    <p:extLst>
      <p:ext uri="{BB962C8B-B14F-4D97-AF65-F5344CB8AC3E}">
        <p14:creationId xmlns:p14="http://schemas.microsoft.com/office/powerpoint/2010/main" val="19956345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83A6CE12-4344-012F-779E-DD74A4EA4FD2}"/>
            </a:ext>
          </a:extLst>
        </p:cNvPr>
        <p:cNvGrpSpPr/>
        <p:nvPr/>
      </p:nvGrpSpPr>
      <p:grpSpPr>
        <a:xfrm>
          <a:off x="0" y="0"/>
          <a:ext cx="0" cy="0"/>
          <a:chOff x="0" y="0"/>
          <a:chExt cx="0" cy="0"/>
        </a:xfrm>
      </p:grpSpPr>
      <p:sp>
        <p:nvSpPr>
          <p:cNvPr id="151" name="Google Shape;151;p17:notes">
            <a:extLst>
              <a:ext uri="{FF2B5EF4-FFF2-40B4-BE49-F238E27FC236}">
                <a16:creationId xmlns:a16="http://schemas.microsoft.com/office/drawing/2014/main" id="{07CDD35D-49A2-7C48-F785-99105613C9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7:notes">
            <a:extLst>
              <a:ext uri="{FF2B5EF4-FFF2-40B4-BE49-F238E27FC236}">
                <a16:creationId xmlns:a16="http://schemas.microsoft.com/office/drawing/2014/main" id="{4B9AEB02-22B2-4829-952C-A05DDF764B3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u="sng">
                <a:solidFill>
                  <a:schemeClr val="hlink"/>
                </a:solidFill>
                <a:hlinkClick r:id="rId3"/>
              </a:rPr>
              <a:t>http://www.codeproject.com/Articles/876478/UNITY-D-GAME-PROGRAMMING-PART</a:t>
            </a:r>
            <a:endParaRPr sz="1200"/>
          </a:p>
          <a:p>
            <a:pPr marL="0" lvl="0" indent="0" algn="l" rtl="0">
              <a:spcBef>
                <a:spcPts val="0"/>
              </a:spcBef>
              <a:spcAft>
                <a:spcPts val="0"/>
              </a:spcAft>
              <a:buNone/>
            </a:pPr>
            <a:endParaRPr/>
          </a:p>
        </p:txBody>
      </p:sp>
      <p:sp>
        <p:nvSpPr>
          <p:cNvPr id="153" name="Google Shape;153;p17:notes">
            <a:extLst>
              <a:ext uri="{FF2B5EF4-FFF2-40B4-BE49-F238E27FC236}">
                <a16:creationId xmlns:a16="http://schemas.microsoft.com/office/drawing/2014/main" id="{A5F40637-22CB-8BDB-9D94-A62F53957DA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19</a:t>
            </a:fld>
            <a:endParaRPr/>
          </a:p>
        </p:txBody>
      </p:sp>
    </p:spTree>
    <p:extLst>
      <p:ext uri="{BB962C8B-B14F-4D97-AF65-F5344CB8AC3E}">
        <p14:creationId xmlns:p14="http://schemas.microsoft.com/office/powerpoint/2010/main" val="13110583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4E0BA899-9C54-FC61-8BF8-B01168084C33}"/>
            </a:ext>
          </a:extLst>
        </p:cNvPr>
        <p:cNvGrpSpPr/>
        <p:nvPr/>
      </p:nvGrpSpPr>
      <p:grpSpPr>
        <a:xfrm>
          <a:off x="0" y="0"/>
          <a:ext cx="0" cy="0"/>
          <a:chOff x="0" y="0"/>
          <a:chExt cx="0" cy="0"/>
        </a:xfrm>
      </p:grpSpPr>
      <p:sp>
        <p:nvSpPr>
          <p:cNvPr id="151" name="Google Shape;151;p17:notes">
            <a:extLst>
              <a:ext uri="{FF2B5EF4-FFF2-40B4-BE49-F238E27FC236}">
                <a16:creationId xmlns:a16="http://schemas.microsoft.com/office/drawing/2014/main" id="{E3EE0BBA-4939-815A-1C81-3C94E6667D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7:notes">
            <a:extLst>
              <a:ext uri="{FF2B5EF4-FFF2-40B4-BE49-F238E27FC236}">
                <a16:creationId xmlns:a16="http://schemas.microsoft.com/office/drawing/2014/main" id="{B12C0A06-8965-E013-4E02-6A7B58D3A46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u="sng">
                <a:solidFill>
                  <a:schemeClr val="hlink"/>
                </a:solidFill>
                <a:hlinkClick r:id="rId3"/>
              </a:rPr>
              <a:t>http://www.codeproject.com/Articles/876478/UNITY-D-GAME-PROGRAMMING-PART</a:t>
            </a:r>
            <a:endParaRPr sz="1200"/>
          </a:p>
          <a:p>
            <a:pPr marL="0" lvl="0" indent="0" algn="l" rtl="0">
              <a:spcBef>
                <a:spcPts val="0"/>
              </a:spcBef>
              <a:spcAft>
                <a:spcPts val="0"/>
              </a:spcAft>
              <a:buNone/>
            </a:pPr>
            <a:endParaRPr/>
          </a:p>
        </p:txBody>
      </p:sp>
      <p:sp>
        <p:nvSpPr>
          <p:cNvPr id="153" name="Google Shape;153;p17:notes">
            <a:extLst>
              <a:ext uri="{FF2B5EF4-FFF2-40B4-BE49-F238E27FC236}">
                <a16:creationId xmlns:a16="http://schemas.microsoft.com/office/drawing/2014/main" id="{072D040E-849F-B708-8C0B-94F9B859729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20</a:t>
            </a:fld>
            <a:endParaRPr/>
          </a:p>
        </p:txBody>
      </p:sp>
    </p:spTree>
    <p:extLst>
      <p:ext uri="{BB962C8B-B14F-4D97-AF65-F5344CB8AC3E}">
        <p14:creationId xmlns:p14="http://schemas.microsoft.com/office/powerpoint/2010/main" val="13321959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u="sng">
                <a:solidFill>
                  <a:schemeClr val="hlink"/>
                </a:solidFill>
                <a:hlinkClick r:id="rId3"/>
              </a:rPr>
              <a:t>http://www.codeproject.com/Articles/876478/UNITY-D-GAME-PROGRAMMING-PART</a:t>
            </a:r>
            <a:endParaRPr sz="1200"/>
          </a:p>
          <a:p>
            <a:pPr marL="0" lvl="0" indent="0" algn="l" rtl="0">
              <a:spcBef>
                <a:spcPts val="0"/>
              </a:spcBef>
              <a:spcAft>
                <a:spcPts val="0"/>
              </a:spcAft>
              <a:buNone/>
            </a:pPr>
            <a:endParaRPr/>
          </a:p>
        </p:txBody>
      </p:sp>
      <p:sp>
        <p:nvSpPr>
          <p:cNvPr id="153" name="Google Shape;153;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21</a:t>
            </a:fld>
            <a:endParaRPr/>
          </a:p>
        </p:txBody>
      </p:sp>
    </p:spTree>
    <p:extLst>
      <p:ext uri="{BB962C8B-B14F-4D97-AF65-F5344CB8AC3E}">
        <p14:creationId xmlns:p14="http://schemas.microsoft.com/office/powerpoint/2010/main" val="23550494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22</a:t>
            </a:fld>
            <a:endParaRPr sz="1800" b="0" i="0" u="none" strike="noStrike" cap="none">
              <a:solidFill>
                <a:srgbClr val="000000"/>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24</a:t>
            </a:fld>
            <a:endParaRPr sz="1800" b="0" i="0" u="none" strike="noStrike" cap="none">
              <a:solidFill>
                <a:srgbClr val="000000"/>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25</a:t>
            </a:fld>
            <a:endParaRPr sz="1800" b="0" i="0" u="none" strike="noStrike" cap="none">
              <a:solidFill>
                <a:srgbClr val="000000"/>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18d970e3237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g18d970e3237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g18d970e3237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a:extLst>
            <a:ext uri="{FF2B5EF4-FFF2-40B4-BE49-F238E27FC236}">
              <a16:creationId xmlns:a16="http://schemas.microsoft.com/office/drawing/2014/main" id="{A8E9D26F-0915-B30F-3764-7C3BCE63353D}"/>
            </a:ext>
          </a:extLst>
        </p:cNvPr>
        <p:cNvGrpSpPr/>
        <p:nvPr/>
      </p:nvGrpSpPr>
      <p:grpSpPr>
        <a:xfrm>
          <a:off x="0" y="0"/>
          <a:ext cx="0" cy="0"/>
          <a:chOff x="0" y="0"/>
          <a:chExt cx="0" cy="0"/>
        </a:xfrm>
      </p:grpSpPr>
      <p:sp>
        <p:nvSpPr>
          <p:cNvPr id="193" name="Google Shape;193;g18d970e3237_0_6:notes">
            <a:extLst>
              <a:ext uri="{FF2B5EF4-FFF2-40B4-BE49-F238E27FC236}">
                <a16:creationId xmlns:a16="http://schemas.microsoft.com/office/drawing/2014/main" id="{8B33E100-781A-A799-817F-6D7029D9B7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g18d970e3237_0_6:notes">
            <a:extLst>
              <a:ext uri="{FF2B5EF4-FFF2-40B4-BE49-F238E27FC236}">
                <a16:creationId xmlns:a16="http://schemas.microsoft.com/office/drawing/2014/main" id="{95A716FE-F2FF-18BF-8032-7A481328647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g18d970e3237_0_6:notes">
            <a:extLst>
              <a:ext uri="{FF2B5EF4-FFF2-40B4-BE49-F238E27FC236}">
                <a16:creationId xmlns:a16="http://schemas.microsoft.com/office/drawing/2014/main" id="{3AA4229E-A407-33D9-124D-47DC932E694B}"/>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28</a:t>
            </a:fld>
            <a:endParaRPr/>
          </a:p>
        </p:txBody>
      </p:sp>
    </p:spTree>
    <p:extLst>
      <p:ext uri="{BB962C8B-B14F-4D97-AF65-F5344CB8AC3E}">
        <p14:creationId xmlns:p14="http://schemas.microsoft.com/office/powerpoint/2010/main" val="5703875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a:extLst>
            <a:ext uri="{FF2B5EF4-FFF2-40B4-BE49-F238E27FC236}">
              <a16:creationId xmlns:a16="http://schemas.microsoft.com/office/drawing/2014/main" id="{DE115EAB-F7E9-29AB-E8AD-8F2F5FF937A6}"/>
            </a:ext>
          </a:extLst>
        </p:cNvPr>
        <p:cNvGrpSpPr/>
        <p:nvPr/>
      </p:nvGrpSpPr>
      <p:grpSpPr>
        <a:xfrm>
          <a:off x="0" y="0"/>
          <a:ext cx="0" cy="0"/>
          <a:chOff x="0" y="0"/>
          <a:chExt cx="0" cy="0"/>
        </a:xfrm>
      </p:grpSpPr>
      <p:sp>
        <p:nvSpPr>
          <p:cNvPr id="193" name="Google Shape;193;g18d970e3237_0_6:notes">
            <a:extLst>
              <a:ext uri="{FF2B5EF4-FFF2-40B4-BE49-F238E27FC236}">
                <a16:creationId xmlns:a16="http://schemas.microsoft.com/office/drawing/2014/main" id="{04CB0AEA-8DC4-6334-5DA3-C1FB660C7F9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g18d970e3237_0_6:notes">
            <a:extLst>
              <a:ext uri="{FF2B5EF4-FFF2-40B4-BE49-F238E27FC236}">
                <a16:creationId xmlns:a16="http://schemas.microsoft.com/office/drawing/2014/main" id="{1613E796-1C38-80B7-1A17-9D712AEA57E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g18d970e3237_0_6:notes">
            <a:extLst>
              <a:ext uri="{FF2B5EF4-FFF2-40B4-BE49-F238E27FC236}">
                <a16:creationId xmlns:a16="http://schemas.microsoft.com/office/drawing/2014/main" id="{219323EF-74AA-A22B-8E9A-081877CF38AB}"/>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29</a:t>
            </a:fld>
            <a:endParaRPr/>
          </a:p>
        </p:txBody>
      </p:sp>
    </p:spTree>
    <p:extLst>
      <p:ext uri="{BB962C8B-B14F-4D97-AF65-F5344CB8AC3E}">
        <p14:creationId xmlns:p14="http://schemas.microsoft.com/office/powerpoint/2010/main" val="36826781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30</a:t>
            </a:fld>
            <a:endParaRPr sz="1800" b="0" i="0" u="none" strike="noStrike" cap="none">
              <a:solidFill>
                <a:srgbClr val="000000"/>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31</a:t>
            </a:fld>
            <a:endParaRPr sz="1800" b="0" i="0" u="none" strike="noStrike" cap="none">
              <a:solidFill>
                <a:srgbClr val="000000"/>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32</a:t>
            </a:fld>
            <a:endParaRPr sz="1800" b="0" i="0" u="none" strike="noStrike" cap="none">
              <a:solidFill>
                <a:srgbClr val="000000"/>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33</a:t>
            </a:fld>
            <a:endParaRPr sz="1800" b="0" i="0" u="none" strike="noStrike" cap="none">
              <a:solidFill>
                <a:srgbClr val="000000"/>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34</a:t>
            </a:fld>
            <a:endParaRPr sz="1800" b="0" i="0" u="none" strike="noStrike" cap="none">
              <a:solidFill>
                <a:srgbClr val="000000"/>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90cc7db87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g190cc7db87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g190cc7db87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35</a:t>
            </a:fld>
            <a:endParaRPr sz="1800" b="0" i="0" u="none" strike="noStrike" cap="none">
              <a:solidFill>
                <a:srgbClr val="000000"/>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36</a:t>
            </a:fld>
            <a:endParaRPr/>
          </a:p>
        </p:txBody>
      </p:sp>
    </p:spTree>
    <p:extLst>
      <p:ext uri="{BB962C8B-B14F-4D97-AF65-F5344CB8AC3E}">
        <p14:creationId xmlns:p14="http://schemas.microsoft.com/office/powerpoint/2010/main" val="34255263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1eb2923022_0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g11eb2923022_0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 name="Google Shape;91;g11eb2923022_0_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11eb2923022_0_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11eb2923022_0_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g11eb2923022_0_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11eb2923022_0_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g11eb2923022_0_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 name="Google Shape;105;g11eb2923022_0_6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1eb2923022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1eb2923022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g11eb2923022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1eb2923022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1eb2923022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g11eb2923022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41</a:t>
            </a:fld>
            <a:endParaRPr/>
          </a:p>
        </p:txBody>
      </p:sp>
    </p:spTree>
    <p:extLst>
      <p:ext uri="{BB962C8B-B14F-4D97-AF65-F5344CB8AC3E}">
        <p14:creationId xmlns:p14="http://schemas.microsoft.com/office/powerpoint/2010/main" val="29873724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1eb2923022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1eb2923022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1eb2923022_0_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1eb2923022_0_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g11eb2923022_0_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g11eb2923022_0_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 name="Google Shape;259;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a:extLst>
            <a:ext uri="{FF2B5EF4-FFF2-40B4-BE49-F238E27FC236}">
              <a16:creationId xmlns:a16="http://schemas.microsoft.com/office/drawing/2014/main" id="{8FC3E738-8738-8DA4-C6F9-0AD535AB3478}"/>
            </a:ext>
          </a:extLst>
        </p:cNvPr>
        <p:cNvGrpSpPr/>
        <p:nvPr/>
      </p:nvGrpSpPr>
      <p:grpSpPr>
        <a:xfrm>
          <a:off x="0" y="0"/>
          <a:ext cx="0" cy="0"/>
          <a:chOff x="0" y="0"/>
          <a:chExt cx="0" cy="0"/>
        </a:xfrm>
      </p:grpSpPr>
      <p:sp>
        <p:nvSpPr>
          <p:cNvPr id="266" name="Google Shape;266;p31:notes">
            <a:extLst>
              <a:ext uri="{FF2B5EF4-FFF2-40B4-BE49-F238E27FC236}">
                <a16:creationId xmlns:a16="http://schemas.microsoft.com/office/drawing/2014/main" id="{7B0E7D79-91A3-6619-9F46-7EF777949B8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31:notes">
            <a:extLst>
              <a:ext uri="{FF2B5EF4-FFF2-40B4-BE49-F238E27FC236}">
                <a16:creationId xmlns:a16="http://schemas.microsoft.com/office/drawing/2014/main" id="{CC595605-51EB-D698-CB72-F89C2576A13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31:notes">
            <a:extLst>
              <a:ext uri="{FF2B5EF4-FFF2-40B4-BE49-F238E27FC236}">
                <a16:creationId xmlns:a16="http://schemas.microsoft.com/office/drawing/2014/main" id="{BF105957-ABF7-1554-1385-03B00E6A854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46</a:t>
            </a:fld>
            <a:endParaRPr/>
          </a:p>
        </p:txBody>
      </p:sp>
    </p:spTree>
    <p:extLst>
      <p:ext uri="{BB962C8B-B14F-4D97-AF65-F5344CB8AC3E}">
        <p14:creationId xmlns:p14="http://schemas.microsoft.com/office/powerpoint/2010/main" val="24001610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47</a:t>
            </a:fld>
            <a:endParaRPr/>
          </a:p>
        </p:txBody>
      </p:sp>
    </p:spTree>
    <p:extLst>
      <p:ext uri="{BB962C8B-B14F-4D97-AF65-F5344CB8AC3E}">
        <p14:creationId xmlns:p14="http://schemas.microsoft.com/office/powerpoint/2010/main" val="19613030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48</a:t>
            </a:fld>
            <a:endParaRPr sz="1800" b="0" i="0" u="none" strike="noStrike" cap="none">
              <a:solidFill>
                <a:srgbClr val="000000"/>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800">
                <a:solidFill>
                  <a:srgbClr val="0000FF"/>
                </a:solidFill>
                <a:latin typeface="Consolas"/>
                <a:ea typeface="Consolas"/>
                <a:cs typeface="Consolas"/>
                <a:sym typeface="Consolas"/>
              </a:rPr>
              <a:t>using</a:t>
            </a:r>
            <a:r>
              <a:rPr lang="en-GB" sz="1800">
                <a:solidFill>
                  <a:srgbClr val="000000"/>
                </a:solidFill>
                <a:latin typeface="Consolas"/>
                <a:ea typeface="Consolas"/>
                <a:cs typeface="Consolas"/>
                <a:sym typeface="Consolas"/>
              </a:rPr>
              <a:t> System.Collections;</a:t>
            </a:r>
            <a:endParaRPr/>
          </a:p>
          <a:p>
            <a:pPr marL="0" lvl="0" indent="0" algn="l" rtl="0">
              <a:spcBef>
                <a:spcPts val="0"/>
              </a:spcBef>
              <a:spcAft>
                <a:spcPts val="0"/>
              </a:spcAft>
              <a:buNone/>
            </a:pPr>
            <a:r>
              <a:rPr lang="en-GB" sz="1800">
                <a:solidFill>
                  <a:srgbClr val="0000FF"/>
                </a:solidFill>
                <a:latin typeface="Consolas"/>
                <a:ea typeface="Consolas"/>
                <a:cs typeface="Consolas"/>
                <a:sym typeface="Consolas"/>
              </a:rPr>
              <a:t>using</a:t>
            </a:r>
            <a:r>
              <a:rPr lang="en-GB" sz="1800">
                <a:solidFill>
                  <a:srgbClr val="000000"/>
                </a:solidFill>
                <a:latin typeface="Consolas"/>
                <a:ea typeface="Consolas"/>
                <a:cs typeface="Consolas"/>
                <a:sym typeface="Consolas"/>
              </a:rPr>
              <a:t> System.Collections.Generic;</a:t>
            </a:r>
            <a:endParaRPr/>
          </a:p>
          <a:p>
            <a:pPr marL="0" lvl="0" indent="0" algn="l" rtl="0">
              <a:spcBef>
                <a:spcPts val="0"/>
              </a:spcBef>
              <a:spcAft>
                <a:spcPts val="0"/>
              </a:spcAft>
              <a:buNone/>
            </a:pPr>
            <a:r>
              <a:rPr lang="en-GB" sz="1800">
                <a:solidFill>
                  <a:srgbClr val="0000FF"/>
                </a:solidFill>
                <a:latin typeface="Consolas"/>
                <a:ea typeface="Consolas"/>
                <a:cs typeface="Consolas"/>
                <a:sym typeface="Consolas"/>
              </a:rPr>
              <a:t>using</a:t>
            </a:r>
            <a:r>
              <a:rPr lang="en-GB" sz="1800">
                <a:solidFill>
                  <a:srgbClr val="000000"/>
                </a:solidFill>
                <a:latin typeface="Consolas"/>
                <a:ea typeface="Consolas"/>
                <a:cs typeface="Consolas"/>
                <a:sym typeface="Consolas"/>
              </a:rPr>
              <a:t> UnityEngine;</a:t>
            </a:r>
            <a:endParaRPr/>
          </a:p>
          <a:p>
            <a:pPr marL="0" lvl="0" indent="0" algn="l" rtl="0">
              <a:spcBef>
                <a:spcPts val="0"/>
              </a:spcBef>
              <a:spcAft>
                <a:spcPts val="0"/>
              </a:spcAft>
              <a:buNone/>
            </a:pPr>
            <a:endParaRPr sz="1800">
              <a:solidFill>
                <a:srgbClr val="000000"/>
              </a:solidFill>
              <a:latin typeface="Consolas"/>
              <a:ea typeface="Consolas"/>
              <a:cs typeface="Consolas"/>
              <a:sym typeface="Consolas"/>
            </a:endParaRPr>
          </a:p>
          <a:p>
            <a:pPr marL="0" lvl="0" indent="0" algn="l" rtl="0">
              <a:spcBef>
                <a:spcPts val="0"/>
              </a:spcBef>
              <a:spcAft>
                <a:spcPts val="0"/>
              </a:spcAft>
              <a:buNone/>
            </a:pPr>
            <a:r>
              <a:rPr lang="en-GB" sz="1800">
                <a:solidFill>
                  <a:srgbClr val="0000FF"/>
                </a:solidFill>
                <a:latin typeface="Consolas"/>
                <a:ea typeface="Consolas"/>
                <a:cs typeface="Consolas"/>
                <a:sym typeface="Consolas"/>
              </a:rPr>
              <a:t>public</a:t>
            </a:r>
            <a:r>
              <a:rPr lang="en-GB" sz="1800">
                <a:solidFill>
                  <a:srgbClr val="000000"/>
                </a:solidFill>
                <a:latin typeface="Consolas"/>
                <a:ea typeface="Consolas"/>
                <a:cs typeface="Consolas"/>
                <a:sym typeface="Consolas"/>
              </a:rPr>
              <a:t> </a:t>
            </a:r>
            <a:r>
              <a:rPr lang="en-GB" sz="1800">
                <a:solidFill>
                  <a:srgbClr val="0000FF"/>
                </a:solidFill>
                <a:latin typeface="Consolas"/>
                <a:ea typeface="Consolas"/>
                <a:cs typeface="Consolas"/>
                <a:sym typeface="Consolas"/>
              </a:rPr>
              <a:t>class</a:t>
            </a:r>
            <a:r>
              <a:rPr lang="en-GB" sz="1800">
                <a:solidFill>
                  <a:srgbClr val="000000"/>
                </a:solidFill>
                <a:latin typeface="Consolas"/>
                <a:ea typeface="Consolas"/>
                <a:cs typeface="Consolas"/>
                <a:sym typeface="Consolas"/>
              </a:rPr>
              <a:t> </a:t>
            </a:r>
            <a:r>
              <a:rPr lang="en-GB" sz="1800">
                <a:solidFill>
                  <a:srgbClr val="2B91AF"/>
                </a:solidFill>
                <a:latin typeface="Consolas"/>
                <a:ea typeface="Consolas"/>
                <a:cs typeface="Consolas"/>
                <a:sym typeface="Consolas"/>
              </a:rPr>
              <a:t>Lerping</a:t>
            </a:r>
            <a:r>
              <a:rPr lang="en-GB" sz="1800">
                <a:solidFill>
                  <a:srgbClr val="000000"/>
                </a:solidFill>
                <a:latin typeface="Consolas"/>
                <a:ea typeface="Consolas"/>
                <a:cs typeface="Consolas"/>
                <a:sym typeface="Consolas"/>
              </a:rPr>
              <a:t> : MonoBehaviour</a:t>
            </a:r>
            <a:endParaRPr sz="1800">
              <a:solidFill>
                <a:srgbClr val="000000"/>
              </a:solidFill>
              <a:latin typeface="Consolas"/>
              <a:ea typeface="Consolas"/>
              <a:cs typeface="Consolas"/>
              <a:sym typeface="Consolas"/>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a:t>
            </a:r>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a:t>
            </a:r>
            <a:r>
              <a:rPr lang="en-GB" sz="1800">
                <a:solidFill>
                  <a:srgbClr val="0000FF"/>
                </a:solidFill>
                <a:latin typeface="Consolas"/>
                <a:ea typeface="Consolas"/>
                <a:cs typeface="Consolas"/>
                <a:sym typeface="Consolas"/>
              </a:rPr>
              <a:t>float</a:t>
            </a:r>
            <a:r>
              <a:rPr lang="en-GB" sz="1800">
                <a:solidFill>
                  <a:srgbClr val="000000"/>
                </a:solidFill>
                <a:latin typeface="Consolas"/>
                <a:ea typeface="Consolas"/>
                <a:cs typeface="Consolas"/>
                <a:sym typeface="Consolas"/>
              </a:rPr>
              <a:t> lerpTime = 1f;</a:t>
            </a:r>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a:t>
            </a:r>
            <a:r>
              <a:rPr lang="en-GB" sz="1800">
                <a:solidFill>
                  <a:srgbClr val="0000FF"/>
                </a:solidFill>
                <a:latin typeface="Consolas"/>
                <a:ea typeface="Consolas"/>
                <a:cs typeface="Consolas"/>
                <a:sym typeface="Consolas"/>
              </a:rPr>
              <a:t>float</a:t>
            </a:r>
            <a:r>
              <a:rPr lang="en-GB" sz="1800">
                <a:solidFill>
                  <a:srgbClr val="000000"/>
                </a:solidFill>
                <a:latin typeface="Consolas"/>
                <a:ea typeface="Consolas"/>
                <a:cs typeface="Consolas"/>
                <a:sym typeface="Consolas"/>
              </a:rPr>
              <a:t> currentLerpTime;</a:t>
            </a:r>
            <a:endParaRPr/>
          </a:p>
          <a:p>
            <a:pPr marL="0" lvl="0" indent="0" algn="l" rtl="0">
              <a:spcBef>
                <a:spcPts val="0"/>
              </a:spcBef>
              <a:spcAft>
                <a:spcPts val="0"/>
              </a:spcAft>
              <a:buNone/>
            </a:pPr>
            <a:endParaRPr sz="1800">
              <a:solidFill>
                <a:srgbClr val="000000"/>
              </a:solidFill>
              <a:latin typeface="Consolas"/>
              <a:ea typeface="Consolas"/>
              <a:cs typeface="Consolas"/>
              <a:sym typeface="Consolas"/>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a:t>
            </a:r>
            <a:r>
              <a:rPr lang="en-GB" sz="1800">
                <a:solidFill>
                  <a:srgbClr val="0000FF"/>
                </a:solidFill>
                <a:latin typeface="Consolas"/>
                <a:ea typeface="Consolas"/>
                <a:cs typeface="Consolas"/>
                <a:sym typeface="Consolas"/>
              </a:rPr>
              <a:t>float</a:t>
            </a:r>
            <a:r>
              <a:rPr lang="en-GB" sz="1800">
                <a:solidFill>
                  <a:srgbClr val="000000"/>
                </a:solidFill>
                <a:latin typeface="Consolas"/>
                <a:ea typeface="Consolas"/>
                <a:cs typeface="Consolas"/>
                <a:sym typeface="Consolas"/>
              </a:rPr>
              <a:t> moveDistance = 1f;</a:t>
            </a:r>
            <a:endParaRPr/>
          </a:p>
          <a:p>
            <a:pPr marL="0" lvl="0" indent="0" algn="l" rtl="0">
              <a:spcBef>
                <a:spcPts val="0"/>
              </a:spcBef>
              <a:spcAft>
                <a:spcPts val="0"/>
              </a:spcAft>
              <a:buNone/>
            </a:pPr>
            <a:endParaRPr sz="1800">
              <a:solidFill>
                <a:srgbClr val="000000"/>
              </a:solidFill>
              <a:latin typeface="Consolas"/>
              <a:ea typeface="Consolas"/>
              <a:cs typeface="Consolas"/>
              <a:sym typeface="Consolas"/>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Vector3 startPos;</a:t>
            </a:r>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Vector3 endPos;</a:t>
            </a:r>
            <a:endParaRPr/>
          </a:p>
          <a:p>
            <a:pPr marL="0" lvl="0" indent="0" algn="l" rtl="0">
              <a:spcBef>
                <a:spcPts val="0"/>
              </a:spcBef>
              <a:spcAft>
                <a:spcPts val="0"/>
              </a:spcAft>
              <a:buNone/>
            </a:pPr>
            <a:endParaRPr sz="1800">
              <a:solidFill>
                <a:srgbClr val="000000"/>
              </a:solidFill>
              <a:latin typeface="Consolas"/>
              <a:ea typeface="Consolas"/>
              <a:cs typeface="Consolas"/>
              <a:sym typeface="Consolas"/>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a:t>
            </a:r>
            <a:r>
              <a:rPr lang="en-GB" sz="1800">
                <a:solidFill>
                  <a:srgbClr val="0000FF"/>
                </a:solidFill>
                <a:latin typeface="Consolas"/>
                <a:ea typeface="Consolas"/>
                <a:cs typeface="Consolas"/>
                <a:sym typeface="Consolas"/>
              </a:rPr>
              <a:t>protected</a:t>
            </a:r>
            <a:r>
              <a:rPr lang="en-GB" sz="1800">
                <a:solidFill>
                  <a:srgbClr val="000000"/>
                </a:solidFill>
                <a:latin typeface="Consolas"/>
                <a:ea typeface="Consolas"/>
                <a:cs typeface="Consolas"/>
                <a:sym typeface="Consolas"/>
              </a:rPr>
              <a:t> </a:t>
            </a:r>
            <a:r>
              <a:rPr lang="en-GB" sz="1800">
                <a:solidFill>
                  <a:srgbClr val="0000FF"/>
                </a:solidFill>
                <a:latin typeface="Consolas"/>
                <a:ea typeface="Consolas"/>
                <a:cs typeface="Consolas"/>
                <a:sym typeface="Consolas"/>
              </a:rPr>
              <a:t>void</a:t>
            </a:r>
            <a:r>
              <a:rPr lang="en-GB" sz="1800">
                <a:solidFill>
                  <a:srgbClr val="000000"/>
                </a:solidFill>
                <a:latin typeface="Consolas"/>
                <a:ea typeface="Consolas"/>
                <a:cs typeface="Consolas"/>
                <a:sym typeface="Consolas"/>
              </a:rPr>
              <a:t> </a:t>
            </a:r>
            <a:r>
              <a:rPr lang="en-GB" sz="1800">
                <a:solidFill>
                  <a:srgbClr val="0000FF"/>
                </a:solidFill>
                <a:latin typeface="Consolas"/>
                <a:ea typeface="Consolas"/>
                <a:cs typeface="Consolas"/>
                <a:sym typeface="Consolas"/>
              </a:rPr>
              <a:t>Start</a:t>
            </a:r>
            <a:r>
              <a:rPr lang="en-GB" sz="1800">
                <a:solidFill>
                  <a:srgbClr val="000000"/>
                </a:solidFill>
                <a:latin typeface="Consolas"/>
                <a:ea typeface="Consolas"/>
                <a:cs typeface="Consolas"/>
                <a:sym typeface="Consolas"/>
              </a:rPr>
              <a:t>()</a:t>
            </a:r>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a:t>
            </a:r>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startPos = transform.position;</a:t>
            </a:r>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endPos = transform.position + transform.up * moveDistance;</a:t>
            </a:r>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a:t>
            </a:r>
            <a:endParaRPr/>
          </a:p>
          <a:p>
            <a:pPr marL="0" lvl="0" indent="0" algn="l" rtl="0">
              <a:spcBef>
                <a:spcPts val="0"/>
              </a:spcBef>
              <a:spcAft>
                <a:spcPts val="0"/>
              </a:spcAft>
              <a:buNone/>
            </a:pPr>
            <a:endParaRPr sz="1800">
              <a:solidFill>
                <a:srgbClr val="000000"/>
              </a:solidFill>
              <a:latin typeface="Consolas"/>
              <a:ea typeface="Consolas"/>
              <a:cs typeface="Consolas"/>
              <a:sym typeface="Consolas"/>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a:t>
            </a:r>
            <a:r>
              <a:rPr lang="en-GB" sz="1800">
                <a:solidFill>
                  <a:srgbClr val="0000FF"/>
                </a:solidFill>
                <a:latin typeface="Consolas"/>
                <a:ea typeface="Consolas"/>
                <a:cs typeface="Consolas"/>
                <a:sym typeface="Consolas"/>
              </a:rPr>
              <a:t>protected</a:t>
            </a:r>
            <a:r>
              <a:rPr lang="en-GB" sz="1800">
                <a:solidFill>
                  <a:srgbClr val="000000"/>
                </a:solidFill>
                <a:latin typeface="Consolas"/>
                <a:ea typeface="Consolas"/>
                <a:cs typeface="Consolas"/>
                <a:sym typeface="Consolas"/>
              </a:rPr>
              <a:t> </a:t>
            </a:r>
            <a:r>
              <a:rPr lang="en-GB" sz="1800">
                <a:solidFill>
                  <a:srgbClr val="0000FF"/>
                </a:solidFill>
                <a:latin typeface="Consolas"/>
                <a:ea typeface="Consolas"/>
                <a:cs typeface="Consolas"/>
                <a:sym typeface="Consolas"/>
              </a:rPr>
              <a:t>void</a:t>
            </a:r>
            <a:r>
              <a:rPr lang="en-GB" sz="1800">
                <a:solidFill>
                  <a:srgbClr val="000000"/>
                </a:solidFill>
                <a:latin typeface="Consolas"/>
                <a:ea typeface="Consolas"/>
                <a:cs typeface="Consolas"/>
                <a:sym typeface="Consolas"/>
              </a:rPr>
              <a:t> </a:t>
            </a:r>
            <a:r>
              <a:rPr lang="en-GB" sz="1800">
                <a:solidFill>
                  <a:srgbClr val="0000FF"/>
                </a:solidFill>
                <a:latin typeface="Consolas"/>
                <a:ea typeface="Consolas"/>
                <a:cs typeface="Consolas"/>
                <a:sym typeface="Consolas"/>
              </a:rPr>
              <a:t>Update</a:t>
            </a:r>
            <a:r>
              <a:rPr lang="en-GB" sz="1800">
                <a:solidFill>
                  <a:srgbClr val="000000"/>
                </a:solidFill>
                <a:latin typeface="Consolas"/>
                <a:ea typeface="Consolas"/>
                <a:cs typeface="Consolas"/>
                <a:sym typeface="Consolas"/>
              </a:rPr>
              <a:t>()</a:t>
            </a:r>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a:t>
            </a:r>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a:t>
            </a:r>
            <a:r>
              <a:rPr lang="en-GB" sz="1800">
                <a:solidFill>
                  <a:srgbClr val="008000"/>
                </a:solidFill>
                <a:latin typeface="Consolas"/>
                <a:ea typeface="Consolas"/>
                <a:cs typeface="Consolas"/>
                <a:sym typeface="Consolas"/>
              </a:rPr>
              <a:t>//reset when we press spacebar</a:t>
            </a:r>
            <a:endParaRPr sz="1800">
              <a:solidFill>
                <a:srgbClr val="000000"/>
              </a:solidFill>
              <a:latin typeface="Consolas"/>
              <a:ea typeface="Consolas"/>
              <a:cs typeface="Consolas"/>
              <a:sym typeface="Consolas"/>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a:t>
            </a:r>
            <a:r>
              <a:rPr lang="en-GB" sz="1800">
                <a:solidFill>
                  <a:srgbClr val="0000FF"/>
                </a:solidFill>
                <a:latin typeface="Consolas"/>
                <a:ea typeface="Consolas"/>
                <a:cs typeface="Consolas"/>
                <a:sym typeface="Consolas"/>
              </a:rPr>
              <a:t>if</a:t>
            </a:r>
            <a:r>
              <a:rPr lang="en-GB" sz="1800">
                <a:solidFill>
                  <a:srgbClr val="000000"/>
                </a:solidFill>
                <a:latin typeface="Consolas"/>
                <a:ea typeface="Consolas"/>
                <a:cs typeface="Consolas"/>
                <a:sym typeface="Consolas"/>
              </a:rPr>
              <a:t> (Input.GetKeyDown(KeyCode.Space))</a:t>
            </a:r>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a:t>
            </a:r>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currentLerpTime = 0f;</a:t>
            </a:r>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a:t>
            </a:r>
            <a:endParaRPr/>
          </a:p>
          <a:p>
            <a:pPr marL="0" lvl="0" indent="0" algn="l" rtl="0">
              <a:spcBef>
                <a:spcPts val="0"/>
              </a:spcBef>
              <a:spcAft>
                <a:spcPts val="0"/>
              </a:spcAft>
              <a:buNone/>
            </a:pPr>
            <a:endParaRPr sz="1800">
              <a:solidFill>
                <a:srgbClr val="000000"/>
              </a:solidFill>
              <a:latin typeface="Consolas"/>
              <a:ea typeface="Consolas"/>
              <a:cs typeface="Consolas"/>
              <a:sym typeface="Consolas"/>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a:t>
            </a:r>
            <a:r>
              <a:rPr lang="en-GB" sz="1800">
                <a:solidFill>
                  <a:srgbClr val="008000"/>
                </a:solidFill>
                <a:latin typeface="Consolas"/>
                <a:ea typeface="Consolas"/>
                <a:cs typeface="Consolas"/>
                <a:sym typeface="Consolas"/>
              </a:rPr>
              <a:t>//increment timer once per frame</a:t>
            </a:r>
            <a:endParaRPr sz="1800">
              <a:solidFill>
                <a:srgbClr val="000000"/>
              </a:solidFill>
              <a:latin typeface="Consolas"/>
              <a:ea typeface="Consolas"/>
              <a:cs typeface="Consolas"/>
              <a:sym typeface="Consolas"/>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currentLerpTime += Time.deltaTime;</a:t>
            </a:r>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a:t>
            </a:r>
            <a:r>
              <a:rPr lang="en-GB" sz="1800">
                <a:solidFill>
                  <a:srgbClr val="0000FF"/>
                </a:solidFill>
                <a:latin typeface="Consolas"/>
                <a:ea typeface="Consolas"/>
                <a:cs typeface="Consolas"/>
                <a:sym typeface="Consolas"/>
              </a:rPr>
              <a:t>if</a:t>
            </a:r>
            <a:r>
              <a:rPr lang="en-GB" sz="1800">
                <a:solidFill>
                  <a:srgbClr val="000000"/>
                </a:solidFill>
                <a:latin typeface="Consolas"/>
                <a:ea typeface="Consolas"/>
                <a:cs typeface="Consolas"/>
                <a:sym typeface="Consolas"/>
              </a:rPr>
              <a:t> (currentLerpTime &gt; lerpTime)</a:t>
            </a:r>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a:t>
            </a:r>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currentLerpTime = lerpTime;</a:t>
            </a:r>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a:t>
            </a:r>
            <a:endParaRPr/>
          </a:p>
          <a:p>
            <a:pPr marL="0" lvl="0" indent="0" algn="l" rtl="0">
              <a:spcBef>
                <a:spcPts val="0"/>
              </a:spcBef>
              <a:spcAft>
                <a:spcPts val="0"/>
              </a:spcAft>
              <a:buNone/>
            </a:pPr>
            <a:endParaRPr sz="1800">
              <a:solidFill>
                <a:srgbClr val="000000"/>
              </a:solidFill>
              <a:latin typeface="Consolas"/>
              <a:ea typeface="Consolas"/>
              <a:cs typeface="Consolas"/>
              <a:sym typeface="Consolas"/>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a:t>
            </a:r>
            <a:r>
              <a:rPr lang="en-GB" sz="1800">
                <a:solidFill>
                  <a:srgbClr val="008000"/>
                </a:solidFill>
                <a:latin typeface="Consolas"/>
                <a:ea typeface="Consolas"/>
                <a:cs typeface="Consolas"/>
                <a:sym typeface="Consolas"/>
              </a:rPr>
              <a:t>//lerp!</a:t>
            </a:r>
            <a:endParaRPr sz="1800">
              <a:solidFill>
                <a:srgbClr val="000000"/>
              </a:solidFill>
              <a:latin typeface="Consolas"/>
              <a:ea typeface="Consolas"/>
              <a:cs typeface="Consolas"/>
              <a:sym typeface="Consolas"/>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a:t>
            </a:r>
            <a:r>
              <a:rPr lang="en-GB" sz="1800">
                <a:solidFill>
                  <a:srgbClr val="0000FF"/>
                </a:solidFill>
                <a:latin typeface="Consolas"/>
                <a:ea typeface="Consolas"/>
                <a:cs typeface="Consolas"/>
                <a:sym typeface="Consolas"/>
              </a:rPr>
              <a:t>float</a:t>
            </a:r>
            <a:r>
              <a:rPr lang="en-GB" sz="1800">
                <a:solidFill>
                  <a:srgbClr val="000000"/>
                </a:solidFill>
                <a:latin typeface="Consolas"/>
                <a:ea typeface="Consolas"/>
                <a:cs typeface="Consolas"/>
                <a:sym typeface="Consolas"/>
              </a:rPr>
              <a:t> perc = currentLerpTime / lerpTime;</a:t>
            </a:r>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transform.position = Vector3.Lerp(startPos, endPos, perc);</a:t>
            </a:r>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    }</a:t>
            </a:r>
            <a:endParaRPr/>
          </a:p>
          <a:p>
            <a:pPr marL="0" lvl="0" indent="0" algn="l" rtl="0">
              <a:spcBef>
                <a:spcPts val="0"/>
              </a:spcBef>
              <a:spcAft>
                <a:spcPts val="0"/>
              </a:spcAft>
              <a:buNone/>
            </a:pPr>
            <a:r>
              <a:rPr lang="en-GB" sz="1800">
                <a:solidFill>
                  <a:srgbClr val="000000"/>
                </a:solidFill>
                <a:latin typeface="Consolas"/>
                <a:ea typeface="Consolas"/>
                <a:cs typeface="Consolas"/>
                <a:sym typeface="Consolas"/>
              </a:rPr>
              <a:t>}</a:t>
            </a:r>
            <a:endParaRPr/>
          </a:p>
        </p:txBody>
      </p:sp>
      <p:sp>
        <p:nvSpPr>
          <p:cNvPr id="282" name="Google Shape;282;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 name="Google Shape;295;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FF00"/>
              </a:buClr>
              <a:buSzPts val="1200"/>
              <a:buFont typeface="Calibri"/>
              <a:buNone/>
            </a:pPr>
            <a:r>
              <a:rPr lang="en-GB" b="1" u="sng">
                <a:solidFill>
                  <a:srgbClr val="FFFF00"/>
                </a:solidFill>
                <a:hlinkClick r:id="rId3">
                  <a:extLst>
                    <a:ext uri="{A12FA001-AC4F-418D-AE19-62706E023703}">
                      <ahyp:hlinkClr xmlns:ahyp="http://schemas.microsoft.com/office/drawing/2018/hyperlinkcolor" val="tx"/>
                    </a:ext>
                  </a:extLst>
                </a:hlinkClick>
              </a:rPr>
              <a:t>http://www.thegamecontriver.com/2014/10/move-to-mouse-click-touch-position-unity.html</a:t>
            </a:r>
            <a:endParaRPr b="1">
              <a:solidFill>
                <a:srgbClr val="FFFF00"/>
              </a:solidFill>
            </a:endParaRPr>
          </a:p>
          <a:p>
            <a:pPr marL="0" lvl="0" indent="0" algn="l" rtl="0">
              <a:spcBef>
                <a:spcPts val="0"/>
              </a:spcBef>
              <a:spcAft>
                <a:spcPts val="0"/>
              </a:spcAft>
              <a:buNone/>
            </a:pPr>
            <a:endParaRPr/>
          </a:p>
        </p:txBody>
      </p:sp>
      <p:sp>
        <p:nvSpPr>
          <p:cNvPr id="296" name="Google Shape;296;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FF00"/>
              </a:buClr>
              <a:buSzPts val="1200"/>
              <a:buFont typeface="Calibri"/>
              <a:buNone/>
            </a:pPr>
            <a:r>
              <a:rPr lang="en-GB" b="1" u="sng">
                <a:solidFill>
                  <a:srgbClr val="FFFF00"/>
                </a:solidFill>
                <a:hlinkClick r:id="rId3">
                  <a:extLst>
                    <a:ext uri="{A12FA001-AC4F-418D-AE19-62706E023703}">
                      <ahyp:hlinkClr xmlns:ahyp="http://schemas.microsoft.com/office/drawing/2018/hyperlinkcolor" val="tx"/>
                    </a:ext>
                  </a:extLst>
                </a:hlinkClick>
              </a:rPr>
              <a:t>https://chicounity3d.wordpress.com/2014/05/23/how-to-lerp-like-a-pro/</a:t>
            </a:r>
            <a:endParaRPr b="1">
              <a:solidFill>
                <a:srgbClr val="FFFF00"/>
              </a:solidFill>
            </a:endParaRPr>
          </a:p>
          <a:p>
            <a:pPr marL="0" lvl="0" indent="0" algn="l" rtl="0">
              <a:spcBef>
                <a:spcPts val="0"/>
              </a:spcBef>
              <a:spcAft>
                <a:spcPts val="0"/>
              </a:spcAft>
              <a:buNone/>
            </a:pPr>
            <a:endParaRPr/>
          </a:p>
        </p:txBody>
      </p:sp>
      <p:sp>
        <p:nvSpPr>
          <p:cNvPr id="303" name="Google Shape;303;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41"/>
          <p:cNvSpPr txBox="1">
            <a:spLocks noGrp="1"/>
          </p:cNvSpPr>
          <p:nvPr>
            <p:ph type="ctrTitle"/>
          </p:nvPr>
        </p:nvSpPr>
        <p:spPr>
          <a:xfrm>
            <a:off x="914400" y="2130426"/>
            <a:ext cx="10363200" cy="1010543"/>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1"/>
          <p:cNvSpPr txBox="1">
            <a:spLocks noGrp="1"/>
          </p:cNvSpPr>
          <p:nvPr>
            <p:ph type="subTitle" idx="1"/>
          </p:nvPr>
        </p:nvSpPr>
        <p:spPr>
          <a:xfrm>
            <a:off x="911424" y="3212976"/>
            <a:ext cx="10369152" cy="1752600"/>
          </a:xfrm>
          <a:prstGeom prst="rect">
            <a:avLst/>
          </a:prstGeom>
          <a:noFill/>
          <a:ln>
            <a:noFill/>
          </a:ln>
        </p:spPr>
        <p:txBody>
          <a:bodyPr spcFirstLastPara="1" wrap="square" lIns="91425" tIns="45700" rIns="91425" bIns="45700" anchor="t" anchorCtr="0">
            <a:normAutofit/>
          </a:bodyPr>
          <a:lstStyle>
            <a:lvl1pPr lvl="0" algn="l">
              <a:spcBef>
                <a:spcPts val="560"/>
              </a:spcBef>
              <a:spcAft>
                <a:spcPts val="0"/>
              </a:spcAft>
              <a:buClr>
                <a:schemeClr val="dk1"/>
              </a:buClr>
              <a:buSzPts val="2800"/>
              <a:buNone/>
              <a:defRPr sz="2800">
                <a:solidFill>
                  <a:schemeClr val="dk1"/>
                </a:solidFill>
                <a:latin typeface="Quattrocento Sans"/>
                <a:ea typeface="Quattrocento Sans"/>
                <a:cs typeface="Quattrocento Sans"/>
                <a:sym typeface="Quattrocento Sans"/>
              </a:defRPr>
            </a:lvl1pPr>
            <a:lvl2pPr lvl="1" algn="ctr">
              <a:spcBef>
                <a:spcPts val="480"/>
              </a:spcBef>
              <a:spcAft>
                <a:spcPts val="0"/>
              </a:spcAft>
              <a:buClr>
                <a:schemeClr val="dk1"/>
              </a:buClr>
              <a:buSzPts val="2400"/>
              <a:buNone/>
              <a:defRPr>
                <a:solidFill>
                  <a:schemeClr val="dk1"/>
                </a:solidFill>
              </a:defRPr>
            </a:lvl2pPr>
            <a:lvl3pPr lvl="2" algn="ctr">
              <a:spcBef>
                <a:spcPts val="400"/>
              </a:spcBef>
              <a:spcAft>
                <a:spcPts val="0"/>
              </a:spcAft>
              <a:buClr>
                <a:schemeClr val="dk1"/>
              </a:buClr>
              <a:buSzPts val="2000"/>
              <a:buNone/>
              <a:defRPr>
                <a:solidFill>
                  <a:schemeClr val="dk1"/>
                </a:solidFill>
              </a:defRPr>
            </a:lvl3pPr>
            <a:lvl4pPr lvl="3" algn="ctr">
              <a:spcBef>
                <a:spcPts val="360"/>
              </a:spcBef>
              <a:spcAft>
                <a:spcPts val="0"/>
              </a:spcAft>
              <a:buClr>
                <a:schemeClr val="dk1"/>
              </a:buClr>
              <a:buSzPts val="1800"/>
              <a:buNone/>
              <a:defRPr>
                <a:solidFill>
                  <a:schemeClr val="dk1"/>
                </a:solidFill>
              </a:defRPr>
            </a:lvl4pPr>
            <a:lvl5pPr lvl="4" algn="ctr">
              <a:spcBef>
                <a:spcPts val="360"/>
              </a:spcBef>
              <a:spcAft>
                <a:spcPts val="0"/>
              </a:spcAft>
              <a:buClr>
                <a:schemeClr val="dk1"/>
              </a:buClr>
              <a:buSzPts val="1800"/>
              <a:buNone/>
              <a:defRPr>
                <a:solidFill>
                  <a:schemeClr val="dk1"/>
                </a:solidFill>
              </a:defRPr>
            </a:lvl5pPr>
            <a:lvl6pPr lvl="5" algn="ctr">
              <a:spcBef>
                <a:spcPts val="400"/>
              </a:spcBef>
              <a:spcAft>
                <a:spcPts val="0"/>
              </a:spcAft>
              <a:buClr>
                <a:schemeClr val="dk1"/>
              </a:buClr>
              <a:buSzPts val="2000"/>
              <a:buNone/>
              <a:defRPr>
                <a:solidFill>
                  <a:schemeClr val="dk1"/>
                </a:solidFill>
              </a:defRPr>
            </a:lvl6pPr>
            <a:lvl7pPr lvl="6" algn="ctr">
              <a:spcBef>
                <a:spcPts val="400"/>
              </a:spcBef>
              <a:spcAft>
                <a:spcPts val="0"/>
              </a:spcAft>
              <a:buClr>
                <a:schemeClr val="dk1"/>
              </a:buClr>
              <a:buSzPts val="2000"/>
              <a:buNone/>
              <a:defRPr>
                <a:solidFill>
                  <a:schemeClr val="dk1"/>
                </a:solidFill>
              </a:defRPr>
            </a:lvl7pPr>
            <a:lvl8pPr lvl="7" algn="ctr">
              <a:spcBef>
                <a:spcPts val="400"/>
              </a:spcBef>
              <a:spcAft>
                <a:spcPts val="0"/>
              </a:spcAft>
              <a:buClr>
                <a:schemeClr val="dk1"/>
              </a:buClr>
              <a:buSzPts val="2000"/>
              <a:buNone/>
              <a:defRPr>
                <a:solidFill>
                  <a:schemeClr val="dk1"/>
                </a:solidFill>
              </a:defRPr>
            </a:lvl8pPr>
            <a:lvl9pPr lvl="8" algn="ctr">
              <a:spcBef>
                <a:spcPts val="400"/>
              </a:spcBef>
              <a:spcAft>
                <a:spcPts val="0"/>
              </a:spcAft>
              <a:buClr>
                <a:schemeClr val="dk1"/>
              </a:buClr>
              <a:buSzPts val="2000"/>
              <a:buNone/>
              <a:defRPr>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0"/>
        <p:cNvGrpSpPr/>
        <p:nvPr/>
      </p:nvGrpSpPr>
      <p:grpSpPr>
        <a:xfrm>
          <a:off x="0" y="0"/>
          <a:ext cx="0" cy="0"/>
          <a:chOff x="0" y="0"/>
          <a:chExt cx="0" cy="0"/>
        </a:xfrm>
      </p:grpSpPr>
      <p:sp>
        <p:nvSpPr>
          <p:cNvPr id="21" name="Google Shape;21;p4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4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3"/>
          <p:cNvSpPr txBox="1">
            <a:spLocks noGrp="1"/>
          </p:cNvSpPr>
          <p:nvPr>
            <p:ph type="body" idx="1"/>
          </p:nvPr>
        </p:nvSpPr>
        <p:spPr>
          <a:xfrm>
            <a:off x="609600" y="1268760"/>
            <a:ext cx="10972800" cy="5328592"/>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a:solidFill>
                  <a:schemeClr val="dk1"/>
                </a:solidFill>
              </a:defRPr>
            </a:lvl1pPr>
            <a:lvl2pPr marL="914400" lvl="1" indent="-381000" algn="l">
              <a:spcBef>
                <a:spcPts val="480"/>
              </a:spcBef>
              <a:spcAft>
                <a:spcPts val="0"/>
              </a:spcAft>
              <a:buClr>
                <a:schemeClr val="dk1"/>
              </a:buClr>
              <a:buSzPts val="2400"/>
              <a:buChar char="–"/>
              <a:defRPr>
                <a:solidFill>
                  <a:schemeClr val="dk1"/>
                </a:solidFill>
              </a:defRPr>
            </a:lvl2pPr>
            <a:lvl3pPr marL="1371600" lvl="2" indent="-355600" algn="l">
              <a:spcBef>
                <a:spcPts val="400"/>
              </a:spcBef>
              <a:spcAft>
                <a:spcPts val="0"/>
              </a:spcAft>
              <a:buClr>
                <a:schemeClr val="dk1"/>
              </a:buClr>
              <a:buSzPts val="2000"/>
              <a:buChar char="•"/>
              <a:defRPr>
                <a:solidFill>
                  <a:schemeClr val="dk1"/>
                </a:solidFill>
              </a:defRPr>
            </a:lvl3pPr>
            <a:lvl4pPr marL="1828800" lvl="3" indent="-342900" algn="l">
              <a:spcBef>
                <a:spcPts val="360"/>
              </a:spcBef>
              <a:spcAft>
                <a:spcPts val="0"/>
              </a:spcAft>
              <a:buClr>
                <a:schemeClr val="dk1"/>
              </a:buClr>
              <a:buSzPts val="1800"/>
              <a:buChar char="–"/>
              <a:defRPr>
                <a:solidFill>
                  <a:schemeClr val="dk1"/>
                </a:solidFill>
              </a:defRPr>
            </a:lvl4pPr>
            <a:lvl5pPr marL="2286000" lvl="4" indent="-342900" algn="l">
              <a:spcBef>
                <a:spcPts val="360"/>
              </a:spcBef>
              <a:spcAft>
                <a:spcPts val="0"/>
              </a:spcAft>
              <a:buClr>
                <a:schemeClr val="dk1"/>
              </a:buClr>
              <a:buSzPts val="1800"/>
              <a:buChar char="»"/>
              <a:defRPr>
                <a:solidFill>
                  <a:schemeClr val="dk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
        <p:cNvGrpSpPr/>
        <p:nvPr/>
      </p:nvGrpSpPr>
      <p:grpSpPr>
        <a:xfrm>
          <a:off x="0" y="0"/>
          <a:ext cx="0" cy="0"/>
          <a:chOff x="0" y="0"/>
          <a:chExt cx="0" cy="0"/>
        </a:xfrm>
      </p:grpSpPr>
      <p:sp>
        <p:nvSpPr>
          <p:cNvPr id="26" name="Google Shape;26;p44"/>
          <p:cNvSpPr/>
          <p:nvPr/>
        </p:nvSpPr>
        <p:spPr>
          <a:xfrm>
            <a:off x="6216395" y="1556056"/>
            <a:ext cx="5361312" cy="613784"/>
          </a:xfrm>
          <a:prstGeom prst="rect">
            <a:avLst/>
          </a:prstGeom>
          <a:solidFill>
            <a:srgbClr val="FFFFFF">
              <a:alpha val="3568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7" name="Google Shape;27;p44"/>
          <p:cNvSpPr/>
          <p:nvPr/>
        </p:nvSpPr>
        <p:spPr>
          <a:xfrm>
            <a:off x="638677" y="1556792"/>
            <a:ext cx="5361312" cy="613784"/>
          </a:xfrm>
          <a:prstGeom prst="rect">
            <a:avLst/>
          </a:prstGeom>
          <a:solidFill>
            <a:srgbClr val="FFFFFF">
              <a:alpha val="3568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8" name="Google Shape;28;p4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4"/>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0" name="Google Shape;30;p44"/>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31" name="Google Shape;31;p44"/>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2" name="Google Shape;32;p44"/>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pic>
        <p:nvPicPr>
          <p:cNvPr id="33" name="Google Shape;33;p44">
            <a:hlinkClick r:id="" action="ppaction://hlinkshowjump?jump=nextslide"/>
          </p:cNvPr>
          <p:cNvPicPr preferRelativeResize="0"/>
          <p:nvPr/>
        </p:nvPicPr>
        <p:blipFill rotWithShape="1">
          <a:blip r:embed="rId2">
            <a:alphaModFix/>
          </a:blip>
          <a:srcRect/>
          <a:stretch/>
        </p:blipFill>
        <p:spPr>
          <a:xfrm>
            <a:off x="11713849" y="6309320"/>
            <a:ext cx="405329" cy="450964"/>
          </a:xfrm>
          <a:prstGeom prst="rect">
            <a:avLst/>
          </a:prstGeom>
          <a:noFill/>
          <a:ln>
            <a:noFill/>
          </a:ln>
        </p:spPr>
      </p:pic>
      <p:pic>
        <p:nvPicPr>
          <p:cNvPr id="34" name="Google Shape;34;p44">
            <a:hlinkClick r:id="" action="ppaction://hlinkshowjump?jump=previousslide"/>
          </p:cNvPr>
          <p:cNvPicPr preferRelativeResize="0"/>
          <p:nvPr/>
        </p:nvPicPr>
        <p:blipFill rotWithShape="1">
          <a:blip r:embed="rId2">
            <a:alphaModFix/>
          </a:blip>
          <a:srcRect/>
          <a:stretch/>
        </p:blipFill>
        <p:spPr>
          <a:xfrm flipH="1">
            <a:off x="62622" y="6309320"/>
            <a:ext cx="405329" cy="45096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ast slide" type="titleOnly">
  <p:cSld name="TITLE_ONLY">
    <p:spTree>
      <p:nvGrpSpPr>
        <p:cNvPr id="1" name="Shape 35"/>
        <p:cNvGrpSpPr/>
        <p:nvPr/>
      </p:nvGrpSpPr>
      <p:grpSpPr>
        <a:xfrm>
          <a:off x="0" y="0"/>
          <a:ext cx="0" cy="0"/>
          <a:chOff x="0" y="0"/>
          <a:chExt cx="0" cy="0"/>
        </a:xfrm>
      </p:grpSpPr>
      <p:sp>
        <p:nvSpPr>
          <p:cNvPr id="36" name="Google Shape;36;p4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7" name="Google Shape;37;p45">
            <a:hlinkClick r:id="" action="ppaction://hlinkshowjump?jump=previousslide"/>
          </p:cNvPr>
          <p:cNvPicPr preferRelativeResize="0"/>
          <p:nvPr/>
        </p:nvPicPr>
        <p:blipFill rotWithShape="1">
          <a:blip r:embed="rId2">
            <a:alphaModFix/>
          </a:blip>
          <a:srcRect/>
          <a:stretch/>
        </p:blipFill>
        <p:spPr>
          <a:xfrm flipH="1">
            <a:off x="62622" y="6309320"/>
            <a:ext cx="405329" cy="45096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000000"/>
            </a:gs>
            <a:gs pos="80000">
              <a:srgbClr val="0F243E"/>
            </a:gs>
            <a:gs pos="100000">
              <a:srgbClr val="538CD5"/>
            </a:gs>
          </a:gsLst>
          <a:lin ang="5400000" scaled="0"/>
        </a:gradFill>
        <a:effectLst/>
      </p:bgPr>
    </p:bg>
    <p:spTree>
      <p:nvGrpSpPr>
        <p:cNvPr id="1" name="Shape 9"/>
        <p:cNvGrpSpPr/>
        <p:nvPr/>
      </p:nvGrpSpPr>
      <p:grpSpPr>
        <a:xfrm>
          <a:off x="0" y="0"/>
          <a:ext cx="0" cy="0"/>
          <a:chOff x="0" y="0"/>
          <a:chExt cx="0" cy="0"/>
        </a:xfrm>
      </p:grpSpPr>
      <p:sp>
        <p:nvSpPr>
          <p:cNvPr id="10" name="Google Shape;10;p4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marR="0" lvl="0" algn="l" rtl="0">
              <a:spcBef>
                <a:spcPts val="0"/>
              </a:spcBef>
              <a:spcAft>
                <a:spcPts val="0"/>
              </a:spcAft>
              <a:buClr>
                <a:schemeClr val="dk1"/>
              </a:buClr>
              <a:buSzPts val="4400"/>
              <a:buFont typeface="Quattrocento Sans"/>
              <a:buNone/>
              <a:defRPr sz="4400" b="0" i="0" u="none" strike="noStrike" cap="non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0"/>
          <p:cNvSpPr txBox="1">
            <a:spLocks noGrp="1"/>
          </p:cNvSpPr>
          <p:nvPr>
            <p:ph type="body" idx="1"/>
          </p:nvPr>
        </p:nvSpPr>
        <p:spPr>
          <a:xfrm>
            <a:off x="609600" y="1268760"/>
            <a:ext cx="10972800" cy="5328592"/>
          </a:xfrm>
          <a:prstGeom prst="rect">
            <a:avLst/>
          </a:prstGeom>
          <a:noFill/>
          <a:ln>
            <a:noFill/>
          </a:ln>
        </p:spPr>
        <p:txBody>
          <a:bodyPr spcFirstLastPara="1" wrap="square" lIns="91425" tIns="45700" rIns="91425" bIns="45700" anchor="t" anchorCtr="0">
            <a:norm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9pPr>
          </a:lstStyle>
          <a:p>
            <a:endParaRPr/>
          </a:p>
        </p:txBody>
      </p:sp>
      <p:pic>
        <p:nvPicPr>
          <p:cNvPr id="12" name="Google Shape;12;p40" descr="C:\Users\jw\Documents\Visual Studio 2010\Projects\JSBubbles\JSBubbles.Game\images\themes\metro\Next.png">
            <a:hlinkClick r:id="" action="ppaction://hlinkshowjump?jump=nextslide"/>
          </p:cNvPr>
          <p:cNvPicPr preferRelativeResize="0"/>
          <p:nvPr/>
        </p:nvPicPr>
        <p:blipFill rotWithShape="1">
          <a:blip r:embed="rId7">
            <a:alphaModFix/>
          </a:blip>
          <a:srcRect/>
          <a:stretch/>
        </p:blipFill>
        <p:spPr>
          <a:xfrm>
            <a:off x="10672039" y="6348019"/>
            <a:ext cx="533400" cy="400050"/>
          </a:xfrm>
          <a:prstGeom prst="rect">
            <a:avLst/>
          </a:prstGeom>
          <a:noFill/>
          <a:ln>
            <a:noFill/>
          </a:ln>
        </p:spPr>
      </p:pic>
      <p:pic>
        <p:nvPicPr>
          <p:cNvPr id="13" name="Google Shape;13;p40"/>
          <p:cNvPicPr preferRelativeResize="0"/>
          <p:nvPr/>
        </p:nvPicPr>
        <p:blipFill rotWithShape="1">
          <a:blip r:embed="rId8">
            <a:alphaModFix/>
          </a:blip>
          <a:srcRect/>
          <a:stretch/>
        </p:blipFill>
        <p:spPr>
          <a:xfrm>
            <a:off x="11411520" y="6343213"/>
            <a:ext cx="533475" cy="400106"/>
          </a:xfrm>
          <a:prstGeom prst="rect">
            <a:avLst/>
          </a:prstGeom>
          <a:noFill/>
          <a:ln>
            <a:noFill/>
          </a:ln>
        </p:spPr>
      </p:pic>
      <p:pic>
        <p:nvPicPr>
          <p:cNvPr id="14" name="Google Shape;14;p40">
            <a:hlinkClick r:id="" action="ppaction://hlinkshowjump?jump=firstslide"/>
          </p:cNvPr>
          <p:cNvPicPr preferRelativeResize="0"/>
          <p:nvPr/>
        </p:nvPicPr>
        <p:blipFill rotWithShape="1">
          <a:blip r:embed="rId9">
            <a:alphaModFix/>
          </a:blip>
          <a:srcRect/>
          <a:stretch/>
        </p:blipFill>
        <p:spPr>
          <a:xfrm>
            <a:off x="9931877" y="6347991"/>
            <a:ext cx="533475" cy="400106"/>
          </a:xfrm>
          <a:prstGeom prst="rect">
            <a:avLst/>
          </a:prstGeom>
          <a:noFill/>
          <a:ln>
            <a:noFill/>
          </a:ln>
        </p:spPr>
      </p:pic>
      <p:pic>
        <p:nvPicPr>
          <p:cNvPr id="15" name="Google Shape;15;p40">
            <a:hlinkClick r:id="" action="ppaction://hlinkshowjump?jump=previousslide"/>
          </p:cNvPr>
          <p:cNvPicPr preferRelativeResize="0"/>
          <p:nvPr/>
        </p:nvPicPr>
        <p:blipFill rotWithShape="1">
          <a:blip r:embed="rId10">
            <a:alphaModFix/>
          </a:blip>
          <a:srcRect/>
          <a:stretch/>
        </p:blipFill>
        <p:spPr>
          <a:xfrm>
            <a:off x="9206401" y="6338466"/>
            <a:ext cx="558879" cy="419159"/>
          </a:xfrm>
          <a:prstGeom prst="rect">
            <a:avLst/>
          </a:prstGeom>
          <a:noFill/>
          <a:ln>
            <a:noFill/>
          </a:ln>
        </p:spPr>
      </p:pic>
      <p:sp>
        <p:nvSpPr>
          <p:cNvPr id="16" name="Google Shape;16;p40"/>
          <p:cNvSpPr/>
          <p:nvPr/>
        </p:nvSpPr>
        <p:spPr>
          <a:xfrm>
            <a:off x="5415345" y="6525344"/>
            <a:ext cx="1484508" cy="360040"/>
          </a:xfrm>
          <a:prstGeom prst="rect">
            <a:avLst/>
          </a:prstGeom>
          <a:blipFill rotWithShape="1">
            <a:blip r:embed="rId11">
              <a:alphaModFix amt="30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unity3d.com/learn/tutorials/topics/scripting/getaxis?playlist=17117"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unity3d.com/learn/tutorials/topics/scripting/translate-and-rotate?playlist=17117"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unity3d.com/learn/tutorials/topics/scripting/translate-and-rotate?playlist=17117"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www.codeproject.com/Articles/876478/UNITY-D-GAME-PROGRAMMING-PART"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rXYjB0kdf-U"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unity3d.com/learn/tutorials/topics/scripting/translate-and-rotate?playlist=17117"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Module-Code/Controllers/tree/main"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hyperlink" Target="https://unity3d.com/learn/tutorials/topics/scripting/translate-and-rotate?playlist=17117"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docs.unity3d.com/Documentation/ScriptReference/KeyCode.LeftArrow.html" TargetMode="External"/><Relationship Id="rId3" Type="http://schemas.openxmlformats.org/officeDocument/2006/relationships/hyperlink" Target="http://docs.unity3d.com/Documentation/ScriptReference/Input.GetKey.html" TargetMode="External"/><Relationship Id="rId7" Type="http://schemas.openxmlformats.org/officeDocument/2006/relationships/hyperlink" Target="http://docs.unity3d.com/Documentation/ScriptReference/KeyCode.DownArrow.ht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hyperlink" Target="http://docs.unity3d.com/Documentation/ScriptReference/Time-deltaTime.html" TargetMode="External"/><Relationship Id="rId5" Type="http://schemas.openxmlformats.org/officeDocument/2006/relationships/hyperlink" Target="http://docs.unity3d.com/Documentation/ScriptReference/Vector3-forward.html" TargetMode="External"/><Relationship Id="rId10" Type="http://schemas.openxmlformats.org/officeDocument/2006/relationships/hyperlink" Target="http://docs.unity3d.com/Documentation/ScriptReference/KeyCode.RightArrow.html" TargetMode="External"/><Relationship Id="rId4" Type="http://schemas.openxmlformats.org/officeDocument/2006/relationships/hyperlink" Target="http://docs.unity3d.com/Documentation/ScriptReference/KeyCode.UpArrow.html" TargetMode="External"/><Relationship Id="rId9" Type="http://schemas.openxmlformats.org/officeDocument/2006/relationships/hyperlink" Target="http://docs.unity3d.com/Documentation/ScriptReference/Vector3-up.html"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unity3d.com/learn/tutorials/topics/scripting/translate-and-rotate?playlist=17117"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chicounity3d.wordpress.com/2014/05/23/how-to-lerp-like-a-pro/"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answers.unity3d.com/questions/279815/how-to-move-a-kinematic-rigidbody-smoothly.html"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hyperlink" Target="https://www.reddit.com/r/Unity3D/comments/2b6uet/what_is_deltatime_and_where_is_it_useful/"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forum.unity.com/threads/collision-detection-for-kinematic-rigidbodies.885778/"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https://answers.unity.com/questions/1753152/kinematic-rigidbody-does-not-collide-with-wall-whe.html"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youtube.com/watch?v=rXYjB0kdf-U"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youtube.com/watch?v=rXYjB0kdf-U"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docs.unity3d.com/Manual/CollidersOverview.html#:~:text=Kinematic%20rigidbodies%20should%20be%20used,can%20be%20opened%20when%20necessary"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youtube.com/watch?v=-osaSS9L-fs"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youtube.com/watch?v=-osaSS9L-fs"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hyperlink" Target="https://answers.unity.com/questions/1730904/object-doesnt-collide-with-wall-using-transformtra.html"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www.youtube.com/watch?v=WFkbqdo2OI4"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youtube.com/watch?v=WFkbqdo2OI4"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3.xml.rels><?xml version="1.0" encoding="UTF-8" standalone="yes"?>
<Relationships xmlns="http://schemas.openxmlformats.org/package/2006/relationships"><Relationship Id="rId3" Type="http://schemas.openxmlformats.org/officeDocument/2006/relationships/hyperlink" Target="https://www.youtube.com/watch?v=WFkbqdo2OI4"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software.intel.com/en-us/articles/unity-3d-touch-gui-widgets"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hyperlink" Target="https://www.youtube.com/watch?v=nGYObojmkO4&amp;t=3s" TargetMode="Externa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docs.unity3d.com/ScriptReference/LayerMask.html" TargetMode="External"/><Relationship Id="rId7" Type="http://schemas.openxmlformats.org/officeDocument/2006/relationships/hyperlink" Target="https://docs.unity3d.com/ScriptReference/Physics.Raycast.html"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hyperlink" Target="https://docs.unity3d.com/ScriptReference/Vector3-forward.html" TargetMode="External"/><Relationship Id="rId5" Type="http://schemas.openxmlformats.org/officeDocument/2006/relationships/hyperlink" Target="https://docs.unity3d.com/ScriptReference/Vector3.html" TargetMode="External"/><Relationship Id="rId4" Type="http://schemas.openxmlformats.org/officeDocument/2006/relationships/hyperlink" Target="https://docs.unity3d.com/ScriptReference/MonoBehaviour.html"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s://gamedevbeginner.com/the-right-way-to-lerp-in-unity-with-examples/"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hyperlink" Target="https://www.youtube.com/watch?v=oXKyqAltCgI" TargetMode="External"/><Relationship Id="rId4" Type="http://schemas.openxmlformats.org/officeDocument/2006/relationships/hyperlink" Target="https://chicounity3d.wordpress.com/2014/05/23/how-to-lerp-like-a-pro/"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s://gamedevbeginner.com/the-right-way-to-lerp-in-unity-with-examples/"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hyperlink" Target="https://chicounity3d.wordpress.com/2014/05/23/how-to-lerp-like-a-pro/"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docs.unity3d.com/Documentation/ScriptReference/Vector3.Lerp.html"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www.youtube.com/watch?v=oXKyqAltCgI" TargetMode="External"/><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hyperlink" Target="https://docs.unity3d.com/ScriptReference/Vector3.MoveTowards.html" TargetMode="External"/></Relationships>
</file>

<file path=ppt/slides/_rels/slide54.xml.rels><?xml version="1.0" encoding="UTF-8" standalone="yes"?>
<Relationships xmlns="http://schemas.openxmlformats.org/package/2006/relationships"><Relationship Id="rId3" Type="http://schemas.openxmlformats.org/officeDocument/2006/relationships/hyperlink" Target="https://unity3d.com/learn/tutorials/topics/scripting/look?playlist=17117" TargetMode="External"/><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hyperlink" Target="https://docs.unity3d.com/ScriptReference/Vector3.Distance.html" TargetMode="External"/><Relationship Id="rId4" Type="http://schemas.openxmlformats.org/officeDocument/2006/relationships/hyperlink" Target="https://docs.unity3d.com/ScriptReference/Transform.LookAt.html" TargetMode="Externa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ctrTitle"/>
          </p:nvPr>
        </p:nvSpPr>
        <p:spPr>
          <a:xfrm>
            <a:off x="914400" y="2130426"/>
            <a:ext cx="10363200" cy="1010543"/>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 Interactive Media Development</a:t>
            </a:r>
            <a:endParaRPr/>
          </a:p>
        </p:txBody>
      </p:sp>
      <p:sp>
        <p:nvSpPr>
          <p:cNvPr id="44" name="Google Shape;44;p1"/>
          <p:cNvSpPr txBox="1">
            <a:spLocks noGrp="1"/>
          </p:cNvSpPr>
          <p:nvPr>
            <p:ph type="subTitle" idx="1"/>
          </p:nvPr>
        </p:nvSpPr>
        <p:spPr>
          <a:xfrm>
            <a:off x="978150" y="3212975"/>
            <a:ext cx="10299300" cy="2808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FFFF00"/>
              </a:buClr>
              <a:buSzPts val="2800"/>
              <a:buNone/>
            </a:pPr>
            <a:r>
              <a:rPr lang="en-GB" b="1">
                <a:solidFill>
                  <a:srgbClr val="FFFF00"/>
                </a:solidFill>
              </a:rPr>
              <a:t>5MMCS001W												Lecture Tutorial</a:t>
            </a:r>
            <a:endParaRPr/>
          </a:p>
          <a:p>
            <a:pPr marL="0" lvl="0" indent="0" algn="r" rtl="0">
              <a:spcBef>
                <a:spcPts val="560"/>
              </a:spcBef>
              <a:spcAft>
                <a:spcPts val="0"/>
              </a:spcAft>
              <a:buClr>
                <a:schemeClr val="dk1"/>
              </a:buClr>
              <a:buSzPts val="2800"/>
              <a:buNone/>
            </a:pPr>
            <a:endParaRPr b="1">
              <a:solidFill>
                <a:srgbClr val="FFFF00"/>
              </a:solidFill>
            </a:endParaRPr>
          </a:p>
          <a:p>
            <a:pPr marL="0" lvl="0" indent="0" algn="r" rtl="0">
              <a:spcBef>
                <a:spcPts val="560"/>
              </a:spcBef>
              <a:spcAft>
                <a:spcPts val="0"/>
              </a:spcAft>
              <a:buClr>
                <a:schemeClr val="dk1"/>
              </a:buClr>
              <a:buSzPts val="2800"/>
              <a:buNone/>
            </a:pPr>
            <a:endParaRPr b="1">
              <a:solidFill>
                <a:srgbClr val="FFFF00"/>
              </a:solidFill>
            </a:endParaRPr>
          </a:p>
          <a:p>
            <a:pPr marL="0" lvl="0" indent="0" algn="ctr" rtl="0">
              <a:spcBef>
                <a:spcPts val="560"/>
              </a:spcBef>
              <a:spcAft>
                <a:spcPts val="0"/>
              </a:spcAft>
              <a:buClr>
                <a:srgbClr val="FFFF00"/>
              </a:buClr>
              <a:buSzPts val="2800"/>
              <a:buNone/>
            </a:pPr>
            <a:r>
              <a:rPr lang="en-GB" b="1">
                <a:solidFill>
                  <a:srgbClr val="FFFF00"/>
                </a:solidFill>
              </a:rPr>
              <a:t>Input Manager (Again), Scripted Movement, Collisions  </a:t>
            </a:r>
            <a:endParaRPr>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65" name="Google Shape;65;p4"/>
          <p:cNvSpPr txBox="1"/>
          <p:nvPr/>
        </p:nvSpPr>
        <p:spPr>
          <a:xfrm>
            <a:off x="609600" y="1421654"/>
            <a:ext cx="10890600" cy="22159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Input Manager Continued</a:t>
            </a:r>
            <a:endParaRPr lang="en-US" dirty="0">
              <a:latin typeface="Calibri"/>
            </a:endParaRPr>
          </a:p>
          <a:p>
            <a:pPr marL="0" marR="0" lvl="0" indent="0" algn="l" rtl="0">
              <a:spcBef>
                <a:spcPts val="0"/>
              </a:spcBef>
              <a:spcAft>
                <a:spcPts val="0"/>
              </a:spcAft>
              <a:buNone/>
            </a:pPr>
            <a:endParaRPr lang="en-GB" sz="3600" dirty="0">
              <a:solidFill>
                <a:schemeClr val="dk1"/>
              </a:solidFill>
              <a:latin typeface="Calibri"/>
              <a:ea typeface="Quattrocento Sans"/>
            </a:endParaRPr>
          </a:p>
          <a:p>
            <a:pPr marL="0" marR="0" lvl="0" indent="0" algn="l" rtl="0">
              <a:spcBef>
                <a:spcPts val="0"/>
              </a:spcBef>
              <a:spcAft>
                <a:spcPts val="0"/>
              </a:spcAft>
              <a:buNone/>
            </a:pPr>
            <a:endParaRPr lang="en-GB" sz="2400" b="1" i="1">
              <a:solidFill>
                <a:srgbClr val="FFFF00"/>
              </a:solidFill>
              <a:latin typeface="Quattrocento Sans"/>
              <a:ea typeface="Quattrocento Sans"/>
            </a:endParaRPr>
          </a:p>
          <a:p>
            <a:pPr marL="0" marR="0" lvl="0" indent="0" algn="l" rtl="0">
              <a:spcBef>
                <a:spcPts val="0"/>
              </a:spcBef>
              <a:spcAft>
                <a:spcPts val="0"/>
              </a:spcAft>
              <a:buNone/>
            </a:pPr>
            <a:endParaRPr lang="en-GB" sz="1800">
              <a:solidFill>
                <a:srgbClr val="FFFFFF"/>
              </a:solidFill>
              <a:latin typeface="Quattrocento Sans"/>
              <a:ea typeface="Quattrocento Sans"/>
              <a:cs typeface="Quattrocento Sans"/>
            </a:endParaRPr>
          </a:p>
          <a:p>
            <a:endParaRPr lang="en-US" sz="2400" b="1">
              <a:solidFill>
                <a:srgbClr val="FFFF00"/>
              </a:solidFill>
              <a:latin typeface="Quattrocen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58" name="Google Shape;58;p3"/>
          <p:cNvSpPr txBox="1"/>
          <p:nvPr/>
        </p:nvSpPr>
        <p:spPr>
          <a:xfrm>
            <a:off x="609600" y="1421654"/>
            <a:ext cx="10890600" cy="489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Input Manager</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Each program you write, whether the program is a phone application, a web application, a game or an embedded system, needs some sort of an input. In general every program needs some sort of an input and some sort of an output. The output is what the users sees, and the input is what the user enters or gives to the program to generate the output based on some algorithm.</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Unity 3D is no different. The game engine needs to be able to process inputs from different sources:</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Keyboard</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Mouse</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Joystick(s)</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Unity 3D manages its inputs through the Input Manager. The Input Manage is accessible by selecting Edit-&gt;Project Settings-&gt;Input from the main menu bar.</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65" name="Google Shape;65;p4"/>
          <p:cNvSpPr txBox="1"/>
          <p:nvPr/>
        </p:nvSpPr>
        <p:spPr>
          <a:xfrm>
            <a:off x="609600" y="1421654"/>
            <a:ext cx="10890600" cy="52629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Input Manager Continued</a:t>
            </a:r>
            <a:endParaRPr lang="en-US">
              <a:latin typeface="Calibri"/>
            </a:endParaRPr>
          </a:p>
          <a:p>
            <a:pPr marL="0" marR="0" lvl="0" indent="0" algn="l" rtl="0">
              <a:spcBef>
                <a:spcPts val="0"/>
              </a:spcBef>
              <a:spcAft>
                <a:spcPts val="0"/>
              </a:spcAft>
              <a:buNone/>
            </a:pP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endParaRPr sz="1800" dirty="0">
              <a:solidFill>
                <a:schemeClr val="dk1"/>
              </a:solidFill>
              <a:latin typeface="Calibri"/>
              <a:ea typeface="Quattrocento Sans"/>
              <a:cs typeface="Quattrocento Sans"/>
            </a:endParaRPr>
          </a:p>
          <a:p>
            <a:r>
              <a:rPr lang="en-GB" sz="3600" i="1" dirty="0">
                <a:solidFill>
                  <a:srgbClr val="FFFF00"/>
                </a:solidFill>
                <a:latin typeface="Calibri"/>
                <a:ea typeface="Quattrocento Sans"/>
                <a:cs typeface="Quattrocento Sans"/>
                <a:sym typeface="Quattrocento Sans"/>
              </a:rPr>
              <a:t>Lego Brick tutorial is animation triggers for playback</a:t>
            </a:r>
            <a:endParaRPr>
              <a:latin typeface="Calibri"/>
            </a:endParaRPr>
          </a:p>
          <a:p>
            <a:pPr marL="0" marR="0" lvl="0" indent="0" algn="l">
              <a:spcBef>
                <a:spcPts val="0"/>
              </a:spcBef>
              <a:spcAft>
                <a:spcPts val="0"/>
              </a:spcAft>
              <a:buNone/>
            </a:pPr>
            <a:endParaRPr lang="en-GB" sz="3600" i="1" dirty="0">
              <a:solidFill>
                <a:srgbClr val="FFFF00"/>
              </a:solidFill>
              <a:latin typeface="Calibri"/>
              <a:ea typeface="Quattrocento Sans"/>
              <a:cs typeface="Quattrocento Sans"/>
            </a:endParaRPr>
          </a:p>
          <a:p>
            <a:r>
              <a:rPr lang="en-GB" sz="3600" i="1" dirty="0">
                <a:solidFill>
                  <a:srgbClr val="FFFF00"/>
                </a:solidFill>
                <a:latin typeface="Calibri"/>
                <a:ea typeface="Quattrocento Sans"/>
                <a:cs typeface="Quattrocento Sans"/>
              </a:rPr>
              <a:t>Or object transform can be adjusted directly:</a:t>
            </a:r>
          </a:p>
          <a:p>
            <a:pPr marL="0" marR="0" lvl="0" indent="0" algn="l">
              <a:spcBef>
                <a:spcPts val="0"/>
              </a:spcBef>
              <a:spcAft>
                <a:spcPts val="0"/>
              </a:spcAft>
              <a:buNone/>
            </a:pPr>
            <a:endParaRPr lang="en-GB" sz="3600" i="1" dirty="0">
              <a:solidFill>
                <a:srgbClr val="FFFF00"/>
              </a:solidFill>
              <a:latin typeface="Calibri"/>
              <a:ea typeface="Quattrocento Sans"/>
              <a:cs typeface="Quattrocento Sans"/>
            </a:endParaRPr>
          </a:p>
          <a:p>
            <a:r>
              <a:rPr lang="en-GB" sz="3600" dirty="0">
                <a:solidFill>
                  <a:srgbClr val="FFFF00"/>
                </a:solidFill>
                <a:latin typeface="Calibri"/>
              </a:rPr>
              <a:t>Unity Scripted Movement </a:t>
            </a:r>
            <a:r>
              <a:rPr lang="en-GB" sz="3600" dirty="0">
                <a:solidFill>
                  <a:srgbClr val="FFFFFF"/>
                </a:solidFill>
                <a:latin typeface="Calibri"/>
              </a:rPr>
              <a:t>(Not Animation Trigger)</a:t>
            </a:r>
            <a:endParaRPr lang="en-GB" dirty="0">
              <a:latin typeface="Calibri"/>
            </a:endParaRPr>
          </a:p>
          <a:p>
            <a:pPr marL="0" marR="0" lvl="0" indent="0" algn="l" rtl="0">
              <a:spcBef>
                <a:spcPts val="0"/>
              </a:spcBef>
              <a:spcAft>
                <a:spcPts val="0"/>
              </a:spcAft>
              <a:buNone/>
            </a:pPr>
            <a:endParaRPr lang="en-GB" sz="2400" b="1" i="1">
              <a:solidFill>
                <a:srgbClr val="FFFF00"/>
              </a:solidFill>
              <a:latin typeface="Quattrocento Sans"/>
              <a:ea typeface="Quattrocento Sans"/>
              <a:cs typeface="Quattrocento Sans"/>
            </a:endParaRPr>
          </a:p>
          <a:p>
            <a:endParaRPr lang="en-GB" sz="1800">
              <a:solidFill>
                <a:srgbClr val="FFFFFF"/>
              </a:solidFill>
              <a:latin typeface="Quattrocento Sans"/>
              <a:ea typeface="Quattrocento Sans"/>
              <a:cs typeface="Quattrocento Sans"/>
            </a:endParaRPr>
          </a:p>
          <a:p>
            <a:endParaRPr lang="en-US" sz="2400" b="1">
              <a:solidFill>
                <a:srgbClr val="FFFF00"/>
              </a:solidFill>
              <a:latin typeface="Quattrocento Sans"/>
              <a:ea typeface="Quattrocento Sans"/>
              <a:cs typeface="Quattrocento Sans"/>
            </a:endParaRPr>
          </a:p>
        </p:txBody>
      </p:sp>
    </p:spTree>
    <p:extLst>
      <p:ext uri="{BB962C8B-B14F-4D97-AF65-F5344CB8AC3E}">
        <p14:creationId xmlns:p14="http://schemas.microsoft.com/office/powerpoint/2010/main" val="1537971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90" name="Google Shape;90;p7"/>
          <p:cNvSpPr txBox="1"/>
          <p:nvPr/>
        </p:nvSpPr>
        <p:spPr>
          <a:xfrm>
            <a:off x="609600" y="1421654"/>
            <a:ext cx="10972800" cy="4893607"/>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Unity Input Manager</a:t>
            </a:r>
            <a:r>
              <a:rPr lang="en-GB" sz="3600" b="1" dirty="0">
                <a:solidFill>
                  <a:srgbClr val="FFFF00"/>
                </a:solidFill>
                <a:latin typeface="Quattrocento Sans"/>
                <a:ea typeface="Quattrocento Sans"/>
                <a:sym typeface="Quattrocento Sans"/>
              </a:rPr>
              <a:t>– Movement Scripting - Rotate</a:t>
            </a:r>
            <a:endParaRPr lang="en-GB" sz="3600" b="1" dirty="0">
              <a:solidFill>
                <a:srgbClr val="FFFF00"/>
              </a:solidFill>
              <a:latin typeface="Quattrocento Sans"/>
              <a:ea typeface="Quattrocento Sans"/>
            </a:endParaRPr>
          </a:p>
          <a:p>
            <a:pPr marL="0" marR="0" lvl="0" indent="0" algn="l">
              <a:spcBef>
                <a:spcPts val="0"/>
              </a:spcBef>
              <a:spcAft>
                <a:spcPts val="0"/>
              </a:spcAft>
              <a:buNone/>
            </a:pPr>
            <a:endParaRPr lang="en-GB" sz="1800">
              <a:solidFill>
                <a:srgbClr val="FFFFFF"/>
              </a:solidFill>
              <a:latin typeface="Quattrocento Sans"/>
              <a:ea typeface="Quattrocento Sans"/>
              <a:cs typeface="Quattrocento Sans"/>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Input key values to handle the rotation for the dynamically created primitives in the following order:</a:t>
            </a:r>
            <a:endParaRPr dirty="0">
              <a:solidFill>
                <a:schemeClr val="dk1"/>
              </a:solidFill>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Key A will be responsible to rotate Cube1’ on the Y-Axis.</a:t>
            </a:r>
            <a:endParaRPr dirty="0">
              <a:solidFill>
                <a:schemeClr val="dk1"/>
              </a:solidFill>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Key B will be responsible to rotate Cube2’ on the X-Axis.</a:t>
            </a:r>
            <a:endParaRPr dirty="0">
              <a:solidFill>
                <a:schemeClr val="dk1"/>
              </a:solidFill>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Key C will be responsible to rotate Cube3’ on the Z-Axis.</a:t>
            </a:r>
            <a:endParaRPr dirty="0">
              <a:solidFill>
                <a:schemeClr val="dk1"/>
              </a:solidFill>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Notice, that the </a:t>
            </a:r>
            <a:r>
              <a:rPr lang="en-GB" sz="1800" b="1" dirty="0">
                <a:solidFill>
                  <a:schemeClr val="dk1"/>
                </a:solidFill>
                <a:latin typeface="Quattrocento Sans"/>
                <a:ea typeface="Quattrocento Sans"/>
                <a:cs typeface="Quattrocento Sans"/>
                <a:sym typeface="Quattrocento Sans"/>
              </a:rPr>
              <a:t>Update()</a:t>
            </a:r>
            <a:r>
              <a:rPr lang="en-GB" sz="1800" dirty="0">
                <a:solidFill>
                  <a:schemeClr val="dk1"/>
                </a:solidFill>
                <a:latin typeface="Quattrocento Sans"/>
                <a:ea typeface="Quattrocento Sans"/>
                <a:cs typeface="Quattrocento Sans"/>
                <a:sym typeface="Quattrocento Sans"/>
              </a:rPr>
              <a:t> function is where you place the logic to perform your Input and Output. The code checks to see if the primitives have been initialized, and if true, then it will check for input from the user. Based on the key value it will apply the appropriate rotation to the Game Object.</a:t>
            </a:r>
            <a:endParaRPr dirty="0">
              <a:solidFill>
                <a:schemeClr val="dk1"/>
              </a:solidFill>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Each primitive will rotate independently only when the specific key associated to its rotation is pressed. For instance, if you press the A key, Cube1’ will continuously rotate until you stop pressing it. It will stop at the last rotation angle where you lifted your finger from the key.</a:t>
            </a:r>
            <a:endParaRPr sz="1800" dirty="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97" name="Google Shape;97;p8"/>
          <p:cNvSpPr txBox="1"/>
          <p:nvPr/>
        </p:nvSpPr>
        <p:spPr>
          <a:xfrm>
            <a:off x="609600" y="1421654"/>
            <a:ext cx="10890600" cy="5293716"/>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Unity Input Manager – Movement Scripting - Rotate</a:t>
            </a:r>
            <a:endParaRPr sz="3600" b="1" dirty="0">
              <a:solidFill>
                <a:srgbClr val="FFFF00"/>
              </a:solidFill>
              <a:latin typeface="Quattrocento Sans"/>
              <a:ea typeface="Quattrocento Sans"/>
              <a:cs typeface="Quattrocento Sans"/>
              <a:sym typeface="Quattrocento Sans"/>
            </a:endParaRPr>
          </a:p>
          <a:p>
            <a:endParaRPr sz="1800">
              <a:solidFill>
                <a:schemeClr val="dk1"/>
              </a:solidFill>
              <a:latin typeface="Quattrocento Sans"/>
              <a:ea typeface="Quattrocento Sans"/>
              <a:cs typeface="Quattrocento Sans"/>
              <a:sym typeface="Quattrocento Sans"/>
            </a:endParaRPr>
          </a:p>
          <a:p>
            <a:r>
              <a:rPr lang="en-GB" sz="2000" b="1" i="1" err="1">
                <a:solidFill>
                  <a:srgbClr val="FFFF00"/>
                </a:solidFill>
                <a:latin typeface="Quattrocento Sans"/>
                <a:ea typeface="Quattrocento Sans"/>
                <a:cs typeface="Quattrocento Sans"/>
                <a:sym typeface="Quattrocento Sans"/>
              </a:rPr>
              <a:t>CreatePrimitivesFromImport.cs</a:t>
            </a:r>
            <a:r>
              <a:rPr lang="en-GB" sz="2000" b="1" i="1" dirty="0">
                <a:solidFill>
                  <a:srgbClr val="FFFF00"/>
                </a:solidFill>
                <a:latin typeface="Quattrocento Sans"/>
                <a:ea typeface="Quattrocento Sans"/>
                <a:cs typeface="Quattrocento Sans"/>
                <a:sym typeface="Quattrocento Sans"/>
              </a:rPr>
              <a:t> – on Main Camera, Can access all Cube Game Objects </a:t>
            </a:r>
            <a:endParaRPr lang="en-GB" sz="1800" dirty="0">
              <a:solidFill>
                <a:srgbClr val="FFFFFF"/>
              </a:solidFill>
              <a:latin typeface="Quattrocento Sans"/>
              <a:ea typeface="Quattrocento Sans"/>
              <a:cs typeface="Quattrocento Sans"/>
              <a:sym typeface="Quattrocento Sans"/>
            </a:endParaRPr>
          </a:p>
          <a:p>
            <a:endParaRPr lang="en-GB" sz="2400" b="1" dirty="0">
              <a:solidFill>
                <a:srgbClr val="FFFF00"/>
              </a:solidFill>
              <a:latin typeface="Quattrocento Sans"/>
              <a:ea typeface="Quattrocento Sans"/>
              <a:cs typeface="Quattrocento Sans"/>
              <a:sym typeface="Quattrocento Sans"/>
            </a:endParaRPr>
          </a:p>
          <a:p>
            <a:r>
              <a:rPr lang="en-GB" sz="2400" b="1" dirty="0">
                <a:solidFill>
                  <a:srgbClr val="FFFF00"/>
                </a:solidFill>
                <a:latin typeface="Quattrocento Sans"/>
                <a:ea typeface="Quattrocento Sans"/>
                <a:cs typeface="Quattrocento Sans"/>
                <a:sym typeface="Quattrocento Sans"/>
              </a:rPr>
              <a:t>Rotate:</a:t>
            </a:r>
            <a:endParaRPr lang="en-GB" sz="1800" dirty="0">
              <a:latin typeface="Quattrocento Sans"/>
              <a:ea typeface="Quattrocento Sans"/>
              <a:cs typeface="Quattrocento Sans"/>
            </a:endParaRPr>
          </a:p>
          <a:p>
            <a:r>
              <a:rPr lang="en-GB" sz="1800" dirty="0">
                <a:solidFill>
                  <a:schemeClr val="dk1"/>
                </a:solidFill>
                <a:latin typeface="Quattrocento Sans"/>
                <a:ea typeface="Quattrocento Sans"/>
                <a:cs typeface="Quattrocento Sans"/>
                <a:sym typeface="Quattrocento Sans"/>
              </a:rPr>
              <a:t>if(</a:t>
            </a:r>
            <a:r>
              <a:rPr lang="en-GB" sz="1800" dirty="0" err="1">
                <a:solidFill>
                  <a:schemeClr val="dk1"/>
                </a:solidFill>
                <a:latin typeface="Quattrocento Sans"/>
                <a:ea typeface="Quattrocento Sans"/>
                <a:cs typeface="Quattrocento Sans"/>
                <a:sym typeface="Quattrocento Sans"/>
              </a:rPr>
              <a:t>Input.GetKey</a:t>
            </a:r>
            <a:r>
              <a:rPr lang="en-GB" sz="1800" dirty="0">
                <a:solidFill>
                  <a:schemeClr val="dk1"/>
                </a:solidFill>
                <a:latin typeface="Quattrocento Sans"/>
                <a:ea typeface="Quattrocento Sans"/>
                <a:cs typeface="Quattrocento Sans"/>
                <a:sym typeface="Quattrocento Sans"/>
              </a:rPr>
              <a:t>(</a:t>
            </a:r>
            <a:r>
              <a:rPr lang="en-GB" sz="1800" dirty="0" err="1">
                <a:solidFill>
                  <a:schemeClr val="dk1"/>
                </a:solidFill>
                <a:latin typeface="Quattrocento Sans"/>
                <a:ea typeface="Quattrocento Sans"/>
                <a:cs typeface="Quattrocento Sans"/>
                <a:sym typeface="Quattrocento Sans"/>
              </a:rPr>
              <a:t>KeyCode.A</a:t>
            </a:r>
            <a:r>
              <a:rPr lang="en-GB" sz="1800" dirty="0">
                <a:solidFill>
                  <a:schemeClr val="dk1"/>
                </a:solidFill>
                <a:latin typeface="Quattrocento Sans"/>
                <a:ea typeface="Quattrocento Sans"/>
                <a:cs typeface="Quattrocento Sans"/>
                <a:sym typeface="Quattrocento Sans"/>
              </a:rPr>
              <a:t>)){</a:t>
            </a:r>
            <a:br>
              <a:rPr lang="en-GB" sz="1800"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this.cube1.transform.Rotate(new Vector3(0,1,0), 1);</a:t>
            </a:r>
            <a:br>
              <a:rPr lang="en-GB" sz="1800"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a:t>
            </a:r>
            <a:br>
              <a:rPr lang="en-GB" sz="1800"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a:t>
            </a:r>
            <a:br>
              <a:rPr lang="en-GB" sz="1800" dirty="0">
                <a:latin typeface="Quattrocento Sans"/>
                <a:ea typeface="Quattrocento Sans"/>
                <a:cs typeface="Quattrocento Sans"/>
                <a:sym typeface="Quattrocento Sans"/>
              </a:rPr>
            </a:br>
            <a:r>
              <a:rPr lang="en-GB" sz="1800" dirty="0">
                <a:solidFill>
                  <a:schemeClr val="dk1"/>
                </a:solidFill>
                <a:latin typeface="Quattrocento Sans"/>
                <a:ea typeface="Quattrocento Sans"/>
                <a:cs typeface="Quattrocento Sans"/>
                <a:sym typeface="Quattrocento Sans"/>
              </a:rPr>
              <a:t>   // apply the x-axis transform to Cube2'</a:t>
            </a:r>
            <a:br>
              <a:rPr lang="en-GB" sz="1800"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if(</a:t>
            </a:r>
            <a:r>
              <a:rPr lang="en-GB" sz="1800" dirty="0" err="1">
                <a:solidFill>
                  <a:schemeClr val="dk1"/>
                </a:solidFill>
                <a:latin typeface="Quattrocento Sans"/>
                <a:ea typeface="Quattrocento Sans"/>
                <a:cs typeface="Quattrocento Sans"/>
                <a:sym typeface="Quattrocento Sans"/>
              </a:rPr>
              <a:t>Input.GetKey</a:t>
            </a:r>
            <a:r>
              <a:rPr lang="en-GB" sz="1800" dirty="0">
                <a:solidFill>
                  <a:schemeClr val="dk1"/>
                </a:solidFill>
                <a:latin typeface="Quattrocento Sans"/>
                <a:ea typeface="Quattrocento Sans"/>
                <a:cs typeface="Quattrocento Sans"/>
                <a:sym typeface="Quattrocento Sans"/>
              </a:rPr>
              <a:t>(</a:t>
            </a:r>
            <a:r>
              <a:rPr lang="en-GB" sz="1800" dirty="0" err="1">
                <a:solidFill>
                  <a:schemeClr val="dk1"/>
                </a:solidFill>
                <a:latin typeface="Quattrocento Sans"/>
                <a:ea typeface="Quattrocento Sans"/>
                <a:cs typeface="Quattrocento Sans"/>
                <a:sym typeface="Quattrocento Sans"/>
              </a:rPr>
              <a:t>KeyCode.B</a:t>
            </a:r>
            <a:r>
              <a:rPr lang="en-GB" sz="1800" dirty="0">
                <a:solidFill>
                  <a:schemeClr val="dk1"/>
                </a:solidFill>
                <a:latin typeface="Quattrocento Sans"/>
                <a:ea typeface="Quattrocento Sans"/>
                <a:cs typeface="Quattrocento Sans"/>
                <a:sym typeface="Quattrocento Sans"/>
              </a:rPr>
              <a:t>)){</a:t>
            </a:r>
            <a:br>
              <a:rPr lang="en-GB" sz="1800"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this.cube2.transform.Rotate(new Vector3(1,0,0), 1);</a:t>
            </a:r>
            <a:br>
              <a:rPr lang="en-GB" sz="1800"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a:t>
            </a:r>
            <a:br>
              <a:rPr lang="en-GB" sz="1800"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 apply the z-axis transform to Cube3'</a:t>
            </a:r>
            <a:br>
              <a:rPr lang="en-GB" sz="1800"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if(</a:t>
            </a:r>
            <a:r>
              <a:rPr lang="en-GB" sz="1800" dirty="0" err="1">
                <a:solidFill>
                  <a:schemeClr val="dk1"/>
                </a:solidFill>
                <a:latin typeface="Quattrocento Sans"/>
                <a:ea typeface="Quattrocento Sans"/>
                <a:cs typeface="Quattrocento Sans"/>
                <a:sym typeface="Quattrocento Sans"/>
              </a:rPr>
              <a:t>Input.GetKey</a:t>
            </a:r>
            <a:r>
              <a:rPr lang="en-GB" sz="1800" dirty="0">
                <a:solidFill>
                  <a:schemeClr val="dk1"/>
                </a:solidFill>
                <a:latin typeface="Quattrocento Sans"/>
                <a:ea typeface="Quattrocento Sans"/>
                <a:cs typeface="Quattrocento Sans"/>
                <a:sym typeface="Quattrocento Sans"/>
              </a:rPr>
              <a:t>(</a:t>
            </a:r>
            <a:r>
              <a:rPr lang="en-GB" sz="1800" dirty="0" err="1">
                <a:solidFill>
                  <a:schemeClr val="dk1"/>
                </a:solidFill>
                <a:latin typeface="Quattrocento Sans"/>
                <a:ea typeface="Quattrocento Sans"/>
                <a:cs typeface="Quattrocento Sans"/>
                <a:sym typeface="Quattrocento Sans"/>
              </a:rPr>
              <a:t>KeyCode.C</a:t>
            </a:r>
            <a:r>
              <a:rPr lang="en-GB" sz="1800" dirty="0">
                <a:solidFill>
                  <a:schemeClr val="dk1"/>
                </a:solidFill>
                <a:latin typeface="Quattrocento Sans"/>
                <a:ea typeface="Quattrocento Sans"/>
                <a:cs typeface="Quattrocento Sans"/>
                <a:sym typeface="Quattrocento Sans"/>
              </a:rPr>
              <a:t>)){</a:t>
            </a:r>
            <a:br>
              <a:rPr lang="en-GB" sz="1800"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this.cube3.transform.Rotate(new Vector3(0,0,1), 1);</a:t>
            </a:r>
            <a:br>
              <a:rPr lang="en-GB" sz="1800"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a:t>
            </a:r>
            <a:endParaRPr sz="2400" b="1" dirty="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04" name="Google Shape;104;p10"/>
          <p:cNvSpPr txBox="1"/>
          <p:nvPr/>
        </p:nvSpPr>
        <p:spPr>
          <a:xfrm>
            <a:off x="609600" y="1421654"/>
            <a:ext cx="10890738" cy="5355272"/>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Unity Input Manager</a:t>
            </a:r>
            <a:r>
              <a:rPr lang="en-GB" sz="3600" b="1" dirty="0">
                <a:solidFill>
                  <a:srgbClr val="FFFF00"/>
                </a:solidFill>
                <a:latin typeface="Quattrocento Sans"/>
                <a:ea typeface="Quattrocento Sans"/>
                <a:sym typeface="Quattrocento Sans"/>
              </a:rPr>
              <a:t>– Movement Scripting – Get Axis</a:t>
            </a:r>
            <a:endParaRPr lang="en-GB" sz="3600" b="1" dirty="0">
              <a:solidFill>
                <a:srgbClr val="FFFF00"/>
              </a:solidFill>
              <a:latin typeface="Quattrocento Sans"/>
              <a:ea typeface="Quattrocento Sans"/>
            </a:endParaRPr>
          </a:p>
          <a:p>
            <a:pPr marL="0" marR="0" lvl="0" indent="0" algn="l" rtl="0">
              <a:spcBef>
                <a:spcPts val="0"/>
              </a:spcBef>
              <a:spcAft>
                <a:spcPts val="0"/>
              </a:spcAft>
              <a:buNone/>
            </a:pPr>
            <a:r>
              <a:rPr lang="en-GB" sz="1800" b="1" u="sng" dirty="0">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https://unity3d.com/learn/tutorials/topics/scripting/getaxis?playlist=17117</a:t>
            </a:r>
            <a:endParaRPr sz="1800" b="1" dirty="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dirty="0">
                <a:solidFill>
                  <a:srgbClr val="FFFF00"/>
                </a:solidFill>
                <a:latin typeface="Quattrocento Sans"/>
                <a:ea typeface="Quattrocento Sans"/>
                <a:cs typeface="Quattrocento Sans"/>
                <a:sym typeface="Quattrocento Sans"/>
              </a:rPr>
              <a:t>Get Axis:</a:t>
            </a:r>
            <a:endParaRPr dirty="0"/>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dirty="0">
                <a:solidFill>
                  <a:schemeClr val="tx1"/>
                </a:solidFill>
                <a:latin typeface="Quattrocento Sans"/>
                <a:ea typeface="Quattrocento Sans"/>
                <a:cs typeface="Quattrocento Sans"/>
                <a:sym typeface="Quattrocento Sans"/>
              </a:rPr>
              <a:t>Unlike Get Key and </a:t>
            </a:r>
            <a:r>
              <a:rPr lang="en-GB" sz="2400" err="1">
                <a:solidFill>
                  <a:schemeClr val="tx1"/>
                </a:solidFill>
                <a:latin typeface="Quattrocento Sans"/>
                <a:ea typeface="Quattrocento Sans"/>
                <a:cs typeface="Quattrocento Sans"/>
                <a:sym typeface="Quattrocento Sans"/>
              </a:rPr>
              <a:t>GetButton</a:t>
            </a:r>
            <a:r>
              <a:rPr lang="en-GB" sz="2400" dirty="0">
                <a:solidFill>
                  <a:schemeClr val="tx1"/>
                </a:solidFill>
                <a:latin typeface="Quattrocento Sans"/>
                <a:ea typeface="Quattrocento Sans"/>
                <a:cs typeface="Quattrocento Sans"/>
                <a:sym typeface="Quattrocento Sans"/>
              </a:rPr>
              <a:t>, (Bool)</a:t>
            </a:r>
            <a:endParaRPr>
              <a:solidFill>
                <a:schemeClr val="tx1"/>
              </a:solidFill>
            </a:endParaRPr>
          </a:p>
          <a:p>
            <a:pPr marL="0" marR="0" lvl="0" indent="0" algn="l" rtl="0">
              <a:spcBef>
                <a:spcPts val="0"/>
              </a:spcBef>
              <a:spcAft>
                <a:spcPts val="0"/>
              </a:spcAft>
              <a:buNone/>
            </a:pPr>
            <a:r>
              <a:rPr lang="en-GB" sz="2400" dirty="0">
                <a:solidFill>
                  <a:schemeClr val="tx1"/>
                </a:solidFill>
                <a:latin typeface="Quattrocento Sans"/>
                <a:ea typeface="Quattrocento Sans"/>
                <a:cs typeface="Quattrocento Sans"/>
                <a:sym typeface="Quattrocento Sans"/>
              </a:rPr>
              <a:t>Returns float value between -1 and 1</a:t>
            </a:r>
            <a:endParaRPr>
              <a:solidFill>
                <a:schemeClr val="tx1"/>
              </a:solidFill>
            </a:endParaRPr>
          </a:p>
          <a:p>
            <a:pPr marL="0" marR="0" lvl="0" indent="0" algn="l" rtl="0">
              <a:spcBef>
                <a:spcPts val="0"/>
              </a:spcBef>
              <a:spcAft>
                <a:spcPts val="0"/>
              </a:spcAft>
              <a:buNone/>
            </a:pPr>
            <a:r>
              <a:rPr lang="en-GB" sz="2400" dirty="0">
                <a:solidFill>
                  <a:schemeClr val="tx1"/>
                </a:solidFill>
                <a:latin typeface="Quattrocento Sans"/>
                <a:ea typeface="Quattrocento Sans"/>
                <a:cs typeface="Quattrocento Sans"/>
                <a:sym typeface="Quattrocento Sans"/>
              </a:rPr>
              <a:t>Setting is Input Manager – edit/Project Settings/Input/</a:t>
            </a:r>
            <a:endParaRPr>
              <a:solidFill>
                <a:schemeClr val="tx1"/>
              </a:solidFill>
            </a:endParaRPr>
          </a:p>
          <a:p>
            <a:pPr marL="0" marR="0" lvl="0" indent="0" algn="l" rtl="0">
              <a:spcBef>
                <a:spcPts val="0"/>
              </a:spcBef>
              <a:spcAft>
                <a:spcPts val="0"/>
              </a:spcAft>
              <a:buNone/>
            </a:pPr>
            <a:endParaRPr sz="2400" dirty="0">
              <a:solidFill>
                <a:schemeClr val="tx1"/>
              </a:solidFill>
              <a:latin typeface="Quattrocento Sans"/>
              <a:ea typeface="Quattrocento Sans"/>
              <a:cs typeface="Quattrocento Sans"/>
            </a:endParaRPr>
          </a:p>
          <a:p>
            <a:pPr marL="0" marR="0" lvl="0" indent="0" algn="l" rtl="0">
              <a:spcBef>
                <a:spcPts val="0"/>
              </a:spcBef>
              <a:spcAft>
                <a:spcPts val="0"/>
              </a:spcAft>
              <a:buNone/>
            </a:pPr>
            <a:r>
              <a:rPr lang="en-GB" sz="2400" dirty="0">
                <a:solidFill>
                  <a:schemeClr val="tx1"/>
                </a:solidFill>
                <a:latin typeface="Quattrocento Sans"/>
                <a:ea typeface="Quattrocento Sans"/>
                <a:cs typeface="Quattrocento Sans"/>
                <a:sym typeface="Quattrocento Sans"/>
              </a:rPr>
              <a:t>Horizontal and Vertical are the standard.</a:t>
            </a:r>
            <a:endParaRPr>
              <a:solidFill>
                <a:schemeClr val="tx1"/>
              </a:solidFill>
            </a:endParaRPr>
          </a:p>
          <a:p>
            <a:pPr marL="0" marR="0" lvl="0" indent="0" algn="l" rtl="0">
              <a:spcBef>
                <a:spcPts val="0"/>
              </a:spcBef>
              <a:spcAft>
                <a:spcPts val="0"/>
              </a:spcAft>
              <a:buNone/>
            </a:pPr>
            <a:r>
              <a:rPr lang="en-GB" sz="2400" dirty="0">
                <a:solidFill>
                  <a:schemeClr val="tx1"/>
                </a:solidFill>
                <a:latin typeface="Quattrocento Sans"/>
                <a:ea typeface="Quattrocento Sans"/>
                <a:cs typeface="Quattrocento Sans"/>
                <a:sym typeface="Quattrocento Sans"/>
              </a:rPr>
              <a:t>Keys can be set in input manager…</a:t>
            </a:r>
            <a:endParaRPr dirty="0">
              <a:solidFill>
                <a:schemeClr val="tx1"/>
              </a:solidFill>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72" name="Google Shape;72;p5"/>
          <p:cNvSpPr txBox="1"/>
          <p:nvPr/>
        </p:nvSpPr>
        <p:spPr>
          <a:xfrm>
            <a:off x="609600" y="1421654"/>
            <a:ext cx="10890600" cy="1293000"/>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Unity Input Manager – in Project Settings</a:t>
            </a:r>
            <a:endParaRPr sz="1800" dirty="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pic>
        <p:nvPicPr>
          <p:cNvPr id="73" name="Google Shape;73;p5"/>
          <p:cNvPicPr preferRelativeResize="0"/>
          <p:nvPr/>
        </p:nvPicPr>
        <p:blipFill rotWithShape="1">
          <a:blip r:embed="rId3">
            <a:alphaModFix/>
          </a:blip>
          <a:srcRect/>
          <a:stretch/>
        </p:blipFill>
        <p:spPr>
          <a:xfrm>
            <a:off x="738706" y="2454875"/>
            <a:ext cx="1805371" cy="4139340"/>
          </a:xfrm>
          <a:prstGeom prst="rect">
            <a:avLst/>
          </a:prstGeom>
          <a:noFill/>
          <a:ln>
            <a:noFill/>
          </a:ln>
        </p:spPr>
      </p:pic>
      <p:pic>
        <p:nvPicPr>
          <p:cNvPr id="74" name="Google Shape;74;p5"/>
          <p:cNvPicPr preferRelativeResize="0"/>
          <p:nvPr/>
        </p:nvPicPr>
        <p:blipFill rotWithShape="1">
          <a:blip r:embed="rId4">
            <a:alphaModFix/>
          </a:blip>
          <a:srcRect/>
          <a:stretch/>
        </p:blipFill>
        <p:spPr>
          <a:xfrm>
            <a:off x="2673183" y="2454875"/>
            <a:ext cx="1805370" cy="4139340"/>
          </a:xfrm>
          <a:prstGeom prst="rect">
            <a:avLst/>
          </a:prstGeom>
          <a:noFill/>
          <a:ln>
            <a:noFill/>
          </a:ln>
        </p:spPr>
      </p:pic>
      <p:pic>
        <p:nvPicPr>
          <p:cNvPr id="75" name="Google Shape;75;p5"/>
          <p:cNvPicPr preferRelativeResize="0"/>
          <p:nvPr/>
        </p:nvPicPr>
        <p:blipFill rotWithShape="1">
          <a:blip r:embed="rId5">
            <a:alphaModFix/>
          </a:blip>
          <a:srcRect/>
          <a:stretch/>
        </p:blipFill>
        <p:spPr>
          <a:xfrm>
            <a:off x="4607658" y="2454875"/>
            <a:ext cx="1805370" cy="413934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82" name="Google Shape;82;p6"/>
          <p:cNvSpPr txBox="1"/>
          <p:nvPr/>
        </p:nvSpPr>
        <p:spPr>
          <a:xfrm>
            <a:off x="609600" y="1421654"/>
            <a:ext cx="8835000" cy="6003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Input Manager</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Figure 1 lists all of the out of the box Input configurations defined in the game engine. Let’s go ahead and expand the first Input Definition called </a:t>
            </a:r>
            <a:r>
              <a:rPr lang="en-GB" sz="1800" b="1">
                <a:solidFill>
                  <a:schemeClr val="dk1"/>
                </a:solidFill>
                <a:latin typeface="Quattrocento Sans"/>
                <a:ea typeface="Quattrocento Sans"/>
                <a:cs typeface="Quattrocento Sans"/>
                <a:sym typeface="Quattrocento Sans"/>
              </a:rPr>
              <a:t>Horizontal</a:t>
            </a:r>
            <a:r>
              <a:rPr lang="en-GB" sz="1800">
                <a:solidFill>
                  <a:schemeClr val="dk1"/>
                </a:solidFill>
                <a:latin typeface="Quattrocento Sans"/>
                <a:ea typeface="Quattrocento Sans"/>
                <a:cs typeface="Quattrocento Sans"/>
                <a:sym typeface="Quattrocento Sans"/>
              </a:rPr>
              <a:t>. Looking at Figure 2, you will notice the attributes that are defined under the Horizontal Axis input configuration. The following are the properties of the input configuration that are important to take a note of:</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Name:</a:t>
            </a:r>
            <a:r>
              <a:rPr lang="en-GB" sz="1800">
                <a:solidFill>
                  <a:schemeClr val="dk1"/>
                </a:solidFill>
                <a:latin typeface="Quattrocento Sans"/>
                <a:ea typeface="Quattrocento Sans"/>
                <a:cs typeface="Quattrocento Sans"/>
                <a:sym typeface="Quattrocento Sans"/>
              </a:rPr>
              <a:t> the name of the axis as defines in the Input Manager. This is the name that you can refer to in your C# code for to detect and perform an operation as desired.</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Positive Button:</a:t>
            </a:r>
            <a:r>
              <a:rPr lang="en-GB" sz="1800">
                <a:solidFill>
                  <a:schemeClr val="dk1"/>
                </a:solidFill>
                <a:latin typeface="Quattrocento Sans"/>
                <a:ea typeface="Quattrocento Sans"/>
                <a:cs typeface="Quattrocento Sans"/>
                <a:sym typeface="Quattrocento Sans"/>
              </a:rPr>
              <a:t> defines the primary button that will provide the positive direction / force.</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Negative Button:</a:t>
            </a:r>
            <a:r>
              <a:rPr lang="en-GB" sz="1800">
                <a:solidFill>
                  <a:schemeClr val="dk1"/>
                </a:solidFill>
                <a:latin typeface="Quattrocento Sans"/>
                <a:ea typeface="Quattrocento Sans"/>
                <a:cs typeface="Quattrocento Sans"/>
                <a:sym typeface="Quattrocento Sans"/>
              </a:rPr>
              <a:t> defines the primary button that will provide the negative direction / force.</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Alt. Positive Button:</a:t>
            </a:r>
            <a:r>
              <a:rPr lang="en-GB" sz="1800">
                <a:solidFill>
                  <a:schemeClr val="dk1"/>
                </a:solidFill>
                <a:latin typeface="Quattrocento Sans"/>
                <a:ea typeface="Quattrocento Sans"/>
                <a:cs typeface="Quattrocento Sans"/>
                <a:sym typeface="Quattrocento Sans"/>
              </a:rPr>
              <a:t> same as the positive button, but defines a secondary input intake.</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Alt. Negative Button:</a:t>
            </a:r>
            <a:r>
              <a:rPr lang="en-GB" sz="1800">
                <a:solidFill>
                  <a:schemeClr val="dk1"/>
                </a:solidFill>
                <a:latin typeface="Quattrocento Sans"/>
                <a:ea typeface="Quattrocento Sans"/>
                <a:cs typeface="Quattrocento Sans"/>
                <a:sym typeface="Quattrocento Sans"/>
              </a:rPr>
              <a:t> same as the negative button, but defines a secondary input intake.</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Type:</a:t>
            </a:r>
            <a:r>
              <a:rPr lang="en-GB" sz="1800">
                <a:solidFill>
                  <a:schemeClr val="dk1"/>
                </a:solidFill>
                <a:latin typeface="Quattrocento Sans"/>
                <a:ea typeface="Quattrocento Sans"/>
                <a:cs typeface="Quattrocento Sans"/>
                <a:sym typeface="Quattrocento Sans"/>
              </a:rPr>
              <a:t> defines where the input source is coming from; (Keyboard/Mouse/Joystick).</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Axis:</a:t>
            </a:r>
            <a:r>
              <a:rPr lang="en-GB" sz="1800">
                <a:solidFill>
                  <a:schemeClr val="dk1"/>
                </a:solidFill>
                <a:latin typeface="Quattrocento Sans"/>
                <a:ea typeface="Quattrocento Sans"/>
                <a:cs typeface="Quattrocento Sans"/>
                <a:sym typeface="Quattrocento Sans"/>
              </a:rPr>
              <a:t> which axis in the world should the force be applied to.</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pic>
        <p:nvPicPr>
          <p:cNvPr id="83" name="Google Shape;83;p6"/>
          <p:cNvPicPr preferRelativeResize="0"/>
          <p:nvPr/>
        </p:nvPicPr>
        <p:blipFill rotWithShape="1">
          <a:blip r:embed="rId3">
            <a:alphaModFix/>
          </a:blip>
          <a:srcRect/>
          <a:stretch/>
        </p:blipFill>
        <p:spPr>
          <a:xfrm>
            <a:off x="9444608" y="1309814"/>
            <a:ext cx="2137792" cy="490151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18" name="Google Shape;118;p12"/>
          <p:cNvSpPr txBox="1"/>
          <p:nvPr/>
        </p:nvSpPr>
        <p:spPr>
          <a:xfrm>
            <a:off x="609600" y="1421654"/>
            <a:ext cx="11488625" cy="50167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dirty="0">
                <a:solidFill>
                  <a:srgbClr val="FFFF00"/>
                </a:solidFill>
                <a:latin typeface="Quattrocento Sans"/>
                <a:ea typeface="Quattrocento Sans"/>
                <a:cs typeface="Quattrocento Sans"/>
                <a:sym typeface="Quattrocento Sans"/>
              </a:rPr>
              <a:t>Unity Scripted Movement (Not Animation Trigger)</a:t>
            </a:r>
            <a:endParaRPr dirty="0"/>
          </a:p>
          <a:p>
            <a:br>
              <a:rPr lang="en-GB" sz="3600" b="1" dirty="0">
                <a:latin typeface="Quattrocento Sans"/>
                <a:ea typeface="Quattrocento Sans"/>
                <a:cs typeface="Quattrocento Sans"/>
              </a:rPr>
            </a:br>
            <a:r>
              <a:rPr lang="en-GB" sz="3600" b="1" dirty="0">
                <a:solidFill>
                  <a:srgbClr val="FFFF00"/>
                </a:solidFill>
                <a:latin typeface="Quattrocento Sans"/>
                <a:ea typeface="Quattrocento Sans"/>
                <a:cs typeface="Quattrocento Sans"/>
                <a:sym typeface="Quattrocento Sans"/>
              </a:rPr>
              <a:t>Direct Input - </a:t>
            </a:r>
            <a:r>
              <a:rPr lang="en-GB" sz="2400" b="1" dirty="0">
                <a:solidFill>
                  <a:srgbClr val="FFFFFF"/>
                </a:solidFill>
                <a:latin typeface="Quattrocento Sans"/>
                <a:ea typeface="Quattrocento Sans"/>
                <a:cs typeface="Quattrocento Sans"/>
                <a:sym typeface="Quattrocento Sans"/>
              </a:rPr>
              <a:t>Moving by setting </a:t>
            </a:r>
            <a:r>
              <a:rPr lang="en-GB" sz="2400" b="1" err="1">
                <a:solidFill>
                  <a:srgbClr val="FFFFFF"/>
                </a:solidFill>
                <a:latin typeface="Quattrocento Sans"/>
                <a:ea typeface="Quattrocento Sans"/>
                <a:cs typeface="Quattrocento Sans"/>
                <a:sym typeface="Quattrocento Sans"/>
              </a:rPr>
              <a:t>transform.position</a:t>
            </a:r>
            <a:r>
              <a:rPr lang="en-GB" sz="2400" b="1">
                <a:solidFill>
                  <a:srgbClr val="FFFFFF"/>
                </a:solidFill>
                <a:latin typeface="Quattrocento Sans"/>
                <a:ea typeface="Quattrocento Sans"/>
                <a:cs typeface="Quattrocento Sans"/>
                <a:sym typeface="Quattrocento Sans"/>
              </a:rPr>
              <a:t> or </a:t>
            </a:r>
            <a:r>
              <a:rPr lang="en-GB" sz="2400" b="1" err="1">
                <a:solidFill>
                  <a:srgbClr val="FFFFFF"/>
                </a:solidFill>
                <a:latin typeface="Quattrocento Sans"/>
                <a:ea typeface="Quattrocento Sans"/>
                <a:cs typeface="Quattrocento Sans"/>
                <a:sym typeface="Quattrocento Sans"/>
              </a:rPr>
              <a:t>GetAxis</a:t>
            </a:r>
            <a:r>
              <a:rPr lang="en-GB" sz="2400" b="1">
                <a:solidFill>
                  <a:srgbClr val="FFFFFF"/>
                </a:solidFill>
                <a:latin typeface="Quattrocento Sans"/>
                <a:ea typeface="Quattrocento Sans"/>
                <a:cs typeface="Quattrocento Sans"/>
                <a:sym typeface="Quattrocento Sans"/>
              </a:rPr>
              <a:t> from </a:t>
            </a:r>
            <a:r>
              <a:rPr lang="en-GB" sz="2400" b="1" dirty="0">
                <a:solidFill>
                  <a:srgbClr val="FFFFFF"/>
                </a:solidFill>
                <a:latin typeface="Quattrocento Sans"/>
                <a:ea typeface="Quattrocento Sans"/>
                <a:cs typeface="Quattrocento Sans"/>
                <a:sym typeface="Quattrocento Sans"/>
              </a:rPr>
              <a:t>Update.</a:t>
            </a:r>
            <a:endParaRPr b="1">
              <a:solidFill>
                <a:srgbClr val="FFFFFF"/>
              </a:solidFill>
            </a:endParaRPr>
          </a:p>
          <a:p>
            <a:pPr indent="457200"/>
            <a:r>
              <a:rPr lang="en-GB" sz="1800" dirty="0">
                <a:solidFill>
                  <a:schemeClr val="dk1"/>
                </a:solidFill>
                <a:latin typeface="Quattrocento Sans"/>
                <a:ea typeface="Quattrocento Sans"/>
                <a:cs typeface="Quattrocento Sans"/>
                <a:sym typeface="Quattrocento Sans"/>
              </a:rPr>
              <a:t> if (</a:t>
            </a:r>
            <a:r>
              <a:rPr lang="en-GB" sz="1800" dirty="0" err="1">
                <a:solidFill>
                  <a:schemeClr val="dk1"/>
                </a:solidFill>
                <a:latin typeface="Quattrocento Sans"/>
                <a:ea typeface="Quattrocento Sans"/>
                <a:cs typeface="Quattrocento Sans"/>
                <a:sym typeface="Quattrocento Sans"/>
              </a:rPr>
              <a:t>Input.GetKey</a:t>
            </a:r>
            <a:r>
              <a:rPr lang="en-GB" sz="1800" dirty="0">
                <a:solidFill>
                  <a:schemeClr val="dk1"/>
                </a:solidFill>
                <a:latin typeface="Quattrocento Sans"/>
                <a:ea typeface="Quattrocento Sans"/>
                <a:cs typeface="Quattrocento Sans"/>
                <a:sym typeface="Quattrocento Sans"/>
              </a:rPr>
              <a:t>(</a:t>
            </a:r>
            <a:r>
              <a:rPr lang="en-GB" sz="1800" dirty="0" err="1">
                <a:solidFill>
                  <a:schemeClr val="dk1"/>
                </a:solidFill>
                <a:latin typeface="Quattrocento Sans"/>
                <a:ea typeface="Quattrocento Sans"/>
                <a:cs typeface="Quattrocento Sans"/>
                <a:sym typeface="Quattrocento Sans"/>
              </a:rPr>
              <a:t>KeyCode.B</a:t>
            </a:r>
            <a:r>
              <a:rPr lang="en-GB" sz="1800" dirty="0">
                <a:solidFill>
                  <a:schemeClr val="dk1"/>
                </a:solidFill>
                <a:latin typeface="Quattrocento Sans"/>
                <a:ea typeface="Quattrocento Sans"/>
                <a:cs typeface="Quattrocento Sans"/>
                <a:sym typeface="Quattrocento Sans"/>
              </a:rPr>
              <a:t>)){</a:t>
            </a:r>
            <a:br>
              <a:rPr lang="en-GB" sz="1800"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this.cube2.transform.Rotate(new Vector3(1,0,0), </a:t>
            </a:r>
            <a:r>
              <a:rPr lang="en-GB" sz="1800" dirty="0">
                <a:solidFill>
                  <a:srgbClr val="538CD5"/>
                </a:solidFill>
                <a:latin typeface="Quattrocento Sans"/>
                <a:ea typeface="Quattrocento Sans"/>
                <a:cs typeface="Quattrocento Sans"/>
                <a:sym typeface="Quattrocento Sans"/>
              </a:rPr>
              <a:t>1</a:t>
            </a:r>
            <a:r>
              <a:rPr lang="en-GB" sz="1800" dirty="0">
                <a:solidFill>
                  <a:schemeClr val="dk1"/>
                </a:solidFill>
                <a:latin typeface="Quattrocento Sans"/>
                <a:ea typeface="Quattrocento Sans"/>
                <a:cs typeface="Quattrocento Sans"/>
                <a:sym typeface="Quattrocento Sans"/>
              </a:rPr>
              <a:t>);</a:t>
            </a:r>
            <a:br>
              <a:rPr lang="en-GB" sz="1800"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a:t>
            </a:r>
            <a:endParaRPr dirty="0">
              <a:solidFill>
                <a:schemeClr val="dk1"/>
              </a:solidFill>
            </a:endParaRPr>
          </a:p>
          <a:p>
            <a:pPr indent="457200"/>
            <a:r>
              <a:rPr lang="en-GB" sz="1800" b="1" dirty="0">
                <a:solidFill>
                  <a:srgbClr val="538CD5"/>
                </a:solidFill>
                <a:latin typeface="Quattrocento Sans"/>
                <a:ea typeface="Quattrocento Sans"/>
                <a:cs typeface="Quattrocento Sans"/>
                <a:sym typeface="Quattrocento Sans"/>
              </a:rPr>
              <a:t>Space Relative To:  </a:t>
            </a:r>
            <a:endParaRPr sz="1800" b="1">
              <a:solidFill>
                <a:srgbClr val="538CD5"/>
              </a:solidFill>
              <a:latin typeface="Quattrocento Sans"/>
              <a:ea typeface="Quattrocento Sans"/>
              <a:cs typeface="Quattrocento Sans"/>
              <a:sym typeface="Quattrocento Sans"/>
            </a:endParaRPr>
          </a:p>
          <a:p>
            <a:pPr marL="457200" indent="457200"/>
            <a:r>
              <a:rPr lang="en-GB" sz="1800" b="1" dirty="0">
                <a:solidFill>
                  <a:srgbClr val="538CD5"/>
                </a:solidFill>
                <a:latin typeface="Quattrocento Sans"/>
                <a:ea typeface="Quattrocento Sans"/>
                <a:cs typeface="Quattrocento Sans"/>
                <a:sym typeface="Quattrocento Sans"/>
              </a:rPr>
              <a:t>1, </a:t>
            </a:r>
            <a:r>
              <a:rPr lang="en-GB" sz="1800" b="1" dirty="0" err="1">
                <a:solidFill>
                  <a:srgbClr val="538CD5"/>
                </a:solidFill>
                <a:latin typeface="Quattrocento Sans"/>
                <a:ea typeface="Quattrocento Sans"/>
                <a:cs typeface="Quattrocento Sans"/>
                <a:sym typeface="Quattrocento Sans"/>
              </a:rPr>
              <a:t>Space.Self</a:t>
            </a:r>
            <a:r>
              <a:rPr lang="en-GB" sz="1800" b="1" dirty="0">
                <a:solidFill>
                  <a:srgbClr val="538CD5"/>
                </a:solidFill>
                <a:latin typeface="Quattrocento Sans"/>
                <a:ea typeface="Quattrocento Sans"/>
                <a:cs typeface="Quattrocento Sans"/>
                <a:sym typeface="Quattrocento Sans"/>
              </a:rPr>
              <a:t> </a:t>
            </a:r>
            <a:endParaRPr sz="1800" b="1">
              <a:solidFill>
                <a:srgbClr val="538CD5"/>
              </a:solidFill>
              <a:latin typeface="Quattrocento Sans"/>
              <a:ea typeface="Quattrocento Sans"/>
              <a:cs typeface="Quattrocento Sans"/>
              <a:sym typeface="Quattrocento Sans"/>
            </a:endParaRPr>
          </a:p>
          <a:p>
            <a:pPr marL="457200" marR="0" lvl="0" indent="457200" algn="l" rtl="0">
              <a:spcBef>
                <a:spcPts val="0"/>
              </a:spcBef>
              <a:spcAft>
                <a:spcPts val="0"/>
              </a:spcAft>
              <a:buNone/>
            </a:pPr>
            <a:r>
              <a:rPr lang="en-GB" sz="1800" b="1" dirty="0">
                <a:solidFill>
                  <a:srgbClr val="538CD5"/>
                </a:solidFill>
                <a:latin typeface="Quattrocento Sans"/>
                <a:ea typeface="Quattrocento Sans"/>
                <a:cs typeface="Quattrocento Sans"/>
                <a:sym typeface="Quattrocento Sans"/>
              </a:rPr>
              <a:t>2. </a:t>
            </a:r>
            <a:r>
              <a:rPr lang="en-GB" sz="1800" b="1" dirty="0" err="1">
                <a:solidFill>
                  <a:srgbClr val="538CD5"/>
                </a:solidFill>
                <a:latin typeface="Quattrocento Sans"/>
                <a:ea typeface="Quattrocento Sans"/>
                <a:cs typeface="Quattrocento Sans"/>
                <a:sym typeface="Quattrocento Sans"/>
              </a:rPr>
              <a:t>Space.World</a:t>
            </a:r>
            <a:endParaRPr sz="1800" b="1" dirty="0" err="1">
              <a:solidFill>
                <a:srgbClr val="538CD5"/>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3600" b="1" dirty="0">
                <a:solidFill>
                  <a:srgbClr val="FFFF00"/>
                </a:solidFill>
                <a:latin typeface="Quattrocento Sans"/>
                <a:ea typeface="Quattrocento Sans"/>
                <a:cs typeface="Quattrocento Sans"/>
                <a:sym typeface="Quattrocento Sans"/>
              </a:rPr>
              <a:t>Physics - </a:t>
            </a:r>
            <a:r>
              <a:rPr lang="en-GB" sz="2400" b="1" dirty="0">
                <a:solidFill>
                  <a:srgbClr val="FFFFFF"/>
                </a:solidFill>
                <a:latin typeface="Quattrocento Sans"/>
                <a:ea typeface="Quattrocento Sans"/>
                <a:cs typeface="Quattrocento Sans"/>
                <a:sym typeface="Quattrocento Sans"/>
              </a:rPr>
              <a:t>Moving by calling </a:t>
            </a:r>
            <a:r>
              <a:rPr lang="en-GB" sz="2400" b="1" dirty="0" err="1">
                <a:solidFill>
                  <a:srgbClr val="FFFFFF"/>
                </a:solidFill>
                <a:latin typeface="Quattrocento Sans"/>
                <a:ea typeface="Quattrocento Sans"/>
                <a:cs typeface="Quattrocento Sans"/>
                <a:sym typeface="Quattrocento Sans"/>
              </a:rPr>
              <a:t>rigidbody.MovePosition</a:t>
            </a:r>
            <a:r>
              <a:rPr lang="en-GB" sz="2400" b="1" dirty="0">
                <a:solidFill>
                  <a:srgbClr val="FFFFFF"/>
                </a:solidFill>
                <a:latin typeface="Quattrocento Sans"/>
                <a:ea typeface="Quattrocento Sans"/>
                <a:cs typeface="Quattrocento Sans"/>
                <a:sym typeface="Quattrocento Sans"/>
              </a:rPr>
              <a:t> from </a:t>
            </a:r>
            <a:r>
              <a:rPr lang="en-GB" sz="2400" b="1" dirty="0" err="1">
                <a:solidFill>
                  <a:srgbClr val="FFFFFF"/>
                </a:solidFill>
                <a:latin typeface="Quattrocento Sans"/>
                <a:ea typeface="Quattrocento Sans"/>
                <a:cs typeface="Quattrocento Sans"/>
                <a:sym typeface="Quattrocento Sans"/>
              </a:rPr>
              <a:t>FixedUpdate</a:t>
            </a:r>
            <a:endParaRPr sz="2400" b="1" dirty="0" err="1">
              <a:solidFill>
                <a:srgbClr val="FFFFFF"/>
              </a:solidFill>
              <a:latin typeface="Quattrocento Sans"/>
              <a:ea typeface="Quattrocento Sans"/>
              <a:cs typeface="Quattrocento Sans"/>
              <a:sym typeface="Quattrocento Sans"/>
            </a:endParaRPr>
          </a:p>
          <a:p>
            <a:pPr marL="0" marR="0" lvl="0" indent="45720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0" marR="0" lvl="0" indent="457200" algn="l" rtl="0">
              <a:spcBef>
                <a:spcPts val="0"/>
              </a:spcBef>
              <a:spcAft>
                <a:spcPts val="0"/>
              </a:spcAft>
              <a:buNone/>
            </a:pPr>
            <a:r>
              <a:rPr lang="en-GB" sz="2400" b="1" dirty="0">
                <a:solidFill>
                  <a:srgbClr val="FFFF00"/>
                </a:solidFill>
                <a:latin typeface="Quattrocento Sans"/>
                <a:ea typeface="Quattrocento Sans"/>
                <a:cs typeface="Quattrocento Sans"/>
                <a:sym typeface="Quattrocento Sans"/>
              </a:rPr>
              <a:t>(</a:t>
            </a:r>
            <a:r>
              <a:rPr lang="en-GB" sz="2400" b="1" dirty="0" err="1">
                <a:solidFill>
                  <a:srgbClr val="FFFF00"/>
                </a:solidFill>
                <a:latin typeface="Quattrocento Sans"/>
                <a:ea typeface="Quattrocento Sans"/>
                <a:cs typeface="Quattrocento Sans"/>
                <a:sym typeface="Quattrocento Sans"/>
              </a:rPr>
              <a:t>isKinematic</a:t>
            </a:r>
            <a:r>
              <a:rPr lang="en-GB" sz="2400" b="1" dirty="0">
                <a:solidFill>
                  <a:srgbClr val="FFFF00"/>
                </a:solidFill>
                <a:latin typeface="Quattrocento Sans"/>
                <a:ea typeface="Quattrocento Sans"/>
                <a:cs typeface="Quattrocento Sans"/>
                <a:sym typeface="Quattrocento Sans"/>
              </a:rPr>
              <a:t>)</a:t>
            </a:r>
            <a:endParaRPr dirty="0"/>
          </a:p>
          <a:p>
            <a:pPr marL="0" marR="0" lvl="0" indent="0" algn="l" rtl="0">
              <a:spcBef>
                <a:spcPts val="0"/>
              </a:spcBef>
              <a:spcAft>
                <a:spcPts val="0"/>
              </a:spcAft>
              <a:buNone/>
            </a:pPr>
            <a:endParaRPr sz="20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sz="3600" dirty="0"/>
              <a:t>3D Interactive Media Development</a:t>
            </a:r>
            <a:endParaRPr lang="en-US" dirty="0"/>
          </a:p>
        </p:txBody>
      </p:sp>
      <p:sp>
        <p:nvSpPr>
          <p:cNvPr id="125" name="Google Shape;125;p13"/>
          <p:cNvSpPr txBox="1"/>
          <p:nvPr/>
        </p:nvSpPr>
        <p:spPr>
          <a:xfrm>
            <a:off x="609600" y="1293507"/>
            <a:ext cx="10970196" cy="2431435"/>
          </a:xfrm>
          <a:prstGeom prst="rect">
            <a:avLst/>
          </a:prstGeom>
          <a:noFill/>
          <a:ln>
            <a:noFill/>
          </a:ln>
        </p:spPr>
        <p:txBody>
          <a:bodyPr spcFirstLastPara="1" wrap="square" lIns="91425" tIns="45700" rIns="91425" bIns="45700" anchor="t" anchorCtr="0">
            <a:spAutoFit/>
          </a:bodyPr>
          <a:lstStyle/>
          <a:p>
            <a:r>
              <a:rPr lang="en-GB" sz="3200" b="1" dirty="0">
                <a:solidFill>
                  <a:srgbClr val="FFFF00"/>
                </a:solidFill>
                <a:latin typeface="Quattrocento Sans"/>
                <a:ea typeface="Quattrocento Sans"/>
                <a:cs typeface="Quattrocento Sans"/>
                <a:sym typeface="Quattrocento Sans"/>
              </a:rPr>
              <a:t>More C# and Unity3D – Scalar, </a:t>
            </a:r>
            <a:r>
              <a:rPr lang="en-GB" sz="3200" b="1" dirty="0">
                <a:solidFill>
                  <a:srgbClr val="FFFF00"/>
                </a:solidFill>
                <a:ea typeface="Quattrocento Sans"/>
                <a:sym typeface="Quattrocento Sans"/>
              </a:rPr>
              <a:t>Points, </a:t>
            </a:r>
            <a:r>
              <a:rPr lang="en-GB" sz="3200" b="1" dirty="0">
                <a:solidFill>
                  <a:srgbClr val="FFFF00"/>
                </a:solidFill>
                <a:latin typeface="Quattrocento Sans"/>
                <a:ea typeface="Quattrocento Sans"/>
                <a:cs typeface="Quattrocento Sans"/>
                <a:sym typeface="Quattrocento Sans"/>
              </a:rPr>
              <a:t>Vector Recap</a:t>
            </a:r>
            <a:endParaRPr dirty="0"/>
          </a:p>
          <a:p>
            <a:pPr marL="0" marR="0" lvl="0" indent="0" algn="l" rtl="0">
              <a:spcBef>
                <a:spcPts val="0"/>
              </a:spcBef>
              <a:spcAft>
                <a:spcPts val="0"/>
              </a:spcAft>
              <a:buNone/>
            </a:pPr>
            <a:endParaRPr sz="32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126" name="Google Shape;126;p13"/>
          <p:cNvSpPr txBox="1"/>
          <p:nvPr/>
        </p:nvSpPr>
        <p:spPr>
          <a:xfrm>
            <a:off x="609600" y="2343078"/>
            <a:ext cx="11207921"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dirty="0">
                <a:solidFill>
                  <a:srgbClr val="FFFF00"/>
                </a:solidFill>
                <a:latin typeface="Quattrocento Sans"/>
                <a:ea typeface="Quattrocento Sans"/>
                <a:cs typeface="Quattrocento Sans"/>
                <a:sym typeface="Quattrocento Sans"/>
              </a:rPr>
              <a:t>Scalars, Points, Vectors</a:t>
            </a:r>
            <a:endParaRPr dirty="0"/>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dirty="0">
                <a:solidFill>
                  <a:schemeClr val="dk1"/>
                </a:solidFill>
                <a:latin typeface="Quattrocento Sans"/>
                <a:ea typeface="Quattrocento Sans"/>
                <a:cs typeface="Quattrocento Sans"/>
                <a:sym typeface="Quattrocento Sans"/>
              </a:rPr>
              <a:t>Three Basic types of entities to define geometric objects.</a:t>
            </a:r>
            <a:endParaRPr dirty="0">
              <a:solidFill>
                <a:schemeClr val="dk1"/>
              </a:solidFill>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r>
              <a:rPr lang="en-GB" sz="2400" b="1" dirty="0">
                <a:solidFill>
                  <a:schemeClr val="dk1"/>
                </a:solidFill>
                <a:latin typeface="Quattrocento Sans"/>
                <a:ea typeface="Quattrocento Sans"/>
                <a:cs typeface="Quattrocento Sans"/>
                <a:sym typeface="Quattrocento Sans"/>
              </a:rPr>
              <a:t>Defined from mathematical, programming and geometric perspective.</a:t>
            </a:r>
            <a:endParaRPr dirty="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sz="3600" dirty="0"/>
              <a:t>3D Interactive Media Development</a:t>
            </a:r>
            <a:endParaRPr lang="en-US" dirty="0"/>
          </a:p>
        </p:txBody>
      </p:sp>
      <p:sp>
        <p:nvSpPr>
          <p:cNvPr id="133" name="Google Shape;133;p14"/>
          <p:cNvSpPr txBox="1"/>
          <p:nvPr/>
        </p:nvSpPr>
        <p:spPr>
          <a:xfrm>
            <a:off x="609600" y="1293500"/>
            <a:ext cx="10972800" cy="243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rgbClr val="FFFF00"/>
                </a:solidFill>
                <a:latin typeface="Quattrocento Sans"/>
                <a:ea typeface="Quattrocento Sans"/>
                <a:cs typeface="Quattrocento Sans"/>
                <a:sym typeface="Quattrocento Sans"/>
              </a:rPr>
              <a:t>More C# and Unity3D – Scalar, Vector, Points</a:t>
            </a:r>
            <a:endParaRPr/>
          </a:p>
          <a:p>
            <a:pPr marL="0" marR="0" lvl="0" indent="0" algn="l" rtl="0">
              <a:spcBef>
                <a:spcPts val="0"/>
              </a:spcBef>
              <a:spcAft>
                <a:spcPts val="0"/>
              </a:spcAft>
              <a:buNone/>
            </a:pPr>
            <a:endParaRPr sz="32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134" name="Google Shape;134;p14"/>
          <p:cNvSpPr txBox="1"/>
          <p:nvPr/>
        </p:nvSpPr>
        <p:spPr>
          <a:xfrm>
            <a:off x="609600" y="2358975"/>
            <a:ext cx="10972800" cy="3417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Points</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chemeClr val="dk1"/>
                </a:solidFill>
                <a:latin typeface="Quattrocento Sans"/>
                <a:ea typeface="Quattrocento Sans"/>
                <a:cs typeface="Quattrocento Sans"/>
                <a:sym typeface="Quattrocento Sans"/>
              </a:rPr>
              <a:t>In 3D geometric systems, a point is a location in space</a:t>
            </a:r>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chemeClr val="dk1"/>
                </a:solidFill>
                <a:latin typeface="Quattrocento Sans"/>
                <a:ea typeface="Quattrocento Sans"/>
                <a:cs typeface="Quattrocento Sans"/>
                <a:sym typeface="Quattrocento Sans"/>
              </a:rPr>
              <a:t>Only location, no size</a:t>
            </a:r>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chemeClr val="dk1"/>
                </a:solidFill>
                <a:latin typeface="Quattrocento Sans"/>
                <a:ea typeface="Quattrocento Sans"/>
                <a:cs typeface="Quattrocento Sans"/>
                <a:sym typeface="Quattrocento Sans"/>
              </a:rPr>
              <a:t>Best to use a reference or coordinate system to define</a:t>
            </a:r>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sz="3600" dirty="0"/>
              <a:t>3D Interactive Media Development</a:t>
            </a:r>
            <a:endParaRPr lang="en-US" dirty="0"/>
          </a:p>
        </p:txBody>
      </p:sp>
      <p:sp>
        <p:nvSpPr>
          <p:cNvPr id="141" name="Google Shape;141;p15"/>
          <p:cNvSpPr txBox="1"/>
          <p:nvPr/>
        </p:nvSpPr>
        <p:spPr>
          <a:xfrm>
            <a:off x="609600" y="1293500"/>
            <a:ext cx="10972800" cy="243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rgbClr val="FFFF00"/>
                </a:solidFill>
                <a:latin typeface="Quattrocento Sans"/>
                <a:ea typeface="Quattrocento Sans"/>
                <a:cs typeface="Quattrocento Sans"/>
                <a:sym typeface="Quattrocento Sans"/>
              </a:rPr>
              <a:t>More C# and Unity3D – Scalar, Vector, Points</a:t>
            </a:r>
            <a:endParaRPr/>
          </a:p>
          <a:p>
            <a:pPr marL="0" marR="0" lvl="0" indent="0" algn="l" rtl="0">
              <a:spcBef>
                <a:spcPts val="0"/>
              </a:spcBef>
              <a:spcAft>
                <a:spcPts val="0"/>
              </a:spcAft>
              <a:buNone/>
            </a:pPr>
            <a:endParaRPr sz="32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142" name="Google Shape;142;p15"/>
          <p:cNvSpPr txBox="1"/>
          <p:nvPr/>
        </p:nvSpPr>
        <p:spPr>
          <a:xfrm>
            <a:off x="609600" y="1928775"/>
            <a:ext cx="10972800" cy="3385502"/>
          </a:xfrm>
          <a:prstGeom prst="rect">
            <a:avLst/>
          </a:prstGeom>
          <a:noFill/>
          <a:ln>
            <a:noFill/>
          </a:ln>
        </p:spPr>
        <p:txBody>
          <a:bodyPr spcFirstLastPara="1" wrap="square" lIns="91425" tIns="45700" rIns="91425" bIns="45700" anchor="t" anchorCtr="0">
            <a:spAutoFit/>
          </a:bodyPr>
          <a:lstStyle/>
          <a:p>
            <a:endParaRPr lang="en-GB" sz="2400" b="1" dirty="0">
              <a:solidFill>
                <a:srgbClr val="FFFF00"/>
              </a:solidFill>
              <a:latin typeface="Quattrocento Sans"/>
              <a:ea typeface="Quattrocento Sans"/>
              <a:cs typeface="Quattrocento Sans"/>
              <a:sym typeface="Quattrocento Sans"/>
            </a:endParaRPr>
          </a:p>
          <a:p>
            <a:pPr marL="0" marR="0" lvl="0" indent="0" algn="l">
              <a:spcBef>
                <a:spcPts val="0"/>
              </a:spcBef>
              <a:spcAft>
                <a:spcPts val="0"/>
              </a:spcAft>
              <a:buNone/>
            </a:pPr>
            <a:r>
              <a:rPr lang="en-GB" sz="2400" b="1" dirty="0">
                <a:solidFill>
                  <a:srgbClr val="FFFF00"/>
                </a:solidFill>
                <a:latin typeface="Quattrocento Sans"/>
                <a:ea typeface="Quattrocento Sans"/>
                <a:cs typeface="Quattrocento Sans"/>
                <a:sym typeface="Quattrocento Sans"/>
              </a:rPr>
              <a:t>Vectors (Lines)</a:t>
            </a:r>
            <a:endParaRPr sz="2400" b="1" dirty="0">
              <a:solidFill>
                <a:srgbClr val="FF0000"/>
              </a:solidFill>
              <a:latin typeface="Quattrocento Sans"/>
              <a:ea typeface="Quattrocento Sans"/>
              <a:cs typeface="Quattrocento Sans"/>
            </a:endParaRPr>
          </a:p>
          <a:p>
            <a:pPr marL="0" marR="0" lvl="0" indent="0" algn="l" rtl="0">
              <a:spcBef>
                <a:spcPts val="0"/>
              </a:spcBef>
              <a:spcAft>
                <a:spcPts val="0"/>
              </a:spcAft>
              <a:buNone/>
            </a:pPr>
            <a:r>
              <a:rPr lang="en-GB" sz="2000" b="1" dirty="0">
                <a:solidFill>
                  <a:schemeClr val="dk1"/>
                </a:solidFill>
                <a:latin typeface="Quattrocento Sans"/>
                <a:ea typeface="Quattrocento Sans"/>
                <a:cs typeface="Quattrocento Sans"/>
                <a:sym typeface="Quattrocento Sans"/>
              </a:rPr>
              <a:t>Connect points with Line Segments</a:t>
            </a:r>
            <a:endParaRPr>
              <a:solidFill>
                <a:schemeClr val="dk1"/>
              </a:solidFill>
            </a:endParaRPr>
          </a:p>
          <a:p>
            <a:pPr marL="0" marR="0" lvl="0" indent="0" algn="l" rtl="0">
              <a:spcBef>
                <a:spcPts val="0"/>
              </a:spcBef>
              <a:spcAft>
                <a:spcPts val="0"/>
              </a:spcAft>
              <a:buNone/>
            </a:pPr>
            <a:r>
              <a:rPr lang="en-GB" sz="2000" b="1" dirty="0">
                <a:solidFill>
                  <a:schemeClr val="dk1"/>
                </a:solidFill>
                <a:latin typeface="Quattrocento Sans"/>
                <a:ea typeface="Quattrocento Sans"/>
                <a:cs typeface="Quattrocento Sans"/>
                <a:sym typeface="Quattrocento Sans"/>
              </a:rPr>
              <a:t>Also called vectors (direction and magnitude – velocity, force, length)</a:t>
            </a:r>
            <a:endParaRPr>
              <a:solidFill>
                <a:schemeClr val="dk1"/>
              </a:solidFill>
            </a:endParaRPr>
          </a:p>
          <a:p>
            <a:pPr marL="0" marR="0" lvl="0" indent="0" algn="l" rtl="0">
              <a:spcBef>
                <a:spcPts val="0"/>
              </a:spcBef>
              <a:spcAft>
                <a:spcPts val="0"/>
              </a:spcAft>
              <a:buNone/>
            </a:pPr>
            <a:r>
              <a:rPr lang="en-GB" sz="2000" b="1" dirty="0">
                <a:solidFill>
                  <a:schemeClr val="dk1"/>
                </a:solidFill>
                <a:latin typeface="Quattrocento Sans"/>
                <a:ea typeface="Quattrocento Sans"/>
                <a:cs typeface="Quattrocento Sans"/>
                <a:sym typeface="Quattrocento Sans"/>
              </a:rPr>
              <a:t>Have Scalar (magnitude) values – real number</a:t>
            </a:r>
            <a:endParaRPr>
              <a:solidFill>
                <a:schemeClr val="dk1"/>
              </a:solidFill>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dirty="0">
                <a:solidFill>
                  <a:srgbClr val="FFFF00"/>
                </a:solidFill>
                <a:latin typeface="Quattrocento Sans"/>
                <a:ea typeface="Quattrocento Sans"/>
                <a:cs typeface="Quattrocento Sans"/>
                <a:sym typeface="Quattrocento Sans"/>
              </a:rPr>
              <a:t>Vector3</a:t>
            </a:r>
            <a:endParaRPr/>
          </a:p>
          <a:p>
            <a:r>
              <a:rPr lang="en-GB" sz="2000" b="1" dirty="0">
                <a:solidFill>
                  <a:schemeClr val="dk1"/>
                </a:solidFill>
                <a:latin typeface="Quattrocento Sans"/>
                <a:ea typeface="Quattrocento Sans"/>
                <a:cs typeface="Quattrocento Sans"/>
                <a:sym typeface="Quattrocento Sans"/>
              </a:rPr>
              <a:t>This structure is used throughout Unity to pass 3D positions and directions around. </a:t>
            </a:r>
            <a:endParaRPr>
              <a:solidFill>
                <a:schemeClr val="dk1"/>
              </a:solidFill>
            </a:endParaRPr>
          </a:p>
          <a:p>
            <a:pPr marL="0" marR="0" lvl="0" indent="0" algn="l" rtl="0">
              <a:spcBef>
                <a:spcPts val="0"/>
              </a:spcBef>
              <a:spcAft>
                <a:spcPts val="0"/>
              </a:spcAft>
              <a:buNone/>
            </a:pPr>
            <a:r>
              <a:rPr lang="en-GB" sz="2000" b="1" dirty="0">
                <a:solidFill>
                  <a:schemeClr val="dk1"/>
                </a:solidFill>
                <a:latin typeface="Quattrocento Sans"/>
                <a:ea typeface="Quattrocento Sans"/>
                <a:cs typeface="Quattrocento Sans"/>
                <a:sym typeface="Quattrocento Sans"/>
              </a:rPr>
              <a:t>It also contains functions for doing common vector operations.</a:t>
            </a:r>
            <a:endParaRPr>
              <a:solidFill>
                <a:schemeClr val="dk1"/>
              </a:solidFill>
            </a:endParaRPr>
          </a:p>
          <a:p>
            <a:pPr marL="0" marR="0" lvl="0" indent="0" algn="l" rtl="0">
              <a:spcBef>
                <a:spcPts val="0"/>
              </a:spcBef>
              <a:spcAft>
                <a:spcPts val="0"/>
              </a:spcAft>
              <a:buNone/>
            </a:pPr>
            <a:endParaRPr lang="en-GB" sz="1800" dirty="0">
              <a:solidFill>
                <a:schemeClr val="dk1"/>
              </a:solidFill>
              <a:latin typeface="Quattrocento Sans"/>
              <a:ea typeface="Quattrocento Sans"/>
              <a:cs typeface="Quattrocen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49" name="Google Shape;149;p16"/>
          <p:cNvSpPr txBox="1"/>
          <p:nvPr/>
        </p:nvSpPr>
        <p:spPr>
          <a:xfrm>
            <a:off x="609600" y="1421654"/>
            <a:ext cx="10890600" cy="57553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dirty="0">
                <a:solidFill>
                  <a:srgbClr val="FFFF00"/>
                </a:solidFill>
                <a:latin typeface="Quattrocento Sans"/>
                <a:ea typeface="Quattrocento Sans"/>
                <a:cs typeface="Quattrocento Sans"/>
                <a:sym typeface="Quattrocento Sans"/>
              </a:rPr>
              <a:t>Unity Scripted Movement </a:t>
            </a:r>
            <a:r>
              <a:rPr lang="en-GB" sz="3600" b="1" dirty="0">
                <a:solidFill>
                  <a:srgbClr val="FFFFFF"/>
                </a:solidFill>
                <a:latin typeface="Quattrocento Sans"/>
                <a:ea typeface="Quattrocento Sans"/>
                <a:cs typeface="Quattrocento Sans"/>
                <a:sym typeface="Quattrocento Sans"/>
              </a:rPr>
              <a:t>(Not Animation Trigger)</a:t>
            </a:r>
            <a:endParaRPr dirty="0">
              <a:solidFill>
                <a:srgbClr val="FFFFFF"/>
              </a:solidFill>
            </a:endParaRPr>
          </a:p>
          <a:p>
            <a:pPr marL="0" marR="0" lvl="0" indent="0" algn="l" rtl="0">
              <a:spcBef>
                <a:spcPts val="0"/>
              </a:spcBef>
              <a:spcAft>
                <a:spcPts val="0"/>
              </a:spcAft>
              <a:buNone/>
            </a:pPr>
            <a:r>
              <a:rPr lang="en-GB" sz="1800" b="1" u="sng" dirty="0">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https://unity3d.com/learn/tutorials/topics/scripting/translate-and-rotate?playlist=17117</a:t>
            </a:r>
            <a:endParaRPr sz="1800" b="1" dirty="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3600" b="1" dirty="0">
                <a:solidFill>
                  <a:srgbClr val="FFFF00"/>
                </a:solidFill>
                <a:latin typeface="Quattrocento Sans"/>
                <a:ea typeface="Quattrocento Sans"/>
                <a:cs typeface="Quattrocento Sans"/>
                <a:sym typeface="Quattrocento Sans"/>
              </a:rPr>
              <a:t>Vector3</a:t>
            </a:r>
            <a:endParaRPr dirty="0"/>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Representation of 3D vectors and points.</a:t>
            </a:r>
            <a:endParaRPr dirty="0">
              <a:solidFill>
                <a:schemeClr val="dk1"/>
              </a:solidFill>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This structure is used throughout Unity to pass 3D positions and directions around. It also contains functions for doing common vector operations.</a:t>
            </a:r>
            <a:endParaRPr dirty="0">
              <a:solidFill>
                <a:schemeClr val="dk1"/>
              </a:solidFill>
            </a:endParaRPr>
          </a:p>
          <a:p>
            <a:pPr marL="0" marR="0" lvl="0" indent="0" algn="l">
              <a:spcBef>
                <a:spcPts val="0"/>
              </a:spcBef>
              <a:spcAft>
                <a:spcPts val="0"/>
              </a:spcAft>
              <a:buNone/>
            </a:pPr>
            <a:endParaRPr lang="en-GB" sz="1800" dirty="0">
              <a:solidFill>
                <a:schemeClr val="dk1"/>
              </a:solidFill>
              <a:latin typeface="Quattrocento Sans"/>
              <a:ea typeface="Quattrocento Sans"/>
              <a:cs typeface="Quattrocento Sans"/>
            </a:endParaRPr>
          </a:p>
          <a:p>
            <a:pPr marL="0" marR="0" lvl="0" indent="0" algn="l">
              <a:spcBef>
                <a:spcPts val="0"/>
              </a:spcBef>
              <a:spcAft>
                <a:spcPts val="0"/>
              </a:spcAft>
              <a:buNone/>
            </a:pPr>
            <a:endParaRPr lang="en-US" sz="2000" dirty="0">
              <a:solidFill>
                <a:schemeClr val="dk1"/>
              </a:solidFill>
              <a:latin typeface="Segoe UI"/>
              <a:ea typeface="Quattrocento Sans"/>
              <a:cs typeface="Segoe UI"/>
            </a:endParaRPr>
          </a:p>
          <a:p>
            <a:r>
              <a:rPr lang="en-GB" sz="1800" dirty="0">
                <a:solidFill>
                  <a:schemeClr val="dk1"/>
                </a:solidFill>
                <a:latin typeface="Segoe UI"/>
                <a:cs typeface="Segoe UI"/>
              </a:rPr>
              <a:t>for (float </a:t>
            </a:r>
            <a:r>
              <a:rPr lang="en-GB" sz="1800" dirty="0" err="1">
                <a:solidFill>
                  <a:schemeClr val="dk1"/>
                </a:solidFill>
                <a:latin typeface="Segoe UI"/>
                <a:cs typeface="Segoe UI"/>
              </a:rPr>
              <a:t>i</a:t>
            </a:r>
            <a:r>
              <a:rPr lang="en-GB" sz="1800" dirty="0">
                <a:solidFill>
                  <a:schemeClr val="dk1"/>
                </a:solidFill>
                <a:latin typeface="Segoe UI"/>
                <a:cs typeface="Segoe UI"/>
              </a:rPr>
              <a:t> = 0 ; </a:t>
            </a:r>
            <a:r>
              <a:rPr lang="en-GB" sz="1800" dirty="0" err="1">
                <a:solidFill>
                  <a:schemeClr val="dk1"/>
                </a:solidFill>
                <a:latin typeface="Segoe UI"/>
                <a:cs typeface="Segoe UI"/>
              </a:rPr>
              <a:t>i</a:t>
            </a:r>
            <a:r>
              <a:rPr lang="en-GB" sz="1800" dirty="0">
                <a:solidFill>
                  <a:schemeClr val="dk1"/>
                </a:solidFill>
                <a:latin typeface="Segoe UI"/>
                <a:cs typeface="Segoe UI"/>
              </a:rPr>
              <a:t> &lt; </a:t>
            </a:r>
            <a:r>
              <a:rPr lang="en-GB" sz="1800" dirty="0" err="1">
                <a:solidFill>
                  <a:schemeClr val="dk1"/>
                </a:solidFill>
                <a:latin typeface="Segoe UI"/>
                <a:cs typeface="Segoe UI"/>
              </a:rPr>
              <a:t>blockX</a:t>
            </a:r>
            <a:r>
              <a:rPr lang="en-GB" sz="1800" dirty="0">
                <a:solidFill>
                  <a:schemeClr val="dk1"/>
                </a:solidFill>
                <a:latin typeface="Segoe UI"/>
                <a:cs typeface="Segoe UI"/>
              </a:rPr>
              <a:t>; </a:t>
            </a:r>
            <a:r>
              <a:rPr lang="en-GB" sz="1800" dirty="0" err="1">
                <a:solidFill>
                  <a:schemeClr val="dk1"/>
                </a:solidFill>
                <a:latin typeface="Segoe UI"/>
                <a:cs typeface="Segoe UI"/>
              </a:rPr>
              <a:t>i</a:t>
            </a:r>
            <a:r>
              <a:rPr lang="en-GB" sz="1800" dirty="0">
                <a:solidFill>
                  <a:schemeClr val="dk1"/>
                </a:solidFill>
                <a:latin typeface="Segoe UI"/>
                <a:cs typeface="Segoe UI"/>
              </a:rPr>
              <a:t>++)</a:t>
            </a:r>
            <a:endParaRPr lang="en-US" sz="1800" dirty="0">
              <a:solidFill>
                <a:schemeClr val="dk1"/>
              </a:solidFill>
              <a:latin typeface="Segoe UI"/>
              <a:cs typeface="Segoe UI"/>
            </a:endParaRPr>
          </a:p>
          <a:p>
            <a:r>
              <a:rPr lang="en-GB" sz="1800" dirty="0">
                <a:solidFill>
                  <a:schemeClr val="dk1"/>
                </a:solidFill>
                <a:latin typeface="Segoe UI"/>
                <a:cs typeface="Segoe UI"/>
              </a:rPr>
              <a:t>{</a:t>
            </a:r>
            <a:endParaRPr lang="en-US" sz="1800" dirty="0">
              <a:solidFill>
                <a:schemeClr val="dk1"/>
              </a:solidFill>
              <a:latin typeface="Segoe UI"/>
              <a:cs typeface="Segoe UI"/>
            </a:endParaRPr>
          </a:p>
          <a:p>
            <a:r>
              <a:rPr lang="en-GB" sz="1800" dirty="0">
                <a:solidFill>
                  <a:schemeClr val="dk1"/>
                </a:solidFill>
                <a:latin typeface="Segoe UI"/>
                <a:cs typeface="Segoe UI"/>
              </a:rPr>
              <a:t>   Vector3 </a:t>
            </a:r>
            <a:r>
              <a:rPr lang="en-GB" sz="1800" dirty="0" err="1">
                <a:solidFill>
                  <a:schemeClr val="dk1"/>
                </a:solidFill>
                <a:latin typeface="Segoe UI"/>
                <a:cs typeface="Segoe UI"/>
              </a:rPr>
              <a:t>rowX</a:t>
            </a:r>
            <a:r>
              <a:rPr lang="en-GB" sz="1800" dirty="0">
                <a:solidFill>
                  <a:schemeClr val="dk1"/>
                </a:solidFill>
                <a:latin typeface="Segoe UI"/>
                <a:cs typeface="Segoe UI"/>
              </a:rPr>
              <a:t> = new Vector3 (i,0,0); </a:t>
            </a:r>
            <a:endParaRPr lang="en-US" sz="1800" dirty="0">
              <a:solidFill>
                <a:schemeClr val="dk1"/>
              </a:solidFill>
              <a:latin typeface="Segoe UI"/>
              <a:cs typeface="Segoe UI"/>
            </a:endParaRPr>
          </a:p>
          <a:p>
            <a:r>
              <a:rPr lang="en-GB" sz="1800" dirty="0">
                <a:solidFill>
                  <a:schemeClr val="dk1"/>
                </a:solidFill>
                <a:latin typeface="Segoe UI"/>
                <a:cs typeface="Segoe UI"/>
              </a:rPr>
              <a:t>   </a:t>
            </a:r>
            <a:r>
              <a:rPr lang="en-GB" sz="1800" dirty="0" err="1">
                <a:solidFill>
                  <a:schemeClr val="dk1"/>
                </a:solidFill>
                <a:latin typeface="Segoe UI"/>
                <a:cs typeface="Segoe UI"/>
              </a:rPr>
              <a:t>Rigidbody</a:t>
            </a:r>
            <a:r>
              <a:rPr lang="en-GB" sz="1800" dirty="0">
                <a:solidFill>
                  <a:schemeClr val="dk1"/>
                </a:solidFill>
                <a:latin typeface="Segoe UI"/>
                <a:cs typeface="Segoe UI"/>
              </a:rPr>
              <a:t> instance = Instantiate (block, </a:t>
            </a:r>
            <a:r>
              <a:rPr lang="en-GB" sz="1800" dirty="0" err="1">
                <a:solidFill>
                  <a:schemeClr val="dk1"/>
                </a:solidFill>
                <a:latin typeface="Segoe UI"/>
                <a:cs typeface="Segoe UI"/>
              </a:rPr>
              <a:t>rowX</a:t>
            </a:r>
            <a:r>
              <a:rPr lang="en-GB" sz="1800" dirty="0">
                <a:solidFill>
                  <a:schemeClr val="dk1"/>
                </a:solidFill>
                <a:latin typeface="Segoe UI"/>
                <a:cs typeface="Segoe UI"/>
              </a:rPr>
              <a:t>, 0 ); </a:t>
            </a:r>
            <a:endParaRPr lang="en-US" sz="1800" dirty="0">
              <a:solidFill>
                <a:schemeClr val="dk1"/>
              </a:solidFill>
              <a:latin typeface="Segoe UI"/>
              <a:cs typeface="Segoe UI"/>
            </a:endParaRPr>
          </a:p>
          <a:p>
            <a:r>
              <a:rPr lang="en-GB" sz="1800" dirty="0">
                <a:solidFill>
                  <a:schemeClr val="dk1"/>
                </a:solidFill>
                <a:latin typeface="Segoe UI"/>
                <a:cs typeface="Segoe UI"/>
              </a:rPr>
              <a:t>}</a:t>
            </a:r>
            <a:endParaRPr lang="en-US" dirty="0">
              <a:solidFill>
                <a:schemeClr val="dk1"/>
              </a:solidFill>
            </a:endParaRPr>
          </a:p>
          <a:p>
            <a:endParaRPr lang="en-US" sz="3600" b="1">
              <a:solidFill>
                <a:srgbClr val="FFFF00"/>
              </a:solidFill>
              <a:latin typeface="Quattrocento Sans"/>
              <a:ea typeface="Quattrocento Sans"/>
              <a:cs typeface="Quattrocento Sans"/>
            </a:endParaRPr>
          </a:p>
          <a:p>
            <a:endParaRPr lang="en-US" sz="2400" b="1">
              <a:solidFill>
                <a:srgbClr val="FFFF00"/>
              </a:solidFill>
              <a:latin typeface="Quattrocento Sans"/>
              <a:ea typeface="Quattrocento Sans"/>
              <a:cs typeface="Quattrocento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56" name="Google Shape;156;p17"/>
          <p:cNvSpPr txBox="1"/>
          <p:nvPr/>
        </p:nvSpPr>
        <p:spPr>
          <a:xfrm>
            <a:off x="609600" y="1421654"/>
            <a:ext cx="10890600" cy="655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dirty="0">
                <a:solidFill>
                  <a:srgbClr val="FFFF00"/>
                </a:solidFill>
                <a:latin typeface="Quattrocento Sans"/>
                <a:ea typeface="Quattrocento Sans"/>
                <a:cs typeface="Quattrocento Sans"/>
                <a:sym typeface="Quattrocento Sans"/>
              </a:rPr>
              <a:t>Unity Scripted Movement (Not Animation Trigger)</a:t>
            </a:r>
            <a:endParaRPr dirty="0"/>
          </a:p>
          <a:p>
            <a:pPr marL="0" marR="0" lvl="0" indent="0" algn="l" rtl="0">
              <a:spcBef>
                <a:spcPts val="0"/>
              </a:spcBef>
              <a:spcAft>
                <a:spcPts val="0"/>
              </a:spcAft>
              <a:buNone/>
            </a:pPr>
            <a:r>
              <a:rPr lang="en-GB" sz="1800" b="1" u="sng" dirty="0">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https://unity3d.com/learn/tutorials/topics/scripting/translate-and-rotate?playlist=17117</a:t>
            </a:r>
            <a:endParaRPr sz="1800" b="1" dirty="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00"/>
              </a:solidFill>
              <a:latin typeface="Quattrocento Sans"/>
              <a:ea typeface="Quattrocento Sans"/>
              <a:cs typeface="Quattrocento Sans"/>
              <a:sym typeface="Quattrocento Sans"/>
            </a:endParaRPr>
          </a:p>
          <a:p>
            <a:r>
              <a:rPr lang="en-GB" sz="2800" b="1" dirty="0">
                <a:solidFill>
                  <a:srgbClr val="FFFF00"/>
                </a:solidFill>
                <a:latin typeface="Quattrocento Sans"/>
                <a:ea typeface="Quattrocento Sans"/>
                <a:cs typeface="Quattrocento Sans"/>
                <a:sym typeface="Quattrocento Sans"/>
              </a:rPr>
              <a:t>Transform -  Update, Translate, Rotate, Scale</a:t>
            </a:r>
            <a:endParaRPr sz="2800" dirty="0"/>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Position, rotation and scale of an object.</a:t>
            </a:r>
            <a:endParaRPr dirty="0">
              <a:solidFill>
                <a:schemeClr val="dk1"/>
              </a:solidFill>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r>
              <a:rPr lang="en-GB" sz="1800" dirty="0">
                <a:solidFill>
                  <a:schemeClr val="dk1"/>
                </a:solidFill>
                <a:latin typeface="Quattrocento Sans"/>
                <a:ea typeface="Quattrocento Sans"/>
                <a:cs typeface="Quattrocento Sans"/>
                <a:sym typeface="Quattrocento Sans"/>
              </a:rPr>
              <a:t>Every object in a scene has a Transform. It's used to store and manipulate the position, rotation and scale of the object. </a:t>
            </a:r>
            <a:endParaRPr lang="en-GB" dirty="0">
              <a:solidFill>
                <a:schemeClr val="dk1"/>
              </a:solidFill>
              <a:ea typeface="Quattrocento Sans"/>
              <a:sym typeface="Quattrocento Sans"/>
            </a:endParaRPr>
          </a:p>
          <a:p>
            <a:endParaRPr lang="en-GB" sz="1800" dirty="0">
              <a:solidFill>
                <a:schemeClr val="dk1"/>
              </a:solidFill>
              <a:latin typeface="Quattrocento Sans"/>
              <a:ea typeface="Quattrocento Sans"/>
              <a:cs typeface="Quattrocento Sans"/>
              <a:sym typeface="Quattrocento Sans"/>
            </a:endParaRPr>
          </a:p>
          <a:p>
            <a:r>
              <a:rPr lang="en-GB" sz="1800" dirty="0">
                <a:solidFill>
                  <a:schemeClr val="dk1"/>
                </a:solidFill>
                <a:latin typeface="Quattrocento Sans"/>
                <a:ea typeface="Quattrocento Sans"/>
                <a:cs typeface="Quattrocento Sans"/>
                <a:sym typeface="Quattrocento Sans"/>
              </a:rPr>
              <a:t>Every Transform can have a parent, which allows you to apply position, rotation and scale hierarchically. This is the hierarchy seen in the Hierarchy pane. </a:t>
            </a:r>
            <a:endParaRPr>
              <a:solidFill>
                <a:schemeClr val="dk1"/>
              </a:solidFill>
            </a:endParaRPr>
          </a:p>
          <a:p>
            <a:pPr marL="0" marR="0" lvl="0" indent="0" algn="l">
              <a:spcBef>
                <a:spcPts val="0"/>
              </a:spcBef>
              <a:spcAft>
                <a:spcPts val="0"/>
              </a:spcAft>
              <a:buNone/>
            </a:pPr>
            <a:endParaRPr lang="en-GB" sz="1800" dirty="0">
              <a:solidFill>
                <a:schemeClr val="dk1"/>
              </a:solidFill>
              <a:latin typeface="Quattrocento Sans"/>
              <a:ea typeface="Quattrocento Sans"/>
              <a:cs typeface="Quattrocento Sans"/>
            </a:endParaRPr>
          </a:p>
          <a:p>
            <a:r>
              <a:rPr lang="en-GB" sz="2800" b="1" dirty="0">
                <a:solidFill>
                  <a:srgbClr val="FFFF00"/>
                </a:solidFill>
                <a:latin typeface="Quattrocento Sans"/>
                <a:ea typeface="Quattrocento Sans"/>
                <a:cs typeface="Quattrocento Sans"/>
              </a:rPr>
              <a:t>Rigid Body:</a:t>
            </a:r>
          </a:p>
          <a:p>
            <a:r>
              <a:rPr lang="en-GB" sz="1800" i="1" dirty="0">
                <a:solidFill>
                  <a:srgbClr val="FFFFFF"/>
                </a:solidFill>
                <a:latin typeface="Quattrocento Sans"/>
              </a:rPr>
              <a:t>Adding a </a:t>
            </a:r>
            <a:r>
              <a:rPr lang="en-GB" sz="1800" i="1" err="1">
                <a:solidFill>
                  <a:srgbClr val="FFFFFF"/>
                </a:solidFill>
                <a:latin typeface="Quattrocento Sans"/>
              </a:rPr>
              <a:t>Rigidbody</a:t>
            </a:r>
            <a:r>
              <a:rPr lang="en-GB" sz="1800" i="1" dirty="0">
                <a:solidFill>
                  <a:srgbClr val="FFFFFF"/>
                </a:solidFill>
                <a:latin typeface="Quattrocento Sans"/>
              </a:rPr>
              <a:t> component to an object will put its motion under the control of Unity's physics engine. Even without adding any code, a </a:t>
            </a:r>
            <a:r>
              <a:rPr lang="en-GB" sz="1800" i="1" err="1">
                <a:solidFill>
                  <a:srgbClr val="FFFFFF"/>
                </a:solidFill>
                <a:latin typeface="Quattrocento Sans"/>
              </a:rPr>
              <a:t>Rigidbody</a:t>
            </a:r>
            <a:r>
              <a:rPr lang="en-GB" sz="1800" i="1" dirty="0">
                <a:solidFill>
                  <a:srgbClr val="FFFFFF"/>
                </a:solidFill>
                <a:latin typeface="Quattrocento Sans"/>
              </a:rPr>
              <a:t> object will be pulled downward by gravity and will react to collisions with incoming objects if the right Collider component is also present.</a:t>
            </a:r>
            <a:endParaRPr lang="en-GB" i="1" dirty="0"/>
          </a:p>
          <a:p>
            <a:pPr marL="0" marR="0" lvl="0" indent="0" algn="l" rtl="0">
              <a:spcBef>
                <a:spcPts val="0"/>
              </a:spcBef>
              <a:spcAft>
                <a:spcPts val="0"/>
              </a:spcAft>
              <a:buNone/>
            </a:pPr>
            <a:endParaRPr sz="3600" b="1" u="sng">
              <a:solidFill>
                <a:srgbClr val="FFFF00"/>
              </a:solidFill>
              <a:latin typeface="Quattrocento Sans"/>
              <a:ea typeface="Quattrocento Sans"/>
              <a:cs typeface="Quattrocento Sans"/>
              <a:hlinkClick r:id="rId4">
                <a:extLst>
                  <a:ext uri="{A12FA001-AC4F-418D-AE19-62706E023703}">
                    <ahyp:hlinkClr xmlns:ahyp="http://schemas.microsoft.com/office/drawing/2018/hyperlinkcolor" val="tx"/>
                  </a:ext>
                </a:extLst>
              </a:hlinkClick>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endParaRPr>
          </a:p>
          <a:p>
            <a:endParaRPr lang="en-US" sz="2400" b="1">
              <a:solidFill>
                <a:srgbClr val="FFFF00"/>
              </a:solidFill>
              <a:latin typeface="Quattrocento Sans"/>
              <a:ea typeface="Quattrocento Sans"/>
              <a:cs typeface="Quattrocento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dirty="0"/>
              <a:t>3D Interactive Media Development</a:t>
            </a:r>
            <a:endParaRPr dirty="0"/>
          </a:p>
        </p:txBody>
      </p:sp>
      <p:sp>
        <p:nvSpPr>
          <p:cNvPr id="212" name="Google Shape;212;p24"/>
          <p:cNvSpPr txBox="1"/>
          <p:nvPr/>
        </p:nvSpPr>
        <p:spPr>
          <a:xfrm>
            <a:off x="609600" y="1293500"/>
            <a:ext cx="10972800" cy="5940047"/>
          </a:xfrm>
          <a:prstGeom prst="rect">
            <a:avLst/>
          </a:prstGeom>
          <a:noFill/>
          <a:ln>
            <a:noFill/>
          </a:ln>
        </p:spPr>
        <p:txBody>
          <a:bodyPr spcFirstLastPara="1" wrap="square" lIns="91425" tIns="45700" rIns="91425" bIns="45700" anchor="t" anchorCtr="0">
            <a:spAutoFit/>
          </a:bodyPr>
          <a:lstStyle/>
          <a:p>
            <a:r>
              <a:rPr lang="en-GB" sz="3200" b="1" dirty="0">
                <a:solidFill>
                  <a:srgbClr val="FFFF00"/>
                </a:solidFill>
                <a:latin typeface="Quattrocento Sans"/>
                <a:ea typeface="Quattrocento Sans"/>
                <a:cs typeface="Quattrocento Sans"/>
                <a:sym typeface="Quattrocento Sans"/>
              </a:rPr>
              <a:t>More C# and Unity3D:</a:t>
            </a:r>
            <a:br>
              <a:rPr lang="en-GB" sz="3200" b="1" dirty="0">
                <a:latin typeface="Quattrocento Sans"/>
                <a:ea typeface="Quattrocento Sans"/>
                <a:cs typeface="Quattrocento Sans"/>
              </a:rPr>
            </a:br>
            <a:r>
              <a:rPr lang="en-GB" sz="2400" b="1" dirty="0">
                <a:solidFill>
                  <a:srgbClr val="FFFF00"/>
                </a:solidFill>
                <a:latin typeface="Quattrocento Sans"/>
                <a:ea typeface="Quattrocento Sans"/>
                <a:cs typeface="Quattrocento Sans"/>
                <a:sym typeface="Quattrocento Sans"/>
              </a:rPr>
              <a:t>Update vs. Fixed Update, Forces and Physics, Colliders and Gravity </a:t>
            </a:r>
            <a:r>
              <a:rPr lang="en-GB" sz="2400" b="1" u="sng" dirty="0">
                <a:solidFill>
                  <a:schemeClr val="hlink"/>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https://www.youtube.com/watch?v=rXYjB0kdf-U</a:t>
            </a:r>
            <a:r>
              <a:rPr lang="en-GB" sz="2400" b="1" dirty="0">
                <a:solidFill>
                  <a:srgbClr val="FFFF00"/>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endParaRPr sz="2000" i="1">
              <a:solidFill>
                <a:schemeClr val="dk1"/>
              </a:solidFill>
              <a:latin typeface="Quattrocento Sans"/>
              <a:ea typeface="Quattrocento Sans"/>
              <a:cs typeface="Quattrocento Sans"/>
              <a:sym typeface="Quattrocento Sans"/>
            </a:endParaRPr>
          </a:p>
          <a:p>
            <a:r>
              <a:rPr lang="en-GB" sz="1800" i="1" dirty="0">
                <a:solidFill>
                  <a:srgbClr val="FFFF00"/>
                </a:solidFill>
                <a:latin typeface="Quattrocento Sans"/>
                <a:ea typeface="Quattrocento Sans"/>
                <a:cs typeface="Quattrocento Sans"/>
              </a:rPr>
              <a:t>                Mesh</a:t>
            </a:r>
            <a:endParaRPr lang="en-GB" sz="1800" i="1" dirty="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1800" i="1" dirty="0">
                <a:solidFill>
                  <a:schemeClr val="dk1"/>
                </a:solidFill>
                <a:latin typeface="Quattrocento Sans"/>
                <a:ea typeface="Quattrocento Sans"/>
                <a:cs typeface="Quattrocento Sans"/>
                <a:sym typeface="Quattrocento Sans"/>
              </a:rPr>
              <a:t>		Polygon mesh for rendering, rasterising, display</a:t>
            </a:r>
            <a:endParaRPr sz="1800">
              <a:solidFill>
                <a:schemeClr val="dk1"/>
              </a:solidFill>
            </a:endParaRPr>
          </a:p>
          <a:p>
            <a:pPr marL="0" marR="0" lvl="0" indent="0" algn="l" rtl="0">
              <a:spcBef>
                <a:spcPts val="0"/>
              </a:spcBef>
              <a:spcAft>
                <a:spcPts val="0"/>
              </a:spcAft>
              <a:buNone/>
            </a:pPr>
            <a:r>
              <a:rPr lang="en-GB" sz="1800" i="1" dirty="0">
                <a:solidFill>
                  <a:schemeClr val="dk1"/>
                </a:solidFill>
                <a:latin typeface="Quattrocento Sans"/>
                <a:ea typeface="Quattrocento Sans"/>
                <a:cs typeface="Quattrocento Sans"/>
                <a:sym typeface="Quattrocento Sans"/>
              </a:rPr>
              <a:t>	</a:t>
            </a:r>
            <a:r>
              <a:rPr lang="en-GB" sz="1800" i="1" dirty="0">
                <a:solidFill>
                  <a:srgbClr val="FFFF00"/>
                </a:solidFill>
                <a:latin typeface="Quattrocento Sans"/>
                <a:ea typeface="Quattrocento Sans"/>
                <a:cs typeface="Quattrocento Sans"/>
                <a:sym typeface="Quattrocento Sans"/>
              </a:rPr>
              <a:t>Collider</a:t>
            </a:r>
            <a:endParaRPr sz="1800" i="1">
              <a:solidFill>
                <a:schemeClr val="dk1"/>
              </a:solidFill>
              <a:latin typeface="Quattrocento Sans"/>
              <a:ea typeface="Quattrocento Sans"/>
              <a:cs typeface="Quattrocento Sans"/>
            </a:endParaRPr>
          </a:p>
          <a:p>
            <a:r>
              <a:rPr lang="en-GB" sz="1800" i="1" dirty="0">
                <a:solidFill>
                  <a:schemeClr val="dk1"/>
                </a:solidFill>
                <a:latin typeface="Quattrocento Sans"/>
                <a:ea typeface="Quattrocento Sans"/>
                <a:cs typeface="Quattrocento Sans"/>
                <a:sym typeface="Quattrocento Sans"/>
              </a:rPr>
              <a:t>		Simple invisible mesh to represent object in Physics Engine – can be box, wholes mesh</a:t>
            </a:r>
            <a:endParaRPr sz="1800" dirty="0">
              <a:solidFill>
                <a:schemeClr val="dk1"/>
              </a:solidFill>
            </a:endParaRPr>
          </a:p>
          <a:p>
            <a:pPr marL="0" marR="0" lvl="0" indent="0" algn="l" rtl="0">
              <a:spcBef>
                <a:spcPts val="0"/>
              </a:spcBef>
              <a:spcAft>
                <a:spcPts val="0"/>
              </a:spcAft>
              <a:buNone/>
            </a:pPr>
            <a:r>
              <a:rPr lang="en-GB" sz="1800" i="1" dirty="0">
                <a:solidFill>
                  <a:schemeClr val="dk1"/>
                </a:solidFill>
                <a:latin typeface="Quattrocento Sans"/>
                <a:ea typeface="Quattrocento Sans"/>
                <a:cs typeface="Quattrocento Sans"/>
                <a:sym typeface="Quattrocento Sans"/>
              </a:rPr>
              <a:t>	</a:t>
            </a:r>
            <a:r>
              <a:rPr lang="en-GB" sz="1800" i="1" err="1">
                <a:solidFill>
                  <a:srgbClr val="FFFF00"/>
                </a:solidFill>
                <a:latin typeface="Quattrocento Sans"/>
                <a:ea typeface="Quattrocento Sans"/>
                <a:cs typeface="Quattrocento Sans"/>
                <a:sym typeface="Quattrocento Sans"/>
              </a:rPr>
              <a:t>RigidBody</a:t>
            </a:r>
            <a:endParaRPr sz="1800" i="1">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1800" i="1" dirty="0">
                <a:solidFill>
                  <a:schemeClr val="dk1"/>
                </a:solidFill>
                <a:latin typeface="Quattrocento Sans"/>
                <a:ea typeface="Quattrocento Sans"/>
                <a:cs typeface="Quattrocento Sans"/>
                <a:sym typeface="Quattrocento Sans"/>
              </a:rPr>
              <a:t>		Under Unity’s Physics engine, Affected by Gravity</a:t>
            </a:r>
            <a:endParaRPr sz="1800">
              <a:solidFill>
                <a:schemeClr val="dk1"/>
              </a:solidFill>
            </a:endParaRPr>
          </a:p>
          <a:p>
            <a:pPr marL="0" marR="0" lvl="0" indent="0" algn="l" rtl="0">
              <a:spcBef>
                <a:spcPts val="0"/>
              </a:spcBef>
              <a:spcAft>
                <a:spcPts val="0"/>
              </a:spcAft>
              <a:buNone/>
            </a:pPr>
            <a:r>
              <a:rPr lang="en-GB" sz="1800" i="1" dirty="0">
                <a:solidFill>
                  <a:schemeClr val="dk1"/>
                </a:solidFill>
                <a:latin typeface="Quattrocento Sans"/>
                <a:ea typeface="Quattrocento Sans"/>
                <a:cs typeface="Quattrocento Sans"/>
                <a:sym typeface="Quattrocento Sans"/>
              </a:rPr>
              <a:t>		Reacts to collisions with other objects that have colliders</a:t>
            </a:r>
            <a:endParaRPr sz="1800">
              <a:solidFill>
                <a:schemeClr val="dk1"/>
              </a:solidFill>
            </a:endParaRPr>
          </a:p>
          <a:p>
            <a:pPr marL="0" marR="0" lvl="0" indent="0" algn="l" rtl="0">
              <a:spcBef>
                <a:spcPts val="0"/>
              </a:spcBef>
              <a:spcAft>
                <a:spcPts val="0"/>
              </a:spcAft>
              <a:buNone/>
            </a:pPr>
            <a:r>
              <a:rPr lang="en-GB" sz="1800" i="1" dirty="0">
                <a:solidFill>
                  <a:schemeClr val="dk1"/>
                </a:solidFill>
                <a:latin typeface="Quattrocento Sans"/>
                <a:ea typeface="Quattrocento Sans"/>
                <a:cs typeface="Quattrocento Sans"/>
                <a:sym typeface="Quattrocento Sans"/>
              </a:rPr>
              <a:t>		If Collider but no Rigid Body, is a Static Collider</a:t>
            </a:r>
            <a:endParaRPr sz="1800">
              <a:solidFill>
                <a:schemeClr val="dk1"/>
              </a:solidFill>
            </a:endParaRPr>
          </a:p>
          <a:p>
            <a:pPr marL="0" marR="0" lvl="0" indent="0" algn="l" rtl="0">
              <a:spcBef>
                <a:spcPts val="0"/>
              </a:spcBef>
              <a:spcAft>
                <a:spcPts val="0"/>
              </a:spcAft>
              <a:buNone/>
            </a:pPr>
            <a:r>
              <a:rPr lang="en-GB" sz="1800" i="1" dirty="0">
                <a:solidFill>
                  <a:srgbClr val="FFFFFF"/>
                </a:solidFill>
                <a:latin typeface="Quattrocento Sans"/>
                <a:ea typeface="Quattrocento Sans"/>
                <a:cs typeface="Quattrocento Sans"/>
                <a:sym typeface="Quattrocento Sans"/>
              </a:rPr>
              <a:t>	</a:t>
            </a:r>
            <a:r>
              <a:rPr lang="en-GB" sz="1800" i="1" dirty="0">
                <a:solidFill>
                  <a:srgbClr val="FFFF00"/>
                </a:solidFill>
                <a:latin typeface="Quattrocento Sans"/>
                <a:ea typeface="Quattrocento Sans"/>
                <a:cs typeface="Quattrocento Sans"/>
                <a:sym typeface="Quattrocento Sans"/>
              </a:rPr>
              <a:t>Kinematic </a:t>
            </a:r>
            <a:r>
              <a:rPr lang="en-GB" sz="1800" i="1" err="1">
                <a:solidFill>
                  <a:srgbClr val="FFFF00"/>
                </a:solidFill>
                <a:latin typeface="Quattrocento Sans"/>
                <a:ea typeface="Quattrocento Sans"/>
                <a:cs typeface="Quattrocento Sans"/>
                <a:sym typeface="Quattrocento Sans"/>
              </a:rPr>
              <a:t>RigidBody</a:t>
            </a:r>
            <a:endParaRPr sz="1800" i="1">
              <a:solidFill>
                <a:srgbClr val="FFFF00"/>
              </a:solidFill>
              <a:latin typeface="Quattrocento Sans"/>
              <a:ea typeface="Quattrocento Sans"/>
              <a:cs typeface="Quattrocento Sans"/>
            </a:endParaRPr>
          </a:p>
          <a:p>
            <a:r>
              <a:rPr lang="en-GB" sz="1800" i="1" dirty="0">
                <a:solidFill>
                  <a:srgbClr val="FFFFFF"/>
                </a:solidFill>
                <a:latin typeface="Quattrocento Sans"/>
                <a:ea typeface="Quattrocento Sans"/>
                <a:cs typeface="Quattrocento Sans"/>
                <a:sym typeface="Quattrocento Sans"/>
              </a:rPr>
              <a:t>                            Does not move unless by animation or script control. </a:t>
            </a:r>
            <a:endParaRPr lang="en-GB" sz="1800" b="1" i="1" dirty="0">
              <a:solidFill>
                <a:srgbClr val="FFFFFF"/>
              </a:solidFill>
              <a:latin typeface="Quattrocento Sans"/>
              <a:ea typeface="Quattrocento Sans"/>
              <a:cs typeface="Quattrocento Sans"/>
            </a:endParaRPr>
          </a:p>
          <a:p>
            <a:r>
              <a:rPr lang="en-GB" sz="1800" i="1" dirty="0">
                <a:solidFill>
                  <a:srgbClr val="FFFFFF"/>
                </a:solidFill>
                <a:latin typeface="Quattrocento Sans"/>
                <a:ea typeface="Quattrocento Sans"/>
                <a:cs typeface="Quattrocento Sans"/>
                <a:sym typeface="Quattrocento Sans"/>
              </a:rPr>
              <a:t>                            Other objects with rigid bodies will react  to it if  both have </a:t>
            </a:r>
            <a:r>
              <a:rPr lang="en-GB" sz="1800" i="1" err="1">
                <a:solidFill>
                  <a:srgbClr val="FFFFFF"/>
                </a:solidFill>
                <a:latin typeface="Quattrocento Sans"/>
                <a:ea typeface="Quattrocento Sans"/>
                <a:cs typeface="Quattrocento Sans"/>
                <a:sym typeface="Quattrocento Sans"/>
              </a:rPr>
              <a:t>colliiders</a:t>
            </a:r>
            <a:endParaRPr sz="1800" b="1" i="1" err="1">
              <a:solidFill>
                <a:srgbClr val="FFFFFF"/>
              </a:solidFill>
              <a:latin typeface="Quattrocento Sans"/>
              <a:ea typeface="Quattrocento Sans"/>
              <a:cs typeface="Quattrocento Sans"/>
            </a:endParaRPr>
          </a:p>
          <a:p>
            <a:pPr marL="0" marR="0" lvl="0" indent="0" algn="l" rtl="0">
              <a:spcBef>
                <a:spcPts val="0"/>
              </a:spcBef>
              <a:spcAft>
                <a:spcPts val="0"/>
              </a:spcAft>
              <a:buNone/>
            </a:pPr>
            <a:r>
              <a:rPr lang="en-GB" sz="1800" b="1" i="1" dirty="0">
                <a:solidFill>
                  <a:srgbClr val="FFFFFF"/>
                </a:solidFill>
                <a:latin typeface="Quattrocento Sans"/>
                <a:ea typeface="Quattrocento Sans"/>
                <a:cs typeface="Quattrocento Sans"/>
                <a:sym typeface="Quattrocento Sans"/>
              </a:rPr>
              <a:t>	</a:t>
            </a:r>
            <a:r>
              <a:rPr lang="en-GB" sz="1800" i="1" dirty="0">
                <a:solidFill>
                  <a:srgbClr val="FFFF00"/>
                </a:solidFill>
                <a:latin typeface="Quattrocento Sans"/>
                <a:ea typeface="Quattrocento Sans"/>
                <a:cs typeface="Quattrocento Sans"/>
                <a:sym typeface="Quattrocento Sans"/>
              </a:rPr>
              <a:t>Triggers</a:t>
            </a:r>
            <a:endParaRPr lang="en-GB" sz="1800" i="1" dirty="0">
              <a:solidFill>
                <a:srgbClr val="FFFF00"/>
              </a:solidFill>
              <a:latin typeface="Quattrocento Sans"/>
            </a:endParaRPr>
          </a:p>
          <a:p>
            <a:r>
              <a:rPr lang="en-GB" sz="1800" i="1" dirty="0">
                <a:solidFill>
                  <a:srgbClr val="FFFF00"/>
                </a:solidFill>
                <a:latin typeface="Quattrocento Sans"/>
                <a:ea typeface="Quattrocento Sans"/>
                <a:cs typeface="Quattrocento Sans"/>
              </a:rPr>
              <a:t>                          </a:t>
            </a:r>
            <a:r>
              <a:rPr lang="en-GB" sz="1800" i="1" dirty="0">
                <a:solidFill>
                  <a:srgbClr val="FFFF00"/>
                </a:solidFill>
                <a:latin typeface="Quattrocento Sans"/>
                <a:ea typeface="Quattrocento Sans"/>
              </a:rPr>
              <a:t>  </a:t>
            </a:r>
            <a:r>
              <a:rPr lang="en-GB" sz="1800" i="1" dirty="0">
                <a:solidFill>
                  <a:srgbClr val="FFFFFF"/>
                </a:solidFill>
                <a:ea typeface="Quattrocento Sans"/>
              </a:rPr>
              <a:t>Animation can be played</a:t>
            </a:r>
            <a:endParaRPr lang="en-GB" sz="1800" i="1" dirty="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i="1" dirty="0">
                <a:solidFill>
                  <a:srgbClr val="FFFFFF"/>
                </a:solidFill>
                <a:latin typeface="Quattrocento Sans"/>
                <a:ea typeface="Quattrocento Sans"/>
                <a:cs typeface="Quattrocento Sans"/>
                <a:sym typeface="Quattrocento Sans"/>
              </a:rPr>
              <a:t>	</a:t>
            </a:r>
            <a:endParaRPr sz="3200" b="1" dirty="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dirty="0">
                <a:solidFill>
                  <a:srgbClr val="FF0000"/>
                </a:solidFill>
                <a:latin typeface="Quattrocento Sans"/>
                <a:ea typeface="Quattrocento Sans"/>
                <a:cs typeface="Quattrocento Sans"/>
                <a:sym typeface="Quattrocento Sans"/>
              </a:rPr>
              <a:t>	</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05" name="Google Shape;205;p23"/>
          <p:cNvSpPr txBox="1"/>
          <p:nvPr/>
        </p:nvSpPr>
        <p:spPr>
          <a:xfrm>
            <a:off x="609600" y="1293507"/>
            <a:ext cx="11559300" cy="51398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dirty="0" err="1">
                <a:solidFill>
                  <a:srgbClr val="FFFF00"/>
                </a:solidFill>
                <a:latin typeface="Quattrocento Sans"/>
                <a:sym typeface="Quattrocento Sans"/>
              </a:rPr>
              <a:t>RigidBody</a:t>
            </a:r>
            <a:r>
              <a:rPr lang="en-GB" sz="3200" b="1" dirty="0">
                <a:solidFill>
                  <a:srgbClr val="FFFF00"/>
                </a:solidFill>
                <a:latin typeface="Quattrocento Sans"/>
                <a:sym typeface="Quattrocento Sans"/>
              </a:rPr>
              <a:t>:</a:t>
            </a:r>
            <a:endParaRPr dirty="0" err="1"/>
          </a:p>
          <a:p>
            <a:pPr marL="0" marR="0" lvl="0" indent="0" algn="l" rtl="0">
              <a:spcBef>
                <a:spcPts val="0"/>
              </a:spcBef>
              <a:spcAft>
                <a:spcPts val="0"/>
              </a:spcAft>
              <a:buNone/>
            </a:pPr>
            <a:r>
              <a:rPr lang="en-GB" sz="2400" b="1" dirty="0">
                <a:solidFill>
                  <a:srgbClr val="FFFF00"/>
                </a:solidFill>
                <a:latin typeface="Quattrocento Sans"/>
                <a:ea typeface="Quattrocento Sans"/>
                <a:cs typeface="Quattrocento Sans"/>
                <a:sym typeface="Quattrocento Sans"/>
              </a:rPr>
              <a:t>Update vs. Fixed Update, Forces and Physics, Colliders and Gravity</a:t>
            </a:r>
            <a:endParaRPr dirty="0"/>
          </a:p>
          <a:p>
            <a:pPr marL="0" marR="0" lvl="0" indent="0" algn="l" rtl="0">
              <a:spcBef>
                <a:spcPts val="0"/>
              </a:spcBef>
              <a:spcAft>
                <a:spcPts val="0"/>
              </a:spcAft>
              <a:buNone/>
            </a:pPr>
            <a:endParaRPr sz="18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dirty="0" err="1">
                <a:solidFill>
                  <a:srgbClr val="FFFF00"/>
                </a:solidFill>
                <a:latin typeface="Quattrocento Sans"/>
                <a:ea typeface="Quattrocento Sans"/>
                <a:cs typeface="Quattrocento Sans"/>
                <a:sym typeface="Quattrocento Sans"/>
              </a:rPr>
              <a:t>Rigidbody</a:t>
            </a:r>
            <a:endParaRPr sz="1800" b="1" dirty="0" err="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chemeClr val="dk1"/>
              </a:solidFill>
              <a:latin typeface="Quattrocento Sans"/>
              <a:ea typeface="Quattrocento Sans"/>
              <a:cs typeface="Quattrocento Sans"/>
              <a:sym typeface="Quattrocento Sans"/>
            </a:endParaRPr>
          </a:p>
          <a:p>
            <a:r>
              <a:rPr lang="en-GB" sz="1800" i="1" dirty="0">
                <a:solidFill>
                  <a:schemeClr val="dk1"/>
                </a:solidFill>
                <a:latin typeface="Quattrocento Sans"/>
                <a:ea typeface="Quattrocento Sans"/>
                <a:cs typeface="Quattrocento Sans"/>
                <a:sym typeface="Quattrocento Sans"/>
              </a:rPr>
              <a:t>A </a:t>
            </a:r>
            <a:r>
              <a:rPr lang="en-GB" sz="1800" i="1" err="1">
                <a:solidFill>
                  <a:schemeClr val="dk1"/>
                </a:solidFill>
                <a:latin typeface="Quattrocento Sans"/>
                <a:ea typeface="Quattrocento Sans"/>
                <a:cs typeface="Quattrocento Sans"/>
                <a:sym typeface="Quattrocento Sans"/>
              </a:rPr>
              <a:t>Rigidbody</a:t>
            </a:r>
            <a:r>
              <a:rPr lang="en-GB" sz="1800" i="1" dirty="0">
                <a:solidFill>
                  <a:schemeClr val="dk1"/>
                </a:solidFill>
                <a:latin typeface="Quattrocento Sans"/>
                <a:ea typeface="Quattrocento Sans"/>
                <a:cs typeface="Quattrocento Sans"/>
                <a:sym typeface="Quattrocento Sans"/>
              </a:rPr>
              <a:t> is the main component that enables physical </a:t>
            </a:r>
            <a:r>
              <a:rPr lang="en-GB" sz="1800" i="1" err="1">
                <a:solidFill>
                  <a:schemeClr val="dk1"/>
                </a:solidFill>
                <a:latin typeface="Quattrocento Sans"/>
                <a:ea typeface="Quattrocento Sans"/>
                <a:cs typeface="Quattrocento Sans"/>
                <a:sym typeface="Quattrocento Sans"/>
              </a:rPr>
              <a:t>behavior</a:t>
            </a:r>
            <a:r>
              <a:rPr lang="en-GB" sz="1800" i="1" dirty="0">
                <a:solidFill>
                  <a:schemeClr val="dk1"/>
                </a:solidFill>
                <a:latin typeface="Quattrocento Sans"/>
                <a:ea typeface="Quattrocento Sans"/>
                <a:cs typeface="Quattrocento Sans"/>
                <a:sym typeface="Quattrocento Sans"/>
              </a:rPr>
              <a:t> for an object. With a </a:t>
            </a:r>
            <a:r>
              <a:rPr lang="en-GB" sz="1800" i="1" err="1">
                <a:solidFill>
                  <a:schemeClr val="dk1"/>
                </a:solidFill>
                <a:latin typeface="Quattrocento Sans"/>
                <a:ea typeface="Quattrocento Sans"/>
                <a:cs typeface="Quattrocento Sans"/>
                <a:sym typeface="Quattrocento Sans"/>
              </a:rPr>
              <a:t>Rigidbody</a:t>
            </a:r>
            <a:r>
              <a:rPr lang="en-GB" sz="1800" i="1" dirty="0">
                <a:solidFill>
                  <a:schemeClr val="dk1"/>
                </a:solidFill>
                <a:latin typeface="Quattrocento Sans"/>
                <a:ea typeface="Quattrocento Sans"/>
                <a:cs typeface="Quattrocento Sans"/>
                <a:sym typeface="Quattrocento Sans"/>
              </a:rPr>
              <a:t> attached, the </a:t>
            </a:r>
            <a:endParaRPr lang="en-GB" i="1">
              <a:solidFill>
                <a:schemeClr val="dk1"/>
              </a:solidFill>
              <a:ea typeface="Quattrocento Sans"/>
            </a:endParaRPr>
          </a:p>
          <a:p>
            <a:pPr marL="0" marR="0" lvl="0" indent="0" algn="l" rtl="0">
              <a:spcBef>
                <a:spcPts val="0"/>
              </a:spcBef>
              <a:spcAft>
                <a:spcPts val="0"/>
              </a:spcAft>
              <a:buNone/>
            </a:pPr>
            <a:r>
              <a:rPr lang="en-GB" sz="1800" i="1" dirty="0">
                <a:solidFill>
                  <a:schemeClr val="dk1"/>
                </a:solidFill>
                <a:latin typeface="Quattrocento Sans"/>
                <a:ea typeface="Quattrocento Sans"/>
                <a:cs typeface="Quattrocento Sans"/>
                <a:sym typeface="Quattrocento Sans"/>
              </a:rPr>
              <a:t>object will immediately respond to gravity. If one or more Collider components are also added, then the object will be moved by incoming collisions.</a:t>
            </a:r>
            <a:endParaRPr i="1" dirty="0">
              <a:solidFill>
                <a:schemeClr val="dk1"/>
              </a:solidFill>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r>
              <a:rPr lang="en-GB" sz="1800" dirty="0" err="1">
                <a:solidFill>
                  <a:schemeClr val="dk1"/>
                </a:solidFill>
                <a:latin typeface="Quattrocento Sans"/>
                <a:ea typeface="Quattrocento Sans"/>
                <a:cs typeface="Quattrocento Sans"/>
                <a:sym typeface="Quattrocento Sans"/>
              </a:rPr>
              <a:t>Rigidbodies</a:t>
            </a:r>
            <a:r>
              <a:rPr lang="en-GB" sz="1800" dirty="0">
                <a:solidFill>
                  <a:schemeClr val="dk1"/>
                </a:solidFill>
                <a:latin typeface="Quattrocento Sans"/>
                <a:ea typeface="Quattrocento Sans"/>
                <a:cs typeface="Quattrocento Sans"/>
                <a:sym typeface="Quattrocento Sans"/>
              </a:rPr>
              <a:t> also allow your </a:t>
            </a:r>
            <a:r>
              <a:rPr lang="en-GB" sz="1800" dirty="0" err="1">
                <a:solidFill>
                  <a:schemeClr val="dk1"/>
                </a:solidFill>
                <a:latin typeface="Quattrocento Sans"/>
                <a:ea typeface="Quattrocento Sans"/>
                <a:cs typeface="Quattrocento Sans"/>
                <a:sym typeface="Quattrocento Sans"/>
              </a:rPr>
              <a:t>GameObjects</a:t>
            </a:r>
            <a:r>
              <a:rPr lang="en-GB" sz="1800" dirty="0">
                <a:solidFill>
                  <a:schemeClr val="dk1"/>
                </a:solidFill>
                <a:latin typeface="Quattrocento Sans"/>
                <a:ea typeface="Quattrocento Sans"/>
                <a:cs typeface="Quattrocento Sans"/>
                <a:sym typeface="Quattrocento Sans"/>
              </a:rPr>
              <a:t> to act under control of the physics engine. This opens the gateway to realistic collisions, varied types of joints, and other very cool behaviours. Manipulating your </a:t>
            </a:r>
            <a:r>
              <a:rPr lang="en-GB" sz="1800" dirty="0" err="1">
                <a:solidFill>
                  <a:schemeClr val="dk1"/>
                </a:solidFill>
                <a:latin typeface="Quattrocento Sans"/>
                <a:ea typeface="Quattrocento Sans"/>
                <a:cs typeface="Quattrocento Sans"/>
                <a:sym typeface="Quattrocento Sans"/>
              </a:rPr>
              <a:t>GameObject</a:t>
            </a:r>
            <a:r>
              <a:rPr lang="en-GB" sz="1800" dirty="0">
                <a:solidFill>
                  <a:schemeClr val="dk1"/>
                </a:solidFill>
                <a:latin typeface="Quattrocento Sans"/>
                <a:ea typeface="Quattrocento Sans"/>
                <a:cs typeface="Quattrocento Sans"/>
                <a:sym typeface="Quattrocento Sans"/>
              </a:rPr>
              <a:t> by adding forces to the </a:t>
            </a:r>
            <a:r>
              <a:rPr lang="en-GB" sz="1800" dirty="0" err="1">
                <a:solidFill>
                  <a:schemeClr val="dk1"/>
                </a:solidFill>
                <a:latin typeface="Quattrocento Sans"/>
                <a:ea typeface="Quattrocento Sans"/>
                <a:cs typeface="Quattrocento Sans"/>
                <a:sym typeface="Quattrocento Sans"/>
              </a:rPr>
              <a:t>Rigidbody</a:t>
            </a:r>
            <a:r>
              <a:rPr lang="en-GB" sz="1800" dirty="0">
                <a:solidFill>
                  <a:schemeClr val="dk1"/>
                </a:solidFill>
                <a:latin typeface="Quattrocento Sans"/>
                <a:ea typeface="Quattrocento Sans"/>
                <a:cs typeface="Quattrocento Sans"/>
                <a:sym typeface="Quattrocento Sans"/>
              </a:rPr>
              <a:t> creates a very different </a:t>
            </a:r>
            <a:r>
              <a:rPr lang="en-GB" sz="1800" dirty="0" err="1">
                <a:solidFill>
                  <a:schemeClr val="dk1"/>
                </a:solidFill>
                <a:latin typeface="Quattrocento Sans"/>
                <a:ea typeface="Quattrocento Sans"/>
                <a:cs typeface="Quattrocento Sans"/>
                <a:sym typeface="Quattrocento Sans"/>
              </a:rPr>
              <a:t>behavior</a:t>
            </a:r>
            <a:r>
              <a:rPr lang="en-GB" sz="1800" dirty="0">
                <a:solidFill>
                  <a:schemeClr val="dk1"/>
                </a:solidFill>
                <a:latin typeface="Quattrocento Sans"/>
                <a:ea typeface="Quattrocento Sans"/>
                <a:cs typeface="Quattrocento Sans"/>
                <a:sym typeface="Quattrocento Sans"/>
              </a:rPr>
              <a:t> than adjusting the </a:t>
            </a:r>
            <a:r>
              <a:rPr lang="en-GB" sz="1800" i="1" dirty="0">
                <a:solidFill>
                  <a:schemeClr val="dk1"/>
                </a:solidFill>
                <a:latin typeface="Quattrocento Sans"/>
                <a:ea typeface="Quattrocento Sans"/>
                <a:cs typeface="Quattrocento Sans"/>
                <a:sym typeface="Quattrocento Sans"/>
              </a:rPr>
              <a:t>Transform</a:t>
            </a:r>
            <a:r>
              <a:rPr lang="en-GB" sz="1800" dirty="0">
                <a:solidFill>
                  <a:schemeClr val="dk1"/>
                </a:solidFill>
                <a:latin typeface="Quattrocento Sans"/>
                <a:ea typeface="Quattrocento Sans"/>
                <a:cs typeface="Quattrocento Sans"/>
                <a:sym typeface="Quattrocento Sans"/>
              </a:rPr>
              <a:t> component directly. As a good rule of thumb, you shouldn’t manipulate the </a:t>
            </a:r>
            <a:r>
              <a:rPr lang="en-GB" sz="1800" dirty="0" err="1">
                <a:solidFill>
                  <a:schemeClr val="dk1"/>
                </a:solidFill>
                <a:latin typeface="Quattrocento Sans"/>
                <a:ea typeface="Quattrocento Sans"/>
                <a:cs typeface="Quattrocento Sans"/>
                <a:sym typeface="Quattrocento Sans"/>
              </a:rPr>
              <a:t>Rigidbody</a:t>
            </a:r>
            <a:r>
              <a:rPr lang="en-GB" sz="1800" dirty="0">
                <a:solidFill>
                  <a:schemeClr val="dk1"/>
                </a:solidFill>
                <a:latin typeface="Quattrocento Sans"/>
                <a:ea typeface="Quattrocento Sans"/>
                <a:cs typeface="Quattrocento Sans"/>
                <a:sym typeface="Quattrocento Sans"/>
              </a:rPr>
              <a:t> and the Transform of the same </a:t>
            </a:r>
            <a:r>
              <a:rPr lang="en-GB" sz="1800" dirty="0" err="1">
                <a:solidFill>
                  <a:schemeClr val="dk1"/>
                </a:solidFill>
                <a:latin typeface="Quattrocento Sans"/>
                <a:ea typeface="Quattrocento Sans"/>
                <a:cs typeface="Quattrocento Sans"/>
                <a:sym typeface="Quattrocento Sans"/>
              </a:rPr>
              <a:t>GameObject</a:t>
            </a:r>
            <a:r>
              <a:rPr lang="en-GB" sz="1800" dirty="0">
                <a:solidFill>
                  <a:schemeClr val="dk1"/>
                </a:solidFill>
                <a:latin typeface="Quattrocento Sans"/>
                <a:ea typeface="Quattrocento Sans"/>
                <a:cs typeface="Quattrocento Sans"/>
                <a:sym typeface="Quattrocento Sans"/>
              </a:rPr>
              <a:t>, only one or the other.</a:t>
            </a:r>
            <a:endParaRPr>
              <a:solidFill>
                <a:schemeClr val="dk1"/>
              </a:solidFill>
            </a:endParaRPr>
          </a:p>
          <a:p>
            <a:pPr marL="0" marR="0" lvl="0" indent="0" algn="l" rtl="0">
              <a:spcBef>
                <a:spcPts val="0"/>
              </a:spcBef>
              <a:spcAft>
                <a:spcPts val="0"/>
              </a:spcAft>
              <a:buNone/>
            </a:pPr>
            <a:endParaRPr sz="32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56" name="Google Shape;156;p17"/>
          <p:cNvSpPr txBox="1"/>
          <p:nvPr/>
        </p:nvSpPr>
        <p:spPr>
          <a:xfrm>
            <a:off x="609600" y="1421654"/>
            <a:ext cx="10890600" cy="49859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dirty="0">
                <a:solidFill>
                  <a:srgbClr val="FFFF00"/>
                </a:solidFill>
                <a:latin typeface="Quattrocento Sans"/>
                <a:ea typeface="Quattrocento Sans"/>
                <a:cs typeface="Quattrocento Sans"/>
                <a:sym typeface="Quattrocento Sans"/>
              </a:rPr>
              <a:t>Unity Scripted Movement (Not Animation Trigger)</a:t>
            </a:r>
            <a:endParaRPr dirty="0"/>
          </a:p>
          <a:p>
            <a:pPr marL="0" marR="0" lvl="0" indent="0" algn="l" rtl="0">
              <a:spcBef>
                <a:spcPts val="0"/>
              </a:spcBef>
              <a:spcAft>
                <a:spcPts val="0"/>
              </a:spcAft>
              <a:buNone/>
            </a:pPr>
            <a:r>
              <a:rPr lang="en-GB" sz="1800" b="1" u="sng" dirty="0">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https://unity3d.com/learn/tutorials/topics/scripting/translate-and-rotate?playlist=17117</a:t>
            </a:r>
            <a:endParaRPr sz="1800" b="1" dirty="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00"/>
              </a:solidFill>
              <a:latin typeface="Quattrocento Sans"/>
              <a:ea typeface="Quattrocento Sans"/>
              <a:cs typeface="Quattrocento Sans"/>
              <a:sym typeface="Quattrocento Sans"/>
            </a:endParaRPr>
          </a:p>
          <a:p>
            <a:r>
              <a:rPr lang="en-GB" sz="1800" dirty="0">
                <a:solidFill>
                  <a:srgbClr val="FFFFFF"/>
                </a:solidFill>
                <a:latin typeface="Quattrocento Sans"/>
              </a:rPr>
              <a:t>The Body Type. Can be:</a:t>
            </a:r>
            <a:endParaRPr lang="en-GB" dirty="0"/>
          </a:p>
          <a:p>
            <a:endParaRPr lang="en-GB" sz="1800" dirty="0">
              <a:solidFill>
                <a:srgbClr val="FFFF00"/>
              </a:solidFill>
              <a:latin typeface="Quattrocento Sans"/>
            </a:endParaRPr>
          </a:p>
          <a:p>
            <a:r>
              <a:rPr lang="en-GB" sz="2400" dirty="0">
                <a:solidFill>
                  <a:srgbClr val="FFFF00"/>
                </a:solidFill>
                <a:latin typeface="Quattrocento Sans"/>
              </a:rPr>
              <a:t>Dynamic </a:t>
            </a:r>
            <a:endParaRPr lang="en-GB" sz="2400" dirty="0"/>
          </a:p>
          <a:p>
            <a:r>
              <a:rPr lang="en-GB" sz="1800" dirty="0">
                <a:solidFill>
                  <a:srgbClr val="FFFFFF"/>
                </a:solidFill>
                <a:latin typeface="Quattrocento Sans"/>
              </a:rPr>
              <a:t>(the body moves under simulation and is affected by forces like gravity), </a:t>
            </a:r>
            <a:endParaRPr lang="en-GB" dirty="0"/>
          </a:p>
          <a:p>
            <a:endParaRPr lang="en-GB" sz="1800" dirty="0">
              <a:solidFill>
                <a:srgbClr val="FFFFFF"/>
              </a:solidFill>
              <a:latin typeface="Quattrocento Sans"/>
            </a:endParaRPr>
          </a:p>
          <a:p>
            <a:r>
              <a:rPr lang="en-GB" sz="2400" dirty="0">
                <a:solidFill>
                  <a:srgbClr val="FFFF00"/>
                </a:solidFill>
                <a:latin typeface="Quattrocento Sans"/>
              </a:rPr>
              <a:t>Kinematic </a:t>
            </a:r>
            <a:endParaRPr lang="en-GB" sz="2400" dirty="0"/>
          </a:p>
          <a:p>
            <a:r>
              <a:rPr lang="en-GB" sz="1800" dirty="0">
                <a:solidFill>
                  <a:srgbClr val="FFFFFF"/>
                </a:solidFill>
                <a:latin typeface="Quattrocento Sans"/>
              </a:rPr>
              <a:t>(the body moves under simulation, but isn't affected by forces like gravity, unless coded) </a:t>
            </a:r>
            <a:endParaRPr lang="en-GB" dirty="0"/>
          </a:p>
          <a:p>
            <a:r>
              <a:rPr lang="en-GB" sz="1800" dirty="0">
                <a:solidFill>
                  <a:srgbClr val="FFFFFF"/>
                </a:solidFill>
                <a:latin typeface="Quattrocento Sans"/>
              </a:rPr>
              <a:t>or </a:t>
            </a:r>
            <a:endParaRPr lang="en-GB" dirty="0"/>
          </a:p>
          <a:p>
            <a:r>
              <a:rPr lang="en-GB" sz="2400" dirty="0">
                <a:solidFill>
                  <a:srgbClr val="FFFF00"/>
                </a:solidFill>
                <a:latin typeface="Quattrocento Sans"/>
              </a:rPr>
              <a:t>Static</a:t>
            </a:r>
            <a:r>
              <a:rPr lang="en-GB" sz="1800" dirty="0">
                <a:solidFill>
                  <a:srgbClr val="FFFFFF"/>
                </a:solidFill>
                <a:latin typeface="Quattrocento Sans"/>
              </a:rPr>
              <a:t> (the body doesn't move under simulation).</a:t>
            </a:r>
            <a:endParaRPr lang="en-GB" dirty="0"/>
          </a:p>
          <a:p>
            <a:endParaRPr lang="en-GB" sz="1800" dirty="0">
              <a:solidFill>
                <a:srgbClr val="FFFFFF"/>
              </a:solidFill>
              <a:latin typeface="Quattrocento Sans"/>
            </a:endParaRPr>
          </a:p>
          <a:p>
            <a:r>
              <a:rPr lang="en-GB" sz="2400" b="1" i="1" dirty="0">
                <a:solidFill>
                  <a:srgbClr val="FFFF00"/>
                </a:solidFill>
                <a:latin typeface="Quattrocento Sans"/>
              </a:rPr>
              <a:t>Tutorial 02-03 is Dynamic (Rigid Body)  but not Kinematic – Allows Collisions, Gravity, but direct control</a:t>
            </a:r>
          </a:p>
        </p:txBody>
      </p:sp>
    </p:spTree>
    <p:extLst>
      <p:ext uri="{BB962C8B-B14F-4D97-AF65-F5344CB8AC3E}">
        <p14:creationId xmlns:p14="http://schemas.microsoft.com/office/powerpoint/2010/main" val="1916340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4">
          <a:extLst>
            <a:ext uri="{FF2B5EF4-FFF2-40B4-BE49-F238E27FC236}">
              <a16:creationId xmlns:a16="http://schemas.microsoft.com/office/drawing/2014/main" id="{0221E36B-B8E3-EDCD-69C6-07031C05AB6C}"/>
            </a:ext>
          </a:extLst>
        </p:cNvPr>
        <p:cNvGrpSpPr/>
        <p:nvPr/>
      </p:nvGrpSpPr>
      <p:grpSpPr>
        <a:xfrm>
          <a:off x="0" y="0"/>
          <a:ext cx="0" cy="0"/>
          <a:chOff x="0" y="0"/>
          <a:chExt cx="0" cy="0"/>
        </a:xfrm>
      </p:grpSpPr>
      <p:sp>
        <p:nvSpPr>
          <p:cNvPr id="155" name="Google Shape;155;p17">
            <a:extLst>
              <a:ext uri="{FF2B5EF4-FFF2-40B4-BE49-F238E27FC236}">
                <a16:creationId xmlns:a16="http://schemas.microsoft.com/office/drawing/2014/main" id="{CF2E80C5-A6E2-39FF-E045-34006BD44B61}"/>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56" name="Google Shape;156;p17">
            <a:extLst>
              <a:ext uri="{FF2B5EF4-FFF2-40B4-BE49-F238E27FC236}">
                <a16:creationId xmlns:a16="http://schemas.microsoft.com/office/drawing/2014/main" id="{C1357DF8-A06A-82AD-2F17-97787185E683}"/>
              </a:ext>
            </a:extLst>
          </p:cNvPr>
          <p:cNvSpPr txBox="1"/>
          <p:nvPr/>
        </p:nvSpPr>
        <p:spPr>
          <a:xfrm>
            <a:off x="609600" y="1421654"/>
            <a:ext cx="10890600" cy="1200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dirty="0">
                <a:solidFill>
                  <a:srgbClr val="FFFF00"/>
                </a:solidFill>
                <a:latin typeface="Quattrocento Sans"/>
                <a:ea typeface="Quattrocento Sans"/>
                <a:cs typeface="Quattrocento Sans"/>
                <a:sym typeface="Quattrocento Sans"/>
              </a:rPr>
              <a:t>Unity Scripted Movement (Not Animation Trigger)</a:t>
            </a:r>
            <a:endParaRPr dirty="0"/>
          </a:p>
          <a:p>
            <a:pPr marL="0" marR="0" lvl="0" indent="0" algn="l" rtl="0">
              <a:spcBef>
                <a:spcPts val="0"/>
              </a:spcBef>
              <a:spcAft>
                <a:spcPts val="0"/>
              </a:spcAft>
              <a:buNone/>
            </a:pPr>
            <a:endParaRPr lang="en-GB" sz="1800" b="1" u="sng" dirty="0">
              <a:solidFill>
                <a:srgbClr val="FFFF00"/>
              </a:solidFill>
              <a:latin typeface="Quattrocento Sans"/>
            </a:endParaRPr>
          </a:p>
          <a:p>
            <a:endParaRPr lang="en-GB" sz="1800" b="1" u="sng" dirty="0">
              <a:solidFill>
                <a:srgbClr val="FFFF00"/>
              </a:solidFill>
              <a:latin typeface="Quattrocento Sans"/>
            </a:endParaRPr>
          </a:p>
        </p:txBody>
      </p:sp>
      <p:graphicFrame>
        <p:nvGraphicFramePr>
          <p:cNvPr id="3" name="Table 2">
            <a:extLst>
              <a:ext uri="{FF2B5EF4-FFF2-40B4-BE49-F238E27FC236}">
                <a16:creationId xmlns:a16="http://schemas.microsoft.com/office/drawing/2014/main" id="{D56E81AC-2A54-C515-8363-7B4D3B959A04}"/>
              </a:ext>
            </a:extLst>
          </p:cNvPr>
          <p:cNvGraphicFramePr>
            <a:graphicFrameLocks noGrp="1"/>
          </p:cNvGraphicFramePr>
          <p:nvPr>
            <p:extLst>
              <p:ext uri="{D42A27DB-BD31-4B8C-83A1-F6EECF244321}">
                <p14:modId xmlns:p14="http://schemas.microsoft.com/office/powerpoint/2010/main" val="3452213432"/>
              </p:ext>
            </p:extLst>
          </p:nvPr>
        </p:nvGraphicFramePr>
        <p:xfrm>
          <a:off x="2802670" y="2208795"/>
          <a:ext cx="6094948" cy="4158450"/>
        </p:xfrm>
        <a:graphic>
          <a:graphicData uri="http://schemas.openxmlformats.org/drawingml/2006/table">
            <a:tbl>
              <a:tblPr bandRow="1">
                <a:tableStyleId>{5C22544A-7EE6-4342-B048-85BDC9FD1C3A}</a:tableStyleId>
              </a:tblPr>
              <a:tblGrid>
                <a:gridCol w="1000355">
                  <a:extLst>
                    <a:ext uri="{9D8B030D-6E8A-4147-A177-3AD203B41FA5}">
                      <a16:colId xmlns:a16="http://schemas.microsoft.com/office/drawing/2014/main" val="1251038516"/>
                    </a:ext>
                  </a:extLst>
                </a:gridCol>
                <a:gridCol w="2681365">
                  <a:extLst>
                    <a:ext uri="{9D8B030D-6E8A-4147-A177-3AD203B41FA5}">
                      <a16:colId xmlns:a16="http://schemas.microsoft.com/office/drawing/2014/main" val="3217218188"/>
                    </a:ext>
                  </a:extLst>
                </a:gridCol>
                <a:gridCol w="2413228">
                  <a:extLst>
                    <a:ext uri="{9D8B030D-6E8A-4147-A177-3AD203B41FA5}">
                      <a16:colId xmlns:a16="http://schemas.microsoft.com/office/drawing/2014/main" val="1916754008"/>
                    </a:ext>
                  </a:extLst>
                </a:gridCol>
              </a:tblGrid>
              <a:tr h="619343">
                <a:tc>
                  <a:txBody>
                    <a:bodyPr/>
                    <a:lstStyle/>
                    <a:p>
                      <a:pPr algn="l" rtl="0" fontAlgn="base">
                        <a:lnSpc>
                          <a:spcPts val="1395"/>
                        </a:lnSpc>
                        <a:buNone/>
                      </a:pPr>
                      <a:r>
                        <a:rPr lang="en-US" sz="1050" b="1" i="0" dirty="0">
                          <a:solidFill>
                            <a:srgbClr val="0A0A0A"/>
                          </a:solidFill>
                          <a:effectLst/>
                          <a:latin typeface="Roboto"/>
                        </a:rPr>
                        <a:t>Feature </a:t>
                      </a:r>
                      <a:r>
                        <a:rPr lang="en-US" sz="1050" b="0" i="0" dirty="0">
                          <a:solidFill>
                            <a:srgbClr val="0A0A0A"/>
                          </a:solidFill>
                          <a:effectLst/>
                          <a:latin typeface="Roboto"/>
                        </a:rPr>
                        <a:t> </a:t>
                      </a:r>
                      <a:endParaRPr lang="en-US" b="0" i="0" dirty="0">
                        <a:effectLst/>
                        <a:latin typeface="Roboto"/>
                      </a:endParaRPr>
                    </a:p>
                  </a:txBody>
                  <a:tcPr marL="66675" marR="95250" marB="114300">
                    <a:lnL>
                      <a:noFill/>
                    </a:lnL>
                    <a:lnR>
                      <a:noFill/>
                    </a:lnR>
                    <a:lnT>
                      <a:noFill/>
                    </a:lnT>
                    <a:lnB w="9525" cap="flat" cmpd="sng" algn="ctr">
                      <a:solidFill>
                        <a:srgbClr val="A3C9FF"/>
                      </a:solidFill>
                      <a:prstDash val="solid"/>
                      <a:round/>
                      <a:headEnd type="none" w="med" len="med"/>
                      <a:tailEnd type="none" w="med" len="med"/>
                    </a:lnB>
                    <a:solidFill>
                      <a:srgbClr val="FFFFFF"/>
                    </a:solidFill>
                  </a:tcPr>
                </a:tc>
                <a:tc>
                  <a:txBody>
                    <a:bodyPr/>
                    <a:lstStyle/>
                    <a:p>
                      <a:pPr algn="l" rtl="0" fontAlgn="base">
                        <a:lnSpc>
                          <a:spcPts val="1395"/>
                        </a:lnSpc>
                        <a:buNone/>
                      </a:pPr>
                      <a:r>
                        <a:rPr lang="en-US" sz="1050" b="1" i="0" dirty="0">
                          <a:solidFill>
                            <a:srgbClr val="0A0A0A"/>
                          </a:solidFill>
                          <a:effectLst/>
                          <a:latin typeface="Roboto"/>
                        </a:rPr>
                        <a:t>Kinematic Transform</a:t>
                      </a:r>
                      <a:r>
                        <a:rPr lang="en-US" sz="1050" b="0" i="0" dirty="0">
                          <a:solidFill>
                            <a:srgbClr val="0A0A0A"/>
                          </a:solidFill>
                          <a:effectLst/>
                          <a:latin typeface="Roboto"/>
                        </a:rPr>
                        <a:t> </a:t>
                      </a:r>
                      <a:endParaRPr lang="en-US" b="0" i="0" dirty="0">
                        <a:effectLst/>
                        <a:latin typeface="Roboto"/>
                      </a:endParaRPr>
                    </a:p>
                  </a:txBody>
                  <a:tcPr marL="95250" marR="95250" marB="114300">
                    <a:lnL>
                      <a:noFill/>
                    </a:lnL>
                    <a:lnR>
                      <a:noFill/>
                    </a:lnR>
                    <a:lnT>
                      <a:noFill/>
                    </a:lnT>
                    <a:lnB w="9525" cap="flat" cmpd="sng" algn="ctr">
                      <a:solidFill>
                        <a:srgbClr val="A3C9FF"/>
                      </a:solidFill>
                      <a:prstDash val="solid"/>
                      <a:round/>
                      <a:headEnd type="none" w="med" len="med"/>
                      <a:tailEnd type="none" w="med" len="med"/>
                    </a:lnB>
                    <a:solidFill>
                      <a:srgbClr val="FFFFFF"/>
                    </a:solidFill>
                  </a:tcPr>
                </a:tc>
                <a:tc>
                  <a:txBody>
                    <a:bodyPr/>
                    <a:lstStyle/>
                    <a:p>
                      <a:pPr algn="l" rtl="0" fontAlgn="base">
                        <a:lnSpc>
                          <a:spcPts val="1395"/>
                        </a:lnSpc>
                        <a:buNone/>
                      </a:pPr>
                      <a:r>
                        <a:rPr lang="en-US" sz="1050" b="1" i="0" dirty="0">
                          <a:solidFill>
                            <a:srgbClr val="0A0A0A"/>
                          </a:solidFill>
                          <a:effectLst/>
                          <a:latin typeface="Roboto"/>
                        </a:rPr>
                        <a:t>Non-Kinematic (Dynamic) Transform</a:t>
                      </a:r>
                      <a:r>
                        <a:rPr lang="en-US" sz="1050" b="0" i="0" dirty="0">
                          <a:solidFill>
                            <a:srgbClr val="0A0A0A"/>
                          </a:solidFill>
                          <a:effectLst/>
                          <a:latin typeface="Roboto"/>
                        </a:rPr>
                        <a:t> </a:t>
                      </a:r>
                      <a:endParaRPr lang="en-US" b="0" i="0" dirty="0">
                        <a:effectLst/>
                        <a:latin typeface="Roboto"/>
                      </a:endParaRPr>
                    </a:p>
                  </a:txBody>
                  <a:tcPr marL="95250" marR="66675" marB="114300">
                    <a:lnL>
                      <a:noFill/>
                    </a:lnL>
                    <a:lnR>
                      <a:noFill/>
                    </a:lnR>
                    <a:lnT>
                      <a:noFill/>
                    </a:lnT>
                    <a:lnB w="9525" cap="flat" cmpd="sng" algn="ctr">
                      <a:solidFill>
                        <a:srgbClr val="A3C9FF"/>
                      </a:solidFill>
                      <a:prstDash val="solid"/>
                      <a:round/>
                      <a:headEnd type="none" w="med" len="med"/>
                      <a:tailEnd type="none" w="med" len="med"/>
                    </a:lnB>
                    <a:solidFill>
                      <a:srgbClr val="FFFFFF"/>
                    </a:solidFill>
                  </a:tcPr>
                </a:tc>
                <a:extLst>
                  <a:ext uri="{0D108BD9-81ED-4DB2-BD59-A6C34878D82A}">
                    <a16:rowId xmlns:a16="http://schemas.microsoft.com/office/drawing/2014/main" val="3477192219"/>
                  </a:ext>
                </a:extLst>
              </a:tr>
              <a:tr h="884776">
                <a:tc>
                  <a:txBody>
                    <a:bodyPr/>
                    <a:lstStyle/>
                    <a:p>
                      <a:pPr algn="l" rtl="0" fontAlgn="base">
                        <a:lnSpc>
                          <a:spcPts val="1350"/>
                        </a:lnSpc>
                        <a:buNone/>
                      </a:pPr>
                      <a:r>
                        <a:rPr lang="en-US" sz="1050" b="1" i="0" dirty="0">
                          <a:solidFill>
                            <a:srgbClr val="0A0A0A"/>
                          </a:solidFill>
                          <a:effectLst/>
                          <a:latin typeface="Arial"/>
                        </a:rPr>
                        <a:t>Movement Control</a:t>
                      </a:r>
                      <a:r>
                        <a:rPr lang="en-US" sz="1050" b="0" i="0" dirty="0">
                          <a:solidFill>
                            <a:srgbClr val="0A0A0A"/>
                          </a:solidFill>
                          <a:effectLst/>
                          <a:latin typeface="Arial"/>
                        </a:rPr>
                        <a:t> </a:t>
                      </a:r>
                      <a:endParaRPr lang="en-US" b="0" i="0" dirty="0">
                        <a:effectLst/>
                        <a:latin typeface="Arial"/>
                      </a:endParaRPr>
                    </a:p>
                  </a:txBody>
                  <a:tcPr marL="66675" marR="95250" marT="114300" marB="114300">
                    <a:lnL>
                      <a:noFill/>
                    </a:lnL>
                    <a:lnR>
                      <a:noFill/>
                    </a:lnR>
                    <a:lnT w="9525" cap="flat" cmpd="sng" algn="ctr">
                      <a:solidFill>
                        <a:srgbClr val="A3C9FF"/>
                      </a:solidFill>
                      <a:prstDash val="solid"/>
                      <a:round/>
                      <a:headEnd type="none" w="med" len="med"/>
                      <a:tailEnd type="none" w="med" len="med"/>
                    </a:lnT>
                    <a:lnB w="9525" cap="flat" cmpd="sng" algn="ctr">
                      <a:solidFill>
                        <a:srgbClr val="A3C9FF"/>
                      </a:solidFill>
                      <a:prstDash val="solid"/>
                      <a:round/>
                      <a:headEnd type="none" w="med" len="med"/>
                      <a:tailEnd type="none" w="med" len="med"/>
                    </a:lnB>
                    <a:solidFill>
                      <a:srgbClr val="FFFFFF"/>
                    </a:solidFill>
                  </a:tcPr>
                </a:tc>
                <a:tc>
                  <a:txBody>
                    <a:bodyPr/>
                    <a:lstStyle/>
                    <a:p>
                      <a:pPr algn="l" rtl="0" fontAlgn="base">
                        <a:lnSpc>
                          <a:spcPts val="1350"/>
                        </a:lnSpc>
                        <a:buNone/>
                      </a:pPr>
                      <a:r>
                        <a:rPr lang="en-US" sz="1050" b="0" i="0" dirty="0">
                          <a:solidFill>
                            <a:srgbClr val="0A0A0A"/>
                          </a:solidFill>
                          <a:effectLst/>
                          <a:latin typeface="Arial"/>
                        </a:rPr>
                        <a:t>Application-controlled; motion is manually calculated and applied. </a:t>
                      </a:r>
                      <a:endParaRPr lang="en-US" b="0" i="0" dirty="0">
                        <a:effectLst/>
                        <a:latin typeface="Arial"/>
                      </a:endParaRPr>
                    </a:p>
                  </a:txBody>
                  <a:tcPr marL="95250" marR="95250" marT="114300" marB="114300">
                    <a:lnL>
                      <a:noFill/>
                    </a:lnL>
                    <a:lnR>
                      <a:noFill/>
                    </a:lnR>
                    <a:lnT w="9525" cap="flat" cmpd="sng" algn="ctr">
                      <a:solidFill>
                        <a:srgbClr val="A3C9FF"/>
                      </a:solidFill>
                      <a:prstDash val="solid"/>
                      <a:round/>
                      <a:headEnd type="none" w="med" len="med"/>
                      <a:tailEnd type="none" w="med" len="med"/>
                    </a:lnT>
                    <a:lnB w="9525" cap="flat" cmpd="sng" algn="ctr">
                      <a:solidFill>
                        <a:srgbClr val="A3C9FF"/>
                      </a:solidFill>
                      <a:prstDash val="solid"/>
                      <a:round/>
                      <a:headEnd type="none" w="med" len="med"/>
                      <a:tailEnd type="none" w="med" len="med"/>
                    </a:lnB>
                    <a:solidFill>
                      <a:srgbClr val="FFFFFF"/>
                    </a:solidFill>
                  </a:tcPr>
                </a:tc>
                <a:tc>
                  <a:txBody>
                    <a:bodyPr/>
                    <a:lstStyle/>
                    <a:p>
                      <a:pPr algn="l" rtl="0" fontAlgn="base">
                        <a:lnSpc>
                          <a:spcPts val="1350"/>
                        </a:lnSpc>
                        <a:buNone/>
                      </a:pPr>
                      <a:r>
                        <a:rPr lang="en-US" sz="1050" b="0" i="0" dirty="0">
                          <a:solidFill>
                            <a:srgbClr val="0A0A0A"/>
                          </a:solidFill>
                          <a:effectLst/>
                          <a:latin typeface="Arial"/>
                        </a:rPr>
                        <a:t>Physics-engine controlled; motion is the result of forces and collisions. </a:t>
                      </a:r>
                      <a:endParaRPr lang="en-US" b="0" i="0" dirty="0">
                        <a:effectLst/>
                        <a:latin typeface="Arial"/>
                      </a:endParaRPr>
                    </a:p>
                  </a:txBody>
                  <a:tcPr marL="95250" marR="66675" marT="114300" marB="114300">
                    <a:lnL>
                      <a:noFill/>
                    </a:lnL>
                    <a:lnR>
                      <a:noFill/>
                    </a:lnR>
                    <a:lnT w="9525" cap="flat" cmpd="sng" algn="ctr">
                      <a:solidFill>
                        <a:srgbClr val="A3C9FF"/>
                      </a:solidFill>
                      <a:prstDash val="solid"/>
                      <a:round/>
                      <a:headEnd type="none" w="med" len="med"/>
                      <a:tailEnd type="none" w="med" len="med"/>
                    </a:lnT>
                    <a:lnB w="9525" cap="flat" cmpd="sng" algn="ctr">
                      <a:solidFill>
                        <a:srgbClr val="A3C9FF"/>
                      </a:solidFill>
                      <a:prstDash val="solid"/>
                      <a:round/>
                      <a:headEnd type="none" w="med" len="med"/>
                      <a:tailEnd type="none" w="med" len="med"/>
                    </a:lnB>
                    <a:solidFill>
                      <a:srgbClr val="FFFFFF"/>
                    </a:solidFill>
                  </a:tcPr>
                </a:tc>
                <a:extLst>
                  <a:ext uri="{0D108BD9-81ED-4DB2-BD59-A6C34878D82A}">
                    <a16:rowId xmlns:a16="http://schemas.microsoft.com/office/drawing/2014/main" val="2787880181"/>
                  </a:ext>
                </a:extLst>
              </a:tr>
              <a:tr h="682541">
                <a:tc>
                  <a:txBody>
                    <a:bodyPr/>
                    <a:lstStyle/>
                    <a:p>
                      <a:pPr algn="l" rtl="0" fontAlgn="base">
                        <a:lnSpc>
                          <a:spcPts val="1350"/>
                        </a:lnSpc>
                        <a:buNone/>
                      </a:pPr>
                      <a:r>
                        <a:rPr lang="en-US" sz="1050" b="1" i="0" dirty="0">
                          <a:solidFill>
                            <a:srgbClr val="0A0A0A"/>
                          </a:solidFill>
                          <a:effectLst/>
                          <a:latin typeface="Arial"/>
                        </a:rPr>
                        <a:t>Forces &amp; Gravity</a:t>
                      </a:r>
                      <a:r>
                        <a:rPr lang="en-US" sz="1050" b="0" i="0" dirty="0">
                          <a:solidFill>
                            <a:srgbClr val="0A0A0A"/>
                          </a:solidFill>
                          <a:effectLst/>
                          <a:latin typeface="Arial"/>
                        </a:rPr>
                        <a:t> </a:t>
                      </a:r>
                      <a:endParaRPr lang="en-US" b="0" i="0" dirty="0">
                        <a:effectLst/>
                        <a:latin typeface="Arial"/>
                      </a:endParaRPr>
                    </a:p>
                  </a:txBody>
                  <a:tcPr marL="66675" marR="95250" marT="114300" marB="114300">
                    <a:lnL>
                      <a:noFill/>
                    </a:lnL>
                    <a:lnR>
                      <a:noFill/>
                    </a:lnR>
                    <a:lnT w="9525" cap="flat" cmpd="sng" algn="ctr">
                      <a:solidFill>
                        <a:srgbClr val="A3C9FF"/>
                      </a:solidFill>
                      <a:prstDash val="solid"/>
                      <a:round/>
                      <a:headEnd type="none" w="med" len="med"/>
                      <a:tailEnd type="none" w="med" len="med"/>
                    </a:lnT>
                    <a:lnB w="9525" cap="flat" cmpd="sng" algn="ctr">
                      <a:solidFill>
                        <a:srgbClr val="A3C9FF"/>
                      </a:solidFill>
                      <a:prstDash val="solid"/>
                      <a:round/>
                      <a:headEnd type="none" w="med" len="med"/>
                      <a:tailEnd type="none" w="med" len="med"/>
                    </a:lnB>
                    <a:solidFill>
                      <a:srgbClr val="FFFFFF"/>
                    </a:solidFill>
                  </a:tcPr>
                </a:tc>
                <a:tc>
                  <a:txBody>
                    <a:bodyPr/>
                    <a:lstStyle/>
                    <a:p>
                      <a:pPr algn="l" rtl="0" fontAlgn="base">
                        <a:lnSpc>
                          <a:spcPts val="1350"/>
                        </a:lnSpc>
                        <a:buNone/>
                      </a:pPr>
                      <a:r>
                        <a:rPr lang="en-US" sz="1050" b="0" i="0" dirty="0">
                          <a:solidFill>
                            <a:srgbClr val="0A0A0A"/>
                          </a:solidFill>
                          <a:effectLst/>
                          <a:latin typeface="Arial"/>
                        </a:rPr>
                        <a:t>Ignored by default; must be manually implemented if desired. </a:t>
                      </a:r>
                      <a:endParaRPr lang="en-US" b="0" i="0" dirty="0">
                        <a:effectLst/>
                        <a:latin typeface="Arial"/>
                      </a:endParaRPr>
                    </a:p>
                  </a:txBody>
                  <a:tcPr marL="95250" marR="95250" marT="114300" marB="114300">
                    <a:lnL>
                      <a:noFill/>
                    </a:lnL>
                    <a:lnR>
                      <a:noFill/>
                    </a:lnR>
                    <a:lnT w="9525" cap="flat" cmpd="sng" algn="ctr">
                      <a:solidFill>
                        <a:srgbClr val="A3C9FF"/>
                      </a:solidFill>
                      <a:prstDash val="solid"/>
                      <a:round/>
                      <a:headEnd type="none" w="med" len="med"/>
                      <a:tailEnd type="none" w="med" len="med"/>
                    </a:lnT>
                    <a:lnB w="9525" cap="flat" cmpd="sng" algn="ctr">
                      <a:solidFill>
                        <a:srgbClr val="A3C9FF"/>
                      </a:solidFill>
                      <a:prstDash val="solid"/>
                      <a:round/>
                      <a:headEnd type="none" w="med" len="med"/>
                      <a:tailEnd type="none" w="med" len="med"/>
                    </a:lnB>
                    <a:solidFill>
                      <a:srgbClr val="FFFFFF"/>
                    </a:solidFill>
                  </a:tcPr>
                </a:tc>
                <a:tc>
                  <a:txBody>
                    <a:bodyPr/>
                    <a:lstStyle/>
                    <a:p>
                      <a:pPr algn="l" rtl="0" fontAlgn="base">
                        <a:lnSpc>
                          <a:spcPts val="1350"/>
                        </a:lnSpc>
                        <a:buNone/>
                      </a:pPr>
                      <a:r>
                        <a:rPr lang="en-US" sz="1050" b="0" i="0" dirty="0">
                          <a:solidFill>
                            <a:srgbClr val="0A0A0A"/>
                          </a:solidFill>
                          <a:effectLst/>
                          <a:latin typeface="Arial"/>
                        </a:rPr>
                        <a:t>Actively responded to, including gravity. </a:t>
                      </a:r>
                      <a:endParaRPr lang="en-US" b="0" i="0" dirty="0">
                        <a:effectLst/>
                        <a:latin typeface="Arial"/>
                      </a:endParaRPr>
                    </a:p>
                  </a:txBody>
                  <a:tcPr marL="95250" marR="66675" marT="114300" marB="114300">
                    <a:lnL>
                      <a:noFill/>
                    </a:lnL>
                    <a:lnR>
                      <a:noFill/>
                    </a:lnR>
                    <a:lnT w="9525" cap="flat" cmpd="sng" algn="ctr">
                      <a:solidFill>
                        <a:srgbClr val="A3C9FF"/>
                      </a:solidFill>
                      <a:prstDash val="solid"/>
                      <a:round/>
                      <a:headEnd type="none" w="med" len="med"/>
                      <a:tailEnd type="none" w="med" len="med"/>
                    </a:lnT>
                    <a:lnB w="9525" cap="flat" cmpd="sng" algn="ctr">
                      <a:solidFill>
                        <a:srgbClr val="A3C9FF"/>
                      </a:solidFill>
                      <a:prstDash val="solid"/>
                      <a:round/>
                      <a:headEnd type="none" w="med" len="med"/>
                      <a:tailEnd type="none" w="med" len="med"/>
                    </a:lnB>
                    <a:solidFill>
                      <a:srgbClr val="FFFFFF"/>
                    </a:solidFill>
                  </a:tcPr>
                </a:tc>
                <a:extLst>
                  <a:ext uri="{0D108BD9-81ED-4DB2-BD59-A6C34878D82A}">
                    <a16:rowId xmlns:a16="http://schemas.microsoft.com/office/drawing/2014/main" val="665176314"/>
                  </a:ext>
                </a:extLst>
              </a:tr>
              <a:tr h="884776">
                <a:tc>
                  <a:txBody>
                    <a:bodyPr/>
                    <a:lstStyle/>
                    <a:p>
                      <a:pPr algn="l" rtl="0" fontAlgn="base">
                        <a:lnSpc>
                          <a:spcPts val="1350"/>
                        </a:lnSpc>
                        <a:buNone/>
                      </a:pPr>
                      <a:r>
                        <a:rPr lang="en-US" sz="1050" b="1" i="0" dirty="0">
                          <a:solidFill>
                            <a:srgbClr val="0A0A0A"/>
                          </a:solidFill>
                          <a:effectLst/>
                          <a:latin typeface="Arial"/>
                        </a:rPr>
                        <a:t>Collisions</a:t>
                      </a:r>
                      <a:r>
                        <a:rPr lang="en-US" sz="1050" b="0" i="0" dirty="0">
                          <a:solidFill>
                            <a:srgbClr val="0A0A0A"/>
                          </a:solidFill>
                          <a:effectLst/>
                          <a:latin typeface="Arial"/>
                        </a:rPr>
                        <a:t> </a:t>
                      </a:r>
                      <a:endParaRPr lang="en-US" b="0" i="0" dirty="0">
                        <a:effectLst/>
                        <a:latin typeface="Arial"/>
                      </a:endParaRPr>
                    </a:p>
                  </a:txBody>
                  <a:tcPr marL="66675" marR="95250" marT="114300" marB="114300">
                    <a:lnL>
                      <a:noFill/>
                    </a:lnL>
                    <a:lnR>
                      <a:noFill/>
                    </a:lnR>
                    <a:lnT w="9525" cap="flat" cmpd="sng" algn="ctr">
                      <a:solidFill>
                        <a:srgbClr val="A3C9FF"/>
                      </a:solidFill>
                      <a:prstDash val="solid"/>
                      <a:round/>
                      <a:headEnd type="none" w="med" len="med"/>
                      <a:tailEnd type="none" w="med" len="med"/>
                    </a:lnT>
                    <a:lnB w="9525" cap="flat" cmpd="sng" algn="ctr">
                      <a:solidFill>
                        <a:srgbClr val="A3C9FF"/>
                      </a:solidFill>
                      <a:prstDash val="solid"/>
                      <a:round/>
                      <a:headEnd type="none" w="med" len="med"/>
                      <a:tailEnd type="none" w="med" len="med"/>
                    </a:lnB>
                    <a:solidFill>
                      <a:srgbClr val="FFFFFF"/>
                    </a:solidFill>
                  </a:tcPr>
                </a:tc>
                <a:tc>
                  <a:txBody>
                    <a:bodyPr/>
                    <a:lstStyle/>
                    <a:p>
                      <a:pPr algn="l" rtl="0" fontAlgn="base">
                        <a:lnSpc>
                          <a:spcPts val="1350"/>
                        </a:lnSpc>
                        <a:buNone/>
                      </a:pPr>
                      <a:r>
                        <a:rPr lang="en-US" sz="1050" b="0" i="0" dirty="0">
                          <a:solidFill>
                            <a:srgbClr val="0A0A0A"/>
                          </a:solidFill>
                          <a:effectLst/>
                          <a:latin typeface="Arial"/>
                        </a:rPr>
                        <a:t>Must be manually handled by the user; does not automatically calculate movement adjustments. </a:t>
                      </a:r>
                      <a:endParaRPr lang="en-US" b="0" i="0" dirty="0">
                        <a:effectLst/>
                        <a:latin typeface="Arial"/>
                      </a:endParaRPr>
                    </a:p>
                  </a:txBody>
                  <a:tcPr marL="95250" marR="95250" marT="114300" marB="114300">
                    <a:lnL>
                      <a:noFill/>
                    </a:lnL>
                    <a:lnR>
                      <a:noFill/>
                    </a:lnR>
                    <a:lnT w="9525" cap="flat" cmpd="sng" algn="ctr">
                      <a:solidFill>
                        <a:srgbClr val="A3C9FF"/>
                      </a:solidFill>
                      <a:prstDash val="solid"/>
                      <a:round/>
                      <a:headEnd type="none" w="med" len="med"/>
                      <a:tailEnd type="none" w="med" len="med"/>
                    </a:lnT>
                    <a:lnB w="9525" cap="flat" cmpd="sng" algn="ctr">
                      <a:solidFill>
                        <a:srgbClr val="A3C9FF"/>
                      </a:solidFill>
                      <a:prstDash val="solid"/>
                      <a:round/>
                      <a:headEnd type="none" w="med" len="med"/>
                      <a:tailEnd type="none" w="med" len="med"/>
                    </a:lnB>
                    <a:solidFill>
                      <a:srgbClr val="FFFFFF"/>
                    </a:solidFill>
                  </a:tcPr>
                </a:tc>
                <a:tc>
                  <a:txBody>
                    <a:bodyPr/>
                    <a:lstStyle/>
                    <a:p>
                      <a:pPr algn="l" rtl="0" fontAlgn="base">
                        <a:lnSpc>
                          <a:spcPts val="1350"/>
                        </a:lnSpc>
                        <a:buNone/>
                      </a:pPr>
                      <a:r>
                        <a:rPr lang="en-US" sz="1050" b="0" i="0" dirty="0">
                          <a:solidFill>
                            <a:srgbClr val="0A0A0A"/>
                          </a:solidFill>
                          <a:effectLst/>
                          <a:latin typeface="Arial"/>
                        </a:rPr>
                        <a:t>Automatically detected and responded to by the physics engine. </a:t>
                      </a:r>
                      <a:endParaRPr lang="en-US" b="0" i="0" dirty="0">
                        <a:effectLst/>
                        <a:latin typeface="Arial"/>
                      </a:endParaRPr>
                    </a:p>
                  </a:txBody>
                  <a:tcPr marL="95250" marR="66675" marT="114300" marB="114300">
                    <a:lnL>
                      <a:noFill/>
                    </a:lnL>
                    <a:lnR>
                      <a:noFill/>
                    </a:lnR>
                    <a:lnT w="9525" cap="flat" cmpd="sng" algn="ctr">
                      <a:solidFill>
                        <a:srgbClr val="A3C9FF"/>
                      </a:solidFill>
                      <a:prstDash val="solid"/>
                      <a:round/>
                      <a:headEnd type="none" w="med" len="med"/>
                      <a:tailEnd type="none" w="med" len="med"/>
                    </a:lnT>
                    <a:lnB w="9525" cap="flat" cmpd="sng" algn="ctr">
                      <a:solidFill>
                        <a:srgbClr val="A3C9FF"/>
                      </a:solidFill>
                      <a:prstDash val="solid"/>
                      <a:round/>
                      <a:headEnd type="none" w="med" len="med"/>
                      <a:tailEnd type="none" w="med" len="med"/>
                    </a:lnB>
                    <a:solidFill>
                      <a:srgbClr val="FFFFFF"/>
                    </a:solidFill>
                  </a:tcPr>
                </a:tc>
                <a:extLst>
                  <a:ext uri="{0D108BD9-81ED-4DB2-BD59-A6C34878D82A}">
                    <a16:rowId xmlns:a16="http://schemas.microsoft.com/office/drawing/2014/main" val="1105042178"/>
                  </a:ext>
                </a:extLst>
              </a:tr>
              <a:tr h="1087014">
                <a:tc>
                  <a:txBody>
                    <a:bodyPr/>
                    <a:lstStyle/>
                    <a:p>
                      <a:pPr algn="l" rtl="0" fontAlgn="base">
                        <a:lnSpc>
                          <a:spcPts val="1350"/>
                        </a:lnSpc>
                        <a:buNone/>
                      </a:pPr>
                      <a:r>
                        <a:rPr lang="en-US" sz="1050" b="1" i="0" dirty="0">
                          <a:solidFill>
                            <a:srgbClr val="0A0A0A"/>
                          </a:solidFill>
                          <a:effectLst/>
                          <a:latin typeface="Arial"/>
                        </a:rPr>
                        <a:t>Use Cases</a:t>
                      </a:r>
                      <a:r>
                        <a:rPr lang="en-US" sz="1050" b="0" i="0" dirty="0">
                          <a:solidFill>
                            <a:srgbClr val="0A0A0A"/>
                          </a:solidFill>
                          <a:effectLst/>
                          <a:latin typeface="Arial"/>
                        </a:rPr>
                        <a:t> </a:t>
                      </a:r>
                      <a:endParaRPr lang="en-US" b="0" i="0" dirty="0">
                        <a:effectLst/>
                        <a:latin typeface="Arial"/>
                      </a:endParaRPr>
                    </a:p>
                  </a:txBody>
                  <a:tcPr marL="66675" marR="95250" marT="114300" marB="114300">
                    <a:lnL>
                      <a:noFill/>
                    </a:lnL>
                    <a:lnR>
                      <a:noFill/>
                    </a:lnR>
                    <a:lnT w="9525" cap="flat" cmpd="sng" algn="ctr">
                      <a:solidFill>
                        <a:srgbClr val="A3C9FF"/>
                      </a:solidFill>
                      <a:prstDash val="solid"/>
                      <a:round/>
                      <a:headEnd type="none" w="med" len="med"/>
                      <a:tailEnd type="none" w="med" len="med"/>
                    </a:lnT>
                    <a:lnB w="9525" cap="flat" cmpd="sng" algn="ctr">
                      <a:solidFill>
                        <a:srgbClr val="A3C9FF"/>
                      </a:solidFill>
                      <a:prstDash val="solid"/>
                      <a:round/>
                      <a:headEnd type="none" w="med" len="med"/>
                      <a:tailEnd type="none" w="med" len="med"/>
                    </a:lnB>
                    <a:solidFill>
                      <a:srgbClr val="FFFFFF"/>
                    </a:solidFill>
                  </a:tcPr>
                </a:tc>
                <a:tc>
                  <a:txBody>
                    <a:bodyPr/>
                    <a:lstStyle/>
                    <a:p>
                      <a:pPr algn="l" rtl="0" fontAlgn="base">
                        <a:lnSpc>
                          <a:spcPts val="1350"/>
                        </a:lnSpc>
                        <a:buNone/>
                      </a:pPr>
                      <a:r>
                        <a:rPr lang="en-US" sz="1050" b="0" i="0" dirty="0">
                          <a:solidFill>
                            <a:srgbClr val="0A0A0A"/>
                          </a:solidFill>
                          <a:effectLst/>
                          <a:latin typeface="Arial"/>
                        </a:rPr>
                        <a:t>Moving characters driven by animation, player-controlled objects, or objects that need predictable, non-physics-based movement. </a:t>
                      </a:r>
                      <a:endParaRPr lang="en-US" b="0" i="0" dirty="0">
                        <a:effectLst/>
                        <a:latin typeface="Arial"/>
                      </a:endParaRPr>
                    </a:p>
                  </a:txBody>
                  <a:tcPr marL="95250" marR="95250" marT="114300" marB="114300">
                    <a:lnL>
                      <a:noFill/>
                    </a:lnL>
                    <a:lnR>
                      <a:noFill/>
                    </a:lnR>
                    <a:lnT w="9525" cap="flat" cmpd="sng" algn="ctr">
                      <a:solidFill>
                        <a:srgbClr val="A3C9FF"/>
                      </a:solidFill>
                      <a:prstDash val="solid"/>
                      <a:round/>
                      <a:headEnd type="none" w="med" len="med"/>
                      <a:tailEnd type="none" w="med" len="med"/>
                    </a:lnT>
                    <a:lnB w="9525" cap="flat" cmpd="sng" algn="ctr">
                      <a:solidFill>
                        <a:srgbClr val="A3C9FF"/>
                      </a:solidFill>
                      <a:prstDash val="solid"/>
                      <a:round/>
                      <a:headEnd type="none" w="med" len="med"/>
                      <a:tailEnd type="none" w="med" len="med"/>
                    </a:lnB>
                    <a:solidFill>
                      <a:srgbClr val="FFFFFF"/>
                    </a:solidFill>
                  </a:tcPr>
                </a:tc>
                <a:tc>
                  <a:txBody>
                    <a:bodyPr/>
                    <a:lstStyle/>
                    <a:p>
                      <a:pPr algn="l" rtl="0" fontAlgn="base">
                        <a:lnSpc>
                          <a:spcPts val="1350"/>
                        </a:lnSpc>
                        <a:buNone/>
                      </a:pPr>
                      <a:r>
                        <a:rPr lang="en-US" sz="1050" b="0" i="0" dirty="0">
                          <a:solidFill>
                            <a:srgbClr val="0A0A0A"/>
                          </a:solidFill>
                          <a:effectLst/>
                          <a:latin typeface="Arial"/>
                        </a:rPr>
                        <a:t>Objects that should be affected by the world, like falling blocks, rolling balls, or any object influenced by physics. </a:t>
                      </a:r>
                      <a:endParaRPr lang="en-US" b="0" i="0" dirty="0">
                        <a:effectLst/>
                        <a:latin typeface="Arial"/>
                      </a:endParaRPr>
                    </a:p>
                  </a:txBody>
                  <a:tcPr marL="95250" marR="66675" marT="114300" marB="114300">
                    <a:lnL>
                      <a:noFill/>
                    </a:lnL>
                    <a:lnR>
                      <a:noFill/>
                    </a:lnR>
                    <a:lnT w="9525" cap="flat" cmpd="sng" algn="ctr">
                      <a:solidFill>
                        <a:srgbClr val="A3C9FF"/>
                      </a:solidFill>
                      <a:prstDash val="solid"/>
                      <a:round/>
                      <a:headEnd type="none" w="med" len="med"/>
                      <a:tailEnd type="none" w="med" len="med"/>
                    </a:lnT>
                    <a:lnB w="9525" cap="flat" cmpd="sng" algn="ctr">
                      <a:solidFill>
                        <a:srgbClr val="A3C9FF"/>
                      </a:solidFill>
                      <a:prstDash val="solid"/>
                      <a:round/>
                      <a:headEnd type="none" w="med" len="med"/>
                      <a:tailEnd type="none" w="med" len="med"/>
                    </a:lnB>
                    <a:solidFill>
                      <a:srgbClr val="FFFFFF"/>
                    </a:solidFill>
                  </a:tcPr>
                </a:tc>
                <a:extLst>
                  <a:ext uri="{0D108BD9-81ED-4DB2-BD59-A6C34878D82A}">
                    <a16:rowId xmlns:a16="http://schemas.microsoft.com/office/drawing/2014/main" val="386107992"/>
                  </a:ext>
                </a:extLst>
              </a:tr>
            </a:tbl>
          </a:graphicData>
        </a:graphic>
      </p:graphicFrame>
    </p:spTree>
    <p:extLst>
      <p:ext uri="{BB962C8B-B14F-4D97-AF65-F5344CB8AC3E}">
        <p14:creationId xmlns:p14="http://schemas.microsoft.com/office/powerpoint/2010/main" val="2980497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154">
          <a:extLst>
            <a:ext uri="{FF2B5EF4-FFF2-40B4-BE49-F238E27FC236}">
              <a16:creationId xmlns:a16="http://schemas.microsoft.com/office/drawing/2014/main" id="{05425E67-B3DD-872C-E349-C0A9BBDC763A}"/>
            </a:ext>
          </a:extLst>
        </p:cNvPr>
        <p:cNvGrpSpPr/>
        <p:nvPr/>
      </p:nvGrpSpPr>
      <p:grpSpPr>
        <a:xfrm>
          <a:off x="0" y="0"/>
          <a:ext cx="0" cy="0"/>
          <a:chOff x="0" y="0"/>
          <a:chExt cx="0" cy="0"/>
        </a:xfrm>
      </p:grpSpPr>
      <p:sp>
        <p:nvSpPr>
          <p:cNvPr id="155" name="Google Shape;155;p17">
            <a:extLst>
              <a:ext uri="{FF2B5EF4-FFF2-40B4-BE49-F238E27FC236}">
                <a16:creationId xmlns:a16="http://schemas.microsoft.com/office/drawing/2014/main" id="{07E2F9DE-35F7-8814-19CA-C1379D46F174}"/>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56" name="Google Shape;156;p17">
            <a:extLst>
              <a:ext uri="{FF2B5EF4-FFF2-40B4-BE49-F238E27FC236}">
                <a16:creationId xmlns:a16="http://schemas.microsoft.com/office/drawing/2014/main" id="{AE47325E-28B2-8A11-991E-505372E44627}"/>
              </a:ext>
            </a:extLst>
          </p:cNvPr>
          <p:cNvSpPr txBox="1"/>
          <p:nvPr/>
        </p:nvSpPr>
        <p:spPr>
          <a:xfrm>
            <a:off x="609600" y="1255577"/>
            <a:ext cx="10890600"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dirty="0">
                <a:solidFill>
                  <a:srgbClr val="FFFF00"/>
                </a:solidFill>
                <a:latin typeface="Quattrocento Sans"/>
                <a:ea typeface="Quattrocento Sans"/>
                <a:cs typeface="Quattrocento Sans"/>
                <a:sym typeface="Quattrocento Sans"/>
              </a:rPr>
              <a:t>Unity Scripted Movement (Not Animation Trigger)</a:t>
            </a:r>
            <a:endParaRPr dirty="0"/>
          </a:p>
          <a:p>
            <a:r>
              <a:rPr lang="en-GB" sz="1800" b="1" u="sng" dirty="0">
                <a:solidFill>
                  <a:srgbClr val="FF0000"/>
                </a:solidFill>
                <a:latin typeface="Quattrocento Sans"/>
                <a:hlinkClick r:id="rId3"/>
              </a:rPr>
              <a:t>Chart – non-RB, RB vs Dynamic, Kinematic and Static</a:t>
            </a:r>
            <a:endParaRPr lang="en-GB" sz="1800" b="1" u="sng" dirty="0">
              <a:solidFill>
                <a:srgbClr val="FFFF00"/>
              </a:solidFill>
              <a:latin typeface="Quattrocento Sans"/>
            </a:endParaRPr>
          </a:p>
        </p:txBody>
      </p:sp>
      <p:pic>
        <p:nvPicPr>
          <p:cNvPr id="2" name="Picture 1" descr="A screenshot of a computer&#10;&#10;AI-generated content may be incorrect.">
            <a:extLst>
              <a:ext uri="{FF2B5EF4-FFF2-40B4-BE49-F238E27FC236}">
                <a16:creationId xmlns:a16="http://schemas.microsoft.com/office/drawing/2014/main" id="{6D790ECB-04C1-D458-F75E-74372740441F}"/>
              </a:ext>
            </a:extLst>
          </p:cNvPr>
          <p:cNvPicPr>
            <a:picLocks noChangeAspect="1"/>
          </p:cNvPicPr>
          <p:nvPr/>
        </p:nvPicPr>
        <p:blipFill>
          <a:blip r:embed="rId4"/>
          <a:stretch>
            <a:fillRect/>
          </a:stretch>
        </p:blipFill>
        <p:spPr>
          <a:xfrm>
            <a:off x="357554" y="2173975"/>
            <a:ext cx="4999890" cy="4522511"/>
          </a:xfrm>
          <a:prstGeom prst="rect">
            <a:avLst/>
          </a:prstGeom>
        </p:spPr>
      </p:pic>
      <p:pic>
        <p:nvPicPr>
          <p:cNvPr id="4" name="Picture 3" descr="A diagram of a system&#10;&#10;AI-generated content may be incorrect.">
            <a:extLst>
              <a:ext uri="{FF2B5EF4-FFF2-40B4-BE49-F238E27FC236}">
                <a16:creationId xmlns:a16="http://schemas.microsoft.com/office/drawing/2014/main" id="{7BDEFB4A-95D2-9CFA-967F-7E4A968C413C}"/>
              </a:ext>
            </a:extLst>
          </p:cNvPr>
          <p:cNvPicPr>
            <a:picLocks noChangeAspect="1"/>
          </p:cNvPicPr>
          <p:nvPr/>
        </p:nvPicPr>
        <p:blipFill>
          <a:blip r:embed="rId5"/>
          <a:stretch>
            <a:fillRect/>
          </a:stretch>
        </p:blipFill>
        <p:spPr>
          <a:xfrm>
            <a:off x="6316785" y="1807698"/>
            <a:ext cx="5283199" cy="4512601"/>
          </a:xfrm>
          <a:prstGeom prst="rect">
            <a:avLst/>
          </a:prstGeom>
        </p:spPr>
      </p:pic>
    </p:spTree>
    <p:extLst>
      <p:ext uri="{BB962C8B-B14F-4D97-AF65-F5344CB8AC3E}">
        <p14:creationId xmlns:p14="http://schemas.microsoft.com/office/powerpoint/2010/main" val="1742502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56" name="Google Shape;156;p17"/>
          <p:cNvSpPr txBox="1"/>
          <p:nvPr/>
        </p:nvSpPr>
        <p:spPr>
          <a:xfrm>
            <a:off x="609600" y="1421654"/>
            <a:ext cx="11243025" cy="43396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dirty="0">
                <a:solidFill>
                  <a:srgbClr val="FFFF00"/>
                </a:solidFill>
                <a:latin typeface="Quattrocento Sans"/>
                <a:ea typeface="Quattrocento Sans"/>
                <a:cs typeface="Quattrocento Sans"/>
                <a:sym typeface="Quattrocento Sans"/>
              </a:rPr>
              <a:t>Unity Scripted Movement (Not Animation Trigger)</a:t>
            </a:r>
            <a:endParaRPr dirty="0"/>
          </a:p>
          <a:p>
            <a:pPr marL="0" marR="0" lvl="0" indent="0" algn="l" rtl="0">
              <a:spcBef>
                <a:spcPts val="0"/>
              </a:spcBef>
              <a:spcAft>
                <a:spcPts val="0"/>
              </a:spcAft>
              <a:buNone/>
            </a:pPr>
            <a:r>
              <a:rPr lang="en-GB" sz="1800" b="1" u="sng" dirty="0">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https://unity3d.com/learn/tutorials/topics/scripting/translate-and-rotate?playlist=17117</a:t>
            </a:r>
            <a:endParaRPr sz="1800" b="1" dirty="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00"/>
              </a:solidFill>
              <a:latin typeface="Quattrocento Sans"/>
              <a:ea typeface="Quattrocento Sans"/>
              <a:cs typeface="Quattrocento Sans"/>
              <a:sym typeface="Quattrocento Sans"/>
            </a:endParaRPr>
          </a:p>
          <a:p>
            <a:endParaRPr lang="en-GB" sz="1800" dirty="0">
              <a:solidFill>
                <a:srgbClr val="FFFFFF"/>
              </a:solidFill>
              <a:latin typeface="Quattrocento Sans"/>
            </a:endParaRPr>
          </a:p>
          <a:p>
            <a:r>
              <a:rPr lang="en-GB" sz="2400" b="1" i="1" dirty="0">
                <a:solidFill>
                  <a:srgbClr val="FFFF00"/>
                </a:solidFill>
                <a:latin typeface="Quattrocento Sans"/>
              </a:rPr>
              <a:t>Tutorial 02-03 is Dynamic (Rigid Body)  but not Kinematic – Allows Collisions, Gravity, but direct control</a:t>
            </a:r>
          </a:p>
          <a:p>
            <a:endParaRPr lang="en-GB" sz="2400" b="1" i="1" dirty="0">
              <a:solidFill>
                <a:srgbClr val="FFFF00"/>
              </a:solidFill>
              <a:latin typeface="Quattrocento Sans"/>
            </a:endParaRPr>
          </a:p>
          <a:p>
            <a:r>
              <a:rPr lang="en-GB" sz="1800" dirty="0">
                <a:solidFill>
                  <a:schemeClr val="tx1"/>
                </a:solidFill>
              </a:rPr>
              <a:t>Controls whether physics affects the </a:t>
            </a:r>
            <a:r>
              <a:rPr lang="en-GB" sz="1800" err="1">
                <a:solidFill>
                  <a:schemeClr val="tx1"/>
                </a:solidFill>
              </a:rPr>
              <a:t>rigidbody</a:t>
            </a:r>
            <a:r>
              <a:rPr lang="en-GB" sz="1800" dirty="0">
                <a:solidFill>
                  <a:schemeClr val="tx1"/>
                </a:solidFill>
              </a:rPr>
              <a:t>.</a:t>
            </a:r>
            <a:endParaRPr lang="en-GB" sz="1800">
              <a:solidFill>
                <a:schemeClr val="tx1"/>
              </a:solidFill>
            </a:endParaRPr>
          </a:p>
          <a:p>
            <a:endParaRPr lang="en-GB" sz="1800" dirty="0">
              <a:solidFill>
                <a:schemeClr val="tx1"/>
              </a:solidFill>
            </a:endParaRPr>
          </a:p>
          <a:p>
            <a:r>
              <a:rPr lang="en-GB" sz="1800" dirty="0">
                <a:solidFill>
                  <a:schemeClr val="tx1"/>
                </a:solidFill>
              </a:rPr>
              <a:t>If </a:t>
            </a:r>
            <a:r>
              <a:rPr lang="en-GB" sz="1800" dirty="0" err="1">
                <a:solidFill>
                  <a:schemeClr val="tx1"/>
                </a:solidFill>
              </a:rPr>
              <a:t>isKinematic</a:t>
            </a:r>
            <a:r>
              <a:rPr lang="en-GB" sz="1800" dirty="0">
                <a:solidFill>
                  <a:schemeClr val="tx1"/>
                </a:solidFill>
              </a:rPr>
              <a:t> is enabled, Forces, collisions or joints will not affect the </a:t>
            </a:r>
            <a:r>
              <a:rPr lang="en-GB" sz="1800" dirty="0" err="1">
                <a:solidFill>
                  <a:schemeClr val="tx1"/>
                </a:solidFill>
              </a:rPr>
              <a:t>rigidbody</a:t>
            </a:r>
            <a:r>
              <a:rPr lang="en-GB" sz="1800" dirty="0">
                <a:solidFill>
                  <a:schemeClr val="tx1"/>
                </a:solidFill>
              </a:rPr>
              <a:t> anymore. The </a:t>
            </a:r>
            <a:r>
              <a:rPr lang="en-GB" sz="1800" dirty="0" err="1">
                <a:solidFill>
                  <a:schemeClr val="tx1"/>
                </a:solidFill>
              </a:rPr>
              <a:t>rigidbody</a:t>
            </a:r>
            <a:r>
              <a:rPr lang="en-GB" sz="1800" dirty="0">
                <a:solidFill>
                  <a:schemeClr val="tx1"/>
                </a:solidFill>
              </a:rPr>
              <a:t> will be under full control of animation or script control by changing </a:t>
            </a:r>
            <a:r>
              <a:rPr lang="en-GB" sz="1800" dirty="0" err="1">
                <a:solidFill>
                  <a:schemeClr val="tx1"/>
                </a:solidFill>
              </a:rPr>
              <a:t>transform.position</a:t>
            </a:r>
            <a:r>
              <a:rPr lang="en-GB" sz="1800" dirty="0">
                <a:solidFill>
                  <a:schemeClr val="tx1"/>
                </a:solidFill>
              </a:rPr>
              <a:t>. Kinematic </a:t>
            </a:r>
            <a:r>
              <a:rPr lang="en-GB" sz="1800" dirty="0" err="1">
                <a:solidFill>
                  <a:schemeClr val="tx1"/>
                </a:solidFill>
              </a:rPr>
              <a:t>rigidbodies</a:t>
            </a:r>
            <a:r>
              <a:rPr lang="en-GB" sz="1800" dirty="0">
                <a:solidFill>
                  <a:schemeClr val="tx1"/>
                </a:solidFill>
              </a:rPr>
              <a:t> will affect the motion of other </a:t>
            </a:r>
            <a:r>
              <a:rPr lang="en-GB" sz="1800" dirty="0" err="1">
                <a:solidFill>
                  <a:schemeClr val="tx1"/>
                </a:solidFill>
              </a:rPr>
              <a:t>rigidbodies</a:t>
            </a:r>
            <a:r>
              <a:rPr lang="en-GB" sz="1800" dirty="0">
                <a:solidFill>
                  <a:schemeClr val="tx1"/>
                </a:solidFill>
              </a:rPr>
              <a:t> through collisions if they can be affected.</a:t>
            </a:r>
          </a:p>
          <a:p>
            <a:endParaRPr lang="en-GB" sz="2400" b="1" i="1" dirty="0">
              <a:solidFill>
                <a:srgbClr val="FFFF00"/>
              </a:solidFill>
              <a:latin typeface="Quattrocento Sans"/>
            </a:endParaRPr>
          </a:p>
        </p:txBody>
      </p:sp>
    </p:spTree>
    <p:extLst>
      <p:ext uri="{BB962C8B-B14F-4D97-AF65-F5344CB8AC3E}">
        <p14:creationId xmlns:p14="http://schemas.microsoft.com/office/powerpoint/2010/main" val="19504521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63" name="Google Shape;163;p18"/>
          <p:cNvSpPr txBox="1"/>
          <p:nvPr/>
        </p:nvSpPr>
        <p:spPr>
          <a:xfrm>
            <a:off x="609600" y="1293500"/>
            <a:ext cx="11440200" cy="5878492"/>
          </a:xfrm>
          <a:prstGeom prst="rect">
            <a:avLst/>
          </a:prstGeom>
          <a:noFill/>
          <a:ln>
            <a:noFill/>
          </a:ln>
        </p:spPr>
        <p:txBody>
          <a:bodyPr spcFirstLastPara="1" wrap="square" lIns="91425" tIns="45700" rIns="91425" bIns="45700" anchor="t" anchorCtr="0">
            <a:spAutoFit/>
          </a:bodyPr>
          <a:lstStyle/>
          <a:p>
            <a:r>
              <a:rPr lang="en-GB" sz="2000" b="1" dirty="0">
                <a:solidFill>
                  <a:srgbClr val="FFFF00"/>
                </a:solidFill>
                <a:latin typeface="Quattrocento Sans"/>
                <a:ea typeface="Quattrocento Sans"/>
                <a:cs typeface="Quattrocento Sans"/>
                <a:sym typeface="Quattrocento Sans"/>
              </a:rPr>
              <a:t>Tutorial 02-03: Translate, Rotate to move: Basic transform, rigid body, not kinematic,</a:t>
            </a:r>
            <a:r>
              <a:rPr lang="en-GB" sz="2000" b="1" dirty="0">
                <a:solidFill>
                  <a:srgbClr val="FF0000"/>
                </a:solidFill>
                <a:latin typeface="Quattrocento Sans"/>
                <a:ea typeface="Quattrocento Sans"/>
                <a:cs typeface="Quattrocento Sans"/>
                <a:sym typeface="Quattrocento Sans"/>
              </a:rPr>
              <a:t> </a:t>
            </a:r>
            <a:r>
              <a:rPr lang="en-GB" sz="2000" b="1" dirty="0">
                <a:solidFill>
                  <a:srgbClr val="FFFF00"/>
                </a:solidFill>
                <a:latin typeface="Quattrocento Sans"/>
                <a:ea typeface="Quattrocento Sans"/>
                <a:cs typeface="Quattrocento Sans"/>
                <a:sym typeface="Quattrocento Sans"/>
              </a:rPr>
              <a:t>collider is used to affect rigid body wall</a:t>
            </a:r>
            <a:endParaRPr lang="en-US" dirty="0"/>
          </a:p>
          <a:p>
            <a:pPr marL="0" marR="0" lvl="0" indent="0" algn="l" rtl="0">
              <a:spcBef>
                <a:spcPts val="0"/>
              </a:spcBef>
              <a:spcAft>
                <a:spcPts val="0"/>
              </a:spcAft>
              <a:buNone/>
            </a:pPr>
            <a:endParaRPr>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using UnityEngine;</a:t>
            </a:r>
            <a:br>
              <a:rPr lang="en-GB" dirty="0">
                <a:latin typeface="Quattrocento Sans"/>
                <a:ea typeface="Quattrocento Sans"/>
                <a:cs typeface="Quattrocento Sans"/>
              </a:rPr>
            </a:br>
            <a:r>
              <a:rPr lang="en-GB" dirty="0">
                <a:solidFill>
                  <a:schemeClr val="dk1"/>
                </a:solidFill>
                <a:latin typeface="Quattrocento Sans"/>
                <a:ea typeface="Quattrocento Sans"/>
                <a:cs typeface="Quattrocento Sans"/>
                <a:sym typeface="Quattrocento Sans"/>
              </a:rPr>
              <a:t>using </a:t>
            </a:r>
            <a:r>
              <a:rPr lang="en-GB" dirty="0" err="1">
                <a:solidFill>
                  <a:schemeClr val="dk1"/>
                </a:solidFill>
                <a:latin typeface="Quattrocento Sans"/>
                <a:ea typeface="Quattrocento Sans"/>
                <a:cs typeface="Quattrocento Sans"/>
                <a:sym typeface="Quattrocento Sans"/>
              </a:rPr>
              <a:t>System.Collections</a:t>
            </a:r>
            <a:r>
              <a:rPr lang="en-GB" dirty="0">
                <a:solidFill>
                  <a:schemeClr val="dk1"/>
                </a:solidFill>
                <a:latin typeface="Quattrocento Sans"/>
                <a:ea typeface="Quattrocento Sans"/>
                <a:cs typeface="Quattrocento Sans"/>
                <a:sym typeface="Quattrocento Sans"/>
              </a:rPr>
              <a:t>;</a:t>
            </a:r>
            <a:endParaRPr sz="1600" dirty="0">
              <a:solidFill>
                <a:schemeClr val="dk1"/>
              </a:solidFill>
            </a:endParaRPr>
          </a:p>
          <a:p>
            <a:r>
              <a:rPr lang="en-GB" dirty="0">
                <a:solidFill>
                  <a:schemeClr val="dk1"/>
                </a:solidFill>
                <a:latin typeface="Quattrocento Sans"/>
                <a:ea typeface="Quattrocento Sans"/>
                <a:cs typeface="Quattrocento Sans"/>
                <a:sym typeface="Quattrocento Sans"/>
              </a:rPr>
              <a:t>public class </a:t>
            </a:r>
            <a:r>
              <a:rPr lang="en-GB" dirty="0" err="1">
                <a:solidFill>
                  <a:schemeClr val="dk1"/>
                </a:solidFill>
                <a:latin typeface="Quattrocento Sans"/>
                <a:ea typeface="Quattrocento Sans"/>
                <a:cs typeface="Quattrocento Sans"/>
                <a:sym typeface="Quattrocento Sans"/>
              </a:rPr>
              <a:t>TransformFunctions</a:t>
            </a:r>
            <a:r>
              <a:rPr lang="en-GB" dirty="0">
                <a:solidFill>
                  <a:schemeClr val="dk1"/>
                </a:solidFill>
                <a:latin typeface="Quattrocento Sans"/>
                <a:ea typeface="Quattrocento Sans"/>
                <a:cs typeface="Quattrocento Sans"/>
                <a:sym typeface="Quattrocento Sans"/>
              </a:rPr>
              <a:t> : </a:t>
            </a:r>
            <a:r>
              <a:rPr lang="en-GB" dirty="0" err="1">
                <a:solidFill>
                  <a:schemeClr val="dk1"/>
                </a:solidFill>
                <a:latin typeface="Quattrocento Sans"/>
                <a:ea typeface="Quattrocento Sans"/>
                <a:cs typeface="Quattrocento Sans"/>
                <a:sym typeface="Quattrocento Sans"/>
              </a:rPr>
              <a:t>MonoBehaviour</a:t>
            </a:r>
            <a:br>
              <a:rPr lang="en-GB" dirty="0">
                <a:latin typeface="Quattrocento Sans"/>
                <a:ea typeface="Quattrocento Sans"/>
                <a:cs typeface="Quattrocento Sans"/>
              </a:rPr>
            </a:br>
            <a:r>
              <a:rPr lang="en-GB" dirty="0">
                <a:solidFill>
                  <a:schemeClr val="dk1"/>
                </a:solidFill>
                <a:latin typeface="Quattrocento Sans"/>
                <a:ea typeface="Quattrocento Sans"/>
                <a:cs typeface="Quattrocento Sans"/>
                <a:sym typeface="Quattrocento Sans"/>
              </a:rPr>
              <a:t>{</a:t>
            </a:r>
            <a:br>
              <a:rPr lang="en-GB" dirty="0">
                <a:latin typeface="Quattrocento Sans"/>
                <a:ea typeface="Quattrocento Sans"/>
                <a:cs typeface="Quattrocento Sans"/>
              </a:rPr>
            </a:br>
            <a:r>
              <a:rPr lang="en-GB" dirty="0">
                <a:solidFill>
                  <a:schemeClr val="dk1"/>
                </a:solidFill>
                <a:latin typeface="Quattrocento Sans"/>
                <a:ea typeface="Quattrocento Sans"/>
                <a:cs typeface="Quattrocento Sans"/>
                <a:sym typeface="Quattrocento Sans"/>
              </a:rPr>
              <a:t>    public float </a:t>
            </a:r>
            <a:r>
              <a:rPr lang="en-GB" dirty="0" err="1">
                <a:solidFill>
                  <a:schemeClr val="dk1"/>
                </a:solidFill>
                <a:latin typeface="Quattrocento Sans"/>
                <a:ea typeface="Quattrocento Sans"/>
                <a:cs typeface="Quattrocento Sans"/>
                <a:sym typeface="Quattrocento Sans"/>
              </a:rPr>
              <a:t>moveSpeed</a:t>
            </a:r>
            <a:r>
              <a:rPr lang="en-GB" dirty="0">
                <a:solidFill>
                  <a:schemeClr val="dk1"/>
                </a:solidFill>
                <a:latin typeface="Quattrocento Sans"/>
                <a:ea typeface="Quattrocento Sans"/>
                <a:cs typeface="Quattrocento Sans"/>
                <a:sym typeface="Quattrocento Sans"/>
              </a:rPr>
              <a:t> = 10f;</a:t>
            </a:r>
            <a:br>
              <a:rPr lang="en-GB" dirty="0">
                <a:latin typeface="Quattrocento Sans"/>
                <a:ea typeface="Quattrocento Sans"/>
                <a:cs typeface="Quattrocento Sans"/>
              </a:rPr>
            </a:br>
            <a:r>
              <a:rPr lang="en-GB" dirty="0">
                <a:solidFill>
                  <a:schemeClr val="dk1"/>
                </a:solidFill>
                <a:latin typeface="Quattrocento Sans"/>
                <a:ea typeface="Quattrocento Sans"/>
                <a:cs typeface="Quattrocento Sans"/>
                <a:sym typeface="Quattrocento Sans"/>
              </a:rPr>
              <a:t>    public float </a:t>
            </a:r>
            <a:r>
              <a:rPr lang="en-GB" dirty="0" err="1">
                <a:solidFill>
                  <a:schemeClr val="dk1"/>
                </a:solidFill>
                <a:latin typeface="Quattrocento Sans"/>
                <a:ea typeface="Quattrocento Sans"/>
                <a:cs typeface="Quattrocento Sans"/>
                <a:sym typeface="Quattrocento Sans"/>
              </a:rPr>
              <a:t>turnSpeed</a:t>
            </a:r>
            <a:r>
              <a:rPr lang="en-GB" dirty="0">
                <a:solidFill>
                  <a:schemeClr val="dk1"/>
                </a:solidFill>
                <a:latin typeface="Quattrocento Sans"/>
                <a:ea typeface="Quattrocento Sans"/>
                <a:cs typeface="Quattrocento Sans"/>
                <a:sym typeface="Quattrocento Sans"/>
              </a:rPr>
              <a:t> = 50f;</a:t>
            </a:r>
            <a:br>
              <a:rPr lang="en-GB" dirty="0">
                <a:latin typeface="Quattrocento Sans"/>
                <a:ea typeface="Quattrocento Sans"/>
                <a:cs typeface="Quattrocento Sans"/>
              </a:rPr>
            </a:br>
            <a:r>
              <a:rPr lang="en-GB" dirty="0">
                <a:solidFill>
                  <a:schemeClr val="dk1"/>
                </a:solidFill>
                <a:latin typeface="Quattrocento Sans"/>
                <a:ea typeface="Quattrocento Sans"/>
                <a:cs typeface="Quattrocento Sans"/>
                <a:sym typeface="Quattrocento Sans"/>
              </a:rPr>
              <a:t>    </a:t>
            </a:r>
            <a:br>
              <a:rPr lang="en-GB" dirty="0">
                <a:latin typeface="Quattrocento Sans"/>
                <a:ea typeface="Quattrocento Sans"/>
                <a:cs typeface="Quattrocento Sans"/>
                <a:sym typeface="Quattrocento Sans"/>
              </a:rPr>
            </a:br>
            <a:r>
              <a:rPr lang="en-GB" dirty="0">
                <a:solidFill>
                  <a:schemeClr val="dk1"/>
                </a:solidFill>
                <a:latin typeface="Quattrocento Sans"/>
                <a:ea typeface="Quattrocento Sans"/>
                <a:cs typeface="Quattrocento Sans"/>
                <a:sym typeface="Quattrocento Sans"/>
              </a:rPr>
              <a:t>    </a:t>
            </a:r>
            <a:br>
              <a:rPr lang="en-GB" dirty="0">
                <a:latin typeface="Quattrocento Sans"/>
                <a:ea typeface="Quattrocento Sans"/>
                <a:cs typeface="Quattrocento Sans"/>
                <a:sym typeface="Quattrocento Sans"/>
              </a:rPr>
            </a:br>
            <a:r>
              <a:rPr lang="en-GB" dirty="0">
                <a:solidFill>
                  <a:schemeClr val="dk1"/>
                </a:solidFill>
                <a:latin typeface="Quattrocento Sans"/>
                <a:ea typeface="Quattrocento Sans"/>
                <a:cs typeface="Quattrocento Sans"/>
                <a:sym typeface="Quattrocento Sans"/>
              </a:rPr>
              <a:t>    void Update ()</a:t>
            </a:r>
            <a:br>
              <a:rPr lang="en-GB" dirty="0">
                <a:latin typeface="Quattrocento Sans"/>
                <a:ea typeface="Quattrocento Sans"/>
                <a:cs typeface="Quattrocento Sans"/>
              </a:rPr>
            </a:br>
            <a:r>
              <a:rPr lang="en-GB" dirty="0">
                <a:solidFill>
                  <a:schemeClr val="dk1"/>
                </a:solidFill>
                <a:latin typeface="Quattrocento Sans"/>
                <a:ea typeface="Quattrocento Sans"/>
                <a:cs typeface="Quattrocento Sans"/>
                <a:sym typeface="Quattrocento Sans"/>
              </a:rPr>
              <a:t>    {</a:t>
            </a:r>
            <a:br>
              <a:rPr lang="en-GB" dirty="0">
                <a:latin typeface="Quattrocento Sans"/>
                <a:ea typeface="Quattrocento Sans"/>
                <a:cs typeface="Quattrocento Sans"/>
              </a:rPr>
            </a:br>
            <a:r>
              <a:rPr lang="en-GB" dirty="0">
                <a:solidFill>
                  <a:schemeClr val="dk1"/>
                </a:solidFill>
                <a:latin typeface="Quattrocento Sans"/>
                <a:ea typeface="Quattrocento Sans"/>
                <a:cs typeface="Quattrocento Sans"/>
                <a:sym typeface="Quattrocento Sans"/>
              </a:rPr>
              <a:t>        if(</a:t>
            </a:r>
            <a:r>
              <a:rPr lang="en-GB" u="sng" dirty="0">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Input.GetKey</a:t>
            </a:r>
            <a:r>
              <a:rPr lang="en-GB" dirty="0">
                <a:solidFill>
                  <a:schemeClr val="dk1"/>
                </a:solidFill>
                <a:latin typeface="Quattrocento Sans"/>
                <a:ea typeface="Quattrocento Sans"/>
                <a:cs typeface="Quattrocento Sans"/>
                <a:sym typeface="Quattrocento Sans"/>
              </a:rPr>
              <a:t>(</a:t>
            </a:r>
            <a:r>
              <a:rPr lang="en-GB" u="sng" dirty="0">
                <a:solidFill>
                  <a:schemeClr val="dk1"/>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KeyCode.UpArrow</a:t>
            </a:r>
            <a:r>
              <a:rPr lang="en-GB" dirty="0">
                <a:solidFill>
                  <a:schemeClr val="dk1"/>
                </a:solidFill>
                <a:latin typeface="Quattrocento Sans"/>
                <a:ea typeface="Quattrocento Sans"/>
                <a:cs typeface="Quattrocento Sans"/>
                <a:sym typeface="Quattrocento Sans"/>
              </a:rPr>
              <a:t>))</a:t>
            </a:r>
            <a:br>
              <a:rPr lang="en-GB" dirty="0">
                <a:latin typeface="Quattrocento Sans"/>
                <a:ea typeface="Quattrocento Sans"/>
                <a:cs typeface="Quattrocento Sans"/>
              </a:rPr>
            </a:br>
            <a:r>
              <a:rPr lang="en-GB" dirty="0">
                <a:solidFill>
                  <a:schemeClr val="dk1"/>
                </a:solidFill>
                <a:latin typeface="Quattrocento Sans"/>
                <a:ea typeface="Quattrocento Sans"/>
                <a:cs typeface="Quattrocento Sans"/>
                <a:sym typeface="Quattrocento Sans"/>
              </a:rPr>
              <a:t>            </a:t>
            </a:r>
            <a:r>
              <a:rPr lang="en-GB" dirty="0" err="1">
                <a:solidFill>
                  <a:schemeClr val="dk1"/>
                </a:solidFill>
                <a:latin typeface="Quattrocento Sans"/>
                <a:ea typeface="Quattrocento Sans"/>
                <a:cs typeface="Quattrocento Sans"/>
                <a:sym typeface="Quattrocento Sans"/>
              </a:rPr>
              <a:t>transform.Translate</a:t>
            </a:r>
            <a:r>
              <a:rPr lang="en-GB" dirty="0">
                <a:solidFill>
                  <a:schemeClr val="dk1"/>
                </a:solidFill>
                <a:latin typeface="Quattrocento Sans"/>
                <a:ea typeface="Quattrocento Sans"/>
                <a:cs typeface="Quattrocento Sans"/>
                <a:sym typeface="Quattrocento Sans"/>
              </a:rPr>
              <a:t>(</a:t>
            </a:r>
            <a:r>
              <a:rPr lang="en-GB" u="sng" dirty="0">
                <a:solidFill>
                  <a:schemeClr val="dk1"/>
                </a:solidFill>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Vector3.forward </a:t>
            </a:r>
            <a:r>
              <a:rPr lang="en-GB" dirty="0">
                <a:solidFill>
                  <a:schemeClr val="dk1"/>
                </a:solidFill>
                <a:latin typeface="Quattrocento Sans"/>
                <a:ea typeface="Quattrocento Sans"/>
                <a:cs typeface="Quattrocento Sans"/>
                <a:sym typeface="Quattrocento Sans"/>
              </a:rPr>
              <a:t>* </a:t>
            </a:r>
            <a:r>
              <a:rPr lang="en-GB" dirty="0" err="1">
                <a:solidFill>
                  <a:schemeClr val="dk1"/>
                </a:solidFill>
                <a:latin typeface="Quattrocento Sans"/>
                <a:ea typeface="Quattrocento Sans"/>
                <a:cs typeface="Quattrocento Sans"/>
                <a:sym typeface="Quattrocento Sans"/>
              </a:rPr>
              <a:t>moveSpeed</a:t>
            </a:r>
            <a:r>
              <a:rPr lang="en-GB" dirty="0">
                <a:solidFill>
                  <a:schemeClr val="dk1"/>
                </a:solidFill>
                <a:latin typeface="Quattrocento Sans"/>
                <a:ea typeface="Quattrocento Sans"/>
                <a:cs typeface="Quattrocento Sans"/>
                <a:sym typeface="Quattrocento Sans"/>
              </a:rPr>
              <a:t> * </a:t>
            </a:r>
            <a:r>
              <a:rPr lang="en-GB" u="sng" dirty="0">
                <a:solidFill>
                  <a:schemeClr val="dk1"/>
                </a:solidFill>
                <a:latin typeface="Quattrocento Sans"/>
                <a:ea typeface="Quattrocento Sans"/>
                <a:cs typeface="Quattrocento Sans"/>
                <a:sym typeface="Quattrocento Sans"/>
                <a:hlinkClick r:id="rId6">
                  <a:extLst>
                    <a:ext uri="{A12FA001-AC4F-418D-AE19-62706E023703}">
                      <ahyp:hlinkClr xmlns:ahyp="http://schemas.microsoft.com/office/drawing/2018/hyperlinkcolor" val="tx"/>
                    </a:ext>
                  </a:extLst>
                </a:hlinkClick>
              </a:rPr>
              <a:t>Time.deltaTime</a:t>
            </a:r>
            <a:r>
              <a:rPr lang="en-GB" dirty="0">
                <a:solidFill>
                  <a:schemeClr val="dk1"/>
                </a:solidFill>
                <a:latin typeface="Quattrocento Sans"/>
                <a:ea typeface="Quattrocento Sans"/>
                <a:cs typeface="Quattrocento Sans"/>
                <a:sym typeface="Quattrocento Sans"/>
              </a:rPr>
              <a:t>);</a:t>
            </a:r>
            <a:br>
              <a:rPr lang="en-GB" dirty="0">
                <a:latin typeface="Quattrocento Sans"/>
                <a:ea typeface="Quattrocento Sans"/>
                <a:cs typeface="Quattrocento Sans"/>
              </a:rPr>
            </a:br>
            <a:r>
              <a:rPr lang="en-GB" dirty="0">
                <a:solidFill>
                  <a:schemeClr val="dk1"/>
                </a:solidFill>
                <a:latin typeface="Quattrocento Sans"/>
                <a:ea typeface="Quattrocento Sans"/>
                <a:cs typeface="Quattrocento Sans"/>
                <a:sym typeface="Quattrocento Sans"/>
              </a:rPr>
              <a:t>        </a:t>
            </a:r>
            <a:br>
              <a:rPr lang="en-GB" dirty="0">
                <a:latin typeface="Quattrocento Sans"/>
                <a:ea typeface="Quattrocento Sans"/>
                <a:cs typeface="Quattrocento Sans"/>
                <a:sym typeface="Quattrocento Sans"/>
              </a:rPr>
            </a:br>
            <a:r>
              <a:rPr lang="en-GB" dirty="0">
                <a:solidFill>
                  <a:schemeClr val="dk1"/>
                </a:solidFill>
                <a:latin typeface="Quattrocento Sans"/>
                <a:ea typeface="Quattrocento Sans"/>
                <a:cs typeface="Quattrocento Sans"/>
                <a:sym typeface="Quattrocento Sans"/>
              </a:rPr>
              <a:t>        if(</a:t>
            </a:r>
            <a:r>
              <a:rPr lang="en-GB" u="sng" dirty="0">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Input.GetKey</a:t>
            </a:r>
            <a:r>
              <a:rPr lang="en-GB" dirty="0">
                <a:solidFill>
                  <a:schemeClr val="dk1"/>
                </a:solidFill>
                <a:latin typeface="Quattrocento Sans"/>
                <a:ea typeface="Quattrocento Sans"/>
                <a:cs typeface="Quattrocento Sans"/>
                <a:sym typeface="Quattrocento Sans"/>
              </a:rPr>
              <a:t>(</a:t>
            </a:r>
            <a:r>
              <a:rPr lang="en-GB" u="sng" dirty="0">
                <a:solidFill>
                  <a:schemeClr val="dk1"/>
                </a:solidFill>
                <a:latin typeface="Quattrocento Sans"/>
                <a:ea typeface="Quattrocento Sans"/>
                <a:cs typeface="Quattrocento Sans"/>
                <a:sym typeface="Quattrocento Sans"/>
                <a:hlinkClick r:id="rId7">
                  <a:extLst>
                    <a:ext uri="{A12FA001-AC4F-418D-AE19-62706E023703}">
                      <ahyp:hlinkClr xmlns:ahyp="http://schemas.microsoft.com/office/drawing/2018/hyperlinkcolor" val="tx"/>
                    </a:ext>
                  </a:extLst>
                </a:hlinkClick>
              </a:rPr>
              <a:t>KeyCode.DownArrow</a:t>
            </a:r>
            <a:r>
              <a:rPr lang="en-GB" dirty="0">
                <a:solidFill>
                  <a:schemeClr val="dk1"/>
                </a:solidFill>
                <a:latin typeface="Quattrocento Sans"/>
                <a:ea typeface="Quattrocento Sans"/>
                <a:cs typeface="Quattrocento Sans"/>
                <a:sym typeface="Quattrocento Sans"/>
              </a:rPr>
              <a:t>))</a:t>
            </a:r>
            <a:br>
              <a:rPr lang="en-GB" dirty="0">
                <a:latin typeface="Quattrocento Sans"/>
                <a:ea typeface="Quattrocento Sans"/>
                <a:cs typeface="Quattrocento Sans"/>
              </a:rPr>
            </a:br>
            <a:r>
              <a:rPr lang="en-GB" dirty="0">
                <a:solidFill>
                  <a:schemeClr val="dk1"/>
                </a:solidFill>
                <a:latin typeface="Quattrocento Sans"/>
                <a:ea typeface="Quattrocento Sans"/>
                <a:cs typeface="Quattrocento Sans"/>
                <a:sym typeface="Quattrocento Sans"/>
              </a:rPr>
              <a:t>            </a:t>
            </a:r>
            <a:r>
              <a:rPr lang="en-GB" dirty="0" err="1">
                <a:solidFill>
                  <a:schemeClr val="dk1"/>
                </a:solidFill>
                <a:latin typeface="Quattrocento Sans"/>
                <a:ea typeface="Quattrocento Sans"/>
                <a:cs typeface="Quattrocento Sans"/>
                <a:sym typeface="Quattrocento Sans"/>
              </a:rPr>
              <a:t>transform.Translate</a:t>
            </a:r>
            <a:r>
              <a:rPr lang="en-GB" dirty="0">
                <a:solidFill>
                  <a:schemeClr val="dk1"/>
                </a:solidFill>
                <a:latin typeface="Quattrocento Sans"/>
                <a:ea typeface="Quattrocento Sans"/>
                <a:cs typeface="Quattrocento Sans"/>
                <a:sym typeface="Quattrocento Sans"/>
              </a:rPr>
              <a:t>(-</a:t>
            </a:r>
            <a:r>
              <a:rPr lang="en-GB" u="sng" dirty="0">
                <a:solidFill>
                  <a:schemeClr val="dk1"/>
                </a:solidFill>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Vector3.forward </a:t>
            </a:r>
            <a:r>
              <a:rPr lang="en-GB" dirty="0">
                <a:solidFill>
                  <a:schemeClr val="dk1"/>
                </a:solidFill>
                <a:latin typeface="Quattrocento Sans"/>
                <a:ea typeface="Quattrocento Sans"/>
                <a:cs typeface="Quattrocento Sans"/>
                <a:sym typeface="Quattrocento Sans"/>
              </a:rPr>
              <a:t>* </a:t>
            </a:r>
            <a:r>
              <a:rPr lang="en-GB" dirty="0" err="1">
                <a:solidFill>
                  <a:schemeClr val="dk1"/>
                </a:solidFill>
                <a:latin typeface="Quattrocento Sans"/>
                <a:ea typeface="Quattrocento Sans"/>
                <a:cs typeface="Quattrocento Sans"/>
                <a:sym typeface="Quattrocento Sans"/>
              </a:rPr>
              <a:t>moveSpeed</a:t>
            </a:r>
            <a:r>
              <a:rPr lang="en-GB" dirty="0">
                <a:solidFill>
                  <a:schemeClr val="dk1"/>
                </a:solidFill>
                <a:latin typeface="Quattrocento Sans"/>
                <a:ea typeface="Quattrocento Sans"/>
                <a:cs typeface="Quattrocento Sans"/>
                <a:sym typeface="Quattrocento Sans"/>
              </a:rPr>
              <a:t> * </a:t>
            </a:r>
            <a:r>
              <a:rPr lang="en-GB" u="sng" dirty="0">
                <a:solidFill>
                  <a:schemeClr val="dk1"/>
                </a:solidFill>
                <a:latin typeface="Quattrocento Sans"/>
                <a:ea typeface="Quattrocento Sans"/>
                <a:cs typeface="Quattrocento Sans"/>
                <a:sym typeface="Quattrocento Sans"/>
                <a:hlinkClick r:id="rId6">
                  <a:extLst>
                    <a:ext uri="{A12FA001-AC4F-418D-AE19-62706E023703}">
                      <ahyp:hlinkClr xmlns:ahyp="http://schemas.microsoft.com/office/drawing/2018/hyperlinkcolor" val="tx"/>
                    </a:ext>
                  </a:extLst>
                </a:hlinkClick>
              </a:rPr>
              <a:t>Time.deltaTime</a:t>
            </a:r>
            <a:r>
              <a:rPr lang="en-GB" dirty="0">
                <a:solidFill>
                  <a:schemeClr val="dk1"/>
                </a:solidFill>
                <a:latin typeface="Quattrocento Sans"/>
                <a:ea typeface="Quattrocento Sans"/>
                <a:cs typeface="Quattrocento Sans"/>
                <a:sym typeface="Quattrocento Sans"/>
              </a:rPr>
              <a:t>);</a:t>
            </a:r>
            <a:br>
              <a:rPr lang="en-GB" dirty="0">
                <a:latin typeface="Quattrocento Sans"/>
                <a:ea typeface="Quattrocento Sans"/>
                <a:cs typeface="Quattrocento Sans"/>
              </a:rPr>
            </a:br>
            <a:r>
              <a:rPr lang="en-GB" dirty="0">
                <a:solidFill>
                  <a:schemeClr val="dk1"/>
                </a:solidFill>
                <a:latin typeface="Quattrocento Sans"/>
                <a:ea typeface="Quattrocento Sans"/>
                <a:cs typeface="Quattrocento Sans"/>
                <a:sym typeface="Quattrocento Sans"/>
              </a:rPr>
              <a:t>        </a:t>
            </a:r>
            <a:br>
              <a:rPr lang="en-GB" dirty="0">
                <a:latin typeface="Quattrocento Sans"/>
                <a:ea typeface="Quattrocento Sans"/>
                <a:cs typeface="Quattrocento Sans"/>
                <a:sym typeface="Quattrocento Sans"/>
              </a:rPr>
            </a:br>
            <a:r>
              <a:rPr lang="en-GB" dirty="0">
                <a:solidFill>
                  <a:schemeClr val="dk1"/>
                </a:solidFill>
                <a:latin typeface="Quattrocento Sans"/>
                <a:ea typeface="Quattrocento Sans"/>
                <a:cs typeface="Quattrocento Sans"/>
                <a:sym typeface="Quattrocento Sans"/>
              </a:rPr>
              <a:t>        if(</a:t>
            </a:r>
            <a:r>
              <a:rPr lang="en-GB" u="sng" dirty="0">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Input.GetKey</a:t>
            </a:r>
            <a:r>
              <a:rPr lang="en-GB" dirty="0">
                <a:solidFill>
                  <a:schemeClr val="dk1"/>
                </a:solidFill>
                <a:latin typeface="Quattrocento Sans"/>
                <a:ea typeface="Quattrocento Sans"/>
                <a:cs typeface="Quattrocento Sans"/>
                <a:sym typeface="Quattrocento Sans"/>
              </a:rPr>
              <a:t>(</a:t>
            </a:r>
            <a:r>
              <a:rPr lang="en-GB" u="sng" dirty="0">
                <a:solidFill>
                  <a:schemeClr val="dk1"/>
                </a:solidFill>
                <a:latin typeface="Quattrocento Sans"/>
                <a:ea typeface="Quattrocento Sans"/>
                <a:cs typeface="Quattrocento Sans"/>
                <a:sym typeface="Quattrocento Sans"/>
                <a:hlinkClick r:id="rId8">
                  <a:extLst>
                    <a:ext uri="{A12FA001-AC4F-418D-AE19-62706E023703}">
                      <ahyp:hlinkClr xmlns:ahyp="http://schemas.microsoft.com/office/drawing/2018/hyperlinkcolor" val="tx"/>
                    </a:ext>
                  </a:extLst>
                </a:hlinkClick>
              </a:rPr>
              <a:t>KeyCode.LeftArrow</a:t>
            </a:r>
            <a:r>
              <a:rPr lang="en-GB" dirty="0">
                <a:solidFill>
                  <a:schemeClr val="dk1"/>
                </a:solidFill>
                <a:latin typeface="Quattrocento Sans"/>
                <a:ea typeface="Quattrocento Sans"/>
                <a:cs typeface="Quattrocento Sans"/>
                <a:sym typeface="Quattrocento Sans"/>
              </a:rPr>
              <a:t>))</a:t>
            </a:r>
            <a:br>
              <a:rPr lang="en-GB" dirty="0">
                <a:latin typeface="Quattrocento Sans"/>
                <a:ea typeface="Quattrocento Sans"/>
                <a:cs typeface="Quattrocento Sans"/>
              </a:rPr>
            </a:br>
            <a:r>
              <a:rPr lang="en-GB" dirty="0">
                <a:solidFill>
                  <a:schemeClr val="dk1"/>
                </a:solidFill>
                <a:latin typeface="Quattrocento Sans"/>
                <a:ea typeface="Quattrocento Sans"/>
                <a:cs typeface="Quattrocento Sans"/>
                <a:sym typeface="Quattrocento Sans"/>
              </a:rPr>
              <a:t>            </a:t>
            </a:r>
            <a:r>
              <a:rPr lang="en-GB" dirty="0" err="1">
                <a:solidFill>
                  <a:schemeClr val="dk1"/>
                </a:solidFill>
                <a:latin typeface="Quattrocento Sans"/>
                <a:ea typeface="Quattrocento Sans"/>
                <a:cs typeface="Quattrocento Sans"/>
                <a:sym typeface="Quattrocento Sans"/>
              </a:rPr>
              <a:t>transform.Rotate</a:t>
            </a:r>
            <a:r>
              <a:rPr lang="en-GB" dirty="0">
                <a:solidFill>
                  <a:schemeClr val="dk1"/>
                </a:solidFill>
                <a:latin typeface="Quattrocento Sans"/>
                <a:ea typeface="Quattrocento Sans"/>
                <a:cs typeface="Quattrocento Sans"/>
                <a:sym typeface="Quattrocento Sans"/>
              </a:rPr>
              <a:t>(</a:t>
            </a:r>
            <a:r>
              <a:rPr lang="en-GB" u="sng" dirty="0">
                <a:solidFill>
                  <a:schemeClr val="dk1"/>
                </a:solidFill>
                <a:latin typeface="Quattrocento Sans"/>
                <a:ea typeface="Quattrocento Sans"/>
                <a:cs typeface="Quattrocento Sans"/>
                <a:sym typeface="Quattrocento Sans"/>
                <a:hlinkClick r:id="rId9">
                  <a:extLst>
                    <a:ext uri="{A12FA001-AC4F-418D-AE19-62706E023703}">
                      <ahyp:hlinkClr xmlns:ahyp="http://schemas.microsoft.com/office/drawing/2018/hyperlinkcolor" val="tx"/>
                    </a:ext>
                  </a:extLst>
                </a:hlinkClick>
              </a:rPr>
              <a:t>Vector3.up</a:t>
            </a:r>
            <a:r>
              <a:rPr lang="en-GB" dirty="0">
                <a:solidFill>
                  <a:schemeClr val="dk1"/>
                </a:solidFill>
                <a:latin typeface="Quattrocento Sans"/>
                <a:ea typeface="Quattrocento Sans"/>
                <a:cs typeface="Quattrocento Sans"/>
                <a:sym typeface="Quattrocento Sans"/>
              </a:rPr>
              <a:t>, -</a:t>
            </a:r>
            <a:r>
              <a:rPr lang="en-GB" dirty="0" err="1">
                <a:solidFill>
                  <a:schemeClr val="dk1"/>
                </a:solidFill>
                <a:latin typeface="Quattrocento Sans"/>
                <a:ea typeface="Quattrocento Sans"/>
                <a:cs typeface="Quattrocento Sans"/>
                <a:sym typeface="Quattrocento Sans"/>
              </a:rPr>
              <a:t>turnSpeed</a:t>
            </a:r>
            <a:r>
              <a:rPr lang="en-GB" dirty="0">
                <a:solidFill>
                  <a:schemeClr val="dk1"/>
                </a:solidFill>
                <a:latin typeface="Quattrocento Sans"/>
                <a:ea typeface="Quattrocento Sans"/>
                <a:cs typeface="Quattrocento Sans"/>
                <a:sym typeface="Quattrocento Sans"/>
              </a:rPr>
              <a:t> * </a:t>
            </a:r>
            <a:r>
              <a:rPr lang="en-GB" u="sng" dirty="0">
                <a:solidFill>
                  <a:schemeClr val="dk1"/>
                </a:solidFill>
                <a:latin typeface="Quattrocento Sans"/>
                <a:ea typeface="Quattrocento Sans"/>
                <a:cs typeface="Quattrocento Sans"/>
                <a:sym typeface="Quattrocento Sans"/>
                <a:hlinkClick r:id="rId6">
                  <a:extLst>
                    <a:ext uri="{A12FA001-AC4F-418D-AE19-62706E023703}">
                      <ahyp:hlinkClr xmlns:ahyp="http://schemas.microsoft.com/office/drawing/2018/hyperlinkcolor" val="tx"/>
                    </a:ext>
                  </a:extLst>
                </a:hlinkClick>
              </a:rPr>
              <a:t>Time.deltaTime</a:t>
            </a:r>
            <a:r>
              <a:rPr lang="en-GB" dirty="0">
                <a:solidFill>
                  <a:schemeClr val="dk1"/>
                </a:solidFill>
                <a:latin typeface="Quattrocento Sans"/>
                <a:ea typeface="Quattrocento Sans"/>
                <a:cs typeface="Quattrocento Sans"/>
                <a:sym typeface="Quattrocento Sans"/>
              </a:rPr>
              <a:t>);</a:t>
            </a:r>
            <a:br>
              <a:rPr lang="en-GB" dirty="0">
                <a:latin typeface="Quattrocento Sans"/>
                <a:ea typeface="Quattrocento Sans"/>
                <a:cs typeface="Quattrocento Sans"/>
              </a:rPr>
            </a:br>
            <a:r>
              <a:rPr lang="en-GB" dirty="0">
                <a:solidFill>
                  <a:schemeClr val="dk1"/>
                </a:solidFill>
                <a:latin typeface="Quattrocento Sans"/>
                <a:ea typeface="Quattrocento Sans"/>
                <a:cs typeface="Quattrocento Sans"/>
                <a:sym typeface="Quattrocento Sans"/>
              </a:rPr>
              <a:t>        </a:t>
            </a:r>
            <a:br>
              <a:rPr lang="en-GB" dirty="0">
                <a:latin typeface="Quattrocento Sans"/>
                <a:ea typeface="Quattrocento Sans"/>
                <a:cs typeface="Quattrocento Sans"/>
                <a:sym typeface="Quattrocento Sans"/>
              </a:rPr>
            </a:br>
            <a:r>
              <a:rPr lang="en-GB" dirty="0">
                <a:solidFill>
                  <a:schemeClr val="dk1"/>
                </a:solidFill>
                <a:latin typeface="Quattrocento Sans"/>
                <a:ea typeface="Quattrocento Sans"/>
                <a:cs typeface="Quattrocento Sans"/>
                <a:sym typeface="Quattrocento Sans"/>
              </a:rPr>
              <a:t>        if(</a:t>
            </a:r>
            <a:r>
              <a:rPr lang="en-GB" u="sng" dirty="0">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Input.GetKey</a:t>
            </a:r>
            <a:r>
              <a:rPr lang="en-GB" dirty="0">
                <a:solidFill>
                  <a:schemeClr val="dk1"/>
                </a:solidFill>
                <a:latin typeface="Quattrocento Sans"/>
                <a:ea typeface="Quattrocento Sans"/>
                <a:cs typeface="Quattrocento Sans"/>
                <a:sym typeface="Quattrocento Sans"/>
              </a:rPr>
              <a:t>(</a:t>
            </a:r>
            <a:r>
              <a:rPr lang="en-GB" u="sng" dirty="0">
                <a:solidFill>
                  <a:schemeClr val="dk1"/>
                </a:solidFill>
                <a:latin typeface="Quattrocento Sans"/>
                <a:ea typeface="Quattrocento Sans"/>
                <a:cs typeface="Quattrocento Sans"/>
                <a:sym typeface="Quattrocento Sans"/>
                <a:hlinkClick r:id="rId10">
                  <a:extLst>
                    <a:ext uri="{A12FA001-AC4F-418D-AE19-62706E023703}">
                      <ahyp:hlinkClr xmlns:ahyp="http://schemas.microsoft.com/office/drawing/2018/hyperlinkcolor" val="tx"/>
                    </a:ext>
                  </a:extLst>
                </a:hlinkClick>
              </a:rPr>
              <a:t>KeyCode.RightArrow</a:t>
            </a:r>
            <a:r>
              <a:rPr lang="en-GB" dirty="0">
                <a:solidFill>
                  <a:schemeClr val="dk1"/>
                </a:solidFill>
                <a:latin typeface="Quattrocento Sans"/>
                <a:ea typeface="Quattrocento Sans"/>
                <a:cs typeface="Quattrocento Sans"/>
                <a:sym typeface="Quattrocento Sans"/>
              </a:rPr>
              <a:t>))</a:t>
            </a:r>
            <a:br>
              <a:rPr lang="en-GB" dirty="0">
                <a:latin typeface="Quattrocento Sans"/>
                <a:ea typeface="Quattrocento Sans"/>
                <a:cs typeface="Quattrocento Sans"/>
              </a:rPr>
            </a:br>
            <a:r>
              <a:rPr lang="en-GB" dirty="0">
                <a:solidFill>
                  <a:schemeClr val="dk1"/>
                </a:solidFill>
                <a:latin typeface="Quattrocento Sans"/>
                <a:ea typeface="Quattrocento Sans"/>
                <a:cs typeface="Quattrocento Sans"/>
                <a:sym typeface="Quattrocento Sans"/>
              </a:rPr>
              <a:t>            </a:t>
            </a:r>
            <a:r>
              <a:rPr lang="en-GB" dirty="0" err="1">
                <a:solidFill>
                  <a:schemeClr val="dk1"/>
                </a:solidFill>
                <a:latin typeface="Quattrocento Sans"/>
                <a:ea typeface="Quattrocento Sans"/>
                <a:cs typeface="Quattrocento Sans"/>
                <a:sym typeface="Quattrocento Sans"/>
              </a:rPr>
              <a:t>transform.Rotate</a:t>
            </a:r>
            <a:r>
              <a:rPr lang="en-GB" dirty="0">
                <a:solidFill>
                  <a:schemeClr val="dk1"/>
                </a:solidFill>
                <a:latin typeface="Quattrocento Sans"/>
                <a:ea typeface="Quattrocento Sans"/>
                <a:cs typeface="Quattrocento Sans"/>
                <a:sym typeface="Quattrocento Sans"/>
              </a:rPr>
              <a:t>(</a:t>
            </a:r>
            <a:r>
              <a:rPr lang="en-GB" u="sng" dirty="0">
                <a:solidFill>
                  <a:schemeClr val="dk1"/>
                </a:solidFill>
                <a:latin typeface="Quattrocento Sans"/>
                <a:ea typeface="Quattrocento Sans"/>
                <a:cs typeface="Quattrocento Sans"/>
                <a:sym typeface="Quattrocento Sans"/>
                <a:hlinkClick r:id="rId9">
                  <a:extLst>
                    <a:ext uri="{A12FA001-AC4F-418D-AE19-62706E023703}">
                      <ahyp:hlinkClr xmlns:ahyp="http://schemas.microsoft.com/office/drawing/2018/hyperlinkcolor" val="tx"/>
                    </a:ext>
                  </a:extLst>
                </a:hlinkClick>
              </a:rPr>
              <a:t>Vector3.up</a:t>
            </a:r>
            <a:r>
              <a:rPr lang="en-GB" dirty="0">
                <a:solidFill>
                  <a:schemeClr val="dk1"/>
                </a:solidFill>
                <a:latin typeface="Quattrocento Sans"/>
                <a:ea typeface="Quattrocento Sans"/>
                <a:cs typeface="Quattrocento Sans"/>
                <a:sym typeface="Quattrocento Sans"/>
              </a:rPr>
              <a:t>, </a:t>
            </a:r>
            <a:r>
              <a:rPr lang="en-GB" dirty="0" err="1">
                <a:solidFill>
                  <a:schemeClr val="dk1"/>
                </a:solidFill>
                <a:latin typeface="Quattrocento Sans"/>
                <a:ea typeface="Quattrocento Sans"/>
                <a:cs typeface="Quattrocento Sans"/>
                <a:sym typeface="Quattrocento Sans"/>
              </a:rPr>
              <a:t>turnSpeed</a:t>
            </a:r>
            <a:r>
              <a:rPr lang="en-GB" dirty="0">
                <a:solidFill>
                  <a:schemeClr val="dk1"/>
                </a:solidFill>
                <a:latin typeface="Quattrocento Sans"/>
                <a:ea typeface="Quattrocento Sans"/>
                <a:cs typeface="Quattrocento Sans"/>
                <a:sym typeface="Quattrocento Sans"/>
              </a:rPr>
              <a:t> * </a:t>
            </a:r>
            <a:r>
              <a:rPr lang="en-GB" u="sng" dirty="0">
                <a:solidFill>
                  <a:schemeClr val="dk1"/>
                </a:solidFill>
                <a:latin typeface="Quattrocento Sans"/>
                <a:ea typeface="Quattrocento Sans"/>
                <a:cs typeface="Quattrocento Sans"/>
                <a:sym typeface="Quattrocento Sans"/>
                <a:hlinkClick r:id="rId6">
                  <a:extLst>
                    <a:ext uri="{A12FA001-AC4F-418D-AE19-62706E023703}">
                      <ahyp:hlinkClr xmlns:ahyp="http://schemas.microsoft.com/office/drawing/2018/hyperlinkcolor" val="tx"/>
                    </a:ext>
                  </a:extLst>
                </a:hlinkClick>
              </a:rPr>
              <a:t>Time.deltaTime</a:t>
            </a:r>
            <a:r>
              <a:rPr lang="en-GB" dirty="0">
                <a:solidFill>
                  <a:schemeClr val="dk1"/>
                </a:solidFill>
                <a:latin typeface="Quattrocento Sans"/>
                <a:ea typeface="Quattrocento Sans"/>
                <a:cs typeface="Quattrocento Sans"/>
                <a:sym typeface="Quattrocento Sans"/>
              </a:rPr>
              <a:t>);</a:t>
            </a:r>
            <a:br>
              <a:rPr lang="en-GB" dirty="0">
                <a:latin typeface="Quattrocento Sans"/>
                <a:ea typeface="Quattrocento Sans"/>
                <a:cs typeface="Quattrocento Sans"/>
              </a:rPr>
            </a:br>
            <a:r>
              <a:rPr lang="en-GB" dirty="0">
                <a:solidFill>
                  <a:schemeClr val="dk1"/>
                </a:solidFill>
                <a:latin typeface="Quattrocento Sans"/>
                <a:ea typeface="Quattrocento Sans"/>
                <a:cs typeface="Quattrocento Sans"/>
                <a:sym typeface="Quattrocento Sans"/>
              </a:rPr>
              <a:t>    }</a:t>
            </a:r>
            <a:br>
              <a:rPr lang="en-GB" dirty="0">
                <a:latin typeface="Quattrocento Sans"/>
                <a:ea typeface="Quattrocento Sans"/>
                <a:cs typeface="Quattrocento Sans"/>
              </a:rPr>
            </a:br>
            <a:r>
              <a:rPr lang="en-GB" dirty="0">
                <a:solidFill>
                  <a:schemeClr val="dk1"/>
                </a:solidFill>
                <a:latin typeface="Quattrocento Sans"/>
                <a:ea typeface="Quattrocento Sans"/>
                <a:cs typeface="Quattrocento Sans"/>
                <a:sym typeface="Quattrocento Sans"/>
              </a:rPr>
              <a:t>}</a:t>
            </a:r>
            <a:endParaRPr dirty="0">
              <a:solidFill>
                <a:schemeClr val="dk1"/>
              </a:solidFill>
              <a:latin typeface="Quattrocento Sans"/>
              <a:ea typeface="Quattrocento Sans"/>
              <a:cs typeface="Quattrocento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70" name="Google Shape;170;p19"/>
          <p:cNvSpPr txBox="1"/>
          <p:nvPr/>
        </p:nvSpPr>
        <p:spPr>
          <a:xfrm>
            <a:off x="609600" y="1421654"/>
            <a:ext cx="10890600" cy="524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Scripted Movement </a:t>
            </a:r>
            <a:r>
              <a:rPr lang="en-GB" sz="3600" b="1">
                <a:solidFill>
                  <a:srgbClr val="FFFFFF"/>
                </a:solidFill>
                <a:latin typeface="Quattrocento Sans"/>
                <a:ea typeface="Quattrocento Sans"/>
                <a:cs typeface="Quattrocento Sans"/>
                <a:sym typeface="Quattrocento Sans"/>
              </a:rPr>
              <a:t>(Not Animation Trigger)</a:t>
            </a:r>
            <a:endParaRPr>
              <a:solidFill>
                <a:srgbClr val="FFFFFF"/>
              </a:solidFill>
            </a:endParaRPr>
          </a:p>
          <a:p>
            <a:pPr marL="0" marR="0" lvl="0" indent="0" algn="l" rtl="0">
              <a:spcBef>
                <a:spcPts val="0"/>
              </a:spcBef>
              <a:spcAft>
                <a:spcPts val="0"/>
              </a:spcAft>
              <a:buNone/>
            </a:pPr>
            <a:r>
              <a:rPr lang="en-GB" sz="1800" b="1" u="sng">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https://unity3d.com/learn/tutorials/topics/scripting/translate-and-rotate?playlist=17117</a:t>
            </a: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3500" b="1">
                <a:solidFill>
                  <a:srgbClr val="FFFF00"/>
                </a:solidFill>
                <a:latin typeface="Quattrocento Sans"/>
                <a:ea typeface="Quattrocento Sans"/>
                <a:cs typeface="Quattrocento Sans"/>
                <a:sym typeface="Quattrocento Sans"/>
              </a:rPr>
              <a:t>Time Delta Time </a:t>
            </a:r>
            <a:endParaRPr sz="1300"/>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a float value for the amount of time (in ms) since the last frame was drawn to the screen. By knowing this, you have an exact reading for how far each object in the game should have moved since the frame was presented.</a:t>
            </a:r>
            <a:endParaRPr sz="35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Multiplying all movement values by Time.DeltaTime smooths out any inconsistencies. </a:t>
            </a:r>
            <a:endParaRPr sz="23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300" b="1" i="1">
                <a:solidFill>
                  <a:srgbClr val="FFFF00"/>
                </a:solidFill>
                <a:latin typeface="Quattrocento Sans"/>
                <a:ea typeface="Quattrocento Sans"/>
                <a:cs typeface="Quattrocento Sans"/>
                <a:sym typeface="Quattrocento Sans"/>
              </a:rPr>
              <a:t>What it's for:</a:t>
            </a:r>
            <a:endParaRPr sz="1300"/>
          </a:p>
          <a:p>
            <a:pPr marL="342900" marR="0" lvl="0" indent="-336550" algn="l" rtl="0">
              <a:spcBef>
                <a:spcPts val="0"/>
              </a:spcBef>
              <a:spcAft>
                <a:spcPts val="0"/>
              </a:spcAft>
              <a:buClr>
                <a:srgbClr val="FFFF00"/>
              </a:buClr>
              <a:buSzPts val="1700"/>
              <a:buFont typeface="Quattrocento Sans"/>
              <a:buAutoNum type="arabicPeriod"/>
            </a:pPr>
            <a:r>
              <a:rPr lang="en-GB" sz="1700" b="1">
                <a:solidFill>
                  <a:srgbClr val="FFFF00"/>
                </a:solidFill>
                <a:latin typeface="Quattrocento Sans"/>
                <a:ea typeface="Quattrocento Sans"/>
                <a:cs typeface="Quattrocento Sans"/>
                <a:sym typeface="Quattrocento Sans"/>
              </a:rPr>
              <a:t>Changing values to be based on seconds rather than based on frames.</a:t>
            </a:r>
            <a:endParaRPr sz="1300"/>
          </a:p>
          <a:p>
            <a:pPr marL="342900" marR="0" lvl="0" indent="-336550" algn="l" rtl="0">
              <a:spcBef>
                <a:spcPts val="0"/>
              </a:spcBef>
              <a:spcAft>
                <a:spcPts val="0"/>
              </a:spcAft>
              <a:buClr>
                <a:srgbClr val="FFFF00"/>
              </a:buClr>
              <a:buSzPts val="1700"/>
              <a:buFont typeface="Quattrocento Sans"/>
              <a:buAutoNum type="arabicPeriod"/>
            </a:pPr>
            <a:r>
              <a:rPr lang="en-GB" sz="1700" b="1">
                <a:solidFill>
                  <a:srgbClr val="FFFF00"/>
                </a:solidFill>
                <a:latin typeface="Quattrocento Sans"/>
                <a:ea typeface="Quattrocento Sans"/>
                <a:cs typeface="Quattrocento Sans"/>
                <a:sym typeface="Quattrocento Sans"/>
              </a:rPr>
              <a:t>Multiply by Speed variable to alter it programmatically</a:t>
            </a:r>
            <a:endParaRPr sz="1300"/>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//Move right by the value of "speed" every frame</a:t>
            </a:r>
            <a:endParaRPr sz="1300"/>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transform.position += Vector3.right * speed;</a:t>
            </a:r>
            <a:endParaRPr sz="1300"/>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//Move right by the value of "speed" every second</a:t>
            </a:r>
            <a:endParaRPr sz="1300"/>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transform.position += Vector3.right * speed * Time.deltaTime;</a:t>
            </a:r>
            <a:endParaRPr sz="1300"/>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In general, you probably want to set things up based on time rather than frames, as time is constant and framerates are not. If you drop frames, it won't affect timing of elements.</a:t>
            </a:r>
            <a:endParaRPr sz="1300"/>
          </a:p>
          <a:p>
            <a:pPr marL="0" marR="0" lvl="0" indent="0" algn="l" rtl="0">
              <a:spcBef>
                <a:spcPts val="0"/>
              </a:spcBef>
              <a:spcAft>
                <a:spcPts val="0"/>
              </a:spcAft>
              <a:buNone/>
            </a:pPr>
            <a:endParaRPr sz="18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177" name="Google Shape;177;p20"/>
          <p:cNvSpPr txBox="1"/>
          <p:nvPr/>
        </p:nvSpPr>
        <p:spPr>
          <a:xfrm>
            <a:off x="609600" y="1293507"/>
            <a:ext cx="11105700" cy="5156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rgbClr val="FFFF00"/>
                </a:solidFill>
                <a:latin typeface="Quattrocento Sans"/>
                <a:ea typeface="Quattrocento Sans"/>
                <a:cs typeface="Quattrocento Sans"/>
                <a:sym typeface="Quattrocento Sans"/>
              </a:rPr>
              <a:t>More C# and Unity3D</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Update vs. Fixed Update, Forces and Physics, Colliders and Gravity</a:t>
            </a:r>
            <a:endParaRPr/>
          </a:p>
          <a:p>
            <a:pPr marL="0" marR="0" lvl="0" indent="0" algn="l" rtl="0">
              <a:spcBef>
                <a:spcPts val="0"/>
              </a:spcBef>
              <a:spcAft>
                <a:spcPts val="0"/>
              </a:spcAft>
              <a:buNone/>
            </a:pPr>
            <a:endParaRPr sz="18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900" b="1">
                <a:solidFill>
                  <a:srgbClr val="FFFF00"/>
                </a:solidFill>
                <a:latin typeface="Quattrocento Sans"/>
                <a:ea typeface="Quattrocento Sans"/>
                <a:cs typeface="Quattrocento Sans"/>
                <a:sym typeface="Quattrocento Sans"/>
              </a:rPr>
              <a:t>Update</a:t>
            </a:r>
            <a:endParaRPr sz="1300"/>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Update is called once per frame, so if the game is running at 24 fps, then this will be called 24 times in a second.</a:t>
            </a:r>
            <a:endParaRPr sz="1300"/>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As we know game never run at constant frame rate because of several reason, so update will not be called on a </a:t>
            </a:r>
            <a:endParaRPr sz="1300"/>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regular timeline, means the time between update calls may be different.</a:t>
            </a:r>
            <a:endParaRPr sz="1300"/>
          </a:p>
          <a:p>
            <a:pPr marL="285750" marR="0" lvl="0" indent="-279400" algn="l" rtl="0">
              <a:spcBef>
                <a:spcPts val="0"/>
              </a:spcBef>
              <a:spcAft>
                <a:spcPts val="0"/>
              </a:spcAft>
              <a:buClr>
                <a:schemeClr val="dk1"/>
              </a:buClr>
              <a:buSzPts val="1700"/>
              <a:buFont typeface="Arial"/>
              <a:buChar char="•"/>
            </a:pPr>
            <a:r>
              <a:rPr lang="en-GB" sz="1700">
                <a:solidFill>
                  <a:schemeClr val="dk1"/>
                </a:solidFill>
                <a:latin typeface="Quattrocento Sans"/>
                <a:ea typeface="Quattrocento Sans"/>
                <a:cs typeface="Quattrocento Sans"/>
                <a:sym typeface="Quattrocento Sans"/>
              </a:rPr>
              <a:t>Update is used for moving non physics objects.</a:t>
            </a:r>
            <a:endParaRPr sz="1300"/>
          </a:p>
          <a:p>
            <a:pPr marL="285750" marR="0" lvl="0" indent="-279400" algn="l" rtl="0">
              <a:spcBef>
                <a:spcPts val="0"/>
              </a:spcBef>
              <a:spcAft>
                <a:spcPts val="0"/>
              </a:spcAft>
              <a:buClr>
                <a:schemeClr val="dk1"/>
              </a:buClr>
              <a:buSzPts val="1700"/>
              <a:buFont typeface="Arial"/>
              <a:buChar char="•"/>
            </a:pPr>
            <a:r>
              <a:rPr lang="en-GB" sz="1700">
                <a:solidFill>
                  <a:schemeClr val="dk1"/>
                </a:solidFill>
                <a:latin typeface="Quattrocento Sans"/>
                <a:ea typeface="Quattrocento Sans"/>
                <a:cs typeface="Quattrocento Sans"/>
                <a:sym typeface="Quattrocento Sans"/>
              </a:rPr>
              <a:t>Update is used for receiving Input.</a:t>
            </a:r>
            <a:endParaRPr sz="1300"/>
          </a:p>
          <a:p>
            <a:pPr marL="285750" marR="0" lvl="0" indent="-279400" algn="l" rtl="0">
              <a:spcBef>
                <a:spcPts val="0"/>
              </a:spcBef>
              <a:spcAft>
                <a:spcPts val="0"/>
              </a:spcAft>
              <a:buClr>
                <a:schemeClr val="dk1"/>
              </a:buClr>
              <a:buSzPts val="1700"/>
              <a:buFont typeface="Arial"/>
              <a:buChar char="•"/>
            </a:pPr>
            <a:r>
              <a:rPr lang="en-GB" sz="1700">
                <a:solidFill>
                  <a:schemeClr val="dk1"/>
                </a:solidFill>
                <a:latin typeface="Quattrocento Sans"/>
                <a:ea typeface="Quattrocento Sans"/>
                <a:cs typeface="Quattrocento Sans"/>
                <a:sym typeface="Quattrocento Sans"/>
              </a:rPr>
              <a:t>Update is used for simple timer.</a:t>
            </a:r>
            <a:endParaRPr sz="1300"/>
          </a:p>
          <a:p>
            <a:pPr marL="0" marR="0" lvl="0" indent="0" algn="l" rtl="0">
              <a:spcBef>
                <a:spcPts val="0"/>
              </a:spcBef>
              <a:spcAft>
                <a:spcPts val="0"/>
              </a:spcAft>
              <a:buNone/>
            </a:pPr>
            <a:endParaRPr sz="23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900" b="1">
                <a:solidFill>
                  <a:srgbClr val="FFFF00"/>
                </a:solidFill>
                <a:latin typeface="Quattrocento Sans"/>
                <a:ea typeface="Quattrocento Sans"/>
                <a:cs typeface="Quattrocento Sans"/>
                <a:sym typeface="Quattrocento Sans"/>
              </a:rPr>
              <a:t>FixedUpdate</a:t>
            </a:r>
            <a:endParaRPr sz="19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As it name suggests this will be called after fixed time duration, so time duration between two consecutive calls is </a:t>
            </a:r>
            <a:endParaRPr sz="1300"/>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always same unlike of Update where this may vary.</a:t>
            </a:r>
            <a:endParaRPr sz="1300"/>
          </a:p>
          <a:p>
            <a:pPr marL="0" marR="0" lvl="0" indent="0" algn="l" rtl="0">
              <a:spcBef>
                <a:spcPts val="0"/>
              </a:spcBef>
              <a:spcAft>
                <a:spcPts val="0"/>
              </a:spcAft>
              <a:buNone/>
            </a:pPr>
            <a:endParaRPr sz="17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This is commonly used for performing physics related task, like applying force on rigidbody.</a:t>
            </a:r>
            <a:endParaRPr sz="32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184" name="Google Shape;184;p21"/>
          <p:cNvSpPr txBox="1"/>
          <p:nvPr/>
        </p:nvSpPr>
        <p:spPr>
          <a:xfrm>
            <a:off x="609600" y="1293507"/>
            <a:ext cx="11590500" cy="55553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dirty="0" err="1">
                <a:solidFill>
                  <a:srgbClr val="FFFF00"/>
                </a:solidFill>
                <a:latin typeface="Quattrocento Sans"/>
                <a:ea typeface="Quattrocento Sans"/>
                <a:cs typeface="Quattrocento Sans"/>
                <a:sym typeface="Quattrocento Sans"/>
              </a:rPr>
              <a:t>TimeDeltaTime</a:t>
            </a:r>
            <a:r>
              <a:rPr lang="en-GB" sz="3200" b="1" dirty="0">
                <a:solidFill>
                  <a:srgbClr val="FFFF00"/>
                </a:solidFill>
                <a:latin typeface="Quattrocento Sans"/>
                <a:ea typeface="Quattrocento Sans"/>
                <a:cs typeface="Quattrocento Sans"/>
                <a:sym typeface="Quattrocento Sans"/>
              </a:rPr>
              <a:t>, Speed, Velocity:</a:t>
            </a:r>
            <a:endParaRPr dirty="0"/>
          </a:p>
          <a:p>
            <a:endParaRPr lang="en-GB" sz="3200" b="1" dirty="0">
              <a:solidFill>
                <a:srgbClr val="FFFF00"/>
              </a:solidFill>
              <a:latin typeface="Quattrocento Sans"/>
              <a:ea typeface="Quattrocento Sans"/>
              <a:cs typeface="Quattrocento Sans"/>
              <a:sym typeface="Quattrocento Sans"/>
            </a:endParaRPr>
          </a:p>
          <a:p>
            <a:r>
              <a:rPr lang="en-GB" sz="2400" b="1" err="1">
                <a:solidFill>
                  <a:srgbClr val="FFFF00"/>
                </a:solidFill>
                <a:latin typeface="Quattrocento Sans"/>
                <a:ea typeface="Quattrocento Sans"/>
                <a:cs typeface="Quattrocento Sans"/>
                <a:sym typeface="Quattrocento Sans"/>
              </a:rPr>
              <a:t>Time.deltaTime</a:t>
            </a:r>
            <a:r>
              <a:rPr lang="en-GB" sz="2400" b="1" dirty="0">
                <a:solidFill>
                  <a:srgbClr val="FFFF00"/>
                </a:solidFill>
                <a:latin typeface="Quattrocento Sans"/>
                <a:ea typeface="Quattrocento Sans"/>
                <a:cs typeface="Quattrocento Sans"/>
                <a:sym typeface="Quattrocento Sans"/>
              </a:rPr>
              <a:t> </a:t>
            </a:r>
            <a:r>
              <a:rPr lang="en-GB" sz="2000" b="1" dirty="0">
                <a:solidFill>
                  <a:srgbClr val="00B0F0"/>
                </a:solidFill>
                <a:latin typeface="Quattrocento Sans"/>
                <a:ea typeface="Quattrocento Sans"/>
                <a:cs typeface="Quattrocento Sans"/>
                <a:sym typeface="Quattrocento Sans"/>
              </a:rPr>
              <a:t>(</a:t>
            </a:r>
            <a:r>
              <a:rPr lang="en-GB" sz="2000" dirty="0">
                <a:solidFill>
                  <a:srgbClr val="00B0F0"/>
                </a:solidFill>
                <a:latin typeface="Quattrocento Sans"/>
                <a:ea typeface="Quattrocento Sans"/>
                <a:cs typeface="Quattrocento Sans"/>
                <a:sym typeface="Quattrocento Sans"/>
              </a:rPr>
              <a:t>dynamic and kinematic </a:t>
            </a:r>
            <a:r>
              <a:rPr lang="en-GB" sz="2000" err="1">
                <a:solidFill>
                  <a:srgbClr val="00B0F0"/>
                </a:solidFill>
                <a:latin typeface="Quattrocento Sans"/>
                <a:ea typeface="Quattrocento Sans"/>
                <a:cs typeface="Quattrocento Sans"/>
                <a:sym typeface="Quattrocento Sans"/>
              </a:rPr>
              <a:t>rigidbodies</a:t>
            </a:r>
            <a:r>
              <a:rPr lang="en-GB" sz="2000" dirty="0">
                <a:solidFill>
                  <a:srgbClr val="00B0F0"/>
                </a:solidFill>
                <a:latin typeface="Quattrocento Sans"/>
                <a:ea typeface="Quattrocento Sans"/>
                <a:cs typeface="Quattrocento Sans"/>
                <a:sym typeface="Quattrocento Sans"/>
              </a:rPr>
              <a:t>)</a:t>
            </a:r>
            <a:endParaRPr dirty="0">
              <a:solidFill>
                <a:srgbClr val="00B0F0"/>
              </a:solidFill>
            </a:endParaRPr>
          </a:p>
          <a:p>
            <a:r>
              <a:rPr lang="en-GB" sz="1800" i="1" dirty="0">
                <a:solidFill>
                  <a:srgbClr val="FFFF00"/>
                </a:solidFill>
                <a:latin typeface="Quattrocento Sans"/>
                <a:sym typeface="Quattrocento Sans"/>
              </a:rPr>
              <a:t>Kinematic </a:t>
            </a:r>
            <a:r>
              <a:rPr lang="en-GB" sz="1800" i="1" err="1">
                <a:solidFill>
                  <a:srgbClr val="FFFF00"/>
                </a:solidFill>
                <a:latin typeface="Quattrocento Sans"/>
                <a:sym typeface="Quattrocento Sans"/>
              </a:rPr>
              <a:t>rigidbodies</a:t>
            </a:r>
            <a:r>
              <a:rPr lang="en-GB" sz="1800" i="1" dirty="0">
                <a:solidFill>
                  <a:srgbClr val="FFFF00"/>
                </a:solidFill>
                <a:latin typeface="Quattrocento Sans"/>
                <a:sym typeface="Quattrocento Sans"/>
              </a:rPr>
              <a:t> are unaffected by physics, so they cannot have a velocity because that is in the realm of physics. Use </a:t>
            </a:r>
            <a:r>
              <a:rPr lang="en-GB" sz="1800" i="1" err="1">
                <a:solidFill>
                  <a:srgbClr val="FFFF00"/>
                </a:solidFill>
                <a:latin typeface="Quattrocento Sans"/>
                <a:sym typeface="Quattrocento Sans"/>
              </a:rPr>
              <a:t>transform.Translate</a:t>
            </a:r>
            <a:r>
              <a:rPr lang="en-GB" sz="1800" i="1" dirty="0">
                <a:solidFill>
                  <a:srgbClr val="FFFF00"/>
                </a:solidFill>
                <a:latin typeface="Quattrocento Sans"/>
                <a:sym typeface="Quattrocento Sans"/>
              </a:rPr>
              <a:t> instead.</a:t>
            </a:r>
            <a:endParaRPr lang="en-GB" sz="1800" dirty="0">
              <a:sym typeface="Quattrocento Sans"/>
            </a:endParaRPr>
          </a:p>
          <a:p>
            <a:endParaRPr lang="en-GB" sz="2000" i="1" dirty="0">
              <a:solidFill>
                <a:srgbClr val="FFFF00"/>
              </a:solidFill>
              <a:latin typeface="Quattrocento Sans"/>
              <a:sym typeface="Quattrocento Sans"/>
            </a:endParaRPr>
          </a:p>
          <a:p>
            <a:r>
              <a:rPr lang="en-GB" sz="1800" err="1">
                <a:solidFill>
                  <a:schemeClr val="dk1"/>
                </a:solidFill>
                <a:latin typeface="Quattrocento Sans"/>
                <a:sym typeface="Quattrocento Sans"/>
              </a:rPr>
              <a:t>transform.Translate</a:t>
            </a:r>
            <a:r>
              <a:rPr lang="en-GB" sz="1800">
                <a:solidFill>
                  <a:schemeClr val="dk1"/>
                </a:solidFill>
                <a:latin typeface="Quattrocento Sans"/>
                <a:sym typeface="Quattrocento Sans"/>
              </a:rPr>
              <a:t>(0, 0, 5 * </a:t>
            </a:r>
            <a:r>
              <a:rPr lang="en-GB" sz="1800" err="1">
                <a:solidFill>
                  <a:schemeClr val="dk1"/>
                </a:solidFill>
                <a:latin typeface="Quattrocento Sans"/>
                <a:sym typeface="Quattrocento Sans"/>
              </a:rPr>
              <a:t>Time.deltaTime</a:t>
            </a:r>
            <a:r>
              <a:rPr lang="en-GB" sz="1800">
                <a:solidFill>
                  <a:schemeClr val="dk1"/>
                </a:solidFill>
                <a:latin typeface="Quattrocento Sans"/>
                <a:sym typeface="Quattrocento Sans"/>
              </a:rPr>
              <a:t>);</a:t>
            </a:r>
            <a:endParaRPr lang="en-US" sz="1800">
              <a:solidFill>
                <a:schemeClr val="dk1"/>
              </a:solidFill>
              <a:latin typeface="Quattrocento Sans"/>
            </a:endParaRPr>
          </a:p>
          <a:p>
            <a:r>
              <a:rPr lang="en-GB" sz="1800" err="1">
                <a:solidFill>
                  <a:schemeClr val="dk1"/>
                </a:solidFill>
                <a:latin typeface="Quattrocento Sans"/>
                <a:sym typeface="Quattrocento Sans"/>
              </a:rPr>
              <a:t>transform.Translate</a:t>
            </a:r>
            <a:r>
              <a:rPr lang="en-GB" sz="1800">
                <a:solidFill>
                  <a:schemeClr val="dk1"/>
                </a:solidFill>
                <a:latin typeface="Quattrocento Sans"/>
                <a:sym typeface="Quattrocento Sans"/>
              </a:rPr>
              <a:t>(Vector3.forward * </a:t>
            </a:r>
            <a:r>
              <a:rPr lang="en-GB" sz="1800" err="1">
                <a:solidFill>
                  <a:schemeClr val="dk1"/>
                </a:solidFill>
                <a:latin typeface="Quattrocento Sans"/>
                <a:sym typeface="Quattrocento Sans"/>
              </a:rPr>
              <a:t>Time.deltaTime</a:t>
            </a:r>
            <a:r>
              <a:rPr lang="en-GB" sz="1800">
                <a:solidFill>
                  <a:schemeClr val="dk1"/>
                </a:solidFill>
                <a:latin typeface="Quattrocento Sans"/>
                <a:sym typeface="Quattrocento Sans"/>
              </a:rPr>
              <a:t>*5, </a:t>
            </a:r>
            <a:r>
              <a:rPr lang="en-GB" sz="1800" err="1">
                <a:solidFill>
                  <a:schemeClr val="dk1"/>
                </a:solidFill>
                <a:latin typeface="Quattrocento Sans"/>
                <a:sym typeface="Quattrocento Sans"/>
              </a:rPr>
              <a:t>Space.World</a:t>
            </a:r>
            <a:r>
              <a:rPr lang="en-GB" sz="1800">
                <a:solidFill>
                  <a:schemeClr val="dk1"/>
                </a:solidFill>
                <a:latin typeface="Quattrocento Sans"/>
                <a:sym typeface="Quattrocento Sans"/>
              </a:rPr>
              <a:t>);</a:t>
            </a:r>
            <a:endParaRPr lang="en-US" sz="1800">
              <a:solidFill>
                <a:schemeClr val="dk1"/>
              </a:solidFill>
              <a:latin typeface="Quattrocento Sans"/>
            </a:endParaRPr>
          </a:p>
          <a:p>
            <a:r>
              <a:rPr lang="en-GB" sz="1800" err="1">
                <a:solidFill>
                  <a:schemeClr val="dk1"/>
                </a:solidFill>
                <a:latin typeface="Quattrocento Sans"/>
                <a:sym typeface="Quattrocento Sans"/>
              </a:rPr>
              <a:t>transform.position</a:t>
            </a:r>
            <a:r>
              <a:rPr lang="en-GB" sz="1800">
                <a:solidFill>
                  <a:schemeClr val="dk1"/>
                </a:solidFill>
                <a:latin typeface="Quattrocento Sans"/>
                <a:sym typeface="Quattrocento Sans"/>
              </a:rPr>
              <a:t> = Vector3.Lerp(</a:t>
            </a:r>
            <a:r>
              <a:rPr lang="en-GB" sz="1800" err="1">
                <a:solidFill>
                  <a:schemeClr val="dk1"/>
                </a:solidFill>
                <a:latin typeface="Quattrocento Sans"/>
                <a:sym typeface="Quattrocento Sans"/>
              </a:rPr>
              <a:t>transform.position</a:t>
            </a:r>
            <a:r>
              <a:rPr lang="en-GB" sz="1800">
                <a:solidFill>
                  <a:schemeClr val="dk1"/>
                </a:solidFill>
                <a:latin typeface="Quattrocento Sans"/>
                <a:sym typeface="Quattrocento Sans"/>
              </a:rPr>
              <a:t>, </a:t>
            </a:r>
            <a:r>
              <a:rPr lang="en-GB" sz="1800" err="1">
                <a:solidFill>
                  <a:schemeClr val="dk1"/>
                </a:solidFill>
                <a:latin typeface="Quattrocento Sans"/>
                <a:sym typeface="Quattrocento Sans"/>
              </a:rPr>
              <a:t>target.position</a:t>
            </a:r>
            <a:r>
              <a:rPr lang="en-GB" sz="1800">
                <a:solidFill>
                  <a:schemeClr val="dk1"/>
                </a:solidFill>
                <a:latin typeface="Quattrocento Sans"/>
                <a:sym typeface="Quattrocento Sans"/>
              </a:rPr>
              <a:t>, </a:t>
            </a:r>
            <a:r>
              <a:rPr lang="en-GB" sz="1800" err="1">
                <a:solidFill>
                  <a:schemeClr val="dk1"/>
                </a:solidFill>
                <a:latin typeface="Quattrocento Sans"/>
                <a:sym typeface="Quattrocento Sans"/>
              </a:rPr>
              <a:t>Time.deltaTime</a:t>
            </a:r>
            <a:r>
              <a:rPr lang="en-GB" sz="1800">
                <a:solidFill>
                  <a:schemeClr val="dk1"/>
                </a:solidFill>
                <a:latin typeface="Quattrocento Sans"/>
                <a:sym typeface="Quattrocento Sans"/>
              </a:rPr>
              <a:t>);</a:t>
            </a:r>
            <a:endParaRPr lang="en-US" sz="1800">
              <a:solidFill>
                <a:schemeClr val="dk1"/>
              </a:solidFill>
              <a:latin typeface="Quattrocento Sans"/>
            </a:endParaRPr>
          </a:p>
          <a:p>
            <a:r>
              <a:rPr lang="en-GB" sz="1100" b="1" dirty="0">
                <a:solidFill>
                  <a:srgbClr val="558ED5"/>
                </a:solidFill>
                <a:latin typeface="Quattrocento Sans"/>
                <a:sym typeface="Quattrocento Sans"/>
                <a:hlinkClick r:id="rId3">
                  <a:extLst>
                    <a:ext uri="{A12FA001-AC4F-418D-AE19-62706E023703}">
                      <ahyp:hlinkClr xmlns:ahyp="http://schemas.microsoft.com/office/drawing/2018/hyperlinkcolor" val="tx"/>
                    </a:ext>
                  </a:extLst>
                </a:hlinkClick>
              </a:rPr>
              <a:t>https://chicounity3d.wordpress.com/2014/05/23/how-to-lerp-like-a-pro/</a:t>
            </a:r>
            <a:endParaRPr lang="en-GB" sz="1100"/>
          </a:p>
          <a:p>
            <a:endParaRPr lang="en-GB" sz="2000" b="1" dirty="0">
              <a:solidFill>
                <a:srgbClr val="558ED5"/>
              </a:solidFill>
              <a:ea typeface="Quattrocento Sans"/>
              <a:sym typeface="Quattrocento Sans"/>
            </a:endParaRPr>
          </a:p>
          <a:p>
            <a:r>
              <a:rPr lang="en-GB" sz="1800" dirty="0">
                <a:solidFill>
                  <a:schemeClr val="dk1"/>
                </a:solidFill>
                <a:latin typeface="Quattrocento Sans"/>
                <a:ea typeface="Quattrocento Sans"/>
                <a:cs typeface="Quattrocento Sans"/>
                <a:sym typeface="Quattrocento Sans"/>
              </a:rPr>
              <a:t>You must always use </a:t>
            </a:r>
            <a:r>
              <a:rPr lang="en-GB" sz="1800" dirty="0" err="1">
                <a:solidFill>
                  <a:schemeClr val="dk1"/>
                </a:solidFill>
                <a:latin typeface="Quattrocento Sans"/>
                <a:ea typeface="Quattrocento Sans"/>
                <a:cs typeface="Quattrocento Sans"/>
                <a:sym typeface="Quattrocento Sans"/>
              </a:rPr>
              <a:t>Time.deltaTime</a:t>
            </a:r>
            <a:r>
              <a:rPr lang="en-GB" sz="1800" dirty="0">
                <a:solidFill>
                  <a:schemeClr val="dk1"/>
                </a:solidFill>
                <a:latin typeface="Quattrocento Sans"/>
                <a:ea typeface="Quattrocento Sans"/>
                <a:cs typeface="Quattrocento Sans"/>
                <a:sym typeface="Quattrocento Sans"/>
              </a:rPr>
              <a:t> when moving objects over time (same speed whatever framerate), </a:t>
            </a:r>
            <a:endParaRPr lang="en-GB">
              <a:ea typeface="Quattrocento Sans"/>
              <a:sym typeface="Quattrocento Sans"/>
            </a:endParaRPr>
          </a:p>
          <a:p>
            <a:pPr marL="0" marR="0" lvl="0" indent="0" algn="l" rtl="0">
              <a:spcBef>
                <a:spcPts val="0"/>
              </a:spcBef>
              <a:spcAft>
                <a:spcPts val="0"/>
              </a:spcAft>
              <a:buNone/>
            </a:pPr>
            <a:r>
              <a:rPr lang="en-GB" sz="1800" dirty="0">
                <a:solidFill>
                  <a:srgbClr val="FF0000"/>
                </a:solidFill>
                <a:latin typeface="Quattrocento Sans"/>
                <a:ea typeface="Quattrocento Sans"/>
                <a:cs typeface="Quattrocento Sans"/>
                <a:sym typeface="Quattrocento Sans"/>
              </a:rPr>
              <a:t>But you must never use </a:t>
            </a:r>
            <a:r>
              <a:rPr lang="en-GB" sz="1800" err="1">
                <a:solidFill>
                  <a:srgbClr val="FF0000"/>
                </a:solidFill>
                <a:latin typeface="Quattrocento Sans"/>
                <a:ea typeface="Quattrocento Sans"/>
                <a:cs typeface="Quattrocento Sans"/>
                <a:sym typeface="Quattrocento Sans"/>
              </a:rPr>
              <a:t>Time.deltaTime</a:t>
            </a:r>
            <a:r>
              <a:rPr lang="en-GB" sz="1800" dirty="0">
                <a:solidFill>
                  <a:srgbClr val="FF0000"/>
                </a:solidFill>
                <a:latin typeface="Quattrocento Sans"/>
                <a:ea typeface="Quattrocento Sans"/>
                <a:cs typeface="Quattrocento Sans"/>
                <a:sym typeface="Quattrocento Sans"/>
              </a:rPr>
              <a:t> for input that's already framerate-independent, such as mouse movement. </a:t>
            </a:r>
            <a:endParaRPr>
              <a:solidFill>
                <a:srgbClr val="FF0000"/>
              </a:solidFill>
            </a:endParaRPr>
          </a:p>
          <a:p>
            <a:pPr marL="0" marR="0" lvl="0" indent="0" algn="l" rtl="0">
              <a:spcBef>
                <a:spcPts val="0"/>
              </a:spcBef>
              <a:spcAft>
                <a:spcPts val="0"/>
              </a:spcAft>
              <a:buNone/>
            </a:pPr>
            <a:endParaRPr sz="20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dirty="0">
                <a:solidFill>
                  <a:srgbClr val="FFFF00"/>
                </a:solidFill>
                <a:latin typeface="Quattrocento Sans"/>
                <a:ea typeface="Quattrocento Sans"/>
                <a:cs typeface="Quattrocento Sans"/>
                <a:sym typeface="Quattrocento Sans"/>
              </a:rPr>
              <a:t>Velocity </a:t>
            </a:r>
            <a:r>
              <a:rPr lang="en-GB" sz="2000" b="1" dirty="0">
                <a:solidFill>
                  <a:srgbClr val="00B0F0"/>
                </a:solidFill>
                <a:latin typeface="Quattrocento Sans"/>
                <a:ea typeface="Quattrocento Sans"/>
                <a:cs typeface="Quattrocento Sans"/>
                <a:sym typeface="Quattrocento Sans"/>
              </a:rPr>
              <a:t>(</a:t>
            </a:r>
            <a:r>
              <a:rPr lang="en-GB" sz="2000" dirty="0">
                <a:solidFill>
                  <a:srgbClr val="00B0F0"/>
                </a:solidFill>
                <a:latin typeface="Quattrocento Sans"/>
                <a:ea typeface="Quattrocento Sans"/>
                <a:cs typeface="Quattrocento Sans"/>
                <a:sym typeface="Quattrocento Sans"/>
              </a:rPr>
              <a:t>non-kinematic </a:t>
            </a:r>
            <a:r>
              <a:rPr lang="en-GB" sz="2000" err="1">
                <a:solidFill>
                  <a:srgbClr val="00B0F0"/>
                </a:solidFill>
                <a:latin typeface="Quattrocento Sans"/>
                <a:ea typeface="Quattrocento Sans"/>
                <a:cs typeface="Quattrocento Sans"/>
                <a:sym typeface="Quattrocento Sans"/>
              </a:rPr>
              <a:t>Rigidbodies</a:t>
            </a:r>
            <a:r>
              <a:rPr lang="en-GB" sz="2000" dirty="0">
                <a:solidFill>
                  <a:srgbClr val="00B0F0"/>
                </a:solidFill>
                <a:latin typeface="Quattrocento Sans"/>
                <a:ea typeface="Quattrocento Sans"/>
                <a:cs typeface="Quattrocento Sans"/>
                <a:sym typeface="Quattrocento Sans"/>
              </a:rPr>
              <a:t>)</a:t>
            </a:r>
            <a:endParaRPr sz="2000" b="1" dirty="0">
              <a:solidFill>
                <a:srgbClr val="00B0F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dirty="0" err="1">
                <a:solidFill>
                  <a:schemeClr val="dk1"/>
                </a:solidFill>
                <a:latin typeface="Quattrocento Sans"/>
                <a:ea typeface="Quattrocento Sans"/>
                <a:cs typeface="Quattrocento Sans"/>
                <a:sym typeface="Quattrocento Sans"/>
              </a:rPr>
              <a:t>rigidbody.velocity</a:t>
            </a:r>
            <a:r>
              <a:rPr lang="en-GB" sz="1800" dirty="0">
                <a:solidFill>
                  <a:schemeClr val="dk1"/>
                </a:solidFill>
                <a:latin typeface="Quattrocento Sans"/>
                <a:ea typeface="Quattrocento Sans"/>
                <a:cs typeface="Quattrocento Sans"/>
                <a:sym typeface="Quattrocento Sans"/>
              </a:rPr>
              <a:t> = Vector3(0,0,5);</a:t>
            </a:r>
            <a:endParaRPr dirty="0">
              <a:solidFill>
                <a:schemeClr val="dk1"/>
              </a:solidFill>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91" name="Google Shape;191;p22"/>
          <p:cNvSpPr txBox="1"/>
          <p:nvPr/>
        </p:nvSpPr>
        <p:spPr>
          <a:xfrm>
            <a:off x="609600" y="1421650"/>
            <a:ext cx="11660267" cy="5724604"/>
          </a:xfrm>
          <a:prstGeom prst="rect">
            <a:avLst/>
          </a:prstGeom>
          <a:noFill/>
          <a:ln>
            <a:noFill/>
          </a:ln>
        </p:spPr>
        <p:txBody>
          <a:bodyPr spcFirstLastPara="1" wrap="square" lIns="91425" tIns="45700" rIns="91425" bIns="45700" anchor="t" anchorCtr="0">
            <a:spAutoFit/>
          </a:bodyPr>
          <a:lstStyle/>
          <a:p>
            <a:r>
              <a:rPr lang="en-GB" sz="3200" b="1" dirty="0">
                <a:solidFill>
                  <a:srgbClr val="FFFF00"/>
                </a:solidFill>
                <a:latin typeface="Quattrocento Sans"/>
                <a:ea typeface="Quattrocento Sans"/>
                <a:cs typeface="Quattrocento Sans"/>
                <a:sym typeface="Quattrocento Sans"/>
              </a:rPr>
              <a:t>Forces and Physics: </a:t>
            </a:r>
            <a:endParaRPr lang="en-US" sz="2400" b="1" dirty="0">
              <a:solidFill>
                <a:srgbClr val="FFFF00"/>
              </a:solidFill>
              <a:latin typeface="Quattrocento Sans"/>
              <a:ea typeface="Quattrocento Sans"/>
              <a:cs typeface="Quattrocento Sans"/>
              <a:sym typeface="Quattrocento Sans"/>
            </a:endParaRPr>
          </a:p>
          <a:p>
            <a:r>
              <a:rPr lang="en-GB" sz="2000" b="1" dirty="0">
                <a:solidFill>
                  <a:srgbClr val="FFFF00"/>
                </a:solidFill>
                <a:latin typeface="Quattrocento Sans"/>
                <a:ea typeface="Quattrocento Sans"/>
                <a:cs typeface="Quattrocento Sans"/>
                <a:sym typeface="Quattrocento Sans"/>
              </a:rPr>
              <a:t>Moving by calling </a:t>
            </a:r>
            <a:r>
              <a:rPr lang="en-GB" sz="2000" b="1" dirty="0" err="1">
                <a:solidFill>
                  <a:srgbClr val="FFFF00"/>
                </a:solidFill>
                <a:latin typeface="Quattrocento Sans"/>
                <a:ea typeface="Quattrocento Sans"/>
                <a:cs typeface="Quattrocento Sans"/>
                <a:sym typeface="Quattrocento Sans"/>
              </a:rPr>
              <a:t>rigidbody.MovePosition</a:t>
            </a:r>
            <a:r>
              <a:rPr lang="en-GB" sz="2000" b="1" dirty="0">
                <a:solidFill>
                  <a:srgbClr val="FFFF00"/>
                </a:solidFill>
                <a:latin typeface="Quattrocento Sans"/>
                <a:ea typeface="Quattrocento Sans"/>
                <a:cs typeface="Quattrocento Sans"/>
                <a:sym typeface="Quattrocento Sans"/>
              </a:rPr>
              <a:t> or </a:t>
            </a:r>
            <a:r>
              <a:rPr lang="en-GB" sz="2000" b="1" dirty="0" err="1">
                <a:solidFill>
                  <a:srgbClr val="FFFF00"/>
                </a:solidFill>
                <a:latin typeface="Quattrocento Sans"/>
                <a:ea typeface="Quattrocento Sans"/>
                <a:cs typeface="Quattrocento Sans"/>
                <a:sym typeface="Quattrocento Sans"/>
              </a:rPr>
              <a:t>rigidbody.AddForce</a:t>
            </a:r>
            <a:r>
              <a:rPr lang="en-GB" sz="2000" b="1" dirty="0">
                <a:solidFill>
                  <a:srgbClr val="FFFF00"/>
                </a:solidFill>
                <a:latin typeface="Quattrocento Sans"/>
                <a:ea typeface="Quattrocento Sans"/>
                <a:cs typeface="Quattrocento Sans"/>
                <a:sym typeface="Quattrocento Sans"/>
              </a:rPr>
              <a:t>, both via </a:t>
            </a:r>
            <a:r>
              <a:rPr lang="en-GB" sz="2000" b="1" dirty="0" err="1">
                <a:solidFill>
                  <a:srgbClr val="FFFF00"/>
                </a:solidFill>
                <a:latin typeface="Quattrocento Sans"/>
                <a:ea typeface="Quattrocento Sans"/>
                <a:cs typeface="Quattrocento Sans"/>
                <a:sym typeface="Quattrocento Sans"/>
              </a:rPr>
              <a:t>FixedUpdate</a:t>
            </a:r>
            <a:endParaRPr lang="en-US" sz="2000" b="1" dirty="0">
              <a:solidFill>
                <a:srgbClr val="FFFF00"/>
              </a:solidFill>
              <a:latin typeface="Quattrocento Sans"/>
              <a:ea typeface="Quattrocento Sans"/>
              <a:cs typeface="Quattrocento Sans"/>
            </a:endParaRPr>
          </a:p>
          <a:p>
            <a:br>
              <a:rPr lang="en-GB" sz="1800" b="1" dirty="0">
                <a:latin typeface="Quattrocento Sans"/>
                <a:ea typeface="Quattrocento Sans"/>
                <a:cs typeface="Quattrocento Sans"/>
              </a:rPr>
            </a:br>
            <a:r>
              <a:rPr lang="en-GB" sz="1800" b="1" dirty="0">
                <a:solidFill>
                  <a:srgbClr val="FFFF00"/>
                </a:solidFill>
                <a:latin typeface="Quattrocento Sans"/>
                <a:ea typeface="Quattrocento Sans"/>
                <a:cs typeface="Quattrocento Sans"/>
                <a:sym typeface="Quattrocento Sans"/>
              </a:rPr>
              <a:t>Rigidbody.MovePosition/Fixedupdate/LateUpdate/Update </a:t>
            </a:r>
            <a:r>
              <a:rPr lang="en-GB" sz="1800" b="1" dirty="0">
                <a:solidFill>
                  <a:schemeClr val="bg2"/>
                </a:solidFill>
                <a:latin typeface="Quattrocento Sans"/>
                <a:ea typeface="Quattrocento Sans"/>
                <a:cs typeface="Quattrocento Sans"/>
                <a:sym typeface="Quattrocento Sans"/>
              </a:rPr>
              <a:t>What its for:</a:t>
            </a:r>
            <a:endParaRPr dirty="0">
              <a:solidFill>
                <a:schemeClr val="bg2"/>
              </a:solidFill>
            </a:endParaRPr>
          </a:p>
          <a:p>
            <a:r>
              <a:rPr lang="en-GB" sz="1800" b="1" dirty="0">
                <a:solidFill>
                  <a:srgbClr val="00B0F0"/>
                </a:solidFill>
                <a:latin typeface="Quattrocento Sans"/>
                <a:ea typeface="Quattrocento Sans"/>
                <a:cs typeface="Quattrocento Sans"/>
                <a:sym typeface="Quattrocento Sans"/>
              </a:rPr>
              <a:t>Moving a </a:t>
            </a:r>
            <a:r>
              <a:rPr lang="en-GB" sz="1800" b="1" dirty="0">
                <a:solidFill>
                  <a:schemeClr val="bg2"/>
                </a:solidFill>
                <a:latin typeface="Quattrocento Sans"/>
                <a:ea typeface="Quattrocento Sans"/>
                <a:cs typeface="Quattrocento Sans"/>
                <a:sym typeface="Quattrocento Sans"/>
              </a:rPr>
              <a:t>Kinematic </a:t>
            </a:r>
            <a:r>
              <a:rPr lang="en-GB" sz="1800" b="1" dirty="0" err="1">
                <a:solidFill>
                  <a:schemeClr val="bg2"/>
                </a:solidFill>
                <a:latin typeface="Quattrocento Sans"/>
                <a:ea typeface="Quattrocento Sans"/>
                <a:cs typeface="Quattrocento Sans"/>
                <a:sym typeface="Quattrocento Sans"/>
              </a:rPr>
              <a:t>rigidbody</a:t>
            </a:r>
            <a:r>
              <a:rPr lang="en-GB" sz="1800" b="1" dirty="0">
                <a:solidFill>
                  <a:schemeClr val="bg2"/>
                </a:solidFill>
                <a:latin typeface="Quattrocento Sans"/>
                <a:ea typeface="Quattrocento Sans"/>
                <a:cs typeface="Quattrocento Sans"/>
                <a:sym typeface="Quattrocento Sans"/>
              </a:rPr>
              <a:t> </a:t>
            </a:r>
            <a:r>
              <a:rPr lang="en-GB" sz="1800" b="1" dirty="0">
                <a:solidFill>
                  <a:srgbClr val="00B0F0"/>
                </a:solidFill>
                <a:latin typeface="Quattrocento Sans"/>
                <a:ea typeface="Quattrocento Sans"/>
                <a:cs typeface="Quattrocento Sans"/>
                <a:sym typeface="Quattrocento Sans"/>
              </a:rPr>
              <a:t>object not affected by physics, that will be interacting with physics objects</a:t>
            </a:r>
            <a:endParaRPr dirty="0">
              <a:solidFill>
                <a:srgbClr val="00B0F0"/>
              </a:solidFill>
            </a:endParaRPr>
          </a:p>
          <a:p>
            <a:r>
              <a:rPr lang="en-GB" sz="1800" b="1" dirty="0">
                <a:solidFill>
                  <a:srgbClr val="00B0F0"/>
                </a:solidFill>
                <a:latin typeface="Quattrocento Sans"/>
              </a:rPr>
              <a:t>-or-</a:t>
            </a:r>
          </a:p>
          <a:p>
            <a:r>
              <a:rPr lang="en-GB" sz="1800" b="1" dirty="0">
                <a:solidFill>
                  <a:srgbClr val="00B0F0"/>
                </a:solidFill>
                <a:latin typeface="Quattrocento Sans"/>
              </a:rPr>
              <a:t>Moving a </a:t>
            </a:r>
            <a:r>
              <a:rPr lang="en-GB" sz="1800" b="1" dirty="0">
                <a:solidFill>
                  <a:schemeClr val="bg2"/>
                </a:solidFill>
                <a:latin typeface="Quattrocento Sans"/>
              </a:rPr>
              <a:t>Non–Kinematic Dynamic </a:t>
            </a:r>
            <a:r>
              <a:rPr lang="en-GB" sz="1800" b="1" dirty="0" err="1">
                <a:solidFill>
                  <a:schemeClr val="bg2"/>
                </a:solidFill>
                <a:latin typeface="Quattrocento Sans"/>
              </a:rPr>
              <a:t>rigidbody</a:t>
            </a:r>
            <a:r>
              <a:rPr lang="en-GB" sz="1800" b="1" dirty="0">
                <a:solidFill>
                  <a:srgbClr val="00B0F0"/>
                </a:solidFill>
                <a:latin typeface="Quattrocento Sans"/>
              </a:rPr>
              <a:t> object affected by physics, that will be interacting with physics objects</a:t>
            </a:r>
            <a:endParaRPr lang="en-GB" dirty="0"/>
          </a:p>
          <a:p>
            <a:r>
              <a:rPr lang="en-US" sz="1800" b="1" i="1" dirty="0">
                <a:solidFill>
                  <a:srgbClr val="00B0F0"/>
                </a:solidFill>
              </a:rPr>
              <a:t>You could increase the mass of the NKD rigidbody high so it won’t be pushed (Not ideal, use Kinematic).</a:t>
            </a:r>
            <a:endParaRPr lang="en-GB" dirty="0">
              <a:solidFill>
                <a:srgbClr val="00B0F0"/>
              </a:solidFill>
            </a:endParaRPr>
          </a:p>
          <a:p>
            <a:pPr marL="0" marR="0" lvl="0" indent="0" algn="l">
              <a:spcBef>
                <a:spcPts val="0"/>
              </a:spcBef>
              <a:spcAft>
                <a:spcPts val="0"/>
              </a:spcAft>
              <a:buNone/>
            </a:pPr>
            <a:r>
              <a:rPr lang="en-GB" sz="1800" dirty="0">
                <a:solidFill>
                  <a:schemeClr val="dk1"/>
                </a:solidFill>
                <a:latin typeface="Quattrocento Sans"/>
                <a:ea typeface="Quattrocento Sans"/>
                <a:cs typeface="Quattrocento Sans"/>
                <a:sym typeface="Quattrocento Sans"/>
              </a:rPr>
              <a:t>void Update() { </a:t>
            </a:r>
            <a:r>
              <a:rPr lang="en-GB" sz="1800" dirty="0" err="1">
                <a:solidFill>
                  <a:schemeClr val="dk1"/>
                </a:solidFill>
                <a:latin typeface="Quattrocento Sans"/>
                <a:ea typeface="Quattrocento Sans"/>
                <a:cs typeface="Quattrocento Sans"/>
                <a:sym typeface="Quattrocento Sans"/>
              </a:rPr>
              <a:t>rigidbody.MovePosition</a:t>
            </a:r>
            <a:r>
              <a:rPr lang="en-GB" sz="1800" dirty="0">
                <a:solidFill>
                  <a:schemeClr val="dk1"/>
                </a:solidFill>
                <a:latin typeface="Quattrocento Sans"/>
                <a:ea typeface="Quattrocento Sans"/>
                <a:cs typeface="Quattrocento Sans"/>
                <a:sym typeface="Quattrocento Sans"/>
              </a:rPr>
              <a:t>(</a:t>
            </a:r>
            <a:r>
              <a:rPr lang="en-GB" sz="1800" dirty="0" err="1">
                <a:solidFill>
                  <a:schemeClr val="dk1"/>
                </a:solidFill>
                <a:latin typeface="Quattrocento Sans"/>
                <a:ea typeface="Quattrocento Sans"/>
                <a:cs typeface="Quattrocento Sans"/>
                <a:sym typeface="Quattrocento Sans"/>
              </a:rPr>
              <a:t>transform.position</a:t>
            </a:r>
            <a:r>
              <a:rPr lang="en-GB" sz="1800" dirty="0">
                <a:solidFill>
                  <a:schemeClr val="dk1"/>
                </a:solidFill>
                <a:latin typeface="Quattrocento Sans"/>
                <a:ea typeface="Quattrocento Sans"/>
                <a:cs typeface="Quattrocento Sans"/>
                <a:sym typeface="Quattrocento Sans"/>
              </a:rPr>
              <a:t> + speed * </a:t>
            </a:r>
            <a:r>
              <a:rPr lang="en-GB" sz="1800" dirty="0" err="1">
                <a:solidFill>
                  <a:schemeClr val="dk1"/>
                </a:solidFill>
                <a:latin typeface="Quattrocento Sans"/>
                <a:ea typeface="Quattrocento Sans"/>
                <a:cs typeface="Quattrocento Sans"/>
                <a:sym typeface="Quattrocento Sans"/>
              </a:rPr>
              <a:t>Time.deltaTime</a:t>
            </a:r>
            <a:r>
              <a:rPr lang="en-GB" sz="1800" dirty="0">
                <a:solidFill>
                  <a:schemeClr val="dk1"/>
                </a:solidFill>
                <a:latin typeface="Quattrocento Sans"/>
                <a:ea typeface="Quattrocento Sans"/>
                <a:cs typeface="Quattrocento Sans"/>
                <a:sym typeface="Quattrocento Sans"/>
              </a:rPr>
              <a:t>); }</a:t>
            </a:r>
            <a:endParaRPr sz="2000" b="1">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000" u="sng" dirty="0">
                <a:solidFill>
                  <a:srgbClr val="92D05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http://answers.unity3d.com/questions/279815/how-to-move-a-kinematic-rigidbody-smoothly.html</a:t>
            </a:r>
            <a:endParaRPr sz="2000">
              <a:solidFill>
                <a:srgbClr val="92D050"/>
              </a:solidFill>
              <a:latin typeface="Quattrocento Sans"/>
              <a:ea typeface="Quattrocento Sans"/>
              <a:cs typeface="Quattrocento Sans"/>
            </a:endParaRPr>
          </a:p>
          <a:p>
            <a:pPr marL="0" marR="0" lvl="0" indent="0" algn="l" rtl="0">
              <a:spcBef>
                <a:spcPts val="0"/>
              </a:spcBef>
              <a:spcAft>
                <a:spcPts val="0"/>
              </a:spcAft>
              <a:buNone/>
            </a:pPr>
            <a:endParaRPr sz="2000" b="1">
              <a:solidFill>
                <a:srgbClr val="FFFF00"/>
              </a:solidFill>
              <a:latin typeface="Quattrocento Sans"/>
              <a:ea typeface="Quattrocento Sans"/>
              <a:cs typeface="Quattrocento Sans"/>
              <a:sym typeface="Quattrocento Sans"/>
            </a:endParaRPr>
          </a:p>
          <a:p>
            <a:r>
              <a:rPr lang="en-GB" sz="1800" b="1" dirty="0" err="1">
                <a:solidFill>
                  <a:srgbClr val="FFFF00"/>
                </a:solidFill>
                <a:latin typeface="Quattrocento Sans"/>
                <a:ea typeface="Quattrocento Sans"/>
                <a:cs typeface="Quattrocento Sans"/>
                <a:sym typeface="Quattrocento Sans"/>
              </a:rPr>
              <a:t>AddForce</a:t>
            </a:r>
            <a:r>
              <a:rPr lang="en-GB" sz="1800" b="1" dirty="0">
                <a:solidFill>
                  <a:srgbClr val="FFFF00"/>
                </a:solidFill>
                <a:latin typeface="Quattrocento Sans"/>
                <a:ea typeface="Quattrocento Sans"/>
                <a:cs typeface="Quattrocento Sans"/>
                <a:sym typeface="Quattrocento Sans"/>
              </a:rPr>
              <a:t>/</a:t>
            </a:r>
            <a:r>
              <a:rPr lang="en-GB" sz="1800" b="1" dirty="0" err="1">
                <a:solidFill>
                  <a:srgbClr val="FFFF00"/>
                </a:solidFill>
                <a:latin typeface="Quattrocento Sans"/>
                <a:ea typeface="Quattrocento Sans"/>
                <a:cs typeface="Quattrocento Sans"/>
                <a:sym typeface="Quattrocento Sans"/>
              </a:rPr>
              <a:t>Fixedupdate</a:t>
            </a:r>
            <a:r>
              <a:rPr lang="en-GB" sz="1800" b="1" dirty="0">
                <a:solidFill>
                  <a:srgbClr val="FFFF00"/>
                </a:solidFill>
                <a:latin typeface="Quattrocento Sans"/>
                <a:ea typeface="Quattrocento Sans"/>
                <a:cs typeface="Quattrocento Sans"/>
                <a:sym typeface="Quattrocento Sans"/>
              </a:rPr>
              <a:t>/</a:t>
            </a:r>
            <a:r>
              <a:rPr lang="en-GB" sz="1800" b="1" dirty="0" err="1">
                <a:solidFill>
                  <a:srgbClr val="FFFF00"/>
                </a:solidFill>
                <a:latin typeface="Quattrocento Sans"/>
                <a:ea typeface="Quattrocento Sans"/>
                <a:cs typeface="Quattrocento Sans"/>
                <a:sym typeface="Quattrocento Sans"/>
              </a:rPr>
              <a:t>LateUpdate</a:t>
            </a:r>
            <a:r>
              <a:rPr lang="en-GB" sz="1800" b="1" dirty="0">
                <a:solidFill>
                  <a:srgbClr val="FFFF00"/>
                </a:solidFill>
                <a:latin typeface="Quattrocento Sans"/>
                <a:ea typeface="Quattrocento Sans"/>
                <a:cs typeface="Quattrocento Sans"/>
                <a:sym typeface="Quattrocento Sans"/>
              </a:rPr>
              <a:t> </a:t>
            </a:r>
            <a:r>
              <a:rPr lang="en-GB" sz="1800" b="1" dirty="0">
                <a:solidFill>
                  <a:schemeClr val="bg2"/>
                </a:solidFill>
                <a:latin typeface="Quattrocento Sans"/>
                <a:ea typeface="Quattrocento Sans"/>
                <a:cs typeface="Quattrocento Sans"/>
                <a:sym typeface="Quattrocento Sans"/>
              </a:rPr>
              <a:t>What its for:</a:t>
            </a:r>
            <a:endParaRPr lang="en-GB" sz="2000" b="1" dirty="0">
              <a:solidFill>
                <a:schemeClr val="bg2"/>
              </a:solidFill>
              <a:latin typeface="Quattrocento Sans"/>
            </a:endParaRPr>
          </a:p>
          <a:p>
            <a:r>
              <a:rPr lang="en-GB" sz="1800" b="1" dirty="0">
                <a:solidFill>
                  <a:srgbClr val="00B0F0"/>
                </a:solidFill>
                <a:latin typeface="Quattrocento Sans"/>
                <a:ea typeface="Quattrocento Sans"/>
                <a:cs typeface="Quattrocento Sans"/>
                <a:sym typeface="Quattrocento Sans"/>
              </a:rPr>
              <a:t>Moving a </a:t>
            </a:r>
            <a:r>
              <a:rPr lang="en-GB" sz="1800" b="1" dirty="0">
                <a:solidFill>
                  <a:schemeClr val="bg2"/>
                </a:solidFill>
                <a:latin typeface="Quattrocento Sans"/>
                <a:ea typeface="Quattrocento Sans"/>
                <a:cs typeface="Quattrocento Sans"/>
                <a:sym typeface="Quattrocento Sans"/>
              </a:rPr>
              <a:t>Non–Kinematic Dynamic </a:t>
            </a:r>
            <a:r>
              <a:rPr lang="en-GB" sz="1800" b="1" err="1">
                <a:solidFill>
                  <a:schemeClr val="bg2"/>
                </a:solidFill>
                <a:latin typeface="Quattrocento Sans"/>
                <a:ea typeface="Quattrocento Sans"/>
                <a:cs typeface="Quattrocento Sans"/>
                <a:sym typeface="Quattrocento Sans"/>
              </a:rPr>
              <a:t>rigidbody</a:t>
            </a:r>
            <a:r>
              <a:rPr lang="en-GB" sz="1800" b="1" dirty="0">
                <a:solidFill>
                  <a:srgbClr val="00B0F0"/>
                </a:solidFill>
                <a:latin typeface="Quattrocento Sans"/>
                <a:ea typeface="Quattrocento Sans"/>
                <a:cs typeface="Quattrocento Sans"/>
                <a:sym typeface="Quattrocento Sans"/>
              </a:rPr>
              <a:t>, affected by physics, that will be interacting with physics objects</a:t>
            </a:r>
            <a:endParaRPr lang="en-US" sz="1100" b="1" dirty="0">
              <a:solidFill>
                <a:srgbClr val="00B0F0"/>
              </a:solidFill>
              <a:latin typeface="Calibri Light"/>
              <a:ea typeface="Calibri Light"/>
              <a:cs typeface="Calibri Light"/>
            </a:endParaRPr>
          </a:p>
          <a:p>
            <a:r>
              <a:rPr lang="en-GB" sz="1800" b="1" dirty="0">
                <a:solidFill>
                  <a:srgbClr val="00B0F0"/>
                </a:solidFill>
                <a:latin typeface="Quattrocento Sans"/>
                <a:ea typeface="Quattrocento Sans"/>
                <a:cs typeface="Quattrocento Sans"/>
                <a:sym typeface="Quattrocento Sans"/>
              </a:rPr>
              <a:t>As it name suggests this will be called after fixed time duration, so time duration between two consecutive calls is always the same unlike that of Update where this may vary. Mass Dependent, unless you use</a:t>
            </a:r>
            <a:r>
              <a:rPr lang="en-GB" sz="1800" dirty="0">
                <a:solidFill>
                  <a:schemeClr val="dk1"/>
                </a:solidFill>
                <a:latin typeface="Quattrocento Sans"/>
                <a:ea typeface="Quattrocento Sans"/>
                <a:cs typeface="Quattrocento Sans"/>
                <a:sym typeface="Quattrocento Sans"/>
              </a:rPr>
              <a:t> </a:t>
            </a:r>
            <a:r>
              <a:rPr lang="en-GB" sz="1800" err="1">
                <a:solidFill>
                  <a:schemeClr val="dk1"/>
                </a:solidFill>
                <a:latin typeface="Quattrocento Sans"/>
                <a:ea typeface="Calibri Light"/>
                <a:cs typeface="Calibri Light"/>
                <a:sym typeface="Quattrocento Sans"/>
              </a:rPr>
              <a:t>Addforce</a:t>
            </a:r>
            <a:r>
              <a:rPr lang="en-GB" sz="1800" dirty="0">
                <a:solidFill>
                  <a:schemeClr val="dk1"/>
                </a:solidFill>
                <a:latin typeface="Quattrocento Sans"/>
                <a:ea typeface="Calibri Light"/>
                <a:cs typeface="Calibri Light"/>
                <a:sym typeface="Quattrocento Sans"/>
              </a:rPr>
              <a:t>(</a:t>
            </a:r>
            <a:r>
              <a:rPr lang="en-GB" sz="1800" err="1">
                <a:solidFill>
                  <a:schemeClr val="dk1"/>
                </a:solidFill>
                <a:latin typeface="Quattrocento Sans"/>
                <a:ea typeface="Calibri Light"/>
                <a:cs typeface="Calibri Light"/>
                <a:sym typeface="Quattrocento Sans"/>
              </a:rPr>
              <a:t>ForceMode.Acceleration</a:t>
            </a:r>
            <a:r>
              <a:rPr lang="en-GB" sz="1800" dirty="0">
                <a:solidFill>
                  <a:schemeClr val="dk1"/>
                </a:solidFill>
                <a:latin typeface="Quattrocento Sans"/>
                <a:ea typeface="Calibri Light"/>
                <a:cs typeface="Calibri Light"/>
                <a:sym typeface="Quattrocento Sans"/>
              </a:rPr>
              <a:t>) or </a:t>
            </a:r>
            <a:r>
              <a:rPr lang="en-GB" sz="1800" err="1">
                <a:solidFill>
                  <a:schemeClr val="dk1"/>
                </a:solidFill>
                <a:latin typeface="Quattrocento Sans"/>
                <a:ea typeface="Calibri Light"/>
                <a:cs typeface="Calibri Light"/>
                <a:sym typeface="Quattrocento Sans"/>
              </a:rPr>
              <a:t>Addforce</a:t>
            </a:r>
            <a:r>
              <a:rPr lang="en-GB" sz="1800" dirty="0">
                <a:solidFill>
                  <a:schemeClr val="dk1"/>
                </a:solidFill>
                <a:latin typeface="Quattrocento Sans"/>
                <a:ea typeface="Calibri Light"/>
                <a:cs typeface="Calibri Light"/>
                <a:sym typeface="Quattrocento Sans"/>
              </a:rPr>
              <a:t>(</a:t>
            </a:r>
            <a:r>
              <a:rPr lang="en-GB" sz="1800" err="1">
                <a:solidFill>
                  <a:schemeClr val="dk1"/>
                </a:solidFill>
                <a:latin typeface="Quattrocento Sans"/>
                <a:ea typeface="Calibri Light"/>
                <a:cs typeface="Calibri Light"/>
                <a:sym typeface="Quattrocento Sans"/>
              </a:rPr>
              <a:t>ForceMode.VelocityChange</a:t>
            </a:r>
            <a:r>
              <a:rPr lang="en-GB" sz="1800" dirty="0">
                <a:solidFill>
                  <a:schemeClr val="dk1"/>
                </a:solidFill>
                <a:latin typeface="Quattrocento Sans"/>
                <a:ea typeface="Calibri Light"/>
                <a:cs typeface="Calibri Light"/>
                <a:sym typeface="Quattrocento Sans"/>
              </a:rPr>
              <a:t>)</a:t>
            </a:r>
            <a:endParaRPr lang="en-US" sz="1100" b="1">
              <a:solidFill>
                <a:schemeClr val="dk1"/>
              </a:solidFill>
              <a:latin typeface="Quattrocento Sans"/>
              <a:ea typeface="Calibri Light"/>
              <a:cs typeface="Calibri Light"/>
            </a:endParaRPr>
          </a:p>
          <a:p>
            <a:pPr marL="0" marR="0" lvl="0" indent="0" algn="l" rtl="0">
              <a:spcBef>
                <a:spcPts val="0"/>
              </a:spcBef>
              <a:spcAft>
                <a:spcPts val="0"/>
              </a:spcAft>
              <a:buNone/>
            </a:pPr>
            <a:r>
              <a:rPr lang="en-GB" sz="2000" u="sng" dirty="0">
                <a:solidFill>
                  <a:srgbClr val="92D050"/>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https://www.reddit.com/r/Unity3D/comments/2b6uet/what_is_deltatime_and_where_is_it_useful/</a:t>
            </a:r>
            <a:endParaRPr sz="2000" dirty="0">
              <a:solidFill>
                <a:srgbClr val="92D05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18d970e3237_0_6"/>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98" name="Google Shape;198;g18d970e3237_0_6"/>
          <p:cNvSpPr txBox="1"/>
          <p:nvPr/>
        </p:nvSpPr>
        <p:spPr>
          <a:xfrm>
            <a:off x="609600" y="1421650"/>
            <a:ext cx="11370900" cy="5909270"/>
          </a:xfrm>
          <a:prstGeom prst="rect">
            <a:avLst/>
          </a:prstGeom>
          <a:noFill/>
          <a:ln>
            <a:noFill/>
          </a:ln>
        </p:spPr>
        <p:txBody>
          <a:bodyPr spcFirstLastPara="1" wrap="square" lIns="91425" tIns="45700" rIns="91425" bIns="45700" anchor="t" anchorCtr="0">
            <a:spAutoFit/>
          </a:bodyPr>
          <a:lstStyle/>
          <a:p>
            <a:r>
              <a:rPr lang="en-GB" sz="3200" dirty="0">
                <a:solidFill>
                  <a:srgbClr val="FFFF00"/>
                </a:solidFill>
                <a:latin typeface="Segoe UI"/>
                <a:cs typeface="Segoe UI"/>
                <a:sym typeface="Quattrocento Sans"/>
              </a:rPr>
              <a:t>Forces and Physics: </a:t>
            </a:r>
            <a:endParaRPr lang="en-US" sz="3200" dirty="0">
              <a:solidFill>
                <a:srgbClr val="FFFF00"/>
              </a:solidFill>
              <a:latin typeface="Segoe UI"/>
              <a:cs typeface="Segoe UI"/>
            </a:endParaRPr>
          </a:p>
          <a:p>
            <a:r>
              <a:rPr lang="en-GB" sz="2000" b="1" dirty="0">
                <a:solidFill>
                  <a:srgbClr val="FFFF00"/>
                </a:solidFill>
                <a:latin typeface="Quattrocento Sans"/>
                <a:ea typeface="Quattrocento Sans"/>
                <a:cs typeface="Segoe UI"/>
                <a:sym typeface="Quattrocento Sans"/>
              </a:rPr>
              <a:t>Moving by calling </a:t>
            </a:r>
            <a:r>
              <a:rPr lang="en-GB" sz="2000" b="1" dirty="0" err="1">
                <a:solidFill>
                  <a:srgbClr val="FFFF00"/>
                </a:solidFill>
                <a:latin typeface="Quattrocento Sans"/>
                <a:ea typeface="Quattrocento Sans"/>
                <a:cs typeface="Segoe UI"/>
                <a:sym typeface="Quattrocento Sans"/>
              </a:rPr>
              <a:t>rigidbody.MovePosition</a:t>
            </a:r>
            <a:r>
              <a:rPr lang="en-GB" sz="2000" b="1" dirty="0">
                <a:solidFill>
                  <a:srgbClr val="FFFF00"/>
                </a:solidFill>
                <a:latin typeface="Quattrocento Sans"/>
                <a:ea typeface="Quattrocento Sans"/>
                <a:cs typeface="Segoe UI"/>
                <a:sym typeface="Quattrocento Sans"/>
              </a:rPr>
              <a:t> or </a:t>
            </a:r>
            <a:r>
              <a:rPr lang="en-GB" sz="2000" b="1" dirty="0" err="1">
                <a:solidFill>
                  <a:srgbClr val="FFFF00"/>
                </a:solidFill>
                <a:latin typeface="Quattrocento Sans"/>
                <a:ea typeface="Quattrocento Sans"/>
                <a:cs typeface="Segoe UI"/>
                <a:sym typeface="Quattrocento Sans"/>
              </a:rPr>
              <a:t>rigidbody.AddForce</a:t>
            </a:r>
            <a:r>
              <a:rPr lang="en-GB" sz="2000" b="1" dirty="0">
                <a:solidFill>
                  <a:srgbClr val="FFFF00"/>
                </a:solidFill>
                <a:latin typeface="Quattrocento Sans"/>
                <a:ea typeface="Quattrocento Sans"/>
                <a:cs typeface="Segoe UI"/>
                <a:sym typeface="Quattrocento Sans"/>
              </a:rPr>
              <a:t>, both via </a:t>
            </a:r>
            <a:r>
              <a:rPr lang="en-GB" sz="2000" b="1" dirty="0" err="1">
                <a:solidFill>
                  <a:srgbClr val="FFFF00"/>
                </a:solidFill>
                <a:latin typeface="Quattrocento Sans"/>
                <a:ea typeface="Quattrocento Sans"/>
                <a:cs typeface="Segoe UI"/>
                <a:sym typeface="Quattrocento Sans"/>
              </a:rPr>
              <a:t>FixedUpdate</a:t>
            </a:r>
            <a:endParaRPr sz="2000" dirty="0" err="1">
              <a:latin typeface="Quattrocento Sans"/>
            </a:endParaRPr>
          </a:p>
          <a:p>
            <a:pPr marL="0" marR="0" lvl="0" indent="0" algn="l" rtl="0">
              <a:spcBef>
                <a:spcPts val="0"/>
              </a:spcBef>
              <a:spcAft>
                <a:spcPts val="0"/>
              </a:spcAft>
              <a:buNone/>
            </a:pP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dirty="0">
                <a:solidFill>
                  <a:srgbClr val="00B0F0"/>
                </a:solidFill>
                <a:latin typeface="Quattrocento Sans"/>
                <a:ea typeface="Quattrocento Sans"/>
                <a:cs typeface="Quattrocento Sans"/>
                <a:sym typeface="Quattrocento Sans"/>
              </a:rPr>
              <a:t>With a Character:</a:t>
            </a:r>
            <a:endParaRPr sz="1800" b="1" dirty="0">
              <a:solidFill>
                <a:srgbClr val="00B0F0"/>
              </a:solidFill>
              <a:latin typeface="Quattrocento Sans"/>
              <a:ea typeface="Quattrocento Sans"/>
              <a:cs typeface="Quattrocento Sans"/>
              <a:sym typeface="Quattrocento Sans"/>
            </a:endParaRPr>
          </a:p>
          <a:p>
            <a:pPr marL="0" marR="0" lvl="0" indent="0" algn="l" rtl="0">
              <a:spcBef>
                <a:spcPts val="0"/>
              </a:spcBef>
              <a:spcAft>
                <a:spcPts val="0"/>
              </a:spcAft>
              <a:buNone/>
            </a:pPr>
            <a:br>
              <a:rPr lang="en-GB" sz="1800" b="1" dirty="0">
                <a:latin typeface="Quattrocento Sans"/>
                <a:ea typeface="Quattrocento Sans"/>
                <a:cs typeface="Quattrocento Sans"/>
              </a:rPr>
            </a:br>
            <a:r>
              <a:rPr lang="en-GB" sz="1800" b="1" u="sng" dirty="0">
                <a:solidFill>
                  <a:schemeClr val="hlink"/>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https://forum.unity.com/threads/collision-detection-for-kinematic-rigidbodies.885778/</a:t>
            </a:r>
            <a:endParaRPr sz="1800" b="1" dirty="0">
              <a:solidFill>
                <a:schemeClr val="hlink"/>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u="sng" dirty="0">
                <a:solidFill>
                  <a:schemeClr val="hlink"/>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https://answers.unity.com/questions/1753152/kinematic-rigidbody-does-not-collide-with-wall-whe.html</a:t>
            </a:r>
            <a:endParaRPr sz="1800" b="1" dirty="0">
              <a:solidFill>
                <a:schemeClr val="hlink"/>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00"/>
              </a:solidFill>
              <a:latin typeface="Quattrocento Sans"/>
              <a:ea typeface="Quattrocento Sans"/>
              <a:cs typeface="Quattrocento Sans"/>
              <a:sym typeface="Quattrocento Sans"/>
            </a:endParaRPr>
          </a:p>
          <a:p>
            <a:r>
              <a:rPr lang="en-US" sz="1800" b="1" i="1" dirty="0">
                <a:solidFill>
                  <a:srgbClr val="FFFF00"/>
                </a:solidFill>
                <a:latin typeface="Quattrocento Sans"/>
              </a:rPr>
              <a:t>Kinematic </a:t>
            </a:r>
            <a:r>
              <a:rPr lang="en-US" sz="1800" b="1" i="1" dirty="0" err="1">
                <a:solidFill>
                  <a:srgbClr val="FFFF00"/>
                </a:solidFill>
                <a:latin typeface="Quattrocento Sans"/>
              </a:rPr>
              <a:t>Rigidbodies</a:t>
            </a:r>
            <a:r>
              <a:rPr lang="en-US" sz="1800" b="1" i="1" dirty="0">
                <a:solidFill>
                  <a:srgbClr val="FFFF00"/>
                </a:solidFill>
                <a:latin typeface="Quattrocento Sans"/>
              </a:rPr>
              <a:t> will always go through other Kinematic </a:t>
            </a:r>
            <a:r>
              <a:rPr lang="en-US" sz="1800" b="1" i="1" dirty="0" err="1">
                <a:solidFill>
                  <a:srgbClr val="FFFF00"/>
                </a:solidFill>
                <a:latin typeface="Quattrocento Sans"/>
              </a:rPr>
              <a:t>Rigidbodies</a:t>
            </a:r>
            <a:r>
              <a:rPr lang="en-US" sz="1800" b="1" i="1" dirty="0">
                <a:solidFill>
                  <a:srgbClr val="FFFF00"/>
                </a:solidFill>
                <a:latin typeface="Quattrocento Sans"/>
              </a:rPr>
              <a:t> or Static colliders without effect (not affected by forces or momentum). It Will detect collision and triggers with a non kinematic (Dynamic) Rigid Body. </a:t>
            </a:r>
            <a:endParaRPr lang="en-US" i="1" dirty="0"/>
          </a:p>
          <a:p>
            <a:endParaRPr lang="en-US" sz="1800" b="1" i="1" dirty="0">
              <a:solidFill>
                <a:srgbClr val="FFFF00"/>
              </a:solidFill>
              <a:latin typeface="Quattrocento Sans"/>
            </a:endParaRPr>
          </a:p>
          <a:p>
            <a:r>
              <a:rPr lang="en-US" sz="1800" b="1" i="1" dirty="0">
                <a:solidFill>
                  <a:srgbClr val="FFFF00"/>
                </a:solidFill>
                <a:latin typeface="Quattrocento Sans"/>
              </a:rPr>
              <a:t>If you need an object to collide with other objects, but not be affected by the forces of physics, you could either use an existing Character Controller, or use a kinematic </a:t>
            </a:r>
            <a:r>
              <a:rPr lang="en-US" sz="1800" b="1" i="1" dirty="0" err="1">
                <a:solidFill>
                  <a:srgbClr val="FFFF00"/>
                </a:solidFill>
                <a:latin typeface="Quattrocento Sans"/>
              </a:rPr>
              <a:t>rigidbody</a:t>
            </a:r>
            <a:r>
              <a:rPr lang="en-US" sz="1800" b="1" i="1" dirty="0">
                <a:solidFill>
                  <a:srgbClr val="FFFF00"/>
                </a:solidFill>
                <a:latin typeface="Quattrocento Sans"/>
              </a:rPr>
              <a:t> and code a custom collision resolution for it.</a:t>
            </a:r>
            <a:endParaRPr i="1"/>
          </a:p>
          <a:p>
            <a:pPr marL="0" marR="0" lvl="0" indent="0" algn="l">
              <a:spcBef>
                <a:spcPts val="0"/>
              </a:spcBef>
              <a:spcAft>
                <a:spcPts val="0"/>
              </a:spcAft>
              <a:buNone/>
            </a:pPr>
            <a:endParaRPr lang="en-US" sz="1800" b="1" i="1" dirty="0">
              <a:solidFill>
                <a:srgbClr val="FFFF00"/>
              </a:solidFill>
              <a:latin typeface="Quattrocento Sans"/>
              <a:ea typeface="Quattrocento Sans"/>
            </a:endParaRPr>
          </a:p>
          <a:p>
            <a:r>
              <a:rPr lang="en-US" sz="1800" b="1" i="1" dirty="0">
                <a:solidFill>
                  <a:srgbClr val="FFFF00"/>
                </a:solidFill>
                <a:latin typeface="Quattrocento Sans"/>
              </a:rPr>
              <a:t>A physics based controller is not usually ideal for a character controller, as seen by this weeks Unity example.</a:t>
            </a:r>
          </a:p>
          <a:p>
            <a:endParaRPr lang="en-US" sz="1800" b="1" i="1">
              <a:solidFill>
                <a:srgbClr val="FFFF00"/>
              </a:solidFill>
            </a:endParaRPr>
          </a:p>
          <a:p>
            <a:endParaRPr lang="en-US" sz="1800" b="1" i="1" dirty="0">
              <a:solidFill>
                <a:srgbClr val="FFFF00"/>
              </a:solidFill>
              <a:ea typeface="Quattrocento Sans"/>
            </a:endParaRPr>
          </a:p>
          <a:p>
            <a:endParaRPr lang="en-US" sz="2000" b="1">
              <a:solidFill>
                <a:srgbClr val="FFFF00"/>
              </a:solidFill>
              <a:latin typeface="Quattrocento Sans"/>
              <a:ea typeface="Quattrocento Sans"/>
              <a:cs typeface="Quattrocento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6">
          <a:extLst>
            <a:ext uri="{FF2B5EF4-FFF2-40B4-BE49-F238E27FC236}">
              <a16:creationId xmlns:a16="http://schemas.microsoft.com/office/drawing/2014/main" id="{7E14742A-8C66-7F37-858B-0E837BC70A18}"/>
            </a:ext>
          </a:extLst>
        </p:cNvPr>
        <p:cNvGrpSpPr/>
        <p:nvPr/>
      </p:nvGrpSpPr>
      <p:grpSpPr>
        <a:xfrm>
          <a:off x="0" y="0"/>
          <a:ext cx="0" cy="0"/>
          <a:chOff x="0" y="0"/>
          <a:chExt cx="0" cy="0"/>
        </a:xfrm>
      </p:grpSpPr>
      <p:sp>
        <p:nvSpPr>
          <p:cNvPr id="197" name="Google Shape;197;g18d970e3237_0_6">
            <a:extLst>
              <a:ext uri="{FF2B5EF4-FFF2-40B4-BE49-F238E27FC236}">
                <a16:creationId xmlns:a16="http://schemas.microsoft.com/office/drawing/2014/main" id="{15CE73DE-B280-EBE1-4D1A-49838B0BDA3B}"/>
              </a:ext>
            </a:extLst>
          </p:cNvPr>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98" name="Google Shape;198;g18d970e3237_0_6">
            <a:extLst>
              <a:ext uri="{FF2B5EF4-FFF2-40B4-BE49-F238E27FC236}">
                <a16:creationId xmlns:a16="http://schemas.microsoft.com/office/drawing/2014/main" id="{CAF2A337-1AF3-66A2-9081-B77F3A94FFFB}"/>
              </a:ext>
            </a:extLst>
          </p:cNvPr>
          <p:cNvSpPr txBox="1"/>
          <p:nvPr/>
        </p:nvSpPr>
        <p:spPr>
          <a:xfrm>
            <a:off x="609600" y="1341439"/>
            <a:ext cx="11370900" cy="4893607"/>
          </a:xfrm>
          <a:prstGeom prst="rect">
            <a:avLst/>
          </a:prstGeom>
          <a:noFill/>
          <a:ln>
            <a:noFill/>
          </a:ln>
        </p:spPr>
        <p:txBody>
          <a:bodyPr spcFirstLastPara="1" wrap="square" lIns="91425" tIns="45700" rIns="91425" bIns="45700" anchor="t" anchorCtr="0">
            <a:spAutoFit/>
          </a:bodyPr>
          <a:lstStyle/>
          <a:p>
            <a:r>
              <a:rPr lang="en-GB" sz="2400" dirty="0">
                <a:solidFill>
                  <a:srgbClr val="FFFF00"/>
                </a:solidFill>
                <a:latin typeface="Quattrocento Sans"/>
                <a:cs typeface="Segoe UI"/>
              </a:rPr>
              <a:t>Dynamic </a:t>
            </a:r>
            <a:r>
              <a:rPr lang="en-GB" sz="2400" err="1">
                <a:solidFill>
                  <a:srgbClr val="FFFF00"/>
                </a:solidFill>
                <a:latin typeface="Quattrocento Sans"/>
                <a:cs typeface="Segoe UI"/>
              </a:rPr>
              <a:t>Rigidbody</a:t>
            </a:r>
            <a:r>
              <a:rPr lang="en-GB" sz="2400" dirty="0">
                <a:solidFill>
                  <a:srgbClr val="FFFF00"/>
                </a:solidFill>
                <a:latin typeface="Quattrocento Sans"/>
                <a:cs typeface="Segoe UI"/>
              </a:rPr>
              <a:t> (non‑kinematic) Controllers: </a:t>
            </a:r>
            <a:endParaRPr lang="en-US">
              <a:solidFill>
                <a:srgbClr val="FFFF00"/>
              </a:solidFill>
            </a:endParaRPr>
          </a:p>
          <a:p>
            <a:r>
              <a:rPr lang="en-GB" sz="2400" dirty="0">
                <a:solidFill>
                  <a:schemeClr val="bg2"/>
                </a:solidFill>
                <a:latin typeface="Quattrocento Sans"/>
                <a:cs typeface="Segoe UI"/>
              </a:rPr>
              <a:t>Physics‑driven objects. Movement via forces/impulses/velocity. Fully simulated by the physics engine; realistic reactions to collisions, gravity, stacking.</a:t>
            </a:r>
            <a:endParaRPr lang="en-US">
              <a:solidFill>
                <a:schemeClr val="bg2"/>
              </a:solidFill>
            </a:endParaRPr>
          </a:p>
          <a:p>
            <a:endParaRPr lang="en-GB" sz="2400" dirty="0">
              <a:solidFill>
                <a:srgbClr val="FFFF00"/>
              </a:solidFill>
              <a:latin typeface="Quattrocento Sans"/>
              <a:cs typeface="Segoe UI"/>
            </a:endParaRPr>
          </a:p>
          <a:p>
            <a:r>
              <a:rPr lang="en-GB" sz="2400" dirty="0">
                <a:solidFill>
                  <a:srgbClr val="FFFF00"/>
                </a:solidFill>
                <a:latin typeface="Quattrocento Sans"/>
                <a:cs typeface="Segoe UI"/>
              </a:rPr>
              <a:t>Kinematic </a:t>
            </a:r>
            <a:r>
              <a:rPr lang="en-GB" sz="2400" dirty="0" err="1">
                <a:solidFill>
                  <a:srgbClr val="FFFF00"/>
                </a:solidFill>
                <a:latin typeface="Quattrocento Sans"/>
                <a:cs typeface="Segoe UI"/>
              </a:rPr>
              <a:t>Rigidbody</a:t>
            </a:r>
            <a:r>
              <a:rPr lang="en-GB" sz="2400" dirty="0">
                <a:solidFill>
                  <a:srgbClr val="FFFF00"/>
                </a:solidFill>
                <a:latin typeface="Quattrocento Sans"/>
                <a:cs typeface="Segoe UI"/>
              </a:rPr>
              <a:t> Controllers: </a:t>
            </a:r>
            <a:endParaRPr lang="en-GB" dirty="0"/>
          </a:p>
          <a:p>
            <a:r>
              <a:rPr lang="en-GB" sz="2400" dirty="0">
                <a:solidFill>
                  <a:schemeClr val="bg2"/>
                </a:solidFill>
                <a:latin typeface="Quattrocento Sans"/>
                <a:cs typeface="Segoe UI"/>
              </a:rPr>
              <a:t>Script‑driven motion with a </a:t>
            </a:r>
            <a:r>
              <a:rPr lang="en-GB" sz="2400" err="1">
                <a:solidFill>
                  <a:schemeClr val="bg2"/>
                </a:solidFill>
                <a:latin typeface="Quattrocento Sans"/>
                <a:cs typeface="Segoe UI"/>
              </a:rPr>
              <a:t>Rigidbody</a:t>
            </a:r>
            <a:r>
              <a:rPr lang="en-GB" sz="2400" dirty="0">
                <a:solidFill>
                  <a:schemeClr val="bg2"/>
                </a:solidFill>
                <a:latin typeface="Quattrocento Sans"/>
                <a:cs typeface="Segoe UI"/>
              </a:rPr>
              <a:t> present but not simulated by forces. It can move other dynamic bodies but is not itself pushed by physics. Use for predictable moving objects that still need physical interactions.</a:t>
            </a:r>
            <a:endParaRPr lang="en-GB">
              <a:solidFill>
                <a:schemeClr val="bg2"/>
              </a:solidFill>
            </a:endParaRPr>
          </a:p>
          <a:p>
            <a:endParaRPr lang="en-GB" sz="2400" dirty="0">
              <a:solidFill>
                <a:srgbClr val="FFFF00"/>
              </a:solidFill>
              <a:latin typeface="Quattrocento Sans"/>
              <a:cs typeface="Segoe UI"/>
            </a:endParaRPr>
          </a:p>
          <a:p>
            <a:r>
              <a:rPr lang="en-GB" sz="2400" dirty="0">
                <a:solidFill>
                  <a:srgbClr val="FFFF00"/>
                </a:solidFill>
                <a:latin typeface="Quattrocento Sans"/>
                <a:cs typeface="Segoe UI"/>
              </a:rPr>
              <a:t>Non‑</a:t>
            </a:r>
            <a:r>
              <a:rPr lang="en-GB" sz="2400" dirty="0" err="1">
                <a:solidFill>
                  <a:srgbClr val="FFFF00"/>
                </a:solidFill>
                <a:latin typeface="Quattrocento Sans"/>
                <a:cs typeface="Segoe UI"/>
              </a:rPr>
              <a:t>Rigidbody</a:t>
            </a:r>
            <a:r>
              <a:rPr lang="en-GB" sz="2400" dirty="0">
                <a:solidFill>
                  <a:srgbClr val="FFFF00"/>
                </a:solidFill>
                <a:latin typeface="Quattrocento Sans"/>
                <a:cs typeface="Segoe UI"/>
              </a:rPr>
              <a:t> Controllers: </a:t>
            </a:r>
            <a:endParaRPr lang="en-GB" dirty="0"/>
          </a:p>
          <a:p>
            <a:r>
              <a:rPr lang="en-GB" sz="2400" dirty="0">
                <a:solidFill>
                  <a:schemeClr val="bg2"/>
                </a:solidFill>
                <a:latin typeface="Quattrocento Sans"/>
                <a:cs typeface="Segoe UI"/>
              </a:rPr>
              <a:t>Movement via Transform, </a:t>
            </a:r>
            <a:r>
              <a:rPr lang="en-GB" sz="2400" err="1">
                <a:solidFill>
                  <a:schemeClr val="bg2"/>
                </a:solidFill>
                <a:latin typeface="Quattrocento Sans"/>
                <a:cs typeface="Segoe UI"/>
              </a:rPr>
              <a:t>CharacterController</a:t>
            </a:r>
            <a:r>
              <a:rPr lang="en-GB" sz="2400" dirty="0">
                <a:solidFill>
                  <a:schemeClr val="bg2"/>
                </a:solidFill>
                <a:latin typeface="Quattrocento Sans"/>
                <a:cs typeface="Segoe UI"/>
              </a:rPr>
              <a:t>, or </a:t>
            </a:r>
            <a:r>
              <a:rPr lang="en-GB" sz="2400" err="1">
                <a:solidFill>
                  <a:schemeClr val="bg2"/>
                </a:solidFill>
                <a:latin typeface="Quattrocento Sans"/>
                <a:cs typeface="Segoe UI"/>
              </a:rPr>
              <a:t>NavMeshAgent</a:t>
            </a:r>
            <a:r>
              <a:rPr lang="en-GB" sz="2400" dirty="0">
                <a:solidFill>
                  <a:schemeClr val="bg2"/>
                </a:solidFill>
                <a:latin typeface="Quattrocento Sans"/>
                <a:cs typeface="Segoe UI"/>
              </a:rPr>
              <a:t>. Not physics‑simulated. Good for precise control, pathing, or decorative movement; requires special handling to interact with physics.</a:t>
            </a:r>
            <a:endParaRPr lang="en-GB" dirty="0">
              <a:solidFill>
                <a:schemeClr val="bg2"/>
              </a:solidFill>
            </a:endParaRPr>
          </a:p>
        </p:txBody>
      </p:sp>
    </p:spTree>
    <p:extLst>
      <p:ext uri="{BB962C8B-B14F-4D97-AF65-F5344CB8AC3E}">
        <p14:creationId xmlns:p14="http://schemas.microsoft.com/office/powerpoint/2010/main" val="13935900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6">
          <a:extLst>
            <a:ext uri="{FF2B5EF4-FFF2-40B4-BE49-F238E27FC236}">
              <a16:creationId xmlns:a16="http://schemas.microsoft.com/office/drawing/2014/main" id="{1BA374C8-D111-C222-F78C-B66C6CFFDBB9}"/>
            </a:ext>
          </a:extLst>
        </p:cNvPr>
        <p:cNvGrpSpPr/>
        <p:nvPr/>
      </p:nvGrpSpPr>
      <p:grpSpPr>
        <a:xfrm>
          <a:off x="0" y="0"/>
          <a:ext cx="0" cy="0"/>
          <a:chOff x="0" y="0"/>
          <a:chExt cx="0" cy="0"/>
        </a:xfrm>
      </p:grpSpPr>
      <p:sp>
        <p:nvSpPr>
          <p:cNvPr id="197" name="Google Shape;197;g18d970e3237_0_6">
            <a:extLst>
              <a:ext uri="{FF2B5EF4-FFF2-40B4-BE49-F238E27FC236}">
                <a16:creationId xmlns:a16="http://schemas.microsoft.com/office/drawing/2014/main" id="{6B79FCFE-3B21-2830-D71F-D1AEAD6B0F8C}"/>
              </a:ext>
            </a:extLst>
          </p:cNvPr>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98" name="Google Shape;198;g18d970e3237_0_6">
            <a:extLst>
              <a:ext uri="{FF2B5EF4-FFF2-40B4-BE49-F238E27FC236}">
                <a16:creationId xmlns:a16="http://schemas.microsoft.com/office/drawing/2014/main" id="{ACD4FDAE-6C4F-6C35-F916-7B7342AABF5A}"/>
              </a:ext>
            </a:extLst>
          </p:cNvPr>
          <p:cNvSpPr txBox="1"/>
          <p:nvPr/>
        </p:nvSpPr>
        <p:spPr>
          <a:xfrm>
            <a:off x="609600" y="1341439"/>
            <a:ext cx="11370900" cy="5509160"/>
          </a:xfrm>
          <a:prstGeom prst="rect">
            <a:avLst/>
          </a:prstGeom>
          <a:noFill/>
          <a:ln>
            <a:noFill/>
          </a:ln>
        </p:spPr>
        <p:txBody>
          <a:bodyPr spcFirstLastPara="1" wrap="square" lIns="91425" tIns="45700" rIns="91425" bIns="45700" anchor="t" anchorCtr="0">
            <a:spAutoFit/>
          </a:bodyPr>
          <a:lstStyle/>
          <a:p>
            <a:r>
              <a:rPr lang="en-GB" sz="2400" dirty="0">
                <a:solidFill>
                  <a:srgbClr val="FFFF00"/>
                </a:solidFill>
                <a:latin typeface="Quattrocento Sans"/>
                <a:cs typeface="Segoe UI"/>
              </a:rPr>
              <a:t>Unity Controller Matrix Project and sheet in BB</a:t>
            </a:r>
          </a:p>
          <a:p>
            <a:r>
              <a:rPr lang="en-GB" sz="2000" dirty="0">
                <a:solidFill>
                  <a:schemeClr val="bg2"/>
                </a:solidFill>
                <a:latin typeface="Quattrocento Sans"/>
                <a:cs typeface="Segoe UI"/>
              </a:rPr>
              <a:t>Static</a:t>
            </a:r>
            <a:endParaRPr lang="en-GB" sz="2000" dirty="0">
              <a:solidFill>
                <a:schemeClr val="bg2"/>
              </a:solidFill>
            </a:endParaRPr>
          </a:p>
          <a:p>
            <a:r>
              <a:rPr lang="en-GB" b="1" dirty="0">
                <a:solidFill>
                  <a:srgbClr val="FFFF00"/>
                </a:solidFill>
                <a:latin typeface="Quattrocento Sans"/>
                <a:cs typeface="Segoe UI"/>
              </a:rPr>
              <a:t>Static Collider – Collider, no </a:t>
            </a:r>
            <a:r>
              <a:rPr lang="en-GB" b="1" dirty="0" err="1">
                <a:solidFill>
                  <a:srgbClr val="FFFF00"/>
                </a:solidFill>
                <a:latin typeface="Quattrocento Sans"/>
                <a:cs typeface="Segoe UI"/>
              </a:rPr>
              <a:t>Rigidbody</a:t>
            </a:r>
            <a:endParaRPr lang="en-US" dirty="0">
              <a:solidFill>
                <a:schemeClr val="bg2"/>
              </a:solidFill>
              <a:latin typeface="Quattrocento Sans"/>
              <a:cs typeface="Segoe UI"/>
            </a:endParaRPr>
          </a:p>
          <a:p>
            <a:r>
              <a:rPr lang="en-GB" dirty="0">
                <a:solidFill>
                  <a:schemeClr val="dk1"/>
                </a:solidFill>
                <a:latin typeface="Quattrocento Sans"/>
                <a:cs typeface="Segoe UI"/>
              </a:rPr>
              <a:t>This is a </a:t>
            </a:r>
            <a:r>
              <a:rPr lang="en-GB" dirty="0" err="1">
                <a:solidFill>
                  <a:schemeClr val="dk1"/>
                </a:solidFill>
                <a:latin typeface="Quattrocento Sans"/>
                <a:cs typeface="Segoe UI"/>
              </a:rPr>
              <a:t>GameObject</a:t>
            </a:r>
            <a:r>
              <a:rPr lang="en-GB" dirty="0">
                <a:solidFill>
                  <a:schemeClr val="dk1"/>
                </a:solidFill>
                <a:latin typeface="Quattrocento Sans"/>
                <a:cs typeface="Segoe UI"/>
              </a:rPr>
              <a:t> that has a collider but no </a:t>
            </a:r>
            <a:r>
              <a:rPr lang="en-GB" dirty="0" err="1">
                <a:solidFill>
                  <a:schemeClr val="dk1"/>
                </a:solidFill>
                <a:latin typeface="Quattrocento Sans"/>
                <a:cs typeface="Segoe UI"/>
              </a:rPr>
              <a:t>Rigidbody</a:t>
            </a:r>
            <a:r>
              <a:rPr lang="en-GB" dirty="0">
                <a:solidFill>
                  <a:schemeClr val="dk1"/>
                </a:solidFill>
                <a:latin typeface="Quattrocento Sans"/>
                <a:cs typeface="Segoe UI"/>
              </a:rPr>
              <a:t>. Static colliders are used for level geometry which always stays at the same place and never moves around. Incoming </a:t>
            </a:r>
            <a:r>
              <a:rPr lang="en-GB" dirty="0" err="1">
                <a:solidFill>
                  <a:schemeClr val="dk1"/>
                </a:solidFill>
                <a:latin typeface="Quattrocento Sans"/>
                <a:cs typeface="Segoe UI"/>
              </a:rPr>
              <a:t>rigidbody</a:t>
            </a:r>
            <a:r>
              <a:rPr lang="en-GB" dirty="0">
                <a:solidFill>
                  <a:schemeClr val="dk1"/>
                </a:solidFill>
                <a:latin typeface="Quattrocento Sans"/>
                <a:cs typeface="Segoe UI"/>
              </a:rPr>
              <a:t> objects will collide with the static collider but will not move it.</a:t>
            </a:r>
            <a:endParaRPr lang="en-GB" dirty="0">
              <a:solidFill>
                <a:schemeClr val="dk1"/>
              </a:solidFill>
            </a:endParaRPr>
          </a:p>
          <a:p>
            <a:endParaRPr lang="en-GB" sz="2400" dirty="0">
              <a:solidFill>
                <a:schemeClr val="bg2"/>
              </a:solidFill>
              <a:latin typeface="Quattrocento Sans"/>
              <a:cs typeface="Segoe UI"/>
            </a:endParaRPr>
          </a:p>
          <a:p>
            <a:r>
              <a:rPr lang="en-GB" sz="2000" dirty="0">
                <a:solidFill>
                  <a:schemeClr val="bg2"/>
                </a:solidFill>
                <a:latin typeface="Quattrocento Sans"/>
                <a:cs typeface="Segoe UI"/>
              </a:rPr>
              <a:t>Dynamic </a:t>
            </a:r>
            <a:r>
              <a:rPr lang="en-GB" sz="2000" dirty="0" err="1">
                <a:solidFill>
                  <a:schemeClr val="bg2"/>
                </a:solidFill>
                <a:latin typeface="Quattrocento Sans"/>
                <a:cs typeface="Segoe UI"/>
              </a:rPr>
              <a:t>RigidBody</a:t>
            </a:r>
            <a:r>
              <a:rPr lang="en-GB" sz="2000" dirty="0">
                <a:solidFill>
                  <a:schemeClr val="bg2"/>
                </a:solidFill>
                <a:latin typeface="Quattrocento Sans"/>
                <a:cs typeface="Segoe UI"/>
              </a:rPr>
              <a:t> Controllers</a:t>
            </a:r>
            <a:endParaRPr lang="en-GB" sz="2000">
              <a:solidFill>
                <a:schemeClr val="bg2"/>
              </a:solidFill>
            </a:endParaRPr>
          </a:p>
          <a:p>
            <a:r>
              <a:rPr lang="en-GB" b="1" dirty="0" err="1">
                <a:solidFill>
                  <a:srgbClr val="FFFF00"/>
                </a:solidFill>
                <a:latin typeface="Quattrocento Sans"/>
                <a:cs typeface="Segoe UI"/>
              </a:rPr>
              <a:t>Rigidbody</a:t>
            </a:r>
            <a:r>
              <a:rPr lang="en-GB" b="1" dirty="0">
                <a:solidFill>
                  <a:srgbClr val="FFFF00"/>
                </a:solidFill>
                <a:latin typeface="Quattrocento Sans"/>
                <a:cs typeface="Segoe UI"/>
              </a:rPr>
              <a:t> Collider – Collider, (Dynamic) Non-Kinematic </a:t>
            </a:r>
            <a:r>
              <a:rPr lang="en-GB" b="1" dirty="0" err="1">
                <a:solidFill>
                  <a:srgbClr val="FFFF00"/>
                </a:solidFill>
                <a:latin typeface="Quattrocento Sans"/>
                <a:cs typeface="Segoe UI"/>
              </a:rPr>
              <a:t>Rigidbody</a:t>
            </a:r>
            <a:r>
              <a:rPr lang="en-GB" b="1" dirty="0">
                <a:solidFill>
                  <a:srgbClr val="FFFF00"/>
                </a:solidFill>
                <a:latin typeface="Quattrocento Sans"/>
                <a:cs typeface="Segoe UI"/>
              </a:rPr>
              <a:t> – Tut 02-03 control objects</a:t>
            </a:r>
            <a:endParaRPr lang="en-US" dirty="0">
              <a:solidFill>
                <a:schemeClr val="bg2"/>
              </a:solidFill>
              <a:latin typeface="Quattrocento Sans"/>
              <a:cs typeface="Segoe UI"/>
            </a:endParaRPr>
          </a:p>
          <a:p>
            <a:r>
              <a:rPr lang="en-GB" dirty="0">
                <a:solidFill>
                  <a:schemeClr val="dk1"/>
                </a:solidFill>
                <a:latin typeface="Quattrocento Sans"/>
                <a:cs typeface="Segoe UI"/>
              </a:rPr>
              <a:t>This is a </a:t>
            </a:r>
            <a:r>
              <a:rPr lang="en-GB" dirty="0" err="1">
                <a:solidFill>
                  <a:schemeClr val="dk1"/>
                </a:solidFill>
                <a:latin typeface="Quattrocento Sans"/>
                <a:cs typeface="Segoe UI"/>
              </a:rPr>
              <a:t>GameObject</a:t>
            </a:r>
            <a:r>
              <a:rPr lang="en-GB" dirty="0">
                <a:solidFill>
                  <a:schemeClr val="dk1"/>
                </a:solidFill>
                <a:latin typeface="Quattrocento Sans"/>
                <a:cs typeface="Segoe UI"/>
              </a:rPr>
              <a:t> with a collider and a normal, non-kinematic </a:t>
            </a:r>
            <a:r>
              <a:rPr lang="en-GB" dirty="0" err="1">
                <a:solidFill>
                  <a:schemeClr val="dk1"/>
                </a:solidFill>
                <a:latin typeface="Quattrocento Sans"/>
                <a:cs typeface="Segoe UI"/>
              </a:rPr>
              <a:t>Rigidbody</a:t>
            </a:r>
            <a:r>
              <a:rPr lang="en-GB" dirty="0">
                <a:solidFill>
                  <a:schemeClr val="dk1"/>
                </a:solidFill>
                <a:latin typeface="Quattrocento Sans"/>
                <a:cs typeface="Segoe UI"/>
              </a:rPr>
              <a:t> attached. </a:t>
            </a:r>
            <a:r>
              <a:rPr lang="en-GB" dirty="0" err="1">
                <a:solidFill>
                  <a:schemeClr val="dk1"/>
                </a:solidFill>
                <a:latin typeface="Segoe UI"/>
                <a:cs typeface="Segoe UI"/>
              </a:rPr>
              <a:t>R</a:t>
            </a:r>
            <a:r>
              <a:rPr lang="en-GB" dirty="0" err="1">
                <a:solidFill>
                  <a:schemeClr val="dk1"/>
                </a:solidFill>
              </a:rPr>
              <a:t>igidbody</a:t>
            </a:r>
            <a:r>
              <a:rPr lang="en-GB" dirty="0">
                <a:solidFill>
                  <a:schemeClr val="dk1"/>
                </a:solidFill>
              </a:rPr>
              <a:t> colliders are fully simulated by the physics engine and can react to collisions and forces applied from a script. They can collide with other objects, including static colliders, and are the most commonly used collider configuration in games that use Physics.</a:t>
            </a:r>
            <a:r>
              <a:rPr lang="en-GB" dirty="0">
                <a:solidFill>
                  <a:schemeClr val="dk1"/>
                </a:solidFill>
                <a:latin typeface="Quattrocento Sans"/>
                <a:cs typeface="Segoe UI"/>
              </a:rPr>
              <a:t> </a:t>
            </a:r>
            <a:endParaRPr lang="en-GB" dirty="0">
              <a:solidFill>
                <a:schemeClr val="dk1"/>
              </a:solidFill>
            </a:endParaRPr>
          </a:p>
          <a:p>
            <a:endParaRPr lang="en-GB" sz="2000" dirty="0">
              <a:solidFill>
                <a:schemeClr val="bg2"/>
              </a:solidFill>
              <a:latin typeface="Quattrocento Sans"/>
              <a:cs typeface="Segoe UI"/>
            </a:endParaRPr>
          </a:p>
          <a:p>
            <a:r>
              <a:rPr lang="en-GB" sz="2000" dirty="0">
                <a:solidFill>
                  <a:schemeClr val="bg2"/>
                </a:solidFill>
                <a:latin typeface="Quattrocento Sans"/>
                <a:cs typeface="Segoe UI"/>
              </a:rPr>
              <a:t>Kinematic </a:t>
            </a:r>
            <a:r>
              <a:rPr lang="en-GB" sz="2000" dirty="0" err="1">
                <a:solidFill>
                  <a:schemeClr val="bg2"/>
                </a:solidFill>
                <a:latin typeface="Quattrocento Sans"/>
                <a:cs typeface="Segoe UI"/>
              </a:rPr>
              <a:t>RigidBody</a:t>
            </a:r>
            <a:r>
              <a:rPr lang="en-GB" sz="2000" dirty="0">
                <a:solidFill>
                  <a:schemeClr val="bg2"/>
                </a:solidFill>
                <a:latin typeface="Quattrocento Sans"/>
                <a:cs typeface="Segoe UI"/>
              </a:rPr>
              <a:t> Controllers</a:t>
            </a:r>
            <a:endParaRPr lang="en-GB" sz="2000">
              <a:solidFill>
                <a:schemeClr val="bg2"/>
              </a:solidFill>
            </a:endParaRPr>
          </a:p>
          <a:p>
            <a:r>
              <a:rPr lang="en-GB" b="1" dirty="0" err="1">
                <a:solidFill>
                  <a:srgbClr val="FFFF00"/>
                </a:solidFill>
                <a:latin typeface="Segoe UI"/>
                <a:cs typeface="Segoe UI"/>
              </a:rPr>
              <a:t>Rigidbody</a:t>
            </a:r>
            <a:r>
              <a:rPr lang="en-GB" b="1" dirty="0">
                <a:solidFill>
                  <a:srgbClr val="FFFF00"/>
                </a:solidFill>
                <a:latin typeface="Segoe UI"/>
                <a:cs typeface="Segoe UI"/>
              </a:rPr>
              <a:t> Collider – Collider, Kinematic </a:t>
            </a:r>
            <a:r>
              <a:rPr lang="en-GB" b="1" dirty="0" err="1">
                <a:solidFill>
                  <a:srgbClr val="FFFF00"/>
                </a:solidFill>
                <a:latin typeface="Segoe UI"/>
                <a:cs typeface="Segoe UI"/>
              </a:rPr>
              <a:t>Rigidbody</a:t>
            </a:r>
            <a:r>
              <a:rPr lang="en-GB" b="1" dirty="0">
                <a:solidFill>
                  <a:srgbClr val="FFFF00"/>
                </a:solidFill>
                <a:latin typeface="Segoe UI"/>
                <a:cs typeface="Segoe UI"/>
              </a:rPr>
              <a:t> -  best practice control objects, physics controlled</a:t>
            </a:r>
            <a:endParaRPr lang="en-US" dirty="0">
              <a:solidFill>
                <a:schemeClr val="bg2"/>
              </a:solidFill>
              <a:latin typeface="Segoe UI"/>
              <a:cs typeface="Segoe UI"/>
            </a:endParaRPr>
          </a:p>
          <a:p>
            <a:r>
              <a:rPr lang="en-GB" dirty="0">
                <a:solidFill>
                  <a:schemeClr val="dk1"/>
                </a:solidFill>
                <a:latin typeface="Segoe UI"/>
                <a:cs typeface="Segoe UI"/>
              </a:rPr>
              <a:t>This is a </a:t>
            </a:r>
            <a:r>
              <a:rPr lang="en-GB" dirty="0" err="1">
                <a:solidFill>
                  <a:schemeClr val="dk1"/>
                </a:solidFill>
                <a:latin typeface="Segoe UI"/>
                <a:cs typeface="Segoe UI"/>
              </a:rPr>
              <a:t>GameObject</a:t>
            </a:r>
            <a:r>
              <a:rPr lang="en-GB" dirty="0">
                <a:solidFill>
                  <a:schemeClr val="dk1"/>
                </a:solidFill>
                <a:latin typeface="Segoe UI"/>
                <a:cs typeface="Segoe UI"/>
              </a:rPr>
              <a:t> with a collider and a normal, kinematic </a:t>
            </a:r>
            <a:r>
              <a:rPr lang="en-GB" dirty="0" err="1">
                <a:solidFill>
                  <a:schemeClr val="dk1"/>
                </a:solidFill>
                <a:latin typeface="Segoe UI"/>
                <a:cs typeface="Segoe UI"/>
              </a:rPr>
              <a:t>Rigidbody</a:t>
            </a:r>
            <a:r>
              <a:rPr lang="en-GB" dirty="0">
                <a:solidFill>
                  <a:schemeClr val="dk1"/>
                </a:solidFill>
                <a:latin typeface="Segoe UI"/>
                <a:cs typeface="Segoe UI"/>
              </a:rPr>
              <a:t> attached. They can be controlled by animation and scripted transforms, They can collide with other objects (other objects get affected), including static colliders (with some adjustment)</a:t>
            </a:r>
            <a:endParaRPr lang="en-GB" dirty="0">
              <a:solidFill>
                <a:schemeClr val="dk1"/>
              </a:solidFill>
            </a:endParaRPr>
          </a:p>
          <a:p>
            <a:endParaRPr lang="en-GB" sz="2400" dirty="0">
              <a:solidFill>
                <a:schemeClr val="bg2"/>
              </a:solidFill>
              <a:latin typeface="Quattrocento Sans"/>
              <a:cs typeface="Segoe UI"/>
            </a:endParaRPr>
          </a:p>
          <a:p>
            <a:r>
              <a:rPr lang="en-GB" sz="2000" dirty="0">
                <a:solidFill>
                  <a:schemeClr val="bg2"/>
                </a:solidFill>
                <a:latin typeface="Quattrocento Sans"/>
                <a:cs typeface="Segoe UI"/>
              </a:rPr>
              <a:t>Non </a:t>
            </a:r>
            <a:r>
              <a:rPr lang="en-GB" sz="2000" dirty="0" err="1">
                <a:solidFill>
                  <a:schemeClr val="bg2"/>
                </a:solidFill>
                <a:latin typeface="Quattrocento Sans"/>
                <a:cs typeface="Segoe UI"/>
              </a:rPr>
              <a:t>RigidBody</a:t>
            </a:r>
            <a:r>
              <a:rPr lang="en-GB" sz="2000" dirty="0">
                <a:solidFill>
                  <a:schemeClr val="bg2"/>
                </a:solidFill>
                <a:latin typeface="Quattrocento Sans"/>
                <a:cs typeface="Segoe UI"/>
              </a:rPr>
              <a:t> Controllers - Custom and Unity Controllers</a:t>
            </a:r>
            <a:endParaRPr lang="en-GB" sz="2000" dirty="0">
              <a:solidFill>
                <a:schemeClr val="bg2"/>
              </a:solidFill>
            </a:endParaRPr>
          </a:p>
          <a:p>
            <a:r>
              <a:rPr lang="en-GB" b="1" dirty="0">
                <a:solidFill>
                  <a:srgbClr val="FFFF00"/>
                </a:solidFill>
                <a:latin typeface="Segoe UI"/>
                <a:cs typeface="Segoe UI"/>
              </a:rPr>
              <a:t>No </a:t>
            </a:r>
            <a:r>
              <a:rPr lang="en-GB" b="1" err="1">
                <a:solidFill>
                  <a:srgbClr val="FFFF00"/>
                </a:solidFill>
                <a:latin typeface="Segoe UI"/>
                <a:cs typeface="Segoe UI"/>
              </a:rPr>
              <a:t>Rigidbody</a:t>
            </a:r>
            <a:r>
              <a:rPr lang="en-GB" b="1" dirty="0">
                <a:solidFill>
                  <a:srgbClr val="FFFF00"/>
                </a:solidFill>
                <a:latin typeface="Segoe UI"/>
                <a:cs typeface="Segoe UI"/>
              </a:rPr>
              <a:t> Collider: Custom control code and wrapper for physics and gravity</a:t>
            </a:r>
          </a:p>
          <a:p>
            <a:endParaRPr lang="en-GB" b="1" dirty="0">
              <a:solidFill>
                <a:srgbClr val="FFFF00"/>
              </a:solidFill>
              <a:latin typeface="Segoe UI"/>
              <a:cs typeface="Segoe UI"/>
            </a:endParaRPr>
          </a:p>
          <a:p>
            <a:r>
              <a:rPr lang="en-GB" sz="1200" dirty="0">
                <a:solidFill>
                  <a:srgbClr val="FFFFFF"/>
                </a:solidFill>
                <a:latin typeface="Quattrocento Sans"/>
                <a:cs typeface="Segoe UI"/>
                <a:hlinkClick r:id="rId3">
                  <a:extLst>
                    <a:ext uri="{A12FA001-AC4F-418D-AE19-62706E023703}">
                      <ahyp:hlinkClr xmlns:ahyp="http://schemas.microsoft.com/office/drawing/2018/hyperlinkcolor" val="tx"/>
                    </a:ext>
                  </a:extLst>
                </a:hlinkClick>
              </a:rPr>
              <a:t>https://www.youtube.com/watch?v=rXYjB0kdf-U</a:t>
            </a:r>
            <a:r>
              <a:rPr lang="en-GB" sz="1200" dirty="0">
                <a:solidFill>
                  <a:schemeClr val="dk1"/>
                </a:solidFill>
                <a:latin typeface="Quattrocento Sans"/>
                <a:cs typeface="Segoe UI"/>
              </a:rPr>
              <a:t> </a:t>
            </a:r>
            <a:endParaRPr lang="en-GB" dirty="0">
              <a:solidFill>
                <a:schemeClr val="dk1"/>
              </a:solidFill>
            </a:endParaRPr>
          </a:p>
        </p:txBody>
      </p:sp>
    </p:spTree>
    <p:extLst>
      <p:ext uri="{BB962C8B-B14F-4D97-AF65-F5344CB8AC3E}">
        <p14:creationId xmlns:p14="http://schemas.microsoft.com/office/powerpoint/2010/main" val="19976804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217"/>
        <p:cNvGrpSpPr/>
        <p:nvPr/>
      </p:nvGrpSpPr>
      <p:grpSpPr>
        <a:xfrm>
          <a:off x="0" y="0"/>
          <a:ext cx="0" cy="0"/>
          <a:chOff x="0" y="0"/>
          <a:chExt cx="0" cy="0"/>
        </a:xfrm>
      </p:grpSpPr>
      <p:sp>
        <p:nvSpPr>
          <p:cNvPr id="218" name="Google Shape;218;p2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dirty="0"/>
              <a:t>3D Interactive Media Development</a:t>
            </a:r>
            <a:endParaRPr dirty="0"/>
          </a:p>
        </p:txBody>
      </p:sp>
      <p:sp>
        <p:nvSpPr>
          <p:cNvPr id="219" name="Google Shape;219;p25"/>
          <p:cNvSpPr txBox="1"/>
          <p:nvPr/>
        </p:nvSpPr>
        <p:spPr>
          <a:xfrm>
            <a:off x="609600" y="1293507"/>
            <a:ext cx="11610900" cy="59092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dirty="0">
                <a:solidFill>
                  <a:srgbClr val="FFFF00"/>
                </a:solidFill>
                <a:latin typeface="Quattrocento Sans"/>
                <a:ea typeface="Quattrocento Sans"/>
                <a:cs typeface="Quattrocento Sans"/>
                <a:sym typeface="Quattrocento Sans"/>
              </a:rPr>
              <a:t>More C# and Unity3D:</a:t>
            </a:r>
            <a:br>
              <a:rPr lang="en-GB" sz="3200" b="1" dirty="0">
                <a:latin typeface="Quattrocento Sans"/>
                <a:ea typeface="Quattrocento Sans"/>
                <a:cs typeface="Quattrocento Sans"/>
              </a:rPr>
            </a:br>
            <a:r>
              <a:rPr lang="en-GB" sz="2400" b="1" dirty="0">
                <a:solidFill>
                  <a:srgbClr val="FFFF00"/>
                </a:solidFill>
                <a:latin typeface="Quattrocento Sans"/>
                <a:ea typeface="Quattrocento Sans"/>
                <a:cs typeface="Quattrocento Sans"/>
                <a:sym typeface="Quattrocento Sans"/>
              </a:rPr>
              <a:t>Update vs. Fixed Update, Forces and Physics, Colliders and Gravity</a:t>
            </a:r>
            <a:endParaRPr dirty="0"/>
          </a:p>
          <a:p>
            <a:pPr marL="0" marR="0" lvl="0" indent="0" algn="l" rtl="0">
              <a:spcBef>
                <a:spcPts val="0"/>
              </a:spcBef>
              <a:spcAft>
                <a:spcPts val="0"/>
              </a:spcAft>
              <a:buNone/>
            </a:pPr>
            <a:endParaRPr sz="18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b="1" dirty="0">
                <a:solidFill>
                  <a:srgbClr val="FFFF00"/>
                </a:solidFill>
                <a:latin typeface="Quattrocento Sans"/>
                <a:ea typeface="Quattrocento Sans"/>
                <a:cs typeface="Quattrocento Sans"/>
                <a:sym typeface="Quattrocento Sans"/>
              </a:rPr>
              <a:t>Collider Interactions</a:t>
            </a:r>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Colliders interact with each other differently depending on how their </a:t>
            </a:r>
            <a:r>
              <a:rPr lang="en-GB" err="1">
                <a:solidFill>
                  <a:schemeClr val="dk1"/>
                </a:solidFill>
                <a:latin typeface="Quattrocento Sans"/>
                <a:ea typeface="Quattrocento Sans"/>
                <a:cs typeface="Quattrocento Sans"/>
                <a:sym typeface="Quattrocento Sans"/>
              </a:rPr>
              <a:t>Rigidbody</a:t>
            </a:r>
            <a:r>
              <a:rPr lang="en-GB" dirty="0">
                <a:solidFill>
                  <a:schemeClr val="dk1"/>
                </a:solidFill>
                <a:latin typeface="Quattrocento Sans"/>
                <a:ea typeface="Quattrocento Sans"/>
                <a:cs typeface="Quattrocento Sans"/>
                <a:sym typeface="Quattrocento Sans"/>
              </a:rPr>
              <a:t> components have been configured.</a:t>
            </a:r>
            <a:endParaRPr>
              <a:solidFill>
                <a:schemeClr val="dk1"/>
              </a:solidFill>
            </a:endParaRPr>
          </a:p>
          <a:p>
            <a:pPr marL="0" marR="0" lvl="0" indent="0" algn="l" rtl="0">
              <a:spcBef>
                <a:spcPts val="0"/>
              </a:spcBef>
              <a:spcAft>
                <a:spcPts val="0"/>
              </a:spcAft>
              <a:buNone/>
            </a:pPr>
            <a:endParaRPr b="1" dirty="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b="1" dirty="0">
                <a:solidFill>
                  <a:srgbClr val="FFFF00"/>
                </a:solidFill>
                <a:latin typeface="Quattrocento Sans"/>
                <a:ea typeface="Quattrocento Sans"/>
                <a:cs typeface="Quattrocento Sans"/>
                <a:sym typeface="Quattrocento Sans"/>
              </a:rPr>
              <a:t>Static Collider – Collider, no </a:t>
            </a:r>
            <a:r>
              <a:rPr lang="en-GB" b="1" err="1">
                <a:solidFill>
                  <a:srgbClr val="FFFF00"/>
                </a:solidFill>
                <a:latin typeface="Quattrocento Sans"/>
                <a:ea typeface="Quattrocento Sans"/>
                <a:cs typeface="Quattrocento Sans"/>
                <a:sym typeface="Quattrocento Sans"/>
              </a:rPr>
              <a:t>Rigidbody</a:t>
            </a:r>
            <a:endParaRPr b="1">
              <a:solidFill>
                <a:srgbClr val="FFFF00"/>
              </a:solidFill>
              <a:latin typeface="Quattrocento Sans"/>
              <a:ea typeface="Quattrocento Sans"/>
              <a:cs typeface="Quattrocento Sans"/>
            </a:endParaRPr>
          </a:p>
          <a:p>
            <a:r>
              <a:rPr lang="en-GB" dirty="0">
                <a:solidFill>
                  <a:schemeClr val="dk1"/>
                </a:solidFill>
                <a:latin typeface="Quattrocento Sans"/>
                <a:ea typeface="Quattrocento Sans"/>
                <a:cs typeface="Quattrocento Sans"/>
                <a:sym typeface="Quattrocento Sans"/>
              </a:rPr>
              <a:t>This is a </a:t>
            </a:r>
            <a:r>
              <a:rPr lang="en-GB" dirty="0" err="1">
                <a:solidFill>
                  <a:schemeClr val="dk1"/>
                </a:solidFill>
                <a:latin typeface="Quattrocento Sans"/>
                <a:ea typeface="Quattrocento Sans"/>
                <a:cs typeface="Quattrocento Sans"/>
                <a:sym typeface="Quattrocento Sans"/>
              </a:rPr>
              <a:t>GameObject</a:t>
            </a:r>
            <a:r>
              <a:rPr lang="en-GB" dirty="0">
                <a:solidFill>
                  <a:schemeClr val="dk1"/>
                </a:solidFill>
                <a:latin typeface="Quattrocento Sans"/>
                <a:ea typeface="Quattrocento Sans"/>
                <a:cs typeface="Quattrocento Sans"/>
                <a:sym typeface="Quattrocento Sans"/>
              </a:rPr>
              <a:t> that has a collider but no </a:t>
            </a:r>
            <a:r>
              <a:rPr lang="en-GB" dirty="0" err="1">
                <a:solidFill>
                  <a:schemeClr val="dk1"/>
                </a:solidFill>
                <a:latin typeface="Quattrocento Sans"/>
                <a:ea typeface="Quattrocento Sans"/>
                <a:cs typeface="Quattrocento Sans"/>
                <a:sym typeface="Quattrocento Sans"/>
              </a:rPr>
              <a:t>Rigidbody</a:t>
            </a:r>
            <a:r>
              <a:rPr lang="en-GB" dirty="0">
                <a:solidFill>
                  <a:schemeClr val="dk1"/>
                </a:solidFill>
                <a:latin typeface="Quattrocento Sans"/>
                <a:ea typeface="Quattrocento Sans"/>
                <a:cs typeface="Quattrocento Sans"/>
                <a:sym typeface="Quattrocento Sans"/>
              </a:rPr>
              <a:t>. Static colliders are used for level geometry which always stays at the same place and never moves around. Incoming </a:t>
            </a:r>
            <a:r>
              <a:rPr lang="en-GB" dirty="0" err="1">
                <a:solidFill>
                  <a:schemeClr val="dk1"/>
                </a:solidFill>
                <a:latin typeface="Quattrocento Sans"/>
                <a:ea typeface="Quattrocento Sans"/>
                <a:cs typeface="Quattrocento Sans"/>
                <a:sym typeface="Quattrocento Sans"/>
              </a:rPr>
              <a:t>rigidbody</a:t>
            </a:r>
            <a:r>
              <a:rPr lang="en-GB" dirty="0">
                <a:solidFill>
                  <a:schemeClr val="dk1"/>
                </a:solidFill>
                <a:latin typeface="Quattrocento Sans"/>
                <a:ea typeface="Quattrocento Sans"/>
                <a:cs typeface="Quattrocento Sans"/>
                <a:sym typeface="Quattrocento Sans"/>
              </a:rPr>
              <a:t> objects will collide with the static collider but will not move it.</a:t>
            </a:r>
            <a:endParaRPr dirty="0">
              <a:solidFill>
                <a:schemeClr val="dk1"/>
              </a:solidFill>
            </a:endParaRPr>
          </a:p>
          <a:p>
            <a:pPr marL="0" marR="0" lvl="0" indent="0" algn="l" rtl="0">
              <a:spcBef>
                <a:spcPts val="0"/>
              </a:spcBef>
              <a:spcAft>
                <a:spcPts val="0"/>
              </a:spcAft>
              <a:buNone/>
            </a:pPr>
            <a:endParaRPr b="1" dirty="0">
              <a:solidFill>
                <a:schemeClr val="dk1"/>
              </a:solidFill>
              <a:latin typeface="Quattrocento Sans"/>
              <a:ea typeface="Quattrocento Sans"/>
              <a:cs typeface="Quattrocento Sans"/>
            </a:endParaRPr>
          </a:p>
          <a:p>
            <a:r>
              <a:rPr lang="en-GB" b="1" dirty="0" err="1">
                <a:solidFill>
                  <a:srgbClr val="FFFF00"/>
                </a:solidFill>
                <a:latin typeface="Quattrocento Sans"/>
                <a:ea typeface="Quattrocento Sans"/>
                <a:cs typeface="Quattrocento Sans"/>
                <a:sym typeface="Quattrocento Sans"/>
              </a:rPr>
              <a:t>Rigidbody</a:t>
            </a:r>
            <a:r>
              <a:rPr lang="en-GB" b="1" dirty="0">
                <a:solidFill>
                  <a:srgbClr val="FFFF00"/>
                </a:solidFill>
                <a:latin typeface="Quattrocento Sans"/>
                <a:ea typeface="Quattrocento Sans"/>
                <a:cs typeface="Quattrocento Sans"/>
                <a:sym typeface="Quattrocento Sans"/>
              </a:rPr>
              <a:t> Collider – Collider, (Dynamic) Non-Kinematic </a:t>
            </a:r>
            <a:r>
              <a:rPr lang="en-GB" b="1" dirty="0" err="1">
                <a:solidFill>
                  <a:srgbClr val="FFFF00"/>
                </a:solidFill>
                <a:latin typeface="Quattrocento Sans"/>
                <a:ea typeface="Quattrocento Sans"/>
                <a:cs typeface="Quattrocento Sans"/>
                <a:sym typeface="Quattrocento Sans"/>
              </a:rPr>
              <a:t>Rigidbody</a:t>
            </a:r>
            <a:r>
              <a:rPr lang="en-GB" b="1" dirty="0">
                <a:solidFill>
                  <a:srgbClr val="FFFF00"/>
                </a:solidFill>
                <a:latin typeface="Quattrocento Sans"/>
                <a:ea typeface="Quattrocento Sans"/>
                <a:cs typeface="Quattrocento Sans"/>
                <a:sym typeface="Quattrocento Sans"/>
              </a:rPr>
              <a:t> – Tut 02-03 control objects</a:t>
            </a:r>
            <a:endParaRPr b="1" dirty="0">
              <a:solidFill>
                <a:srgbClr val="FFFF00"/>
              </a:solidFill>
              <a:latin typeface="Quattrocento Sans"/>
              <a:ea typeface="Quattrocento Sans"/>
              <a:cs typeface="Quattrocento Sans"/>
            </a:endParaRPr>
          </a:p>
          <a:p>
            <a:r>
              <a:rPr lang="en-GB" dirty="0">
                <a:solidFill>
                  <a:schemeClr val="dk1"/>
                </a:solidFill>
                <a:latin typeface="Quattrocento Sans"/>
                <a:ea typeface="Quattrocento Sans"/>
                <a:cs typeface="Quattrocento Sans"/>
                <a:sym typeface="Quattrocento Sans"/>
              </a:rPr>
              <a:t>This is a </a:t>
            </a:r>
            <a:r>
              <a:rPr lang="en-GB" dirty="0" err="1">
                <a:solidFill>
                  <a:schemeClr val="dk1"/>
                </a:solidFill>
                <a:latin typeface="Quattrocento Sans"/>
                <a:ea typeface="Quattrocento Sans"/>
                <a:cs typeface="Quattrocento Sans"/>
                <a:sym typeface="Quattrocento Sans"/>
              </a:rPr>
              <a:t>GameObject</a:t>
            </a:r>
            <a:r>
              <a:rPr lang="en-GB" dirty="0">
                <a:solidFill>
                  <a:schemeClr val="dk1"/>
                </a:solidFill>
                <a:latin typeface="Quattrocento Sans"/>
                <a:ea typeface="Quattrocento Sans"/>
                <a:cs typeface="Quattrocento Sans"/>
                <a:sym typeface="Quattrocento Sans"/>
              </a:rPr>
              <a:t> with a collider and a normal, non-kinematic </a:t>
            </a:r>
            <a:r>
              <a:rPr lang="en-GB" dirty="0" err="1">
                <a:solidFill>
                  <a:schemeClr val="dk1"/>
                </a:solidFill>
                <a:latin typeface="Quattrocento Sans"/>
                <a:ea typeface="Quattrocento Sans"/>
                <a:cs typeface="Quattrocento Sans"/>
                <a:sym typeface="Quattrocento Sans"/>
              </a:rPr>
              <a:t>Rigidbody</a:t>
            </a:r>
            <a:r>
              <a:rPr lang="en-GB" dirty="0">
                <a:solidFill>
                  <a:schemeClr val="dk1"/>
                </a:solidFill>
                <a:latin typeface="Quattrocento Sans"/>
                <a:ea typeface="Quattrocento Sans"/>
                <a:cs typeface="Quattrocento Sans"/>
                <a:sym typeface="Quattrocento Sans"/>
              </a:rPr>
              <a:t> attached. </a:t>
            </a:r>
            <a:r>
              <a:rPr lang="en-GB" dirty="0" err="1">
                <a:solidFill>
                  <a:schemeClr val="dk1"/>
                </a:solidFill>
                <a:latin typeface="Segoe UI"/>
                <a:ea typeface="Quattrocento Sans"/>
                <a:cs typeface="Segoe UI"/>
                <a:sym typeface="Quattrocento Sans"/>
              </a:rPr>
              <a:t>R</a:t>
            </a:r>
            <a:r>
              <a:rPr lang="en-GB" dirty="0" err="1">
                <a:solidFill>
                  <a:schemeClr val="dk1"/>
                </a:solidFill>
                <a:ea typeface="Quattrocento Sans"/>
                <a:sym typeface="Quattrocento Sans"/>
              </a:rPr>
              <a:t>igidbody</a:t>
            </a:r>
            <a:r>
              <a:rPr lang="en-GB" dirty="0">
                <a:solidFill>
                  <a:schemeClr val="dk1"/>
                </a:solidFill>
                <a:ea typeface="Quattrocento Sans"/>
                <a:sym typeface="Quattrocento Sans"/>
              </a:rPr>
              <a:t> colliders are fully simulated by the physics engine and can react to collisions and forces applied from a script. They can collide with other objects, including static colliders, and are the most commonly used collider configuration in games that use Physics.</a:t>
            </a:r>
            <a:r>
              <a:rPr lang="en-GB" dirty="0">
                <a:solidFill>
                  <a:schemeClr val="dk1"/>
                </a:solidFill>
                <a:latin typeface="Quattrocento Sans"/>
                <a:ea typeface="Quattrocento Sans"/>
                <a:cs typeface="Quattrocento Sans"/>
                <a:sym typeface="Quattrocento Sans"/>
              </a:rPr>
              <a:t> </a:t>
            </a:r>
            <a:endParaRPr lang="en-GB" dirty="0">
              <a:solidFill>
                <a:schemeClr val="dk1"/>
              </a:solidFill>
              <a:latin typeface="Segoe UI"/>
              <a:ea typeface="Quattrocento Sans"/>
              <a:cs typeface="Segoe UI"/>
            </a:endParaRPr>
          </a:p>
          <a:p>
            <a:pPr marL="0" marR="0" lvl="0" indent="0" algn="l">
              <a:spcBef>
                <a:spcPts val="0"/>
              </a:spcBef>
              <a:spcAft>
                <a:spcPts val="0"/>
              </a:spcAft>
              <a:buNone/>
            </a:pPr>
            <a:endParaRPr lang="en-US" dirty="0">
              <a:solidFill>
                <a:schemeClr val="dk1"/>
              </a:solidFill>
              <a:latin typeface="Segoe UI"/>
              <a:ea typeface="Quattrocento Sans"/>
              <a:cs typeface="Segoe UI"/>
            </a:endParaRPr>
          </a:p>
          <a:p>
            <a:r>
              <a:rPr lang="en-GB" b="1" dirty="0" err="1">
                <a:solidFill>
                  <a:srgbClr val="FFFF00"/>
                </a:solidFill>
                <a:latin typeface="Segoe UI"/>
                <a:cs typeface="Segoe UI"/>
              </a:rPr>
              <a:t>Rigidbody</a:t>
            </a:r>
            <a:r>
              <a:rPr lang="en-GB" b="1" dirty="0">
                <a:solidFill>
                  <a:srgbClr val="FFFF00"/>
                </a:solidFill>
                <a:latin typeface="Segoe UI"/>
                <a:cs typeface="Segoe UI"/>
              </a:rPr>
              <a:t> Collider – Collider, Kinematic </a:t>
            </a:r>
            <a:r>
              <a:rPr lang="en-GB" b="1" dirty="0" err="1">
                <a:solidFill>
                  <a:srgbClr val="FFFF00"/>
                </a:solidFill>
                <a:latin typeface="Segoe UI"/>
                <a:cs typeface="Segoe UI"/>
              </a:rPr>
              <a:t>Rigidbody</a:t>
            </a:r>
            <a:r>
              <a:rPr lang="en-GB" b="1" dirty="0">
                <a:solidFill>
                  <a:srgbClr val="FFFF00"/>
                </a:solidFill>
                <a:latin typeface="Segoe UI"/>
                <a:cs typeface="Segoe UI"/>
              </a:rPr>
              <a:t> -  best practice control objects, physics controlled</a:t>
            </a:r>
            <a:endParaRPr lang="en-US" dirty="0">
              <a:solidFill>
                <a:srgbClr val="FFFF00"/>
              </a:solidFill>
              <a:latin typeface="Segoe UI"/>
              <a:cs typeface="Segoe UI"/>
            </a:endParaRPr>
          </a:p>
          <a:p>
            <a:r>
              <a:rPr lang="en-GB" dirty="0">
                <a:solidFill>
                  <a:schemeClr val="dk1"/>
                </a:solidFill>
                <a:latin typeface="Segoe UI"/>
                <a:cs typeface="Segoe UI"/>
              </a:rPr>
              <a:t>This is a </a:t>
            </a:r>
            <a:r>
              <a:rPr lang="en-GB" dirty="0" err="1">
                <a:solidFill>
                  <a:schemeClr val="dk1"/>
                </a:solidFill>
                <a:latin typeface="Segoe UI"/>
                <a:cs typeface="Segoe UI"/>
              </a:rPr>
              <a:t>GameObject</a:t>
            </a:r>
            <a:r>
              <a:rPr lang="en-GB" dirty="0">
                <a:solidFill>
                  <a:schemeClr val="dk1"/>
                </a:solidFill>
                <a:latin typeface="Segoe UI"/>
                <a:cs typeface="Segoe UI"/>
              </a:rPr>
              <a:t> with a collider and a normal, kinematic </a:t>
            </a:r>
            <a:r>
              <a:rPr lang="en-GB" dirty="0" err="1">
                <a:solidFill>
                  <a:schemeClr val="dk1"/>
                </a:solidFill>
                <a:latin typeface="Segoe UI"/>
                <a:cs typeface="Segoe UI"/>
              </a:rPr>
              <a:t>Rigidbody</a:t>
            </a:r>
            <a:r>
              <a:rPr lang="en-GB" dirty="0">
                <a:solidFill>
                  <a:schemeClr val="dk1"/>
                </a:solidFill>
                <a:latin typeface="Segoe UI"/>
                <a:cs typeface="Segoe UI"/>
              </a:rPr>
              <a:t> attached. They can be controlled by animation and scripted transforms, They can collide with other objects (other objects get affected), including static colliders (with some adjustment)</a:t>
            </a:r>
            <a:endParaRPr lang="en-GB" dirty="0">
              <a:solidFill>
                <a:schemeClr val="dk1"/>
              </a:solidFill>
            </a:endParaRPr>
          </a:p>
          <a:p>
            <a:endParaRPr lang="en-GB" b="1" dirty="0">
              <a:solidFill>
                <a:srgbClr val="FFFF00"/>
              </a:solidFill>
              <a:latin typeface="Segoe UI"/>
              <a:ea typeface="Quattrocento Sans"/>
              <a:cs typeface="Segoe UI"/>
            </a:endParaRPr>
          </a:p>
          <a:p>
            <a:endParaRPr lang="en-GB" sz="1200" u="sng" dirty="0">
              <a:solidFill>
                <a:schemeClr val="hlink"/>
              </a:solidFill>
              <a:latin typeface="Quattrocento Sans"/>
              <a:ea typeface="Quattrocento Sans"/>
              <a:cs typeface="Quattrocento Sans"/>
              <a:sym typeface="Quattrocento Sans"/>
            </a:endParaRPr>
          </a:p>
          <a:p>
            <a:r>
              <a:rPr lang="en-GB" sz="1200" u="sng" dirty="0">
                <a:solidFill>
                  <a:schemeClr val="hlink"/>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https://www.youtube.com/watch?v=rXYjB0kdf-U</a:t>
            </a:r>
            <a:r>
              <a:rPr lang="en-GB" sz="1200" dirty="0">
                <a:solidFill>
                  <a:schemeClr val="dk1"/>
                </a:solidFill>
                <a:latin typeface="Quattrocento Sans"/>
                <a:ea typeface="Quattrocento Sans"/>
                <a:cs typeface="Quattrocento Sans"/>
                <a:sym typeface="Quattrocento Sans"/>
              </a:rPr>
              <a:t> </a:t>
            </a:r>
            <a:endParaRPr sz="1800">
              <a:solidFill>
                <a:schemeClr val="dk1"/>
              </a:solidFill>
              <a:latin typeface="Quattrocento Sans"/>
              <a:ea typeface="Quattrocento Sans"/>
              <a:cs typeface="Quattrocento Sans"/>
            </a:endParaRPr>
          </a:p>
          <a:p>
            <a:pPr marL="0" marR="0" lvl="0" indent="0" algn="l" rtl="0">
              <a:spcBef>
                <a:spcPts val="0"/>
              </a:spcBef>
              <a:spcAft>
                <a:spcPts val="0"/>
              </a:spcAft>
              <a:buNone/>
            </a:pPr>
            <a:endParaRPr sz="32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26" name="Google Shape;226;p26"/>
          <p:cNvSpPr txBox="1"/>
          <p:nvPr/>
        </p:nvSpPr>
        <p:spPr>
          <a:xfrm>
            <a:off x="609600" y="1293507"/>
            <a:ext cx="11677200" cy="5001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dirty="0">
                <a:solidFill>
                  <a:srgbClr val="FFFF00"/>
                </a:solidFill>
                <a:latin typeface="Quattrocento Sans"/>
                <a:ea typeface="Quattrocento Sans"/>
                <a:cs typeface="Quattrocento Sans"/>
                <a:sym typeface="Quattrocento Sans"/>
              </a:rPr>
              <a:t>More C# and Unity3D:</a:t>
            </a:r>
            <a:br>
              <a:rPr lang="en-GB" sz="3200" b="1" dirty="0">
                <a:latin typeface="Quattrocento Sans"/>
                <a:ea typeface="Quattrocento Sans"/>
                <a:cs typeface="Quattrocento Sans"/>
              </a:rPr>
            </a:br>
            <a:r>
              <a:rPr lang="en-GB" sz="2400" b="1" dirty="0">
                <a:solidFill>
                  <a:srgbClr val="FFFF00"/>
                </a:solidFill>
                <a:latin typeface="Quattrocento Sans"/>
                <a:ea typeface="Quattrocento Sans"/>
                <a:cs typeface="Quattrocento Sans"/>
                <a:sym typeface="Quattrocento Sans"/>
              </a:rPr>
              <a:t>Update vs. Fixed Update, Forces and Physics, Colliders and Gravity</a:t>
            </a:r>
            <a:endParaRPr lang="en-US">
              <a:latin typeface="Quattrocento Sans"/>
            </a:endParaRPr>
          </a:p>
          <a:p>
            <a:r>
              <a:rPr lang="en-GB" sz="2000" b="1" dirty="0">
                <a:solidFill>
                  <a:srgbClr val="00FFFF"/>
                </a:solidFill>
                <a:latin typeface="Quattrocento Sans"/>
                <a:ea typeface="Quattrocento Sans"/>
                <a:cs typeface="Quattrocento Sans"/>
                <a:sym typeface="Quattrocento Sans"/>
              </a:rPr>
              <a:t>Collider, </a:t>
            </a:r>
            <a:r>
              <a:rPr lang="en-GB" sz="2000" b="1" dirty="0">
                <a:solidFill>
                  <a:schemeClr val="bg2"/>
                </a:solidFill>
                <a:latin typeface="Quattrocento Sans"/>
                <a:ea typeface="Quattrocento Sans"/>
                <a:cs typeface="Quattrocento Sans"/>
                <a:sym typeface="Quattrocento Sans"/>
              </a:rPr>
              <a:t>Kinematic </a:t>
            </a:r>
            <a:r>
              <a:rPr lang="en-GB" sz="2000" b="1" dirty="0" err="1">
                <a:solidFill>
                  <a:schemeClr val="bg2"/>
                </a:solidFill>
                <a:latin typeface="Quattrocento Sans"/>
                <a:ea typeface="Quattrocento Sans"/>
                <a:cs typeface="Quattrocento Sans"/>
                <a:sym typeface="Quattrocento Sans"/>
              </a:rPr>
              <a:t>Rigidbody</a:t>
            </a:r>
            <a:r>
              <a:rPr lang="en-GB" sz="2000" b="1" dirty="0">
                <a:solidFill>
                  <a:srgbClr val="00FFFF"/>
                </a:solidFill>
                <a:latin typeface="Quattrocento Sans"/>
                <a:ea typeface="Quattrocento Sans"/>
                <a:cs typeface="Quattrocento Sans"/>
                <a:sym typeface="Quattrocento Sans"/>
              </a:rPr>
              <a:t>, Transform, .Translate, .Rotate, .</a:t>
            </a:r>
            <a:r>
              <a:rPr lang="en-GB" sz="2000" b="1" dirty="0" err="1">
                <a:solidFill>
                  <a:srgbClr val="00FFFF"/>
                </a:solidFill>
                <a:latin typeface="Quattrocento Sans"/>
                <a:ea typeface="Quattrocento Sans"/>
                <a:cs typeface="Quattrocento Sans"/>
                <a:sym typeface="Quattrocento Sans"/>
              </a:rPr>
              <a:t>MoveTowards</a:t>
            </a:r>
            <a:r>
              <a:rPr lang="en-GB" sz="2000" b="1" dirty="0">
                <a:solidFill>
                  <a:srgbClr val="00FFFF"/>
                </a:solidFill>
                <a:latin typeface="Quattrocento Sans"/>
                <a:ea typeface="Quattrocento Sans"/>
                <a:cs typeface="Quattrocento Sans"/>
                <a:sym typeface="Quattrocento Sans"/>
              </a:rPr>
              <a:t>, .</a:t>
            </a:r>
            <a:r>
              <a:rPr lang="en-GB" sz="2000" b="1" dirty="0" err="1">
                <a:solidFill>
                  <a:srgbClr val="00FFFF"/>
                </a:solidFill>
                <a:latin typeface="Quattrocento Sans"/>
                <a:ea typeface="Quattrocento Sans"/>
                <a:cs typeface="Quattrocento Sans"/>
                <a:sym typeface="Quattrocento Sans"/>
              </a:rPr>
              <a:t>LookAt</a:t>
            </a:r>
            <a:r>
              <a:rPr lang="en-GB" sz="2000" b="1" dirty="0">
                <a:solidFill>
                  <a:srgbClr val="00FFFF"/>
                </a:solidFill>
                <a:latin typeface="Quattrocento Sans"/>
                <a:ea typeface="Quattrocento Sans"/>
                <a:cs typeface="Quattrocento Sans"/>
                <a:sym typeface="Quattrocento Sans"/>
              </a:rPr>
              <a:t>, </a:t>
            </a:r>
            <a:r>
              <a:rPr lang="en-GB" sz="2000" b="1" dirty="0" err="1">
                <a:solidFill>
                  <a:srgbClr val="00FFFF"/>
                </a:solidFill>
                <a:latin typeface="Quattrocento Sans"/>
                <a:ea typeface="Quattrocento Sans"/>
                <a:cs typeface="Quattrocento Sans"/>
                <a:sym typeface="Quattrocento Sans"/>
              </a:rPr>
              <a:t>FixedUpdate</a:t>
            </a:r>
            <a:r>
              <a:rPr lang="en-GB" sz="2000" b="1" dirty="0">
                <a:solidFill>
                  <a:srgbClr val="00FFFF"/>
                </a:solidFill>
                <a:latin typeface="Quattrocento Sans"/>
                <a:ea typeface="Quattrocento Sans"/>
                <a:cs typeface="Quattrocento Sans"/>
                <a:sym typeface="Quattrocento Sans"/>
              </a:rPr>
              <a:t> </a:t>
            </a:r>
            <a:endParaRPr lang="en-GB" sz="2000" b="1" dirty="0">
              <a:solidFill>
                <a:srgbClr val="FFFF00"/>
              </a:solidFill>
              <a:latin typeface="Quattrocento Sans"/>
              <a:ea typeface="Quattrocento Sans"/>
              <a:cs typeface="Quattrocento Sans"/>
            </a:endParaRPr>
          </a:p>
          <a:p>
            <a:r>
              <a:rPr lang="en-GB" sz="2700" b="1" dirty="0">
                <a:solidFill>
                  <a:srgbClr val="FF0000"/>
                </a:solidFill>
                <a:latin typeface="Quattrocento Sans"/>
                <a:ea typeface="Quattrocento Sans"/>
                <a:cs typeface="Quattrocento Sans"/>
                <a:sym typeface="Quattrocento Sans"/>
              </a:rPr>
              <a:t>(not Best Practice, but works – like Tut 02-03, should use physics)</a:t>
            </a:r>
            <a:endParaRPr sz="1800" b="1">
              <a:solidFill>
                <a:srgbClr val="FF0000"/>
              </a:solidFill>
              <a:latin typeface="Quattrocento Sans"/>
              <a:ea typeface="Quattrocento Sans"/>
              <a:cs typeface="Quattrocento Sans"/>
            </a:endParaRPr>
          </a:p>
          <a:p>
            <a:endParaRPr lang="en-GB" sz="1700" dirty="0">
              <a:solidFill>
                <a:schemeClr val="dk1"/>
              </a:solidFill>
              <a:latin typeface="Quattrocento Sans"/>
              <a:ea typeface="Quattrocento Sans"/>
            </a:endParaRPr>
          </a:p>
          <a:p>
            <a:r>
              <a:rPr lang="en-GB" sz="1700" dirty="0">
                <a:solidFill>
                  <a:schemeClr val="dk1"/>
                </a:solidFill>
                <a:latin typeface="Quattrocento Sans"/>
                <a:ea typeface="Quattrocento Sans"/>
                <a:sym typeface="Quattrocento Sans"/>
              </a:rPr>
              <a:t>This</a:t>
            </a:r>
            <a:r>
              <a:rPr lang="en-GB" sz="1700" dirty="0">
                <a:solidFill>
                  <a:schemeClr val="dk1"/>
                </a:solidFill>
                <a:latin typeface="Quattrocento Sans"/>
                <a:ea typeface="Quattrocento Sans"/>
                <a:cs typeface="Quattrocento Sans"/>
                <a:sym typeface="Quattrocento Sans"/>
              </a:rPr>
              <a:t> is a </a:t>
            </a:r>
            <a:r>
              <a:rPr lang="en-GB" sz="1700" err="1">
                <a:solidFill>
                  <a:schemeClr val="dk1"/>
                </a:solidFill>
                <a:latin typeface="Quattrocento Sans"/>
                <a:ea typeface="Quattrocento Sans"/>
                <a:cs typeface="Quattrocento Sans"/>
                <a:sym typeface="Quattrocento Sans"/>
              </a:rPr>
              <a:t>GameObject</a:t>
            </a:r>
            <a:r>
              <a:rPr lang="en-GB" sz="1700" dirty="0">
                <a:solidFill>
                  <a:schemeClr val="dk1"/>
                </a:solidFill>
                <a:latin typeface="Quattrocento Sans"/>
                <a:ea typeface="Quattrocento Sans"/>
                <a:cs typeface="Quattrocento Sans"/>
                <a:sym typeface="Quattrocento Sans"/>
              </a:rPr>
              <a:t> with a collider and a kinematic </a:t>
            </a:r>
            <a:r>
              <a:rPr lang="en-GB" sz="1700" err="1">
                <a:solidFill>
                  <a:schemeClr val="dk1"/>
                </a:solidFill>
                <a:latin typeface="Quattrocento Sans"/>
                <a:ea typeface="Quattrocento Sans"/>
                <a:cs typeface="Quattrocento Sans"/>
                <a:sym typeface="Quattrocento Sans"/>
              </a:rPr>
              <a:t>Rigidbody</a:t>
            </a:r>
            <a:r>
              <a:rPr lang="en-GB" sz="1700" dirty="0">
                <a:solidFill>
                  <a:schemeClr val="dk1"/>
                </a:solidFill>
                <a:latin typeface="Quattrocento Sans"/>
                <a:ea typeface="Quattrocento Sans"/>
                <a:cs typeface="Quattrocento Sans"/>
                <a:sym typeface="Quattrocento Sans"/>
              </a:rPr>
              <a:t> attached, the </a:t>
            </a:r>
            <a:r>
              <a:rPr lang="en-GB" sz="1700" i="1" err="1">
                <a:solidFill>
                  <a:schemeClr val="dk1"/>
                </a:solidFill>
                <a:latin typeface="Quattrocento Sans"/>
                <a:ea typeface="Quattrocento Sans"/>
                <a:cs typeface="Quattrocento Sans"/>
                <a:sym typeface="Quattrocento Sans"/>
              </a:rPr>
              <a:t>IsKinematic</a:t>
            </a:r>
            <a:r>
              <a:rPr lang="en-GB" sz="1700" dirty="0">
                <a:solidFill>
                  <a:schemeClr val="dk1"/>
                </a:solidFill>
                <a:latin typeface="Quattrocento Sans"/>
                <a:ea typeface="Quattrocento Sans"/>
                <a:cs typeface="Quattrocento Sans"/>
                <a:sym typeface="Quattrocento Sans"/>
              </a:rPr>
              <a:t> property of the </a:t>
            </a:r>
            <a:r>
              <a:rPr lang="en-GB" sz="1700" err="1">
                <a:solidFill>
                  <a:schemeClr val="dk1"/>
                </a:solidFill>
                <a:latin typeface="Quattrocento Sans"/>
                <a:ea typeface="Quattrocento Sans"/>
                <a:cs typeface="Quattrocento Sans"/>
                <a:sym typeface="Quattrocento Sans"/>
              </a:rPr>
              <a:t>Rigidbody</a:t>
            </a:r>
            <a:r>
              <a:rPr lang="en-GB" sz="1700" dirty="0">
                <a:solidFill>
                  <a:schemeClr val="dk1"/>
                </a:solidFill>
                <a:latin typeface="Quattrocento Sans"/>
                <a:ea typeface="Quattrocento Sans"/>
                <a:cs typeface="Quattrocento Sans"/>
                <a:sym typeface="Quattrocento Sans"/>
              </a:rPr>
              <a:t> </a:t>
            </a:r>
            <a:endParaRPr sz="1300">
              <a:solidFill>
                <a:schemeClr val="dk1"/>
              </a:solidFill>
              <a:latin typeface="Quattrocento Sans"/>
            </a:endParaRPr>
          </a:p>
          <a:p>
            <a:r>
              <a:rPr lang="en-GB" sz="1700" dirty="0">
                <a:solidFill>
                  <a:schemeClr val="dk1"/>
                </a:solidFill>
                <a:latin typeface="Quattrocento Sans"/>
                <a:ea typeface="Quattrocento Sans"/>
                <a:cs typeface="Quattrocento Sans"/>
                <a:sym typeface="Quattrocento Sans"/>
              </a:rPr>
              <a:t>is enabled. You can move a kinematic </a:t>
            </a:r>
            <a:r>
              <a:rPr lang="en-GB" sz="1700" dirty="0" err="1">
                <a:solidFill>
                  <a:schemeClr val="dk1"/>
                </a:solidFill>
                <a:latin typeface="Quattrocento Sans"/>
                <a:ea typeface="Quattrocento Sans"/>
                <a:cs typeface="Quattrocento Sans"/>
                <a:sym typeface="Quattrocento Sans"/>
              </a:rPr>
              <a:t>rigidbody</a:t>
            </a:r>
            <a:r>
              <a:rPr lang="en-GB" sz="1700" dirty="0">
                <a:solidFill>
                  <a:schemeClr val="dk1"/>
                </a:solidFill>
                <a:latin typeface="Quattrocento Sans"/>
                <a:ea typeface="Quattrocento Sans"/>
                <a:cs typeface="Quattrocento Sans"/>
                <a:sym typeface="Quattrocento Sans"/>
              </a:rPr>
              <a:t> object from a script by modifying its </a:t>
            </a:r>
            <a:r>
              <a:rPr lang="en-GB" sz="1700" i="1" dirty="0">
                <a:solidFill>
                  <a:schemeClr val="dk1"/>
                </a:solidFill>
                <a:latin typeface="Quattrocento Sans"/>
                <a:ea typeface="Quattrocento Sans"/>
                <a:cs typeface="Quattrocento Sans"/>
                <a:sym typeface="Quattrocento Sans"/>
              </a:rPr>
              <a:t>Transform</a:t>
            </a:r>
            <a:r>
              <a:rPr lang="en-GB" sz="1700" dirty="0">
                <a:solidFill>
                  <a:schemeClr val="dk1"/>
                </a:solidFill>
                <a:latin typeface="Quattrocento Sans"/>
                <a:ea typeface="Quattrocento Sans"/>
                <a:cs typeface="Quattrocento Sans"/>
                <a:sym typeface="Quattrocento Sans"/>
              </a:rPr>
              <a:t> component but it will </a:t>
            </a:r>
            <a:endParaRPr sz="1300">
              <a:solidFill>
                <a:schemeClr val="dk1"/>
              </a:solidFill>
              <a:latin typeface="Quattrocento Sans"/>
            </a:endParaRPr>
          </a:p>
          <a:p>
            <a:r>
              <a:rPr lang="en-GB" sz="1700" dirty="0">
                <a:solidFill>
                  <a:schemeClr val="dk1"/>
                </a:solidFill>
                <a:latin typeface="Quattrocento Sans"/>
                <a:ea typeface="Quattrocento Sans"/>
                <a:cs typeface="Quattrocento Sans"/>
                <a:sym typeface="Quattrocento Sans"/>
              </a:rPr>
              <a:t>not respond to collision and forces like a non-kinematic </a:t>
            </a:r>
            <a:r>
              <a:rPr lang="en-GB" sz="1700" err="1">
                <a:solidFill>
                  <a:schemeClr val="dk1"/>
                </a:solidFill>
                <a:latin typeface="Quattrocento Sans"/>
                <a:ea typeface="Quattrocento Sans"/>
                <a:cs typeface="Quattrocento Sans"/>
                <a:sym typeface="Quattrocento Sans"/>
              </a:rPr>
              <a:t>rigidbody</a:t>
            </a:r>
            <a:r>
              <a:rPr lang="en-GB" sz="1700" dirty="0">
                <a:solidFill>
                  <a:schemeClr val="dk1"/>
                </a:solidFill>
                <a:latin typeface="Quattrocento Sans"/>
                <a:ea typeface="Quattrocento Sans"/>
                <a:cs typeface="Quattrocento Sans"/>
                <a:sym typeface="Quattrocento Sans"/>
              </a:rPr>
              <a:t>. </a:t>
            </a:r>
            <a:endParaRPr sz="1300">
              <a:solidFill>
                <a:schemeClr val="dk1"/>
              </a:solidFill>
              <a:latin typeface="Quattrocento Sans"/>
            </a:endParaRPr>
          </a:p>
          <a:p>
            <a:pPr marL="0" marR="0" lvl="0" indent="0" algn="l" rtl="0">
              <a:spcBef>
                <a:spcPts val="0"/>
              </a:spcBef>
              <a:spcAft>
                <a:spcPts val="0"/>
              </a:spcAft>
              <a:buNone/>
            </a:pPr>
            <a:endParaRPr sz="1700" dirty="0">
              <a:solidFill>
                <a:schemeClr val="dk1"/>
              </a:solidFill>
              <a:latin typeface="Quattrocento Sans"/>
              <a:ea typeface="Quattrocento Sans"/>
              <a:cs typeface="Quattrocento Sans"/>
            </a:endParaRPr>
          </a:p>
          <a:p>
            <a:r>
              <a:rPr lang="en-GB" sz="1700" dirty="0">
                <a:solidFill>
                  <a:schemeClr val="dk1"/>
                </a:solidFill>
                <a:latin typeface="Quattrocento Sans"/>
                <a:ea typeface="Quattrocento Sans"/>
                <a:cs typeface="Quattrocento Sans"/>
                <a:sym typeface="Quattrocento Sans"/>
              </a:rPr>
              <a:t>Kinematic </a:t>
            </a:r>
            <a:r>
              <a:rPr lang="en-GB" sz="1700" err="1">
                <a:solidFill>
                  <a:schemeClr val="dk1"/>
                </a:solidFill>
                <a:latin typeface="Quattrocento Sans"/>
                <a:ea typeface="Quattrocento Sans"/>
                <a:cs typeface="Quattrocento Sans"/>
                <a:sym typeface="Quattrocento Sans"/>
              </a:rPr>
              <a:t>rigidbodies</a:t>
            </a:r>
            <a:r>
              <a:rPr lang="en-GB" sz="1700" dirty="0">
                <a:solidFill>
                  <a:schemeClr val="dk1"/>
                </a:solidFill>
                <a:latin typeface="Quattrocento Sans"/>
                <a:ea typeface="Quattrocento Sans"/>
                <a:cs typeface="Quattrocento Sans"/>
                <a:sym typeface="Quattrocento Sans"/>
              </a:rPr>
              <a:t> should be used for colliders that can be moved or disabled/enabled occasionally but that should </a:t>
            </a:r>
            <a:endParaRPr sz="1300">
              <a:solidFill>
                <a:schemeClr val="dk1"/>
              </a:solidFill>
              <a:latin typeface="Quattrocento Sans"/>
            </a:endParaRPr>
          </a:p>
          <a:p>
            <a:r>
              <a:rPr lang="en-GB" sz="1700" dirty="0">
                <a:solidFill>
                  <a:schemeClr val="dk1"/>
                </a:solidFill>
                <a:latin typeface="Quattrocento Sans"/>
                <a:ea typeface="Quattrocento Sans"/>
                <a:cs typeface="Quattrocento Sans"/>
                <a:sym typeface="Quattrocento Sans"/>
              </a:rPr>
              <a:t>otherwise behave like static colliders. The best example to illustrate this concept would be a sliding door. </a:t>
            </a:r>
            <a:endParaRPr sz="1300">
              <a:solidFill>
                <a:schemeClr val="dk1"/>
              </a:solidFill>
              <a:latin typeface="Quattrocento Sans"/>
            </a:endParaRPr>
          </a:p>
          <a:p>
            <a:r>
              <a:rPr lang="en-GB" sz="1700" dirty="0">
                <a:solidFill>
                  <a:schemeClr val="dk1"/>
                </a:solidFill>
                <a:latin typeface="Quattrocento Sans"/>
                <a:ea typeface="Quattrocento Sans"/>
                <a:cs typeface="Quattrocento Sans"/>
                <a:sym typeface="Quattrocento Sans"/>
              </a:rPr>
              <a:t>The door should normally act as an immovable physical obstacle but can be opened when necessary. </a:t>
            </a:r>
            <a:endParaRPr sz="1300">
              <a:solidFill>
                <a:schemeClr val="dk1"/>
              </a:solidFill>
              <a:latin typeface="Quattrocento Sans"/>
            </a:endParaRPr>
          </a:p>
          <a:p>
            <a:pPr marL="0" marR="0" lvl="0" indent="0" algn="l" rtl="0">
              <a:spcBef>
                <a:spcPts val="0"/>
              </a:spcBef>
              <a:spcAft>
                <a:spcPts val="0"/>
              </a:spcAft>
              <a:buNone/>
            </a:pPr>
            <a:endParaRPr sz="1700" dirty="0">
              <a:solidFill>
                <a:schemeClr val="dk1"/>
              </a:solidFill>
              <a:latin typeface="Quattrocento Sans"/>
              <a:ea typeface="Quattrocento Sans"/>
              <a:cs typeface="Quattrocento Sans"/>
            </a:endParaRPr>
          </a:p>
          <a:p>
            <a:r>
              <a:rPr lang="en-GB" sz="1700" dirty="0">
                <a:solidFill>
                  <a:schemeClr val="dk1"/>
                </a:solidFill>
                <a:latin typeface="Quattrocento Sans"/>
                <a:ea typeface="Quattrocento Sans"/>
                <a:cs typeface="Quattrocento Sans"/>
                <a:sym typeface="Quattrocento Sans"/>
              </a:rPr>
              <a:t>Unlike a static collider, a moving kinematic </a:t>
            </a:r>
            <a:r>
              <a:rPr lang="en-GB" sz="1700" err="1">
                <a:solidFill>
                  <a:schemeClr val="dk1"/>
                </a:solidFill>
                <a:latin typeface="Quattrocento Sans"/>
                <a:ea typeface="Quattrocento Sans"/>
                <a:cs typeface="Quattrocento Sans"/>
                <a:sym typeface="Quattrocento Sans"/>
              </a:rPr>
              <a:t>rigidbody</a:t>
            </a:r>
            <a:r>
              <a:rPr lang="en-GB" sz="1700" dirty="0">
                <a:solidFill>
                  <a:schemeClr val="dk1"/>
                </a:solidFill>
                <a:latin typeface="Quattrocento Sans"/>
                <a:ea typeface="Quattrocento Sans"/>
                <a:cs typeface="Quattrocento Sans"/>
                <a:sym typeface="Quattrocento Sans"/>
              </a:rPr>
              <a:t> will apply friction to other objects and will “wake up” other </a:t>
            </a:r>
            <a:endParaRPr sz="1300">
              <a:solidFill>
                <a:schemeClr val="dk1"/>
              </a:solidFill>
              <a:latin typeface="Quattrocento Sans"/>
            </a:endParaRPr>
          </a:p>
          <a:p>
            <a:pPr marL="0" marR="0" lvl="0" indent="0" algn="l" rtl="0">
              <a:spcBef>
                <a:spcPts val="0"/>
              </a:spcBef>
              <a:spcAft>
                <a:spcPts val="0"/>
              </a:spcAft>
              <a:buNone/>
            </a:pPr>
            <a:r>
              <a:rPr lang="en-GB" sz="1700" err="1">
                <a:solidFill>
                  <a:schemeClr val="dk1"/>
                </a:solidFill>
                <a:latin typeface="Quattrocento Sans"/>
                <a:ea typeface="Quattrocento Sans"/>
                <a:cs typeface="Quattrocento Sans"/>
                <a:sym typeface="Quattrocento Sans"/>
              </a:rPr>
              <a:t>rigidbodies</a:t>
            </a:r>
            <a:r>
              <a:rPr lang="en-GB" sz="1700" dirty="0">
                <a:solidFill>
                  <a:schemeClr val="dk1"/>
                </a:solidFill>
                <a:latin typeface="Quattrocento Sans"/>
                <a:ea typeface="Quattrocento Sans"/>
                <a:cs typeface="Quattrocento Sans"/>
                <a:sym typeface="Quattrocento Sans"/>
              </a:rPr>
              <a:t> when they make contact.</a:t>
            </a:r>
            <a:endParaRPr lang="en-GB" sz="1700" dirty="0">
              <a:solidFill>
                <a:schemeClr val="dk1"/>
              </a:solidFill>
              <a:latin typeface="Quattrocento Sans"/>
              <a:ea typeface="Quattrocento Sans"/>
              <a:cs typeface="Quattrocento Sans"/>
            </a:endParaRPr>
          </a:p>
          <a:p>
            <a:endParaRPr lang="en-GB" sz="1700" dirty="0">
              <a:solidFill>
                <a:schemeClr val="dk1"/>
              </a:solidFill>
              <a:latin typeface="Quattrocento Sans"/>
              <a:ea typeface="Quattrocento Sans"/>
              <a:cs typeface="Quattrocento Sans"/>
            </a:endParaRPr>
          </a:p>
          <a:p>
            <a:r>
              <a:rPr lang="en-GB" sz="1200" dirty="0">
                <a:solidFill>
                  <a:schemeClr val="dk1"/>
                </a:solidFill>
                <a:latin typeface="Quattrocento Sans"/>
                <a:hlinkClick r:id="rId3">
                  <a:extLst>
                    <a:ext uri="{A12FA001-AC4F-418D-AE19-62706E023703}">
                      <ahyp:hlinkClr xmlns:ahyp="http://schemas.microsoft.com/office/drawing/2018/hyperlinkcolor" val="tx"/>
                    </a:ext>
                  </a:extLst>
                </a:hlinkClick>
              </a:rPr>
              <a:t>https://docs.unity3d.com/Manual/CollidersOverview.html#:~:text=Kinematic%20rigidbodies%20should%20be%20used,can%20be%20opened%20when%20necessary</a:t>
            </a:r>
            <a:r>
              <a:rPr lang="en-GB" sz="1200" dirty="0">
                <a:solidFill>
                  <a:schemeClr val="dk1"/>
                </a:solidFill>
                <a:latin typeface="Quattrocento Sans"/>
              </a:rPr>
              <a:t> </a:t>
            </a:r>
            <a:endParaRPr lang="en-GB" sz="1200">
              <a:solidFill>
                <a:schemeClr val="dk1"/>
              </a:solidFill>
              <a:latin typeface="Quattrocento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33" name="Google Shape;233;p27"/>
          <p:cNvSpPr txBox="1"/>
          <p:nvPr/>
        </p:nvSpPr>
        <p:spPr>
          <a:xfrm>
            <a:off x="609600" y="1293500"/>
            <a:ext cx="10972800" cy="144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rgbClr val="FFFF00"/>
                </a:solidFill>
                <a:latin typeface="Quattrocento Sans"/>
                <a:ea typeface="Quattrocento Sans"/>
                <a:cs typeface="Quattrocento Sans"/>
                <a:sym typeface="Quattrocento Sans"/>
              </a:rPr>
              <a:t>Static, Kinematic, Rigid Body, Collision Trigger Table:</a:t>
            </a:r>
            <a:br>
              <a:rPr lang="en-GB" sz="3200" b="1">
                <a:solidFill>
                  <a:srgbClr val="FFFF00"/>
                </a:solidFill>
                <a:latin typeface="Quattrocento Sans"/>
                <a:ea typeface="Quattrocento Sans"/>
                <a:cs typeface="Quattrocento Sans"/>
                <a:sym typeface="Quattrocento Sans"/>
              </a:rPr>
            </a:br>
            <a:endParaRPr sz="32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pic>
        <p:nvPicPr>
          <p:cNvPr id="234" name="Google Shape;234;p27" descr="Image result for unity collision table"/>
          <p:cNvPicPr preferRelativeResize="0"/>
          <p:nvPr/>
        </p:nvPicPr>
        <p:blipFill rotWithShape="1">
          <a:blip r:embed="rId3">
            <a:alphaModFix/>
          </a:blip>
          <a:srcRect/>
          <a:stretch/>
        </p:blipFill>
        <p:spPr>
          <a:xfrm>
            <a:off x="1355377" y="1916772"/>
            <a:ext cx="9481245" cy="421256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41" name="Google Shape;241;p28"/>
          <p:cNvSpPr txBox="1"/>
          <p:nvPr/>
        </p:nvSpPr>
        <p:spPr>
          <a:xfrm>
            <a:off x="609600" y="1293507"/>
            <a:ext cx="9139040" cy="144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rgbClr val="FFFF00"/>
                </a:solidFill>
                <a:latin typeface="Quattrocento Sans"/>
                <a:ea typeface="Quattrocento Sans"/>
                <a:cs typeface="Quattrocento Sans"/>
                <a:sym typeface="Quattrocento Sans"/>
              </a:rPr>
              <a:t>Static, Kinematic, Rigid Body, Collision Trigger Table:</a:t>
            </a:r>
            <a:br>
              <a:rPr lang="en-GB" sz="3200" b="1">
                <a:solidFill>
                  <a:srgbClr val="FFFF00"/>
                </a:solidFill>
                <a:latin typeface="Quattrocento Sans"/>
                <a:ea typeface="Quattrocento Sans"/>
                <a:cs typeface="Quattrocento Sans"/>
                <a:sym typeface="Quattrocento Sans"/>
              </a:rPr>
            </a:br>
            <a:endParaRPr sz="32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pic>
        <p:nvPicPr>
          <p:cNvPr id="242" name="Google Shape;242;p28" descr="Image result for unity collision table"/>
          <p:cNvPicPr preferRelativeResize="0"/>
          <p:nvPr/>
        </p:nvPicPr>
        <p:blipFill rotWithShape="1">
          <a:blip r:embed="rId3">
            <a:alphaModFix/>
          </a:blip>
          <a:srcRect/>
          <a:stretch/>
        </p:blipFill>
        <p:spPr>
          <a:xfrm>
            <a:off x="2905125" y="2200275"/>
            <a:ext cx="6381750" cy="40862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49" name="Google Shape;249;p29"/>
          <p:cNvSpPr txBox="1"/>
          <p:nvPr/>
        </p:nvSpPr>
        <p:spPr>
          <a:xfrm>
            <a:off x="609600" y="1293507"/>
            <a:ext cx="11498700" cy="5079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rgbClr val="FFFF00"/>
                </a:solidFill>
                <a:latin typeface="Quattrocento Sans"/>
                <a:ea typeface="Quattrocento Sans"/>
                <a:cs typeface="Quattrocento Sans"/>
                <a:sym typeface="Quattrocento Sans"/>
              </a:rPr>
              <a:t>More C# and Unity3D:</a:t>
            </a:r>
            <a:br>
              <a:rPr lang="en-GB" sz="3200" b="1">
                <a:solidFill>
                  <a:srgbClr val="FFFF00"/>
                </a:solidFill>
                <a:latin typeface="Quattrocento Sans"/>
                <a:ea typeface="Quattrocento Sans"/>
                <a:cs typeface="Quattrocento Sans"/>
                <a:sym typeface="Quattrocento Sans"/>
              </a:rPr>
            </a:br>
            <a:r>
              <a:rPr lang="en-GB" sz="2400" b="1">
                <a:solidFill>
                  <a:srgbClr val="FFFF00"/>
                </a:solidFill>
                <a:latin typeface="Quattrocento Sans"/>
                <a:ea typeface="Quattrocento Sans"/>
                <a:cs typeface="Quattrocento Sans"/>
                <a:sym typeface="Quattrocento Sans"/>
              </a:rPr>
              <a:t>Update vs. Fixed Update, Forces and Physics, Colliders and Gravity</a:t>
            </a:r>
            <a:endParaRPr/>
          </a:p>
          <a:p>
            <a:pPr marL="0" marR="0" lvl="0" indent="0" algn="l" rtl="0">
              <a:spcBef>
                <a:spcPts val="0"/>
              </a:spcBef>
              <a:spcAft>
                <a:spcPts val="0"/>
              </a:spcAft>
              <a:buNone/>
            </a:pPr>
            <a:endParaRPr sz="2000" i="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Triggers - </a:t>
            </a:r>
            <a:r>
              <a:rPr lang="en-GB" sz="1800">
                <a:solidFill>
                  <a:srgbClr val="FFFF00"/>
                </a:solidFill>
                <a:latin typeface="Quattrocento Sans"/>
                <a:ea typeface="Quattrocento Sans"/>
                <a:cs typeface="Quattrocento Sans"/>
                <a:sym typeface="Quattrocento Sans"/>
              </a:rPr>
              <a:t>Script Actions on Collision</a:t>
            </a:r>
            <a:endParaRPr/>
          </a:p>
          <a:p>
            <a:pPr marL="0" marR="0" lvl="0" indent="0" algn="l" rtl="0">
              <a:spcBef>
                <a:spcPts val="0"/>
              </a:spcBef>
              <a:spcAft>
                <a:spcPts val="0"/>
              </a:spcAft>
              <a:buNone/>
            </a:pPr>
            <a:endParaRPr sz="1800">
              <a:solidFill>
                <a:schemeClr val="dk2"/>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2"/>
                </a:solidFill>
                <a:latin typeface="Quattrocento Sans"/>
                <a:ea typeface="Quattrocento Sans"/>
                <a:cs typeface="Quattrocento Sans"/>
                <a:sym typeface="Quattrocento Sans"/>
              </a:rPr>
              <a:t>When collisions occur, the physics engine calls functions with specific names on any scripts attached to the objects involved. You will need to implement the code logic in these functions to respond to the collision event.</a:t>
            </a:r>
            <a:endParaRPr/>
          </a:p>
          <a:p>
            <a:pPr marL="0" marR="0" lvl="0" indent="0" algn="l" rtl="0">
              <a:spcBef>
                <a:spcPts val="0"/>
              </a:spcBef>
              <a:spcAft>
                <a:spcPts val="0"/>
              </a:spcAft>
              <a:buNone/>
            </a:pPr>
            <a:endParaRPr sz="2000" i="1">
              <a:solidFill>
                <a:schemeClr val="dk2"/>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2"/>
                </a:solidFill>
                <a:latin typeface="Quattrocento Sans"/>
                <a:ea typeface="Quattrocento Sans"/>
                <a:cs typeface="Quattrocento Sans"/>
                <a:sym typeface="Quattrocento Sans"/>
              </a:rPr>
              <a:t>On the first physics update where the collision is detected, the OnCollisionEnter() function is called. </a:t>
            </a:r>
            <a:endParaRPr/>
          </a:p>
          <a:p>
            <a:pPr marL="0" marR="0" lvl="0" indent="0" algn="l" rtl="0">
              <a:spcBef>
                <a:spcPts val="0"/>
              </a:spcBef>
              <a:spcAft>
                <a:spcPts val="0"/>
              </a:spcAft>
              <a:buNone/>
            </a:pPr>
            <a:r>
              <a:rPr lang="en-GB" sz="1800">
                <a:solidFill>
                  <a:schemeClr val="dk2"/>
                </a:solidFill>
                <a:latin typeface="Quattrocento Sans"/>
                <a:ea typeface="Quattrocento Sans"/>
                <a:cs typeface="Quattrocento Sans"/>
                <a:sym typeface="Quattrocento Sans"/>
              </a:rPr>
              <a:t>During updates where contact is maintained, OnCollisionStay() function is called and finally, OnCollisionExit() function is called indicating that the contact has been broken. </a:t>
            </a:r>
            <a:endParaRPr/>
          </a:p>
          <a:p>
            <a:pPr marL="0" marR="0" lvl="0" indent="0" algn="l" rtl="0">
              <a:spcBef>
                <a:spcPts val="0"/>
              </a:spcBef>
              <a:spcAft>
                <a:spcPts val="0"/>
              </a:spcAft>
              <a:buNone/>
            </a:pPr>
            <a:endParaRPr sz="1800">
              <a:solidFill>
                <a:schemeClr val="dk2"/>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2"/>
                </a:solidFill>
                <a:latin typeface="Quattrocento Sans"/>
                <a:ea typeface="Quattrocento Sans"/>
                <a:cs typeface="Quattrocento Sans"/>
                <a:sym typeface="Quattrocento Sans"/>
              </a:rPr>
              <a:t>Similarly, trigger colliders call the analogous OnTriggerEnter() function, OnTriggerStay() function and the </a:t>
            </a:r>
            <a:br>
              <a:rPr lang="en-GB" sz="1800">
                <a:solidFill>
                  <a:schemeClr val="dk2"/>
                </a:solidFill>
                <a:latin typeface="Quattrocento Sans"/>
                <a:ea typeface="Quattrocento Sans"/>
                <a:cs typeface="Quattrocento Sans"/>
                <a:sym typeface="Quattrocento Sans"/>
              </a:rPr>
            </a:br>
            <a:r>
              <a:rPr lang="en-GB" sz="1800">
                <a:solidFill>
                  <a:schemeClr val="dk2"/>
                </a:solidFill>
                <a:latin typeface="Quattrocento Sans"/>
                <a:ea typeface="Quattrocento Sans"/>
                <a:cs typeface="Quattrocento Sans"/>
                <a:sym typeface="Quattrocento Sans"/>
              </a:rPr>
              <a:t>OnTriggerExit() functions.</a:t>
            </a:r>
            <a:endParaRPr sz="2400">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u="sng">
                <a:solidFill>
                  <a:schemeClr val="hlink"/>
                </a:solidFill>
                <a:latin typeface="Quattrocento Sans"/>
                <a:ea typeface="Quattrocento Sans"/>
                <a:cs typeface="Quattrocento Sans"/>
                <a:sym typeface="Quattrocento Sans"/>
                <a:hlinkClick r:id="rId3"/>
              </a:rPr>
              <a:t>https://www.youtube.com/watch?v=-osaSS9L-fs</a:t>
            </a:r>
            <a:r>
              <a:rPr lang="en-GB" sz="2400">
                <a:solidFill>
                  <a:srgbClr val="FF0000"/>
                </a:solidFill>
                <a:latin typeface="Quattrocento Sans"/>
                <a:ea typeface="Quattrocento Sans"/>
                <a:cs typeface="Quattrocento Sans"/>
                <a:sym typeface="Quattrocento Sans"/>
              </a:rPr>
              <a:t> </a:t>
            </a:r>
            <a:endParaRPr sz="2400">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g190cc7db87f_0_0"/>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56" name="Google Shape;256;g190cc7db87f_0_0"/>
          <p:cNvSpPr txBox="1"/>
          <p:nvPr/>
        </p:nvSpPr>
        <p:spPr>
          <a:xfrm>
            <a:off x="609600" y="1293507"/>
            <a:ext cx="11498700" cy="5047495"/>
          </a:xfrm>
          <a:prstGeom prst="rect">
            <a:avLst/>
          </a:prstGeom>
          <a:noFill/>
          <a:ln>
            <a:noFill/>
          </a:ln>
        </p:spPr>
        <p:txBody>
          <a:bodyPr spcFirstLastPara="1" wrap="square" lIns="91425" tIns="45700" rIns="91425" bIns="45700" anchor="t" anchorCtr="0">
            <a:spAutoFit/>
          </a:bodyPr>
          <a:lstStyle/>
          <a:p>
            <a:r>
              <a:rPr lang="en-GB" sz="3200" b="1" dirty="0">
                <a:solidFill>
                  <a:srgbClr val="FFFF00"/>
                </a:solidFill>
                <a:latin typeface="Quattrocento Sans"/>
                <a:ea typeface="Quattrocento Sans"/>
                <a:cs typeface="Quattrocento Sans"/>
                <a:sym typeface="Quattrocento Sans"/>
              </a:rPr>
              <a:t>More C# and Unity3D: </a:t>
            </a:r>
            <a:endParaRPr lang="en-US" sz="2400" b="1">
              <a:solidFill>
                <a:srgbClr val="FFFF00"/>
              </a:solidFill>
              <a:latin typeface="Quattrocento Sans"/>
              <a:ea typeface="Quattrocento Sans"/>
              <a:cs typeface="Quattrocento Sans"/>
              <a:sym typeface="Quattrocento Sans"/>
            </a:endParaRPr>
          </a:p>
          <a:p>
            <a:r>
              <a:rPr lang="en-GB" sz="2400" b="1" dirty="0">
                <a:solidFill>
                  <a:srgbClr val="FFFF00"/>
                </a:solidFill>
                <a:latin typeface="Quattrocento Sans"/>
                <a:ea typeface="Quattrocento Sans"/>
                <a:cs typeface="Quattrocento Sans"/>
                <a:sym typeface="Quattrocento Sans"/>
              </a:rPr>
              <a:t>Update vs. Fixed Update, Forces and Physics, Colliders and Gravity</a:t>
            </a:r>
            <a:br>
              <a:rPr lang="en-GB" sz="2400" b="1" dirty="0">
                <a:solidFill>
                  <a:srgbClr val="FFFF00"/>
                </a:solidFill>
                <a:latin typeface="Quattrocento Sans"/>
                <a:ea typeface="Quattrocento Sans"/>
                <a:cs typeface="Quattrocento Sans"/>
                <a:sym typeface="Quattrocento Sans"/>
              </a:rPr>
            </a:br>
            <a:r>
              <a:rPr lang="en-GB" sz="2000" b="1" dirty="0">
                <a:solidFill>
                  <a:srgbClr val="00FFFF"/>
                </a:solidFill>
                <a:latin typeface="Quattrocento Sans"/>
                <a:ea typeface="Quattrocento Sans"/>
                <a:cs typeface="Quattrocento Sans"/>
                <a:sym typeface="Quattrocento Sans"/>
              </a:rPr>
              <a:t>Collider, </a:t>
            </a:r>
            <a:r>
              <a:rPr lang="en-GB" sz="2000" b="1" dirty="0">
                <a:solidFill>
                  <a:schemeClr val="bg2"/>
                </a:solidFill>
                <a:latin typeface="Quattrocento Sans"/>
                <a:ea typeface="Quattrocento Sans"/>
                <a:cs typeface="Quattrocento Sans"/>
                <a:sym typeface="Quattrocento Sans"/>
              </a:rPr>
              <a:t>non-Kinematic </a:t>
            </a:r>
            <a:r>
              <a:rPr lang="en-GB" sz="2000" b="1" dirty="0" err="1">
                <a:solidFill>
                  <a:schemeClr val="bg2"/>
                </a:solidFill>
                <a:latin typeface="Quattrocento Sans"/>
                <a:ea typeface="Quattrocento Sans"/>
                <a:cs typeface="Quattrocento Sans"/>
                <a:sym typeface="Quattrocento Sans"/>
              </a:rPr>
              <a:t>Rigidbody</a:t>
            </a:r>
            <a:r>
              <a:rPr lang="en-GB" sz="2000" b="1" dirty="0">
                <a:solidFill>
                  <a:srgbClr val="00FFFF"/>
                </a:solidFill>
                <a:latin typeface="Quattrocento Sans"/>
                <a:ea typeface="Quattrocento Sans"/>
                <a:cs typeface="Quattrocento Sans"/>
                <a:sym typeface="Quattrocento Sans"/>
              </a:rPr>
              <a:t>, </a:t>
            </a:r>
            <a:r>
              <a:rPr lang="en-GB" sz="2000" b="1" dirty="0" err="1">
                <a:solidFill>
                  <a:srgbClr val="00FFFF"/>
                </a:solidFill>
                <a:latin typeface="Quattrocento Sans"/>
                <a:ea typeface="Quattrocento Sans"/>
                <a:cs typeface="Quattrocento Sans"/>
                <a:sym typeface="Quattrocento Sans"/>
              </a:rPr>
              <a:t>RigidBody.AddForce</a:t>
            </a:r>
            <a:r>
              <a:rPr lang="en-GB" sz="2000" b="1" dirty="0">
                <a:solidFill>
                  <a:srgbClr val="00FFFF"/>
                </a:solidFill>
                <a:latin typeface="Quattrocento Sans"/>
                <a:ea typeface="Quattrocento Sans"/>
                <a:cs typeface="Quattrocento Sans"/>
                <a:sym typeface="Quattrocento Sans"/>
              </a:rPr>
              <a:t>, .</a:t>
            </a:r>
            <a:r>
              <a:rPr lang="en-GB" sz="2000" b="1" dirty="0" err="1">
                <a:solidFill>
                  <a:srgbClr val="00FFFF"/>
                </a:solidFill>
                <a:latin typeface="Quattrocento Sans"/>
                <a:ea typeface="Quattrocento Sans"/>
                <a:cs typeface="Quattrocento Sans"/>
                <a:sym typeface="Quattrocento Sans"/>
              </a:rPr>
              <a:t>MovePosition</a:t>
            </a:r>
            <a:r>
              <a:rPr lang="en-GB" sz="2000" b="1" dirty="0">
                <a:solidFill>
                  <a:srgbClr val="00FFFF"/>
                </a:solidFill>
                <a:latin typeface="Quattrocento Sans"/>
                <a:ea typeface="Quattrocento Sans"/>
                <a:cs typeface="Quattrocento Sans"/>
                <a:sym typeface="Quattrocento Sans"/>
              </a:rPr>
              <a:t>, .</a:t>
            </a:r>
            <a:r>
              <a:rPr lang="en-GB" sz="2000" b="1" dirty="0" err="1">
                <a:solidFill>
                  <a:srgbClr val="00FFFF"/>
                </a:solidFill>
                <a:latin typeface="Quattrocento Sans"/>
                <a:ea typeface="Quattrocento Sans"/>
                <a:cs typeface="Quattrocento Sans"/>
                <a:sym typeface="Quattrocento Sans"/>
              </a:rPr>
              <a:t>MoveRotation</a:t>
            </a:r>
            <a:r>
              <a:rPr lang="en-GB" sz="2000" b="1" dirty="0">
                <a:solidFill>
                  <a:srgbClr val="00FFFF"/>
                </a:solidFill>
                <a:latin typeface="Quattrocento Sans"/>
                <a:ea typeface="Quattrocento Sans"/>
                <a:cs typeface="Quattrocento Sans"/>
                <a:sym typeface="Quattrocento Sans"/>
              </a:rPr>
              <a:t> - </a:t>
            </a:r>
            <a:r>
              <a:rPr lang="en-GB" sz="2000" b="1" dirty="0" err="1">
                <a:solidFill>
                  <a:srgbClr val="00FFFF"/>
                </a:solidFill>
                <a:latin typeface="Quattrocento Sans"/>
                <a:ea typeface="Quattrocento Sans"/>
                <a:cs typeface="Quattrocento Sans"/>
                <a:sym typeface="Quattrocento Sans"/>
              </a:rPr>
              <a:t>FixedUpdate</a:t>
            </a:r>
            <a:br>
              <a:rPr lang="en-GB" sz="2000" b="1" dirty="0">
                <a:solidFill>
                  <a:srgbClr val="00FFFF"/>
                </a:solidFill>
                <a:latin typeface="Quattrocento Sans"/>
                <a:ea typeface="Quattrocento Sans"/>
              </a:rPr>
            </a:br>
            <a:r>
              <a:rPr lang="en-GB" sz="2700" b="1" dirty="0">
                <a:solidFill>
                  <a:srgbClr val="FF0000"/>
                </a:solidFill>
                <a:latin typeface="Quattrocento Sans"/>
                <a:ea typeface="Quattrocento Sans"/>
              </a:rPr>
              <a:t>(not Best Practice, but works – like Tut 02-03, should use physics)</a:t>
            </a:r>
            <a:br>
              <a:rPr lang="en-GB" sz="2700" b="1" dirty="0">
                <a:solidFill>
                  <a:srgbClr val="FF0000"/>
                </a:solidFill>
                <a:latin typeface="Quattrocento Sans"/>
                <a:ea typeface="Quattrocento Sans"/>
              </a:rPr>
            </a:br>
            <a:r>
              <a:rPr lang="en-GB" sz="1000" b="1" dirty="0">
                <a:solidFill>
                  <a:srgbClr val="002060"/>
                </a:solidFill>
                <a:latin typeface="Quattrocento Sans"/>
                <a:ea typeface="Quattrocento Sans"/>
              </a:rPr>
              <a:t>&gt;</a:t>
            </a:r>
            <a:br>
              <a:rPr lang="en-GB" sz="2900" b="1" dirty="0">
                <a:latin typeface="Quattrocento Sans"/>
                <a:ea typeface="Quattrocento Sans"/>
              </a:rPr>
            </a:br>
            <a:r>
              <a:rPr lang="en-GB" sz="2400" b="1" dirty="0">
                <a:solidFill>
                  <a:srgbClr val="FFFF00"/>
                </a:solidFill>
                <a:latin typeface="Quattrocento Sans"/>
                <a:ea typeface="Quattrocento Sans"/>
                <a:cs typeface="Quattrocento Sans"/>
                <a:sym typeface="Quattrocento Sans"/>
              </a:rPr>
              <a:t>If you need your moving colliders to cause physically correct effects on other objects:</a:t>
            </a:r>
            <a:br>
              <a:rPr lang="en-GB" sz="2400" dirty="0">
                <a:latin typeface="Quattrocento Sans"/>
                <a:ea typeface="Quattrocento Sans"/>
                <a:cs typeface="Quattrocento Sans"/>
              </a:rPr>
            </a:br>
            <a:r>
              <a:rPr lang="en-GB" sz="1800" dirty="0">
                <a:solidFill>
                  <a:srgbClr val="FF0000"/>
                </a:solidFill>
                <a:latin typeface="Quattrocento Sans"/>
                <a:ea typeface="Quattrocento Sans"/>
                <a:cs typeface="Quattrocento Sans"/>
                <a:sym typeface="Quattrocento Sans"/>
              </a:rPr>
              <a:t>Configure "Project Settings &gt; Physics &gt; Contacts Pair Mode" to "Enable All Contacts"</a:t>
            </a:r>
            <a:br>
              <a:rPr lang="en-GB" sz="1800" dirty="0">
                <a:latin typeface="Quattrocento Sans"/>
                <a:ea typeface="Quattrocento Sans"/>
                <a:cs typeface="Quattrocento Sans"/>
              </a:rPr>
            </a:br>
            <a:r>
              <a:rPr lang="en-GB" sz="1800" dirty="0">
                <a:solidFill>
                  <a:schemeClr val="dk2"/>
                </a:solidFill>
                <a:latin typeface="Quattrocento Sans"/>
                <a:ea typeface="Quattrocento Sans"/>
                <a:cs typeface="Quattrocento Sans"/>
                <a:sym typeface="Quattrocento Sans"/>
              </a:rPr>
              <a:t>Move your kinematic bodies using </a:t>
            </a:r>
            <a:r>
              <a:rPr lang="en-GB" sz="1800" dirty="0" err="1">
                <a:solidFill>
                  <a:schemeClr val="dk2"/>
                </a:solidFill>
                <a:latin typeface="Quattrocento Sans"/>
                <a:ea typeface="Quattrocento Sans"/>
                <a:cs typeface="Quattrocento Sans"/>
                <a:sym typeface="Quattrocento Sans"/>
              </a:rPr>
              <a:t>Rigidbody.MovePosition</a:t>
            </a:r>
            <a:r>
              <a:rPr lang="en-GB" sz="1800" dirty="0">
                <a:solidFill>
                  <a:schemeClr val="dk2"/>
                </a:solidFill>
                <a:latin typeface="Quattrocento Sans"/>
                <a:ea typeface="Quattrocento Sans"/>
                <a:cs typeface="Quattrocento Sans"/>
                <a:sym typeface="Quattrocento Sans"/>
              </a:rPr>
              <a:t> and </a:t>
            </a:r>
            <a:r>
              <a:rPr lang="en-GB" sz="1800" dirty="0" err="1">
                <a:solidFill>
                  <a:schemeClr val="dk2"/>
                </a:solidFill>
                <a:latin typeface="Quattrocento Sans"/>
                <a:ea typeface="Quattrocento Sans"/>
                <a:cs typeface="Quattrocento Sans"/>
                <a:sym typeface="Quattrocento Sans"/>
              </a:rPr>
              <a:t>Rigidbody.MoveRotation</a:t>
            </a:r>
            <a:r>
              <a:rPr lang="en-GB" sz="1800" dirty="0">
                <a:solidFill>
                  <a:schemeClr val="dk2"/>
                </a:solidFill>
                <a:latin typeface="Quattrocento Sans"/>
                <a:ea typeface="Quattrocento Sans"/>
                <a:cs typeface="Quattrocento Sans"/>
                <a:sym typeface="Quattrocento Sans"/>
              </a:rPr>
              <a:t> from </a:t>
            </a:r>
            <a:r>
              <a:rPr lang="en-GB" sz="1800" dirty="0" err="1">
                <a:solidFill>
                  <a:schemeClr val="dk2"/>
                </a:solidFill>
                <a:latin typeface="Quattrocento Sans"/>
                <a:ea typeface="Quattrocento Sans"/>
                <a:cs typeface="Quattrocento Sans"/>
                <a:sym typeface="Quattrocento Sans"/>
              </a:rPr>
              <a:t>FixedUpdate</a:t>
            </a:r>
            <a:r>
              <a:rPr lang="en-GB" sz="1800" dirty="0">
                <a:solidFill>
                  <a:schemeClr val="dk2"/>
                </a:solidFill>
                <a:latin typeface="Quattrocento Sans"/>
                <a:ea typeface="Quattrocento Sans"/>
                <a:cs typeface="Quattrocento Sans"/>
                <a:sym typeface="Quattrocento Sans"/>
              </a:rPr>
              <a:t>.</a:t>
            </a:r>
            <a:br>
              <a:rPr lang="en-GB" sz="1800" dirty="0">
                <a:latin typeface="Quattrocento Sans"/>
                <a:ea typeface="Quattrocento Sans"/>
                <a:cs typeface="Quattrocento Sans"/>
              </a:rPr>
            </a:br>
            <a:r>
              <a:rPr lang="en-GB" sz="1800" dirty="0">
                <a:solidFill>
                  <a:schemeClr val="dk2"/>
                </a:solidFill>
                <a:latin typeface="Quattrocento Sans"/>
                <a:ea typeface="Quattrocento Sans"/>
                <a:cs typeface="Quattrocento Sans"/>
                <a:sym typeface="Quattrocento Sans"/>
              </a:rPr>
              <a:t>Now the collision events (</a:t>
            </a:r>
            <a:r>
              <a:rPr lang="en-GB" sz="1800" dirty="0" err="1">
                <a:solidFill>
                  <a:schemeClr val="dk2"/>
                </a:solidFill>
                <a:latin typeface="Quattrocento Sans"/>
                <a:ea typeface="Quattrocento Sans"/>
                <a:cs typeface="Quattrocento Sans"/>
                <a:sym typeface="Quattrocento Sans"/>
              </a:rPr>
              <a:t>OnCollisionEnter</a:t>
            </a:r>
            <a:r>
              <a:rPr lang="en-GB" sz="1800" dirty="0">
                <a:solidFill>
                  <a:schemeClr val="dk2"/>
                </a:solidFill>
                <a:latin typeface="Quattrocento Sans"/>
                <a:ea typeface="Quattrocento Sans"/>
                <a:cs typeface="Quattrocento Sans"/>
                <a:sym typeface="Quattrocento Sans"/>
              </a:rPr>
              <a:t>, etc) will happen normally as with standard </a:t>
            </a:r>
            <a:r>
              <a:rPr lang="en-GB" sz="1800" dirty="0" err="1">
                <a:solidFill>
                  <a:schemeClr val="dk2"/>
                </a:solidFill>
                <a:latin typeface="Quattrocento Sans"/>
                <a:ea typeface="Quattrocento Sans"/>
                <a:cs typeface="Quattrocento Sans"/>
                <a:sym typeface="Quattrocento Sans"/>
              </a:rPr>
              <a:t>rigidbodies</a:t>
            </a:r>
            <a:r>
              <a:rPr lang="en-GB" sz="1800" dirty="0">
                <a:solidFill>
                  <a:schemeClr val="dk2"/>
                </a:solidFill>
                <a:latin typeface="Quattrocento Sans"/>
                <a:ea typeface="Quattrocento Sans"/>
                <a:cs typeface="Quattrocento Sans"/>
                <a:sym typeface="Quattrocento Sans"/>
              </a:rPr>
              <a:t>. </a:t>
            </a:r>
            <a:r>
              <a:rPr lang="en-GB" sz="1800" u="sng" dirty="0">
                <a:solidFill>
                  <a:schemeClr val="hlink"/>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https://www.youtube.com/watch?v=-osaSS9L-fs</a:t>
            </a:r>
            <a:r>
              <a:rPr lang="en-GB" sz="1800" dirty="0">
                <a:solidFill>
                  <a:schemeClr val="dk2"/>
                </a:solidFill>
                <a:latin typeface="Quattrocento Sans"/>
                <a:ea typeface="Quattrocento Sans"/>
                <a:cs typeface="Quattrocento Sans"/>
                <a:sym typeface="Quattrocento Sans"/>
              </a:rPr>
              <a:t> </a:t>
            </a:r>
            <a:br>
              <a:rPr lang="en-GB" sz="1800" dirty="0">
                <a:solidFill>
                  <a:schemeClr val="dk2"/>
                </a:solidFill>
                <a:latin typeface="Quattrocento Sans"/>
                <a:ea typeface="Quattrocento Sans"/>
                <a:cs typeface="Quattrocento Sans"/>
              </a:rPr>
            </a:br>
            <a:r>
              <a:rPr lang="en-GB" sz="1000" dirty="0">
                <a:solidFill>
                  <a:srgbClr val="002060"/>
                </a:solidFill>
                <a:latin typeface="Quattrocento Sans"/>
                <a:ea typeface="Quattrocento Sans"/>
                <a:cs typeface="Quattrocento Sans"/>
              </a:rPr>
              <a:t>&gt;</a:t>
            </a:r>
            <a:br>
              <a:rPr lang="en-GB" sz="1000" dirty="0">
                <a:solidFill>
                  <a:srgbClr val="002060"/>
                </a:solidFill>
                <a:latin typeface="Quattrocento Sans"/>
                <a:ea typeface="Quattrocento Sans"/>
                <a:cs typeface="Quattrocento Sans"/>
              </a:rPr>
            </a:br>
            <a:br>
              <a:rPr lang="en-GB" sz="2000" b="1" dirty="0">
                <a:latin typeface="Quattrocento Sans"/>
                <a:ea typeface="Quattrocento Sans"/>
                <a:cs typeface="Quattrocento Sans"/>
              </a:rPr>
            </a:br>
            <a:r>
              <a:rPr lang="en-GB" sz="2000" b="1" dirty="0">
                <a:solidFill>
                  <a:srgbClr val="FFFF00"/>
                </a:solidFill>
                <a:latin typeface="Quattrocento Sans"/>
                <a:ea typeface="Quattrocento Sans"/>
                <a:cs typeface="Quattrocento Sans"/>
                <a:sym typeface="Quattrocento Sans"/>
              </a:rPr>
              <a:t>Use </a:t>
            </a:r>
            <a:r>
              <a:rPr lang="en-GB" sz="2000" b="1" dirty="0" err="1">
                <a:solidFill>
                  <a:srgbClr val="FFFF00"/>
                </a:solidFill>
                <a:latin typeface="Quattrocento Sans"/>
                <a:ea typeface="Quattrocento Sans"/>
                <a:cs typeface="Quattrocento Sans"/>
                <a:sym typeface="Quattrocento Sans"/>
              </a:rPr>
              <a:t>FixedUpdate</a:t>
            </a:r>
            <a:r>
              <a:rPr lang="en-GB" sz="2000" b="1" dirty="0">
                <a:solidFill>
                  <a:srgbClr val="FFFF00"/>
                </a:solidFill>
                <a:latin typeface="Quattrocento Sans"/>
                <a:ea typeface="Quattrocento Sans"/>
                <a:cs typeface="Quattrocento Sans"/>
                <a:sym typeface="Quattrocento Sans"/>
              </a:rPr>
              <a:t> to get correct physics collisions, whether they move the object or not</a:t>
            </a:r>
            <a:br>
              <a:rPr lang="en-GB" sz="2000" b="1" dirty="0">
                <a:latin typeface="Quattrocento Sans"/>
                <a:ea typeface="Quattrocento Sans"/>
                <a:cs typeface="Quattrocento Sans"/>
              </a:rPr>
            </a:br>
            <a:r>
              <a:rPr lang="en-GB" sz="2000" b="1" dirty="0">
                <a:solidFill>
                  <a:srgbClr val="FFFF00"/>
                </a:solidFill>
                <a:latin typeface="Quattrocento Sans"/>
                <a:ea typeface="Quattrocento Sans"/>
                <a:cs typeface="Quattrocento Sans"/>
                <a:sym typeface="Quattrocento Sans"/>
              </a:rPr>
              <a:t>Use </a:t>
            </a:r>
            <a:r>
              <a:rPr lang="en-GB" sz="2000" b="1" dirty="0" err="1">
                <a:solidFill>
                  <a:srgbClr val="00FFFF"/>
                </a:solidFill>
                <a:latin typeface="Quattrocento Sans"/>
                <a:ea typeface="Quattrocento Sans"/>
                <a:cs typeface="Quattrocento Sans"/>
                <a:sym typeface="Quattrocento Sans"/>
              </a:rPr>
              <a:t>Rigidbody.AddForce</a:t>
            </a:r>
            <a:r>
              <a:rPr lang="en-GB" sz="2000" b="1" dirty="0">
                <a:solidFill>
                  <a:srgbClr val="00FFFF"/>
                </a:solidFill>
                <a:latin typeface="Quattrocento Sans"/>
                <a:ea typeface="Quattrocento Sans"/>
                <a:cs typeface="Quattrocento Sans"/>
                <a:sym typeface="Quattrocento Sans"/>
              </a:rPr>
              <a:t> </a:t>
            </a:r>
            <a:r>
              <a:rPr lang="en-GB" sz="2000" b="1" dirty="0">
                <a:solidFill>
                  <a:srgbClr val="FFFF00"/>
                </a:solidFill>
                <a:latin typeface="Quattrocento Sans"/>
                <a:ea typeface="Quattrocento Sans"/>
                <a:cs typeface="Quattrocento Sans"/>
                <a:sym typeface="Quattrocento Sans"/>
              </a:rPr>
              <a:t>or </a:t>
            </a:r>
            <a:r>
              <a:rPr lang="en-GB" sz="2000" b="1" dirty="0" err="1">
                <a:solidFill>
                  <a:srgbClr val="00FFFF"/>
                </a:solidFill>
                <a:latin typeface="Quattrocento Sans"/>
                <a:ea typeface="Quattrocento Sans"/>
                <a:cs typeface="Quattrocento Sans"/>
                <a:sym typeface="Quattrocento Sans"/>
              </a:rPr>
              <a:t>Rigidbody.MovePosition</a:t>
            </a:r>
            <a:r>
              <a:rPr lang="en-GB" sz="2000" b="1" dirty="0">
                <a:solidFill>
                  <a:srgbClr val="FFFF00"/>
                </a:solidFill>
                <a:latin typeface="Quattrocento Sans"/>
                <a:ea typeface="Quattrocento Sans"/>
                <a:cs typeface="Quattrocento Sans"/>
                <a:sym typeface="Quattrocento Sans"/>
              </a:rPr>
              <a:t> and </a:t>
            </a:r>
            <a:r>
              <a:rPr lang="en-GB" sz="2000" b="1" dirty="0" err="1">
                <a:solidFill>
                  <a:srgbClr val="00FFFF"/>
                </a:solidFill>
                <a:latin typeface="Quattrocento Sans"/>
                <a:ea typeface="Quattrocento Sans"/>
                <a:cs typeface="Quattrocento Sans"/>
                <a:sym typeface="Quattrocento Sans"/>
              </a:rPr>
              <a:t>Rigidbody.MoveRotation</a:t>
            </a:r>
            <a:r>
              <a:rPr lang="en-GB" sz="2000" b="1" dirty="0">
                <a:solidFill>
                  <a:srgbClr val="FFFF00"/>
                </a:solidFill>
                <a:latin typeface="Quattrocento Sans"/>
                <a:ea typeface="Quattrocento Sans"/>
                <a:cs typeface="Quattrocento Sans"/>
                <a:sym typeface="Quattrocento Sans"/>
              </a:rPr>
              <a:t> within </a:t>
            </a:r>
            <a:r>
              <a:rPr lang="en-GB" sz="2000" b="1" dirty="0" err="1">
                <a:solidFill>
                  <a:srgbClr val="00FFFF"/>
                </a:solidFill>
                <a:latin typeface="Quattrocento Sans"/>
                <a:ea typeface="Quattrocento Sans"/>
                <a:cs typeface="Quattrocento Sans"/>
                <a:sym typeface="Quattrocento Sans"/>
              </a:rPr>
              <a:t>FixedUpdate</a:t>
            </a:r>
            <a:r>
              <a:rPr lang="en-GB" sz="1800" b="1" dirty="0">
                <a:solidFill>
                  <a:srgbClr val="00FFFF"/>
                </a:solidFill>
                <a:latin typeface="Quattrocento Sans"/>
                <a:ea typeface="Quattrocento Sans"/>
                <a:cs typeface="Quattrocento Sans"/>
                <a:sym typeface="Quattrocento Sans"/>
              </a:rPr>
              <a:t> </a:t>
            </a:r>
            <a:r>
              <a:rPr lang="en-GB" sz="2500" b="1" dirty="0">
                <a:solidFill>
                  <a:srgbClr val="FFFF00"/>
                </a:solidFill>
                <a:latin typeface="Quattrocento Sans"/>
                <a:ea typeface="Quattrocento Sans"/>
                <a:cs typeface="Quattrocento Sans"/>
                <a:sym typeface="Quattrocento Sans"/>
              </a:rPr>
              <a:t> </a:t>
            </a:r>
            <a:r>
              <a:rPr lang="en-GB" sz="1800" u="sng" dirty="0">
                <a:solidFill>
                  <a:schemeClr val="hlink"/>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https://answers.unity.com/questions/1730904/object-doesnt-collide-with-wall-using-transformtra.html</a:t>
            </a:r>
            <a:r>
              <a:rPr lang="en-GB" sz="1800" dirty="0">
                <a:solidFill>
                  <a:schemeClr val="dk2"/>
                </a:solidFill>
                <a:latin typeface="Quattrocento Sans"/>
                <a:ea typeface="Quattrocento Sans"/>
                <a:cs typeface="Quattrocento Sans"/>
                <a:sym typeface="Quattrocento Sans"/>
              </a:rPr>
              <a:t> </a:t>
            </a:r>
            <a:endParaRPr sz="1800">
              <a:solidFill>
                <a:schemeClr val="dk2"/>
              </a:solidFill>
              <a:latin typeface="Quattrocento Sans"/>
              <a:ea typeface="Quattrocento Sans"/>
              <a:cs typeface="Quattrocento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71" name="Google Shape;271;p31"/>
          <p:cNvSpPr txBox="1"/>
          <p:nvPr/>
        </p:nvSpPr>
        <p:spPr>
          <a:xfrm>
            <a:off x="609600" y="1421654"/>
            <a:ext cx="10890738"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lang="en-GB" sz="3600" b="1" dirty="0">
              <a:solidFill>
                <a:srgbClr val="FFFF00"/>
              </a:solidFill>
              <a:latin typeface="Quattrocento Sans"/>
            </a:endParaRPr>
          </a:p>
          <a:p>
            <a:pPr marL="0" marR="0" lvl="0" indent="0" algn="l" rtl="0">
              <a:spcBef>
                <a:spcPts val="0"/>
              </a:spcBef>
              <a:spcAft>
                <a:spcPts val="0"/>
              </a:spcAft>
              <a:buNone/>
            </a:pPr>
            <a:endParaRPr sz="2000" b="1">
              <a:solidFill>
                <a:srgbClr val="FFFF00"/>
              </a:solidFill>
              <a:latin typeface="Quattrocento Sans"/>
              <a:ea typeface="Quattrocento Sans"/>
              <a:cs typeface="Quattrocento Sans"/>
              <a:sym typeface="Quattrocento Sans"/>
            </a:endParaRPr>
          </a:p>
        </p:txBody>
      </p:sp>
      <p:sp>
        <p:nvSpPr>
          <p:cNvPr id="3" name="Google Shape;94;g11eb2923022_0_36">
            <a:extLst>
              <a:ext uri="{FF2B5EF4-FFF2-40B4-BE49-F238E27FC236}">
                <a16:creationId xmlns:a16="http://schemas.microsoft.com/office/drawing/2014/main" id="{E5287E59-466B-0DEC-1407-3FD599A80B61}"/>
              </a:ext>
            </a:extLst>
          </p:cNvPr>
          <p:cNvSpPr txBox="1"/>
          <p:nvPr/>
        </p:nvSpPr>
        <p:spPr>
          <a:xfrm>
            <a:off x="609600" y="1193050"/>
            <a:ext cx="11133000" cy="13010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dirty="0">
                <a:solidFill>
                  <a:srgbClr val="FFFF00"/>
                </a:solidFill>
                <a:latin typeface="Quattrocento Sans"/>
                <a:ea typeface="Quattrocento Sans"/>
                <a:cs typeface="Quattrocento Sans"/>
                <a:sym typeface="Quattrocento Sans"/>
              </a:rPr>
              <a:t>Unity Collisions and Triggers</a:t>
            </a:r>
            <a:endParaRPr sz="3600" b="1" dirty="0">
              <a:solidFill>
                <a:srgbClr val="FFFF00"/>
              </a:solidFill>
              <a:latin typeface="Quattrocento Sans"/>
              <a:ea typeface="Quattrocento Sans"/>
              <a:cs typeface="Quattrocento Sans"/>
              <a:sym typeface="Quattrocento Sans"/>
            </a:endParaRPr>
          </a:p>
          <a:p>
            <a:pPr marL="0" lvl="0" indent="0" algn="l" rtl="0">
              <a:lnSpc>
                <a:spcPct val="115000"/>
              </a:lnSpc>
              <a:spcBef>
                <a:spcPts val="0"/>
              </a:spcBef>
              <a:spcAft>
                <a:spcPts val="0"/>
              </a:spcAft>
              <a:buNone/>
            </a:pPr>
            <a:endParaRPr sz="1600" b="1">
              <a:solidFill>
                <a:srgbClr val="FFFF00"/>
              </a:solidFill>
              <a:latin typeface="Calibri"/>
              <a:ea typeface="Calibri"/>
              <a:cs typeface="Calibri"/>
              <a:sym typeface="Calibri"/>
            </a:endParaRPr>
          </a:p>
          <a:p>
            <a:pPr marL="0" lvl="0" indent="0" algn="l" rtl="0">
              <a:lnSpc>
                <a:spcPct val="115000"/>
              </a:lnSpc>
              <a:spcBef>
                <a:spcPts val="0"/>
              </a:spcBef>
              <a:spcAft>
                <a:spcPts val="0"/>
              </a:spcAft>
              <a:buNone/>
            </a:pPr>
            <a:endParaRPr lang="en-GB" sz="2100" b="1">
              <a:solidFill>
                <a:srgbClr val="FFFF00"/>
              </a:solidFill>
              <a:latin typeface="Calibri"/>
              <a:ea typeface="Calibri"/>
              <a:cs typeface="Calibri"/>
            </a:endParaRPr>
          </a:p>
        </p:txBody>
      </p:sp>
    </p:spTree>
    <p:extLst>
      <p:ext uri="{BB962C8B-B14F-4D97-AF65-F5344CB8AC3E}">
        <p14:creationId xmlns:p14="http://schemas.microsoft.com/office/powerpoint/2010/main" val="5583899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11eb2923022_0_36"/>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rmAutofit/>
          </a:bodyPr>
          <a:lstStyle/>
          <a:p>
            <a:r>
              <a:rPr lang="en-GB" sz="3600" dirty="0"/>
              <a:t>3D Interactive Media Development</a:t>
            </a:r>
            <a:endParaRPr lang="en-US" dirty="0"/>
          </a:p>
        </p:txBody>
      </p:sp>
      <p:sp>
        <p:nvSpPr>
          <p:cNvPr id="94" name="Google Shape;94;g11eb2923022_0_36"/>
          <p:cNvSpPr txBox="1"/>
          <p:nvPr/>
        </p:nvSpPr>
        <p:spPr>
          <a:xfrm>
            <a:off x="609600" y="1193050"/>
            <a:ext cx="11133000" cy="4492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a:solidFill>
                  <a:srgbClr val="FFFF00"/>
                </a:solidFill>
                <a:latin typeface="Quattrocento Sans"/>
                <a:ea typeface="Quattrocento Sans"/>
                <a:cs typeface="Quattrocento Sans"/>
                <a:sym typeface="Quattrocento Sans"/>
              </a:rPr>
              <a:t>Unity Collisions and Triggers</a:t>
            </a:r>
            <a:endParaRPr sz="3600" b="1">
              <a:solidFill>
                <a:srgbClr val="FFFF00"/>
              </a:solidFill>
              <a:latin typeface="Quattrocento Sans"/>
              <a:ea typeface="Quattrocento Sans"/>
              <a:cs typeface="Quattrocento Sans"/>
              <a:sym typeface="Quattrocento Sans"/>
            </a:endParaRPr>
          </a:p>
          <a:p>
            <a:pPr marL="0" lvl="0" indent="0" algn="l" rtl="0">
              <a:lnSpc>
                <a:spcPct val="115000"/>
              </a:lnSpc>
              <a:spcBef>
                <a:spcPts val="0"/>
              </a:spcBef>
              <a:spcAft>
                <a:spcPts val="0"/>
              </a:spcAft>
              <a:buNone/>
            </a:pPr>
            <a:endParaRPr sz="1600" b="1">
              <a:solidFill>
                <a:srgbClr val="FFFF00"/>
              </a:solidFill>
              <a:latin typeface="Calibri"/>
              <a:ea typeface="Calibri"/>
              <a:cs typeface="Calibri"/>
              <a:sym typeface="Calibri"/>
            </a:endParaRPr>
          </a:p>
          <a:p>
            <a:pPr marL="0" lvl="0" indent="0" algn="l" rtl="0">
              <a:lnSpc>
                <a:spcPct val="115000"/>
              </a:lnSpc>
              <a:spcBef>
                <a:spcPts val="0"/>
              </a:spcBef>
              <a:spcAft>
                <a:spcPts val="0"/>
              </a:spcAft>
              <a:buNone/>
            </a:pPr>
            <a:r>
              <a:rPr lang="en-GB" sz="2600">
                <a:solidFill>
                  <a:srgbClr val="FFFFFF"/>
                </a:solidFill>
                <a:latin typeface="Calibri"/>
                <a:ea typeface="Calibri"/>
                <a:cs typeface="Calibri"/>
                <a:sym typeface="Calibri"/>
              </a:rPr>
              <a:t>Collider hitting Rigid Body/Collider (for Collision Detection)</a:t>
            </a:r>
            <a:r>
              <a:rPr lang="en-GB" sz="2300">
                <a:solidFill>
                  <a:srgbClr val="FFFF00"/>
                </a:solidFill>
                <a:latin typeface="Calibri"/>
                <a:ea typeface="Calibri"/>
                <a:cs typeface="Calibri"/>
                <a:sym typeface="Calibri"/>
              </a:rPr>
              <a:t> </a:t>
            </a:r>
            <a:endParaRPr sz="2300">
              <a:solidFill>
                <a:srgbClr val="FFFF00"/>
              </a:solidFill>
              <a:latin typeface="Calibri"/>
              <a:ea typeface="Calibri"/>
              <a:cs typeface="Calibri"/>
              <a:sym typeface="Calibri"/>
            </a:endParaRPr>
          </a:p>
          <a:p>
            <a:pPr marL="0" lvl="0" indent="0" algn="l" rtl="0">
              <a:lnSpc>
                <a:spcPct val="115000"/>
              </a:lnSpc>
              <a:spcBef>
                <a:spcPts val="0"/>
              </a:spcBef>
              <a:spcAft>
                <a:spcPts val="0"/>
              </a:spcAft>
              <a:buNone/>
            </a:pPr>
            <a:r>
              <a:rPr lang="en-GB" sz="2300">
                <a:solidFill>
                  <a:srgbClr val="FFFF00"/>
                </a:solidFill>
                <a:latin typeface="Calibri"/>
                <a:ea typeface="Calibri"/>
                <a:cs typeface="Calibri"/>
                <a:sym typeface="Calibri"/>
              </a:rPr>
              <a:t>This is true Collision Detection, not Triggering  in slide above</a:t>
            </a:r>
            <a:endParaRPr sz="2300">
              <a:solidFill>
                <a:srgbClr val="FFFF00"/>
              </a:solidFill>
              <a:latin typeface="Calibri"/>
              <a:ea typeface="Calibri"/>
              <a:cs typeface="Calibri"/>
              <a:sym typeface="Calibri"/>
            </a:endParaRPr>
          </a:p>
          <a:p>
            <a:pPr marL="0" lvl="0" indent="0" algn="l" rtl="0">
              <a:lnSpc>
                <a:spcPct val="115000"/>
              </a:lnSpc>
              <a:spcBef>
                <a:spcPts val="0"/>
              </a:spcBef>
              <a:spcAft>
                <a:spcPts val="0"/>
              </a:spcAft>
              <a:buNone/>
            </a:pPr>
            <a:endParaRPr sz="2300">
              <a:solidFill>
                <a:srgbClr val="FFFF00"/>
              </a:solidFill>
              <a:latin typeface="Calibri"/>
              <a:ea typeface="Calibri"/>
              <a:cs typeface="Calibri"/>
              <a:sym typeface="Calibri"/>
            </a:endParaRPr>
          </a:p>
          <a:p>
            <a:pPr marL="0" lvl="0" indent="0" algn="l" rtl="0">
              <a:lnSpc>
                <a:spcPct val="115000"/>
              </a:lnSpc>
              <a:spcBef>
                <a:spcPts val="0"/>
              </a:spcBef>
              <a:spcAft>
                <a:spcPts val="0"/>
              </a:spcAft>
              <a:buNone/>
            </a:pPr>
            <a:r>
              <a:rPr lang="en-GB" sz="2300">
                <a:solidFill>
                  <a:srgbClr val="FFFFFF"/>
                </a:solidFill>
                <a:latin typeface="Calibri"/>
                <a:ea typeface="Calibri"/>
                <a:cs typeface="Calibri"/>
                <a:sym typeface="Calibri"/>
              </a:rPr>
              <a:t>Collision and Physics: OnCollisonEnter(Collision col)</a:t>
            </a:r>
            <a:endParaRPr sz="1800">
              <a:solidFill>
                <a:srgbClr val="FFFFFF"/>
              </a:solidFill>
              <a:latin typeface="Calibri"/>
              <a:ea typeface="Calibri"/>
              <a:cs typeface="Calibri"/>
              <a:sym typeface="Calibri"/>
            </a:endParaRPr>
          </a:p>
          <a:p>
            <a:pPr marL="914400" lvl="1" indent="-368300" algn="l" rtl="0">
              <a:lnSpc>
                <a:spcPct val="115000"/>
              </a:lnSpc>
              <a:spcBef>
                <a:spcPts val="0"/>
              </a:spcBef>
              <a:spcAft>
                <a:spcPts val="0"/>
              </a:spcAft>
              <a:buClr>
                <a:srgbClr val="FFFF00"/>
              </a:buClr>
              <a:buSzPts val="2200"/>
              <a:buFont typeface="Calibri"/>
              <a:buAutoNum type="arabicPeriod"/>
            </a:pPr>
            <a:r>
              <a:rPr lang="en-GB" sz="2200">
                <a:solidFill>
                  <a:srgbClr val="FFFF00"/>
                </a:solidFill>
                <a:latin typeface="Calibri"/>
                <a:ea typeface="Calibri"/>
                <a:cs typeface="Calibri"/>
                <a:sym typeface="Calibri"/>
              </a:rPr>
              <a:t>RigidBody enables a collision - Solid</a:t>
            </a:r>
            <a:endParaRPr sz="2200">
              <a:solidFill>
                <a:srgbClr val="FFFF00"/>
              </a:solidFill>
              <a:latin typeface="Calibri"/>
              <a:ea typeface="Calibri"/>
              <a:cs typeface="Calibri"/>
              <a:sym typeface="Calibri"/>
            </a:endParaRPr>
          </a:p>
          <a:p>
            <a:pPr marL="1371600" lvl="2" indent="-368300" algn="l" rtl="0">
              <a:lnSpc>
                <a:spcPct val="115000"/>
              </a:lnSpc>
              <a:spcBef>
                <a:spcPts val="0"/>
              </a:spcBef>
              <a:spcAft>
                <a:spcPts val="0"/>
              </a:spcAft>
              <a:buClr>
                <a:srgbClr val="FFFF00"/>
              </a:buClr>
              <a:buSzPts val="2200"/>
              <a:buFont typeface="Calibri"/>
              <a:buAutoNum type="arabicPeriod"/>
            </a:pPr>
            <a:r>
              <a:rPr lang="en-GB" sz="2200">
                <a:solidFill>
                  <a:srgbClr val="FFFF00"/>
                </a:solidFill>
                <a:latin typeface="Calibri"/>
                <a:ea typeface="Calibri"/>
                <a:cs typeface="Calibri"/>
                <a:sym typeface="Calibri"/>
              </a:rPr>
              <a:t>True RB - should only move by forces - ideal situation</a:t>
            </a:r>
            <a:endParaRPr sz="2200">
              <a:solidFill>
                <a:srgbClr val="FFFF00"/>
              </a:solidFill>
              <a:latin typeface="Calibri"/>
              <a:ea typeface="Calibri"/>
              <a:cs typeface="Calibri"/>
              <a:sym typeface="Calibri"/>
            </a:endParaRPr>
          </a:p>
          <a:p>
            <a:pPr marL="1371600" lvl="2" indent="-368300" algn="l" rtl="0">
              <a:lnSpc>
                <a:spcPct val="115000"/>
              </a:lnSpc>
              <a:spcBef>
                <a:spcPts val="0"/>
              </a:spcBef>
              <a:spcAft>
                <a:spcPts val="0"/>
              </a:spcAft>
              <a:buClr>
                <a:srgbClr val="FFFF00"/>
              </a:buClr>
              <a:buSzPts val="2200"/>
              <a:buFont typeface="Calibri"/>
              <a:buAutoNum type="arabicPeriod"/>
            </a:pPr>
            <a:r>
              <a:rPr lang="en-GB" sz="2200">
                <a:solidFill>
                  <a:srgbClr val="FFFF00"/>
                </a:solidFill>
                <a:latin typeface="Calibri"/>
                <a:ea typeface="Calibri"/>
                <a:cs typeface="Calibri"/>
                <a:sym typeface="Calibri"/>
              </a:rPr>
              <a:t>IsKinematic RB, or No RB can use movement scripting</a:t>
            </a:r>
            <a:endParaRPr sz="2200">
              <a:solidFill>
                <a:srgbClr val="FFFF00"/>
              </a:solidFill>
              <a:latin typeface="Calibri"/>
              <a:ea typeface="Calibri"/>
              <a:cs typeface="Calibri"/>
              <a:sym typeface="Calibri"/>
            </a:endParaRPr>
          </a:p>
          <a:p>
            <a:pPr marL="914400" lvl="1" indent="-368300" algn="l" rtl="0">
              <a:lnSpc>
                <a:spcPct val="115000"/>
              </a:lnSpc>
              <a:spcBef>
                <a:spcPts val="0"/>
              </a:spcBef>
              <a:spcAft>
                <a:spcPts val="0"/>
              </a:spcAft>
              <a:buClr>
                <a:srgbClr val="FFFF00"/>
              </a:buClr>
              <a:buSzPts val="2200"/>
              <a:buFont typeface="Calibri"/>
              <a:buAutoNum type="arabicPeriod"/>
            </a:pPr>
            <a:r>
              <a:rPr lang="en-GB" sz="2200">
                <a:solidFill>
                  <a:srgbClr val="FFFF00"/>
                </a:solidFill>
                <a:latin typeface="Calibri"/>
                <a:ea typeface="Calibri"/>
                <a:cs typeface="Calibri"/>
                <a:sym typeface="Calibri"/>
              </a:rPr>
              <a:t>IsTrigger Off enables a collision - Solid</a:t>
            </a:r>
            <a:endParaRPr sz="3400">
              <a:solidFill>
                <a:srgbClr val="FFFFFF"/>
              </a:solidFill>
              <a:latin typeface="Calibri"/>
              <a:ea typeface="Calibri"/>
              <a:cs typeface="Calibri"/>
              <a:sym typeface="Calibri"/>
            </a:endParaRPr>
          </a:p>
          <a:p>
            <a:pPr marL="0" lvl="0" indent="0" algn="l" rtl="0">
              <a:lnSpc>
                <a:spcPct val="115000"/>
              </a:lnSpc>
              <a:spcBef>
                <a:spcPts val="0"/>
              </a:spcBef>
              <a:spcAft>
                <a:spcPts val="0"/>
              </a:spcAft>
              <a:buNone/>
            </a:pPr>
            <a:endParaRPr sz="2100" b="1">
              <a:solidFill>
                <a:srgbClr val="FFFF00"/>
              </a:solidFill>
              <a:latin typeface="Calibri"/>
              <a:ea typeface="Calibri"/>
              <a:cs typeface="Calibri"/>
              <a:sym typeface="Calibri"/>
            </a:endParaRPr>
          </a:p>
        </p:txBody>
      </p:sp>
    </p:spTree>
    <p:extLst>
      <p:ext uri="{BB962C8B-B14F-4D97-AF65-F5344CB8AC3E}">
        <p14:creationId xmlns:p14="http://schemas.microsoft.com/office/powerpoint/2010/main" val="21383867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g11eb2923022_0_60"/>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rmAutofit/>
          </a:bodyPr>
          <a:lstStyle/>
          <a:p>
            <a:r>
              <a:rPr lang="en-GB" sz="3600" dirty="0"/>
              <a:t>3D Interactive Media Development</a:t>
            </a:r>
            <a:endParaRPr lang="en-US" dirty="0"/>
          </a:p>
        </p:txBody>
      </p:sp>
      <p:sp>
        <p:nvSpPr>
          <p:cNvPr id="101" name="Google Shape;101;g11eb2923022_0_60"/>
          <p:cNvSpPr txBox="1"/>
          <p:nvPr/>
        </p:nvSpPr>
        <p:spPr>
          <a:xfrm>
            <a:off x="609600" y="1193050"/>
            <a:ext cx="11133000" cy="547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dirty="0">
                <a:solidFill>
                  <a:srgbClr val="FFFF00"/>
                </a:solidFill>
                <a:latin typeface="Quattrocento Sans"/>
                <a:ea typeface="Quattrocento Sans"/>
                <a:cs typeface="Quattrocento Sans"/>
                <a:sym typeface="Quattrocento Sans"/>
              </a:rPr>
              <a:t>Unity Collisions and Triggers</a:t>
            </a:r>
            <a:endParaRPr sz="3600" b="1" dirty="0">
              <a:solidFill>
                <a:srgbClr val="FFFF00"/>
              </a:solidFill>
              <a:latin typeface="Quattrocento Sans"/>
              <a:ea typeface="Quattrocento Sans"/>
              <a:cs typeface="Quattrocento Sans"/>
              <a:sym typeface="Quattrocento Sans"/>
            </a:endParaRPr>
          </a:p>
          <a:p>
            <a:pPr marL="0" lvl="0" indent="0" algn="l" rtl="0">
              <a:lnSpc>
                <a:spcPct val="115000"/>
              </a:lnSpc>
              <a:spcBef>
                <a:spcPts val="0"/>
              </a:spcBef>
              <a:spcAft>
                <a:spcPts val="0"/>
              </a:spcAft>
              <a:buNone/>
            </a:pPr>
            <a:endParaRPr sz="1600" b="1">
              <a:solidFill>
                <a:srgbClr val="FFFF00"/>
              </a:solidFill>
              <a:latin typeface="Calibri"/>
              <a:ea typeface="Calibri"/>
              <a:cs typeface="Calibri"/>
              <a:sym typeface="Calibri"/>
            </a:endParaRPr>
          </a:p>
          <a:p>
            <a:pPr marL="0" lvl="0" indent="0" algn="l" rtl="0">
              <a:lnSpc>
                <a:spcPct val="115000"/>
              </a:lnSpc>
              <a:spcBef>
                <a:spcPts val="0"/>
              </a:spcBef>
              <a:spcAft>
                <a:spcPts val="0"/>
              </a:spcAft>
              <a:buNone/>
            </a:pPr>
            <a:r>
              <a:rPr lang="en-GB" sz="2600" dirty="0">
                <a:solidFill>
                  <a:srgbClr val="FFFFFF"/>
                </a:solidFill>
                <a:latin typeface="Calibri"/>
                <a:ea typeface="Calibri"/>
                <a:cs typeface="Calibri"/>
                <a:sym typeface="Calibri"/>
              </a:rPr>
              <a:t>Collider hitting Rigid Body/Collider (for Collision Detection)</a:t>
            </a:r>
            <a:r>
              <a:rPr lang="en-GB" sz="2300" dirty="0">
                <a:solidFill>
                  <a:srgbClr val="FFFF00"/>
                </a:solidFill>
                <a:latin typeface="Calibri"/>
                <a:ea typeface="Calibri"/>
                <a:cs typeface="Calibri"/>
                <a:sym typeface="Calibri"/>
              </a:rPr>
              <a:t> </a:t>
            </a:r>
            <a:endParaRPr sz="2300" dirty="0">
              <a:solidFill>
                <a:srgbClr val="FFFF00"/>
              </a:solidFill>
              <a:latin typeface="Calibri"/>
              <a:ea typeface="Calibri"/>
              <a:cs typeface="Calibri"/>
              <a:sym typeface="Calibri"/>
            </a:endParaRPr>
          </a:p>
          <a:p>
            <a:pPr marL="0" lvl="0" indent="0" algn="l" rtl="0">
              <a:lnSpc>
                <a:spcPct val="115000"/>
              </a:lnSpc>
              <a:spcBef>
                <a:spcPts val="0"/>
              </a:spcBef>
              <a:spcAft>
                <a:spcPts val="0"/>
              </a:spcAft>
              <a:buNone/>
            </a:pPr>
            <a:r>
              <a:rPr lang="en-GB" sz="2300" dirty="0">
                <a:solidFill>
                  <a:srgbClr val="FFFF00"/>
                </a:solidFill>
                <a:latin typeface="Calibri"/>
                <a:ea typeface="Calibri"/>
                <a:cs typeface="Calibri"/>
                <a:sym typeface="Calibri"/>
              </a:rPr>
              <a:t>This is true Collision Detection, not Triggering  in slide above</a:t>
            </a:r>
            <a:endParaRPr sz="2300" dirty="0">
              <a:solidFill>
                <a:srgbClr val="FFFF00"/>
              </a:solidFill>
              <a:latin typeface="Calibri"/>
              <a:ea typeface="Calibri"/>
              <a:cs typeface="Calibri"/>
              <a:sym typeface="Calibri"/>
            </a:endParaRPr>
          </a:p>
          <a:p>
            <a:pPr>
              <a:lnSpc>
                <a:spcPct val="115000"/>
              </a:lnSpc>
            </a:pPr>
            <a:r>
              <a:rPr lang="en-GB" sz="2300" dirty="0">
                <a:solidFill>
                  <a:srgbClr val="FFFFFF"/>
                </a:solidFill>
                <a:latin typeface="Calibri"/>
                <a:ea typeface="Calibri"/>
                <a:cs typeface="Calibri"/>
                <a:sym typeface="Calibri"/>
              </a:rPr>
              <a:t>Collision and Physics: </a:t>
            </a:r>
            <a:r>
              <a:rPr lang="en-GB" sz="2300" dirty="0" err="1">
                <a:solidFill>
                  <a:srgbClr val="FFFFFF"/>
                </a:solidFill>
                <a:latin typeface="Calibri"/>
                <a:ea typeface="Calibri"/>
                <a:cs typeface="Calibri"/>
                <a:sym typeface="Calibri"/>
              </a:rPr>
              <a:t>OnCollisonEnter</a:t>
            </a:r>
            <a:r>
              <a:rPr lang="en-GB" sz="2300" dirty="0">
                <a:solidFill>
                  <a:srgbClr val="FFFFFF"/>
                </a:solidFill>
                <a:latin typeface="Calibri"/>
                <a:ea typeface="Calibri"/>
                <a:cs typeface="Calibri"/>
                <a:sym typeface="Calibri"/>
              </a:rPr>
              <a:t>(Collision col) for scripting</a:t>
            </a:r>
            <a:endParaRPr sz="1100" dirty="0">
              <a:solidFill>
                <a:srgbClr val="FFFF00"/>
              </a:solidFill>
              <a:latin typeface="Calibri"/>
              <a:ea typeface="Calibri"/>
              <a:cs typeface="Calibri"/>
              <a:sym typeface="Calibri"/>
            </a:endParaRPr>
          </a:p>
          <a:p>
            <a:pPr marL="0" lvl="0" indent="457200" algn="l" rtl="0">
              <a:lnSpc>
                <a:spcPct val="115000"/>
              </a:lnSpc>
              <a:spcBef>
                <a:spcPts val="0"/>
              </a:spcBef>
              <a:spcAft>
                <a:spcPts val="0"/>
              </a:spcAft>
              <a:buNone/>
            </a:pPr>
            <a:r>
              <a:rPr lang="en-GB" sz="1700" dirty="0" err="1">
                <a:solidFill>
                  <a:srgbClr val="FFFF00"/>
                </a:solidFill>
                <a:latin typeface="Calibri"/>
                <a:ea typeface="Calibri"/>
                <a:cs typeface="Calibri"/>
                <a:sym typeface="Calibri"/>
              </a:rPr>
              <a:t>RigidBody</a:t>
            </a:r>
            <a:r>
              <a:rPr lang="en-GB" sz="1700" dirty="0">
                <a:solidFill>
                  <a:srgbClr val="FFFF00"/>
                </a:solidFill>
                <a:latin typeface="Calibri"/>
                <a:ea typeface="Calibri"/>
                <a:cs typeface="Calibri"/>
                <a:sym typeface="Calibri"/>
              </a:rPr>
              <a:t>, Collision</a:t>
            </a:r>
            <a:endParaRPr sz="1700" dirty="0">
              <a:solidFill>
                <a:srgbClr val="FFFF00"/>
              </a:solidFill>
              <a:latin typeface="Calibri"/>
              <a:ea typeface="Calibri"/>
              <a:cs typeface="Calibri"/>
              <a:sym typeface="Calibri"/>
            </a:endParaRPr>
          </a:p>
          <a:p>
            <a:pPr marL="1371600" lvl="2" indent="-336550" algn="l" rtl="0">
              <a:lnSpc>
                <a:spcPct val="115000"/>
              </a:lnSpc>
              <a:spcBef>
                <a:spcPts val="0"/>
              </a:spcBef>
              <a:spcAft>
                <a:spcPts val="0"/>
              </a:spcAft>
              <a:buClr>
                <a:srgbClr val="FFFF00"/>
              </a:buClr>
              <a:buSzPts val="1700"/>
              <a:buFont typeface="Calibri"/>
              <a:buAutoNum type="arabicPeriod"/>
            </a:pPr>
            <a:r>
              <a:rPr lang="en-GB" sz="1700" dirty="0">
                <a:solidFill>
                  <a:srgbClr val="FFFF00"/>
                </a:solidFill>
                <a:latin typeface="Calibri"/>
                <a:ea typeface="Calibri"/>
                <a:cs typeface="Calibri"/>
                <a:sym typeface="Calibri"/>
              </a:rPr>
              <a:t>Gravity On - Will fall</a:t>
            </a:r>
            <a:endParaRPr sz="1700" dirty="0">
              <a:solidFill>
                <a:srgbClr val="FFFF00"/>
              </a:solidFill>
              <a:latin typeface="Calibri"/>
              <a:ea typeface="Calibri"/>
              <a:cs typeface="Calibri"/>
              <a:sym typeface="Calibri"/>
            </a:endParaRPr>
          </a:p>
          <a:p>
            <a:pPr marL="1371600" lvl="2" indent="-336550" algn="l" rtl="0">
              <a:lnSpc>
                <a:spcPct val="115000"/>
              </a:lnSpc>
              <a:spcBef>
                <a:spcPts val="0"/>
              </a:spcBef>
              <a:spcAft>
                <a:spcPts val="0"/>
              </a:spcAft>
              <a:buClr>
                <a:srgbClr val="FFFF00"/>
              </a:buClr>
              <a:buSzPts val="1700"/>
              <a:buFont typeface="Calibri"/>
              <a:buAutoNum type="arabicPeriod"/>
            </a:pPr>
            <a:r>
              <a:rPr lang="en-GB" sz="1700" dirty="0">
                <a:solidFill>
                  <a:srgbClr val="FFFF00"/>
                </a:solidFill>
                <a:latin typeface="Calibri"/>
                <a:ea typeface="Calibri"/>
                <a:cs typeface="Calibri"/>
                <a:sym typeface="Calibri"/>
              </a:rPr>
              <a:t>Gravity Off, </a:t>
            </a:r>
            <a:r>
              <a:rPr lang="en-GB" sz="1700" dirty="0" err="1">
                <a:solidFill>
                  <a:srgbClr val="FFFF00"/>
                </a:solidFill>
                <a:latin typeface="Calibri"/>
                <a:ea typeface="Calibri"/>
                <a:cs typeface="Calibri"/>
                <a:sym typeface="Calibri"/>
              </a:rPr>
              <a:t>IsKinematic</a:t>
            </a:r>
            <a:r>
              <a:rPr lang="en-GB" sz="1700" dirty="0">
                <a:solidFill>
                  <a:srgbClr val="FFFF00"/>
                </a:solidFill>
                <a:latin typeface="Calibri"/>
                <a:ea typeface="Calibri"/>
                <a:cs typeface="Calibri"/>
                <a:sym typeface="Calibri"/>
              </a:rPr>
              <a:t> Off</a:t>
            </a:r>
            <a:endParaRPr sz="1700" dirty="0">
              <a:solidFill>
                <a:srgbClr val="FFFF00"/>
              </a:solidFill>
              <a:latin typeface="Calibri"/>
              <a:ea typeface="Calibri"/>
              <a:cs typeface="Calibri"/>
              <a:sym typeface="Calibri"/>
            </a:endParaRPr>
          </a:p>
          <a:p>
            <a:pPr marL="1828800" lvl="3" indent="-336550" algn="l" rtl="0">
              <a:lnSpc>
                <a:spcPct val="115000"/>
              </a:lnSpc>
              <a:spcBef>
                <a:spcPts val="0"/>
              </a:spcBef>
              <a:spcAft>
                <a:spcPts val="0"/>
              </a:spcAft>
              <a:buClr>
                <a:srgbClr val="FFFF00"/>
              </a:buClr>
              <a:buSzPts val="1700"/>
              <a:buFont typeface="Calibri"/>
              <a:buAutoNum type="arabicPeriod"/>
            </a:pPr>
            <a:r>
              <a:rPr lang="en-GB" sz="1700" dirty="0">
                <a:solidFill>
                  <a:srgbClr val="FFFF00"/>
                </a:solidFill>
                <a:latin typeface="Calibri"/>
                <a:ea typeface="Calibri"/>
                <a:cs typeface="Calibri"/>
                <a:sym typeface="Calibri"/>
              </a:rPr>
              <a:t>Acts as Static, but forces affect</a:t>
            </a:r>
            <a:endParaRPr sz="1700" dirty="0">
              <a:solidFill>
                <a:srgbClr val="FFFF00"/>
              </a:solidFill>
              <a:latin typeface="Calibri"/>
              <a:ea typeface="Calibri"/>
              <a:cs typeface="Calibri"/>
              <a:sym typeface="Calibri"/>
            </a:endParaRPr>
          </a:p>
          <a:p>
            <a:pPr marL="1371600" lvl="2" indent="-336550" algn="l" rtl="0">
              <a:lnSpc>
                <a:spcPct val="115000"/>
              </a:lnSpc>
              <a:spcBef>
                <a:spcPts val="0"/>
              </a:spcBef>
              <a:spcAft>
                <a:spcPts val="0"/>
              </a:spcAft>
              <a:buClr>
                <a:srgbClr val="FFFF00"/>
              </a:buClr>
              <a:buSzPts val="1700"/>
              <a:buFont typeface="Calibri"/>
              <a:buAutoNum type="arabicPeriod"/>
            </a:pPr>
            <a:r>
              <a:rPr lang="en-GB" sz="1700" dirty="0" err="1">
                <a:solidFill>
                  <a:srgbClr val="FFFF00"/>
                </a:solidFill>
                <a:latin typeface="Calibri"/>
                <a:ea typeface="Calibri"/>
                <a:cs typeface="Calibri"/>
                <a:sym typeface="Calibri"/>
              </a:rPr>
              <a:t>IsKinematic</a:t>
            </a:r>
            <a:r>
              <a:rPr lang="en-GB" sz="1700" dirty="0">
                <a:solidFill>
                  <a:srgbClr val="FFFF00"/>
                </a:solidFill>
                <a:latin typeface="Calibri"/>
                <a:ea typeface="Calibri"/>
                <a:cs typeface="Calibri"/>
                <a:sym typeface="Calibri"/>
              </a:rPr>
              <a:t> on</a:t>
            </a:r>
            <a:endParaRPr sz="1700" dirty="0">
              <a:solidFill>
                <a:srgbClr val="FFFF00"/>
              </a:solidFill>
              <a:latin typeface="Calibri"/>
              <a:ea typeface="Calibri"/>
              <a:cs typeface="Calibri"/>
              <a:sym typeface="Calibri"/>
            </a:endParaRPr>
          </a:p>
          <a:p>
            <a:pPr marL="1828800" lvl="3" indent="-336550" algn="l" rtl="0">
              <a:lnSpc>
                <a:spcPct val="115000"/>
              </a:lnSpc>
              <a:spcBef>
                <a:spcPts val="0"/>
              </a:spcBef>
              <a:spcAft>
                <a:spcPts val="0"/>
              </a:spcAft>
              <a:buClr>
                <a:srgbClr val="FFFF00"/>
              </a:buClr>
              <a:buSzPts val="1700"/>
              <a:buFont typeface="Calibri"/>
              <a:buAutoNum type="arabicPeriod"/>
            </a:pPr>
            <a:r>
              <a:rPr lang="en-GB" sz="1700" dirty="0">
                <a:solidFill>
                  <a:srgbClr val="FFFF00"/>
                </a:solidFill>
                <a:latin typeface="Calibri"/>
                <a:ea typeface="Calibri"/>
                <a:cs typeface="Calibri"/>
                <a:sym typeface="Calibri"/>
              </a:rPr>
              <a:t>May be moved, but not affected by forces</a:t>
            </a:r>
            <a:endParaRPr sz="1700" dirty="0">
              <a:solidFill>
                <a:srgbClr val="FFFF00"/>
              </a:solidFill>
              <a:latin typeface="Calibri"/>
              <a:ea typeface="Calibri"/>
              <a:cs typeface="Calibri"/>
              <a:sym typeface="Calibri"/>
            </a:endParaRPr>
          </a:p>
          <a:p>
            <a:pPr marL="1828800" lvl="3" indent="-336550" algn="l" rtl="0">
              <a:lnSpc>
                <a:spcPct val="115000"/>
              </a:lnSpc>
              <a:spcBef>
                <a:spcPts val="0"/>
              </a:spcBef>
              <a:spcAft>
                <a:spcPts val="0"/>
              </a:spcAft>
              <a:buClr>
                <a:srgbClr val="FFFF00"/>
              </a:buClr>
              <a:buSzPts val="1700"/>
              <a:buFont typeface="Calibri"/>
              <a:buAutoNum type="arabicPeriod"/>
            </a:pPr>
            <a:r>
              <a:rPr lang="en-GB" sz="1700" dirty="0">
                <a:solidFill>
                  <a:srgbClr val="FFFF00"/>
                </a:solidFill>
                <a:latin typeface="Calibri"/>
                <a:ea typeface="Calibri"/>
                <a:cs typeface="Calibri"/>
                <a:sym typeface="Calibri"/>
              </a:rPr>
              <a:t>Compare to Static collider: SC Is not calculated for - optimised</a:t>
            </a:r>
            <a:endParaRPr sz="1700" dirty="0">
              <a:solidFill>
                <a:srgbClr val="FFFF00"/>
              </a:solidFill>
              <a:latin typeface="Calibri"/>
              <a:ea typeface="Calibri"/>
              <a:cs typeface="Calibri"/>
              <a:sym typeface="Calibri"/>
            </a:endParaRPr>
          </a:p>
          <a:p>
            <a:pPr marL="1371600" lvl="2" indent="-336550" algn="l" rtl="0">
              <a:lnSpc>
                <a:spcPct val="115000"/>
              </a:lnSpc>
              <a:spcBef>
                <a:spcPts val="0"/>
              </a:spcBef>
              <a:spcAft>
                <a:spcPts val="0"/>
              </a:spcAft>
              <a:buClr>
                <a:srgbClr val="FFFF00"/>
              </a:buClr>
              <a:buSzPts val="1700"/>
              <a:buFont typeface="Calibri"/>
              <a:buAutoNum type="arabicPeriod"/>
            </a:pPr>
            <a:r>
              <a:rPr lang="en-GB" sz="1700" dirty="0">
                <a:solidFill>
                  <a:srgbClr val="FFFF00"/>
                </a:solidFill>
                <a:latin typeface="Calibri"/>
                <a:ea typeface="Calibri"/>
                <a:cs typeface="Calibri"/>
                <a:sym typeface="Calibri"/>
              </a:rPr>
              <a:t>Gravity On, </a:t>
            </a:r>
            <a:r>
              <a:rPr lang="en-GB" sz="1700" dirty="0" err="1">
                <a:solidFill>
                  <a:srgbClr val="FFFF00"/>
                </a:solidFill>
                <a:latin typeface="Calibri"/>
                <a:ea typeface="Calibri"/>
                <a:cs typeface="Calibri"/>
                <a:sym typeface="Calibri"/>
              </a:rPr>
              <a:t>IsKinematic</a:t>
            </a:r>
            <a:r>
              <a:rPr lang="en-GB" sz="1700" dirty="0">
                <a:solidFill>
                  <a:srgbClr val="FFFF00"/>
                </a:solidFill>
                <a:latin typeface="Calibri"/>
                <a:ea typeface="Calibri"/>
                <a:cs typeface="Calibri"/>
                <a:sym typeface="Calibri"/>
              </a:rPr>
              <a:t> On</a:t>
            </a:r>
            <a:endParaRPr sz="1700" dirty="0">
              <a:solidFill>
                <a:srgbClr val="FFFF00"/>
              </a:solidFill>
              <a:latin typeface="Calibri"/>
              <a:ea typeface="Calibri"/>
              <a:cs typeface="Calibri"/>
              <a:sym typeface="Calibri"/>
            </a:endParaRPr>
          </a:p>
          <a:p>
            <a:pPr marL="1828800" lvl="3" indent="-336550" algn="l" rtl="0">
              <a:lnSpc>
                <a:spcPct val="115000"/>
              </a:lnSpc>
              <a:spcBef>
                <a:spcPts val="0"/>
              </a:spcBef>
              <a:spcAft>
                <a:spcPts val="0"/>
              </a:spcAft>
              <a:buClr>
                <a:srgbClr val="FFFF00"/>
              </a:buClr>
              <a:buSzPts val="1700"/>
              <a:buFont typeface="Calibri"/>
              <a:buAutoNum type="arabicPeriod"/>
            </a:pPr>
            <a:r>
              <a:rPr lang="en-GB" sz="1700" dirty="0">
                <a:solidFill>
                  <a:srgbClr val="FFFF00"/>
                </a:solidFill>
                <a:latin typeface="Calibri"/>
                <a:ea typeface="Calibri"/>
                <a:cs typeface="Calibri"/>
                <a:sym typeface="Calibri"/>
              </a:rPr>
              <a:t>Is Kinematic cancels out Gravity</a:t>
            </a:r>
            <a:endParaRPr sz="1700" dirty="0">
              <a:solidFill>
                <a:srgbClr val="FFFF00"/>
              </a:solidFill>
              <a:latin typeface="Calibri"/>
              <a:ea typeface="Calibri"/>
              <a:cs typeface="Calibri"/>
              <a:sym typeface="Calibri"/>
            </a:endParaRPr>
          </a:p>
          <a:p>
            <a:pPr marL="1371600" lvl="2" indent="-336550" algn="l" rtl="0">
              <a:lnSpc>
                <a:spcPct val="115000"/>
              </a:lnSpc>
              <a:spcBef>
                <a:spcPts val="0"/>
              </a:spcBef>
              <a:spcAft>
                <a:spcPts val="0"/>
              </a:spcAft>
              <a:buClr>
                <a:srgbClr val="FFFF00"/>
              </a:buClr>
              <a:buSzPts val="1700"/>
              <a:buFont typeface="Calibri"/>
              <a:buAutoNum type="arabicPeriod"/>
            </a:pPr>
            <a:r>
              <a:rPr lang="en-GB" sz="1700" dirty="0">
                <a:solidFill>
                  <a:srgbClr val="FFFF00"/>
                </a:solidFill>
                <a:latin typeface="Calibri"/>
                <a:ea typeface="Calibri"/>
                <a:cs typeface="Calibri"/>
                <a:sym typeface="Calibri"/>
              </a:rPr>
              <a:t>Gravity Off, Is Kinematic On</a:t>
            </a:r>
            <a:endParaRPr sz="1700" dirty="0">
              <a:solidFill>
                <a:srgbClr val="FFFF00"/>
              </a:solidFill>
              <a:latin typeface="Calibri"/>
              <a:ea typeface="Calibri"/>
              <a:cs typeface="Calibri"/>
              <a:sym typeface="Calibri"/>
            </a:endParaRPr>
          </a:p>
          <a:p>
            <a:pPr marL="1828800" lvl="3" indent="-336550" algn="l" rtl="0">
              <a:lnSpc>
                <a:spcPct val="115000"/>
              </a:lnSpc>
              <a:spcBef>
                <a:spcPts val="0"/>
              </a:spcBef>
              <a:spcAft>
                <a:spcPts val="0"/>
              </a:spcAft>
              <a:buClr>
                <a:srgbClr val="FFFF00"/>
              </a:buClr>
              <a:buSzPts val="1700"/>
              <a:buFont typeface="Calibri"/>
              <a:buAutoNum type="arabicPeriod"/>
            </a:pPr>
            <a:r>
              <a:rPr lang="en-GB" sz="1700" dirty="0">
                <a:solidFill>
                  <a:srgbClr val="FFFF00"/>
                </a:solidFill>
                <a:latin typeface="Calibri"/>
                <a:ea typeface="Calibri"/>
                <a:cs typeface="Calibri"/>
                <a:sym typeface="Calibri"/>
              </a:rPr>
              <a:t>Acts as static, but is real collision</a:t>
            </a:r>
            <a:endParaRPr sz="2500" b="1" dirty="0">
              <a:solidFill>
                <a:srgbClr val="FFFF00"/>
              </a:solidFill>
              <a:latin typeface="Calibri"/>
              <a:ea typeface="Calibri"/>
              <a:cs typeface="Calibri"/>
              <a:sym typeface="Calibri"/>
            </a:endParaRPr>
          </a:p>
        </p:txBody>
      </p:sp>
    </p:spTree>
    <p:extLst>
      <p:ext uri="{BB962C8B-B14F-4D97-AF65-F5344CB8AC3E}">
        <p14:creationId xmlns:p14="http://schemas.microsoft.com/office/powerpoint/2010/main" val="3677694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11eb2923022_0_66"/>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rmAutofit/>
          </a:bodyPr>
          <a:lstStyle/>
          <a:p>
            <a:r>
              <a:rPr lang="en-GB" sz="3600" dirty="0"/>
              <a:t>3D Interactive Media Development</a:t>
            </a:r>
            <a:endParaRPr lang="en-US" dirty="0"/>
          </a:p>
        </p:txBody>
      </p:sp>
      <p:sp>
        <p:nvSpPr>
          <p:cNvPr id="108" name="Google Shape;108;g11eb2923022_0_66"/>
          <p:cNvSpPr txBox="1"/>
          <p:nvPr/>
        </p:nvSpPr>
        <p:spPr>
          <a:xfrm>
            <a:off x="609600" y="1193050"/>
            <a:ext cx="11133000" cy="5713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dirty="0">
                <a:solidFill>
                  <a:srgbClr val="FFFF00"/>
                </a:solidFill>
                <a:latin typeface="Quattrocento Sans"/>
                <a:ea typeface="Quattrocento Sans"/>
                <a:cs typeface="Quattrocento Sans"/>
                <a:sym typeface="Quattrocento Sans"/>
              </a:rPr>
              <a:t>Unity Collisions and Triggers</a:t>
            </a:r>
            <a:endParaRPr sz="3600" b="1">
              <a:solidFill>
                <a:srgbClr val="FFFF00"/>
              </a:solidFill>
              <a:latin typeface="Quattrocento Sans"/>
              <a:ea typeface="Quattrocento Sans"/>
              <a:cs typeface="Quattrocento Sans"/>
              <a:sym typeface="Quattrocento Sans"/>
            </a:endParaRPr>
          </a:p>
          <a:p>
            <a:pPr marL="0" lvl="0" indent="0" algn="l" rtl="0">
              <a:lnSpc>
                <a:spcPct val="115000"/>
              </a:lnSpc>
              <a:spcBef>
                <a:spcPts val="0"/>
              </a:spcBef>
              <a:spcAft>
                <a:spcPts val="0"/>
              </a:spcAft>
              <a:buNone/>
            </a:pPr>
            <a:endParaRPr sz="1600" b="1">
              <a:solidFill>
                <a:srgbClr val="FFFF00"/>
              </a:solidFill>
              <a:latin typeface="Calibri"/>
              <a:ea typeface="Calibri"/>
              <a:cs typeface="Calibri"/>
              <a:sym typeface="Calibri"/>
            </a:endParaRPr>
          </a:p>
          <a:p>
            <a:pPr marL="0" lvl="0" indent="0" algn="l" rtl="0">
              <a:lnSpc>
                <a:spcPct val="115000"/>
              </a:lnSpc>
              <a:spcBef>
                <a:spcPts val="0"/>
              </a:spcBef>
              <a:spcAft>
                <a:spcPts val="0"/>
              </a:spcAft>
              <a:buNone/>
            </a:pPr>
            <a:r>
              <a:rPr lang="en-GB" sz="2600" dirty="0">
                <a:solidFill>
                  <a:srgbClr val="00B0F0"/>
                </a:solidFill>
                <a:latin typeface="Calibri"/>
                <a:ea typeface="Calibri"/>
                <a:cs typeface="Calibri"/>
                <a:sym typeface="Calibri"/>
              </a:rPr>
              <a:t>Collider hitting Rigid Body/Collider (for Collision Detection)</a:t>
            </a:r>
            <a:r>
              <a:rPr lang="en-GB" sz="2300" dirty="0">
                <a:solidFill>
                  <a:srgbClr val="00B0F0"/>
                </a:solidFill>
                <a:latin typeface="Calibri"/>
                <a:ea typeface="Calibri"/>
                <a:cs typeface="Calibri"/>
                <a:sym typeface="Calibri"/>
              </a:rPr>
              <a:t> </a:t>
            </a:r>
            <a:endParaRPr sz="2300">
              <a:solidFill>
                <a:srgbClr val="00B0F0"/>
              </a:solidFill>
              <a:latin typeface="Calibri"/>
              <a:ea typeface="Calibri"/>
              <a:cs typeface="Calibri"/>
            </a:endParaRPr>
          </a:p>
          <a:p>
            <a:pPr marL="0" lvl="0" indent="0" algn="l" rtl="0">
              <a:lnSpc>
                <a:spcPct val="115000"/>
              </a:lnSpc>
              <a:spcBef>
                <a:spcPts val="0"/>
              </a:spcBef>
              <a:spcAft>
                <a:spcPts val="0"/>
              </a:spcAft>
              <a:buNone/>
            </a:pPr>
            <a:r>
              <a:rPr lang="en-GB" sz="2300" dirty="0">
                <a:solidFill>
                  <a:srgbClr val="FFFF00"/>
                </a:solidFill>
                <a:latin typeface="Calibri"/>
                <a:ea typeface="Calibri"/>
                <a:cs typeface="Calibri"/>
                <a:sym typeface="Calibri"/>
              </a:rPr>
              <a:t>This is true Collision Detection, not Triggering </a:t>
            </a:r>
            <a:endParaRPr sz="2300" dirty="0">
              <a:solidFill>
                <a:srgbClr val="FFFF00"/>
              </a:solidFill>
              <a:latin typeface="Calibri"/>
              <a:ea typeface="Calibri"/>
              <a:cs typeface="Calibri"/>
              <a:sym typeface="Calibri"/>
            </a:endParaRPr>
          </a:p>
          <a:p>
            <a:pPr marL="0" lvl="0" indent="0" algn="l" rtl="0">
              <a:lnSpc>
                <a:spcPct val="115000"/>
              </a:lnSpc>
              <a:spcBef>
                <a:spcPts val="0"/>
              </a:spcBef>
              <a:spcAft>
                <a:spcPts val="0"/>
              </a:spcAft>
              <a:buNone/>
            </a:pPr>
            <a:endParaRPr sz="2300">
              <a:solidFill>
                <a:srgbClr val="FFFFFF"/>
              </a:solidFill>
              <a:latin typeface="Calibri"/>
              <a:ea typeface="Calibri"/>
              <a:cs typeface="Calibri"/>
              <a:sym typeface="Calibri"/>
            </a:endParaRPr>
          </a:p>
          <a:p>
            <a:pPr marL="0" lvl="0" indent="0" algn="l" rtl="0">
              <a:lnSpc>
                <a:spcPct val="115000"/>
              </a:lnSpc>
              <a:spcBef>
                <a:spcPts val="0"/>
              </a:spcBef>
              <a:spcAft>
                <a:spcPts val="0"/>
              </a:spcAft>
              <a:buNone/>
            </a:pPr>
            <a:r>
              <a:rPr lang="en-GB" sz="2300" dirty="0">
                <a:solidFill>
                  <a:srgbClr val="FFFFFF"/>
                </a:solidFill>
                <a:latin typeface="Calibri"/>
                <a:ea typeface="Calibri"/>
                <a:cs typeface="Calibri"/>
                <a:sym typeface="Calibri"/>
              </a:rPr>
              <a:t>Collision and Physics: SHORTCUT</a:t>
            </a:r>
            <a:endParaRPr sz="2300">
              <a:solidFill>
                <a:srgbClr val="FFFFFF"/>
              </a:solidFill>
              <a:latin typeface="Calibri"/>
              <a:ea typeface="Calibri"/>
              <a:cs typeface="Calibri"/>
              <a:sym typeface="Calibri"/>
            </a:endParaRPr>
          </a:p>
          <a:p>
            <a:pPr marL="457200" lvl="0" indent="-387350" algn="l" rtl="0">
              <a:lnSpc>
                <a:spcPct val="115000"/>
              </a:lnSpc>
              <a:spcBef>
                <a:spcPts val="0"/>
              </a:spcBef>
              <a:spcAft>
                <a:spcPts val="0"/>
              </a:spcAft>
              <a:buClr>
                <a:srgbClr val="FFFF00"/>
              </a:buClr>
              <a:buSzPts val="2500"/>
              <a:buFont typeface="Calibri"/>
              <a:buAutoNum type="arabicPeriod"/>
            </a:pPr>
            <a:r>
              <a:rPr lang="en-GB" sz="2500" dirty="0">
                <a:solidFill>
                  <a:srgbClr val="FFFF00"/>
                </a:solidFill>
                <a:latin typeface="Calibri"/>
                <a:ea typeface="Calibri"/>
                <a:cs typeface="Calibri"/>
                <a:sym typeface="Calibri"/>
              </a:rPr>
              <a:t>Shortcut</a:t>
            </a:r>
            <a:endParaRPr sz="2500">
              <a:solidFill>
                <a:srgbClr val="FFFF00"/>
              </a:solidFill>
              <a:latin typeface="Calibri"/>
              <a:ea typeface="Calibri"/>
              <a:cs typeface="Calibri"/>
              <a:sym typeface="Calibri"/>
            </a:endParaRPr>
          </a:p>
          <a:p>
            <a:pPr marL="914400" lvl="1" indent="-387350" algn="l" rtl="0">
              <a:lnSpc>
                <a:spcPct val="115000"/>
              </a:lnSpc>
              <a:spcBef>
                <a:spcPts val="0"/>
              </a:spcBef>
              <a:spcAft>
                <a:spcPts val="0"/>
              </a:spcAft>
              <a:buClr>
                <a:srgbClr val="FFFF00"/>
              </a:buClr>
              <a:buSzPts val="2500"/>
              <a:buFont typeface="Calibri"/>
              <a:buAutoNum type="arabicPeriod"/>
            </a:pPr>
            <a:r>
              <a:rPr lang="en-GB" sz="2500" dirty="0">
                <a:solidFill>
                  <a:srgbClr val="FFFF00"/>
                </a:solidFill>
                <a:latin typeface="Calibri"/>
                <a:ea typeface="Calibri"/>
                <a:cs typeface="Calibri"/>
                <a:sym typeface="Calibri"/>
              </a:rPr>
              <a:t>Kinematic RB Trigger Colliders - transformed to move</a:t>
            </a:r>
            <a:endParaRPr sz="2500">
              <a:solidFill>
                <a:srgbClr val="FFFF00"/>
              </a:solidFill>
              <a:latin typeface="Calibri"/>
              <a:ea typeface="Calibri"/>
              <a:cs typeface="Calibri"/>
              <a:sym typeface="Calibri"/>
            </a:endParaRPr>
          </a:p>
          <a:p>
            <a:pPr marL="914400" lvl="1" indent="-387350" algn="l" rtl="0">
              <a:lnSpc>
                <a:spcPct val="115000"/>
              </a:lnSpc>
              <a:spcBef>
                <a:spcPts val="0"/>
              </a:spcBef>
              <a:spcAft>
                <a:spcPts val="0"/>
              </a:spcAft>
              <a:buClr>
                <a:srgbClr val="FFFF00"/>
              </a:buClr>
              <a:buSzPts val="2500"/>
              <a:buFont typeface="Calibri"/>
              <a:buAutoNum type="arabicPeriod"/>
            </a:pPr>
            <a:r>
              <a:rPr lang="en-GB" sz="2500" dirty="0">
                <a:solidFill>
                  <a:srgbClr val="FFFF00"/>
                </a:solidFill>
                <a:latin typeface="Calibri"/>
                <a:ea typeface="Calibri"/>
                <a:cs typeface="Calibri"/>
                <a:sym typeface="Calibri"/>
              </a:rPr>
              <a:t>True RB - </a:t>
            </a:r>
            <a:r>
              <a:rPr lang="en-GB" sz="2500" dirty="0" err="1">
                <a:solidFill>
                  <a:srgbClr val="FFFF00"/>
                </a:solidFill>
                <a:latin typeface="Calibri"/>
                <a:ea typeface="Calibri"/>
                <a:cs typeface="Calibri"/>
                <a:sym typeface="Calibri"/>
              </a:rPr>
              <a:t>Addforce</a:t>
            </a:r>
            <a:endParaRPr sz="2500">
              <a:solidFill>
                <a:srgbClr val="FFFF00"/>
              </a:solidFill>
              <a:latin typeface="Calibri"/>
              <a:ea typeface="Calibri"/>
              <a:cs typeface="Calibri"/>
              <a:sym typeface="Calibri"/>
            </a:endParaRPr>
          </a:p>
          <a:p>
            <a:pPr marL="457200" lvl="0" indent="-387350" algn="l" rtl="0">
              <a:lnSpc>
                <a:spcPct val="115000"/>
              </a:lnSpc>
              <a:spcBef>
                <a:spcPts val="0"/>
              </a:spcBef>
              <a:spcAft>
                <a:spcPts val="0"/>
              </a:spcAft>
              <a:buClr>
                <a:srgbClr val="FFFF00"/>
              </a:buClr>
              <a:buSzPts val="2500"/>
              <a:buFont typeface="Calibri"/>
              <a:buAutoNum type="arabicPeriod"/>
            </a:pPr>
            <a:r>
              <a:rPr lang="en-GB" sz="2500" dirty="0">
                <a:solidFill>
                  <a:srgbClr val="FFFF00"/>
                </a:solidFill>
                <a:latin typeface="Calibri"/>
                <a:ea typeface="Calibri"/>
                <a:cs typeface="Calibri"/>
                <a:sym typeface="Calibri"/>
              </a:rPr>
              <a:t>Movement Scripting</a:t>
            </a:r>
            <a:endParaRPr sz="2500">
              <a:solidFill>
                <a:srgbClr val="FFFF00"/>
              </a:solidFill>
              <a:latin typeface="Calibri"/>
              <a:ea typeface="Calibri"/>
              <a:cs typeface="Calibri"/>
              <a:sym typeface="Calibri"/>
            </a:endParaRPr>
          </a:p>
          <a:p>
            <a:pPr marL="0" lvl="0" indent="0" algn="l" rtl="0">
              <a:lnSpc>
                <a:spcPct val="115000"/>
              </a:lnSpc>
              <a:spcBef>
                <a:spcPts val="0"/>
              </a:spcBef>
              <a:spcAft>
                <a:spcPts val="0"/>
              </a:spcAft>
              <a:buNone/>
            </a:pPr>
            <a:endParaRPr sz="2300">
              <a:solidFill>
                <a:srgbClr val="FFFFFF"/>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rgbClr val="FFFF00"/>
              </a:solidFill>
              <a:latin typeface="Calibri"/>
              <a:ea typeface="Calibri"/>
              <a:cs typeface="Calibri"/>
              <a:sym typeface="Calibri"/>
            </a:endParaRPr>
          </a:p>
          <a:p>
            <a:pPr marL="0" lvl="0" indent="0" algn="l" rtl="0">
              <a:lnSpc>
                <a:spcPct val="115000"/>
              </a:lnSpc>
              <a:spcBef>
                <a:spcPts val="0"/>
              </a:spcBef>
              <a:spcAft>
                <a:spcPts val="0"/>
              </a:spcAft>
              <a:buNone/>
            </a:pPr>
            <a:endParaRPr sz="2300">
              <a:solidFill>
                <a:srgbClr val="FFFFFF"/>
              </a:solidFill>
              <a:latin typeface="Calibri"/>
              <a:ea typeface="Calibri"/>
              <a:cs typeface="Calibri"/>
              <a:sym typeface="Calibri"/>
            </a:endParaRPr>
          </a:p>
          <a:p>
            <a:pPr marL="0" lvl="0" indent="0" algn="l" rtl="0">
              <a:lnSpc>
                <a:spcPct val="115000"/>
              </a:lnSpc>
              <a:spcBef>
                <a:spcPts val="0"/>
              </a:spcBef>
              <a:spcAft>
                <a:spcPts val="0"/>
              </a:spcAft>
              <a:buNone/>
            </a:pPr>
            <a:endParaRPr sz="2100" b="1">
              <a:solidFill>
                <a:srgbClr val="FFFF00"/>
              </a:solidFill>
              <a:latin typeface="Calibri"/>
              <a:ea typeface="Calibri"/>
              <a:cs typeface="Calibri"/>
              <a:sym typeface="Calibri"/>
            </a:endParaRPr>
          </a:p>
        </p:txBody>
      </p:sp>
    </p:spTree>
    <p:extLst>
      <p:ext uri="{BB962C8B-B14F-4D97-AF65-F5344CB8AC3E}">
        <p14:creationId xmlns:p14="http://schemas.microsoft.com/office/powerpoint/2010/main" val="41533851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11eb2923022_0_42"/>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rmAutofit/>
          </a:bodyPr>
          <a:lstStyle/>
          <a:p>
            <a:r>
              <a:rPr lang="en-GB" sz="3600" dirty="0"/>
              <a:t>3D Interactive Media Development</a:t>
            </a:r>
            <a:endParaRPr lang="en-US" dirty="0"/>
          </a:p>
        </p:txBody>
      </p:sp>
      <p:sp>
        <p:nvSpPr>
          <p:cNvPr id="115" name="Google Shape;115;g11eb2923022_0_42"/>
          <p:cNvSpPr txBox="1"/>
          <p:nvPr/>
        </p:nvSpPr>
        <p:spPr>
          <a:xfrm>
            <a:off x="609600" y="1193054"/>
            <a:ext cx="10890600" cy="1281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a:solidFill>
                  <a:srgbClr val="FFFF00"/>
                </a:solidFill>
                <a:latin typeface="Quattrocento Sans"/>
                <a:ea typeface="Quattrocento Sans"/>
                <a:cs typeface="Quattrocento Sans"/>
                <a:sym typeface="Quattrocento Sans"/>
              </a:rPr>
              <a:t>Unity Collisions and Triggers</a:t>
            </a:r>
            <a:endParaRPr sz="3600" b="1">
              <a:solidFill>
                <a:srgbClr val="FFFF00"/>
              </a:solidFill>
              <a:latin typeface="Quattrocento Sans"/>
              <a:ea typeface="Quattrocento Sans"/>
              <a:cs typeface="Quattrocento Sans"/>
              <a:sym typeface="Quattrocento Sans"/>
            </a:endParaRPr>
          </a:p>
          <a:p>
            <a:pPr marL="0" lvl="0" indent="0" algn="l" rtl="0">
              <a:lnSpc>
                <a:spcPct val="115000"/>
              </a:lnSpc>
              <a:spcBef>
                <a:spcPts val="0"/>
              </a:spcBef>
              <a:spcAft>
                <a:spcPts val="0"/>
              </a:spcAft>
              <a:buNone/>
            </a:pPr>
            <a:endParaRPr sz="1500">
              <a:solidFill>
                <a:srgbClr val="FFFFFF"/>
              </a:solidFill>
              <a:latin typeface="Calibri"/>
              <a:ea typeface="Calibri"/>
              <a:cs typeface="Calibri"/>
              <a:sym typeface="Calibri"/>
            </a:endParaRPr>
          </a:p>
          <a:p>
            <a:pPr marL="0" lvl="0" indent="0" algn="l" rtl="0">
              <a:lnSpc>
                <a:spcPct val="115000"/>
              </a:lnSpc>
              <a:spcBef>
                <a:spcPts val="0"/>
              </a:spcBef>
              <a:spcAft>
                <a:spcPts val="0"/>
              </a:spcAft>
              <a:buNone/>
            </a:pPr>
            <a:endParaRPr sz="2400" b="1" i="0" u="none" strike="noStrike" cap="none">
              <a:solidFill>
                <a:srgbClr val="FFFF00"/>
              </a:solidFill>
              <a:latin typeface="Quattrocento Sans"/>
              <a:ea typeface="Quattrocento Sans"/>
              <a:cs typeface="Quattrocento Sans"/>
              <a:sym typeface="Quattrocento Sans"/>
            </a:endParaRPr>
          </a:p>
        </p:txBody>
      </p:sp>
      <p:pic>
        <p:nvPicPr>
          <p:cNvPr id="116" name="Google Shape;116;g11eb2923022_0_42" descr="Make sure to SUBSCRIBE so you don't miss a video! Also, please feel free to ask lots of questions in the comments.&#10;This link has some info on colliders and triggers: http://docs.unity3d.com/Documentation/Components/class-MeshCollider.html&#10;&#10;This channel is mostly all about game programming tutorials, specifically with Unity 3d.  You may also be interested in my primary channel, where I play and review games: http://youtube.com/quill18&#10;&#10;You can download most of the files for my tutorials from my website here: http://quill18.com/unity_tutorials/&#10;&#10;I can be reached at:&#10;quill18@quill18.com&#10;http://twitter.com/quill18&#10;http://facebook.com/quill18﻿" title="Unity 3d: Collisions, Triggers, Rigidbodies, and Kinematics">
            <a:hlinkClick r:id="rId3"/>
          </p:cNvPr>
          <p:cNvPicPr preferRelativeResize="0"/>
          <p:nvPr/>
        </p:nvPicPr>
        <p:blipFill>
          <a:blip r:embed="rId4">
            <a:alphaModFix/>
          </a:blip>
          <a:stretch>
            <a:fillRect/>
          </a:stretch>
        </p:blipFill>
        <p:spPr>
          <a:xfrm>
            <a:off x="3768900" y="2192579"/>
            <a:ext cx="4572000" cy="3429000"/>
          </a:xfrm>
          <a:prstGeom prst="rect">
            <a:avLst/>
          </a:prstGeom>
          <a:noFill/>
          <a:ln>
            <a:noFill/>
          </a:ln>
        </p:spPr>
      </p:pic>
    </p:spTree>
    <p:extLst>
      <p:ext uri="{BB962C8B-B14F-4D97-AF65-F5344CB8AC3E}">
        <p14:creationId xmlns:p14="http://schemas.microsoft.com/office/powerpoint/2010/main" val="4262561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10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11eb2923022_0_42"/>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rmAutofit/>
          </a:bodyPr>
          <a:lstStyle/>
          <a:p>
            <a:r>
              <a:rPr lang="en-GB" sz="3600" dirty="0"/>
              <a:t>3D Interactive Media Development</a:t>
            </a:r>
            <a:endParaRPr lang="en-US" dirty="0"/>
          </a:p>
        </p:txBody>
      </p:sp>
      <p:sp>
        <p:nvSpPr>
          <p:cNvPr id="3" name="Google Shape;108;g11eb2923022_0_66">
            <a:extLst>
              <a:ext uri="{FF2B5EF4-FFF2-40B4-BE49-F238E27FC236}">
                <a16:creationId xmlns:a16="http://schemas.microsoft.com/office/drawing/2014/main" id="{11BA412B-6CB8-96C6-6805-B28F427C6DEA}"/>
              </a:ext>
            </a:extLst>
          </p:cNvPr>
          <p:cNvSpPr txBox="1"/>
          <p:nvPr/>
        </p:nvSpPr>
        <p:spPr>
          <a:xfrm>
            <a:off x="609600" y="1376316"/>
            <a:ext cx="11248746" cy="5164450"/>
          </a:xfrm>
          <a:prstGeom prst="rect">
            <a:avLst/>
          </a:prstGeom>
          <a:noFill/>
          <a:ln>
            <a:noFill/>
          </a:ln>
        </p:spPr>
        <p:txBody>
          <a:bodyPr spcFirstLastPara="1" wrap="square" lIns="91425" tIns="45700" rIns="91425" bIns="45700" anchor="t" anchorCtr="0">
            <a:spAutoFit/>
          </a:bodyPr>
          <a:lstStyle/>
          <a:p>
            <a:pPr>
              <a:buSzPts val="3600"/>
            </a:pPr>
            <a:r>
              <a:rPr lang="en-GB" sz="3600" b="1" dirty="0">
                <a:solidFill>
                  <a:srgbClr val="FFFF00"/>
                </a:solidFill>
                <a:latin typeface="Quattrocento Sans"/>
                <a:ea typeface="Quattrocento Sans"/>
                <a:cs typeface="Quattrocento Sans"/>
                <a:sym typeface="Quattrocento Sans"/>
              </a:rPr>
              <a:t>Unity Static vs. Kinematic Best Practice (not Tuts 02-03)</a:t>
            </a:r>
            <a:endParaRPr sz="3600" b="1" dirty="0">
              <a:solidFill>
                <a:srgbClr val="FFFF00"/>
              </a:solidFill>
              <a:latin typeface="Quattrocento Sans"/>
              <a:ea typeface="Quattrocento Sans"/>
              <a:cs typeface="Quattrocento Sans"/>
              <a:sym typeface="Quattrocento Sans"/>
            </a:endParaRPr>
          </a:p>
          <a:p>
            <a:pPr marL="0" lvl="0" indent="0" algn="l" rtl="0">
              <a:lnSpc>
                <a:spcPct val="115000"/>
              </a:lnSpc>
              <a:spcBef>
                <a:spcPts val="0"/>
              </a:spcBef>
              <a:spcAft>
                <a:spcPts val="0"/>
              </a:spcAft>
              <a:buNone/>
            </a:pPr>
            <a:endParaRPr sz="1600" b="1">
              <a:solidFill>
                <a:srgbClr val="FFFF00"/>
              </a:solidFill>
              <a:latin typeface="Calibri"/>
              <a:ea typeface="Calibri"/>
              <a:cs typeface="Calibri"/>
              <a:sym typeface="Calibri"/>
            </a:endParaRPr>
          </a:p>
          <a:p>
            <a:pPr>
              <a:lnSpc>
                <a:spcPct val="114999"/>
              </a:lnSpc>
            </a:pPr>
            <a:r>
              <a:rPr lang="en-GB" sz="2600" dirty="0">
                <a:solidFill>
                  <a:srgbClr val="FFFFFF"/>
                </a:solidFill>
                <a:latin typeface="Calibri"/>
                <a:cs typeface="Calibri"/>
                <a:sym typeface="Calibri"/>
              </a:rPr>
              <a:t>Caveat: Static vs. Kinematic just affects how Unity handles Physics optimisation</a:t>
            </a:r>
            <a:endParaRPr/>
          </a:p>
          <a:p>
            <a:pPr marL="0" lvl="0" indent="0" algn="l">
              <a:lnSpc>
                <a:spcPct val="114999"/>
              </a:lnSpc>
              <a:spcBef>
                <a:spcPts val="0"/>
              </a:spcBef>
              <a:spcAft>
                <a:spcPts val="0"/>
              </a:spcAft>
              <a:buNone/>
            </a:pPr>
            <a:endParaRPr lang="en-GB" sz="2600" dirty="0">
              <a:solidFill>
                <a:srgbClr val="FFFFFF"/>
              </a:solidFill>
              <a:latin typeface="Calibri"/>
              <a:ea typeface="Calibri"/>
              <a:cs typeface="Calibri"/>
            </a:endParaRPr>
          </a:p>
          <a:p>
            <a:pPr>
              <a:lnSpc>
                <a:spcPct val="114999"/>
              </a:lnSpc>
            </a:pPr>
            <a:r>
              <a:rPr lang="en-GB" sz="2600" dirty="0">
                <a:solidFill>
                  <a:srgbClr val="FFFFFF"/>
                </a:solidFill>
                <a:ea typeface="Calibri"/>
                <a:cs typeface="Calibri"/>
              </a:rPr>
              <a:t>You should ideally be moving </a:t>
            </a:r>
            <a:r>
              <a:rPr lang="en-GB" sz="2600" dirty="0" err="1">
                <a:solidFill>
                  <a:srgbClr val="FFFFFF"/>
                </a:solidFill>
                <a:ea typeface="Calibri"/>
                <a:cs typeface="Calibri"/>
              </a:rPr>
              <a:t>rigidbodies</a:t>
            </a:r>
            <a:r>
              <a:rPr lang="en-GB" sz="2600" dirty="0">
                <a:solidFill>
                  <a:srgbClr val="FFFFFF"/>
                </a:solidFill>
                <a:ea typeface="Calibri"/>
                <a:cs typeface="Calibri"/>
              </a:rPr>
              <a:t> as:</a:t>
            </a:r>
            <a:endParaRPr lang="en-GB" sz="2600" dirty="0">
              <a:solidFill>
                <a:srgbClr val="FFFFFF"/>
              </a:solidFill>
              <a:latin typeface="Calibri"/>
              <a:ea typeface="Calibri"/>
              <a:cs typeface="Calibri"/>
            </a:endParaRPr>
          </a:p>
          <a:p>
            <a:pPr>
              <a:lnSpc>
                <a:spcPct val="114999"/>
              </a:lnSpc>
            </a:pPr>
            <a:r>
              <a:rPr lang="en-GB" sz="2600" dirty="0">
                <a:solidFill>
                  <a:srgbClr val="FFFFFF"/>
                </a:solidFill>
                <a:latin typeface="Calibri"/>
                <a:ea typeface="Calibri"/>
                <a:cs typeface="Calibri"/>
              </a:rPr>
              <a:t>1. Non-Kinematic (dynamic) – </a:t>
            </a:r>
            <a:r>
              <a:rPr lang="en-GB" sz="2600" err="1">
                <a:solidFill>
                  <a:srgbClr val="FFFFFF"/>
                </a:solidFill>
                <a:latin typeface="Calibri"/>
                <a:ea typeface="Calibri"/>
                <a:cs typeface="Calibri"/>
              </a:rPr>
              <a:t>RigidBody</a:t>
            </a:r>
            <a:r>
              <a:rPr lang="en-GB" sz="2600" dirty="0">
                <a:solidFill>
                  <a:srgbClr val="FFFFFF"/>
                </a:solidFill>
                <a:latin typeface="Calibri"/>
                <a:ea typeface="Calibri"/>
                <a:cs typeface="Calibri"/>
              </a:rPr>
              <a:t> Addforce, </a:t>
            </a:r>
            <a:r>
              <a:rPr lang="en-GB" sz="2600" err="1">
                <a:solidFill>
                  <a:srgbClr val="FFFFFF"/>
                </a:solidFill>
                <a:latin typeface="Calibri"/>
                <a:ea typeface="Calibri"/>
                <a:cs typeface="Calibri"/>
              </a:rPr>
              <a:t>Addtorque</a:t>
            </a:r>
            <a:endParaRPr lang="en-GB" sz="2600">
              <a:solidFill>
                <a:srgbClr val="FFFFFF"/>
              </a:solidFill>
              <a:latin typeface="Calibri"/>
              <a:ea typeface="Calibri"/>
              <a:cs typeface="Calibri"/>
            </a:endParaRPr>
          </a:p>
          <a:p>
            <a:pPr>
              <a:lnSpc>
                <a:spcPct val="114999"/>
              </a:lnSpc>
            </a:pPr>
            <a:r>
              <a:rPr lang="en-GB" sz="2600" dirty="0">
                <a:solidFill>
                  <a:srgbClr val="FFFFFF"/>
                </a:solidFill>
                <a:latin typeface="Calibri"/>
                <a:ea typeface="Calibri"/>
                <a:cs typeface="Calibri"/>
              </a:rPr>
              <a:t>2. Kinematic - </a:t>
            </a:r>
            <a:r>
              <a:rPr lang="en-GB" sz="2600" dirty="0" err="1">
                <a:solidFill>
                  <a:srgbClr val="FFFFFF"/>
                </a:solidFill>
                <a:latin typeface="Calibri"/>
                <a:ea typeface="Calibri"/>
                <a:cs typeface="Calibri"/>
              </a:rPr>
              <a:t>MovePosition</a:t>
            </a:r>
            <a:r>
              <a:rPr lang="en-GB" sz="2600" dirty="0">
                <a:solidFill>
                  <a:srgbClr val="FFFFFF"/>
                </a:solidFill>
                <a:latin typeface="Calibri"/>
                <a:ea typeface="Calibri"/>
                <a:cs typeface="Calibri"/>
              </a:rPr>
              <a:t>, </a:t>
            </a:r>
            <a:r>
              <a:rPr lang="en-GB" sz="2600" dirty="0" err="1">
                <a:solidFill>
                  <a:srgbClr val="FFFFFF"/>
                </a:solidFill>
                <a:latin typeface="Calibri"/>
                <a:ea typeface="Calibri"/>
                <a:cs typeface="Calibri"/>
              </a:rPr>
              <a:t>MoveRotation</a:t>
            </a:r>
            <a:r>
              <a:rPr lang="en-GB" sz="2600" dirty="0">
                <a:solidFill>
                  <a:srgbClr val="FFFFFF"/>
                </a:solidFill>
                <a:latin typeface="Calibri"/>
                <a:ea typeface="Calibri"/>
                <a:cs typeface="Calibri"/>
              </a:rPr>
              <a:t>, </a:t>
            </a:r>
          </a:p>
          <a:p>
            <a:pPr>
              <a:lnSpc>
                <a:spcPct val="114999"/>
              </a:lnSpc>
            </a:pPr>
            <a:r>
              <a:rPr lang="en-GB" sz="2600" dirty="0">
                <a:solidFill>
                  <a:srgbClr val="FFFFFF"/>
                </a:solidFill>
                <a:latin typeface="Calibri"/>
                <a:ea typeface="Calibri"/>
                <a:cs typeface="Calibri"/>
              </a:rPr>
              <a:t>3. All from </a:t>
            </a:r>
            <a:r>
              <a:rPr lang="en-GB" sz="2600" dirty="0" err="1">
                <a:solidFill>
                  <a:srgbClr val="FFFFFF"/>
                </a:solidFill>
                <a:latin typeface="Calibri"/>
                <a:ea typeface="Calibri"/>
                <a:cs typeface="Calibri"/>
              </a:rPr>
              <a:t>FixedUpdate</a:t>
            </a:r>
            <a:r>
              <a:rPr lang="en-GB" sz="2600" dirty="0">
                <a:solidFill>
                  <a:srgbClr val="FFFFFF"/>
                </a:solidFill>
                <a:latin typeface="Calibri"/>
                <a:ea typeface="Calibri"/>
                <a:cs typeface="Calibri"/>
              </a:rPr>
              <a:t>!</a:t>
            </a:r>
            <a:endParaRPr lang="en-GB"/>
          </a:p>
          <a:p>
            <a:pPr marL="0" lvl="0" indent="0" algn="l">
              <a:lnSpc>
                <a:spcPct val="114999"/>
              </a:lnSpc>
              <a:spcBef>
                <a:spcPts val="0"/>
              </a:spcBef>
              <a:spcAft>
                <a:spcPts val="0"/>
              </a:spcAft>
              <a:buNone/>
            </a:pPr>
            <a:endParaRPr lang="en-GB" sz="2600" dirty="0">
              <a:solidFill>
                <a:srgbClr val="FFFFFF"/>
              </a:solidFill>
              <a:latin typeface="Calibri"/>
              <a:ea typeface="Calibri"/>
              <a:cs typeface="Calibri"/>
            </a:endParaRPr>
          </a:p>
          <a:p>
            <a:pPr>
              <a:lnSpc>
                <a:spcPct val="114999"/>
              </a:lnSpc>
            </a:pPr>
            <a:r>
              <a:rPr lang="en-GB" sz="2600" dirty="0">
                <a:solidFill>
                  <a:srgbClr val="FFFFFF"/>
                </a:solidFill>
                <a:latin typeface="Calibri"/>
                <a:ea typeface="Calibri"/>
                <a:cs typeface="Calibri"/>
              </a:rPr>
              <a:t>Non- </a:t>
            </a:r>
            <a:r>
              <a:rPr lang="en-GB" sz="2600" dirty="0" err="1">
                <a:solidFill>
                  <a:srgbClr val="FFFFFF"/>
                </a:solidFill>
                <a:latin typeface="Calibri"/>
                <a:ea typeface="Calibri"/>
                <a:cs typeface="Calibri"/>
              </a:rPr>
              <a:t>RigidBodies</a:t>
            </a:r>
            <a:r>
              <a:rPr lang="en-GB" sz="2600" dirty="0">
                <a:solidFill>
                  <a:srgbClr val="FFFFFF"/>
                </a:solidFill>
                <a:latin typeface="Calibri"/>
                <a:ea typeface="Calibri"/>
                <a:cs typeface="Calibri"/>
              </a:rPr>
              <a:t>: </a:t>
            </a:r>
            <a:r>
              <a:rPr lang="en-GB" sz="2600" dirty="0" err="1">
                <a:solidFill>
                  <a:srgbClr val="FFFFFF"/>
                </a:solidFill>
                <a:latin typeface="Calibri"/>
                <a:ea typeface="Calibri"/>
                <a:cs typeface="Calibri"/>
              </a:rPr>
              <a:t>Transform.Translate</a:t>
            </a:r>
            <a:r>
              <a:rPr lang="en-GB" sz="2600" dirty="0">
                <a:solidFill>
                  <a:srgbClr val="FFFFFF"/>
                </a:solidFill>
                <a:latin typeface="Calibri"/>
                <a:ea typeface="Calibri"/>
                <a:cs typeface="Calibri"/>
              </a:rPr>
              <a:t> and Rotate from Update</a:t>
            </a:r>
          </a:p>
        </p:txBody>
      </p:sp>
    </p:spTree>
    <p:extLst>
      <p:ext uri="{BB962C8B-B14F-4D97-AF65-F5344CB8AC3E}">
        <p14:creationId xmlns:p14="http://schemas.microsoft.com/office/powerpoint/2010/main" val="17542885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1eb2923022_0_14"/>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rmAutofit/>
          </a:bodyPr>
          <a:lstStyle/>
          <a:p>
            <a:r>
              <a:rPr lang="en-GB" sz="3600" dirty="0"/>
              <a:t>3D Interactive Media Development</a:t>
            </a:r>
            <a:endParaRPr lang="en-US" dirty="0"/>
          </a:p>
        </p:txBody>
      </p:sp>
      <p:sp>
        <p:nvSpPr>
          <p:cNvPr id="123" name="Google Shape;123;g11eb2923022_0_14"/>
          <p:cNvSpPr txBox="1"/>
          <p:nvPr/>
        </p:nvSpPr>
        <p:spPr>
          <a:xfrm>
            <a:off x="609600" y="1193054"/>
            <a:ext cx="10890600" cy="1877700"/>
          </a:xfrm>
          <a:prstGeom prst="rect">
            <a:avLst/>
          </a:prstGeom>
          <a:noFill/>
          <a:ln>
            <a:noFill/>
          </a:ln>
        </p:spPr>
        <p:txBody>
          <a:bodyPr spcFirstLastPara="1" wrap="square" lIns="91425" tIns="45700" rIns="91425" bIns="45700" anchor="t" anchorCtr="0">
            <a:spAutoFit/>
          </a:bodyPr>
          <a:lstStyle/>
          <a:p>
            <a:pPr>
              <a:buSzPts val="3600"/>
            </a:pPr>
            <a:r>
              <a:rPr lang="en-GB" sz="3600" b="1" dirty="0">
                <a:solidFill>
                  <a:srgbClr val="FFFF00"/>
                </a:solidFill>
                <a:latin typeface="Quattrocento Sans"/>
                <a:ea typeface="Quattrocento Sans"/>
                <a:cs typeface="Quattrocento Sans"/>
                <a:sym typeface="Quattrocento Sans"/>
              </a:rPr>
              <a:t>Unity Collisions and Triggers Unity Test Project in BB</a:t>
            </a:r>
            <a:endParaRPr dirty="0"/>
          </a:p>
          <a:p>
            <a:pPr marL="0" marR="0" lvl="0" indent="0" algn="l" rtl="0">
              <a:lnSpc>
                <a:spcPct val="100000"/>
              </a:lnSpc>
              <a:spcBef>
                <a:spcPts val="0"/>
              </a:spcBef>
              <a:spcAft>
                <a:spcPts val="0"/>
              </a:spcAft>
              <a:buClr>
                <a:srgbClr val="000000"/>
              </a:buClr>
              <a:buSzPts val="2000"/>
              <a:buFont typeface="Arial"/>
              <a:buNone/>
            </a:pPr>
            <a:r>
              <a:rPr lang="en-GB" sz="2000" b="1" u="sng" dirty="0">
                <a:solidFill>
                  <a:schemeClr val="hlink"/>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https://www.youtube.com/watch?v=WFkbqdo2OI4</a:t>
            </a:r>
            <a:r>
              <a:rPr lang="en-GB" sz="2000" b="1" dirty="0">
                <a:solidFill>
                  <a:srgbClr val="FFFF00"/>
                </a:solidFill>
                <a:latin typeface="Quattrocento Sans"/>
                <a:ea typeface="Quattrocento Sans"/>
                <a:cs typeface="Quattrocento Sans"/>
                <a:sym typeface="Quattrocento Sans"/>
              </a:rPr>
              <a:t> </a:t>
            </a:r>
            <a:endParaRPr sz="2000" b="1" dirty="0">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00"/>
              </a:solidFill>
              <a:latin typeface="Quattrocento Sans"/>
              <a:ea typeface="Quattrocento Sans"/>
              <a:cs typeface="Quattrocento Sans"/>
              <a:sym typeface="Quattrocento Sans"/>
            </a:endParaRPr>
          </a:p>
        </p:txBody>
      </p:sp>
      <p:pic>
        <p:nvPicPr>
          <p:cNvPr id="124" name="Google Shape;124;g11eb2923022_0_14"/>
          <p:cNvPicPr preferRelativeResize="0"/>
          <p:nvPr/>
        </p:nvPicPr>
        <p:blipFill>
          <a:blip r:embed="rId4">
            <a:alphaModFix/>
          </a:blip>
          <a:stretch>
            <a:fillRect/>
          </a:stretch>
        </p:blipFill>
        <p:spPr>
          <a:xfrm>
            <a:off x="726000" y="2249825"/>
            <a:ext cx="8039374" cy="4272676"/>
          </a:xfrm>
          <a:prstGeom prst="rect">
            <a:avLst/>
          </a:prstGeom>
          <a:noFill/>
          <a:ln>
            <a:noFill/>
          </a:ln>
        </p:spPr>
      </p:pic>
    </p:spTree>
    <p:extLst>
      <p:ext uri="{BB962C8B-B14F-4D97-AF65-F5344CB8AC3E}">
        <p14:creationId xmlns:p14="http://schemas.microsoft.com/office/powerpoint/2010/main" val="6991313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g11eb2923022_0_74"/>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rmAutofit/>
          </a:bodyPr>
          <a:lstStyle/>
          <a:p>
            <a:r>
              <a:rPr lang="en-GB" sz="3600" dirty="0"/>
              <a:t>3D Interactive Media Development</a:t>
            </a:r>
            <a:endParaRPr lang="en-US" dirty="0"/>
          </a:p>
        </p:txBody>
      </p:sp>
      <p:sp>
        <p:nvSpPr>
          <p:cNvPr id="131" name="Google Shape;131;g11eb2923022_0_74"/>
          <p:cNvSpPr txBox="1"/>
          <p:nvPr/>
        </p:nvSpPr>
        <p:spPr>
          <a:xfrm>
            <a:off x="609600" y="1193050"/>
            <a:ext cx="11236200" cy="5880000"/>
          </a:xfrm>
          <a:prstGeom prst="rect">
            <a:avLst/>
          </a:prstGeom>
          <a:noFill/>
          <a:ln>
            <a:noFill/>
          </a:ln>
        </p:spPr>
        <p:txBody>
          <a:bodyPr spcFirstLastPara="1" wrap="square" lIns="91425" tIns="45700" rIns="91425" bIns="45700" anchor="t" anchorCtr="0">
            <a:spAutoFit/>
          </a:bodyPr>
          <a:lstStyle/>
          <a:p>
            <a:pPr>
              <a:buSzPts val="3600"/>
            </a:pPr>
            <a:r>
              <a:rPr lang="en-GB" sz="3600" b="1" dirty="0">
                <a:solidFill>
                  <a:srgbClr val="FFFF00"/>
                </a:solidFill>
                <a:latin typeface="Quattrocento Sans"/>
                <a:ea typeface="Quattrocento Sans"/>
                <a:cs typeface="Quattrocento Sans"/>
                <a:sym typeface="Quattrocento Sans"/>
              </a:rPr>
              <a:t>Unity Collisions and Triggers Unity Test Project in BB</a:t>
            </a:r>
            <a:endParaRPr dirty="0"/>
          </a:p>
          <a:p>
            <a:pPr marL="0" marR="0" lvl="0" indent="0" algn="l" rtl="0">
              <a:lnSpc>
                <a:spcPct val="100000"/>
              </a:lnSpc>
              <a:spcBef>
                <a:spcPts val="0"/>
              </a:spcBef>
              <a:spcAft>
                <a:spcPts val="0"/>
              </a:spcAft>
              <a:buClr>
                <a:srgbClr val="000000"/>
              </a:buClr>
              <a:buSzPts val="2000"/>
              <a:buFont typeface="Arial"/>
              <a:buNone/>
            </a:pPr>
            <a:r>
              <a:rPr lang="en-GB" sz="2000" b="1" u="sng" dirty="0">
                <a:solidFill>
                  <a:schemeClr val="hlink"/>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https://www.youtube.com/watch?v=WFkbqdo2OI4</a:t>
            </a:r>
            <a:r>
              <a:rPr lang="en-GB" sz="2000" b="1" dirty="0">
                <a:solidFill>
                  <a:srgbClr val="FFFF00"/>
                </a:solidFill>
                <a:latin typeface="Quattrocento Sans"/>
                <a:ea typeface="Quattrocento Sans"/>
                <a:cs typeface="Quattrocento Sans"/>
                <a:sym typeface="Quattrocento Sans"/>
              </a:rPr>
              <a:t> </a:t>
            </a:r>
            <a:endParaRPr sz="2000" b="1" dirty="0">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b="1" dirty="0">
                <a:solidFill>
                  <a:srgbClr val="FFFF00"/>
                </a:solidFill>
                <a:latin typeface="Quattrocento Sans"/>
                <a:ea typeface="Quattrocento Sans"/>
                <a:cs typeface="Quattrocento Sans"/>
                <a:sym typeface="Quattrocento Sans"/>
              </a:rPr>
              <a:t>Demo:</a:t>
            </a:r>
            <a:endParaRPr sz="2000" b="1" dirty="0">
              <a:solidFill>
                <a:srgbClr val="FFFF00"/>
              </a:solidFill>
              <a:latin typeface="Quattrocento Sans"/>
              <a:ea typeface="Quattrocento Sans"/>
              <a:cs typeface="Quattrocento Sans"/>
              <a:sym typeface="Quattrocento Sans"/>
            </a:endParaRPr>
          </a:p>
          <a:p>
            <a:pPr marL="457200" marR="0" lvl="0" indent="-355600" algn="l" rtl="0">
              <a:lnSpc>
                <a:spcPct val="100000"/>
              </a:lnSpc>
              <a:spcBef>
                <a:spcPts val="0"/>
              </a:spcBef>
              <a:spcAft>
                <a:spcPts val="0"/>
              </a:spcAft>
              <a:buClr>
                <a:srgbClr val="FFFF00"/>
              </a:buClr>
              <a:buSzPts val="2000"/>
              <a:buFont typeface="Quattrocento Sans"/>
              <a:buAutoNum type="arabicPeriod"/>
            </a:pPr>
            <a:r>
              <a:rPr lang="en-GB" sz="2000" b="1" dirty="0">
                <a:solidFill>
                  <a:srgbClr val="FFFF00"/>
                </a:solidFill>
                <a:latin typeface="Quattrocento Sans"/>
                <a:ea typeface="Quattrocento Sans"/>
                <a:cs typeface="Quattrocento Sans"/>
                <a:sym typeface="Quattrocento Sans"/>
              </a:rPr>
              <a:t>Make Cube and Sphere - have colliders - play - nothing, can move, but is bad (</a:t>
            </a:r>
            <a:r>
              <a:rPr lang="en-GB" sz="2000" b="1" dirty="0" err="1">
                <a:solidFill>
                  <a:srgbClr val="FFFF00"/>
                </a:solidFill>
                <a:latin typeface="Quattrocento Sans"/>
                <a:ea typeface="Quattrocento Sans"/>
                <a:cs typeface="Quattrocento Sans"/>
                <a:sym typeface="Quattrocento Sans"/>
              </a:rPr>
              <a:t>unoptimised</a:t>
            </a:r>
            <a:r>
              <a:rPr lang="en-GB" sz="2000" b="1" dirty="0">
                <a:solidFill>
                  <a:srgbClr val="FFFF00"/>
                </a:solidFill>
                <a:latin typeface="Quattrocento Sans"/>
                <a:ea typeface="Quattrocento Sans"/>
                <a:cs typeface="Quattrocento Sans"/>
                <a:sym typeface="Quattrocento Sans"/>
              </a:rPr>
              <a:t>) essentially static, even if not ticked</a:t>
            </a:r>
            <a:endParaRPr sz="2000" b="1" dirty="0">
              <a:solidFill>
                <a:srgbClr val="FFFF00"/>
              </a:solidFill>
              <a:latin typeface="Quattrocento Sans"/>
              <a:ea typeface="Quattrocento Sans"/>
              <a:cs typeface="Quattrocento Sans"/>
              <a:sym typeface="Quattrocento Sans"/>
            </a:endParaRPr>
          </a:p>
          <a:p>
            <a:pPr marL="457200" marR="0" lvl="0" indent="-355600" algn="l" rtl="0">
              <a:lnSpc>
                <a:spcPct val="100000"/>
              </a:lnSpc>
              <a:spcBef>
                <a:spcPts val="0"/>
              </a:spcBef>
              <a:spcAft>
                <a:spcPts val="0"/>
              </a:spcAft>
              <a:buClr>
                <a:srgbClr val="FFFF00"/>
              </a:buClr>
              <a:buSzPts val="2000"/>
              <a:buFont typeface="Quattrocento Sans"/>
              <a:buAutoNum type="arabicPeriod"/>
            </a:pPr>
            <a:r>
              <a:rPr lang="en-GB" sz="2000" b="1" dirty="0">
                <a:solidFill>
                  <a:srgbClr val="FFFF00"/>
                </a:solidFill>
                <a:latin typeface="Quattrocento Sans"/>
                <a:ea typeface="Quattrocento Sans"/>
                <a:cs typeface="Quattrocento Sans"/>
                <a:sym typeface="Quattrocento Sans"/>
              </a:rPr>
              <a:t>RB on ball - real and physical - gravity and Collision with cube - physics engine - may just need trigger</a:t>
            </a:r>
            <a:endParaRPr sz="2000" b="1" dirty="0">
              <a:solidFill>
                <a:srgbClr val="FFFF00"/>
              </a:solidFill>
              <a:latin typeface="Quattrocento Sans"/>
              <a:ea typeface="Quattrocento Sans"/>
              <a:cs typeface="Quattrocento Sans"/>
              <a:sym typeface="Quattrocento Sans"/>
            </a:endParaRPr>
          </a:p>
          <a:p>
            <a:pPr marL="457200" marR="0" lvl="0" indent="-355600" algn="l" rtl="0">
              <a:lnSpc>
                <a:spcPct val="100000"/>
              </a:lnSpc>
              <a:spcBef>
                <a:spcPts val="0"/>
              </a:spcBef>
              <a:spcAft>
                <a:spcPts val="0"/>
              </a:spcAft>
              <a:buClr>
                <a:srgbClr val="FFFF00"/>
              </a:buClr>
              <a:buSzPts val="2000"/>
              <a:buFont typeface="Quattrocento Sans"/>
              <a:buAutoNum type="arabicPeriod"/>
            </a:pPr>
            <a:r>
              <a:rPr lang="en-GB" sz="2000" b="1" dirty="0">
                <a:solidFill>
                  <a:srgbClr val="FFFF00"/>
                </a:solidFill>
                <a:latin typeface="Quattrocento Sans"/>
                <a:ea typeface="Quattrocento Sans"/>
                <a:cs typeface="Quattrocento Sans"/>
                <a:sym typeface="Quattrocento Sans"/>
              </a:rPr>
              <a:t>Add script to both - 90% just need triggers</a:t>
            </a:r>
            <a:endParaRPr sz="2000" b="1" dirty="0">
              <a:solidFill>
                <a:srgbClr val="FFFF00"/>
              </a:solidFill>
              <a:latin typeface="Quattrocento Sans"/>
              <a:ea typeface="Quattrocento Sans"/>
              <a:cs typeface="Quattrocento Sans"/>
              <a:sym typeface="Quattrocento Sans"/>
            </a:endParaRPr>
          </a:p>
          <a:p>
            <a:pPr marL="457200" marR="0" lvl="0" indent="-355600" algn="l" rtl="0">
              <a:lnSpc>
                <a:spcPct val="100000"/>
              </a:lnSpc>
              <a:spcBef>
                <a:spcPts val="0"/>
              </a:spcBef>
              <a:spcAft>
                <a:spcPts val="0"/>
              </a:spcAft>
              <a:buClr>
                <a:srgbClr val="FFFF00"/>
              </a:buClr>
              <a:buSzPts val="2000"/>
              <a:buFont typeface="Quattrocento Sans"/>
              <a:buAutoNum type="arabicPeriod"/>
            </a:pPr>
            <a:r>
              <a:rPr lang="en-GB" sz="2000" b="1" dirty="0">
                <a:solidFill>
                  <a:srgbClr val="FFFF00"/>
                </a:solidFill>
                <a:latin typeface="Quattrocento Sans"/>
                <a:ea typeface="Quattrocento Sans"/>
                <a:cs typeface="Quattrocento Sans"/>
                <a:sym typeface="Quattrocento Sans"/>
              </a:rPr>
              <a:t>Collision or trigger notifies both objects</a:t>
            </a:r>
            <a:endParaRPr sz="2000" b="1" dirty="0">
              <a:solidFill>
                <a:srgbClr val="FFFF00"/>
              </a:solidFill>
              <a:latin typeface="Quattrocento Sans"/>
              <a:ea typeface="Quattrocento Sans"/>
              <a:cs typeface="Quattrocento Sans"/>
              <a:sym typeface="Quattrocento Sans"/>
            </a:endParaRPr>
          </a:p>
          <a:p>
            <a:pPr marL="457200" marR="0" lvl="0" indent="-355600" algn="l" rtl="0">
              <a:lnSpc>
                <a:spcPct val="100000"/>
              </a:lnSpc>
              <a:spcBef>
                <a:spcPts val="0"/>
              </a:spcBef>
              <a:spcAft>
                <a:spcPts val="0"/>
              </a:spcAft>
              <a:buClr>
                <a:srgbClr val="FFFF00"/>
              </a:buClr>
              <a:buSzPts val="2000"/>
              <a:buFont typeface="Quattrocento Sans"/>
              <a:buAutoNum type="arabicPeriod"/>
            </a:pPr>
            <a:r>
              <a:rPr lang="en-GB" sz="2000" b="1" dirty="0">
                <a:solidFill>
                  <a:srgbClr val="FFFF00"/>
                </a:solidFill>
                <a:latin typeface="Quattrocento Sans"/>
                <a:ea typeface="Quattrocento Sans"/>
                <a:cs typeface="Quattrocento Sans"/>
                <a:sym typeface="Quattrocento Sans"/>
              </a:rPr>
              <a:t>Collision: When True RB hits collider (not trigger)</a:t>
            </a:r>
            <a:endParaRPr sz="2000" b="1" dirty="0">
              <a:solidFill>
                <a:srgbClr val="FFFF00"/>
              </a:solidFill>
              <a:latin typeface="Quattrocento Sans"/>
              <a:ea typeface="Quattrocento Sans"/>
              <a:cs typeface="Quattrocento Sans"/>
              <a:sym typeface="Quattrocento Sans"/>
            </a:endParaRPr>
          </a:p>
          <a:p>
            <a:pPr marL="457200" marR="0" lvl="0" indent="-355600" algn="l" rtl="0">
              <a:lnSpc>
                <a:spcPct val="100000"/>
              </a:lnSpc>
              <a:spcBef>
                <a:spcPts val="0"/>
              </a:spcBef>
              <a:spcAft>
                <a:spcPts val="0"/>
              </a:spcAft>
              <a:buClr>
                <a:srgbClr val="FFFF00"/>
              </a:buClr>
              <a:buSzPts val="2000"/>
              <a:buFont typeface="Quattrocento Sans"/>
              <a:buAutoNum type="arabicPeriod"/>
            </a:pPr>
            <a:r>
              <a:rPr lang="en-GB" sz="2000" b="1" dirty="0">
                <a:solidFill>
                  <a:srgbClr val="FFFF00"/>
                </a:solidFill>
                <a:latin typeface="Quattrocento Sans"/>
                <a:ea typeface="Quattrocento Sans"/>
                <a:cs typeface="Quattrocento Sans"/>
                <a:sym typeface="Quattrocento Sans"/>
              </a:rPr>
              <a:t>Try box with and without </a:t>
            </a:r>
            <a:r>
              <a:rPr lang="en-GB" sz="2000" b="1" dirty="0" err="1">
                <a:solidFill>
                  <a:srgbClr val="FFFF00"/>
                </a:solidFill>
                <a:latin typeface="Quattrocento Sans"/>
                <a:ea typeface="Quattrocento Sans"/>
                <a:cs typeface="Quattrocento Sans"/>
                <a:sym typeface="Quattrocento Sans"/>
              </a:rPr>
              <a:t>IsTrigger</a:t>
            </a:r>
            <a:r>
              <a:rPr lang="en-GB" sz="2000" b="1" dirty="0">
                <a:solidFill>
                  <a:srgbClr val="FFFF00"/>
                </a:solidFill>
                <a:latin typeface="Quattrocento Sans"/>
                <a:ea typeface="Quattrocento Sans"/>
                <a:cs typeface="Quattrocento Sans"/>
                <a:sym typeface="Quattrocento Sans"/>
              </a:rPr>
              <a:t> and look at console</a:t>
            </a:r>
            <a:endParaRPr sz="2000" b="1" dirty="0">
              <a:solidFill>
                <a:srgbClr val="FFFF00"/>
              </a:solidFill>
              <a:latin typeface="Quattrocento Sans"/>
              <a:ea typeface="Quattrocento Sans"/>
              <a:cs typeface="Quattrocento Sans"/>
              <a:sym typeface="Quattrocento Sans"/>
            </a:endParaRPr>
          </a:p>
          <a:p>
            <a:pPr marL="457200" marR="0" lvl="0" indent="-355600" algn="l" rtl="0">
              <a:lnSpc>
                <a:spcPct val="100000"/>
              </a:lnSpc>
              <a:spcBef>
                <a:spcPts val="0"/>
              </a:spcBef>
              <a:spcAft>
                <a:spcPts val="0"/>
              </a:spcAft>
              <a:buClr>
                <a:srgbClr val="FFFF00"/>
              </a:buClr>
              <a:buSzPts val="2000"/>
              <a:buFont typeface="Quattrocento Sans"/>
              <a:buAutoNum type="arabicPeriod"/>
            </a:pPr>
            <a:r>
              <a:rPr lang="en-GB" sz="2000" b="1" dirty="0">
                <a:solidFill>
                  <a:srgbClr val="FFFF00"/>
                </a:solidFill>
                <a:latin typeface="Quattrocento Sans"/>
                <a:ea typeface="Quattrocento Sans"/>
                <a:cs typeface="Quattrocento Sans"/>
                <a:sym typeface="Quattrocento Sans"/>
              </a:rPr>
              <a:t>Turn box non-static (RB) - add RB, has gravity, will fall - turn off gravity - then collision moves it</a:t>
            </a:r>
            <a:endParaRPr sz="2000" b="1" dirty="0">
              <a:solidFill>
                <a:srgbClr val="FFFF00"/>
              </a:solidFill>
              <a:latin typeface="Quattrocento Sans"/>
              <a:ea typeface="Quattrocento Sans"/>
              <a:cs typeface="Quattrocento Sans"/>
              <a:sym typeface="Quattrocento Sans"/>
            </a:endParaRPr>
          </a:p>
          <a:p>
            <a:pPr marL="457200" marR="0" lvl="0" indent="-355600" algn="l" rtl="0">
              <a:lnSpc>
                <a:spcPct val="100000"/>
              </a:lnSpc>
              <a:spcBef>
                <a:spcPts val="0"/>
              </a:spcBef>
              <a:spcAft>
                <a:spcPts val="0"/>
              </a:spcAft>
              <a:buClr>
                <a:srgbClr val="FFFF00"/>
              </a:buClr>
              <a:buSzPts val="2000"/>
              <a:buFont typeface="Quattrocento Sans"/>
              <a:buAutoNum type="arabicPeriod"/>
            </a:pPr>
            <a:r>
              <a:rPr lang="en-GB" sz="2000" b="1" dirty="0">
                <a:solidFill>
                  <a:srgbClr val="FFFF00"/>
                </a:solidFill>
                <a:latin typeface="Quattrocento Sans"/>
                <a:ea typeface="Quattrocento Sans"/>
                <a:cs typeface="Quattrocento Sans"/>
                <a:sym typeface="Quattrocento Sans"/>
              </a:rPr>
              <a:t>Turn Box into </a:t>
            </a:r>
            <a:r>
              <a:rPr lang="en-GB" sz="2000" b="1" dirty="0" err="1">
                <a:solidFill>
                  <a:srgbClr val="FFFF00"/>
                </a:solidFill>
                <a:latin typeface="Quattrocento Sans"/>
                <a:ea typeface="Quattrocento Sans"/>
                <a:cs typeface="Quattrocento Sans"/>
                <a:sym typeface="Quattrocento Sans"/>
              </a:rPr>
              <a:t>IsKinematic</a:t>
            </a:r>
            <a:r>
              <a:rPr lang="en-GB" sz="2000" b="1" dirty="0">
                <a:solidFill>
                  <a:srgbClr val="FFFF00"/>
                </a:solidFill>
                <a:latin typeface="Quattrocento Sans"/>
                <a:ea typeface="Quattrocento Sans"/>
                <a:cs typeface="Quattrocento Sans"/>
                <a:sym typeface="Quattrocento Sans"/>
              </a:rPr>
              <a:t> - Box not moved - </a:t>
            </a:r>
            <a:r>
              <a:rPr lang="en-GB" sz="2000" b="1" dirty="0" err="1">
                <a:solidFill>
                  <a:srgbClr val="FFFF00"/>
                </a:solidFill>
                <a:latin typeface="Quattrocento Sans"/>
                <a:ea typeface="Quattrocento Sans"/>
                <a:cs typeface="Quattrocento Sans"/>
                <a:sym typeface="Quattrocento Sans"/>
              </a:rPr>
              <a:t>IsKinematic</a:t>
            </a:r>
            <a:r>
              <a:rPr lang="en-GB" sz="2000" b="1" dirty="0">
                <a:solidFill>
                  <a:srgbClr val="FFFF00"/>
                </a:solidFill>
                <a:latin typeface="Quattrocento Sans"/>
                <a:ea typeface="Quattrocento Sans"/>
                <a:cs typeface="Quattrocento Sans"/>
                <a:sym typeface="Quattrocento Sans"/>
              </a:rPr>
              <a:t> (may be moved - no Physics) vs Static (will never move - 0ptimised)</a:t>
            </a:r>
            <a:endParaRPr sz="2000" b="1" dirty="0">
              <a:solidFill>
                <a:srgbClr val="FFFF00"/>
              </a:solidFill>
              <a:latin typeface="Quattrocento Sans"/>
              <a:ea typeface="Quattrocento Sans"/>
              <a:cs typeface="Quattrocento Sans"/>
              <a:sym typeface="Quattrocento Sans"/>
            </a:endParaRPr>
          </a:p>
          <a:p>
            <a:pPr marL="457200" marR="0" lvl="0" indent="-355600" algn="l" rtl="0">
              <a:lnSpc>
                <a:spcPct val="100000"/>
              </a:lnSpc>
              <a:spcBef>
                <a:spcPts val="0"/>
              </a:spcBef>
              <a:spcAft>
                <a:spcPts val="0"/>
              </a:spcAft>
              <a:buClr>
                <a:srgbClr val="FFFF00"/>
              </a:buClr>
              <a:buSzPts val="2000"/>
              <a:buFont typeface="Quattrocento Sans"/>
              <a:buAutoNum type="arabicPeriod"/>
            </a:pPr>
            <a:r>
              <a:rPr lang="en-GB" sz="2000" b="1" dirty="0">
                <a:solidFill>
                  <a:srgbClr val="FFFF00"/>
                </a:solidFill>
                <a:latin typeface="Quattrocento Sans"/>
                <a:ea typeface="Quattrocento Sans"/>
                <a:cs typeface="Quattrocento Sans"/>
                <a:sym typeface="Quattrocento Sans"/>
              </a:rPr>
              <a:t>Turn Sphere to </a:t>
            </a:r>
            <a:r>
              <a:rPr lang="en-GB" sz="2000" b="1" dirty="0" err="1">
                <a:solidFill>
                  <a:srgbClr val="FFFF00"/>
                </a:solidFill>
                <a:latin typeface="Quattrocento Sans"/>
                <a:ea typeface="Quattrocento Sans"/>
                <a:cs typeface="Quattrocento Sans"/>
                <a:sym typeface="Quattrocento Sans"/>
              </a:rPr>
              <a:t>IsKinematic</a:t>
            </a:r>
            <a:r>
              <a:rPr lang="en-GB" sz="2000" b="1" dirty="0">
                <a:solidFill>
                  <a:srgbClr val="FFFF00"/>
                </a:solidFill>
                <a:latin typeface="Quattrocento Sans"/>
                <a:ea typeface="Quattrocento Sans"/>
                <a:cs typeface="Quattrocento Sans"/>
                <a:sym typeface="Quattrocento Sans"/>
              </a:rPr>
              <a:t> - no movement, but dragging  - they do not affect each other</a:t>
            </a:r>
            <a:endParaRPr sz="2000" b="1" dirty="0">
              <a:solidFill>
                <a:srgbClr val="FFFF00"/>
              </a:solidFill>
              <a:latin typeface="Quattrocento Sans"/>
              <a:ea typeface="Quattrocento Sans"/>
              <a:cs typeface="Quattrocento Sans"/>
              <a:sym typeface="Quattrocento Sans"/>
            </a:endParaRPr>
          </a:p>
          <a:p>
            <a:pPr marL="457200" marR="0" lvl="0" indent="-355600" algn="l" rtl="0">
              <a:lnSpc>
                <a:spcPct val="100000"/>
              </a:lnSpc>
              <a:spcBef>
                <a:spcPts val="0"/>
              </a:spcBef>
              <a:spcAft>
                <a:spcPts val="0"/>
              </a:spcAft>
              <a:buClr>
                <a:srgbClr val="FFFF00"/>
              </a:buClr>
              <a:buSzPts val="2000"/>
              <a:buFont typeface="Quattrocento Sans"/>
              <a:buAutoNum type="arabicPeriod"/>
            </a:pPr>
            <a:r>
              <a:rPr lang="en-GB" sz="2000" b="1" dirty="0" err="1">
                <a:solidFill>
                  <a:srgbClr val="FFFF00"/>
                </a:solidFill>
                <a:latin typeface="Quattrocento Sans"/>
                <a:ea typeface="Quattrocento Sans"/>
                <a:cs typeface="Quattrocento Sans"/>
                <a:sym typeface="Quattrocento Sans"/>
              </a:rPr>
              <a:t>IsKinematic</a:t>
            </a:r>
            <a:r>
              <a:rPr lang="en-GB" sz="2000" b="1" dirty="0">
                <a:solidFill>
                  <a:srgbClr val="FFFF00"/>
                </a:solidFill>
                <a:latin typeface="Quattrocento Sans"/>
                <a:ea typeface="Quattrocento Sans"/>
                <a:cs typeface="Quattrocento Sans"/>
                <a:sym typeface="Quattrocento Sans"/>
              </a:rPr>
              <a:t> RB with </a:t>
            </a:r>
            <a:r>
              <a:rPr lang="en-GB" sz="2000" b="1" dirty="0" err="1">
                <a:solidFill>
                  <a:srgbClr val="FFFF00"/>
                </a:solidFill>
                <a:latin typeface="Quattrocento Sans"/>
                <a:ea typeface="Quattrocento Sans"/>
                <a:cs typeface="Quattrocento Sans"/>
                <a:sym typeface="Quattrocento Sans"/>
              </a:rPr>
              <a:t>IsTrigger</a:t>
            </a:r>
            <a:endParaRPr sz="2000" b="1" dirty="0" err="1">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00"/>
              </a:solidFill>
              <a:latin typeface="Quattrocento Sans"/>
              <a:ea typeface="Quattrocento Sans"/>
              <a:cs typeface="Quattrocento Sans"/>
              <a:sym typeface="Quattrocento Sans"/>
            </a:endParaRPr>
          </a:p>
        </p:txBody>
      </p:sp>
    </p:spTree>
    <p:extLst>
      <p:ext uri="{BB962C8B-B14F-4D97-AF65-F5344CB8AC3E}">
        <p14:creationId xmlns:p14="http://schemas.microsoft.com/office/powerpoint/2010/main" val="36286259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63" name="Google Shape;263;p30"/>
          <p:cNvSpPr txBox="1"/>
          <p:nvPr/>
        </p:nvSpPr>
        <p:spPr>
          <a:xfrm>
            <a:off x="609600" y="1421654"/>
            <a:ext cx="10890738" cy="60016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Scripted Movement (Can be Animation Trigger)</a:t>
            </a:r>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Widgets (Android 2d joystick)</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2D widgets for 2D and 3D</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https://software.intel.com/en-us/articles/unity-3d-touch-gui-widgets</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Full 3d widget with rotate, trans (and scale?) This is advanced….</a:t>
            </a:r>
            <a:br>
              <a:rPr lang="en-GB" sz="1800" b="1">
                <a:solidFill>
                  <a:schemeClr val="dk1"/>
                </a:solidFill>
                <a:latin typeface="Quattrocento Sans"/>
                <a:ea typeface="Quattrocento Sans"/>
                <a:cs typeface="Quattrocento Sans"/>
                <a:sym typeface="Quattrocento Sans"/>
              </a:rPr>
            </a:br>
            <a:endParaRPr sz="18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2D Touch Joystick</a:t>
            </a:r>
            <a:endParaRPr/>
          </a:p>
          <a:p>
            <a:pPr marL="0" marR="0" lvl="0" indent="0" algn="l" rtl="0">
              <a:spcBef>
                <a:spcPts val="0"/>
              </a:spcBef>
              <a:spcAft>
                <a:spcPts val="0"/>
              </a:spcAft>
              <a:buNone/>
            </a:pPr>
            <a:r>
              <a:rPr lang="en-GB" sz="1800" u="sng">
                <a:solidFill>
                  <a:schemeClr val="dk1"/>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https://www.youtube.com/watch?v=nGYObojmkO4&amp;t=3s</a:t>
            </a: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Gimbals</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3d Gimbal - Simple version can be buttons or sliders in 3D World with Objects</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pic>
        <p:nvPicPr>
          <p:cNvPr id="264" name="Google Shape;264;p30"/>
          <p:cNvPicPr preferRelativeResize="0"/>
          <p:nvPr/>
        </p:nvPicPr>
        <p:blipFill rotWithShape="1">
          <a:blip r:embed="rId5">
            <a:alphaModFix/>
          </a:blip>
          <a:srcRect/>
          <a:stretch/>
        </p:blipFill>
        <p:spPr>
          <a:xfrm>
            <a:off x="7302334" y="3068759"/>
            <a:ext cx="4805690" cy="270743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71" name="Google Shape;271;p31"/>
          <p:cNvSpPr txBox="1"/>
          <p:nvPr/>
        </p:nvSpPr>
        <p:spPr>
          <a:xfrm>
            <a:off x="609600" y="1421654"/>
            <a:ext cx="10890738"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lang="en-GB" sz="3600" b="1" dirty="0">
              <a:solidFill>
                <a:srgbClr val="FFFF00"/>
              </a:solidFill>
              <a:latin typeface="Quattrocento Sans"/>
            </a:endParaRPr>
          </a:p>
          <a:p>
            <a:pPr marL="0" marR="0" lvl="0" indent="0" algn="l" rtl="0">
              <a:spcBef>
                <a:spcPts val="0"/>
              </a:spcBef>
              <a:spcAft>
                <a:spcPts val="0"/>
              </a:spcAft>
              <a:buNone/>
            </a:pPr>
            <a:endParaRPr sz="2000" b="1">
              <a:solidFill>
                <a:srgbClr val="FFFF00"/>
              </a:solidFill>
              <a:latin typeface="Quattrocento Sans"/>
              <a:ea typeface="Quattrocento Sans"/>
              <a:cs typeface="Quattrocento Sans"/>
              <a:sym typeface="Quattrocento Sans"/>
            </a:endParaRPr>
          </a:p>
        </p:txBody>
      </p:sp>
      <p:sp>
        <p:nvSpPr>
          <p:cNvPr id="3" name="Google Shape;271;p31">
            <a:extLst>
              <a:ext uri="{FF2B5EF4-FFF2-40B4-BE49-F238E27FC236}">
                <a16:creationId xmlns:a16="http://schemas.microsoft.com/office/drawing/2014/main" id="{8685D47A-7A54-C720-4743-5D4FA36CBE04}"/>
              </a:ext>
            </a:extLst>
          </p:cNvPr>
          <p:cNvSpPr txBox="1"/>
          <p:nvPr/>
        </p:nvSpPr>
        <p:spPr>
          <a:xfrm>
            <a:off x="609600" y="1421654"/>
            <a:ext cx="10890738" cy="4832052"/>
          </a:xfrm>
          <a:prstGeom prst="rect">
            <a:avLst/>
          </a:prstGeom>
          <a:noFill/>
          <a:ln>
            <a:noFill/>
          </a:ln>
        </p:spPr>
        <p:txBody>
          <a:bodyPr spcFirstLastPara="1" wrap="square" lIns="91425" tIns="45700" rIns="91425" bIns="45700" anchor="t" anchorCtr="0">
            <a:spAutoFit/>
          </a:bodyPr>
          <a:lstStyle/>
          <a:p>
            <a:r>
              <a:rPr lang="en-GB" sz="2400" dirty="0">
                <a:solidFill>
                  <a:srgbClr val="FFFF00"/>
                </a:solidFill>
                <a:latin typeface="Quattrocento Sans"/>
                <a:sym typeface="Quattrocento Sans"/>
              </a:rPr>
              <a:t>CW1</a:t>
            </a:r>
            <a:endParaRPr lang="en-US" sz="2400" dirty="0">
              <a:latin typeface="Quattrocento Sans"/>
            </a:endParaRPr>
          </a:p>
          <a:p>
            <a:pPr marL="342900" indent="-342900">
              <a:buChar char="•"/>
            </a:pPr>
            <a:r>
              <a:rPr lang="en-GB" sz="2400" dirty="0">
                <a:solidFill>
                  <a:schemeClr val="bg2"/>
                </a:solidFill>
                <a:latin typeface="Quattrocento Sans"/>
              </a:rPr>
              <a:t>Unity scene with all student work via </a:t>
            </a:r>
            <a:r>
              <a:rPr lang="en-GB" sz="2400" err="1">
                <a:solidFill>
                  <a:schemeClr val="bg2"/>
                </a:solidFill>
                <a:latin typeface="Quattrocento Sans"/>
              </a:rPr>
              <a:t>github</a:t>
            </a:r>
            <a:r>
              <a:rPr lang="en-GB" sz="2400">
                <a:solidFill>
                  <a:schemeClr val="bg2"/>
                </a:solidFill>
                <a:latin typeface="Quattrocento Sans"/>
              </a:rPr>
              <a:t> or package  import/export</a:t>
            </a:r>
            <a:endParaRPr lang="en-GB" sz="2400" dirty="0">
              <a:solidFill>
                <a:schemeClr val="bg2"/>
              </a:solidFill>
              <a:latin typeface="Quattrocento Sans"/>
            </a:endParaRPr>
          </a:p>
          <a:p>
            <a:pPr marL="342900" indent="-342900">
              <a:buChar char="•"/>
            </a:pPr>
            <a:r>
              <a:rPr lang="en-GB" sz="2400">
                <a:solidFill>
                  <a:schemeClr val="bg2"/>
                </a:solidFill>
                <a:latin typeface="Quattrocento Sans"/>
                <a:ea typeface="Quattrocento Sans"/>
              </a:rPr>
              <a:t>Extras assets and interactions towards CW2</a:t>
            </a:r>
            <a:endParaRPr lang="en-GB" sz="2400">
              <a:solidFill>
                <a:schemeClr val="bg2"/>
              </a:solidFill>
              <a:ea typeface="Quattrocento Sans"/>
            </a:endParaRPr>
          </a:p>
          <a:p>
            <a:pPr marL="342900" indent="-342900">
              <a:buChar char="•"/>
            </a:pPr>
            <a:r>
              <a:rPr lang="en-GB" sz="2400" dirty="0">
                <a:solidFill>
                  <a:schemeClr val="bg2"/>
                </a:solidFill>
                <a:latin typeface="Quattrocento Sans"/>
                <a:ea typeface="Quattrocento Sans"/>
              </a:rPr>
              <a:t>All 3 video files</a:t>
            </a:r>
          </a:p>
          <a:p>
            <a:pPr marL="342900" indent="-342900">
              <a:buChar char="•"/>
            </a:pPr>
            <a:r>
              <a:rPr lang="en-GB" sz="2400">
                <a:solidFill>
                  <a:schemeClr val="bg2"/>
                </a:solidFill>
                <a:latin typeface="Quattrocento Sans"/>
                <a:ea typeface="Quattrocento Sans"/>
              </a:rPr>
              <a:t>Individual reports</a:t>
            </a:r>
            <a:endParaRPr lang="en-GB" sz="2400" dirty="0">
              <a:solidFill>
                <a:schemeClr val="bg2"/>
              </a:solidFill>
              <a:latin typeface="Quattrocento Sans"/>
              <a:ea typeface="Quattrocento Sans"/>
            </a:endParaRPr>
          </a:p>
          <a:p>
            <a:pPr marL="342900" indent="-342900">
              <a:buChar char="•"/>
            </a:pPr>
            <a:r>
              <a:rPr lang="en-GB" sz="2400">
                <a:solidFill>
                  <a:schemeClr val="bg2"/>
                </a:solidFill>
                <a:latin typeface="Quattrocento Sans"/>
                <a:ea typeface="Quattrocento Sans"/>
              </a:rPr>
              <a:t>Group report</a:t>
            </a:r>
            <a:endParaRPr lang="en-GB" sz="2400" dirty="0">
              <a:solidFill>
                <a:schemeClr val="bg2"/>
              </a:solidFill>
              <a:latin typeface="Quattrocento Sans"/>
              <a:ea typeface="Quattrocento Sans"/>
            </a:endParaRPr>
          </a:p>
          <a:p>
            <a:pPr marL="342900" indent="-342900">
              <a:buChar char="•"/>
            </a:pPr>
            <a:r>
              <a:rPr lang="en-GB" sz="2400">
                <a:solidFill>
                  <a:schemeClr val="bg2"/>
                </a:solidFill>
                <a:latin typeface="Quattrocento Sans"/>
                <a:ea typeface="Quattrocento Sans"/>
              </a:rPr>
              <a:t>Any group planning material</a:t>
            </a:r>
            <a:endParaRPr lang="en-GB" sz="2400" dirty="0">
              <a:solidFill>
                <a:schemeClr val="bg2"/>
              </a:solidFill>
              <a:latin typeface="Quattrocento Sans"/>
              <a:ea typeface="Quattrocento Sans"/>
            </a:endParaRPr>
          </a:p>
          <a:p>
            <a:pPr marL="342900" indent="-342900">
              <a:buChar char="•"/>
            </a:pPr>
            <a:r>
              <a:rPr lang="en-GB" sz="2400" dirty="0">
                <a:solidFill>
                  <a:schemeClr val="bg2"/>
                </a:solidFill>
                <a:latin typeface="Quattrocento Sans"/>
                <a:ea typeface="Quattrocento Sans"/>
              </a:rPr>
              <a:t>FOLLOW NAMING CONVENTION</a:t>
            </a:r>
          </a:p>
          <a:p>
            <a:r>
              <a:rPr lang="en-GB" sz="2400" dirty="0">
                <a:solidFill>
                  <a:srgbClr val="FFFF00"/>
                </a:solidFill>
                <a:latin typeface="Quattrocento Sans"/>
                <a:ea typeface="Quattrocento Sans"/>
              </a:rPr>
              <a:t>Tutorial</a:t>
            </a:r>
          </a:p>
          <a:p>
            <a:pPr marL="342900" indent="-342900">
              <a:buChar char="•"/>
            </a:pPr>
            <a:r>
              <a:rPr lang="en-GB" sz="2400" dirty="0">
                <a:solidFill>
                  <a:schemeClr val="bg2"/>
                </a:solidFill>
                <a:latin typeface="Quattrocento Sans"/>
                <a:ea typeface="Quattrocento Sans"/>
              </a:rPr>
              <a:t>Controllers </a:t>
            </a:r>
            <a:r>
              <a:rPr lang="en-GB" sz="2400">
                <a:solidFill>
                  <a:schemeClr val="bg2"/>
                </a:solidFill>
                <a:latin typeface="Quattrocento Sans"/>
                <a:ea typeface="Quattrocento Sans"/>
              </a:rPr>
              <a:t>Project Example</a:t>
            </a:r>
            <a:endParaRPr lang="en-GB" sz="2400" dirty="0">
              <a:solidFill>
                <a:schemeClr val="bg2"/>
              </a:solidFill>
              <a:latin typeface="Quattrocento Sans"/>
              <a:ea typeface="Quattrocento Sans"/>
            </a:endParaRPr>
          </a:p>
          <a:p>
            <a:pPr marL="342900" indent="-342900">
              <a:buChar char="•"/>
            </a:pPr>
            <a:r>
              <a:rPr lang="en-GB" sz="2400" err="1">
                <a:solidFill>
                  <a:schemeClr val="bg2"/>
                </a:solidFill>
                <a:latin typeface="Quattrocento Sans"/>
                <a:ea typeface="Quattrocento Sans"/>
              </a:rPr>
              <a:t>Rigidbody</a:t>
            </a:r>
            <a:r>
              <a:rPr lang="en-GB" sz="2400">
                <a:solidFill>
                  <a:schemeClr val="bg2"/>
                </a:solidFill>
                <a:latin typeface="Quattrocento Sans"/>
                <a:ea typeface="Quattrocento Sans"/>
              </a:rPr>
              <a:t> Matrix Project Example</a:t>
            </a:r>
            <a:endParaRPr lang="en-GB" sz="2400" dirty="0">
              <a:solidFill>
                <a:schemeClr val="bg2"/>
              </a:solidFill>
              <a:latin typeface="Quattrocento Sans"/>
              <a:ea typeface="Quattrocento Sans"/>
            </a:endParaRPr>
          </a:p>
          <a:p>
            <a:pPr marL="342900" indent="-342900">
              <a:buChar char="•"/>
            </a:pPr>
            <a:r>
              <a:rPr lang="en-GB" sz="2400">
                <a:solidFill>
                  <a:schemeClr val="bg2"/>
                </a:solidFill>
                <a:latin typeface="Quattrocento Sans"/>
                <a:ea typeface="Quattrocento Sans"/>
              </a:rPr>
              <a:t>Map out your CW2 Interaction needs</a:t>
            </a:r>
            <a:endParaRPr lang="en-GB" sz="2400" dirty="0">
              <a:solidFill>
                <a:schemeClr val="bg2"/>
              </a:solidFill>
              <a:latin typeface="Quattrocento Sans"/>
              <a:ea typeface="Quattrocento Sans"/>
            </a:endParaRPr>
          </a:p>
          <a:p>
            <a:endParaRPr lang="en-GB" sz="2000" b="1">
              <a:solidFill>
                <a:srgbClr val="FFFF00"/>
              </a:solidFill>
              <a:latin typeface="Quattrocento Sans"/>
              <a:ea typeface="Quattrocento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69">
          <a:extLst>
            <a:ext uri="{FF2B5EF4-FFF2-40B4-BE49-F238E27FC236}">
              <a16:creationId xmlns:a16="http://schemas.microsoft.com/office/drawing/2014/main" id="{6377B932-6A15-96CD-294D-4FE3ECF6DA34}"/>
            </a:ext>
          </a:extLst>
        </p:cNvPr>
        <p:cNvGrpSpPr/>
        <p:nvPr/>
      </p:nvGrpSpPr>
      <p:grpSpPr>
        <a:xfrm>
          <a:off x="0" y="0"/>
          <a:ext cx="0" cy="0"/>
          <a:chOff x="0" y="0"/>
          <a:chExt cx="0" cy="0"/>
        </a:xfrm>
      </p:grpSpPr>
      <p:sp>
        <p:nvSpPr>
          <p:cNvPr id="270" name="Google Shape;270;p31">
            <a:extLst>
              <a:ext uri="{FF2B5EF4-FFF2-40B4-BE49-F238E27FC236}">
                <a16:creationId xmlns:a16="http://schemas.microsoft.com/office/drawing/2014/main" id="{D5BB0E2B-B14A-26C0-B9D1-14BF7F9774CD}"/>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71" name="Google Shape;271;p31">
            <a:extLst>
              <a:ext uri="{FF2B5EF4-FFF2-40B4-BE49-F238E27FC236}">
                <a16:creationId xmlns:a16="http://schemas.microsoft.com/office/drawing/2014/main" id="{6524C0EC-52F2-6B38-FD9F-C4E4A49E34CF}"/>
              </a:ext>
            </a:extLst>
          </p:cNvPr>
          <p:cNvSpPr txBox="1"/>
          <p:nvPr/>
        </p:nvSpPr>
        <p:spPr>
          <a:xfrm>
            <a:off x="609600" y="1421654"/>
            <a:ext cx="10890738"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lang="en-GB" sz="3600" b="1" dirty="0">
              <a:solidFill>
                <a:srgbClr val="FFFF00"/>
              </a:solidFill>
              <a:latin typeface="Quattrocento Sans"/>
            </a:endParaRPr>
          </a:p>
          <a:p>
            <a:pPr marL="0" marR="0" lvl="0" indent="0" algn="l" rtl="0">
              <a:spcBef>
                <a:spcPts val="0"/>
              </a:spcBef>
              <a:spcAft>
                <a:spcPts val="0"/>
              </a:spcAft>
              <a:buNone/>
            </a:pPr>
            <a:endParaRPr sz="2000" b="1">
              <a:solidFill>
                <a:srgbClr val="FFFF00"/>
              </a:solidFill>
              <a:latin typeface="Quattrocento Sans"/>
              <a:ea typeface="Quattrocento Sans"/>
              <a:cs typeface="Quattrocento Sans"/>
              <a:sym typeface="Quattrocento Sans"/>
            </a:endParaRPr>
          </a:p>
        </p:txBody>
      </p:sp>
    </p:spTree>
    <p:extLst>
      <p:ext uri="{BB962C8B-B14F-4D97-AF65-F5344CB8AC3E}">
        <p14:creationId xmlns:p14="http://schemas.microsoft.com/office/powerpoint/2010/main" val="21598389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Shape 269"/>
        <p:cNvGrpSpPr/>
        <p:nvPr/>
      </p:nvGrpSpPr>
      <p:grpSpPr>
        <a:xfrm>
          <a:off x="0" y="0"/>
          <a:ext cx="0" cy="0"/>
          <a:chOff x="0" y="0"/>
          <a:chExt cx="0" cy="0"/>
        </a:xfrm>
      </p:grpSpPr>
      <p:sp>
        <p:nvSpPr>
          <p:cNvPr id="270" name="Google Shape;270;p3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71" name="Google Shape;271;p31"/>
          <p:cNvSpPr txBox="1"/>
          <p:nvPr/>
        </p:nvSpPr>
        <p:spPr>
          <a:xfrm>
            <a:off x="609600" y="1421654"/>
            <a:ext cx="10890738" cy="29854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Scripted Movement (Not Animation Trigger)</a:t>
            </a:r>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Raycast/Linecast:</a:t>
            </a:r>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Tracks the mouse in 2D screen so we can have 3D transforms that relate.</a:t>
            </a:r>
            <a:endParaRPr/>
          </a:p>
          <a:p>
            <a:pPr marL="0" marR="0" lvl="0" indent="0" algn="l" rtl="0">
              <a:spcBef>
                <a:spcPts val="0"/>
              </a:spcBef>
              <a:spcAft>
                <a:spcPts val="0"/>
              </a:spcAft>
              <a:buNone/>
            </a:pPr>
            <a:endParaRPr sz="2000" b="1">
              <a:solidFill>
                <a:srgbClr val="FFFF00"/>
              </a:solidFill>
              <a:latin typeface="Quattrocento Sans"/>
              <a:ea typeface="Quattrocento Sans"/>
              <a:cs typeface="Quattrocento Sans"/>
              <a:sym typeface="Quattrocento Sans"/>
            </a:endParaRPr>
          </a:p>
        </p:txBody>
      </p:sp>
    </p:spTree>
    <p:extLst>
      <p:ext uri="{BB962C8B-B14F-4D97-AF65-F5344CB8AC3E}">
        <p14:creationId xmlns:p14="http://schemas.microsoft.com/office/powerpoint/2010/main" val="21250381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Shape 276"/>
        <p:cNvGrpSpPr/>
        <p:nvPr/>
      </p:nvGrpSpPr>
      <p:grpSpPr>
        <a:xfrm>
          <a:off x="0" y="0"/>
          <a:ext cx="0" cy="0"/>
          <a:chOff x="0" y="0"/>
          <a:chExt cx="0" cy="0"/>
        </a:xfrm>
      </p:grpSpPr>
      <p:sp>
        <p:nvSpPr>
          <p:cNvPr id="277" name="Google Shape;277;p3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78" name="Google Shape;278;p32"/>
          <p:cNvSpPr txBox="1"/>
          <p:nvPr/>
        </p:nvSpPr>
        <p:spPr>
          <a:xfrm>
            <a:off x="609600" y="1293507"/>
            <a:ext cx="11401500" cy="586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rgbClr val="FFFF00"/>
                </a:solidFill>
                <a:latin typeface="Quattrocento Sans"/>
                <a:ea typeface="Quattrocento Sans"/>
                <a:cs typeface="Quattrocento Sans"/>
                <a:sym typeface="Quattrocento Sans"/>
              </a:rPr>
              <a:t>More C# and Unity3D – Raycasting (tutorial 2)</a:t>
            </a:r>
            <a:endParaRPr/>
          </a:p>
          <a:p>
            <a:pPr marL="0" marR="0" lvl="0" indent="0" algn="l" rtl="0">
              <a:spcBef>
                <a:spcPts val="0"/>
              </a:spcBef>
              <a:spcAft>
                <a:spcPts val="0"/>
              </a:spcAft>
              <a:buNone/>
            </a:pPr>
            <a:endParaRPr sz="20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Casts a ray, from point origin, in direction direction, of length maxDistance, against all colliders in the scene.</a:t>
            </a:r>
            <a:endParaRPr sz="1300"/>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You may optionally provide a </a:t>
            </a:r>
            <a:r>
              <a:rPr lang="en-GB" sz="17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LayerMask</a:t>
            </a:r>
            <a:r>
              <a:rPr lang="en-GB" sz="1700">
                <a:solidFill>
                  <a:schemeClr val="dk1"/>
                </a:solidFill>
                <a:latin typeface="Quattrocento Sans"/>
                <a:ea typeface="Quattrocento Sans"/>
                <a:cs typeface="Quattrocento Sans"/>
                <a:sym typeface="Quattrocento Sans"/>
              </a:rPr>
              <a:t>, to filter out any Colliders you aren't interested in generating collisions with. </a:t>
            </a:r>
            <a:endParaRPr sz="17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Specifying queryTriggerInteraction allows you to control whether or not Trigger colliders generate a hit, or </a:t>
            </a:r>
            <a:endParaRPr sz="1300"/>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whether to use the global Physics.queriesHitTriggers setting.</a:t>
            </a:r>
            <a:endParaRPr sz="17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This example creates a simple Raycast, projecting forwards from the position of the object's current position, </a:t>
            </a:r>
            <a:endParaRPr sz="1300"/>
          </a:p>
          <a:p>
            <a:pPr marL="0" marR="0" lvl="0" indent="0" algn="l" rtl="0">
              <a:spcBef>
                <a:spcPts val="0"/>
              </a:spcBef>
              <a:spcAft>
                <a:spcPts val="0"/>
              </a:spcAft>
              <a:buNone/>
            </a:pPr>
            <a:r>
              <a:rPr lang="en-GB" sz="1700">
                <a:solidFill>
                  <a:schemeClr val="dk1"/>
                </a:solidFill>
                <a:latin typeface="Quattrocento Sans"/>
                <a:ea typeface="Quattrocento Sans"/>
                <a:cs typeface="Quattrocento Sans"/>
                <a:sym typeface="Quattrocento Sans"/>
              </a:rPr>
              <a:t>extending for 10 units.</a:t>
            </a:r>
            <a:endParaRPr sz="1300"/>
          </a:p>
          <a:p>
            <a:pPr marL="0" marR="0" lvl="0" indent="0" algn="l" rtl="0">
              <a:spcBef>
                <a:spcPts val="0"/>
              </a:spcBef>
              <a:spcAft>
                <a:spcPts val="0"/>
              </a:spcAft>
              <a:buNone/>
            </a:pPr>
            <a:endParaRPr sz="17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300">
                <a:solidFill>
                  <a:schemeClr val="dk1"/>
                </a:solidFill>
                <a:latin typeface="Quattrocento Sans"/>
                <a:ea typeface="Quattrocento Sans"/>
                <a:cs typeface="Quattrocento Sans"/>
                <a:sym typeface="Quattrocento Sans"/>
              </a:rPr>
              <a:t>using UnityEngine;</a:t>
            </a:r>
            <a:endParaRPr sz="1300"/>
          </a:p>
          <a:p>
            <a:pPr marL="0" marR="0" lvl="0" indent="0" algn="l" rtl="0">
              <a:spcBef>
                <a:spcPts val="0"/>
              </a:spcBef>
              <a:spcAft>
                <a:spcPts val="0"/>
              </a:spcAft>
              <a:buNone/>
            </a:pPr>
            <a:r>
              <a:rPr lang="en-GB" sz="1300">
                <a:solidFill>
                  <a:schemeClr val="dk1"/>
                </a:solidFill>
                <a:latin typeface="Quattrocento Sans"/>
                <a:ea typeface="Quattrocento Sans"/>
                <a:cs typeface="Quattrocento Sans"/>
                <a:sym typeface="Quattrocento Sans"/>
              </a:rPr>
              <a:t>public class ExampleClass : </a:t>
            </a:r>
            <a:r>
              <a:rPr lang="en-GB" sz="1300" u="sng">
                <a:solidFill>
                  <a:schemeClr val="dk1"/>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MonoBehaviour</a:t>
            </a:r>
            <a:r>
              <a:rPr lang="en-GB" sz="1300">
                <a:solidFill>
                  <a:schemeClr val="dk1"/>
                </a:solidFill>
                <a:latin typeface="Quattrocento Sans"/>
                <a:ea typeface="Quattrocento Sans"/>
                <a:cs typeface="Quattrocento Sans"/>
                <a:sym typeface="Quattrocento Sans"/>
              </a:rPr>
              <a:t> </a:t>
            </a:r>
            <a:br>
              <a:rPr lang="en-GB" sz="1300">
                <a:solidFill>
                  <a:schemeClr val="dk1"/>
                </a:solidFill>
                <a:latin typeface="Quattrocento Sans"/>
                <a:ea typeface="Quattrocento Sans"/>
                <a:cs typeface="Quattrocento Sans"/>
                <a:sym typeface="Quattrocento Sans"/>
              </a:rPr>
            </a:br>
            <a:r>
              <a:rPr lang="en-GB" sz="1300">
                <a:solidFill>
                  <a:schemeClr val="dk1"/>
                </a:solidFill>
                <a:latin typeface="Quattrocento Sans"/>
                <a:ea typeface="Quattrocento Sans"/>
                <a:cs typeface="Quattrocento Sans"/>
                <a:sym typeface="Quattrocento Sans"/>
              </a:rPr>
              <a:t>{</a:t>
            </a:r>
            <a:br>
              <a:rPr lang="en-GB" sz="1300">
                <a:solidFill>
                  <a:schemeClr val="dk1"/>
                </a:solidFill>
                <a:latin typeface="Quattrocento Sans"/>
                <a:ea typeface="Quattrocento Sans"/>
                <a:cs typeface="Quattrocento Sans"/>
                <a:sym typeface="Quattrocento Sans"/>
              </a:rPr>
            </a:br>
            <a:r>
              <a:rPr lang="en-GB" sz="1300">
                <a:solidFill>
                  <a:schemeClr val="dk1"/>
                </a:solidFill>
                <a:latin typeface="Quattrocento Sans"/>
                <a:ea typeface="Quattrocento Sans"/>
                <a:cs typeface="Quattrocento Sans"/>
                <a:sym typeface="Quattrocento Sans"/>
              </a:rPr>
              <a:t>    void FixedUpdate() </a:t>
            </a:r>
            <a:br>
              <a:rPr lang="en-GB" sz="1300">
                <a:solidFill>
                  <a:schemeClr val="dk1"/>
                </a:solidFill>
                <a:latin typeface="Quattrocento Sans"/>
                <a:ea typeface="Quattrocento Sans"/>
                <a:cs typeface="Quattrocento Sans"/>
                <a:sym typeface="Quattrocento Sans"/>
              </a:rPr>
            </a:br>
            <a:r>
              <a:rPr lang="en-GB" sz="1300">
                <a:solidFill>
                  <a:schemeClr val="dk1"/>
                </a:solidFill>
                <a:latin typeface="Quattrocento Sans"/>
                <a:ea typeface="Quattrocento Sans"/>
                <a:cs typeface="Quattrocento Sans"/>
                <a:sym typeface="Quattrocento Sans"/>
              </a:rPr>
              <a:t>    {</a:t>
            </a:r>
            <a:br>
              <a:rPr lang="en-GB" sz="1300">
                <a:solidFill>
                  <a:schemeClr val="dk1"/>
                </a:solidFill>
                <a:latin typeface="Quattrocento Sans"/>
                <a:ea typeface="Quattrocento Sans"/>
                <a:cs typeface="Quattrocento Sans"/>
                <a:sym typeface="Quattrocento Sans"/>
              </a:rPr>
            </a:br>
            <a:r>
              <a:rPr lang="en-GB" sz="1300">
                <a:solidFill>
                  <a:schemeClr val="dk1"/>
                </a:solidFill>
                <a:latin typeface="Quattrocento Sans"/>
                <a:ea typeface="Quattrocento Sans"/>
                <a:cs typeface="Quattrocento Sans"/>
                <a:sym typeface="Quattrocento Sans"/>
              </a:rPr>
              <a:t>        </a:t>
            </a:r>
            <a:r>
              <a:rPr lang="en-GB" sz="1300" u="sng">
                <a:solidFill>
                  <a:schemeClr val="dk1"/>
                </a:solidFill>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Vector3</a:t>
            </a:r>
            <a:r>
              <a:rPr lang="en-GB" sz="1300">
                <a:solidFill>
                  <a:schemeClr val="dk1"/>
                </a:solidFill>
                <a:latin typeface="Quattrocento Sans"/>
                <a:ea typeface="Quattrocento Sans"/>
                <a:cs typeface="Quattrocento Sans"/>
                <a:sym typeface="Quattrocento Sans"/>
              </a:rPr>
              <a:t> fwd = transform.TransformDirection(</a:t>
            </a:r>
            <a:r>
              <a:rPr lang="en-GB" sz="1300" u="sng">
                <a:solidFill>
                  <a:schemeClr val="dk1"/>
                </a:solidFill>
                <a:latin typeface="Quattrocento Sans"/>
                <a:ea typeface="Quattrocento Sans"/>
                <a:cs typeface="Quattrocento Sans"/>
                <a:sym typeface="Quattrocento Sans"/>
                <a:hlinkClick r:id="rId6">
                  <a:extLst>
                    <a:ext uri="{A12FA001-AC4F-418D-AE19-62706E023703}">
                      <ahyp:hlinkClr xmlns:ahyp="http://schemas.microsoft.com/office/drawing/2018/hyperlinkcolor" val="tx"/>
                    </a:ext>
                  </a:extLst>
                </a:hlinkClick>
              </a:rPr>
              <a:t>Vector3.forward</a:t>
            </a:r>
            <a:r>
              <a:rPr lang="en-GB" sz="1300">
                <a:solidFill>
                  <a:schemeClr val="dk1"/>
                </a:solidFill>
                <a:latin typeface="Quattrocento Sans"/>
                <a:ea typeface="Quattrocento Sans"/>
                <a:cs typeface="Quattrocento Sans"/>
                <a:sym typeface="Quattrocento Sans"/>
              </a:rPr>
              <a:t>);</a:t>
            </a:r>
            <a:endParaRPr sz="1300"/>
          </a:p>
          <a:p>
            <a:pPr marL="0" marR="0" lvl="0" indent="0" algn="l" rtl="0">
              <a:spcBef>
                <a:spcPts val="0"/>
              </a:spcBef>
              <a:spcAft>
                <a:spcPts val="0"/>
              </a:spcAft>
              <a:buNone/>
            </a:pPr>
            <a:r>
              <a:rPr lang="en-GB" sz="1300">
                <a:solidFill>
                  <a:schemeClr val="dk1"/>
                </a:solidFill>
                <a:latin typeface="Quattrocento Sans"/>
                <a:ea typeface="Quattrocento Sans"/>
                <a:cs typeface="Quattrocento Sans"/>
                <a:sym typeface="Quattrocento Sans"/>
              </a:rPr>
              <a:t> </a:t>
            </a:r>
            <a:endParaRPr sz="1300"/>
          </a:p>
          <a:p>
            <a:pPr marL="0" marR="0" lvl="0" indent="0" algn="l" rtl="0">
              <a:spcBef>
                <a:spcPts val="0"/>
              </a:spcBef>
              <a:spcAft>
                <a:spcPts val="0"/>
              </a:spcAft>
              <a:buNone/>
            </a:pPr>
            <a:r>
              <a:rPr lang="en-GB" sz="1300">
                <a:solidFill>
                  <a:schemeClr val="dk1"/>
                </a:solidFill>
                <a:latin typeface="Quattrocento Sans"/>
                <a:ea typeface="Quattrocento Sans"/>
                <a:cs typeface="Quattrocento Sans"/>
                <a:sym typeface="Quattrocento Sans"/>
              </a:rPr>
              <a:t>if (</a:t>
            </a:r>
            <a:r>
              <a:rPr lang="en-GB" sz="1300" u="sng">
                <a:solidFill>
                  <a:schemeClr val="dk1"/>
                </a:solidFill>
                <a:latin typeface="Quattrocento Sans"/>
                <a:ea typeface="Quattrocento Sans"/>
                <a:cs typeface="Quattrocento Sans"/>
                <a:sym typeface="Quattrocento Sans"/>
                <a:hlinkClick r:id="rId7">
                  <a:extLst>
                    <a:ext uri="{A12FA001-AC4F-418D-AE19-62706E023703}">
                      <ahyp:hlinkClr xmlns:ahyp="http://schemas.microsoft.com/office/drawing/2018/hyperlinkcolor" val="tx"/>
                    </a:ext>
                  </a:extLst>
                </a:hlinkClick>
              </a:rPr>
              <a:t>Physics.Raycast</a:t>
            </a:r>
            <a:r>
              <a:rPr lang="en-GB" sz="1300">
                <a:solidFill>
                  <a:schemeClr val="dk1"/>
                </a:solidFill>
                <a:latin typeface="Quattrocento Sans"/>
                <a:ea typeface="Quattrocento Sans"/>
                <a:cs typeface="Quattrocento Sans"/>
                <a:sym typeface="Quattrocento Sans"/>
              </a:rPr>
              <a:t>(transform.position, fwd, 10)) </a:t>
            </a:r>
            <a:br>
              <a:rPr lang="en-GB" sz="1300">
                <a:solidFill>
                  <a:schemeClr val="dk1"/>
                </a:solidFill>
                <a:latin typeface="Quattrocento Sans"/>
                <a:ea typeface="Quattrocento Sans"/>
                <a:cs typeface="Quattrocento Sans"/>
                <a:sym typeface="Quattrocento Sans"/>
              </a:rPr>
            </a:br>
            <a:r>
              <a:rPr lang="en-GB" sz="1300">
                <a:solidFill>
                  <a:schemeClr val="dk1"/>
                </a:solidFill>
                <a:latin typeface="Quattrocento Sans"/>
                <a:ea typeface="Quattrocento Sans"/>
                <a:cs typeface="Quattrocento Sans"/>
                <a:sym typeface="Quattrocento Sans"/>
              </a:rPr>
              <a:t>            print("There is something in front of the object!");</a:t>
            </a:r>
            <a:br>
              <a:rPr lang="en-GB" sz="1300">
                <a:solidFill>
                  <a:schemeClr val="dk1"/>
                </a:solidFill>
                <a:latin typeface="Quattrocento Sans"/>
                <a:ea typeface="Quattrocento Sans"/>
                <a:cs typeface="Quattrocento Sans"/>
                <a:sym typeface="Quattrocento Sans"/>
              </a:rPr>
            </a:br>
            <a:r>
              <a:rPr lang="en-GB" sz="1300">
                <a:solidFill>
                  <a:schemeClr val="dk1"/>
                </a:solidFill>
                <a:latin typeface="Quattrocento Sans"/>
                <a:ea typeface="Quattrocento Sans"/>
                <a:cs typeface="Quattrocento Sans"/>
                <a:sym typeface="Quattrocento Sans"/>
              </a:rPr>
              <a:t>    }</a:t>
            </a:r>
            <a:br>
              <a:rPr lang="en-GB" sz="1300">
                <a:solidFill>
                  <a:schemeClr val="dk1"/>
                </a:solidFill>
                <a:latin typeface="Quattrocento Sans"/>
                <a:ea typeface="Quattrocento Sans"/>
                <a:cs typeface="Quattrocento Sans"/>
                <a:sym typeface="Quattrocento Sans"/>
              </a:rPr>
            </a:br>
            <a:r>
              <a:rPr lang="en-GB" sz="1300">
                <a:solidFill>
                  <a:schemeClr val="dk1"/>
                </a:solidFill>
                <a:latin typeface="Quattrocento Sans"/>
                <a:ea typeface="Quattrocento Sans"/>
                <a:cs typeface="Quattrocento Sans"/>
                <a:sym typeface="Quattrocento Sans"/>
              </a:rPr>
              <a:t>}</a:t>
            </a:r>
            <a:endParaRPr sz="1300"/>
          </a:p>
          <a:p>
            <a:pPr marL="0" marR="0" lvl="0" indent="0" algn="l" rtl="0">
              <a:spcBef>
                <a:spcPts val="0"/>
              </a:spcBef>
              <a:spcAft>
                <a:spcPts val="0"/>
              </a:spcAft>
              <a:buNone/>
            </a:pPr>
            <a:r>
              <a:rPr lang="en-GB" sz="1700" b="1">
                <a:solidFill>
                  <a:srgbClr val="FF0000"/>
                </a:solidFill>
                <a:latin typeface="Quattrocento Sans"/>
                <a:ea typeface="Quattrocento Sans"/>
                <a:cs typeface="Quattrocento Sans"/>
                <a:sym typeface="Quattrocento Sans"/>
              </a:rPr>
              <a:t>Unity has raycasting as part of some libraries for input and selection.</a:t>
            </a:r>
            <a:endParaRPr sz="17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Shape 283"/>
        <p:cNvGrpSpPr/>
        <p:nvPr/>
      </p:nvGrpSpPr>
      <p:grpSpPr>
        <a:xfrm>
          <a:off x="0" y="0"/>
          <a:ext cx="0" cy="0"/>
          <a:chOff x="0" y="0"/>
          <a:chExt cx="0" cy="0"/>
        </a:xfrm>
      </p:grpSpPr>
      <p:sp>
        <p:nvSpPr>
          <p:cNvPr id="284" name="Google Shape;284;p3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85" name="Google Shape;285;p33"/>
          <p:cNvSpPr txBox="1"/>
          <p:nvPr/>
        </p:nvSpPr>
        <p:spPr>
          <a:xfrm>
            <a:off x="609600" y="1421654"/>
            <a:ext cx="10890600" cy="59400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rgbClr val="FFFF00"/>
                </a:solidFill>
                <a:latin typeface="Quattrocento Sans"/>
                <a:ea typeface="Quattrocento Sans"/>
                <a:cs typeface="Quattrocento Sans"/>
                <a:sym typeface="Quattrocento Sans"/>
              </a:rPr>
              <a:t>Unity Scripted Movement (Not Animation Trigger)</a:t>
            </a:r>
            <a:endParaRPr lang="en-US" sz="3200"/>
          </a:p>
          <a:p>
            <a:pPr marL="0" marR="0" lvl="0" indent="0" algn="l" rtl="0">
              <a:spcBef>
                <a:spcPts val="0"/>
              </a:spcBef>
              <a:spcAft>
                <a:spcPts val="0"/>
              </a:spcAft>
              <a:buNone/>
            </a:pPr>
            <a:br>
              <a:rPr lang="en-GB" sz="1600" b="1">
                <a:latin typeface="Quattrocento Sans"/>
                <a:ea typeface="Quattrocento Sans"/>
                <a:cs typeface="Quattrocento Sans"/>
              </a:rPr>
            </a:br>
            <a:r>
              <a:rPr lang="en-GB" sz="3200" b="1">
                <a:solidFill>
                  <a:srgbClr val="FFFF00"/>
                </a:solidFill>
                <a:latin typeface="Quattrocento Sans"/>
                <a:ea typeface="Quattrocento Sans"/>
                <a:cs typeface="Quattrocento Sans"/>
                <a:sym typeface="Quattrocento Sans"/>
              </a:rPr>
              <a:t>Lerps – Linear increments</a:t>
            </a:r>
            <a:endParaRPr sz="3200" b="1">
              <a:solidFill>
                <a:srgbClr val="FFFF00"/>
              </a:solidFill>
              <a:latin typeface="Quattrocento Sans"/>
              <a:ea typeface="Quattrocento Sans"/>
              <a:cs typeface="Quattrocento Sans"/>
            </a:endParaRPr>
          </a:p>
          <a:p>
            <a:r>
              <a:rPr lang="en-GB" sz="2000" b="1" u="sng">
                <a:solidFill>
                  <a:schemeClr val="hlink"/>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https://gamedevbeginner.com/the-right-way-to-lerp-in-unity-with-examples/</a:t>
            </a:r>
            <a:r>
              <a:rPr lang="en-GB" sz="2000" b="1">
                <a:solidFill>
                  <a:srgbClr val="FFFF00"/>
                </a:solidFill>
                <a:latin typeface="Quattrocento Sans"/>
                <a:ea typeface="Quattrocento Sans"/>
                <a:cs typeface="Quattrocento Sans"/>
                <a:sym typeface="Quattrocento Sans"/>
              </a:rPr>
              <a:t> </a:t>
            </a:r>
            <a:endParaRPr sz="2000" b="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1600" b="1" u="sng">
                <a:solidFill>
                  <a:srgbClr val="FFFF00"/>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https://chicounity3d.wordpress.com/2014/05/23/how-to-lerp-like-a-pro/</a:t>
            </a:r>
            <a:endParaRPr sz="1600" b="1">
              <a:solidFill>
                <a:srgbClr val="FFFF00"/>
              </a:solidFill>
              <a:latin typeface="Quattrocento Sans"/>
              <a:ea typeface="Quattrocento Sans"/>
              <a:cs typeface="Quattrocento Sans"/>
            </a:endParaRPr>
          </a:p>
          <a:p>
            <a:pPr marL="0" marR="0" lvl="0" indent="0" algn="l" rtl="0">
              <a:spcBef>
                <a:spcPts val="0"/>
              </a:spcBef>
              <a:spcAft>
                <a:spcPts val="0"/>
              </a:spcAft>
              <a:buNone/>
            </a:pPr>
            <a:endParaRPr sz="3200" b="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3200" b="1">
                <a:solidFill>
                  <a:srgbClr val="FFFF00"/>
                </a:solidFill>
                <a:latin typeface="Quattrocento Sans"/>
                <a:ea typeface="Quattrocento Sans"/>
                <a:cs typeface="Quattrocento Sans"/>
                <a:sym typeface="Quattrocento Sans"/>
              </a:rPr>
              <a:t>Eases – Lerps can ease</a:t>
            </a:r>
            <a:endParaRPr sz="3200"/>
          </a:p>
          <a:p>
            <a:pPr marL="0" marR="0" lvl="0" indent="0" algn="l" rtl="0">
              <a:spcBef>
                <a:spcPts val="0"/>
              </a:spcBef>
              <a:spcAft>
                <a:spcPts val="0"/>
              </a:spcAft>
              <a:buNone/>
            </a:pPr>
            <a:endParaRPr sz="3200" b="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3200" b="1" err="1">
                <a:solidFill>
                  <a:srgbClr val="FFFF00"/>
                </a:solidFill>
                <a:latin typeface="Quattrocento Sans"/>
                <a:ea typeface="Quattrocento Sans"/>
                <a:cs typeface="Quattrocento Sans"/>
                <a:sym typeface="Quattrocento Sans"/>
              </a:rPr>
              <a:t>MoveTowards</a:t>
            </a:r>
            <a:br>
              <a:rPr lang="en-GB" sz="3200" b="1">
                <a:latin typeface="Quattrocento Sans"/>
                <a:ea typeface="Quattrocento Sans"/>
                <a:cs typeface="Quattrocento Sans"/>
              </a:rPr>
            </a:br>
            <a:r>
              <a:rPr lang="en-GB" sz="1600" b="1" u="sng">
                <a:solidFill>
                  <a:srgbClr val="FFFF00"/>
                </a:solidFill>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https://www.youtube.com/watch?v=oXKyqAltCgI</a:t>
            </a:r>
            <a:endParaRPr sz="1600" b="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000" b="1">
                <a:solidFill>
                  <a:srgbClr val="FF0000"/>
                </a:solidFill>
                <a:latin typeface="Quattrocento Sans"/>
                <a:ea typeface="Quattrocento Sans"/>
                <a:cs typeface="Quattrocento Sans"/>
                <a:sym typeface="Quattrocento Sans"/>
              </a:rPr>
              <a:t>All use Transform, Vector3, speed float, and </a:t>
            </a:r>
            <a:r>
              <a:rPr lang="en-GB" sz="2000" b="1" err="1">
                <a:solidFill>
                  <a:srgbClr val="FF0000"/>
                </a:solidFill>
                <a:latin typeface="Quattrocento Sans"/>
                <a:ea typeface="Quattrocento Sans"/>
                <a:cs typeface="Quattrocento Sans"/>
                <a:sym typeface="Quattrocento Sans"/>
              </a:rPr>
              <a:t>timedeltatime</a:t>
            </a:r>
            <a:endParaRPr sz="2000" b="1" err="1">
              <a:solidFill>
                <a:srgbClr val="FF0000"/>
              </a:solidFill>
              <a:latin typeface="Quattrocento Sans"/>
              <a:ea typeface="Quattrocento Sans"/>
              <a:cs typeface="Quattrocento Sans"/>
            </a:endParaRPr>
          </a:p>
          <a:p>
            <a:pPr marL="0" marR="0" lvl="0" indent="0" algn="l" rtl="0">
              <a:spcBef>
                <a:spcPts val="0"/>
              </a:spcBef>
              <a:spcAft>
                <a:spcPts val="0"/>
              </a:spcAft>
              <a:buNone/>
            </a:pPr>
            <a:r>
              <a:rPr lang="en-GB" sz="2000" b="1">
                <a:solidFill>
                  <a:srgbClr val="FF0000"/>
                </a:solidFill>
                <a:latin typeface="Quattrocento Sans"/>
                <a:ea typeface="Quattrocento Sans"/>
                <a:cs typeface="Quattrocento Sans"/>
                <a:sym typeface="Quattrocento Sans"/>
              </a:rPr>
              <a:t>Can wire up to UI Buttons</a:t>
            </a:r>
            <a:endParaRPr sz="2000"/>
          </a:p>
          <a:p>
            <a:pPr marL="0" marR="0" lvl="0" indent="0" algn="l" rtl="0">
              <a:spcBef>
                <a:spcPts val="0"/>
              </a:spcBef>
              <a:spcAft>
                <a:spcPts val="0"/>
              </a:spcAft>
              <a:buNone/>
            </a:pPr>
            <a:r>
              <a:rPr lang="en-GB" sz="2000" b="1">
                <a:solidFill>
                  <a:srgbClr val="FF0000"/>
                </a:solidFill>
                <a:latin typeface="Quattrocento Sans"/>
                <a:ea typeface="Quattrocento Sans"/>
                <a:cs typeface="Quattrocento Sans"/>
                <a:sym typeface="Quattrocento Sans"/>
              </a:rPr>
              <a:t>More when we look at camera controls</a:t>
            </a:r>
            <a:endParaRPr sz="2000"/>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Shape 290"/>
        <p:cNvGrpSpPr/>
        <p:nvPr/>
      </p:nvGrpSpPr>
      <p:grpSpPr>
        <a:xfrm>
          <a:off x="0" y="0"/>
          <a:ext cx="0" cy="0"/>
          <a:chOff x="0" y="0"/>
          <a:chExt cx="0" cy="0"/>
        </a:xfrm>
      </p:grpSpPr>
      <p:sp>
        <p:nvSpPr>
          <p:cNvPr id="291" name="Google Shape;291;p3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92" name="Google Shape;292;p34"/>
          <p:cNvSpPr txBox="1"/>
          <p:nvPr/>
        </p:nvSpPr>
        <p:spPr>
          <a:xfrm>
            <a:off x="609600" y="1421654"/>
            <a:ext cx="10890600" cy="6464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Scripted Movement (Not Animation Trigger)</a:t>
            </a:r>
            <a:endParaRPr/>
          </a:p>
          <a:p>
            <a:pPr marL="0" marR="0" lvl="0" indent="0" algn="l" rtl="0">
              <a:spcBef>
                <a:spcPts val="0"/>
              </a:spcBef>
              <a:spcAft>
                <a:spcPts val="0"/>
              </a:spcAft>
              <a:buNone/>
            </a:pPr>
            <a:br>
              <a:rPr lang="en-GB" sz="1800" b="1">
                <a:solidFill>
                  <a:srgbClr val="FFFF00"/>
                </a:solidFill>
                <a:latin typeface="Quattrocento Sans"/>
                <a:ea typeface="Quattrocento Sans"/>
                <a:cs typeface="Quattrocento Sans"/>
                <a:sym typeface="Quattrocento Sans"/>
              </a:rPr>
            </a:br>
            <a:r>
              <a:rPr lang="en-GB" sz="3600" b="1">
                <a:solidFill>
                  <a:srgbClr val="FFFF00"/>
                </a:solidFill>
                <a:latin typeface="Quattrocento Sans"/>
                <a:ea typeface="Quattrocento Sans"/>
                <a:cs typeface="Quattrocento Sans"/>
                <a:sym typeface="Quattrocento Sans"/>
              </a:rPr>
              <a:t>Lerp</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Linearly interpolates between two vectors.</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Interpolates between the vectors a and b by the interpolant t. The parameter t is clamped to the range [0, 1]. This is most commonly used to find a point some fraction of the way along a line between two endpoints (e.g. to move an object gradually between those points).</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When t = 0 returns a. When t = 1 returns b. When t = 0.5 returns the point midway between a and b.</a:t>
            </a:r>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This is the definitive lerp and easing reference:</a:t>
            </a: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u="sng">
                <a:solidFill>
                  <a:schemeClr val="hlink"/>
                </a:solidFill>
                <a:latin typeface="Quattrocento Sans"/>
                <a:ea typeface="Quattrocento Sans"/>
                <a:cs typeface="Quattrocento Sans"/>
                <a:sym typeface="Quattrocento Sans"/>
                <a:hlinkClick r:id="rId3"/>
              </a:rPr>
              <a:t>https://gamedevbeginner.com/the-right-way-to-lerp-in-unity-with-examples/</a:t>
            </a:r>
            <a:r>
              <a:rPr lang="en-GB" sz="2400" b="1">
                <a:solidFill>
                  <a:srgbClr val="FFFF00"/>
                </a:solidFill>
                <a:latin typeface="Quattrocento Sans"/>
                <a:ea typeface="Quattrocento Sans"/>
                <a:cs typeface="Quattrocento Sans"/>
                <a:sym typeface="Quattrocento Sans"/>
              </a:rPr>
              <a:t> </a:t>
            </a: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u="sng">
                <a:solidFill>
                  <a:srgbClr val="FFFF00"/>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https://chicounity3d.wordpress.com/2014/05/23/how-to-lerp-like-a-pro/</a:t>
            </a: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Shape 297"/>
        <p:cNvGrpSpPr/>
        <p:nvPr/>
      </p:nvGrpSpPr>
      <p:grpSpPr>
        <a:xfrm>
          <a:off x="0" y="0"/>
          <a:ext cx="0" cy="0"/>
          <a:chOff x="0" y="0"/>
          <a:chExt cx="0" cy="0"/>
        </a:xfrm>
      </p:grpSpPr>
      <p:sp>
        <p:nvSpPr>
          <p:cNvPr id="298" name="Google Shape;298;p3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99" name="Google Shape;299;p35"/>
          <p:cNvSpPr txBox="1"/>
          <p:nvPr/>
        </p:nvSpPr>
        <p:spPr>
          <a:xfrm>
            <a:off x="609600" y="1421654"/>
            <a:ext cx="10890738" cy="609397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Scripted Movement (Not Animation Trigger)</a:t>
            </a:r>
            <a:endParaRPr/>
          </a:p>
          <a:p>
            <a:pPr marL="0" marR="0" lvl="0" indent="0" algn="l" rtl="0">
              <a:spcBef>
                <a:spcPts val="0"/>
              </a:spcBef>
              <a:spcAft>
                <a:spcPts val="0"/>
              </a:spcAft>
              <a:buNone/>
            </a:pPr>
            <a:br>
              <a:rPr lang="en-GB" sz="1800" b="1">
                <a:solidFill>
                  <a:srgbClr val="FFFF00"/>
                </a:solidFill>
                <a:latin typeface="Quattrocento Sans"/>
                <a:ea typeface="Quattrocento Sans"/>
                <a:cs typeface="Quattrocento Sans"/>
                <a:sym typeface="Quattrocento Sans"/>
              </a:rPr>
            </a:br>
            <a:r>
              <a:rPr lang="en-GB" sz="3600" b="1">
                <a:solidFill>
                  <a:srgbClr val="FFFF00"/>
                </a:solidFill>
                <a:latin typeface="Quattrocento Sans"/>
                <a:ea typeface="Quattrocento Sans"/>
                <a:cs typeface="Quattrocento Sans"/>
                <a:sym typeface="Quattrocento Sans"/>
              </a:rPr>
              <a:t>Lerp Practical Example:</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Tap to Move:</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Vector3 from = new Vector3 (1f, 2f, 3f);</a:t>
            </a:r>
            <a:br>
              <a:rPr lang="en-GB" sz="1800">
                <a:solidFill>
                  <a:schemeClr val="dk1"/>
                </a:solidFill>
                <a:latin typeface="Quattrocento Sans"/>
                <a:ea typeface="Quattrocento Sans"/>
                <a:cs typeface="Quattrocento Sans"/>
                <a:sym typeface="Quattrocento Sans"/>
              </a:rPr>
            </a:br>
            <a:r>
              <a:rPr lang="en-GB" sz="1800">
                <a:solidFill>
                  <a:schemeClr val="dk1"/>
                </a:solidFill>
                <a:latin typeface="Quattrocento Sans"/>
                <a:ea typeface="Quattrocento Sans"/>
                <a:cs typeface="Quattrocento Sans"/>
                <a:sym typeface="Quattrocento Sans"/>
              </a:rPr>
              <a:t>Vector3 to = new Vector3 (5f, 6f, 7f);</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Here result = (4, 5, 6)</a:t>
            </a:r>
            <a:br>
              <a:rPr lang="en-GB" sz="1800">
                <a:solidFill>
                  <a:schemeClr val="dk1"/>
                </a:solidFill>
                <a:latin typeface="Quattrocento Sans"/>
                <a:ea typeface="Quattrocento Sans"/>
                <a:cs typeface="Quattrocento Sans"/>
                <a:sym typeface="Quattrocento Sans"/>
              </a:rPr>
            </a:br>
            <a:r>
              <a:rPr lang="en-GB" sz="1800">
                <a:solidFill>
                  <a:schemeClr val="dk1"/>
                </a:solidFill>
                <a:latin typeface="Quattrocento Sans"/>
                <a:ea typeface="Quattrocento Sans"/>
                <a:cs typeface="Quattrocento Sans"/>
                <a:sym typeface="Quattrocento Sans"/>
              </a:rPr>
              <a:t>Vector3 result = </a:t>
            </a:r>
            <a:r>
              <a:rPr lang="en-GB" sz="18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Vector3.Lerp</a:t>
            </a:r>
            <a:r>
              <a:rPr lang="en-GB" sz="1800">
                <a:solidFill>
                  <a:schemeClr val="dk1"/>
                </a:solidFill>
                <a:latin typeface="Quattrocento Sans"/>
                <a:ea typeface="Quattrocento Sans"/>
                <a:cs typeface="Quattrocento Sans"/>
                <a:sym typeface="Quattrocento Sans"/>
              </a:rPr>
              <a:t> (from, to, 0.75f);</a:t>
            </a:r>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Shape 304"/>
        <p:cNvGrpSpPr/>
        <p:nvPr/>
      </p:nvGrpSpPr>
      <p:grpSpPr>
        <a:xfrm>
          <a:off x="0" y="0"/>
          <a:ext cx="0" cy="0"/>
          <a:chOff x="0" y="0"/>
          <a:chExt cx="0" cy="0"/>
        </a:xfrm>
      </p:grpSpPr>
      <p:sp>
        <p:nvSpPr>
          <p:cNvPr id="305" name="Google Shape;305;p3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06" name="Google Shape;306;p36"/>
          <p:cNvSpPr txBox="1"/>
          <p:nvPr/>
        </p:nvSpPr>
        <p:spPr>
          <a:xfrm>
            <a:off x="609600" y="1225009"/>
            <a:ext cx="10890738" cy="73866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000">
                <a:solidFill>
                  <a:srgbClr val="FFFF00"/>
                </a:solidFill>
                <a:latin typeface="Consolas"/>
                <a:ea typeface="Consolas"/>
                <a:cs typeface="Consolas"/>
                <a:sym typeface="Consolas"/>
              </a:rPr>
              <a:t>public class Lerping : MonoBehaviour</a:t>
            </a:r>
            <a:endParaRPr sz="1000">
              <a:solidFill>
                <a:srgbClr val="FFFF00"/>
              </a:solidFill>
              <a:latin typeface="Consolas"/>
              <a:ea typeface="Consolas"/>
              <a:cs typeface="Consolas"/>
              <a:sym typeface="Consolas"/>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float lerpTime = 1f;</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float currentLerpTime;</a:t>
            </a:r>
            <a:endParaRPr/>
          </a:p>
          <a:p>
            <a:pPr marL="0" marR="0" lvl="0" indent="0" algn="l" rtl="0">
              <a:spcBef>
                <a:spcPts val="0"/>
              </a:spcBef>
              <a:spcAft>
                <a:spcPts val="0"/>
              </a:spcAft>
              <a:buNone/>
            </a:pPr>
            <a:endParaRPr sz="1000">
              <a:solidFill>
                <a:srgbClr val="FFFF00"/>
              </a:solidFill>
              <a:latin typeface="Consolas"/>
              <a:ea typeface="Consolas"/>
              <a:cs typeface="Consolas"/>
              <a:sym typeface="Consolas"/>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float moveDistance = 1f;</a:t>
            </a:r>
            <a:endParaRPr/>
          </a:p>
          <a:p>
            <a:pPr marL="0" marR="0" lvl="0" indent="0" algn="l" rtl="0">
              <a:spcBef>
                <a:spcPts val="0"/>
              </a:spcBef>
              <a:spcAft>
                <a:spcPts val="0"/>
              </a:spcAft>
              <a:buNone/>
            </a:pPr>
            <a:endParaRPr sz="1000">
              <a:solidFill>
                <a:srgbClr val="FFFF00"/>
              </a:solidFill>
              <a:latin typeface="Consolas"/>
              <a:ea typeface="Consolas"/>
              <a:cs typeface="Consolas"/>
              <a:sym typeface="Consolas"/>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Vector3 startPos;</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Vector3 endPos;</a:t>
            </a:r>
            <a:endParaRPr/>
          </a:p>
          <a:p>
            <a:pPr marL="0" marR="0" lvl="0" indent="0" algn="l" rtl="0">
              <a:spcBef>
                <a:spcPts val="0"/>
              </a:spcBef>
              <a:spcAft>
                <a:spcPts val="0"/>
              </a:spcAft>
              <a:buNone/>
            </a:pPr>
            <a:endParaRPr sz="1000">
              <a:solidFill>
                <a:srgbClr val="FFFF00"/>
              </a:solidFill>
              <a:latin typeface="Consolas"/>
              <a:ea typeface="Consolas"/>
              <a:cs typeface="Consolas"/>
              <a:sym typeface="Consolas"/>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protected void Start()</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startPos = transform.position;</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endPos = transform.position + transform.up * moveDistance;</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a:t>
            </a:r>
            <a:endParaRPr/>
          </a:p>
          <a:p>
            <a:pPr marL="0" marR="0" lvl="0" indent="0" algn="l" rtl="0">
              <a:spcBef>
                <a:spcPts val="0"/>
              </a:spcBef>
              <a:spcAft>
                <a:spcPts val="0"/>
              </a:spcAft>
              <a:buNone/>
            </a:pPr>
            <a:endParaRPr sz="1000">
              <a:solidFill>
                <a:srgbClr val="FFFF00"/>
              </a:solidFill>
              <a:latin typeface="Consolas"/>
              <a:ea typeface="Consolas"/>
              <a:cs typeface="Consolas"/>
              <a:sym typeface="Consolas"/>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protected void Update()</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//reset when we press spacebar</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if (Input.GetKeyDown(KeyCode.Space))</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currentLerpTime = 0f;</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a:t>
            </a:r>
            <a:endParaRPr/>
          </a:p>
          <a:p>
            <a:pPr marL="0" marR="0" lvl="0" indent="0" algn="l" rtl="0">
              <a:spcBef>
                <a:spcPts val="0"/>
              </a:spcBef>
              <a:spcAft>
                <a:spcPts val="0"/>
              </a:spcAft>
              <a:buNone/>
            </a:pPr>
            <a:endParaRPr sz="1000">
              <a:solidFill>
                <a:srgbClr val="FFFF00"/>
              </a:solidFill>
              <a:latin typeface="Consolas"/>
              <a:ea typeface="Consolas"/>
              <a:cs typeface="Consolas"/>
              <a:sym typeface="Consolas"/>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//increment timer once per frame</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currentLerpTime += Time.deltaTime;</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if (currentLerpTime &gt; lerpTime)</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currentLerpTime = lerpTime;</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a:t>
            </a:r>
            <a:endParaRPr/>
          </a:p>
          <a:p>
            <a:pPr marL="0" marR="0" lvl="0" indent="0" algn="l" rtl="0">
              <a:spcBef>
                <a:spcPts val="0"/>
              </a:spcBef>
              <a:spcAft>
                <a:spcPts val="0"/>
              </a:spcAft>
              <a:buNone/>
            </a:pPr>
            <a:endParaRPr sz="1000">
              <a:solidFill>
                <a:srgbClr val="FFFF00"/>
              </a:solidFill>
              <a:latin typeface="Consolas"/>
              <a:ea typeface="Consolas"/>
              <a:cs typeface="Consolas"/>
              <a:sym typeface="Consolas"/>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//lerp!</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float perc = currentLerpTime / lerpTime;</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transform.position = Vector3.Lerp(startPos, endPos, perc);</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    }</a:t>
            </a:r>
            <a:endParaRPr/>
          </a:p>
          <a:p>
            <a:pPr marL="0" marR="0" lvl="0" indent="0" algn="l" rtl="0">
              <a:spcBef>
                <a:spcPts val="0"/>
              </a:spcBef>
              <a:spcAft>
                <a:spcPts val="0"/>
              </a:spcAft>
              <a:buNone/>
            </a:pPr>
            <a:r>
              <a:rPr lang="en-GB" sz="1000">
                <a:solidFill>
                  <a:srgbClr val="FFFF00"/>
                </a:solidFill>
                <a:latin typeface="Consolas"/>
                <a:ea typeface="Consolas"/>
                <a:cs typeface="Consolas"/>
                <a:sym typeface="Consolas"/>
              </a:rPr>
              <a:t>}</a:t>
            </a:r>
            <a:endParaRPr sz="10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rgbClr val="FFFF00"/>
                </a:solidFill>
                <a:latin typeface="Quattrocento Sans"/>
                <a:ea typeface="Quattrocento Sans"/>
                <a:cs typeface="Quattrocento Sans"/>
                <a:sym typeface="Quattrocento Sans"/>
              </a:rPr>
              <a:t> </a:t>
            </a: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Shape 311"/>
        <p:cNvGrpSpPr/>
        <p:nvPr/>
      </p:nvGrpSpPr>
      <p:grpSpPr>
        <a:xfrm>
          <a:off x="0" y="0"/>
          <a:ext cx="0" cy="0"/>
          <a:chOff x="0" y="0"/>
          <a:chExt cx="0" cy="0"/>
        </a:xfrm>
      </p:grpSpPr>
      <p:sp>
        <p:nvSpPr>
          <p:cNvPr id="312" name="Google Shape;312;p3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13" name="Google Shape;313;p37"/>
          <p:cNvSpPr txBox="1"/>
          <p:nvPr/>
        </p:nvSpPr>
        <p:spPr>
          <a:xfrm>
            <a:off x="609600" y="1421654"/>
            <a:ext cx="10890738" cy="59093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Scripted Movement (Not Animation Trigger)</a:t>
            </a:r>
            <a:endParaRPr/>
          </a:p>
          <a:p>
            <a:pPr marL="0" marR="0" lvl="0" indent="0" algn="l" rtl="0">
              <a:spcBef>
                <a:spcPts val="0"/>
              </a:spcBef>
              <a:spcAft>
                <a:spcPts val="0"/>
              </a:spcAft>
              <a:buNone/>
            </a:pPr>
            <a:br>
              <a:rPr lang="en-GB" sz="1800" b="1">
                <a:solidFill>
                  <a:srgbClr val="FFFF00"/>
                </a:solidFill>
                <a:latin typeface="Quattrocento Sans"/>
                <a:ea typeface="Quattrocento Sans"/>
                <a:cs typeface="Quattrocento Sans"/>
                <a:sym typeface="Quattrocento Sans"/>
              </a:rPr>
            </a:br>
            <a:r>
              <a:rPr lang="en-GB" sz="3600" b="1">
                <a:solidFill>
                  <a:srgbClr val="FFFF00"/>
                </a:solidFill>
                <a:latin typeface="Quattrocento Sans"/>
                <a:ea typeface="Quattrocento Sans"/>
                <a:cs typeface="Quattrocento Sans"/>
                <a:sym typeface="Quattrocento Sans"/>
              </a:rPr>
              <a:t>MoveTowards</a:t>
            </a: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Moves a point current in a straight line towards a target point.</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The value returned by this function is a point maxDistanceDelta units closer to a target/ point along a line between current and target. If the target is closer than maxDistanceDelta/ then the returned value will be equal to target (ie, the movement will not overshoot the target). Negative values of maxDistanceDelta can be used to push the point away from the target.</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u="sng">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https://www.youtube.com/watch?v=oXKyqAltCgI</a:t>
            </a: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u="sng">
                <a:solidFill>
                  <a:srgbClr val="FFFF00"/>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https://docs.unity3d.com/ScriptReference/Vector3.MoveTowards.html</a:t>
            </a: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Shape 318"/>
        <p:cNvGrpSpPr/>
        <p:nvPr/>
      </p:nvGrpSpPr>
      <p:grpSpPr>
        <a:xfrm>
          <a:off x="0" y="0"/>
          <a:ext cx="0" cy="0"/>
          <a:chOff x="0" y="0"/>
          <a:chExt cx="0" cy="0"/>
        </a:xfrm>
      </p:grpSpPr>
      <p:sp>
        <p:nvSpPr>
          <p:cNvPr id="319" name="Google Shape;319;p3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20" name="Google Shape;320;p38"/>
          <p:cNvSpPr txBox="1"/>
          <p:nvPr/>
        </p:nvSpPr>
        <p:spPr>
          <a:xfrm>
            <a:off x="609600" y="1421654"/>
            <a:ext cx="10890738"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Scripted Movement (Not Animation Trigger)</a:t>
            </a:r>
            <a:endParaRPr/>
          </a:p>
          <a:p>
            <a:pPr marL="0" marR="0" lvl="0" indent="0" algn="l" rtl="0">
              <a:spcBef>
                <a:spcPts val="0"/>
              </a:spcBef>
              <a:spcAft>
                <a:spcPts val="0"/>
              </a:spcAft>
              <a:buNone/>
            </a:pPr>
            <a:br>
              <a:rPr lang="en-GB" sz="1800" b="1">
                <a:solidFill>
                  <a:srgbClr val="FFFF00"/>
                </a:solidFill>
                <a:latin typeface="Quattrocento Sans"/>
                <a:ea typeface="Quattrocento Sans"/>
                <a:cs typeface="Quattrocento Sans"/>
                <a:sym typeface="Quattrocento Sans"/>
              </a:rPr>
            </a:br>
            <a:r>
              <a:rPr lang="en-GB" sz="3600" b="1">
                <a:solidFill>
                  <a:srgbClr val="FFFF00"/>
                </a:solidFill>
                <a:latin typeface="Quattrocento Sans"/>
                <a:ea typeface="Quattrocento Sans"/>
                <a:cs typeface="Quattrocento Sans"/>
                <a:sym typeface="Quattrocento Sans"/>
              </a:rPr>
              <a:t>Look At</a:t>
            </a:r>
            <a:endParaRPr/>
          </a:p>
          <a:p>
            <a:pPr marL="0" marR="0" lvl="0" indent="0" algn="l" rtl="0">
              <a:spcBef>
                <a:spcPts val="0"/>
              </a:spcBef>
              <a:spcAft>
                <a:spcPts val="0"/>
              </a:spcAft>
              <a:buNone/>
            </a:pPr>
            <a:endParaRPr sz="1800">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chemeClr val="dk1"/>
                </a:solidFill>
                <a:latin typeface="Quattrocento Sans"/>
                <a:ea typeface="Quattrocento Sans"/>
                <a:cs typeface="Quattrocento Sans"/>
                <a:sym typeface="Quattrocento Sans"/>
              </a:rPr>
              <a:t>Handles rotation orientation and camera interest animation to object</a:t>
            </a:r>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https://unity3d.com/learn/tutorials/topics/scripting/look?playlist=17117</a:t>
            </a: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u="sng">
                <a:solidFill>
                  <a:schemeClr val="dk1"/>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https://docs.unity3d.com/ScriptReference/Transform.LookAt.html</a:t>
            </a: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u="sng">
                <a:solidFill>
                  <a:schemeClr val="dk1"/>
                </a:solidFill>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https://docs.unity3d.com/ScriptReference/Vector3.Distance.html</a:t>
            </a: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chemeClr val="dk1"/>
                </a:solidFill>
                <a:latin typeface="Quattrocento Sans"/>
                <a:ea typeface="Quattrocento Sans"/>
                <a:cs typeface="Quattrocento Sans"/>
                <a:sym typeface="Quattrocento Sans"/>
              </a:rPr>
              <a:t>Will be useful in Waypoint Cameras with swapped out targets</a:t>
            </a:r>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Shape 325"/>
        <p:cNvGrpSpPr/>
        <p:nvPr/>
      </p:nvGrpSpPr>
      <p:grpSpPr>
        <a:xfrm>
          <a:off x="0" y="0"/>
          <a:ext cx="0" cy="0"/>
          <a:chOff x="0" y="0"/>
          <a:chExt cx="0" cy="0"/>
        </a:xfrm>
      </p:grpSpPr>
      <p:sp>
        <p:nvSpPr>
          <p:cNvPr id="326" name="Google Shape;326;p39"/>
          <p:cNvSpPr txBox="1"/>
          <p:nvPr/>
        </p:nvSpPr>
        <p:spPr>
          <a:xfrm>
            <a:off x="609600" y="1412776"/>
            <a:ext cx="10972800" cy="47397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rgbClr val="FFFF00"/>
                </a:solidFill>
                <a:latin typeface="Quattrocento Sans"/>
                <a:ea typeface="Quattrocento Sans"/>
                <a:cs typeface="Quattrocento Sans"/>
                <a:sym typeface="Quattrocento Sans"/>
              </a:rPr>
              <a:t>Unity Input and Movement</a:t>
            </a:r>
            <a:endParaRPr sz="18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Input and Movement – Seen with Week 2 and Noor tutorials – week 7</a:t>
            </a:r>
            <a:endParaRPr/>
          </a:p>
          <a:p>
            <a:pPr marL="0" marR="0" lvl="0" indent="0" algn="l" rtl="0">
              <a:spcBef>
                <a:spcPts val="0"/>
              </a:spcBef>
              <a:spcAft>
                <a:spcPts val="0"/>
              </a:spcAft>
              <a:buNone/>
            </a:pP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Try adding Animation Movement Scripting:</a:t>
            </a:r>
            <a:endParaRPr/>
          </a:p>
          <a:p>
            <a:pPr marL="0" marR="0" lvl="0" indent="0" algn="l" rtl="0">
              <a:spcBef>
                <a:spcPts val="0"/>
              </a:spcBef>
              <a:spcAft>
                <a:spcPts val="0"/>
              </a:spcAft>
              <a:buNone/>
            </a:pPr>
            <a:endParaRPr sz="1800" b="1">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1800" b="1" i="0" u="none" strike="noStrike" cap="none">
                <a:solidFill>
                  <a:srgbClr val="FFFF00"/>
                </a:solidFill>
                <a:latin typeface="Quattrocento Sans"/>
                <a:ea typeface="Quattrocento Sans"/>
                <a:cs typeface="Quattrocento Sans"/>
                <a:sym typeface="Quattrocento Sans"/>
              </a:rPr>
              <a:t>Unity UI and movement scripting</a:t>
            </a:r>
            <a:endParaRPr/>
          </a:p>
          <a:p>
            <a:pPr marL="457200" marR="0" lvl="1" indent="0" algn="l" rtl="0">
              <a:spcBef>
                <a:spcPts val="0"/>
              </a:spcBef>
              <a:spcAft>
                <a:spcPts val="0"/>
              </a:spcAft>
              <a:buNone/>
            </a:pPr>
            <a:r>
              <a:rPr lang="en-GB" sz="1800" b="1" i="0" u="none" strike="noStrike" cap="none">
                <a:solidFill>
                  <a:schemeClr val="dk1"/>
                </a:solidFill>
                <a:latin typeface="Quattrocento Sans"/>
                <a:ea typeface="Quattrocento Sans"/>
                <a:cs typeface="Quattrocento Sans"/>
                <a:sym typeface="Quattrocento Sans"/>
              </a:rPr>
              <a:t>	Lerp</a:t>
            </a:r>
            <a:endParaRPr/>
          </a:p>
          <a:p>
            <a:pPr marL="457200" marR="0" lvl="1" indent="0" algn="l" rtl="0">
              <a:spcBef>
                <a:spcPts val="0"/>
              </a:spcBef>
              <a:spcAft>
                <a:spcPts val="0"/>
              </a:spcAft>
              <a:buNone/>
            </a:pPr>
            <a:r>
              <a:rPr lang="en-GB" sz="1800" b="1" i="0" u="none" strike="noStrike" cap="none">
                <a:solidFill>
                  <a:schemeClr val="dk1"/>
                </a:solidFill>
                <a:latin typeface="Quattrocento Sans"/>
                <a:ea typeface="Quattrocento Sans"/>
                <a:cs typeface="Quattrocento Sans"/>
                <a:sym typeface="Quattrocento Sans"/>
              </a:rPr>
              <a:t>	Movetowards</a:t>
            </a:r>
            <a:endParaRPr sz="1800" b="1"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1800" b="1" i="0" u="none" strike="noStrike" cap="none">
                <a:solidFill>
                  <a:schemeClr val="dk1"/>
                </a:solidFill>
                <a:latin typeface="Quattrocento Sans"/>
                <a:ea typeface="Quattrocento Sans"/>
                <a:cs typeface="Quattrocento Sans"/>
                <a:sym typeface="Quattrocento Sans"/>
              </a:rPr>
              <a:t>	Eases</a:t>
            </a:r>
            <a:endParaRPr/>
          </a:p>
          <a:p>
            <a:pPr marL="457200" marR="0" lvl="1" indent="0" algn="l" rtl="0">
              <a:spcBef>
                <a:spcPts val="0"/>
              </a:spcBef>
              <a:spcAft>
                <a:spcPts val="0"/>
              </a:spcAft>
              <a:buNone/>
            </a:pPr>
            <a:r>
              <a:rPr lang="en-GB" sz="1800" b="1" i="0" u="none" strike="noStrike" cap="none">
                <a:solidFill>
                  <a:schemeClr val="dk1"/>
                </a:solidFill>
                <a:latin typeface="Quattrocento Sans"/>
                <a:ea typeface="Quattrocento Sans"/>
                <a:cs typeface="Quattrocento Sans"/>
                <a:sym typeface="Quattrocento Sans"/>
              </a:rPr>
              <a:t>	Look At</a:t>
            </a:r>
            <a:endParaRPr/>
          </a:p>
          <a:p>
            <a:pPr marL="457200" marR="0" lvl="1" indent="0" algn="l" rtl="0">
              <a:spcBef>
                <a:spcPts val="0"/>
              </a:spcBef>
              <a:spcAft>
                <a:spcPts val="0"/>
              </a:spcAft>
              <a:buNone/>
            </a:pPr>
            <a:r>
              <a:rPr lang="en-GB" sz="1800" b="1" i="0" u="none" strike="noStrike" cap="none">
                <a:solidFill>
                  <a:schemeClr val="dk1"/>
                </a:solidFill>
                <a:latin typeface="Quattrocento Sans"/>
                <a:ea typeface="Quattrocento Sans"/>
                <a:cs typeface="Quattrocento Sans"/>
                <a:sym typeface="Quattrocento Sans"/>
              </a:rPr>
              <a:t>	</a:t>
            </a:r>
            <a:endParaRPr/>
          </a:p>
          <a:p>
            <a:pPr marL="457200" marR="0" lvl="1" indent="0" algn="l" rtl="0">
              <a:spcBef>
                <a:spcPts val="0"/>
              </a:spcBef>
              <a:spcAft>
                <a:spcPts val="0"/>
              </a:spcAft>
              <a:buNone/>
            </a:pPr>
            <a:r>
              <a:rPr lang="en-GB" sz="1800" b="1" i="0" u="none" strike="noStrike" cap="none">
                <a:solidFill>
                  <a:srgbClr val="FFFF00"/>
                </a:solidFill>
                <a:latin typeface="Quattrocento Sans"/>
                <a:ea typeface="Quattrocento Sans"/>
                <a:cs typeface="Quattrocento Sans"/>
                <a:sym typeface="Quattrocento Sans"/>
              </a:rPr>
              <a:t>Navigation – Prefabs 3PC, FPC, Animator for player</a:t>
            </a:r>
            <a:endParaRPr/>
          </a:p>
          <a:p>
            <a:pPr marL="457200" marR="0" lvl="1" indent="0" algn="l" rtl="0">
              <a:spcBef>
                <a:spcPts val="0"/>
              </a:spcBef>
              <a:spcAft>
                <a:spcPts val="0"/>
              </a:spcAft>
              <a:buNone/>
            </a:pPr>
            <a:r>
              <a:rPr lang="en-GB" sz="1800" b="1" i="0" u="none" strike="noStrike" cap="none">
                <a:solidFill>
                  <a:schemeClr val="dk1"/>
                </a:solidFill>
                <a:latin typeface="Quattrocento Sans"/>
                <a:ea typeface="Quattrocento Sans"/>
                <a:cs typeface="Quattrocento Sans"/>
                <a:sym typeface="Quattrocento Sans"/>
              </a:rPr>
              <a:t>	TGC</a:t>
            </a:r>
            <a:endParaRPr/>
          </a:p>
          <a:p>
            <a:pPr marL="457200" marR="0" lvl="1" indent="0" algn="l" rtl="0">
              <a:spcBef>
                <a:spcPts val="0"/>
              </a:spcBef>
              <a:spcAft>
                <a:spcPts val="0"/>
              </a:spcAft>
              <a:buNone/>
            </a:pPr>
            <a:r>
              <a:rPr lang="en-GB" sz="1800" b="1" i="0" u="none" strike="noStrike" cap="none">
                <a:solidFill>
                  <a:schemeClr val="dk1"/>
                </a:solidFill>
                <a:latin typeface="Quattrocento Sans"/>
                <a:ea typeface="Quattrocento Sans"/>
                <a:cs typeface="Quattrocento Sans"/>
                <a:sym typeface="Quattrocento Sans"/>
              </a:rPr>
              <a:t>	Other</a:t>
            </a:r>
            <a:endParaRPr/>
          </a:p>
          <a:p>
            <a:pPr marL="457200" marR="0" lvl="1" indent="0" algn="l" rtl="0">
              <a:spcBef>
                <a:spcPts val="0"/>
              </a:spcBef>
              <a:spcAft>
                <a:spcPts val="0"/>
              </a:spcAft>
              <a:buNone/>
            </a:pPr>
            <a:r>
              <a:rPr lang="en-GB" sz="1800" b="1" i="0" u="none" strike="noStrike" cap="none">
                <a:solidFill>
                  <a:schemeClr val="dk1"/>
                </a:solidFill>
                <a:latin typeface="Quattrocento Sans"/>
                <a:ea typeface="Quattrocento Sans"/>
                <a:cs typeface="Quattrocento Sans"/>
                <a:sym typeface="Quattrocento Sans"/>
              </a:rPr>
              <a:t>	We will cover camera coding in a future lecture</a:t>
            </a:r>
            <a:endParaRPr/>
          </a:p>
        </p:txBody>
      </p:sp>
      <p:sp>
        <p:nvSpPr>
          <p:cNvPr id="327" name="Google Shape;327;p3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Tree>
  </p:cSld>
  <p:clrMapOvr>
    <a:masterClrMapping/>
  </p:clrMapOvr>
</p:sld>
</file>

<file path=ppt/theme/theme1.xml><?xml version="1.0" encoding="utf-8"?>
<a:theme xmlns:a="http://schemas.openxmlformats.org/drawingml/2006/main" name="1_Office Theme">
  <a:themeElements>
    <a:clrScheme name="Metro">
      <a:dk1>
        <a:srgbClr val="FFFFFF"/>
      </a:dk1>
      <a:lt1>
        <a:srgbClr val="1F497D"/>
      </a:lt1>
      <a:dk2>
        <a:srgbClr val="FFFFFF"/>
      </a:dk2>
      <a:lt2>
        <a:srgbClr val="1F497D"/>
      </a:lt2>
      <a:accent1>
        <a:srgbClr val="E8402E"/>
      </a:accent1>
      <a:accent2>
        <a:srgbClr val="C0504D"/>
      </a:accent2>
      <a:accent3>
        <a:srgbClr val="9BBB59"/>
      </a:accent3>
      <a:accent4>
        <a:srgbClr val="8064A2"/>
      </a:accent4>
      <a:accent5>
        <a:srgbClr val="4BACC6"/>
      </a:accent5>
      <a:accent6>
        <a:srgbClr val="F79646"/>
      </a:accent6>
      <a:hlink>
        <a:srgbClr val="FFFFFF"/>
      </a:hlink>
      <a:folHlink>
        <a:srgbClr val="C6D9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55</Slides>
  <Notes>55</Notes>
  <HiddenSlides>11</HiddenSlide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1_Office Theme</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Interactive Media Development</dc:title>
  <dc:creator>jeff ferguson</dc:creator>
  <cp:revision>706</cp:revision>
  <dcterms:created xsi:type="dcterms:W3CDTF">2016-10-08T10:37:01Z</dcterms:created>
  <dcterms:modified xsi:type="dcterms:W3CDTF">2025-11-11T08:32:50Z</dcterms:modified>
</cp:coreProperties>
</file>