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7"/>
  </p:notesMasterIdLst>
  <p:sldIdLst>
    <p:sldId id="256" r:id="rId2"/>
    <p:sldId id="257" r:id="rId3"/>
    <p:sldId id="258" r:id="rId4"/>
    <p:sldId id="259" r:id="rId5"/>
    <p:sldId id="260" r:id="rId6"/>
    <p:sldId id="261" r:id="rId7"/>
    <p:sldId id="262" r:id="rId8"/>
    <p:sldId id="263" r:id="rId9"/>
    <p:sldId id="264" r:id="rId10"/>
    <p:sldId id="265" r:id="rId11"/>
    <p:sldId id="328" r:id="rId12"/>
    <p:sldId id="329" r:id="rId13"/>
    <p:sldId id="330" r:id="rId14"/>
    <p:sldId id="332" r:id="rId15"/>
    <p:sldId id="331" r:id="rId16"/>
    <p:sldId id="266" r:id="rId17"/>
    <p:sldId id="267" r:id="rId18"/>
    <p:sldId id="268" r:id="rId19"/>
    <p:sldId id="270" r:id="rId20"/>
    <p:sldId id="269" r:id="rId21"/>
    <p:sldId id="271" r:id="rId22"/>
    <p:sldId id="272" r:id="rId23"/>
    <p:sldId id="273" r:id="rId24"/>
    <p:sldId id="274" r:id="rId25"/>
    <p:sldId id="275" r:id="rId26"/>
    <p:sldId id="276" r:id="rId27"/>
    <p:sldId id="277" r:id="rId28"/>
    <p:sldId id="278" r:id="rId29"/>
    <p:sldId id="279" r:id="rId30"/>
    <p:sldId id="280" r:id="rId31"/>
    <p:sldId id="327" r:id="rId32"/>
    <p:sldId id="320" r:id="rId33"/>
    <p:sldId id="283" r:id="rId34"/>
    <p:sldId id="321" r:id="rId35"/>
    <p:sldId id="281" r:id="rId36"/>
    <p:sldId id="284" r:id="rId37"/>
    <p:sldId id="285" r:id="rId38"/>
    <p:sldId id="286" r:id="rId39"/>
    <p:sldId id="289" r:id="rId40"/>
    <p:sldId id="288" r:id="rId41"/>
    <p:sldId id="322" r:id="rId42"/>
    <p:sldId id="290" r:id="rId43"/>
    <p:sldId id="324" r:id="rId44"/>
    <p:sldId id="326" r:id="rId45"/>
    <p:sldId id="292" r:id="rId46"/>
    <p:sldId id="323" r:id="rId47"/>
    <p:sldId id="291" r:id="rId48"/>
    <p:sldId id="325"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 id="315" r:id="rId72"/>
    <p:sldId id="316" r:id="rId73"/>
    <p:sldId id="317" r:id="rId74"/>
    <p:sldId id="318" r:id="rId75"/>
    <p:sldId id="319" r:id="rId76"/>
  </p:sldIdLst>
  <p:sldSz cx="12192000" cy="6858000"/>
  <p:notesSz cx="6858000" cy="9144000"/>
  <p:embeddedFontLst>
    <p:embeddedFont>
      <p:font typeface="Quattrocento Sans" panose="020B0502050000020003" pitchFamily="34" charset="0"/>
      <p:regular r:id="rId78"/>
      <p:bold r:id="rId79"/>
      <p:italic r:id="rId80"/>
      <p:boldItalic r:id="rId81"/>
    </p:embeddedFont>
    <p:embeddedFont>
      <p:font typeface="Verdana" panose="020B0604030504040204" pitchFamily="34" charset="0"/>
      <p:regular r:id="rId82"/>
      <p:bold r:id="rId83"/>
      <p:italic r:id="rId84"/>
      <p:boldItalic r:id="rId8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6" roundtripDataSignature="AMtx7mh8PJXNdO7DEOyy4c9xLtsZ7tP9e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0A8070-6827-46C0-CD23-E2BD2C15DEBE}" v="30" dt="2025-09-30T07:44:26.123"/>
    <p1510:client id="{AE0B2533-BB4A-7668-9E83-B9C279E87BDF}" v="5" dt="2025-09-29T16:54:16.2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7.fntdata"/><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2.fntdata"/><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3.fntdata"/><Relationship Id="rId85"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6.fntdata"/><Relationship Id="rId88" Type="http://schemas.openxmlformats.org/officeDocument/2006/relationships/viewProps" Target="viewProps.xml"/><Relationship Id="rId9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1.fntdata"/><Relationship Id="rId81" Type="http://schemas.openxmlformats.org/officeDocument/2006/relationships/font" Target="fonts/font4.fntdata"/><Relationship Id="rId86"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font" Target="fonts/font5.fntdata"/><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kybernetik.com.au/cs-unity/docs/introduction/inheritance" TargetMode="External"/><Relationship Id="rId7" Type="http://schemas.openxmlformats.org/officeDocument/2006/relationships/hyperlink" Target="https://docs.unity3d.com/ScriptReference/MonoBehaviour.Awake" TargetMode="External"/><Relationship Id="rId2" Type="http://schemas.openxmlformats.org/officeDocument/2006/relationships/slide" Target="../slides/slide42.xml"/><Relationship Id="rId1" Type="http://schemas.openxmlformats.org/officeDocument/2006/relationships/notesMaster" Target="../notesMasters/notesMaster1.xml"/><Relationship Id="rId6" Type="http://schemas.openxmlformats.org/officeDocument/2006/relationships/hyperlink" Target="https://kybernetik.com.au/cs-unity/docs/introduction/variables#serialized-fields" TargetMode="External"/><Relationship Id="rId5" Type="http://schemas.openxmlformats.org/officeDocument/2006/relationships/hyperlink" Target="https://docs.unity3d.com/ScriptReference/GameObject.AddComponent" TargetMode="External"/><Relationship Id="rId4" Type="http://schemas.openxmlformats.org/officeDocument/2006/relationships/hyperlink" Target="https://kybernetik.com.au/cs-unity/docs/introduction/inheritance#common-bases" TargetMode="Externa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kybernetik.com.au/cs-unity/docs/introduction/inheritance" TargetMode="External"/><Relationship Id="rId7" Type="http://schemas.openxmlformats.org/officeDocument/2006/relationships/hyperlink" Target="https://docs.unity3d.com/ScriptReference/MonoBehaviour.Awake" TargetMode="External"/><Relationship Id="rId2" Type="http://schemas.openxmlformats.org/officeDocument/2006/relationships/slide" Target="../slides/slide43.xml"/><Relationship Id="rId1" Type="http://schemas.openxmlformats.org/officeDocument/2006/relationships/notesMaster" Target="../notesMasters/notesMaster1.xml"/><Relationship Id="rId6" Type="http://schemas.openxmlformats.org/officeDocument/2006/relationships/hyperlink" Target="https://kybernetik.com.au/cs-unity/docs/introduction/variables#serialized-fields" TargetMode="External"/><Relationship Id="rId5" Type="http://schemas.openxmlformats.org/officeDocument/2006/relationships/hyperlink" Target="https://docs.unity3d.com/ScriptReference/GameObject.AddComponent" TargetMode="External"/><Relationship Id="rId4" Type="http://schemas.openxmlformats.org/officeDocument/2006/relationships/hyperlink" Target="https://kybernetik.com.au/cs-unity/docs/introduction/inheritance#common-bases" TargetMode="Externa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kybernetik.com.au/cs-unity/docs/introduction/inheritance" TargetMode="External"/><Relationship Id="rId7" Type="http://schemas.openxmlformats.org/officeDocument/2006/relationships/hyperlink" Target="https://docs.unity3d.com/ScriptReference/MonoBehaviour.Awake" TargetMode="External"/><Relationship Id="rId2" Type="http://schemas.openxmlformats.org/officeDocument/2006/relationships/slide" Target="../slides/slide44.xml"/><Relationship Id="rId1" Type="http://schemas.openxmlformats.org/officeDocument/2006/relationships/notesMaster" Target="../notesMasters/notesMaster1.xml"/><Relationship Id="rId6" Type="http://schemas.openxmlformats.org/officeDocument/2006/relationships/hyperlink" Target="https://kybernetik.com.au/cs-unity/docs/introduction/variables#serialized-fields" TargetMode="External"/><Relationship Id="rId5" Type="http://schemas.openxmlformats.org/officeDocument/2006/relationships/hyperlink" Target="https://docs.unity3d.com/ScriptReference/GameObject.AddComponent" TargetMode="External"/><Relationship Id="rId4" Type="http://schemas.openxmlformats.org/officeDocument/2006/relationships/hyperlink" Target="https://kybernetik.com.au/cs-unity/docs/introduction/inheritance#common-bases" TargetMode="Externa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kybernetik.com.au/cs-unity/docs/introduction/inheritance" TargetMode="External"/><Relationship Id="rId7" Type="http://schemas.openxmlformats.org/officeDocument/2006/relationships/hyperlink" Target="https://docs.unity3d.com/ScriptReference/MonoBehaviour.Awake" TargetMode="External"/><Relationship Id="rId2" Type="http://schemas.openxmlformats.org/officeDocument/2006/relationships/slide" Target="../slides/slide45.xml"/><Relationship Id="rId1" Type="http://schemas.openxmlformats.org/officeDocument/2006/relationships/notesMaster" Target="../notesMasters/notesMaster1.xml"/><Relationship Id="rId6" Type="http://schemas.openxmlformats.org/officeDocument/2006/relationships/hyperlink" Target="https://kybernetik.com.au/cs-unity/docs/introduction/variables#serialized-fields" TargetMode="External"/><Relationship Id="rId5" Type="http://schemas.openxmlformats.org/officeDocument/2006/relationships/hyperlink" Target="https://docs.unity3d.com/ScriptReference/GameObject.AddComponent" TargetMode="External"/><Relationship Id="rId4" Type="http://schemas.openxmlformats.org/officeDocument/2006/relationships/hyperlink" Target="https://kybernetik.com.au/cs-unity/docs/introduction/inheritance#common-bases" TargetMode="Externa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s://kybernetik.com.au/cs-unity/docs/introduction/inheritance" TargetMode="External"/><Relationship Id="rId7" Type="http://schemas.openxmlformats.org/officeDocument/2006/relationships/hyperlink" Target="https://docs.unity3d.com/ScriptReference/MonoBehaviour.Awake" TargetMode="External"/><Relationship Id="rId2" Type="http://schemas.openxmlformats.org/officeDocument/2006/relationships/slide" Target="../slides/slide46.xml"/><Relationship Id="rId1" Type="http://schemas.openxmlformats.org/officeDocument/2006/relationships/notesMaster" Target="../notesMasters/notesMaster1.xml"/><Relationship Id="rId6" Type="http://schemas.openxmlformats.org/officeDocument/2006/relationships/hyperlink" Target="https://kybernetik.com.au/cs-unity/docs/introduction/variables#serialized-fields" TargetMode="External"/><Relationship Id="rId5" Type="http://schemas.openxmlformats.org/officeDocument/2006/relationships/hyperlink" Target="https://docs.unity3d.com/ScriptReference/GameObject.AddComponent" TargetMode="External"/><Relationship Id="rId4" Type="http://schemas.openxmlformats.org/officeDocument/2006/relationships/hyperlink" Target="https://kybernetik.com.au/cs-unity/docs/introduction/inheritance#common-bases" TargetMode="Externa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 name="Google Shape;4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 name="Google Shape;4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1</a:t>
            </a:fld>
            <a:endParaRPr sz="1800" b="0" i="0" u="none" strike="noStrike" cap="none">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 name="Google Shape;4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 name="Google Shape;48;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2</a:t>
            </a:fld>
            <a:endParaRPr sz="1800" b="0" i="0" u="none" strike="noStrike" cap="none">
              <a:solidFill>
                <a:srgbClr val="000000"/>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 name="Google Shape;5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 name="Google Shape;6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 name="Google Shape;62;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5</a:t>
            </a:fld>
            <a:endParaRPr sz="1800" b="0" i="0" u="none" strike="noStrike" cap="none">
              <a:solidFill>
                <a:srgbClr val="000000"/>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 name="Google Shape;7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 name="Google Shape;8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 name="Google Shape;83;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 name="Google Shape;8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 name="Google Shape;90;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DF8DE7B-D155-4A0B-08F0-CF87A809D1DE}"/>
            </a:ext>
          </a:extLst>
        </p:cNvPr>
        <p:cNvGrpSpPr/>
        <p:nvPr/>
      </p:nvGrpSpPr>
      <p:grpSpPr>
        <a:xfrm>
          <a:off x="0" y="0"/>
          <a:ext cx="0" cy="0"/>
          <a:chOff x="0" y="0"/>
          <a:chExt cx="0" cy="0"/>
        </a:xfrm>
      </p:grpSpPr>
      <p:sp>
        <p:nvSpPr>
          <p:cNvPr id="102" name="Google Shape;102;p11:notes">
            <a:extLst>
              <a:ext uri="{FF2B5EF4-FFF2-40B4-BE49-F238E27FC236}">
                <a16:creationId xmlns:a16="http://schemas.microsoft.com/office/drawing/2014/main" id="{1AB7453A-DF7D-108D-9E23-BB83124CAEB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11:notes">
            <a:extLst>
              <a:ext uri="{FF2B5EF4-FFF2-40B4-BE49-F238E27FC236}">
                <a16:creationId xmlns:a16="http://schemas.microsoft.com/office/drawing/2014/main" id="{029E356F-BB4C-4C1E-C6E6-167A5235F6A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11:notes">
            <a:extLst>
              <a:ext uri="{FF2B5EF4-FFF2-40B4-BE49-F238E27FC236}">
                <a16:creationId xmlns:a16="http://schemas.microsoft.com/office/drawing/2014/main" id="{B0E49BC1-2B03-4A8D-F33B-C0E6E08EBDD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11</a:t>
            </a:fld>
            <a:endParaRPr/>
          </a:p>
        </p:txBody>
      </p:sp>
    </p:spTree>
    <p:extLst>
      <p:ext uri="{BB962C8B-B14F-4D97-AF65-F5344CB8AC3E}">
        <p14:creationId xmlns:p14="http://schemas.microsoft.com/office/powerpoint/2010/main" val="42321730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706191C-2A00-6927-ECD6-26D289B96778}"/>
            </a:ext>
          </a:extLst>
        </p:cNvPr>
        <p:cNvGrpSpPr/>
        <p:nvPr/>
      </p:nvGrpSpPr>
      <p:grpSpPr>
        <a:xfrm>
          <a:off x="0" y="0"/>
          <a:ext cx="0" cy="0"/>
          <a:chOff x="0" y="0"/>
          <a:chExt cx="0" cy="0"/>
        </a:xfrm>
      </p:grpSpPr>
      <p:sp>
        <p:nvSpPr>
          <p:cNvPr id="102" name="Google Shape;102;p11:notes">
            <a:extLst>
              <a:ext uri="{FF2B5EF4-FFF2-40B4-BE49-F238E27FC236}">
                <a16:creationId xmlns:a16="http://schemas.microsoft.com/office/drawing/2014/main" id="{50020AEB-3CA3-0E2A-2F48-EA7AA602D06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11:notes">
            <a:extLst>
              <a:ext uri="{FF2B5EF4-FFF2-40B4-BE49-F238E27FC236}">
                <a16:creationId xmlns:a16="http://schemas.microsoft.com/office/drawing/2014/main" id="{1EB9501A-1C62-FD3D-846D-7A12C979F7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11:notes">
            <a:extLst>
              <a:ext uri="{FF2B5EF4-FFF2-40B4-BE49-F238E27FC236}">
                <a16:creationId xmlns:a16="http://schemas.microsoft.com/office/drawing/2014/main" id="{2257D122-14DD-92F4-701B-AB1E887552E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12</a:t>
            </a:fld>
            <a:endParaRPr/>
          </a:p>
        </p:txBody>
      </p:sp>
    </p:spTree>
    <p:extLst>
      <p:ext uri="{BB962C8B-B14F-4D97-AF65-F5344CB8AC3E}">
        <p14:creationId xmlns:p14="http://schemas.microsoft.com/office/powerpoint/2010/main" val="2379590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1356015-0142-FB35-F44D-5160582833A1}"/>
            </a:ext>
          </a:extLst>
        </p:cNvPr>
        <p:cNvGrpSpPr/>
        <p:nvPr/>
      </p:nvGrpSpPr>
      <p:grpSpPr>
        <a:xfrm>
          <a:off x="0" y="0"/>
          <a:ext cx="0" cy="0"/>
          <a:chOff x="0" y="0"/>
          <a:chExt cx="0" cy="0"/>
        </a:xfrm>
      </p:grpSpPr>
      <p:sp>
        <p:nvSpPr>
          <p:cNvPr id="102" name="Google Shape;102;p11:notes">
            <a:extLst>
              <a:ext uri="{FF2B5EF4-FFF2-40B4-BE49-F238E27FC236}">
                <a16:creationId xmlns:a16="http://schemas.microsoft.com/office/drawing/2014/main" id="{71617C07-908A-8CD5-E60C-7659AE4857A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11:notes">
            <a:extLst>
              <a:ext uri="{FF2B5EF4-FFF2-40B4-BE49-F238E27FC236}">
                <a16:creationId xmlns:a16="http://schemas.microsoft.com/office/drawing/2014/main" id="{1B370EAC-CA20-48AA-B277-6D8AFD0DE9B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11:notes">
            <a:extLst>
              <a:ext uri="{FF2B5EF4-FFF2-40B4-BE49-F238E27FC236}">
                <a16:creationId xmlns:a16="http://schemas.microsoft.com/office/drawing/2014/main" id="{C94C8854-5B94-05EE-4980-F7C51F97A8A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13</a:t>
            </a:fld>
            <a:endParaRPr/>
          </a:p>
        </p:txBody>
      </p:sp>
    </p:spTree>
    <p:extLst>
      <p:ext uri="{BB962C8B-B14F-4D97-AF65-F5344CB8AC3E}">
        <p14:creationId xmlns:p14="http://schemas.microsoft.com/office/powerpoint/2010/main" val="582369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56BB4C5-BF07-8A7B-544C-C2E4D7C40C8D}"/>
            </a:ext>
          </a:extLst>
        </p:cNvPr>
        <p:cNvGrpSpPr/>
        <p:nvPr/>
      </p:nvGrpSpPr>
      <p:grpSpPr>
        <a:xfrm>
          <a:off x="0" y="0"/>
          <a:ext cx="0" cy="0"/>
          <a:chOff x="0" y="0"/>
          <a:chExt cx="0" cy="0"/>
        </a:xfrm>
      </p:grpSpPr>
      <p:sp>
        <p:nvSpPr>
          <p:cNvPr id="102" name="Google Shape;102;p11:notes">
            <a:extLst>
              <a:ext uri="{FF2B5EF4-FFF2-40B4-BE49-F238E27FC236}">
                <a16:creationId xmlns:a16="http://schemas.microsoft.com/office/drawing/2014/main" id="{D64EA277-3107-223F-7BAE-BF4C9112FC2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11:notes">
            <a:extLst>
              <a:ext uri="{FF2B5EF4-FFF2-40B4-BE49-F238E27FC236}">
                <a16:creationId xmlns:a16="http://schemas.microsoft.com/office/drawing/2014/main" id="{FAAD078A-A27A-1452-3DE0-49DDBB1DF9B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11:notes">
            <a:extLst>
              <a:ext uri="{FF2B5EF4-FFF2-40B4-BE49-F238E27FC236}">
                <a16:creationId xmlns:a16="http://schemas.microsoft.com/office/drawing/2014/main" id="{58B8FB3D-DF84-76DB-3DA7-E07FE980EDB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14</a:t>
            </a:fld>
            <a:endParaRPr/>
          </a:p>
        </p:txBody>
      </p:sp>
    </p:spTree>
    <p:extLst>
      <p:ext uri="{BB962C8B-B14F-4D97-AF65-F5344CB8AC3E}">
        <p14:creationId xmlns:p14="http://schemas.microsoft.com/office/powerpoint/2010/main" val="24326451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08098BE-37A9-6278-FD5B-AD04031B721E}"/>
            </a:ext>
          </a:extLst>
        </p:cNvPr>
        <p:cNvGrpSpPr/>
        <p:nvPr/>
      </p:nvGrpSpPr>
      <p:grpSpPr>
        <a:xfrm>
          <a:off x="0" y="0"/>
          <a:ext cx="0" cy="0"/>
          <a:chOff x="0" y="0"/>
          <a:chExt cx="0" cy="0"/>
        </a:xfrm>
      </p:grpSpPr>
      <p:sp>
        <p:nvSpPr>
          <p:cNvPr id="102" name="Google Shape;102;p11:notes">
            <a:extLst>
              <a:ext uri="{FF2B5EF4-FFF2-40B4-BE49-F238E27FC236}">
                <a16:creationId xmlns:a16="http://schemas.microsoft.com/office/drawing/2014/main" id="{450BF33A-1619-D834-B0B0-ED882543B74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11:notes">
            <a:extLst>
              <a:ext uri="{FF2B5EF4-FFF2-40B4-BE49-F238E27FC236}">
                <a16:creationId xmlns:a16="http://schemas.microsoft.com/office/drawing/2014/main" id="{E40CC574-139D-B010-E139-5AD1D578965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11:notes">
            <a:extLst>
              <a:ext uri="{FF2B5EF4-FFF2-40B4-BE49-F238E27FC236}">
                <a16:creationId xmlns:a16="http://schemas.microsoft.com/office/drawing/2014/main" id="{83368FEA-899F-C64F-65FD-B0E7C919B3B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15</a:t>
            </a:fld>
            <a:endParaRPr/>
          </a:p>
        </p:txBody>
      </p:sp>
    </p:spTree>
    <p:extLst>
      <p:ext uri="{BB962C8B-B14F-4D97-AF65-F5344CB8AC3E}">
        <p14:creationId xmlns:p14="http://schemas.microsoft.com/office/powerpoint/2010/main" val="34424571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31</a:t>
            </a:fld>
            <a:endParaRPr/>
          </a:p>
        </p:txBody>
      </p:sp>
    </p:spTree>
    <p:extLst>
      <p:ext uri="{BB962C8B-B14F-4D97-AF65-F5344CB8AC3E}">
        <p14:creationId xmlns:p14="http://schemas.microsoft.com/office/powerpoint/2010/main" val="24768202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32</a:t>
            </a:fld>
            <a:endParaRPr/>
          </a:p>
        </p:txBody>
      </p:sp>
    </p:spTree>
    <p:extLst>
      <p:ext uri="{BB962C8B-B14F-4D97-AF65-F5344CB8AC3E}">
        <p14:creationId xmlns:p14="http://schemas.microsoft.com/office/powerpoint/2010/main" val="32362096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34</a:t>
            </a:fld>
            <a:endParaRPr/>
          </a:p>
        </p:txBody>
      </p:sp>
    </p:spTree>
    <p:extLst>
      <p:ext uri="{BB962C8B-B14F-4D97-AF65-F5344CB8AC3E}">
        <p14:creationId xmlns:p14="http://schemas.microsoft.com/office/powerpoint/2010/main" val="22339682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 name="Google Shape;25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Google Shape;275;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 name="Google Shape;269;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41</a:t>
            </a:fld>
            <a:endParaRPr/>
          </a:p>
        </p:txBody>
      </p:sp>
    </p:spTree>
    <p:extLst>
      <p:ext uri="{BB962C8B-B14F-4D97-AF65-F5344CB8AC3E}">
        <p14:creationId xmlns:p14="http://schemas.microsoft.com/office/powerpoint/2010/main" val="9253962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indent="0"/>
            <a:r>
              <a:rPr lang="en-US"/>
              <a:t>Constructors cannot be used in classes that </a:t>
            </a:r>
            <a:r>
              <a:rPr lang="en-US">
                <a:hlinkClick r:id="rId3"/>
              </a:rPr>
              <a:t>Inherit</a:t>
            </a:r>
            <a:r>
              <a:rPr lang="en-US"/>
              <a:t> from </a:t>
            </a:r>
            <a:r>
              <a:rPr lang="en-US">
                <a:hlinkClick r:id="rId4"/>
              </a:rPr>
              <a:t>MonoBehaviour</a:t>
            </a:r>
            <a:r>
              <a:rPr lang="en-US"/>
              <a:t> because they need to be added to a specific </a:t>
            </a:r>
            <a:r>
              <a:rPr lang="en-US" err="1"/>
              <a:t>GameObject</a:t>
            </a:r>
            <a:r>
              <a:rPr lang="en-US"/>
              <a:t> using its </a:t>
            </a:r>
            <a:r>
              <a:rPr lang="en-US">
                <a:hlinkClick r:id="rId5"/>
              </a:rPr>
              <a:t>AddComponent</a:t>
            </a:r>
            <a:r>
              <a:rPr lang="en-US"/>
              <a:t> method. Technically, you can use a </a:t>
            </a:r>
            <a:r>
              <a:rPr lang="en-US" err="1"/>
              <a:t>parameterless</a:t>
            </a:r>
            <a:r>
              <a:rPr lang="en-US"/>
              <a:t> constructor but it will not be able to do much because it will be executed before Unity gives the component its reference to the </a:t>
            </a:r>
            <a:r>
              <a:rPr lang="en-US" err="1"/>
              <a:t>GameObject</a:t>
            </a:r>
            <a:r>
              <a:rPr lang="en-US"/>
              <a:t> or any of its </a:t>
            </a:r>
            <a:r>
              <a:rPr lang="en-US">
                <a:hlinkClick r:id="rId6"/>
              </a:rPr>
              <a:t>Serialized Field</a:t>
            </a:r>
            <a:r>
              <a:rPr lang="en-US"/>
              <a:t> data, so you will generally want to use the </a:t>
            </a:r>
            <a:r>
              <a:rPr lang="en-US">
                <a:hlinkClick r:id="rId7"/>
              </a:rPr>
              <a:t>Awake</a:t>
            </a:r>
            <a:r>
              <a:rPr lang="en-US"/>
              <a:t> message instead.</a:t>
            </a:r>
          </a:p>
        </p:txBody>
      </p:sp>
      <p:sp>
        <p:nvSpPr>
          <p:cNvPr id="283" name="Google Shape;283;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indent="0"/>
            <a:r>
              <a:rPr lang="en-US"/>
              <a:t>Constructors cannot be used in classes that </a:t>
            </a:r>
            <a:r>
              <a:rPr lang="en-US">
                <a:hlinkClick r:id="rId3"/>
              </a:rPr>
              <a:t>Inherit</a:t>
            </a:r>
            <a:r>
              <a:rPr lang="en-US"/>
              <a:t> from </a:t>
            </a:r>
            <a:r>
              <a:rPr lang="en-US">
                <a:hlinkClick r:id="rId4"/>
              </a:rPr>
              <a:t>MonoBehaviour</a:t>
            </a:r>
            <a:r>
              <a:rPr lang="en-US"/>
              <a:t> because they need to be added to a specific </a:t>
            </a:r>
            <a:r>
              <a:rPr lang="en-US" err="1"/>
              <a:t>GameObject</a:t>
            </a:r>
            <a:r>
              <a:rPr lang="en-US"/>
              <a:t> using its </a:t>
            </a:r>
            <a:r>
              <a:rPr lang="en-US">
                <a:hlinkClick r:id="rId5"/>
              </a:rPr>
              <a:t>AddComponent</a:t>
            </a:r>
            <a:r>
              <a:rPr lang="en-US"/>
              <a:t> method. Technically, you can use a </a:t>
            </a:r>
            <a:r>
              <a:rPr lang="en-US" err="1"/>
              <a:t>parameterless</a:t>
            </a:r>
            <a:r>
              <a:rPr lang="en-US"/>
              <a:t> constructor but it will not be able to do much because it will be executed before Unity gives the component its reference to the </a:t>
            </a:r>
            <a:r>
              <a:rPr lang="en-US" err="1"/>
              <a:t>GameObject</a:t>
            </a:r>
            <a:r>
              <a:rPr lang="en-US"/>
              <a:t> or any of its </a:t>
            </a:r>
            <a:r>
              <a:rPr lang="en-US">
                <a:hlinkClick r:id="rId6"/>
              </a:rPr>
              <a:t>Serialized Field</a:t>
            </a:r>
            <a:r>
              <a:rPr lang="en-US"/>
              <a:t> data, so you will generally want to use the </a:t>
            </a:r>
            <a:r>
              <a:rPr lang="en-US">
                <a:hlinkClick r:id="rId7"/>
              </a:rPr>
              <a:t>Awake</a:t>
            </a:r>
            <a:r>
              <a:rPr lang="en-US"/>
              <a:t> message instead.</a:t>
            </a:r>
          </a:p>
        </p:txBody>
      </p:sp>
      <p:sp>
        <p:nvSpPr>
          <p:cNvPr id="283" name="Google Shape;283;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43</a:t>
            </a:fld>
            <a:endParaRPr/>
          </a:p>
        </p:txBody>
      </p:sp>
    </p:spTree>
    <p:extLst>
      <p:ext uri="{BB962C8B-B14F-4D97-AF65-F5344CB8AC3E}">
        <p14:creationId xmlns:p14="http://schemas.microsoft.com/office/powerpoint/2010/main" val="1536957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indent="0"/>
            <a:r>
              <a:rPr lang="en-US"/>
              <a:t>Constructors cannot be used in classes that </a:t>
            </a:r>
            <a:r>
              <a:rPr lang="en-US">
                <a:hlinkClick r:id="rId3"/>
              </a:rPr>
              <a:t>Inherit</a:t>
            </a:r>
            <a:r>
              <a:rPr lang="en-US"/>
              <a:t> from </a:t>
            </a:r>
            <a:r>
              <a:rPr lang="en-US">
                <a:hlinkClick r:id="rId4"/>
              </a:rPr>
              <a:t>MonoBehaviour</a:t>
            </a:r>
            <a:r>
              <a:rPr lang="en-US"/>
              <a:t> because they need to be added to a specific </a:t>
            </a:r>
            <a:r>
              <a:rPr lang="en-US" err="1"/>
              <a:t>GameObject</a:t>
            </a:r>
            <a:r>
              <a:rPr lang="en-US"/>
              <a:t> using its </a:t>
            </a:r>
            <a:r>
              <a:rPr lang="en-US">
                <a:hlinkClick r:id="rId5"/>
              </a:rPr>
              <a:t>AddComponent</a:t>
            </a:r>
            <a:r>
              <a:rPr lang="en-US"/>
              <a:t> method. Technically, you can use a </a:t>
            </a:r>
            <a:r>
              <a:rPr lang="en-US" err="1"/>
              <a:t>parameterless</a:t>
            </a:r>
            <a:r>
              <a:rPr lang="en-US"/>
              <a:t> constructor but it will not be able to do much because it will be executed before Unity gives the component its reference to the </a:t>
            </a:r>
            <a:r>
              <a:rPr lang="en-US" err="1"/>
              <a:t>GameObject</a:t>
            </a:r>
            <a:r>
              <a:rPr lang="en-US"/>
              <a:t> or any of its </a:t>
            </a:r>
            <a:r>
              <a:rPr lang="en-US">
                <a:hlinkClick r:id="rId6"/>
              </a:rPr>
              <a:t>Serialized Field</a:t>
            </a:r>
            <a:r>
              <a:rPr lang="en-US"/>
              <a:t> data, so you will generally want to use the </a:t>
            </a:r>
            <a:r>
              <a:rPr lang="en-US">
                <a:hlinkClick r:id="rId7"/>
              </a:rPr>
              <a:t>Awake</a:t>
            </a:r>
            <a:r>
              <a:rPr lang="en-US"/>
              <a:t> message instead.</a:t>
            </a:r>
          </a:p>
        </p:txBody>
      </p:sp>
      <p:sp>
        <p:nvSpPr>
          <p:cNvPr id="283" name="Google Shape;283;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44</a:t>
            </a:fld>
            <a:endParaRPr/>
          </a:p>
        </p:txBody>
      </p:sp>
    </p:spTree>
    <p:extLst>
      <p:ext uri="{BB962C8B-B14F-4D97-AF65-F5344CB8AC3E}">
        <p14:creationId xmlns:p14="http://schemas.microsoft.com/office/powerpoint/2010/main" val="17630158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indent="0"/>
            <a:r>
              <a:rPr lang="en-US"/>
              <a:t>Constructors cannot be used in classes that </a:t>
            </a:r>
            <a:r>
              <a:rPr lang="en-US">
                <a:hlinkClick r:id="rId3"/>
              </a:rPr>
              <a:t>Inherit</a:t>
            </a:r>
            <a:r>
              <a:rPr lang="en-US"/>
              <a:t> from </a:t>
            </a:r>
            <a:r>
              <a:rPr lang="en-US">
                <a:hlinkClick r:id="rId4"/>
              </a:rPr>
              <a:t>MonoBehaviour</a:t>
            </a:r>
            <a:r>
              <a:rPr lang="en-US"/>
              <a:t> because they need to be added to a specific </a:t>
            </a:r>
            <a:r>
              <a:rPr lang="en-US" err="1"/>
              <a:t>GameObject</a:t>
            </a:r>
            <a:r>
              <a:rPr lang="en-US"/>
              <a:t> using its </a:t>
            </a:r>
            <a:r>
              <a:rPr lang="en-US">
                <a:hlinkClick r:id="rId5"/>
              </a:rPr>
              <a:t>AddComponent</a:t>
            </a:r>
            <a:r>
              <a:rPr lang="en-US"/>
              <a:t> method. Technically, you can use a </a:t>
            </a:r>
            <a:r>
              <a:rPr lang="en-US" err="1"/>
              <a:t>parameterless</a:t>
            </a:r>
            <a:r>
              <a:rPr lang="en-US"/>
              <a:t> constructor but it will not be able to do much because it will be executed before Unity gives the component its reference to the </a:t>
            </a:r>
            <a:r>
              <a:rPr lang="en-US" err="1"/>
              <a:t>GameObject</a:t>
            </a:r>
            <a:r>
              <a:rPr lang="en-US"/>
              <a:t> or any of its </a:t>
            </a:r>
            <a:r>
              <a:rPr lang="en-US">
                <a:hlinkClick r:id="rId6"/>
              </a:rPr>
              <a:t>Serialized Field</a:t>
            </a:r>
            <a:r>
              <a:rPr lang="en-US"/>
              <a:t> data, so you will generally want to use the </a:t>
            </a:r>
            <a:r>
              <a:rPr lang="en-US">
                <a:hlinkClick r:id="rId7"/>
              </a:rPr>
              <a:t>Awake</a:t>
            </a:r>
            <a:r>
              <a:rPr lang="en-US"/>
              <a:t> message instead.</a:t>
            </a:r>
          </a:p>
        </p:txBody>
      </p:sp>
      <p:sp>
        <p:nvSpPr>
          <p:cNvPr id="297" name="Google Shape;297;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indent="0"/>
            <a:r>
              <a:rPr lang="en-US"/>
              <a:t>Constructors cannot be used in classes that </a:t>
            </a:r>
            <a:r>
              <a:rPr lang="en-US">
                <a:hlinkClick r:id="rId3"/>
              </a:rPr>
              <a:t>Inherit</a:t>
            </a:r>
            <a:r>
              <a:rPr lang="en-US"/>
              <a:t> from </a:t>
            </a:r>
            <a:r>
              <a:rPr lang="en-US">
                <a:hlinkClick r:id="rId4"/>
              </a:rPr>
              <a:t>MonoBehaviour</a:t>
            </a:r>
            <a:r>
              <a:rPr lang="en-US"/>
              <a:t> because they need to be added to a specific </a:t>
            </a:r>
            <a:r>
              <a:rPr lang="en-US" err="1"/>
              <a:t>GameObject</a:t>
            </a:r>
            <a:r>
              <a:rPr lang="en-US"/>
              <a:t> using its </a:t>
            </a:r>
            <a:r>
              <a:rPr lang="en-US">
                <a:hlinkClick r:id="rId5"/>
              </a:rPr>
              <a:t>AddComponent</a:t>
            </a:r>
            <a:r>
              <a:rPr lang="en-US"/>
              <a:t> method. Technically, you can use a </a:t>
            </a:r>
            <a:r>
              <a:rPr lang="en-US" err="1"/>
              <a:t>parameterless</a:t>
            </a:r>
            <a:r>
              <a:rPr lang="en-US"/>
              <a:t> constructor but it will not be able to do much because it will be executed before Unity gives the component its reference to the </a:t>
            </a:r>
            <a:r>
              <a:rPr lang="en-US" err="1"/>
              <a:t>GameObject</a:t>
            </a:r>
            <a:r>
              <a:rPr lang="en-US"/>
              <a:t> or any of its </a:t>
            </a:r>
            <a:r>
              <a:rPr lang="en-US">
                <a:hlinkClick r:id="rId6"/>
              </a:rPr>
              <a:t>Serialized Field</a:t>
            </a:r>
            <a:r>
              <a:rPr lang="en-US"/>
              <a:t> data, so you will generally want to use the </a:t>
            </a:r>
            <a:r>
              <a:rPr lang="en-US">
                <a:hlinkClick r:id="rId7"/>
              </a:rPr>
              <a:t>Awake</a:t>
            </a:r>
            <a:r>
              <a:rPr lang="en-US"/>
              <a:t> message instead.</a:t>
            </a:r>
          </a:p>
        </p:txBody>
      </p:sp>
      <p:sp>
        <p:nvSpPr>
          <p:cNvPr id="297" name="Google Shape;297;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46</a:t>
            </a:fld>
            <a:endParaRPr/>
          </a:p>
        </p:txBody>
      </p:sp>
    </p:spTree>
    <p:extLst>
      <p:ext uri="{BB962C8B-B14F-4D97-AF65-F5344CB8AC3E}">
        <p14:creationId xmlns:p14="http://schemas.microsoft.com/office/powerpoint/2010/main" val="26342032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48</a:t>
            </a:fld>
            <a:endParaRPr/>
          </a:p>
        </p:txBody>
      </p:sp>
    </p:spTree>
    <p:extLst>
      <p:ext uri="{BB962C8B-B14F-4D97-AF65-F5344CB8AC3E}">
        <p14:creationId xmlns:p14="http://schemas.microsoft.com/office/powerpoint/2010/main" val="42014533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0" name="Google Shape;310;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7" name="Google Shape;317;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8" name="Google Shape;318;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4" name="Google Shape;324;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5" name="Google Shape;325;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1" name="Google Shape;331;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 name="Google Shape;352;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3" name="Google Shape;353;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57</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6" name="Google Shape;366;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7" name="Google Shape;367;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58</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3" name="Google Shape;373;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 name="Google Shape;374;p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59</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0" name="Google Shape;380;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1" name="Google Shape;381;p5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60</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7" name="Google Shape;387;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8" name="Google Shape;388;p5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61</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4" name="Google Shape;394;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62</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1" name="Google Shape;401;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2" name="Google Shape;402;p5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63</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8" name="Google Shape;408;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9" name="Google Shape;409;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64</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5" name="Google Shape;415;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6" name="Google Shape;416;p5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65</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3" name="Google Shape;423;p5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66</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9" name="Google Shape;429;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0" name="Google Shape;430;p5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67</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6" name="Google Shape;436;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7" name="Google Shape;437;p5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68</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69</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0" name="Google Shape;450;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1" name="Google Shape;451;p6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70</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7" name="Google Shape;457;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8" name="Google Shape;458;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71</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4" name="Google Shape;464;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5" name="Google Shape;465;p6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72</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1" name="Google Shape;471;p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2" name="Google Shape;472;p6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73</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8" name="Google Shape;478;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9" name="Google Shape;479;p6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74</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5" name="Google Shape;485;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6" name="Google Shape;486;p6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67"/>
          <p:cNvSpPr txBox="1">
            <a:spLocks noGrp="1"/>
          </p:cNvSpPr>
          <p:nvPr>
            <p:ph type="ctrTitle"/>
          </p:nvPr>
        </p:nvSpPr>
        <p:spPr>
          <a:xfrm>
            <a:off x="914400" y="2130426"/>
            <a:ext cx="10363200" cy="1010543"/>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67"/>
          <p:cNvSpPr txBox="1">
            <a:spLocks noGrp="1"/>
          </p:cNvSpPr>
          <p:nvPr>
            <p:ph type="subTitle" idx="1"/>
          </p:nvPr>
        </p:nvSpPr>
        <p:spPr>
          <a:xfrm>
            <a:off x="911424" y="3212976"/>
            <a:ext cx="10369152" cy="1752600"/>
          </a:xfrm>
          <a:prstGeom prst="rect">
            <a:avLst/>
          </a:prstGeom>
          <a:noFill/>
          <a:ln>
            <a:noFill/>
          </a:ln>
        </p:spPr>
        <p:txBody>
          <a:bodyPr spcFirstLastPara="1" wrap="square" lIns="91425" tIns="45700" rIns="91425" bIns="45700" anchor="t" anchorCtr="0">
            <a:normAutofit/>
          </a:bodyPr>
          <a:lstStyle>
            <a:lvl1pPr lvl="0" algn="l">
              <a:spcBef>
                <a:spcPts val="560"/>
              </a:spcBef>
              <a:spcAft>
                <a:spcPts val="0"/>
              </a:spcAft>
              <a:buClr>
                <a:schemeClr val="dk1"/>
              </a:buClr>
              <a:buSzPts val="2800"/>
              <a:buNone/>
              <a:defRPr sz="2800">
                <a:solidFill>
                  <a:schemeClr val="dk1"/>
                </a:solidFill>
                <a:latin typeface="Quattrocento Sans"/>
                <a:ea typeface="Quattrocento Sans"/>
                <a:cs typeface="Quattrocento Sans"/>
                <a:sym typeface="Quattrocento Sans"/>
              </a:defRPr>
            </a:lvl1pPr>
            <a:lvl2pPr lvl="1" algn="ctr">
              <a:spcBef>
                <a:spcPts val="480"/>
              </a:spcBef>
              <a:spcAft>
                <a:spcPts val="0"/>
              </a:spcAft>
              <a:buClr>
                <a:schemeClr val="dk1"/>
              </a:buClr>
              <a:buSzPts val="2400"/>
              <a:buNone/>
              <a:defRPr>
                <a:solidFill>
                  <a:schemeClr val="dk1"/>
                </a:solidFill>
              </a:defRPr>
            </a:lvl2pPr>
            <a:lvl3pPr lvl="2" algn="ctr">
              <a:spcBef>
                <a:spcPts val="400"/>
              </a:spcBef>
              <a:spcAft>
                <a:spcPts val="0"/>
              </a:spcAft>
              <a:buClr>
                <a:schemeClr val="dk1"/>
              </a:buClr>
              <a:buSzPts val="2000"/>
              <a:buNone/>
              <a:defRPr>
                <a:solidFill>
                  <a:schemeClr val="dk1"/>
                </a:solidFill>
              </a:defRPr>
            </a:lvl3pPr>
            <a:lvl4pPr lvl="3" algn="ctr">
              <a:spcBef>
                <a:spcPts val="360"/>
              </a:spcBef>
              <a:spcAft>
                <a:spcPts val="0"/>
              </a:spcAft>
              <a:buClr>
                <a:schemeClr val="dk1"/>
              </a:buClr>
              <a:buSzPts val="1800"/>
              <a:buNone/>
              <a:defRPr>
                <a:solidFill>
                  <a:schemeClr val="dk1"/>
                </a:solidFill>
              </a:defRPr>
            </a:lvl4pPr>
            <a:lvl5pPr lvl="4" algn="ctr">
              <a:spcBef>
                <a:spcPts val="360"/>
              </a:spcBef>
              <a:spcAft>
                <a:spcPts val="0"/>
              </a:spcAft>
              <a:buClr>
                <a:schemeClr val="dk1"/>
              </a:buClr>
              <a:buSzPts val="1800"/>
              <a:buNone/>
              <a:defRPr>
                <a:solidFill>
                  <a:schemeClr val="dk1"/>
                </a:solidFill>
              </a:defRPr>
            </a:lvl5pPr>
            <a:lvl6pPr lvl="5" algn="ctr">
              <a:spcBef>
                <a:spcPts val="400"/>
              </a:spcBef>
              <a:spcAft>
                <a:spcPts val="0"/>
              </a:spcAft>
              <a:buClr>
                <a:schemeClr val="dk1"/>
              </a:buClr>
              <a:buSzPts val="2000"/>
              <a:buNone/>
              <a:defRPr>
                <a:solidFill>
                  <a:schemeClr val="dk1"/>
                </a:solidFill>
              </a:defRPr>
            </a:lvl6pPr>
            <a:lvl7pPr lvl="6" algn="ctr">
              <a:spcBef>
                <a:spcPts val="400"/>
              </a:spcBef>
              <a:spcAft>
                <a:spcPts val="0"/>
              </a:spcAft>
              <a:buClr>
                <a:schemeClr val="dk1"/>
              </a:buClr>
              <a:buSzPts val="2000"/>
              <a:buNone/>
              <a:defRPr>
                <a:solidFill>
                  <a:schemeClr val="dk1"/>
                </a:solidFill>
              </a:defRPr>
            </a:lvl7pPr>
            <a:lvl8pPr lvl="7" algn="ctr">
              <a:spcBef>
                <a:spcPts val="400"/>
              </a:spcBef>
              <a:spcAft>
                <a:spcPts val="0"/>
              </a:spcAft>
              <a:buClr>
                <a:schemeClr val="dk1"/>
              </a:buClr>
              <a:buSzPts val="2000"/>
              <a:buNone/>
              <a:defRPr>
                <a:solidFill>
                  <a:schemeClr val="dk1"/>
                </a:solidFill>
              </a:defRPr>
            </a:lvl8pPr>
            <a:lvl9pPr lvl="8" algn="ctr">
              <a:spcBef>
                <a:spcPts val="400"/>
              </a:spcBef>
              <a:spcAft>
                <a:spcPts val="0"/>
              </a:spcAft>
              <a:buClr>
                <a:schemeClr val="dk1"/>
              </a:buClr>
              <a:buSzPts val="2000"/>
              <a:buNone/>
              <a:defRPr>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0"/>
        <p:cNvGrpSpPr/>
        <p:nvPr/>
      </p:nvGrpSpPr>
      <p:grpSpPr>
        <a:xfrm>
          <a:off x="0" y="0"/>
          <a:ext cx="0" cy="0"/>
          <a:chOff x="0" y="0"/>
          <a:chExt cx="0" cy="0"/>
        </a:xfrm>
      </p:grpSpPr>
      <p:sp>
        <p:nvSpPr>
          <p:cNvPr id="21" name="Google Shape;21;p6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6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69"/>
          <p:cNvSpPr txBox="1">
            <a:spLocks noGrp="1"/>
          </p:cNvSpPr>
          <p:nvPr>
            <p:ph type="body" idx="1"/>
          </p:nvPr>
        </p:nvSpPr>
        <p:spPr>
          <a:xfrm>
            <a:off x="609600" y="1268760"/>
            <a:ext cx="10972800" cy="5328592"/>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a:solidFill>
                  <a:schemeClr val="dk1"/>
                </a:solidFill>
              </a:defRPr>
            </a:lvl1pPr>
            <a:lvl2pPr marL="914400" lvl="1" indent="-381000" algn="l">
              <a:spcBef>
                <a:spcPts val="480"/>
              </a:spcBef>
              <a:spcAft>
                <a:spcPts val="0"/>
              </a:spcAft>
              <a:buClr>
                <a:schemeClr val="dk1"/>
              </a:buClr>
              <a:buSzPts val="2400"/>
              <a:buChar char="–"/>
              <a:defRPr>
                <a:solidFill>
                  <a:schemeClr val="dk1"/>
                </a:solidFill>
              </a:defRPr>
            </a:lvl2pPr>
            <a:lvl3pPr marL="1371600" lvl="2" indent="-355600" algn="l">
              <a:spcBef>
                <a:spcPts val="400"/>
              </a:spcBef>
              <a:spcAft>
                <a:spcPts val="0"/>
              </a:spcAft>
              <a:buClr>
                <a:schemeClr val="dk1"/>
              </a:buClr>
              <a:buSzPts val="2000"/>
              <a:buChar char="•"/>
              <a:defRPr>
                <a:solidFill>
                  <a:schemeClr val="dk1"/>
                </a:solidFill>
              </a:defRPr>
            </a:lvl3pPr>
            <a:lvl4pPr marL="1828800" lvl="3" indent="-342900" algn="l">
              <a:spcBef>
                <a:spcPts val="360"/>
              </a:spcBef>
              <a:spcAft>
                <a:spcPts val="0"/>
              </a:spcAft>
              <a:buClr>
                <a:schemeClr val="dk1"/>
              </a:buClr>
              <a:buSzPts val="1800"/>
              <a:buChar char="–"/>
              <a:defRPr>
                <a:solidFill>
                  <a:schemeClr val="dk1"/>
                </a:solidFill>
              </a:defRPr>
            </a:lvl4pPr>
            <a:lvl5pPr marL="2286000" lvl="4" indent="-342900" algn="l">
              <a:spcBef>
                <a:spcPts val="360"/>
              </a:spcBef>
              <a:spcAft>
                <a:spcPts val="0"/>
              </a:spcAft>
              <a:buClr>
                <a:schemeClr val="dk1"/>
              </a:buClr>
              <a:buSzPts val="1800"/>
              <a:buChar char="»"/>
              <a:defRPr>
                <a:solidFill>
                  <a:schemeClr val="dk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5"/>
        <p:cNvGrpSpPr/>
        <p:nvPr/>
      </p:nvGrpSpPr>
      <p:grpSpPr>
        <a:xfrm>
          <a:off x="0" y="0"/>
          <a:ext cx="0" cy="0"/>
          <a:chOff x="0" y="0"/>
          <a:chExt cx="0" cy="0"/>
        </a:xfrm>
      </p:grpSpPr>
      <p:sp>
        <p:nvSpPr>
          <p:cNvPr id="26" name="Google Shape;26;p70"/>
          <p:cNvSpPr/>
          <p:nvPr/>
        </p:nvSpPr>
        <p:spPr>
          <a:xfrm>
            <a:off x="6216395" y="1556056"/>
            <a:ext cx="5361312" cy="613784"/>
          </a:xfrm>
          <a:prstGeom prst="rect">
            <a:avLst/>
          </a:prstGeom>
          <a:solidFill>
            <a:srgbClr val="FFFFFF">
              <a:alpha val="3568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7" name="Google Shape;27;p70"/>
          <p:cNvSpPr/>
          <p:nvPr/>
        </p:nvSpPr>
        <p:spPr>
          <a:xfrm>
            <a:off x="638677" y="1556792"/>
            <a:ext cx="5361312" cy="613784"/>
          </a:xfrm>
          <a:prstGeom prst="rect">
            <a:avLst/>
          </a:prstGeom>
          <a:solidFill>
            <a:srgbClr val="FFFFFF">
              <a:alpha val="3568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8" name="Google Shape;28;p7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70"/>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0" name="Google Shape;30;p70"/>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31" name="Google Shape;31;p70"/>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2" name="Google Shape;32;p70"/>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pic>
        <p:nvPicPr>
          <p:cNvPr id="33" name="Google Shape;33;p70">
            <a:hlinkClick r:id="" action="ppaction://hlinkshowjump?jump=nextslide"/>
          </p:cNvPr>
          <p:cNvPicPr preferRelativeResize="0"/>
          <p:nvPr/>
        </p:nvPicPr>
        <p:blipFill rotWithShape="1">
          <a:blip r:embed="rId2">
            <a:alphaModFix/>
          </a:blip>
          <a:srcRect/>
          <a:stretch/>
        </p:blipFill>
        <p:spPr>
          <a:xfrm>
            <a:off x="11713849" y="6309320"/>
            <a:ext cx="405329" cy="450964"/>
          </a:xfrm>
          <a:prstGeom prst="rect">
            <a:avLst/>
          </a:prstGeom>
          <a:noFill/>
          <a:ln>
            <a:noFill/>
          </a:ln>
        </p:spPr>
      </p:pic>
      <p:pic>
        <p:nvPicPr>
          <p:cNvPr id="34" name="Google Shape;34;p70">
            <a:hlinkClick r:id="" action="ppaction://hlinkshowjump?jump=previousslide"/>
          </p:cNvPr>
          <p:cNvPicPr preferRelativeResize="0"/>
          <p:nvPr/>
        </p:nvPicPr>
        <p:blipFill rotWithShape="1">
          <a:blip r:embed="rId2">
            <a:alphaModFix/>
          </a:blip>
          <a:srcRect/>
          <a:stretch/>
        </p:blipFill>
        <p:spPr>
          <a:xfrm flipH="1">
            <a:off x="62622" y="6309320"/>
            <a:ext cx="405329" cy="45096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ast slide" type="titleOnly">
  <p:cSld name="TITLE_ONLY">
    <p:spTree>
      <p:nvGrpSpPr>
        <p:cNvPr id="1" name="Shape 35"/>
        <p:cNvGrpSpPr/>
        <p:nvPr/>
      </p:nvGrpSpPr>
      <p:grpSpPr>
        <a:xfrm>
          <a:off x="0" y="0"/>
          <a:ext cx="0" cy="0"/>
          <a:chOff x="0" y="0"/>
          <a:chExt cx="0" cy="0"/>
        </a:xfrm>
      </p:grpSpPr>
      <p:sp>
        <p:nvSpPr>
          <p:cNvPr id="36" name="Google Shape;36;p7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7" name="Google Shape;37;p71">
            <a:hlinkClick r:id="" action="ppaction://hlinkshowjump?jump=previousslide"/>
          </p:cNvPr>
          <p:cNvPicPr preferRelativeResize="0"/>
          <p:nvPr/>
        </p:nvPicPr>
        <p:blipFill rotWithShape="1">
          <a:blip r:embed="rId2">
            <a:alphaModFix/>
          </a:blip>
          <a:srcRect/>
          <a:stretch/>
        </p:blipFill>
        <p:spPr>
          <a:xfrm flipH="1">
            <a:off x="62622" y="6309320"/>
            <a:ext cx="405329" cy="45096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000000"/>
            </a:gs>
            <a:gs pos="80000">
              <a:srgbClr val="0F243E"/>
            </a:gs>
            <a:gs pos="100000">
              <a:srgbClr val="538CD5"/>
            </a:gs>
          </a:gsLst>
          <a:lin ang="5400000" scaled="0"/>
        </a:gradFill>
        <a:effectLst/>
      </p:bgPr>
    </p:bg>
    <p:spTree>
      <p:nvGrpSpPr>
        <p:cNvPr id="1" name="Shape 9"/>
        <p:cNvGrpSpPr/>
        <p:nvPr/>
      </p:nvGrpSpPr>
      <p:grpSpPr>
        <a:xfrm>
          <a:off x="0" y="0"/>
          <a:ext cx="0" cy="0"/>
          <a:chOff x="0" y="0"/>
          <a:chExt cx="0" cy="0"/>
        </a:xfrm>
      </p:grpSpPr>
      <p:sp>
        <p:nvSpPr>
          <p:cNvPr id="10" name="Google Shape;10;p6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marR="0" lvl="0" algn="l" rtl="0">
              <a:spcBef>
                <a:spcPts val="0"/>
              </a:spcBef>
              <a:spcAft>
                <a:spcPts val="0"/>
              </a:spcAft>
              <a:buClr>
                <a:schemeClr val="dk1"/>
              </a:buClr>
              <a:buSzPts val="4400"/>
              <a:buFont typeface="Quattrocento Sans"/>
              <a:buNone/>
              <a:defRPr sz="4400" b="0" i="0" u="none" strike="noStrike" cap="none">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6"/>
          <p:cNvSpPr txBox="1">
            <a:spLocks noGrp="1"/>
          </p:cNvSpPr>
          <p:nvPr>
            <p:ph type="body" idx="1"/>
          </p:nvPr>
        </p:nvSpPr>
        <p:spPr>
          <a:xfrm>
            <a:off x="609600" y="1268760"/>
            <a:ext cx="10972800" cy="5328592"/>
          </a:xfrm>
          <a:prstGeom prst="rect">
            <a:avLst/>
          </a:prstGeom>
          <a:noFill/>
          <a:ln>
            <a:noFill/>
          </a:ln>
        </p:spPr>
        <p:txBody>
          <a:bodyPr spcFirstLastPara="1" wrap="square" lIns="91425" tIns="45700" rIns="91425" bIns="45700" anchor="t" anchorCtr="0">
            <a:norm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Quattrocento Sans"/>
                <a:ea typeface="Quattrocento Sans"/>
                <a:cs typeface="Quattrocento Sans"/>
                <a:sym typeface="Quattrocento Sans"/>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9pPr>
          </a:lstStyle>
          <a:p>
            <a:endParaRPr/>
          </a:p>
        </p:txBody>
      </p:sp>
      <p:pic>
        <p:nvPicPr>
          <p:cNvPr id="12" name="Google Shape;12;p66" descr="C:\Users\jw\Documents\Visual Studio 2010\Projects\JSBubbles\JSBubbles.Game\images\themes\metro\Next.png">
            <a:hlinkClick r:id="" action="ppaction://hlinkshowjump?jump=nextslide"/>
          </p:cNvPr>
          <p:cNvPicPr preferRelativeResize="0"/>
          <p:nvPr/>
        </p:nvPicPr>
        <p:blipFill rotWithShape="1">
          <a:blip r:embed="rId7">
            <a:alphaModFix/>
          </a:blip>
          <a:srcRect/>
          <a:stretch/>
        </p:blipFill>
        <p:spPr>
          <a:xfrm>
            <a:off x="10672039" y="6348019"/>
            <a:ext cx="533400" cy="400050"/>
          </a:xfrm>
          <a:prstGeom prst="rect">
            <a:avLst/>
          </a:prstGeom>
          <a:noFill/>
          <a:ln>
            <a:noFill/>
          </a:ln>
        </p:spPr>
      </p:pic>
      <p:pic>
        <p:nvPicPr>
          <p:cNvPr id="13" name="Google Shape;13;p66"/>
          <p:cNvPicPr preferRelativeResize="0"/>
          <p:nvPr/>
        </p:nvPicPr>
        <p:blipFill rotWithShape="1">
          <a:blip r:embed="rId8">
            <a:alphaModFix/>
          </a:blip>
          <a:srcRect/>
          <a:stretch/>
        </p:blipFill>
        <p:spPr>
          <a:xfrm>
            <a:off x="11411520" y="6343213"/>
            <a:ext cx="533475" cy="400106"/>
          </a:xfrm>
          <a:prstGeom prst="rect">
            <a:avLst/>
          </a:prstGeom>
          <a:noFill/>
          <a:ln>
            <a:noFill/>
          </a:ln>
        </p:spPr>
      </p:pic>
      <p:pic>
        <p:nvPicPr>
          <p:cNvPr id="14" name="Google Shape;14;p66">
            <a:hlinkClick r:id="" action="ppaction://hlinkshowjump?jump=firstslide"/>
          </p:cNvPr>
          <p:cNvPicPr preferRelativeResize="0"/>
          <p:nvPr/>
        </p:nvPicPr>
        <p:blipFill rotWithShape="1">
          <a:blip r:embed="rId9">
            <a:alphaModFix/>
          </a:blip>
          <a:srcRect/>
          <a:stretch/>
        </p:blipFill>
        <p:spPr>
          <a:xfrm>
            <a:off x="9931877" y="6347991"/>
            <a:ext cx="533475" cy="400106"/>
          </a:xfrm>
          <a:prstGeom prst="rect">
            <a:avLst/>
          </a:prstGeom>
          <a:noFill/>
          <a:ln>
            <a:noFill/>
          </a:ln>
        </p:spPr>
      </p:pic>
      <p:pic>
        <p:nvPicPr>
          <p:cNvPr id="15" name="Google Shape;15;p66">
            <a:hlinkClick r:id="" action="ppaction://hlinkshowjump?jump=previousslide"/>
          </p:cNvPr>
          <p:cNvPicPr preferRelativeResize="0"/>
          <p:nvPr/>
        </p:nvPicPr>
        <p:blipFill rotWithShape="1">
          <a:blip r:embed="rId10">
            <a:alphaModFix/>
          </a:blip>
          <a:srcRect/>
          <a:stretch/>
        </p:blipFill>
        <p:spPr>
          <a:xfrm>
            <a:off x="9206401" y="6338466"/>
            <a:ext cx="558879" cy="419159"/>
          </a:xfrm>
          <a:prstGeom prst="rect">
            <a:avLst/>
          </a:prstGeom>
          <a:noFill/>
          <a:ln>
            <a:noFill/>
          </a:ln>
        </p:spPr>
      </p:pic>
      <p:sp>
        <p:nvSpPr>
          <p:cNvPr id="16" name="Google Shape;16;p66"/>
          <p:cNvSpPr/>
          <p:nvPr/>
        </p:nvSpPr>
        <p:spPr>
          <a:xfrm>
            <a:off x="5415345" y="6525344"/>
            <a:ext cx="1484508" cy="360040"/>
          </a:xfrm>
          <a:prstGeom prst="rect">
            <a:avLst/>
          </a:prstGeom>
          <a:blipFill rotWithShape="1">
            <a:blip r:embed="rId11">
              <a:alphaModFix amt="30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uowdigital.padlet.org/fergusj/2025-3dimd-brainstorm-3igzgiru8o4neldo"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ocs.unity3d.com/Manual/class-GameObject.ht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iscussions.unity.com/t/question-about-the-relationships-between-monobehaviour-namespaces-and-unity-api/827786/3"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answers.unity3d.com/questions/32413/using-constructors-in-unity-c.html"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answers.unity3d.com/questions/32413/using-constructors-in-unity-c.html"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docs.unity3d.com/uploads/Main/monobehaviour_flowchart.svg"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unity3d.com/support/documentation/ScriptReference/30_search.html?q=format" TargetMode="External"/><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2"/>
          <p:cNvSpPr txBox="1">
            <a:spLocks noGrp="1"/>
          </p:cNvSpPr>
          <p:nvPr>
            <p:ph type="ctrTitle"/>
          </p:nvPr>
        </p:nvSpPr>
        <p:spPr>
          <a:xfrm>
            <a:off x="914400" y="2130426"/>
            <a:ext cx="10363200" cy="1010543"/>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 Interactive Media Development</a:t>
            </a:r>
            <a:endParaRPr/>
          </a:p>
        </p:txBody>
      </p:sp>
      <p:sp>
        <p:nvSpPr>
          <p:cNvPr id="44" name="Google Shape;44;p2"/>
          <p:cNvSpPr txBox="1">
            <a:spLocks noGrp="1"/>
          </p:cNvSpPr>
          <p:nvPr>
            <p:ph type="subTitle" idx="1"/>
          </p:nvPr>
        </p:nvSpPr>
        <p:spPr>
          <a:xfrm>
            <a:off x="943545" y="3212976"/>
            <a:ext cx="10362069" cy="250202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FFFF00"/>
              </a:buClr>
              <a:buSzPts val="2800"/>
              <a:buNone/>
            </a:pPr>
            <a:r>
              <a:rPr lang="en-GB">
                <a:solidFill>
                  <a:srgbClr val="FFFF00"/>
                </a:solidFill>
              </a:rPr>
              <a:t>5MMCS001W					Lecture 02b-03b</a:t>
            </a:r>
            <a:endParaRPr/>
          </a:p>
          <a:p>
            <a:pPr marL="0" lvl="0" indent="0" algn="l" rtl="0">
              <a:spcBef>
                <a:spcPts val="560"/>
              </a:spcBef>
              <a:spcAft>
                <a:spcPts val="0"/>
              </a:spcAft>
              <a:buClr>
                <a:schemeClr val="dk1"/>
              </a:buClr>
              <a:buSzPts val="2800"/>
              <a:buNone/>
            </a:pPr>
            <a:endParaRPr>
              <a:solidFill>
                <a:srgbClr val="FFFF00"/>
              </a:solidFill>
            </a:endParaRPr>
          </a:p>
          <a:p>
            <a:pPr marL="0" lvl="0" indent="0" algn="ctr" rtl="0">
              <a:spcBef>
                <a:spcPts val="560"/>
              </a:spcBef>
              <a:spcAft>
                <a:spcPts val="0"/>
              </a:spcAft>
              <a:buClr>
                <a:srgbClr val="FFFF00"/>
              </a:buClr>
              <a:buSzPts val="2800"/>
              <a:buNone/>
            </a:pPr>
            <a:r>
              <a:rPr lang="en-GB">
                <a:solidFill>
                  <a:srgbClr val="FFFF00"/>
                </a:solidFill>
              </a:rPr>
              <a:t>C# in Unity and OOP, Triggering Animations, Basic Movement and Input, Leading to Unity UI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51" name="Google Shape;51;p3"/>
          <p:cNvSpPr txBox="1"/>
          <p:nvPr/>
        </p:nvSpPr>
        <p:spPr>
          <a:xfrm>
            <a:off x="609600" y="1293507"/>
            <a:ext cx="6819900" cy="43396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i="0" u="none" strike="noStrike" cap="none">
                <a:solidFill>
                  <a:srgbClr val="FFFF00"/>
                </a:solidFill>
                <a:latin typeface="Quattrocento Sans"/>
                <a:ea typeface="Quattrocento Sans"/>
                <a:cs typeface="Quattrocento Sans"/>
                <a:sym typeface="Quattrocento Sans"/>
              </a:rPr>
              <a:t>This week:</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Lecture</a:t>
            </a: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Recap</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OOP</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C# in Unity</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Triggering Animations</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Basic Movement and Input</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Moving on to Unity UI</a:t>
            </a:r>
            <a:endParaRPr>
              <a:solidFill>
                <a:schemeClr val="dk1"/>
              </a:solidFill>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endParaRPr>
          </a:p>
          <a:p>
            <a:pPr marL="0" marR="0" lvl="0" indent="0" algn="l" rtl="0">
              <a:spcBef>
                <a:spcPts val="0"/>
              </a:spcBef>
              <a:spcAft>
                <a:spcPts val="0"/>
              </a:spcAft>
              <a:buNone/>
            </a:pPr>
            <a:r>
              <a:rPr lang="en-GB" sz="2000" b="1">
                <a:solidFill>
                  <a:srgbClr val="FFFF00"/>
                </a:solidFill>
                <a:latin typeface="Quattrocento Sans"/>
                <a:ea typeface="Quattrocento Sans"/>
                <a:cs typeface="Quattrocento Sans"/>
                <a:sym typeface="Quattrocento Sans"/>
              </a:rPr>
              <a:t>Tutorial</a:t>
            </a:r>
            <a:endParaRPr/>
          </a:p>
          <a:p>
            <a:r>
              <a:rPr lang="en-GB" sz="1800">
                <a:solidFill>
                  <a:srgbClr val="FFFFFF"/>
                </a:solidFill>
                <a:latin typeface="Quattrocento Sans"/>
                <a:ea typeface="Quattrocento Sans"/>
                <a:cs typeface="Quattrocento Sans"/>
                <a:sym typeface="Quattrocento Sans"/>
              </a:rPr>
              <a:t>More Unity Animation and tutorial sheets </a:t>
            </a:r>
            <a:endParaRPr/>
          </a:p>
          <a:p>
            <a:pPr marL="0" marR="0" lvl="0" indent="0" algn="l" rtl="0">
              <a:spcBef>
                <a:spcPts val="0"/>
              </a:spcBef>
              <a:spcAft>
                <a:spcPts val="0"/>
              </a:spcAft>
              <a:buNone/>
            </a:pPr>
            <a:r>
              <a:rPr lang="en-GB" sz="1800">
                <a:solidFill>
                  <a:srgbClr val="FFFFFF"/>
                </a:solidFill>
                <a:latin typeface="Quattrocento Sans"/>
                <a:ea typeface="Quattrocento Sans"/>
                <a:cs typeface="Quattrocento Sans"/>
                <a:sym typeface="Quattrocento Sans"/>
              </a:rPr>
              <a:t>Moving on – Unity UI</a:t>
            </a:r>
            <a:endParaRPr sz="1800">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0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4"/>
          <p:cNvSpPr txBox="1"/>
          <p:nvPr/>
        </p:nvSpPr>
        <p:spPr>
          <a:xfrm>
            <a:off x="609600" y="1412777"/>
            <a:ext cx="10979580" cy="21236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a:t>
            </a:r>
            <a:endParaRPr lang="en-GB" sz="3600">
              <a:solidFill>
                <a:srgbClr val="FFFF00"/>
              </a:solidFill>
              <a:latin typeface="Quattrocento Sans"/>
              <a:ea typeface="Quattrocento Sans"/>
              <a:cs typeface="Quattrocento Sans"/>
            </a:endParaRPr>
          </a:p>
          <a:p>
            <a:endParaRPr lang="en-GB" sz="3600">
              <a:solidFill>
                <a:srgbClr val="FFFF00"/>
              </a:solidFill>
              <a:latin typeface="Quattrocento Sans"/>
            </a:endParaRPr>
          </a:p>
          <a:p>
            <a:r>
              <a:rPr lang="en-GB" sz="3600">
                <a:solidFill>
                  <a:srgbClr val="FFFF00"/>
                </a:solidFill>
                <a:latin typeface="Quattrocento Sans"/>
              </a:rPr>
              <a:t>If familiar, please work on brainstorming on: </a:t>
            </a:r>
          </a:p>
          <a:p>
            <a:r>
              <a:rPr lang="en-GB" sz="2400">
                <a:solidFill>
                  <a:srgbClr val="FFFF00"/>
                </a:solidFill>
                <a:hlinkClick r:id="rId3"/>
              </a:rPr>
              <a:t>https://uowdigital.padlet.org/fergusj/2025-3dimd-brainstorm-3igzgiru8o4neldo</a:t>
            </a:r>
            <a:r>
              <a:rPr lang="en-GB" sz="2400">
                <a:solidFill>
                  <a:srgbClr val="FFFF00"/>
                </a:solidFill>
              </a:rPr>
              <a:t> </a:t>
            </a:r>
            <a:endParaRPr lang="en-GB"/>
          </a:p>
        </p:txBody>
      </p:sp>
      <p:sp>
        <p:nvSpPr>
          <p:cNvPr id="58" name="Google Shape;58;p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5"/>
          <p:cNvSpPr txBox="1"/>
          <p:nvPr/>
        </p:nvSpPr>
        <p:spPr>
          <a:xfrm>
            <a:off x="609600" y="1412777"/>
            <a:ext cx="10942391"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a:t>
            </a:r>
            <a:r>
              <a:rPr lang="en-GB" sz="3600" err="1">
                <a:solidFill>
                  <a:srgbClr val="FFFF00"/>
                </a:solidFill>
                <a:latin typeface="Quattrocento Sans"/>
                <a:ea typeface="Quattrocento Sans"/>
                <a:cs typeface="Quattrocento Sans"/>
                <a:sym typeface="Quattrocento Sans"/>
              </a:rPr>
              <a:t>GameObjects</a:t>
            </a:r>
            <a:r>
              <a:rPr lang="en-GB" sz="3600">
                <a:solidFill>
                  <a:srgbClr val="FFFF00"/>
                </a:solidFill>
                <a:latin typeface="Quattrocento Sans"/>
                <a:ea typeface="Quattrocento Sans"/>
                <a:cs typeface="Quattrocento Sans"/>
                <a:sym typeface="Quattrocento Sans"/>
              </a:rPr>
              <a:t>)</a:t>
            </a:r>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000" err="1">
                <a:solidFill>
                  <a:srgbClr val="FFFF00"/>
                </a:solidFill>
                <a:latin typeface="Quattrocento Sans"/>
                <a:ea typeface="Quattrocento Sans"/>
                <a:cs typeface="Quattrocento Sans"/>
                <a:sym typeface="Quattrocento Sans"/>
              </a:rPr>
              <a:t>GameObjects</a:t>
            </a:r>
            <a:r>
              <a:rPr lang="en-GB" sz="2000">
                <a:solidFill>
                  <a:srgbClr val="FFFF00"/>
                </a:solidFill>
                <a:latin typeface="Quattrocento Sans"/>
                <a:ea typeface="Quattrocento Sans"/>
                <a:cs typeface="Quattrocento Sans"/>
                <a:sym typeface="Quattrocento Sans"/>
              </a:rPr>
              <a:t> and Components:</a:t>
            </a:r>
            <a:endParaRPr/>
          </a:p>
          <a:p>
            <a:pPr marL="0" marR="0" lvl="0" indent="0" algn="l" rtl="0">
              <a:spcBef>
                <a:spcPts val="0"/>
              </a:spcBef>
              <a:spcAft>
                <a:spcPts val="0"/>
              </a:spcAft>
              <a:buNone/>
            </a:pPr>
            <a:r>
              <a:rPr lang="en-GB" sz="2000" i="1">
                <a:solidFill>
                  <a:schemeClr val="dk1"/>
                </a:solidFill>
                <a:latin typeface="Quattrocento Sans"/>
                <a:ea typeface="Quattrocento Sans"/>
                <a:cs typeface="Quattrocento Sans"/>
                <a:sym typeface="Quattrocento Sans"/>
              </a:rPr>
              <a:t>Base </a:t>
            </a:r>
            <a:r>
              <a:rPr lang="en-GB" sz="2000" i="1" err="1">
                <a:solidFill>
                  <a:schemeClr val="dk1"/>
                </a:solidFill>
                <a:latin typeface="Quattrocento Sans"/>
                <a:ea typeface="Quattrocento Sans"/>
                <a:cs typeface="Quattrocento Sans"/>
                <a:sym typeface="Quattrocento Sans"/>
              </a:rPr>
              <a:t>GameObject</a:t>
            </a:r>
            <a:r>
              <a:rPr lang="en-GB" sz="2000" i="1">
                <a:solidFill>
                  <a:schemeClr val="dk1"/>
                </a:solidFill>
                <a:latin typeface="Quattrocento Sans"/>
                <a:ea typeface="Quattrocento Sans"/>
                <a:cs typeface="Quattrocento Sans"/>
                <a:sym typeface="Quattrocento Sans"/>
              </a:rPr>
              <a:t> has name, tag, layer, and transform component</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Scripts Are Components and define the empty </a:t>
            </a:r>
            <a:r>
              <a:rPr lang="en-GB" sz="2000" err="1">
                <a:solidFill>
                  <a:schemeClr val="dk1"/>
                </a:solidFill>
                <a:latin typeface="Quattrocento Sans"/>
                <a:ea typeface="Quattrocento Sans"/>
                <a:cs typeface="Quattrocento Sans"/>
                <a:sym typeface="Quattrocento Sans"/>
              </a:rPr>
              <a:t>GameObject</a:t>
            </a:r>
            <a:endParaRPr err="1">
              <a:solidFill>
                <a:schemeClr val="dk1"/>
              </a:solidFill>
            </a:endParaRPr>
          </a:p>
          <a:p>
            <a:r>
              <a:rPr lang="en-GB" sz="2000" err="1">
                <a:solidFill>
                  <a:schemeClr val="dk1"/>
                </a:solidFill>
                <a:latin typeface="Quattrocento Sans"/>
                <a:ea typeface="Quattrocento Sans"/>
                <a:cs typeface="Quattrocento Sans"/>
                <a:sym typeface="Quattrocento Sans"/>
              </a:rPr>
              <a:t>GameObjects</a:t>
            </a:r>
            <a:r>
              <a:rPr lang="en-GB" sz="2000">
                <a:solidFill>
                  <a:schemeClr val="dk1"/>
                </a:solidFill>
                <a:latin typeface="Quattrocento Sans"/>
                <a:ea typeface="Quattrocento Sans"/>
                <a:cs typeface="Quattrocento Sans"/>
                <a:sym typeface="Quattrocento Sans"/>
              </a:rPr>
              <a:t> are </a:t>
            </a:r>
            <a:r>
              <a:rPr lang="en-GB" sz="2000">
                <a:solidFill>
                  <a:srgbClr val="FF0000"/>
                </a:solidFill>
                <a:latin typeface="Quattrocento Sans"/>
                <a:ea typeface="Quattrocento Sans"/>
                <a:cs typeface="Quattrocento Sans"/>
                <a:sym typeface="Quattrocento Sans"/>
              </a:rPr>
              <a:t>Initialised</a:t>
            </a:r>
            <a:r>
              <a:rPr lang="en-GB" sz="2000">
                <a:solidFill>
                  <a:schemeClr val="dk1"/>
                </a:solidFill>
                <a:latin typeface="Quattrocento Sans"/>
                <a:ea typeface="Quattrocento Sans"/>
                <a:cs typeface="Quattrocento Sans"/>
                <a:sym typeface="Quattrocento Sans"/>
              </a:rPr>
              <a:t> and run when play is pressed </a:t>
            </a:r>
            <a:endParaRPr lang="en-GB">
              <a:solidFill>
                <a:schemeClr val="dk1"/>
              </a:solidFill>
              <a:ea typeface="Quattrocento Sans"/>
              <a:sym typeface="Quattrocento Sans"/>
            </a:endParaRPr>
          </a:p>
          <a:p>
            <a:endParaRPr lang="en-GB" sz="20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Scripts must be attached to a </a:t>
            </a:r>
            <a:r>
              <a:rPr lang="en-GB" sz="2000" err="1">
                <a:solidFill>
                  <a:schemeClr val="dk1"/>
                </a:solidFill>
                <a:latin typeface="Quattrocento Sans"/>
                <a:ea typeface="Quattrocento Sans"/>
                <a:cs typeface="Quattrocento Sans"/>
                <a:sym typeface="Quattrocento Sans"/>
              </a:rPr>
              <a:t>GameObject</a:t>
            </a:r>
            <a:r>
              <a:rPr lang="en-GB" sz="2000">
                <a:solidFill>
                  <a:schemeClr val="dk1"/>
                </a:solidFill>
                <a:latin typeface="Quattrocento Sans"/>
                <a:ea typeface="Quattrocento Sans"/>
                <a:cs typeface="Quattrocento Sans"/>
                <a:sym typeface="Quattrocento Sans"/>
              </a:rPr>
              <a:t> in order for scripts to run.</a:t>
            </a:r>
            <a:endParaRPr>
              <a:solidFill>
                <a:schemeClr val="dk1"/>
              </a:solidFill>
            </a:endParaRPr>
          </a:p>
          <a:p>
            <a:pPr marL="0" marR="0" lvl="0" indent="0" algn="l" rtl="0">
              <a:spcBef>
                <a:spcPts val="0"/>
              </a:spcBef>
              <a:spcAft>
                <a:spcPts val="0"/>
              </a:spcAft>
              <a:buNone/>
            </a:pPr>
            <a:r>
              <a:rPr lang="en-GB" sz="2000" i="1">
                <a:solidFill>
                  <a:srgbClr val="FFFF00"/>
                </a:solidFill>
                <a:latin typeface="Quattrocento Sans"/>
                <a:ea typeface="Quattrocento Sans"/>
                <a:cs typeface="Quattrocento Sans"/>
                <a:sym typeface="Quattrocento Sans"/>
              </a:rPr>
              <a:t>Scripts can be attached to an Empty </a:t>
            </a:r>
            <a:r>
              <a:rPr lang="en-GB" sz="2000" i="1" err="1">
                <a:solidFill>
                  <a:srgbClr val="FFFF00"/>
                </a:solidFill>
                <a:latin typeface="Quattrocento Sans"/>
                <a:ea typeface="Quattrocento Sans"/>
                <a:cs typeface="Quattrocento Sans"/>
                <a:sym typeface="Quattrocento Sans"/>
              </a:rPr>
              <a:t>gameObject</a:t>
            </a:r>
            <a:r>
              <a:rPr lang="en-GB" sz="2000" i="1">
                <a:solidFill>
                  <a:srgbClr val="FFFF00"/>
                </a:solidFill>
                <a:latin typeface="Quattrocento Sans"/>
                <a:ea typeface="Quattrocento Sans"/>
                <a:cs typeface="Quattrocento Sans"/>
                <a:sym typeface="Quattrocento Sans"/>
              </a:rPr>
              <a:t>.</a:t>
            </a:r>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All </a:t>
            </a:r>
            <a:r>
              <a:rPr lang="en-GB" sz="2000" err="1">
                <a:solidFill>
                  <a:schemeClr val="dk1"/>
                </a:solidFill>
                <a:latin typeface="Quattrocento Sans"/>
                <a:ea typeface="Quattrocento Sans"/>
                <a:cs typeface="Quattrocento Sans"/>
                <a:sym typeface="Quattrocento Sans"/>
              </a:rPr>
              <a:t>GameObjects</a:t>
            </a:r>
            <a:r>
              <a:rPr lang="en-GB" sz="2000">
                <a:solidFill>
                  <a:schemeClr val="dk1"/>
                </a:solidFill>
                <a:latin typeface="Quattrocento Sans"/>
                <a:ea typeface="Quattrocento Sans"/>
                <a:cs typeface="Quattrocento Sans"/>
                <a:sym typeface="Quattrocento Sans"/>
              </a:rPr>
              <a:t> Components and Scripts in scene(s) in build</a:t>
            </a:r>
            <a:endParaRPr>
              <a:solidFill>
                <a:schemeClr val="dk1"/>
              </a:solidFill>
            </a:endParaRPr>
          </a:p>
          <a:p>
            <a:r>
              <a:rPr lang="en-GB" sz="2000">
                <a:solidFill>
                  <a:schemeClr val="dk1"/>
                </a:solidFill>
                <a:latin typeface="Quattrocento Sans"/>
                <a:ea typeface="Quattrocento Sans"/>
                <a:cs typeface="Quattrocento Sans"/>
                <a:sym typeface="Quattrocento Sans"/>
              </a:rPr>
              <a:t>Are available to run if accessed and visible. </a:t>
            </a:r>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000" i="1" err="1">
                <a:solidFill>
                  <a:srgbClr val="FFFF00"/>
                </a:solidFill>
                <a:latin typeface="Quattrocento Sans"/>
                <a:ea typeface="Quattrocento Sans"/>
                <a:cs typeface="Quattrocento Sans"/>
                <a:sym typeface="Quattrocento Sans"/>
              </a:rPr>
              <a:t>GameObjects</a:t>
            </a:r>
            <a:r>
              <a:rPr lang="en-GB" sz="2000" i="1">
                <a:solidFill>
                  <a:srgbClr val="FFFF00"/>
                </a:solidFill>
                <a:latin typeface="Quattrocento Sans"/>
                <a:ea typeface="Quattrocento Sans"/>
                <a:cs typeface="Quattrocento Sans"/>
                <a:sym typeface="Quattrocento Sans"/>
              </a:rPr>
              <a:t> will have variable and references that can be modified.</a:t>
            </a:r>
            <a:endParaRPr/>
          </a:p>
          <a:p>
            <a:pPr marL="0" marR="0" lvl="0" indent="0" algn="l" rtl="0">
              <a:spcBef>
                <a:spcPts val="0"/>
              </a:spcBef>
              <a:spcAft>
                <a:spcPts val="0"/>
              </a:spcAft>
              <a:buNone/>
            </a:pPr>
            <a:r>
              <a:rPr lang="en-GB" sz="2000" i="1">
                <a:solidFill>
                  <a:srgbClr val="FFFF00"/>
                </a:solidFill>
                <a:latin typeface="Quattrocento Sans"/>
                <a:ea typeface="Quattrocento Sans"/>
                <a:cs typeface="Quattrocento Sans"/>
                <a:sym typeface="Quattrocento Sans"/>
              </a:rPr>
              <a:t>References can be to any Components, </a:t>
            </a:r>
            <a:r>
              <a:rPr lang="en-GB" sz="2000" i="1" err="1">
                <a:solidFill>
                  <a:srgbClr val="FFFF00"/>
                </a:solidFill>
                <a:latin typeface="Quattrocento Sans"/>
                <a:ea typeface="Quattrocento Sans"/>
                <a:cs typeface="Quattrocento Sans"/>
                <a:sym typeface="Quattrocento Sans"/>
              </a:rPr>
              <a:t>GameObjects</a:t>
            </a:r>
            <a:r>
              <a:rPr lang="en-GB" sz="2000" i="1">
                <a:solidFill>
                  <a:srgbClr val="FFFF00"/>
                </a:solidFill>
                <a:latin typeface="Quattrocento Sans"/>
                <a:ea typeface="Quattrocento Sans"/>
                <a:cs typeface="Quattrocento Sans"/>
                <a:sym typeface="Quattrocento Sans"/>
              </a:rPr>
              <a:t>, or Assets.</a:t>
            </a:r>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65" name="Google Shape;65;p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6"/>
          <p:cNvSpPr txBox="1"/>
          <p:nvPr/>
        </p:nvSpPr>
        <p:spPr>
          <a:xfrm>
            <a:off x="609600" y="1412776"/>
            <a:ext cx="10972800" cy="26776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Quattrocento Sans"/>
              <a:buNone/>
            </a:pPr>
            <a:endParaRPr sz="2400" b="1" i="1"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FF0000"/>
              </a:buClr>
              <a:buSzPts val="2400"/>
              <a:buFont typeface="Quattrocento Sans"/>
              <a:buNone/>
            </a:pPr>
            <a:r>
              <a:rPr lang="en-GB" sz="2400" i="1" u="none" strike="noStrike" cap="none">
                <a:solidFill>
                  <a:srgbClr val="00B0F0"/>
                </a:solidFill>
                <a:latin typeface="Quattrocento Sans"/>
                <a:ea typeface="Quattrocento Sans"/>
                <a:cs typeface="Quattrocento Sans"/>
                <a:sym typeface="Quattrocento Sans"/>
              </a:rPr>
              <a:t>Could create all elements from empty </a:t>
            </a:r>
            <a:r>
              <a:rPr lang="en-GB" sz="2400" i="1" u="none" strike="noStrike" cap="none" err="1">
                <a:solidFill>
                  <a:srgbClr val="00B0F0"/>
                </a:solidFill>
                <a:latin typeface="Quattrocento Sans"/>
                <a:ea typeface="Quattrocento Sans"/>
                <a:cs typeface="Quattrocento Sans"/>
                <a:sym typeface="Quattrocento Sans"/>
              </a:rPr>
              <a:t>GameObject</a:t>
            </a:r>
            <a:r>
              <a:rPr lang="en-GB" sz="2400" i="1" u="none" strike="noStrike" cap="none">
                <a:solidFill>
                  <a:srgbClr val="00B0F0"/>
                </a:solidFill>
                <a:latin typeface="Quattrocento Sans"/>
                <a:ea typeface="Quattrocento Sans"/>
                <a:cs typeface="Quattrocento Sans"/>
                <a:sym typeface="Quattrocento Sans"/>
              </a:rPr>
              <a:t> if desired.</a:t>
            </a:r>
            <a:endParaRPr sz="2400" i="1" u="none" strike="noStrike" cap="none">
              <a:solidFill>
                <a:srgbClr val="00B0F0"/>
              </a:solidFill>
              <a:latin typeface="Quattrocento Sans"/>
              <a:ea typeface="Quattrocento Sans"/>
              <a:cs typeface="Quattrocento Sans"/>
            </a:endParaRPr>
          </a:p>
          <a:p>
            <a:pPr marL="0" marR="0" lvl="0" indent="0" algn="l" rtl="0">
              <a:lnSpc>
                <a:spcPct val="100000"/>
              </a:lnSpc>
              <a:spcBef>
                <a:spcPts val="0"/>
              </a:spcBef>
              <a:spcAft>
                <a:spcPts val="0"/>
              </a:spcAft>
              <a:buClr>
                <a:srgbClr val="FF0000"/>
              </a:buClr>
              <a:buSzPts val="2400"/>
              <a:buFont typeface="Quattrocento Sans"/>
              <a:buNone/>
            </a:pPr>
            <a:r>
              <a:rPr lang="en-GB" sz="2400" i="1" u="sng" strike="noStrike" cap="none">
                <a:solidFill>
                  <a:srgbClr val="00B0F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https://docs.unity3d.com/Manual/class-GameObject.html</a:t>
            </a:r>
            <a:endParaRPr sz="2400" i="1" u="none" strike="noStrike" cap="none">
              <a:solidFill>
                <a:srgbClr val="00B0F0"/>
              </a:solidFill>
              <a:latin typeface="Quattrocento Sans"/>
              <a:ea typeface="Quattrocento Sans"/>
              <a:cs typeface="Quattrocento Sans"/>
            </a:endParaRPr>
          </a:p>
          <a:p>
            <a:pPr marL="0" marR="0" lvl="0" indent="0" algn="l" rtl="0">
              <a:lnSpc>
                <a:spcPct val="100000"/>
              </a:lnSpc>
              <a:spcBef>
                <a:spcPts val="0"/>
              </a:spcBef>
              <a:spcAft>
                <a:spcPts val="0"/>
              </a:spcAft>
              <a:buClr>
                <a:schemeClr val="dk1"/>
              </a:buClr>
              <a:buSzPts val="2400"/>
              <a:buFont typeface="Quattrocento Sans"/>
              <a:buNone/>
            </a:pPr>
            <a:endParaRPr sz="2400" i="1">
              <a:solidFill>
                <a:srgbClr val="00B0F0"/>
              </a:solidFill>
              <a:latin typeface="Quattrocento Sans"/>
              <a:ea typeface="Quattrocento Sans"/>
              <a:cs typeface="Quattrocento Sans"/>
            </a:endParaRPr>
          </a:p>
          <a:p>
            <a:pPr marL="0" marR="0" lvl="0" indent="0" algn="l" rtl="0">
              <a:lnSpc>
                <a:spcPct val="100000"/>
              </a:lnSpc>
              <a:spcBef>
                <a:spcPts val="0"/>
              </a:spcBef>
              <a:spcAft>
                <a:spcPts val="0"/>
              </a:spcAft>
              <a:buClr>
                <a:srgbClr val="FF0000"/>
              </a:buClr>
              <a:buSzPts val="2400"/>
              <a:buFont typeface="Quattrocento Sans"/>
              <a:buNone/>
            </a:pPr>
            <a:r>
              <a:rPr lang="en-GB" sz="2400" i="1" u="none" strike="noStrike" cap="none">
                <a:solidFill>
                  <a:srgbClr val="00B0F0"/>
                </a:solidFill>
                <a:latin typeface="Quattrocento Sans"/>
                <a:ea typeface="Quattrocento Sans"/>
                <a:cs typeface="Quattrocento Sans"/>
                <a:sym typeface="Quattrocento Sans"/>
              </a:rPr>
              <a:t>Unity is initialised and run from the Main Camera object.</a:t>
            </a:r>
            <a:endParaRPr>
              <a:solidFill>
                <a:srgbClr val="00B0F0"/>
              </a:solidFill>
            </a:endParaRPr>
          </a:p>
          <a:p>
            <a:pPr marL="0" marR="0" lvl="0" indent="0" algn="l" rtl="0">
              <a:lnSpc>
                <a:spcPct val="100000"/>
              </a:lnSpc>
              <a:spcBef>
                <a:spcPts val="0"/>
              </a:spcBef>
              <a:spcAft>
                <a:spcPts val="0"/>
              </a:spcAft>
              <a:buClr>
                <a:srgbClr val="FF0000"/>
              </a:buClr>
              <a:buSzPts val="2400"/>
              <a:buFont typeface="Quattrocento Sans"/>
              <a:buNone/>
            </a:pPr>
            <a:r>
              <a:rPr lang="en-GB" sz="2400" i="1">
                <a:solidFill>
                  <a:srgbClr val="00B0F0"/>
                </a:solidFill>
                <a:latin typeface="Quattrocento Sans"/>
                <a:ea typeface="Quattrocento Sans"/>
                <a:cs typeface="Quattrocento Sans"/>
                <a:sym typeface="Quattrocento Sans"/>
              </a:rPr>
              <a:t>This is the minimum requirement in order to build and run a scene/level</a:t>
            </a:r>
            <a:endParaRPr sz="2400" i="1" u="none" strike="noStrike" cap="none">
              <a:solidFill>
                <a:srgbClr val="00B0F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chemeClr val="dk1"/>
              </a:buClr>
              <a:buSzPts val="2400"/>
              <a:buFont typeface="Quattrocento Sans"/>
              <a:buNone/>
            </a:pPr>
            <a:endParaRPr sz="2400" b="1" i="0" u="none" strike="noStrike" cap="none">
              <a:solidFill>
                <a:srgbClr val="FF0000"/>
              </a:solidFill>
              <a:latin typeface="Quattrocento Sans"/>
              <a:ea typeface="Quattrocento Sans"/>
              <a:cs typeface="Quattrocento Sans"/>
              <a:sym typeface="Quattrocento Sans"/>
            </a:endParaRPr>
          </a:p>
        </p:txBody>
      </p:sp>
      <p:sp>
        <p:nvSpPr>
          <p:cNvPr id="72" name="Google Shape;72;p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7"/>
          <p:cNvSpPr txBox="1"/>
          <p:nvPr/>
        </p:nvSpPr>
        <p:spPr>
          <a:xfrm>
            <a:off x="609600" y="1412776"/>
            <a:ext cx="10947476" cy="46474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(Components)</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i="1">
                <a:solidFill>
                  <a:schemeClr val="dk1"/>
                </a:solidFill>
                <a:latin typeface="Quattrocento Sans"/>
                <a:ea typeface="Quattrocento Sans"/>
                <a:cs typeface="Quattrocento Sans"/>
                <a:sym typeface="Quattrocento Sans"/>
              </a:rPr>
              <a:t>Components are scripts, either pre-defined library or user defined</a:t>
            </a:r>
            <a:endParaRPr>
              <a:solidFill>
                <a:schemeClr val="dk1"/>
              </a:solidFill>
            </a:endParaRPr>
          </a:p>
          <a:p>
            <a:pPr marL="0" marR="0" lvl="0" indent="0" algn="l" rtl="0">
              <a:spcBef>
                <a:spcPts val="0"/>
              </a:spcBef>
              <a:spcAft>
                <a:spcPts val="0"/>
              </a:spcAft>
              <a:buNone/>
            </a:pPr>
            <a:endParaRPr sz="2400" i="1">
              <a:solidFill>
                <a:schemeClr val="dk1"/>
              </a:solidFill>
              <a:latin typeface="Quattrocento Sans"/>
              <a:ea typeface="Quattrocento Sans"/>
              <a:cs typeface="Quattrocento Sans"/>
            </a:endParaRPr>
          </a:p>
          <a:p>
            <a:r>
              <a:rPr lang="en-GB" sz="2400" i="1" err="1">
                <a:solidFill>
                  <a:schemeClr val="dk1"/>
                </a:solidFill>
                <a:latin typeface="Quattrocento Sans"/>
                <a:ea typeface="Quattrocento Sans"/>
                <a:cs typeface="Quattrocento Sans"/>
                <a:sym typeface="Quattrocento Sans"/>
              </a:rPr>
              <a:t>GameObjects</a:t>
            </a:r>
            <a:r>
              <a:rPr lang="en-GB" sz="2400" i="1">
                <a:solidFill>
                  <a:schemeClr val="dk1"/>
                </a:solidFill>
                <a:latin typeface="Quattrocento Sans"/>
                <a:ea typeface="Quattrocento Sans"/>
                <a:cs typeface="Quattrocento Sans"/>
                <a:sym typeface="Quattrocento Sans"/>
              </a:rPr>
              <a:t> will come with default Components depending on </a:t>
            </a:r>
            <a:endParaRPr lang="en-GB">
              <a:solidFill>
                <a:schemeClr val="dk1"/>
              </a:solidFill>
              <a:ea typeface="Quattrocento Sans"/>
              <a:sym typeface="Quattrocento Sans"/>
            </a:endParaRPr>
          </a:p>
          <a:p>
            <a:pPr marL="0" marR="0" lvl="0" indent="0" algn="l" rtl="0">
              <a:spcBef>
                <a:spcPts val="0"/>
              </a:spcBef>
              <a:spcAft>
                <a:spcPts val="0"/>
              </a:spcAft>
              <a:buNone/>
            </a:pPr>
            <a:r>
              <a:rPr lang="en-GB" sz="2400" i="1">
                <a:solidFill>
                  <a:schemeClr val="dk1"/>
                </a:solidFill>
                <a:latin typeface="Quattrocento Sans"/>
                <a:ea typeface="Quattrocento Sans"/>
                <a:cs typeface="Quattrocento Sans"/>
                <a:sym typeface="Quattrocento Sans"/>
              </a:rPr>
              <a:t>Type, and these define the blank </a:t>
            </a:r>
            <a:r>
              <a:rPr lang="en-GB" sz="2400" i="1" err="1">
                <a:solidFill>
                  <a:schemeClr val="dk1"/>
                </a:solidFill>
                <a:latin typeface="Quattrocento Sans"/>
                <a:ea typeface="Quattrocento Sans"/>
                <a:cs typeface="Quattrocento Sans"/>
                <a:sym typeface="Quattrocento Sans"/>
              </a:rPr>
              <a:t>GameObject</a:t>
            </a:r>
            <a:r>
              <a:rPr lang="en-GB" sz="2400" i="1">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endParaRPr>
          </a:p>
          <a:p>
            <a:r>
              <a:rPr lang="en-GB" sz="2400">
                <a:solidFill>
                  <a:srgbClr val="FFFF00"/>
                </a:solidFill>
                <a:latin typeface="Quattrocento Sans"/>
                <a:ea typeface="Quattrocento Sans"/>
                <a:cs typeface="Quattrocento Sans"/>
                <a:sym typeface="Quattrocento Sans"/>
              </a:rPr>
              <a:t>The Transform Component is the basic </a:t>
            </a:r>
            <a:r>
              <a:rPr lang="en-GB" sz="2400" err="1">
                <a:solidFill>
                  <a:srgbClr val="FFFF00"/>
                </a:solidFill>
                <a:latin typeface="Quattrocento Sans"/>
                <a:ea typeface="Quattrocento Sans"/>
                <a:cs typeface="Quattrocento Sans"/>
                <a:sym typeface="Quattrocento Sans"/>
              </a:rPr>
              <a:t>GameObject</a:t>
            </a:r>
            <a:r>
              <a:rPr lang="en-GB" sz="2400">
                <a:solidFill>
                  <a:srgbClr val="FFFF00"/>
                </a:solidFill>
                <a:latin typeface="Quattrocento Sans"/>
                <a:ea typeface="Quattrocento Sans"/>
                <a:cs typeface="Quattrocento Sans"/>
                <a:sym typeface="Quattrocento Sans"/>
              </a:rPr>
              <a:t> Component, </a:t>
            </a:r>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Along with name, tag, and layer.</a:t>
            </a:r>
            <a:endParaRPr/>
          </a:p>
          <a:p>
            <a:pPr marL="0" marR="0" lvl="0" indent="0" algn="l" rtl="0">
              <a:spcBef>
                <a:spcPts val="0"/>
              </a:spcBef>
              <a:spcAft>
                <a:spcPts val="0"/>
              </a:spcAft>
              <a:buNone/>
            </a:pPr>
            <a:endParaRPr sz="2000" b="1" i="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79" name="Google Shape;79;p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8"/>
          <p:cNvSpPr txBox="1"/>
          <p:nvPr/>
        </p:nvSpPr>
        <p:spPr>
          <a:xfrm>
            <a:off x="609600" y="1412777"/>
            <a:ext cx="10970979" cy="39702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Basic Architecture (Inspector Window)</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endParaRPr>
          </a:p>
          <a:p>
            <a:r>
              <a:rPr lang="en-GB" sz="1800" err="1">
                <a:solidFill>
                  <a:schemeClr val="dk1"/>
                </a:solidFill>
                <a:latin typeface="Quattrocento Sans"/>
                <a:ea typeface="Quattrocento Sans"/>
                <a:cs typeface="Quattrocento Sans"/>
                <a:sym typeface="Quattrocento Sans"/>
              </a:rPr>
              <a:t>GameObjects</a:t>
            </a:r>
            <a:r>
              <a:rPr lang="en-GB" sz="1800">
                <a:solidFill>
                  <a:schemeClr val="dk1"/>
                </a:solidFill>
                <a:latin typeface="Quattrocento Sans"/>
                <a:ea typeface="Quattrocento Sans"/>
                <a:cs typeface="Quattrocento Sans"/>
                <a:sym typeface="Quattrocento Sans"/>
              </a:rPr>
              <a:t>, Scripts, and other assets are available for review and change in the Inspector Window. This exposes the individual components attached. You can add, remove, toggle active mode, or change and add/subtract parameters that are exposed. </a:t>
            </a:r>
            <a:endParaRPr>
              <a:solidFill>
                <a:schemeClr val="dk1"/>
              </a:solidFill>
            </a:endParaRPr>
          </a:p>
          <a:p>
            <a:pPr marL="0" marR="0" lvl="0" indent="0" algn="l" rtl="0">
              <a:spcBef>
                <a:spcPts val="0"/>
              </a:spcBef>
              <a:spcAft>
                <a:spcPts val="0"/>
              </a:spcAft>
              <a:buNone/>
            </a:pPr>
            <a:endParaRPr sz="1800" i="1">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1800" i="1">
                <a:solidFill>
                  <a:schemeClr val="dk1"/>
                </a:solidFill>
                <a:latin typeface="Quattrocento Sans"/>
                <a:ea typeface="Quattrocento Sans"/>
                <a:cs typeface="Quattrocento Sans"/>
                <a:sym typeface="Quattrocento Sans"/>
              </a:rPr>
              <a:t>Public script </a:t>
            </a:r>
            <a:r>
              <a:rPr lang="en-GB" sz="1800" i="1">
                <a:solidFill>
                  <a:srgbClr val="FFFF00"/>
                </a:solidFill>
                <a:latin typeface="Quattrocento Sans"/>
                <a:ea typeface="Quattrocento Sans"/>
                <a:cs typeface="Quattrocento Sans"/>
                <a:sym typeface="Quattrocento Sans"/>
              </a:rPr>
              <a:t>variables </a:t>
            </a:r>
            <a:r>
              <a:rPr lang="en-GB" sz="1800" i="1">
                <a:solidFill>
                  <a:schemeClr val="dk1"/>
                </a:solidFill>
                <a:latin typeface="Quattrocento Sans"/>
                <a:ea typeface="Quattrocento Sans"/>
                <a:cs typeface="Quattrocento Sans"/>
                <a:sym typeface="Quattrocento Sans"/>
              </a:rPr>
              <a:t>declared are exposed here for value input or links to other game objects by drag and drop.</a:t>
            </a:r>
            <a:endParaRPr>
              <a:solidFill>
                <a:schemeClr val="dk1"/>
              </a:solidFill>
            </a:endParaRPr>
          </a:p>
          <a:p>
            <a:pPr marL="0" marR="0" lvl="0" indent="0" algn="l" rtl="0">
              <a:spcBef>
                <a:spcPts val="0"/>
              </a:spcBef>
              <a:spcAft>
                <a:spcPts val="0"/>
              </a:spcAft>
              <a:buNone/>
            </a:pPr>
            <a:endParaRPr sz="1800" i="1">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1800" i="1">
                <a:solidFill>
                  <a:srgbClr val="FFFF00"/>
                </a:solidFill>
                <a:latin typeface="Quattrocento Sans"/>
                <a:ea typeface="Quattrocento Sans"/>
                <a:cs typeface="Quattrocento Sans"/>
                <a:sym typeface="Quattrocento Sans"/>
              </a:rPr>
              <a:t>References </a:t>
            </a:r>
            <a:r>
              <a:rPr lang="en-GB" sz="1800" i="1">
                <a:solidFill>
                  <a:schemeClr val="dk1"/>
                </a:solidFill>
                <a:latin typeface="Quattrocento Sans"/>
                <a:ea typeface="Quattrocento Sans"/>
                <a:cs typeface="Quattrocento Sans"/>
                <a:sym typeface="Quattrocento Sans"/>
              </a:rPr>
              <a:t>to data files or other </a:t>
            </a:r>
            <a:r>
              <a:rPr lang="en-GB" sz="1800" i="1" err="1">
                <a:solidFill>
                  <a:schemeClr val="dk1"/>
                </a:solidFill>
                <a:latin typeface="Quattrocento Sans"/>
                <a:ea typeface="Quattrocento Sans"/>
                <a:cs typeface="Quattrocento Sans"/>
                <a:sym typeface="Quattrocento Sans"/>
              </a:rPr>
              <a:t>GameObjects</a:t>
            </a:r>
            <a:r>
              <a:rPr lang="en-GB" sz="1800" i="1">
                <a:solidFill>
                  <a:schemeClr val="dk1"/>
                </a:solidFill>
                <a:latin typeface="Quattrocento Sans"/>
                <a:ea typeface="Quattrocento Sans"/>
                <a:cs typeface="Quattrocento Sans"/>
                <a:sym typeface="Quattrocento Sans"/>
              </a:rPr>
              <a:t> may be exposed by the script and available here.</a:t>
            </a:r>
            <a:endParaRPr>
              <a:solidFill>
                <a:schemeClr val="dk1"/>
              </a:solidFill>
            </a:endParaRPr>
          </a:p>
          <a:p>
            <a:pPr marL="0" marR="0" lvl="0" indent="0" algn="l" rtl="0">
              <a:spcBef>
                <a:spcPts val="0"/>
              </a:spcBef>
              <a:spcAft>
                <a:spcPts val="0"/>
              </a:spcAft>
              <a:buNone/>
            </a:pPr>
            <a:endParaRPr sz="1800" i="1">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1800" i="1">
                <a:solidFill>
                  <a:schemeClr val="dk1"/>
                </a:solidFill>
                <a:latin typeface="Quattrocento Sans"/>
                <a:ea typeface="Quattrocento Sans"/>
                <a:cs typeface="Quattrocento Sans"/>
                <a:sym typeface="Quattrocento Sans"/>
              </a:rPr>
              <a:t>Components are added at the bottom.</a:t>
            </a:r>
            <a:endParaRPr>
              <a:solidFill>
                <a:schemeClr val="dk1"/>
              </a:solidFill>
            </a:endParaRPr>
          </a:p>
          <a:p>
            <a:pPr marL="0" marR="0" lvl="0" indent="0" algn="l" rtl="0">
              <a:spcBef>
                <a:spcPts val="0"/>
              </a:spcBef>
              <a:spcAft>
                <a:spcPts val="0"/>
              </a:spcAft>
              <a:buNone/>
            </a:pPr>
            <a:endParaRPr sz="1800" b="1" i="1">
              <a:solidFill>
                <a:schemeClr val="dk1"/>
              </a:solidFill>
              <a:latin typeface="Quattrocento Sans"/>
              <a:ea typeface="Quattrocento Sans"/>
              <a:cs typeface="Quattrocento Sans"/>
              <a:sym typeface="Quattrocento Sans"/>
            </a:endParaRPr>
          </a:p>
        </p:txBody>
      </p:sp>
      <p:sp>
        <p:nvSpPr>
          <p:cNvPr id="86" name="Google Shape;86;p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9"/>
          <p:cNvSpPr txBox="1"/>
          <p:nvPr/>
        </p:nvSpPr>
        <p:spPr>
          <a:xfrm>
            <a:off x="609600" y="1412777"/>
            <a:ext cx="10972800" cy="39702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Basic Architecture (Inspector Window)</a:t>
            </a:r>
            <a:endParaRPr/>
          </a:p>
          <a:p>
            <a:pPr marL="0" marR="0" lvl="0" indent="0" algn="l" rtl="0">
              <a:spcBef>
                <a:spcPts val="0"/>
              </a:spcBef>
              <a:spcAft>
                <a:spcPts val="0"/>
              </a:spcAft>
              <a:buNone/>
            </a:pPr>
            <a:endParaRPr sz="1800" b="1" i="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Some default and possible library/added components include:</a:t>
            </a:r>
            <a:endParaRPr>
              <a:solidFill>
                <a:schemeClr val="dk1"/>
              </a:solidFill>
            </a:endParaRPr>
          </a:p>
          <a:p>
            <a:pPr marL="285750" marR="0" lvl="0" indent="-285750" algn="l" rtl="0">
              <a:spcBef>
                <a:spcPts val="0"/>
              </a:spcBef>
              <a:spcAft>
                <a:spcPts val="0"/>
              </a:spcAft>
              <a:buClr>
                <a:schemeClr val="dk1"/>
              </a:buClr>
              <a:buSzPts val="1800"/>
              <a:buFont typeface="Arial"/>
              <a:buChar char="•"/>
            </a:pPr>
            <a:r>
              <a:rPr lang="en-GB" sz="1800" b="1">
                <a:solidFill>
                  <a:schemeClr val="dk1"/>
                </a:solidFill>
                <a:latin typeface="Quattrocento Sans"/>
                <a:ea typeface="Quattrocento Sans"/>
                <a:cs typeface="Quattrocento Sans"/>
                <a:sym typeface="Quattrocento Sans"/>
              </a:rPr>
              <a:t>Name</a:t>
            </a:r>
            <a:endParaRPr>
              <a:solidFill>
                <a:schemeClr val="dk1"/>
              </a:solidFill>
            </a:endParaRPr>
          </a:p>
          <a:p>
            <a:pPr marL="285750" marR="0" lvl="0" indent="-285750" algn="l" rtl="0">
              <a:spcBef>
                <a:spcPts val="0"/>
              </a:spcBef>
              <a:spcAft>
                <a:spcPts val="0"/>
              </a:spcAft>
              <a:buClr>
                <a:schemeClr val="dk1"/>
              </a:buClr>
              <a:buSzPts val="1800"/>
              <a:buFont typeface="Arial"/>
              <a:buChar char="•"/>
            </a:pPr>
            <a:r>
              <a:rPr lang="en-GB" sz="1800" b="1">
                <a:solidFill>
                  <a:schemeClr val="dk1"/>
                </a:solidFill>
                <a:latin typeface="Quattrocento Sans"/>
                <a:ea typeface="Quattrocento Sans"/>
                <a:cs typeface="Quattrocento Sans"/>
                <a:sym typeface="Quattrocento Sans"/>
              </a:rPr>
              <a:t>Visibility – Turns object on and off. Simple.</a:t>
            </a:r>
            <a:endParaRPr>
              <a:solidFill>
                <a:schemeClr val="dk1"/>
              </a:solidFill>
            </a:endParaRPr>
          </a:p>
          <a:p>
            <a:pPr marL="285750" marR="0" lvl="0" indent="-285750" algn="l" rtl="0">
              <a:spcBef>
                <a:spcPts val="0"/>
              </a:spcBef>
              <a:spcAft>
                <a:spcPts val="0"/>
              </a:spcAft>
              <a:buClr>
                <a:schemeClr val="dk1"/>
              </a:buClr>
              <a:buSzPts val="1800"/>
              <a:buFont typeface="Arial"/>
              <a:buChar char="•"/>
            </a:pPr>
            <a:r>
              <a:rPr lang="en-GB" sz="1800" b="1">
                <a:solidFill>
                  <a:schemeClr val="dk1"/>
                </a:solidFill>
                <a:latin typeface="Quattrocento Sans"/>
                <a:ea typeface="Quattrocento Sans"/>
                <a:cs typeface="Quattrocento Sans"/>
                <a:sym typeface="Quattrocento Sans"/>
              </a:rPr>
              <a:t>Static – Game information Precomputed for non moving object – not same as for variables and methods</a:t>
            </a:r>
            <a:endParaRPr>
              <a:solidFill>
                <a:schemeClr val="dk1"/>
              </a:solidFill>
            </a:endParaRPr>
          </a:p>
          <a:p>
            <a:pPr marL="285750" marR="0" lvl="0" indent="-285750" algn="l" rtl="0">
              <a:spcBef>
                <a:spcPts val="0"/>
              </a:spcBef>
              <a:spcAft>
                <a:spcPts val="0"/>
              </a:spcAft>
              <a:buClr>
                <a:schemeClr val="dk1"/>
              </a:buClr>
              <a:buSzPts val="1800"/>
              <a:buFont typeface="Arial"/>
              <a:buChar char="•"/>
            </a:pPr>
            <a:r>
              <a:rPr lang="en-GB" sz="1800" b="1">
                <a:solidFill>
                  <a:schemeClr val="dk1"/>
                </a:solidFill>
                <a:latin typeface="Quattrocento Sans"/>
                <a:ea typeface="Quattrocento Sans"/>
                <a:cs typeface="Quattrocento Sans"/>
                <a:sym typeface="Quattrocento Sans"/>
              </a:rPr>
              <a:t>Tag – Allows naming for scripts to access (Collisions)</a:t>
            </a:r>
            <a:endParaRPr>
              <a:solidFill>
                <a:schemeClr val="dk1"/>
              </a:solidFill>
            </a:endParaRPr>
          </a:p>
          <a:p>
            <a:pPr marL="285750" marR="0" lvl="0" indent="-285750" algn="l" rtl="0">
              <a:spcBef>
                <a:spcPts val="0"/>
              </a:spcBef>
              <a:spcAft>
                <a:spcPts val="0"/>
              </a:spcAft>
              <a:buClr>
                <a:schemeClr val="dk1"/>
              </a:buClr>
              <a:buSzPts val="1800"/>
              <a:buFont typeface="Arial"/>
              <a:buChar char="•"/>
            </a:pPr>
            <a:r>
              <a:rPr lang="en-GB" sz="1800" b="1">
                <a:solidFill>
                  <a:schemeClr val="dk1"/>
                </a:solidFill>
                <a:latin typeface="Quattrocento Sans"/>
                <a:ea typeface="Quattrocento Sans"/>
                <a:cs typeface="Quattrocento Sans"/>
                <a:sym typeface="Quattrocento Sans"/>
              </a:rPr>
              <a:t>Layer – Cameras, Lights, can render certain layers, </a:t>
            </a:r>
            <a:r>
              <a:rPr lang="en-GB" sz="1800" b="1" err="1">
                <a:solidFill>
                  <a:schemeClr val="dk1"/>
                </a:solidFill>
                <a:latin typeface="Quattrocento Sans"/>
                <a:ea typeface="Quattrocento Sans"/>
                <a:cs typeface="Quattrocento Sans"/>
                <a:sym typeface="Quattrocento Sans"/>
              </a:rPr>
              <a:t>Raycasting</a:t>
            </a:r>
            <a:r>
              <a:rPr lang="en-GB" sz="1800" b="1">
                <a:solidFill>
                  <a:schemeClr val="dk1"/>
                </a:solidFill>
                <a:latin typeface="Quattrocento Sans"/>
                <a:ea typeface="Quattrocento Sans"/>
                <a:cs typeface="Quattrocento Sans"/>
                <a:sym typeface="Quattrocento Sans"/>
              </a:rPr>
              <a:t> can ignore</a:t>
            </a:r>
            <a:endParaRPr>
              <a:solidFill>
                <a:schemeClr val="dk1"/>
              </a:solidFill>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	(Camera Culling Mask, </a:t>
            </a:r>
            <a:r>
              <a:rPr lang="en-GB" sz="1800" b="1" err="1">
                <a:solidFill>
                  <a:schemeClr val="dk1"/>
                </a:solidFill>
                <a:latin typeface="Quattrocento Sans"/>
                <a:ea typeface="Quattrocento Sans"/>
                <a:cs typeface="Quattrocento Sans"/>
                <a:sym typeface="Quattrocento Sans"/>
              </a:rPr>
              <a:t>Raycast</a:t>
            </a:r>
            <a:r>
              <a:rPr lang="en-GB" sz="1800" b="1">
                <a:solidFill>
                  <a:schemeClr val="dk1"/>
                </a:solidFill>
                <a:latin typeface="Quattrocento Sans"/>
                <a:ea typeface="Quattrocento Sans"/>
                <a:cs typeface="Quattrocento Sans"/>
                <a:sym typeface="Quattrocento Sans"/>
              </a:rPr>
              <a:t> </a:t>
            </a:r>
            <a:r>
              <a:rPr lang="en-GB" sz="1800" b="1" err="1">
                <a:solidFill>
                  <a:schemeClr val="dk1"/>
                </a:solidFill>
                <a:latin typeface="Quattrocento Sans"/>
                <a:ea typeface="Quattrocento Sans"/>
                <a:cs typeface="Quattrocento Sans"/>
                <a:sym typeface="Quattrocento Sans"/>
              </a:rPr>
              <a:t>Layermask</a:t>
            </a:r>
            <a:r>
              <a:rPr lang="en-GB" sz="1800" b="1">
                <a:solidFill>
                  <a:schemeClr val="dk1"/>
                </a:solidFill>
                <a:latin typeface="Quattrocento Sans"/>
                <a:ea typeface="Quattrocento Sans"/>
                <a:cs typeface="Quattrocento Sans"/>
                <a:sym typeface="Quattrocento Sans"/>
              </a:rPr>
              <a:t>)</a:t>
            </a:r>
            <a:endParaRPr>
              <a:solidFill>
                <a:schemeClr val="dk1"/>
              </a:solidFill>
            </a:endParaRPr>
          </a:p>
          <a:p>
            <a:pPr marL="285750" marR="0" lvl="0" indent="-285750" algn="l" rtl="0">
              <a:spcBef>
                <a:spcPts val="0"/>
              </a:spcBef>
              <a:spcAft>
                <a:spcPts val="0"/>
              </a:spcAft>
              <a:buClr>
                <a:schemeClr val="dk1"/>
              </a:buClr>
              <a:buSzPts val="1800"/>
              <a:buFont typeface="Arial"/>
              <a:buChar char="•"/>
            </a:pPr>
            <a:r>
              <a:rPr lang="en-GB" sz="1800" b="1">
                <a:solidFill>
                  <a:schemeClr val="dk1"/>
                </a:solidFill>
                <a:latin typeface="Quattrocento Sans"/>
                <a:ea typeface="Quattrocento Sans"/>
                <a:cs typeface="Quattrocento Sans"/>
                <a:sym typeface="Quattrocento Sans"/>
              </a:rPr>
              <a:t>Transform – translation, rotation, scaling</a:t>
            </a:r>
            <a:endParaRPr>
              <a:solidFill>
                <a:schemeClr val="dk1"/>
              </a:solidFill>
            </a:endParaRPr>
          </a:p>
          <a:p>
            <a:pPr marL="285750" indent="-285750">
              <a:buClr>
                <a:schemeClr val="dk1"/>
              </a:buClr>
              <a:buSzPts val="1800"/>
              <a:buFont typeface="Arial"/>
              <a:buChar char="•"/>
            </a:pPr>
            <a:r>
              <a:rPr lang="en-GB" sz="1800" b="1">
                <a:solidFill>
                  <a:schemeClr val="dk1"/>
                </a:solidFill>
                <a:latin typeface="Quattrocento Sans"/>
                <a:ea typeface="Quattrocento Sans"/>
                <a:cs typeface="Quattrocento Sans"/>
              </a:rPr>
              <a:t>Renderer – displays object</a:t>
            </a:r>
            <a:endParaRPr lang="en-GB" sz="1800" b="1">
              <a:solidFill>
                <a:schemeClr val="dk1"/>
              </a:solidFill>
              <a:latin typeface="Quattrocento Sans"/>
              <a:ea typeface="Quattrocento Sans"/>
              <a:cs typeface="Quattrocento Sans"/>
              <a:sym typeface="Quattrocento Sans"/>
            </a:endParaRPr>
          </a:p>
          <a:p>
            <a:pPr marL="285750" indent="-285750">
              <a:buClr>
                <a:schemeClr val="dk1"/>
              </a:buClr>
              <a:buSzPts val="1800"/>
              <a:buFont typeface="Arial"/>
              <a:buChar char="•"/>
            </a:pPr>
            <a:r>
              <a:rPr lang="en-GB" sz="1800" b="1" err="1">
                <a:solidFill>
                  <a:schemeClr val="dk1"/>
                </a:solidFill>
                <a:latin typeface="Quattrocento Sans"/>
                <a:ea typeface="Quattrocento Sans"/>
                <a:cs typeface="Quattrocento Sans"/>
                <a:sym typeface="Quattrocento Sans"/>
              </a:rPr>
              <a:t>MeshRenderer</a:t>
            </a:r>
            <a:r>
              <a:rPr lang="en-GB" sz="1800" b="1">
                <a:solidFill>
                  <a:schemeClr val="dk1"/>
                </a:solidFill>
                <a:latin typeface="Quattrocento Sans"/>
                <a:ea typeface="Quattrocento Sans"/>
                <a:cs typeface="Quattrocento Sans"/>
                <a:sym typeface="Quattrocento Sans"/>
              </a:rPr>
              <a:t> – has rendering options, materials</a:t>
            </a:r>
            <a:endParaRPr>
              <a:solidFill>
                <a:schemeClr val="dk1"/>
              </a:solidFill>
            </a:endParaRPr>
          </a:p>
          <a:p>
            <a:pPr marL="285750" marR="0" lvl="0" indent="-285750" algn="l" rtl="0">
              <a:spcBef>
                <a:spcPts val="0"/>
              </a:spcBef>
              <a:spcAft>
                <a:spcPts val="0"/>
              </a:spcAft>
              <a:buClr>
                <a:schemeClr val="dk1"/>
              </a:buClr>
              <a:buSzPts val="1800"/>
              <a:buFont typeface="Arial"/>
              <a:buChar char="•"/>
            </a:pPr>
            <a:r>
              <a:rPr lang="en-GB" sz="1800" b="1">
                <a:solidFill>
                  <a:schemeClr val="dk1"/>
                </a:solidFill>
                <a:latin typeface="Quattrocento Sans"/>
                <a:ea typeface="Quattrocento Sans"/>
                <a:cs typeface="Quattrocento Sans"/>
                <a:sym typeface="Quattrocento Sans"/>
              </a:rPr>
              <a:t>Collider</a:t>
            </a:r>
            <a:endParaRPr>
              <a:solidFill>
                <a:schemeClr val="dk1"/>
              </a:solidFill>
            </a:endParaRPr>
          </a:p>
        </p:txBody>
      </p:sp>
      <p:sp>
        <p:nvSpPr>
          <p:cNvPr id="93" name="Google Shape;93;p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0"/>
          <p:cNvSpPr txBox="1"/>
          <p:nvPr/>
        </p:nvSpPr>
        <p:spPr>
          <a:xfrm>
            <a:off x="609600" y="1412776"/>
            <a:ext cx="8729803" cy="86177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Unity (C# AND OOP Concepts)</a:t>
            </a:r>
            <a:endParaRPr lang="en-US"/>
          </a:p>
          <a:p>
            <a:pPr marL="0" marR="0" lvl="0" indent="0" algn="l" rtl="0">
              <a:spcBef>
                <a:spcPts val="0"/>
              </a:spcBef>
              <a:spcAft>
                <a:spcPts val="0"/>
              </a:spcAft>
              <a:buNone/>
            </a:pPr>
            <a:endParaRPr sz="1400" b="1" i="1">
              <a:solidFill>
                <a:srgbClr val="FFFFFF"/>
              </a:solidFill>
              <a:latin typeface="Quattrocento Sans"/>
              <a:ea typeface="Quattrocento Sans"/>
              <a:cs typeface="Quattrocento Sans"/>
              <a:sym typeface="Quattrocento Sans"/>
            </a:endParaRPr>
          </a:p>
        </p:txBody>
      </p:sp>
      <p:sp>
        <p:nvSpPr>
          <p:cNvPr id="100" name="Google Shape;100;p1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107" name="Google Shape;107;p11"/>
          <p:cNvSpPr txBox="1"/>
          <p:nvPr/>
        </p:nvSpPr>
        <p:spPr>
          <a:xfrm>
            <a:off x="609600" y="1412777"/>
            <a:ext cx="10970761" cy="357016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chemeClr val="dk1"/>
                </a:solidFill>
                <a:latin typeface="Quattrocento Sans"/>
                <a:ea typeface="Quattrocento Sans"/>
                <a:cs typeface="Quattrocento Sans"/>
                <a:sym typeface="Quattrocento Sans"/>
              </a:rPr>
              <a:t>Telemark University College Department of Electrical Engineering, Information Technology and Cybernetics</a:t>
            </a:r>
            <a:endParaRPr>
              <a:solidFill>
                <a:schemeClr val="dk1"/>
              </a:solidFill>
            </a:endParaRPr>
          </a:p>
          <a:p>
            <a:pPr marL="0" marR="0" lvl="0" indent="0" algn="l" rtl="0">
              <a:spcBef>
                <a:spcPts val="0"/>
              </a:spcBef>
              <a:spcAft>
                <a:spcPts val="0"/>
              </a:spcAft>
              <a:buNone/>
            </a:pPr>
            <a:endParaRPr sz="1800">
              <a:solidFill>
                <a:srgbClr val="FFFF00"/>
              </a:solidFill>
              <a:latin typeface="Quattrocento Sans"/>
              <a:ea typeface="Quattrocento Sans"/>
              <a:cs typeface="Quattrocento Sans"/>
            </a:endParaRPr>
          </a:p>
          <a:p>
            <a:r>
              <a:rPr lang="en-GB" sz="2800">
                <a:solidFill>
                  <a:schemeClr val="dk1"/>
                </a:solidFill>
                <a:latin typeface="Quattrocento Sans"/>
                <a:ea typeface="Quattrocento Sans"/>
                <a:cs typeface="Quattrocento Sans"/>
                <a:sym typeface="Quattrocento Sans"/>
              </a:rPr>
              <a:t>Object-­‐oriented programming (OOP) is a programming language model organized around "objects" rather than "actions" and data rather than logic. Historically, a program has been viewed as a logical procedure that takes input data, processes it, and produces output data. </a:t>
            </a:r>
            <a:endParaRPr/>
          </a:p>
          <a:p>
            <a:pPr marL="0" marR="0" lvl="0" indent="0" algn="l" rtl="0">
              <a:spcBef>
                <a:spcPts val="0"/>
              </a:spcBef>
              <a:spcAft>
                <a:spcPts val="0"/>
              </a:spcAft>
              <a:buNone/>
            </a:pPr>
            <a:endParaRPr sz="18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5">
          <a:extLst>
            <a:ext uri="{FF2B5EF4-FFF2-40B4-BE49-F238E27FC236}">
              <a16:creationId xmlns:a16="http://schemas.microsoft.com/office/drawing/2014/main" id="{2E543AF1-7011-3B88-6268-C7921AB53750}"/>
            </a:ext>
          </a:extLst>
        </p:cNvPr>
        <p:cNvGrpSpPr/>
        <p:nvPr/>
      </p:nvGrpSpPr>
      <p:grpSpPr>
        <a:xfrm>
          <a:off x="0" y="0"/>
          <a:ext cx="0" cy="0"/>
          <a:chOff x="0" y="0"/>
          <a:chExt cx="0" cy="0"/>
        </a:xfrm>
      </p:grpSpPr>
      <p:sp>
        <p:nvSpPr>
          <p:cNvPr id="106" name="Google Shape;106;p11">
            <a:extLst>
              <a:ext uri="{FF2B5EF4-FFF2-40B4-BE49-F238E27FC236}">
                <a16:creationId xmlns:a16="http://schemas.microsoft.com/office/drawing/2014/main" id="{6E8F001E-305A-3659-41E5-FFF60662392A}"/>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107" name="Google Shape;107;p11">
            <a:extLst>
              <a:ext uri="{FF2B5EF4-FFF2-40B4-BE49-F238E27FC236}">
                <a16:creationId xmlns:a16="http://schemas.microsoft.com/office/drawing/2014/main" id="{8EC0419A-D98B-7214-8100-79BAC7505C3F}"/>
              </a:ext>
            </a:extLst>
          </p:cNvPr>
          <p:cNvSpPr txBox="1"/>
          <p:nvPr/>
        </p:nvSpPr>
        <p:spPr>
          <a:xfrm>
            <a:off x="609600" y="1412777"/>
            <a:ext cx="10970761" cy="45858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OOP Concepts</a:t>
            </a:r>
            <a:endParaRPr/>
          </a:p>
          <a:p>
            <a:pPr marL="0" marR="0" lvl="0" indent="0" algn="l" rtl="0">
              <a:spcBef>
                <a:spcPts val="0"/>
              </a:spcBef>
              <a:spcAft>
                <a:spcPts val="0"/>
              </a:spcAft>
              <a:buNone/>
            </a:pPr>
            <a:endParaRPr lang="en-GB" i="1">
              <a:solidFill>
                <a:schemeClr val="dk1"/>
              </a:solidFill>
              <a:latin typeface="Quattrocento Sans"/>
            </a:endParaRPr>
          </a:p>
          <a:p>
            <a:r>
              <a:rPr lang="en-GB" sz="2800">
                <a:solidFill>
                  <a:schemeClr val="bg2"/>
                </a:solidFill>
                <a:latin typeface="Quattrocento Sans"/>
                <a:sym typeface="Quattrocento Sans"/>
              </a:rPr>
              <a:t>Encapsulation</a:t>
            </a:r>
            <a:endParaRPr lang="en-GB" sz="2400">
              <a:solidFill>
                <a:schemeClr val="bg2"/>
              </a:solidFill>
              <a:latin typeface="Quattrocento Sans"/>
            </a:endParaRPr>
          </a:p>
          <a:p>
            <a:endParaRPr lang="en-GB" sz="2800">
              <a:solidFill>
                <a:schemeClr val="bg2"/>
              </a:solidFill>
              <a:ea typeface="Quattrocento Sans"/>
            </a:endParaRPr>
          </a:p>
          <a:p>
            <a:r>
              <a:rPr lang="en-GB" sz="2800">
                <a:solidFill>
                  <a:schemeClr val="bg2"/>
                </a:solidFill>
                <a:ea typeface="Quattrocento Sans"/>
              </a:rPr>
              <a:t>Abstraction</a:t>
            </a:r>
            <a:endParaRPr lang="en-GB" sz="2800">
              <a:solidFill>
                <a:schemeClr val="bg2"/>
              </a:solidFill>
              <a:latin typeface="Quattrocento Sans"/>
              <a:ea typeface="Quattrocento Sans"/>
            </a:endParaRPr>
          </a:p>
          <a:p>
            <a:pPr marR="0" lvl="0" algn="l">
              <a:spcBef>
                <a:spcPts val="0"/>
              </a:spcBef>
              <a:spcAft>
                <a:spcPts val="0"/>
              </a:spcAft>
            </a:pPr>
            <a:endParaRPr lang="en-GB" sz="2800">
              <a:solidFill>
                <a:schemeClr val="bg2"/>
              </a:solidFill>
              <a:ea typeface="Quattrocento Sans"/>
            </a:endParaRPr>
          </a:p>
          <a:p>
            <a:r>
              <a:rPr lang="en-GB" sz="2800">
                <a:solidFill>
                  <a:schemeClr val="bg2"/>
                </a:solidFill>
                <a:ea typeface="Quattrocento Sans"/>
              </a:rPr>
              <a:t>Inheritance</a:t>
            </a:r>
          </a:p>
          <a:p>
            <a:endParaRPr lang="en-GB" sz="2800">
              <a:solidFill>
                <a:schemeClr val="bg2"/>
              </a:solidFill>
              <a:ea typeface="Quattrocento Sans"/>
            </a:endParaRPr>
          </a:p>
          <a:p>
            <a:r>
              <a:rPr lang="en-GB" sz="2800">
                <a:solidFill>
                  <a:schemeClr val="bg2"/>
                </a:solidFill>
                <a:ea typeface="Quattrocento Sans"/>
              </a:rPr>
              <a:t>Polymorphism</a:t>
            </a:r>
          </a:p>
          <a:p>
            <a:pPr marL="514350" indent="-514350">
              <a:buChar char="•"/>
            </a:pPr>
            <a:endParaRPr lang="en-GB" sz="2800">
              <a:solidFill>
                <a:srgbClr val="FFFFFF"/>
              </a:solidFill>
              <a:ea typeface="Quattrocento Sans"/>
            </a:endParaRPr>
          </a:p>
          <a:p>
            <a:endParaRPr lang="en-GB" sz="1800" b="1">
              <a:solidFill>
                <a:srgbClr val="FFFF00"/>
              </a:solidFill>
              <a:latin typeface="Quattrocento Sans"/>
              <a:ea typeface="Quattrocento Sans"/>
              <a:cs typeface="Quattrocento Sans"/>
            </a:endParaRPr>
          </a:p>
        </p:txBody>
      </p:sp>
    </p:spTree>
    <p:extLst>
      <p:ext uri="{BB962C8B-B14F-4D97-AF65-F5344CB8AC3E}">
        <p14:creationId xmlns:p14="http://schemas.microsoft.com/office/powerpoint/2010/main" val="581846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5">
          <a:extLst>
            <a:ext uri="{FF2B5EF4-FFF2-40B4-BE49-F238E27FC236}">
              <a16:creationId xmlns:a16="http://schemas.microsoft.com/office/drawing/2014/main" id="{9734FA64-8C63-7E89-AFD3-3667DE289299}"/>
            </a:ext>
          </a:extLst>
        </p:cNvPr>
        <p:cNvGrpSpPr/>
        <p:nvPr/>
      </p:nvGrpSpPr>
      <p:grpSpPr>
        <a:xfrm>
          <a:off x="0" y="0"/>
          <a:ext cx="0" cy="0"/>
          <a:chOff x="0" y="0"/>
          <a:chExt cx="0" cy="0"/>
        </a:xfrm>
      </p:grpSpPr>
      <p:sp>
        <p:nvSpPr>
          <p:cNvPr id="106" name="Google Shape;106;p11">
            <a:extLst>
              <a:ext uri="{FF2B5EF4-FFF2-40B4-BE49-F238E27FC236}">
                <a16:creationId xmlns:a16="http://schemas.microsoft.com/office/drawing/2014/main" id="{46B79FAA-355F-243A-D44B-6877FF1B5563}"/>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107" name="Google Shape;107;p11">
            <a:extLst>
              <a:ext uri="{FF2B5EF4-FFF2-40B4-BE49-F238E27FC236}">
                <a16:creationId xmlns:a16="http://schemas.microsoft.com/office/drawing/2014/main" id="{625BB41A-6C22-C722-7EA9-1C478B7D952E}"/>
              </a:ext>
            </a:extLst>
          </p:cNvPr>
          <p:cNvSpPr txBox="1"/>
          <p:nvPr/>
        </p:nvSpPr>
        <p:spPr>
          <a:xfrm>
            <a:off x="609600" y="1412777"/>
            <a:ext cx="10970761" cy="37856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OOP Concepts</a:t>
            </a:r>
            <a:endParaRPr/>
          </a:p>
          <a:p>
            <a:pPr marL="0" marR="0" lvl="0" indent="0" algn="l" rtl="0">
              <a:spcBef>
                <a:spcPts val="0"/>
              </a:spcBef>
              <a:spcAft>
                <a:spcPts val="0"/>
              </a:spcAft>
              <a:buNone/>
            </a:pPr>
            <a:endParaRPr lang="en-GB" i="1">
              <a:solidFill>
                <a:schemeClr val="dk1"/>
              </a:solidFill>
              <a:latin typeface="Quattrocento Sans"/>
            </a:endParaRPr>
          </a:p>
          <a:p>
            <a:r>
              <a:rPr lang="en-GB" sz="2800">
                <a:solidFill>
                  <a:schemeClr val="bg2"/>
                </a:solidFill>
                <a:latin typeface="Quattrocento Sans"/>
                <a:sym typeface="Quattrocento Sans"/>
              </a:rPr>
              <a:t>Encapsulation: </a:t>
            </a:r>
            <a:endParaRPr lang="en-GB" sz="2400">
              <a:solidFill>
                <a:schemeClr val="bg2"/>
              </a:solidFill>
              <a:latin typeface="Quattrocento Sans"/>
              <a:sym typeface="Quattrocento Sans"/>
            </a:endParaRPr>
          </a:p>
          <a:p>
            <a:endParaRPr lang="en-GB" sz="2400">
              <a:solidFill>
                <a:schemeClr val="bg2"/>
              </a:solidFill>
              <a:latin typeface="Quattrocento Sans"/>
            </a:endParaRPr>
          </a:p>
          <a:p>
            <a:r>
              <a:rPr lang="en-GB" sz="2400">
                <a:solidFill>
                  <a:schemeClr val="bg2"/>
                </a:solidFill>
                <a:latin typeface="Quattrocento Sans"/>
                <a:sym typeface="Quattrocento Sans"/>
              </a:rPr>
              <a:t>Bundling Data(attributes) and Methods(Functions) operating on the data into a single unit (class). </a:t>
            </a:r>
            <a:endParaRPr lang="en-GB" sz="2400">
              <a:solidFill>
                <a:schemeClr val="bg2"/>
              </a:solidFill>
              <a:latin typeface="Quattrocento Sans"/>
            </a:endParaRPr>
          </a:p>
          <a:p>
            <a:endParaRPr lang="en-GB" sz="2400">
              <a:solidFill>
                <a:schemeClr val="bg2"/>
              </a:solidFill>
              <a:latin typeface="Quattrocento Sans"/>
              <a:sym typeface="Quattrocento Sans"/>
            </a:endParaRPr>
          </a:p>
          <a:p>
            <a:r>
              <a:rPr lang="en-GB" sz="2400">
                <a:solidFill>
                  <a:schemeClr val="bg2"/>
                </a:solidFill>
                <a:latin typeface="Quattrocento Sans"/>
                <a:sym typeface="Quattrocento Sans"/>
              </a:rPr>
              <a:t>This hides (protects) internal state and requires interaction performed through and objects methods.</a:t>
            </a:r>
            <a:endParaRPr lang="en-GB" sz="2400">
              <a:solidFill>
                <a:schemeClr val="bg2"/>
              </a:solidFill>
              <a:latin typeface="Quattrocento Sans"/>
            </a:endParaRPr>
          </a:p>
          <a:p>
            <a:pPr marR="0" lvl="0" algn="l">
              <a:spcBef>
                <a:spcPts val="0"/>
              </a:spcBef>
              <a:spcAft>
                <a:spcPts val="0"/>
              </a:spcAft>
            </a:pPr>
            <a:endParaRPr lang="en-GB" sz="1800" b="1">
              <a:solidFill>
                <a:srgbClr val="FFFF00"/>
              </a:solidFill>
              <a:latin typeface="Quattrocento Sans"/>
              <a:ea typeface="Quattrocento Sans"/>
            </a:endParaRPr>
          </a:p>
        </p:txBody>
      </p:sp>
    </p:spTree>
    <p:extLst>
      <p:ext uri="{BB962C8B-B14F-4D97-AF65-F5344CB8AC3E}">
        <p14:creationId xmlns:p14="http://schemas.microsoft.com/office/powerpoint/2010/main" val="2390608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5">
          <a:extLst>
            <a:ext uri="{FF2B5EF4-FFF2-40B4-BE49-F238E27FC236}">
              <a16:creationId xmlns:a16="http://schemas.microsoft.com/office/drawing/2014/main" id="{FD5F9506-42E2-492D-EE3C-82A86420AA66}"/>
            </a:ext>
          </a:extLst>
        </p:cNvPr>
        <p:cNvGrpSpPr/>
        <p:nvPr/>
      </p:nvGrpSpPr>
      <p:grpSpPr>
        <a:xfrm>
          <a:off x="0" y="0"/>
          <a:ext cx="0" cy="0"/>
          <a:chOff x="0" y="0"/>
          <a:chExt cx="0" cy="0"/>
        </a:xfrm>
      </p:grpSpPr>
      <p:sp>
        <p:nvSpPr>
          <p:cNvPr id="106" name="Google Shape;106;p11">
            <a:extLst>
              <a:ext uri="{FF2B5EF4-FFF2-40B4-BE49-F238E27FC236}">
                <a16:creationId xmlns:a16="http://schemas.microsoft.com/office/drawing/2014/main" id="{CC5C1DF6-C475-3E7A-77B9-AF11880DB568}"/>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107" name="Google Shape;107;p11">
            <a:extLst>
              <a:ext uri="{FF2B5EF4-FFF2-40B4-BE49-F238E27FC236}">
                <a16:creationId xmlns:a16="http://schemas.microsoft.com/office/drawing/2014/main" id="{D73DD373-CC17-495F-FF89-90311C075CBD}"/>
              </a:ext>
            </a:extLst>
          </p:cNvPr>
          <p:cNvSpPr txBox="1"/>
          <p:nvPr/>
        </p:nvSpPr>
        <p:spPr>
          <a:xfrm>
            <a:off x="609600" y="1412777"/>
            <a:ext cx="10970761" cy="35393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OOP Concepts</a:t>
            </a:r>
            <a:endParaRPr/>
          </a:p>
          <a:p>
            <a:pPr marL="0" marR="0" lvl="0" indent="0" algn="l" rtl="0">
              <a:spcBef>
                <a:spcPts val="0"/>
              </a:spcBef>
              <a:spcAft>
                <a:spcPts val="0"/>
              </a:spcAft>
              <a:buNone/>
            </a:pPr>
            <a:endParaRPr lang="en-GB" i="1">
              <a:solidFill>
                <a:schemeClr val="dk1"/>
              </a:solidFill>
              <a:latin typeface="Quattrocento Sans"/>
            </a:endParaRPr>
          </a:p>
          <a:p>
            <a:pPr marR="0" lvl="0" algn="l">
              <a:spcBef>
                <a:spcPts val="0"/>
              </a:spcBef>
              <a:spcAft>
                <a:spcPts val="0"/>
              </a:spcAft>
            </a:pPr>
            <a:r>
              <a:rPr lang="en-GB" sz="2800">
                <a:solidFill>
                  <a:schemeClr val="bg2"/>
                </a:solidFill>
                <a:ea typeface="Quattrocento Sans"/>
              </a:rPr>
              <a:t>Abstraction:</a:t>
            </a:r>
            <a:endParaRPr lang="en-GB" sz="2800">
              <a:solidFill>
                <a:schemeClr val="bg2"/>
              </a:solidFill>
              <a:latin typeface="Quattrocento Sans"/>
              <a:ea typeface="Quattrocento Sans"/>
            </a:endParaRPr>
          </a:p>
          <a:p>
            <a:endParaRPr lang="en-GB" sz="2800">
              <a:solidFill>
                <a:schemeClr val="bg2"/>
              </a:solidFill>
              <a:ea typeface="Quattrocento Sans"/>
            </a:endParaRPr>
          </a:p>
          <a:p>
            <a:r>
              <a:rPr lang="en-GB" sz="2400">
                <a:solidFill>
                  <a:schemeClr val="bg2"/>
                </a:solidFill>
                <a:ea typeface="Quattrocento Sans"/>
              </a:rPr>
              <a:t>Hiding complex implementation and only showing essential features of objects.</a:t>
            </a:r>
          </a:p>
          <a:p>
            <a:endParaRPr lang="en-GB" sz="2400">
              <a:solidFill>
                <a:schemeClr val="bg2"/>
              </a:solidFill>
              <a:ea typeface="Quattrocento Sans"/>
            </a:endParaRPr>
          </a:p>
          <a:p>
            <a:r>
              <a:rPr lang="en-GB" sz="2400">
                <a:solidFill>
                  <a:schemeClr val="bg2"/>
                </a:solidFill>
                <a:ea typeface="Quattrocento Sans"/>
              </a:rPr>
              <a:t>This reduces complexity and isolates change impacts.</a:t>
            </a:r>
          </a:p>
          <a:p>
            <a:pPr marL="514350" indent="-514350">
              <a:buChar char="•"/>
            </a:pPr>
            <a:endParaRPr lang="en-GB" sz="2800">
              <a:solidFill>
                <a:srgbClr val="FFFFFF"/>
              </a:solidFill>
              <a:ea typeface="Quattrocento Sans"/>
            </a:endParaRPr>
          </a:p>
          <a:p>
            <a:endParaRPr lang="en-GB" sz="1800" b="1">
              <a:solidFill>
                <a:srgbClr val="FFFF00"/>
              </a:solidFill>
              <a:latin typeface="Quattrocento Sans"/>
              <a:ea typeface="Quattrocento Sans"/>
              <a:cs typeface="Quattrocento Sans"/>
            </a:endParaRPr>
          </a:p>
        </p:txBody>
      </p:sp>
    </p:spTree>
    <p:extLst>
      <p:ext uri="{BB962C8B-B14F-4D97-AF65-F5344CB8AC3E}">
        <p14:creationId xmlns:p14="http://schemas.microsoft.com/office/powerpoint/2010/main" val="2197523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5">
          <a:extLst>
            <a:ext uri="{FF2B5EF4-FFF2-40B4-BE49-F238E27FC236}">
              <a16:creationId xmlns:a16="http://schemas.microsoft.com/office/drawing/2014/main" id="{C14DD5F9-31A2-A45F-D3E6-9423BEFC31E9}"/>
            </a:ext>
          </a:extLst>
        </p:cNvPr>
        <p:cNvGrpSpPr/>
        <p:nvPr/>
      </p:nvGrpSpPr>
      <p:grpSpPr>
        <a:xfrm>
          <a:off x="0" y="0"/>
          <a:ext cx="0" cy="0"/>
          <a:chOff x="0" y="0"/>
          <a:chExt cx="0" cy="0"/>
        </a:xfrm>
      </p:grpSpPr>
      <p:sp>
        <p:nvSpPr>
          <p:cNvPr id="106" name="Google Shape;106;p11">
            <a:extLst>
              <a:ext uri="{FF2B5EF4-FFF2-40B4-BE49-F238E27FC236}">
                <a16:creationId xmlns:a16="http://schemas.microsoft.com/office/drawing/2014/main" id="{53256DB4-5DE8-BAFD-CC7A-540409412DD2}"/>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107" name="Google Shape;107;p11">
            <a:extLst>
              <a:ext uri="{FF2B5EF4-FFF2-40B4-BE49-F238E27FC236}">
                <a16:creationId xmlns:a16="http://schemas.microsoft.com/office/drawing/2014/main" id="{EDDF246E-A733-2BAE-72E3-E8DD52681E5B}"/>
              </a:ext>
            </a:extLst>
          </p:cNvPr>
          <p:cNvSpPr txBox="1"/>
          <p:nvPr/>
        </p:nvSpPr>
        <p:spPr>
          <a:xfrm>
            <a:off x="609600" y="1412777"/>
            <a:ext cx="10970761" cy="39702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OOP Concepts</a:t>
            </a:r>
            <a:endParaRPr/>
          </a:p>
          <a:p>
            <a:pPr marL="0" marR="0" lvl="0" indent="0" algn="l" rtl="0">
              <a:spcBef>
                <a:spcPts val="0"/>
              </a:spcBef>
              <a:spcAft>
                <a:spcPts val="0"/>
              </a:spcAft>
              <a:buNone/>
            </a:pPr>
            <a:endParaRPr lang="en-GB" i="1">
              <a:solidFill>
                <a:schemeClr val="dk1"/>
              </a:solidFill>
              <a:latin typeface="Quattrocento Sans"/>
            </a:endParaRPr>
          </a:p>
          <a:p>
            <a:r>
              <a:rPr lang="en-GB" sz="2800">
                <a:solidFill>
                  <a:schemeClr val="bg2"/>
                </a:solidFill>
                <a:ea typeface="Quattrocento Sans"/>
              </a:rPr>
              <a:t>Inheritance:</a:t>
            </a:r>
          </a:p>
          <a:p>
            <a:endParaRPr lang="en-GB" sz="2800">
              <a:solidFill>
                <a:schemeClr val="bg2"/>
              </a:solidFill>
              <a:ea typeface="Quattrocento Sans"/>
            </a:endParaRPr>
          </a:p>
          <a:p>
            <a:r>
              <a:rPr lang="en-GB" sz="2400">
                <a:solidFill>
                  <a:schemeClr val="bg2"/>
                </a:solidFill>
                <a:ea typeface="Quattrocento Sans"/>
              </a:rPr>
              <a:t>A class can inherit attributes from another class. (parent/child, super/sub)</a:t>
            </a:r>
          </a:p>
          <a:p>
            <a:endParaRPr lang="en-GB" sz="2400">
              <a:solidFill>
                <a:schemeClr val="bg2"/>
              </a:solidFill>
              <a:ea typeface="Quattrocento Sans"/>
            </a:endParaRPr>
          </a:p>
          <a:p>
            <a:r>
              <a:rPr lang="en-GB" sz="2400">
                <a:solidFill>
                  <a:schemeClr val="bg2"/>
                </a:solidFill>
                <a:ea typeface="Quattrocento Sans"/>
              </a:rPr>
              <a:t>This promotes code reuse and establishes class relationships.</a:t>
            </a:r>
          </a:p>
          <a:p>
            <a:endParaRPr lang="en-GB" sz="2800">
              <a:solidFill>
                <a:srgbClr val="FFFFFF"/>
              </a:solidFill>
              <a:ea typeface="Quattrocento Sans"/>
            </a:endParaRPr>
          </a:p>
          <a:p>
            <a:pPr marL="514350" indent="-514350">
              <a:buChar char="•"/>
            </a:pPr>
            <a:endParaRPr lang="en-GB" sz="2800">
              <a:solidFill>
                <a:srgbClr val="FFFFFF"/>
              </a:solidFill>
              <a:ea typeface="Quattrocento Sans"/>
            </a:endParaRPr>
          </a:p>
          <a:p>
            <a:endParaRPr lang="en-GB" sz="1800" b="1">
              <a:solidFill>
                <a:srgbClr val="FFFF00"/>
              </a:solidFill>
              <a:latin typeface="Quattrocento Sans"/>
              <a:ea typeface="Quattrocento Sans"/>
              <a:cs typeface="Quattrocento Sans"/>
            </a:endParaRPr>
          </a:p>
        </p:txBody>
      </p:sp>
    </p:spTree>
    <p:extLst>
      <p:ext uri="{BB962C8B-B14F-4D97-AF65-F5344CB8AC3E}">
        <p14:creationId xmlns:p14="http://schemas.microsoft.com/office/powerpoint/2010/main" val="2091064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5">
          <a:extLst>
            <a:ext uri="{FF2B5EF4-FFF2-40B4-BE49-F238E27FC236}">
              <a16:creationId xmlns:a16="http://schemas.microsoft.com/office/drawing/2014/main" id="{5DBABF8C-EDCB-89C4-8D12-CFB75CC471D7}"/>
            </a:ext>
          </a:extLst>
        </p:cNvPr>
        <p:cNvGrpSpPr/>
        <p:nvPr/>
      </p:nvGrpSpPr>
      <p:grpSpPr>
        <a:xfrm>
          <a:off x="0" y="0"/>
          <a:ext cx="0" cy="0"/>
          <a:chOff x="0" y="0"/>
          <a:chExt cx="0" cy="0"/>
        </a:xfrm>
      </p:grpSpPr>
      <p:sp>
        <p:nvSpPr>
          <p:cNvPr id="106" name="Google Shape;106;p11">
            <a:extLst>
              <a:ext uri="{FF2B5EF4-FFF2-40B4-BE49-F238E27FC236}">
                <a16:creationId xmlns:a16="http://schemas.microsoft.com/office/drawing/2014/main" id="{B91BA2ED-A643-1FA4-8542-2B7913D796B7}"/>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107" name="Google Shape;107;p11">
            <a:extLst>
              <a:ext uri="{FF2B5EF4-FFF2-40B4-BE49-F238E27FC236}">
                <a16:creationId xmlns:a16="http://schemas.microsoft.com/office/drawing/2014/main" id="{E50A43F1-027B-C1D6-592D-6475B69868B0}"/>
              </a:ext>
            </a:extLst>
          </p:cNvPr>
          <p:cNvSpPr txBox="1"/>
          <p:nvPr/>
        </p:nvSpPr>
        <p:spPr>
          <a:xfrm>
            <a:off x="609600" y="1412777"/>
            <a:ext cx="10970761" cy="39087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Quattrocento Sans"/>
                <a:ea typeface="Quattrocento Sans"/>
                <a:cs typeface="Quattrocento Sans"/>
                <a:sym typeface="Quattrocento Sans"/>
              </a:rPr>
              <a:t>OOP Concepts</a:t>
            </a:r>
            <a:endParaRPr dirty="0"/>
          </a:p>
          <a:p>
            <a:pPr marL="0" marR="0" lvl="0" indent="0" algn="l" rtl="0">
              <a:spcBef>
                <a:spcPts val="0"/>
              </a:spcBef>
              <a:spcAft>
                <a:spcPts val="0"/>
              </a:spcAft>
              <a:buNone/>
            </a:pPr>
            <a:endParaRPr lang="en-GB" i="1">
              <a:solidFill>
                <a:schemeClr val="dk1"/>
              </a:solidFill>
              <a:latin typeface="Quattrocento Sans"/>
            </a:endParaRPr>
          </a:p>
          <a:p>
            <a:r>
              <a:rPr lang="en-GB" sz="2800" dirty="0">
                <a:solidFill>
                  <a:schemeClr val="bg2"/>
                </a:solidFill>
                <a:ea typeface="Quattrocento Sans"/>
              </a:rPr>
              <a:t>Polymorphism:</a:t>
            </a:r>
          </a:p>
          <a:p>
            <a:endParaRPr lang="en-GB" sz="2800">
              <a:solidFill>
                <a:schemeClr val="bg2"/>
              </a:solidFill>
              <a:ea typeface="Quattrocento Sans"/>
            </a:endParaRPr>
          </a:p>
          <a:p>
            <a:r>
              <a:rPr lang="en-GB" sz="2400" dirty="0">
                <a:solidFill>
                  <a:schemeClr val="bg2"/>
                </a:solidFill>
                <a:ea typeface="Quattrocento Sans"/>
              </a:rPr>
              <a:t>Using a common interface for multiple data types.</a:t>
            </a:r>
          </a:p>
          <a:p>
            <a:endParaRPr lang="en-GB" sz="2400">
              <a:solidFill>
                <a:schemeClr val="bg2"/>
              </a:solidFill>
              <a:ea typeface="Quattrocento Sans"/>
            </a:endParaRPr>
          </a:p>
          <a:p>
            <a:r>
              <a:rPr lang="en-GB" sz="2400" dirty="0">
                <a:solidFill>
                  <a:schemeClr val="bg2"/>
                </a:solidFill>
                <a:ea typeface="Quattrocento Sans"/>
              </a:rPr>
              <a:t>Different classes can be treated as instances of the same class through a shared interface.</a:t>
            </a:r>
          </a:p>
          <a:p>
            <a:pPr marL="514350" indent="-514350">
              <a:buChar char="•"/>
            </a:pPr>
            <a:endParaRPr lang="en-GB" sz="2800">
              <a:solidFill>
                <a:srgbClr val="FFFFFF"/>
              </a:solidFill>
              <a:ea typeface="Quattrocento Sans"/>
            </a:endParaRPr>
          </a:p>
          <a:p>
            <a:endParaRPr lang="en-GB" sz="1800" b="1">
              <a:solidFill>
                <a:srgbClr val="FFFF00"/>
              </a:solidFill>
              <a:latin typeface="Quattrocento Sans"/>
              <a:ea typeface="Quattrocento Sans"/>
              <a:cs typeface="Quattrocento Sans"/>
            </a:endParaRPr>
          </a:p>
        </p:txBody>
      </p:sp>
    </p:spTree>
    <p:extLst>
      <p:ext uri="{BB962C8B-B14F-4D97-AF65-F5344CB8AC3E}">
        <p14:creationId xmlns:p14="http://schemas.microsoft.com/office/powerpoint/2010/main" val="16855795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2"/>
          <p:cNvSpPr txBox="1"/>
          <p:nvPr/>
        </p:nvSpPr>
        <p:spPr>
          <a:xfrm>
            <a:off x="609600" y="1412777"/>
            <a:ext cx="10970445" cy="510905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Unity (C#)</a:t>
            </a:r>
            <a:endParaRPr/>
          </a:p>
          <a:p>
            <a:pPr marL="0" marR="0" lvl="0" indent="0" algn="l" rtl="0">
              <a:spcBef>
                <a:spcPts val="0"/>
              </a:spcBef>
              <a:spcAft>
                <a:spcPts val="0"/>
              </a:spcAft>
              <a:buNone/>
            </a:pPr>
            <a:endParaRPr sz="3600">
              <a:solidFill>
                <a:srgbClr val="FFFF00"/>
              </a:solidFill>
              <a:latin typeface="Quattrocento Sans"/>
              <a:ea typeface="Quattrocento Sans"/>
              <a:cs typeface="Quattrocento Sans"/>
            </a:endParaRPr>
          </a:p>
          <a:p>
            <a:pPr marL="457200" marR="0" lvl="0" indent="-457200" algn="l" rtl="0">
              <a:spcBef>
                <a:spcPts val="0"/>
              </a:spcBef>
              <a:spcAft>
                <a:spcPts val="0"/>
              </a:spcAft>
              <a:buClr>
                <a:srgbClr val="FFFF00"/>
              </a:buClr>
              <a:buSzPts val="2400"/>
              <a:buFont typeface="Quattrocento Sans"/>
              <a:buAutoNum type="arabicPeriod"/>
            </a:pPr>
            <a:r>
              <a:rPr lang="en-GB" sz="2400">
                <a:solidFill>
                  <a:srgbClr val="FFFF00"/>
                </a:solidFill>
                <a:latin typeface="Quattrocento Sans"/>
                <a:ea typeface="Quattrocento Sans"/>
                <a:cs typeface="Quattrocento Sans"/>
                <a:sym typeface="Quattrocento Sans"/>
              </a:rPr>
              <a:t>Dependencies</a:t>
            </a:r>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	</a:t>
            </a:r>
            <a:r>
              <a:rPr lang="en-GB" sz="2400">
                <a:solidFill>
                  <a:schemeClr val="dk2"/>
                </a:solidFill>
                <a:latin typeface="Quattrocento Sans"/>
                <a:ea typeface="Quattrocento Sans"/>
                <a:cs typeface="Quattrocento Sans"/>
                <a:sym typeface="Quattrocento Sans"/>
              </a:rPr>
              <a:t>Using </a:t>
            </a:r>
            <a:r>
              <a:rPr lang="en-GB" sz="2400" err="1">
                <a:solidFill>
                  <a:schemeClr val="dk2"/>
                </a:solidFill>
                <a:latin typeface="Quattrocento Sans"/>
                <a:ea typeface="Quattrocento Sans"/>
                <a:cs typeface="Quattrocento Sans"/>
                <a:sym typeface="Quattrocento Sans"/>
              </a:rPr>
              <a:t>UnityEngine</a:t>
            </a:r>
            <a:r>
              <a:rPr lang="en-GB" sz="2400">
                <a:solidFill>
                  <a:schemeClr val="dk2"/>
                </a:solidFill>
                <a:latin typeface="Quattrocento Sans"/>
                <a:ea typeface="Quattrocento Sans"/>
                <a:cs typeface="Quattrocento Sans"/>
                <a:sym typeface="Quattrocento Sans"/>
              </a:rPr>
              <a:t>: lets </a:t>
            </a:r>
            <a:r>
              <a:rPr lang="en-GB" sz="2400" err="1">
                <a:solidFill>
                  <a:schemeClr val="dk2"/>
                </a:solidFill>
                <a:latin typeface="Quattrocento Sans"/>
                <a:ea typeface="Quattrocento Sans"/>
                <a:cs typeface="Quattrocento Sans"/>
                <a:sym typeface="Quattrocento Sans"/>
              </a:rPr>
              <a:t>MainCamera</a:t>
            </a:r>
            <a:r>
              <a:rPr lang="en-GB" sz="2400">
                <a:solidFill>
                  <a:schemeClr val="dk2"/>
                </a:solidFill>
                <a:latin typeface="Quattrocento Sans"/>
                <a:ea typeface="Quattrocento Sans"/>
                <a:cs typeface="Quattrocento Sans"/>
                <a:sym typeface="Quattrocento Sans"/>
              </a:rPr>
              <a:t> be initiated.</a:t>
            </a:r>
            <a:endParaRPr>
              <a:solidFill>
                <a:schemeClr val="dk2"/>
              </a:solidFill>
            </a:endParaRPr>
          </a:p>
          <a:p>
            <a:pPr marL="457200" marR="0" lvl="0" indent="-457200" algn="l" rtl="0">
              <a:spcBef>
                <a:spcPts val="0"/>
              </a:spcBef>
              <a:spcAft>
                <a:spcPts val="0"/>
              </a:spcAft>
              <a:buClr>
                <a:srgbClr val="FFFF00"/>
              </a:buClr>
              <a:buSzPts val="2400"/>
              <a:buFont typeface="Quattrocento Sans"/>
              <a:buAutoNum type="arabicPeriod"/>
            </a:pPr>
            <a:r>
              <a:rPr lang="en-GB" sz="2400">
                <a:solidFill>
                  <a:srgbClr val="FFFF00"/>
                </a:solidFill>
                <a:latin typeface="Quattrocento Sans"/>
                <a:ea typeface="Quattrocento Sans"/>
                <a:cs typeface="Quattrocento Sans"/>
                <a:sym typeface="Quattrocento Sans"/>
              </a:rPr>
              <a:t>Namespaces</a:t>
            </a:r>
            <a:endParaRPr/>
          </a:p>
          <a:p>
            <a:pPr marL="457200" lvl="1"/>
            <a:r>
              <a:rPr lang="en-GB" sz="2400" i="0" u="none" strike="noStrike" cap="none">
                <a:solidFill>
                  <a:srgbClr val="FFFF00"/>
                </a:solidFill>
                <a:latin typeface="Quattrocento Sans"/>
                <a:ea typeface="Quattrocento Sans"/>
                <a:cs typeface="Quattrocento Sans"/>
                <a:sym typeface="Quattrocento Sans"/>
              </a:rPr>
              <a:t>	</a:t>
            </a:r>
            <a:r>
              <a:rPr lang="en-GB" sz="2400" i="0" u="none" strike="noStrike" cap="none" err="1">
                <a:solidFill>
                  <a:schemeClr val="dk2"/>
                </a:solidFill>
                <a:latin typeface="Quattrocento Sans"/>
                <a:ea typeface="Quattrocento Sans"/>
                <a:cs typeface="Quattrocento Sans"/>
                <a:sym typeface="Quattrocento Sans"/>
              </a:rPr>
              <a:t>MonoBehaviour</a:t>
            </a:r>
            <a:r>
              <a:rPr lang="en-GB" sz="2400" i="0" u="none" strike="noStrike" cap="none">
                <a:solidFill>
                  <a:schemeClr val="dk2"/>
                </a:solidFill>
                <a:latin typeface="Quattrocento Sans"/>
                <a:ea typeface="Quattrocento Sans"/>
                <a:cs typeface="Quattrocento Sans"/>
                <a:sym typeface="Quattrocento Sans"/>
              </a:rPr>
              <a:t> is a class in Namespace </a:t>
            </a:r>
            <a:r>
              <a:rPr lang="en-GB" sz="2400" i="0" u="none" strike="noStrike" cap="none" err="1">
                <a:solidFill>
                  <a:schemeClr val="dk2"/>
                </a:solidFill>
                <a:latin typeface="Quattrocento Sans"/>
                <a:ea typeface="Quattrocento Sans"/>
                <a:cs typeface="Quattrocento Sans"/>
                <a:sym typeface="Quattrocento Sans"/>
              </a:rPr>
              <a:t>UnityEngine</a:t>
            </a:r>
            <a:r>
              <a:rPr lang="en-GB" sz="2400" i="0" u="none" strike="noStrike" cap="none">
                <a:solidFill>
                  <a:schemeClr val="dk2"/>
                </a:solidFill>
                <a:latin typeface="Quattrocento Sans"/>
                <a:ea typeface="Quattrocento Sans"/>
                <a:cs typeface="Quattrocento Sans"/>
                <a:sym typeface="Quattrocento Sans"/>
              </a:rPr>
              <a:t>.</a:t>
            </a:r>
            <a:endParaRPr lang="en-GB">
              <a:solidFill>
                <a:schemeClr val="dk2"/>
              </a:solidFill>
              <a:ea typeface="Quattrocento Sans"/>
              <a:sym typeface="Quattrocento Sans"/>
            </a:endParaRPr>
          </a:p>
          <a:p>
            <a:pPr marL="457200" lvl="1"/>
            <a:r>
              <a:rPr lang="en-GB" sz="1800">
                <a:solidFill>
                  <a:schemeClr val="dk2"/>
                </a:solidFill>
                <a:ea typeface="Quattrocento Sans"/>
                <a:sym typeface="Quattrocento Sans"/>
                <a:hlinkClick r:id="rId3">
                  <a:extLst>
                    <a:ext uri="{A12FA001-AC4F-418D-AE19-62706E023703}">
                      <ahyp:hlinkClr xmlns:ahyp="http://schemas.microsoft.com/office/drawing/2018/hyperlinkcolor" val="tx"/>
                    </a:ext>
                  </a:extLst>
                </a:hlinkClick>
              </a:rPr>
              <a:t>https://discussions.unity.com/t/question-about-the-relationships-between-monobehaviour-namespaces-and-unity-api/827786/3</a:t>
            </a:r>
            <a:r>
              <a:rPr lang="en-GB" sz="1800">
                <a:solidFill>
                  <a:schemeClr val="dk2"/>
                </a:solidFill>
                <a:ea typeface="Quattrocento Sans"/>
                <a:sym typeface="Quattrocento Sans"/>
              </a:rPr>
              <a:t> </a:t>
            </a:r>
            <a:r>
              <a:rPr lang="en-GB" sz="2400" i="0" u="none" strike="noStrike" cap="none">
                <a:solidFill>
                  <a:schemeClr val="dk2"/>
                </a:solidFill>
                <a:latin typeface="Quattrocento Sans"/>
                <a:ea typeface="Quattrocento Sans"/>
                <a:cs typeface="Quattrocento Sans"/>
                <a:sym typeface="Quattrocento Sans"/>
              </a:rPr>
              <a:t>	</a:t>
            </a:r>
            <a:endParaRPr lang="en-GB">
              <a:solidFill>
                <a:schemeClr val="dk2"/>
              </a:solidFill>
              <a:ea typeface="Quattrocento Sans"/>
            </a:endParaRPr>
          </a:p>
          <a:p>
            <a:pPr marL="457200" lvl="1"/>
            <a:r>
              <a:rPr lang="en-GB" sz="2400">
                <a:solidFill>
                  <a:schemeClr val="dk2"/>
                </a:solidFill>
                <a:latin typeface="Quattrocento Sans"/>
                <a:ea typeface="Quattrocento Sans"/>
                <a:cs typeface="Quattrocento Sans"/>
                <a:sym typeface="Quattrocento Sans"/>
              </a:rPr>
              <a:t>  </a:t>
            </a:r>
            <a:r>
              <a:rPr lang="en-GB" sz="2400" i="0" u="none" strike="noStrike" cap="none">
                <a:solidFill>
                  <a:schemeClr val="dk2"/>
                </a:solidFill>
                <a:latin typeface="Quattrocento Sans"/>
                <a:ea typeface="Quattrocento Sans"/>
                <a:cs typeface="Quattrocento Sans"/>
                <a:sym typeface="Quattrocento Sans"/>
              </a:rPr>
              <a:t>Others are not Class Definitions.</a:t>
            </a:r>
            <a:endParaRPr>
              <a:solidFill>
                <a:schemeClr val="dk2"/>
              </a:solidFill>
            </a:endParaRPr>
          </a:p>
          <a:p>
            <a:pPr marL="457200" marR="0" lvl="0" indent="-457200" algn="l" rtl="0">
              <a:spcBef>
                <a:spcPts val="0"/>
              </a:spcBef>
              <a:spcAft>
                <a:spcPts val="0"/>
              </a:spcAft>
              <a:buClr>
                <a:srgbClr val="FFFF00"/>
              </a:buClr>
              <a:buSzPts val="2400"/>
              <a:buFont typeface="Quattrocento Sans"/>
              <a:buAutoNum type="arabicPeriod"/>
            </a:pPr>
            <a:r>
              <a:rPr lang="en-GB" sz="2400">
                <a:solidFill>
                  <a:srgbClr val="FFFF00"/>
                </a:solidFill>
                <a:latin typeface="Quattrocento Sans"/>
                <a:ea typeface="Quattrocento Sans"/>
                <a:cs typeface="Quattrocento Sans"/>
                <a:sym typeface="Quattrocento Sans"/>
              </a:rPr>
              <a:t>Start and Update Functions</a:t>
            </a:r>
            <a:endParaRPr/>
          </a:p>
          <a:p>
            <a:r>
              <a:rPr lang="en-GB" sz="2400">
                <a:solidFill>
                  <a:srgbClr val="FFFF00"/>
                </a:solidFill>
                <a:latin typeface="Quattrocento Sans"/>
                <a:ea typeface="Quattrocento Sans"/>
                <a:cs typeface="Quattrocento Sans"/>
                <a:sym typeface="Quattrocento Sans"/>
              </a:rPr>
              <a:t>	</a:t>
            </a:r>
            <a:r>
              <a:rPr lang="en-GB" sz="2400">
                <a:solidFill>
                  <a:schemeClr val="dk2"/>
                </a:solidFill>
                <a:latin typeface="Quattrocento Sans"/>
                <a:ea typeface="Quattrocento Sans"/>
                <a:cs typeface="Quattrocento Sans"/>
                <a:sym typeface="Quattrocento Sans"/>
              </a:rPr>
              <a:t>Void means it does not return a value. </a:t>
            </a:r>
            <a:endParaRPr>
              <a:solidFill>
                <a:schemeClr val="dk2"/>
              </a:solidFill>
            </a:endParaRPr>
          </a:p>
          <a:p>
            <a:pPr marL="0" marR="0" lvl="0" indent="0" algn="l" rtl="0">
              <a:spcBef>
                <a:spcPts val="0"/>
              </a:spcBef>
              <a:spcAft>
                <a:spcPts val="0"/>
              </a:spcAft>
              <a:buNone/>
            </a:pPr>
            <a:r>
              <a:rPr lang="en-GB" sz="2400">
                <a:solidFill>
                  <a:schemeClr val="dk2"/>
                </a:solidFill>
                <a:latin typeface="Quattrocento Sans"/>
                <a:ea typeface="Quattrocento Sans"/>
                <a:cs typeface="Quattrocento Sans"/>
                <a:sym typeface="Quattrocento Sans"/>
              </a:rPr>
              <a:t>	Start initializes, Update refreshes.</a:t>
            </a:r>
            <a:endParaRPr>
              <a:solidFill>
                <a:schemeClr val="dk2"/>
              </a:solidFill>
            </a:endParaRPr>
          </a:p>
          <a:p>
            <a:pPr marL="0" marR="0" lvl="0" indent="0" algn="l" rtl="0">
              <a:spcBef>
                <a:spcPts val="0"/>
              </a:spcBef>
              <a:spcAft>
                <a:spcPts val="0"/>
              </a:spcAft>
              <a:buNone/>
            </a:pPr>
            <a:endParaRPr sz="1400" b="1" i="1">
              <a:solidFill>
                <a:srgbClr val="FFFFFF"/>
              </a:solidFill>
              <a:latin typeface="Quattrocento Sans"/>
              <a:ea typeface="Quattrocento Sans"/>
              <a:cs typeface="Quattrocento Sans"/>
              <a:sym typeface="Quattrocento Sans"/>
            </a:endParaRPr>
          </a:p>
        </p:txBody>
      </p:sp>
      <p:sp>
        <p:nvSpPr>
          <p:cNvPr id="114" name="Google Shape;114;p1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r>
              <a:rPr lang="en-GB" sz="3600"/>
              <a:t>3D Interactive Media Development</a:t>
            </a:r>
            <a:endParaRPr lang="en-US"/>
          </a:p>
        </p:txBody>
      </p:sp>
      <p:sp>
        <p:nvSpPr>
          <p:cNvPr id="121" name="Google Shape;121;p13"/>
          <p:cNvSpPr txBox="1"/>
          <p:nvPr/>
        </p:nvSpPr>
        <p:spPr>
          <a:xfrm>
            <a:off x="609600" y="1412776"/>
            <a:ext cx="10970761" cy="40010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Namespaces:</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r>
              <a:rPr lang="en-GB" sz="2200">
                <a:solidFill>
                  <a:schemeClr val="dk1"/>
                </a:solidFill>
                <a:latin typeface="Quattrocento Sans"/>
                <a:ea typeface="Quattrocento Sans"/>
                <a:cs typeface="Quattrocento Sans"/>
                <a:sym typeface="Quattrocento Sans"/>
              </a:rPr>
              <a:t>Namespaces are C# program elements designed to help you organize your programs. They also provide assistance in avoiding name clashes between two sets of code. Implementing Namespaces in your own code is a good habit because it is likely to save you from problems later when you want to reuse some of your code. </a:t>
            </a:r>
            <a:endParaRPr lang="en-GB">
              <a:solidFill>
                <a:schemeClr val="dk1"/>
              </a:solidFill>
              <a:ea typeface="Quattrocento Sans"/>
              <a:sym typeface="Quattrocento Sans"/>
            </a:endParaRPr>
          </a:p>
          <a:p>
            <a:endParaRPr lang="en-GB" sz="22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200">
                <a:solidFill>
                  <a:schemeClr val="dk1"/>
                </a:solidFill>
                <a:latin typeface="Quattrocento Sans"/>
                <a:ea typeface="Quattrocento Sans"/>
                <a:cs typeface="Quattrocento Sans"/>
                <a:sym typeface="Quattrocento Sans"/>
              </a:rPr>
              <a:t>You specify the Namespaces you want to use in the top of your code.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a:buSzPts val="3600"/>
            </a:pPr>
            <a:r>
              <a:rPr lang="en-GB" sz="3600"/>
              <a:t>3D Interactive Media Development</a:t>
            </a:r>
            <a:endParaRPr sz="4000"/>
          </a:p>
        </p:txBody>
      </p:sp>
      <p:sp>
        <p:nvSpPr>
          <p:cNvPr id="128" name="Google Shape;128;p14"/>
          <p:cNvSpPr txBox="1"/>
          <p:nvPr/>
        </p:nvSpPr>
        <p:spPr>
          <a:xfrm>
            <a:off x="609600" y="1406211"/>
            <a:ext cx="10916973" cy="547838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Namespaces:</a:t>
            </a:r>
            <a:endParaRPr/>
          </a:p>
          <a:p>
            <a:endParaRPr lang="en-GB" sz="24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When you create a new Unity C# Script, the following default namespaces will be included:</a:t>
            </a:r>
            <a:endParaRPr>
              <a:solidFill>
                <a:schemeClr val="dk1"/>
              </a:solidFill>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using </a:t>
            </a:r>
            <a:r>
              <a:rPr lang="en-GB" sz="2000" i="0" u="none" strike="noStrike" cap="none" err="1">
                <a:solidFill>
                  <a:schemeClr val="dk1"/>
                </a:solidFill>
                <a:latin typeface="Quattrocento Sans"/>
                <a:ea typeface="Quattrocento Sans"/>
                <a:cs typeface="Quattrocento Sans"/>
                <a:sym typeface="Quattrocento Sans"/>
              </a:rPr>
              <a:t>UnityEngine</a:t>
            </a:r>
            <a:r>
              <a:rPr lang="en-GB" sz="2000" i="0" u="none" strike="noStrike" cap="none">
                <a:solidFill>
                  <a:schemeClr val="dk1"/>
                </a:solidFill>
                <a:latin typeface="Quattrocento Sans"/>
                <a:ea typeface="Quattrocento Sans"/>
                <a:cs typeface="Quattrocento Sans"/>
                <a:sym typeface="Quattrocento Sans"/>
              </a:rPr>
              <a:t>;</a:t>
            </a:r>
            <a:endParaRPr>
              <a:solidFill>
                <a:schemeClr val="dk1"/>
              </a:solidFill>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using </a:t>
            </a:r>
            <a:r>
              <a:rPr lang="en-GB" sz="2000" i="0" u="none" strike="noStrike" cap="none" err="1">
                <a:solidFill>
                  <a:schemeClr val="dk1"/>
                </a:solidFill>
                <a:latin typeface="Quattrocento Sans"/>
                <a:ea typeface="Quattrocento Sans"/>
                <a:cs typeface="Quattrocento Sans"/>
                <a:sym typeface="Quattrocento Sans"/>
              </a:rPr>
              <a:t>System.Collections</a:t>
            </a:r>
            <a:r>
              <a:rPr lang="en-GB" sz="2000" i="0" u="none" strike="noStrike" cap="none">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Difference Unity namespaces have different functional libraries. Add more when you need them…</a:t>
            </a:r>
            <a:endParaRPr>
              <a:solidFill>
                <a:schemeClr val="dk1"/>
              </a:solidFill>
            </a:endParaRPr>
          </a:p>
          <a:p>
            <a:pPr marL="457200" marR="0" lvl="1" indent="0" algn="l" rtl="0">
              <a:spcBef>
                <a:spcPts val="0"/>
              </a:spcBef>
              <a:spcAft>
                <a:spcPts val="0"/>
              </a:spcAft>
              <a:buNone/>
            </a:pPr>
            <a:endParaRPr sz="2000" b="1" i="0" u="none" strike="noStrike" cap="none">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42" name="Google Shape;142;p16"/>
          <p:cNvSpPr txBox="1"/>
          <p:nvPr/>
        </p:nvSpPr>
        <p:spPr>
          <a:xfrm>
            <a:off x="609600" y="1403898"/>
            <a:ext cx="10970761" cy="46781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b="1"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b="1"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Classes:</a:t>
            </a:r>
            <a:endParaRPr/>
          </a:p>
          <a:p>
            <a:pPr marL="0" marR="0" lvl="0" indent="0" algn="l" rtl="0">
              <a:spcBef>
                <a:spcPts val="0"/>
              </a:spcBef>
              <a:spcAft>
                <a:spcPts val="0"/>
              </a:spcAft>
              <a:buNone/>
            </a:pPr>
            <a:r>
              <a:rPr lang="en-GB" sz="2200">
                <a:solidFill>
                  <a:schemeClr val="dk1"/>
                </a:solidFill>
                <a:latin typeface="Quattrocento Sans"/>
                <a:ea typeface="Quattrocento Sans"/>
                <a:cs typeface="Quattrocento Sans"/>
                <a:sym typeface="Quattrocento Sans"/>
              </a:rPr>
              <a:t>The first step in OOP is to identify all the objects you want to manipulate and how they relate to each other, an exercise often known as data modeling. Once you've identified an object, you generalize it as a class of objects and define the kind of data it contains and any logic sequences that can manipulate it. Each distinct logic sequence is known as a method. A real instance of a class is called an “object” or an “instance of a class”. The object or class instance is what you run in the computer. Its methods provide computer instructions and the class object characteristics provide relevant data. You communicate with objects -­‐ and they communicate with each other. </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5"/>
          <p:cNvSpPr txBox="1"/>
          <p:nvPr/>
        </p:nvSpPr>
        <p:spPr>
          <a:xfrm>
            <a:off x="609600" y="1386144"/>
            <a:ext cx="10970761" cy="507827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Working in Unity (C# and OOP Concepts)</a:t>
            </a:r>
            <a:endParaRPr sz="2400" b="1"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sym typeface="Quattrocento Sans"/>
            </a:endParaRPr>
          </a:p>
          <a:p>
            <a:r>
              <a:rPr lang="en-GB" sz="2000">
                <a:solidFill>
                  <a:schemeClr val="dk1"/>
                </a:solidFill>
                <a:latin typeface="Quattrocento Sans"/>
                <a:ea typeface="Quattrocento Sans"/>
                <a:cs typeface="Quattrocento Sans"/>
                <a:sym typeface="Quattrocento Sans"/>
              </a:rPr>
              <a:t>Each script that you create will by default inherit from </a:t>
            </a:r>
            <a:r>
              <a:rPr lang="en-GB" sz="2000" b="1" err="1">
                <a:solidFill>
                  <a:schemeClr val="dk1"/>
                </a:solidFill>
                <a:latin typeface="Quattrocento Sans"/>
                <a:ea typeface="Quattrocento Sans"/>
                <a:cs typeface="Quattrocento Sans"/>
                <a:sym typeface="Quattrocento Sans"/>
              </a:rPr>
              <a:t>MonoBehaviour</a:t>
            </a:r>
            <a:r>
              <a:rPr lang="en-GB" sz="2000">
                <a:solidFill>
                  <a:schemeClr val="dk1"/>
                </a:solidFill>
                <a:latin typeface="Quattrocento Sans"/>
                <a:ea typeface="Quattrocento Sans"/>
                <a:cs typeface="Quattrocento Sans"/>
                <a:sym typeface="Quattrocento Sans"/>
              </a:rPr>
              <a:t>. We will discuss this class at a later point. Each script that you create will also have two functions defined by default: </a:t>
            </a:r>
            <a:r>
              <a:rPr lang="en-GB" sz="2000" b="1">
                <a:solidFill>
                  <a:schemeClr val="dk1"/>
                </a:solidFill>
                <a:latin typeface="Quattrocento Sans"/>
                <a:ea typeface="Quattrocento Sans"/>
                <a:cs typeface="Quattrocento Sans"/>
                <a:sym typeface="Quattrocento Sans"/>
              </a:rPr>
              <a:t>Start()</a:t>
            </a:r>
            <a:r>
              <a:rPr lang="en-GB" sz="2000">
                <a:solidFill>
                  <a:schemeClr val="dk1"/>
                </a:solidFill>
                <a:latin typeface="Quattrocento Sans"/>
                <a:ea typeface="Quattrocento Sans"/>
                <a:cs typeface="Quattrocento Sans"/>
                <a:sym typeface="Quattrocento Sans"/>
              </a:rPr>
              <a:t> and </a:t>
            </a:r>
            <a:r>
              <a:rPr lang="en-GB" sz="2000" b="1">
                <a:solidFill>
                  <a:schemeClr val="dk1"/>
                </a:solidFill>
                <a:latin typeface="Quattrocento Sans"/>
                <a:ea typeface="Quattrocento Sans"/>
                <a:cs typeface="Quattrocento Sans"/>
                <a:sym typeface="Quattrocento Sans"/>
              </a:rPr>
              <a:t>Update()</a:t>
            </a:r>
            <a:r>
              <a:rPr lang="en-GB" sz="2000">
                <a:solidFill>
                  <a:schemeClr val="dk1"/>
                </a:solidFill>
                <a:latin typeface="Quattrocento Sans"/>
                <a:ea typeface="Quattrocento Sans"/>
                <a:cs typeface="Quattrocento Sans"/>
                <a:sym typeface="Quattrocento Sans"/>
              </a:rPr>
              <a:t>.</a:t>
            </a:r>
            <a:br>
              <a:rPr lang="en-GB" sz="2000">
                <a:latin typeface="Quattrocento Sans"/>
                <a:ea typeface="Quattrocento Sans"/>
                <a:cs typeface="Quattrocento Sans"/>
              </a:rPr>
            </a:br>
            <a:endParaRPr sz="20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The </a:t>
            </a:r>
            <a:r>
              <a:rPr lang="en-GB" sz="2000" b="1">
                <a:solidFill>
                  <a:schemeClr val="dk1"/>
                </a:solidFill>
                <a:latin typeface="Quattrocento Sans"/>
                <a:ea typeface="Quattrocento Sans"/>
                <a:cs typeface="Quattrocento Sans"/>
                <a:sym typeface="Quattrocento Sans"/>
              </a:rPr>
              <a:t>Start()</a:t>
            </a:r>
            <a:r>
              <a:rPr lang="en-GB" sz="2000">
                <a:solidFill>
                  <a:schemeClr val="dk1"/>
                </a:solidFill>
                <a:latin typeface="Quattrocento Sans"/>
                <a:ea typeface="Quattrocento Sans"/>
                <a:cs typeface="Quattrocento Sans"/>
                <a:sym typeface="Quattrocento Sans"/>
              </a:rPr>
              <a:t> function will be run only once at the start of the program. So any logic and data initializations that you need or want to do can be placed in the Start() function.</a:t>
            </a:r>
            <a:br>
              <a:rPr lang="en-GB" sz="2000">
                <a:latin typeface="Quattrocento Sans"/>
                <a:ea typeface="Quattrocento Sans"/>
                <a:cs typeface="Quattrocento Sans"/>
              </a:rPr>
            </a:br>
            <a:endParaRPr sz="20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The </a:t>
            </a:r>
            <a:r>
              <a:rPr lang="en-GB" sz="2000" b="1">
                <a:solidFill>
                  <a:schemeClr val="dk1"/>
                </a:solidFill>
                <a:latin typeface="Quattrocento Sans"/>
                <a:ea typeface="Quattrocento Sans"/>
                <a:cs typeface="Quattrocento Sans"/>
                <a:sym typeface="Quattrocento Sans"/>
              </a:rPr>
              <a:t>Update()</a:t>
            </a:r>
            <a:r>
              <a:rPr lang="en-GB" sz="2000">
                <a:solidFill>
                  <a:schemeClr val="dk1"/>
                </a:solidFill>
                <a:latin typeface="Quattrocento Sans"/>
                <a:ea typeface="Quattrocento Sans"/>
                <a:cs typeface="Quattrocento Sans"/>
                <a:sym typeface="Quattrocento Sans"/>
              </a:rPr>
              <a:t> function is where most of the magic happens. This is the function that gets called continuously throughout the life of your game or simulation. This is the function where you will update your game objects. In short it is the function which will be called each frame before rendering the scene.</a:t>
            </a:r>
            <a:endParaRPr>
              <a:solidFill>
                <a:schemeClr val="dk1"/>
              </a:solidFill>
            </a:endParaRPr>
          </a:p>
          <a:p>
            <a:pPr marL="0" marR="0" lvl="0" indent="0" algn="l" rtl="0">
              <a:spcBef>
                <a:spcPts val="0"/>
              </a:spcBef>
              <a:spcAft>
                <a:spcPts val="0"/>
              </a:spcAft>
              <a:buNone/>
            </a:pPr>
            <a:endParaRPr sz="2400" b="1" i="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135" name="Google Shape;135;p1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49" name="Google Shape;149;p17"/>
          <p:cNvSpPr txBox="1"/>
          <p:nvPr/>
        </p:nvSpPr>
        <p:spPr>
          <a:xfrm>
            <a:off x="609600" y="1412777"/>
            <a:ext cx="10970979" cy="52937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b="1"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b="1"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Classes:</a:t>
            </a:r>
            <a:endParaRPr sz="2400">
              <a:solidFill>
                <a:schemeClr val="dk1"/>
              </a:solidFill>
              <a:latin typeface="Quattrocento Sans"/>
              <a:ea typeface="Quattrocento Sans"/>
              <a:cs typeface="Quattrocento Sans"/>
              <a:sym typeface="Quattrocento Sans"/>
            </a:endParaRPr>
          </a:p>
          <a:p>
            <a:endParaRPr lang="en-GB" sz="2400" b="1">
              <a:solidFill>
                <a:srgbClr val="FFFF00"/>
              </a:solidFill>
              <a:latin typeface="Quattrocento Sans"/>
              <a:ea typeface="Quattrocento Sans"/>
              <a:cs typeface="Quattrocento Sans"/>
              <a:sym typeface="Quattrocento Sans"/>
            </a:endParaRPr>
          </a:p>
          <a:p>
            <a:r>
              <a:rPr lang="en-GB" sz="2400">
                <a:solidFill>
                  <a:schemeClr val="dk1"/>
                </a:solidFill>
                <a:latin typeface="Quattrocento Sans"/>
                <a:ea typeface="Quattrocento Sans"/>
                <a:cs typeface="Quattrocento Sans"/>
                <a:sym typeface="Quattrocento Sans"/>
              </a:rPr>
              <a:t>Everything in C# is based on Classes. Classes are declared by using the keyword class followed by the class name and a set of class members surrounded by curly braces.   A class normally consists of Methods, Fields and Properties. Every class has a constructor, which is called automatically any time an instance of a class is created. The purpose of constructors is to initialize class members when an instance of the class is created. Constructors do not have return values and always have the same name as the class. </a:t>
            </a:r>
            <a:r>
              <a:rPr lang="en-GB" sz="2400">
                <a:solidFill>
                  <a:schemeClr val="dk1"/>
                </a:solidFill>
                <a:ea typeface="Quattrocento Sans"/>
                <a:sym typeface="Quattrocento Sans"/>
              </a:rPr>
              <a:t>Unity handles the </a:t>
            </a:r>
            <a:r>
              <a:rPr lang="en-GB" sz="2400" err="1">
                <a:solidFill>
                  <a:schemeClr val="dk1"/>
                </a:solidFill>
                <a:ea typeface="Quattrocento Sans"/>
                <a:sym typeface="Quattrocento Sans"/>
              </a:rPr>
              <a:t>constuctor</a:t>
            </a:r>
            <a:r>
              <a:rPr lang="en-GB" sz="2400">
                <a:solidFill>
                  <a:schemeClr val="dk1"/>
                </a:solidFill>
                <a:ea typeface="Quattrocento Sans"/>
                <a:sym typeface="Quattrocento Sans"/>
              </a:rPr>
              <a:t> for you in a Game Object.</a:t>
            </a:r>
            <a:endParaRPr>
              <a:solidFill>
                <a:schemeClr val="dk1"/>
              </a:solidFill>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156" name="Google Shape;156;p18"/>
          <p:cNvSpPr txBox="1"/>
          <p:nvPr/>
        </p:nvSpPr>
        <p:spPr>
          <a:xfrm>
            <a:off x="609600" y="1411534"/>
            <a:ext cx="10997655" cy="44627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chemeClr val="dk1"/>
                </a:solidFill>
                <a:latin typeface="Quattrocento Sans"/>
                <a:ea typeface="Quattrocento Sans"/>
                <a:cs typeface="Quattrocento Sans"/>
                <a:sym typeface="Quattrocento Sans"/>
              </a:rPr>
              <a:t>Telemark University College Department of Electrical Engineering, Information Technology and Cybernetics</a:t>
            </a:r>
            <a:endParaRPr>
              <a:solidFill>
                <a:schemeClr val="dk1"/>
              </a:solidFill>
            </a:endParaRPr>
          </a:p>
          <a:p>
            <a:pPr marL="0" marR="0" lvl="0" indent="0" algn="l" rtl="0">
              <a:spcBef>
                <a:spcPts val="0"/>
              </a:spcBef>
              <a:spcAft>
                <a:spcPts val="0"/>
              </a:spcAft>
              <a:buNone/>
            </a:pPr>
            <a:endParaRPr sz="1800">
              <a:solidFill>
                <a:srgbClr val="FFFF00"/>
              </a:solidFill>
              <a:latin typeface="Quattrocento Sans"/>
              <a:ea typeface="Quattrocento Sans"/>
              <a:cs typeface="Quattrocento Sans"/>
            </a:endParaRPr>
          </a:p>
          <a:p>
            <a:r>
              <a:rPr lang="en-GB" sz="2400">
                <a:solidFill>
                  <a:schemeClr val="dk1"/>
                </a:solidFill>
                <a:latin typeface="Quattrocento Sans"/>
                <a:ea typeface="Quattrocento Sans"/>
                <a:cs typeface="Quattrocento Sans"/>
                <a:sym typeface="Quattrocento Sans"/>
              </a:rPr>
              <a:t>The first step in OOP is to identify all the objects you want to manipulate and how they relate to each other, an exercise often known as data </a:t>
            </a:r>
            <a:r>
              <a:rPr lang="en-GB" sz="2400" err="1">
                <a:solidFill>
                  <a:schemeClr val="dk1"/>
                </a:solidFill>
                <a:latin typeface="Quattrocento Sans"/>
                <a:ea typeface="Quattrocento Sans"/>
                <a:cs typeface="Quattrocento Sans"/>
                <a:sym typeface="Quattrocento Sans"/>
              </a:rPr>
              <a:t>modeling</a:t>
            </a:r>
            <a:r>
              <a:rPr lang="en-GB" sz="2400">
                <a:solidFill>
                  <a:schemeClr val="dk1"/>
                </a:solidFill>
                <a:latin typeface="Quattrocento Sans"/>
                <a:ea typeface="Quattrocento Sans"/>
                <a:cs typeface="Quattrocento Sans"/>
                <a:sym typeface="Quattrocento Sans"/>
              </a:rPr>
              <a:t>. Once you've identified an object, you generalize it as a class of objects and define the kind of data it contains and any logic sequences that can manipulate it. Each distinct logic sequence is known as a method. A real instance of a class is called an “object” or an “instance of a class”. The object or class instance is what you run in the computer. Its methods provide computer instructions and the class object characteristics provide relevant data. You communicate with objects -­‐ and they communicate with each other. </a:t>
            </a:r>
            <a:endParaRPr lang="en-GB" sz="2400">
              <a:solidFill>
                <a:schemeClr val="dk1"/>
              </a:solidFill>
              <a:latin typeface="Quattrocento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163" name="Google Shape;163;p19"/>
          <p:cNvSpPr txBox="1"/>
          <p:nvPr/>
        </p:nvSpPr>
        <p:spPr>
          <a:xfrm>
            <a:off x="609600" y="1412777"/>
            <a:ext cx="10972800" cy="44627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chemeClr val="dk1"/>
                </a:solidFill>
                <a:latin typeface="Quattrocento Sans"/>
                <a:ea typeface="Quattrocento Sans"/>
                <a:cs typeface="Quattrocento Sans"/>
                <a:sym typeface="Quattrocento Sans"/>
              </a:rPr>
              <a:t>Telemark University College Department of Electrical Engineering, Information Technology and Cybernetics</a:t>
            </a:r>
            <a:endParaRPr>
              <a:solidFill>
                <a:schemeClr val="dk1"/>
              </a:solidFill>
            </a:endParaRPr>
          </a:p>
          <a:p>
            <a:pPr marL="0" marR="0" lvl="0" indent="0" algn="l" rtl="0">
              <a:spcBef>
                <a:spcPts val="0"/>
              </a:spcBef>
              <a:spcAft>
                <a:spcPts val="0"/>
              </a:spcAft>
              <a:buNone/>
            </a:pPr>
            <a:endParaRPr sz="1800">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Important features with OOP are:</a:t>
            </a:r>
            <a:endParaRPr>
              <a:solidFill>
                <a:schemeClr val="dk1"/>
              </a:solidFill>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Classes and Objects</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Inheritance</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Polymorphism</a:t>
            </a:r>
            <a:endParaRPr>
              <a:solidFill>
                <a:schemeClr val="dk1"/>
              </a:solidFill>
            </a:endParaRPr>
          </a:p>
          <a:p>
            <a:r>
              <a:rPr lang="en-GB" sz="2400">
                <a:solidFill>
                  <a:schemeClr val="dk1"/>
                </a:solidFill>
                <a:latin typeface="Quattrocento Sans"/>
                <a:ea typeface="Quattrocento Sans"/>
                <a:cs typeface="Quattrocento Sans"/>
                <a:sym typeface="Quattrocento Sans"/>
              </a:rPr>
              <a:t>•	Encapsulation </a:t>
            </a:r>
            <a:endParaRPr>
              <a:solidFill>
                <a:schemeClr val="dk1"/>
              </a:solidFill>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You should cover these in your OOP module. For this module we will keep things basic with practical Unity work and examples.</a:t>
            </a:r>
            <a:endParaRPr>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170" name="Google Shape;170;p20"/>
          <p:cNvSpPr txBox="1"/>
          <p:nvPr/>
        </p:nvSpPr>
        <p:spPr>
          <a:xfrm>
            <a:off x="609600" y="1412777"/>
            <a:ext cx="8550291" cy="38164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chemeClr val="dk1"/>
                </a:solidFill>
                <a:latin typeface="Quattrocento Sans"/>
                <a:ea typeface="Quattrocento Sans"/>
                <a:cs typeface="Quattrocento Sans"/>
                <a:sym typeface="Quattrocento Sans"/>
              </a:rPr>
              <a:t>Telemark University College Department of Electrical Engineering, Information Technology and Cybernetics</a:t>
            </a:r>
            <a:endParaRPr>
              <a:solidFill>
                <a:schemeClr val="dk1"/>
              </a:solidFill>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Will Look at:</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Namespaces</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Classes</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Data Fields</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Methods</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Properties</a:t>
            </a:r>
            <a:endParaRPr sz="24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177" name="Google Shape;177;p21"/>
          <p:cNvSpPr txBox="1"/>
          <p:nvPr/>
        </p:nvSpPr>
        <p:spPr>
          <a:xfrm>
            <a:off x="690282" y="1376918"/>
            <a:ext cx="10818361" cy="418576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chemeClr val="dk1"/>
                </a:solidFill>
                <a:latin typeface="Quattrocento Sans"/>
                <a:ea typeface="Quattrocento Sans"/>
                <a:cs typeface="Quattrocento Sans"/>
                <a:sym typeface="Quattrocento Sans"/>
              </a:rPr>
              <a:t>Telemark University College Department of Electrical Engineering, Information Technology and Cybernetics</a:t>
            </a:r>
            <a:endParaRPr>
              <a:solidFill>
                <a:schemeClr val="dk1"/>
              </a:solidFill>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Basics all programming Languages have:</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Data Types and Variables</a:t>
            </a:r>
            <a:endParaRPr>
              <a:solidFill>
                <a:schemeClr val="dk1"/>
              </a:solidFill>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Control Flow: If-­‐Else, etc.</a:t>
            </a:r>
            <a:endParaRPr>
              <a:solidFill>
                <a:schemeClr val="dk1"/>
              </a:solidFill>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Loops: While Loops, For Loops, etc.</a:t>
            </a:r>
            <a:endParaRPr>
              <a:solidFill>
                <a:schemeClr val="dk1"/>
              </a:solidFill>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Shape 182"/>
        <p:cNvGrpSpPr/>
        <p:nvPr/>
      </p:nvGrpSpPr>
      <p:grpSpPr>
        <a:xfrm>
          <a:off x="0" y="0"/>
          <a:ext cx="0" cy="0"/>
          <a:chOff x="0" y="0"/>
          <a:chExt cx="0" cy="0"/>
        </a:xfrm>
      </p:grpSpPr>
      <p:sp>
        <p:nvSpPr>
          <p:cNvPr id="183" name="Google Shape;183;p2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184" name="Google Shape;184;p22"/>
          <p:cNvSpPr txBox="1"/>
          <p:nvPr/>
        </p:nvSpPr>
        <p:spPr>
          <a:xfrm>
            <a:off x="609600" y="1412777"/>
            <a:ext cx="11582400" cy="507827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endParaRPr sz="18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Declaring</a:t>
            </a:r>
            <a:r>
              <a:rPr lang="en-GB" sz="1800">
                <a:solidFill>
                  <a:srgbClr val="FFFF00"/>
                </a:solidFill>
                <a:latin typeface="Quattrocento Sans"/>
                <a:ea typeface="Quattrocento Sans"/>
                <a:cs typeface="Quattrocento Sans"/>
                <a:sym typeface="Quattrocento Sans"/>
              </a:rPr>
              <a:t> </a:t>
            </a:r>
            <a:r>
              <a:rPr lang="en-GB" sz="1800">
                <a:solidFill>
                  <a:schemeClr val="dk1"/>
                </a:solidFill>
                <a:latin typeface="Quattrocento Sans"/>
                <a:ea typeface="Quattrocento Sans"/>
                <a:cs typeface="Quattrocento Sans"/>
                <a:sym typeface="Quattrocento Sans"/>
              </a:rPr>
              <a:t>- Declaring a variable means to introduce a new variable to the program. You define its type and its name.</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int a; //a is declared</a:t>
            </a:r>
            <a:endParaRPr>
              <a:solidFill>
                <a:schemeClr val="dk1"/>
              </a:solidFill>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0000"/>
                </a:solidFill>
                <a:latin typeface="Quattrocento Sans"/>
                <a:ea typeface="Quattrocento Sans"/>
                <a:cs typeface="Quattrocento Sans"/>
                <a:sym typeface="Quattrocento Sans"/>
              </a:rPr>
              <a:t>Instantiate</a:t>
            </a:r>
            <a:r>
              <a:rPr lang="en-GB" sz="1800">
                <a:solidFill>
                  <a:srgbClr val="FF0000"/>
                </a:solidFill>
                <a:latin typeface="Quattrocento Sans"/>
                <a:ea typeface="Quattrocento Sans"/>
                <a:cs typeface="Quattrocento Sans"/>
                <a:sym typeface="Quattrocento Sans"/>
              </a:rPr>
              <a:t> - Instantiating a class means to create a new instance of the class. </a:t>
            </a:r>
            <a:endParaRPr>
              <a:solidFill>
                <a:srgbClr val="FF0000"/>
              </a:solidFill>
            </a:endParaRPr>
          </a:p>
          <a:p>
            <a:pPr marL="0" marR="0" lvl="0" indent="0" algn="l" rtl="0">
              <a:spcBef>
                <a:spcPts val="0"/>
              </a:spcBef>
              <a:spcAft>
                <a:spcPts val="0"/>
              </a:spcAft>
              <a:buNone/>
            </a:pPr>
            <a:r>
              <a:rPr lang="en-GB" sz="1800">
                <a:solidFill>
                  <a:srgbClr val="FF0000"/>
                </a:solidFill>
                <a:latin typeface="Quattrocento Sans"/>
                <a:ea typeface="Quattrocento Sans"/>
                <a:cs typeface="Quattrocento Sans"/>
                <a:sym typeface="Quattrocento Sans"/>
              </a:rPr>
              <a:t>	</a:t>
            </a:r>
            <a:r>
              <a:rPr lang="en-GB" sz="1800" err="1">
                <a:solidFill>
                  <a:srgbClr val="FF0000"/>
                </a:solidFill>
                <a:latin typeface="Quattrocento Sans"/>
                <a:ea typeface="Quattrocento Sans"/>
                <a:cs typeface="Quattrocento Sans"/>
                <a:sym typeface="Quattrocento Sans"/>
              </a:rPr>
              <a:t>MyObject</a:t>
            </a:r>
            <a:r>
              <a:rPr lang="en-GB" sz="1800">
                <a:solidFill>
                  <a:srgbClr val="FF0000"/>
                </a:solidFill>
                <a:latin typeface="Quattrocento Sans"/>
                <a:ea typeface="Quattrocento Sans"/>
                <a:cs typeface="Quattrocento Sans"/>
                <a:sym typeface="Quattrocento Sans"/>
              </a:rPr>
              <a:t> x = new </a:t>
            </a:r>
            <a:r>
              <a:rPr lang="en-GB" sz="1800" err="1">
                <a:solidFill>
                  <a:srgbClr val="FF0000"/>
                </a:solidFill>
                <a:latin typeface="Quattrocento Sans"/>
                <a:ea typeface="Quattrocento Sans"/>
                <a:cs typeface="Quattrocento Sans"/>
                <a:sym typeface="Quattrocento Sans"/>
              </a:rPr>
              <a:t>MyObject</a:t>
            </a:r>
            <a:r>
              <a:rPr lang="en-GB" sz="1800">
                <a:solidFill>
                  <a:srgbClr val="FF0000"/>
                </a:solidFill>
                <a:latin typeface="Quattrocento Sans"/>
                <a:ea typeface="Quattrocento Sans"/>
                <a:cs typeface="Quattrocento Sans"/>
                <a:sym typeface="Quattrocento Sans"/>
              </a:rPr>
              <a:t>(); //we are making a new instance of the class </a:t>
            </a:r>
            <a:r>
              <a:rPr lang="en-GB" sz="1800" err="1">
                <a:solidFill>
                  <a:srgbClr val="FF0000"/>
                </a:solidFill>
                <a:latin typeface="Quattrocento Sans"/>
                <a:ea typeface="Quattrocento Sans"/>
                <a:cs typeface="Quattrocento Sans"/>
                <a:sym typeface="Quattrocento Sans"/>
              </a:rPr>
              <a:t>MyObject</a:t>
            </a:r>
            <a:endParaRPr sz="1800" err="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Initialize</a:t>
            </a:r>
            <a:r>
              <a:rPr lang="en-GB" sz="1800">
                <a:solidFill>
                  <a:srgbClr val="FFFF00"/>
                </a:solidFill>
                <a:latin typeface="Quattrocento Sans"/>
                <a:ea typeface="Quattrocento Sans"/>
                <a:cs typeface="Quattrocento Sans"/>
                <a:sym typeface="Quattrocento Sans"/>
              </a:rPr>
              <a:t> </a:t>
            </a:r>
            <a:r>
              <a:rPr lang="en-GB" sz="1800">
                <a:solidFill>
                  <a:schemeClr val="dk1"/>
                </a:solidFill>
                <a:latin typeface="Quattrocento Sans"/>
                <a:ea typeface="Quattrocento Sans"/>
                <a:cs typeface="Quattrocento Sans"/>
                <a:sym typeface="Quattrocento Sans"/>
              </a:rPr>
              <a:t>- To initialize a variable means to assign it an initial value.</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int a; //a is declared</a:t>
            </a:r>
            <a:br>
              <a:rPr lang="en-GB" sz="1800">
                <a:latin typeface="Quattrocento Sans"/>
                <a:ea typeface="Quattrocento Sans"/>
                <a:cs typeface="Quattrocento Sans"/>
              </a:rPr>
            </a:br>
            <a:r>
              <a:rPr lang="en-GB" sz="1800">
                <a:solidFill>
                  <a:schemeClr val="dk1"/>
                </a:solidFill>
                <a:latin typeface="Quattrocento Sans"/>
                <a:ea typeface="Quattrocento Sans"/>
                <a:cs typeface="Quattrocento Sans"/>
                <a:sym typeface="Quattrocento Sans"/>
              </a:rPr>
              <a:t>	int a = 0; //a is declared AND initialized to 0</a:t>
            </a:r>
            <a:br>
              <a:rPr lang="en-GB" sz="1800">
                <a:latin typeface="Quattrocento Sans"/>
                <a:ea typeface="Quattrocento Sans"/>
                <a:cs typeface="Quattrocento Sans"/>
              </a:rPr>
            </a:br>
            <a:r>
              <a:rPr lang="en-GB" sz="1800">
                <a:solidFill>
                  <a:schemeClr val="dk1"/>
                </a:solidFill>
                <a:latin typeface="Quattrocento Sans"/>
                <a:ea typeface="Quattrocento Sans"/>
                <a:cs typeface="Quattrocento Sans"/>
                <a:sym typeface="Quattrocento Sans"/>
              </a:rPr>
              <a:t>	</a:t>
            </a:r>
            <a:r>
              <a:rPr lang="en-GB" sz="1800" err="1">
                <a:solidFill>
                  <a:schemeClr val="dk1"/>
                </a:solidFill>
                <a:latin typeface="Quattrocento Sans"/>
                <a:ea typeface="Quattrocento Sans"/>
                <a:cs typeface="Quattrocento Sans"/>
                <a:sym typeface="Quattrocento Sans"/>
              </a:rPr>
              <a:t>MyObject</a:t>
            </a:r>
            <a:r>
              <a:rPr lang="en-GB" sz="1800">
                <a:solidFill>
                  <a:schemeClr val="dk1"/>
                </a:solidFill>
                <a:latin typeface="Quattrocento Sans"/>
                <a:ea typeface="Quattrocento Sans"/>
                <a:cs typeface="Quattrocento Sans"/>
                <a:sym typeface="Quattrocento Sans"/>
              </a:rPr>
              <a:t> x = new </a:t>
            </a:r>
            <a:r>
              <a:rPr lang="en-GB" sz="1800" err="1">
                <a:solidFill>
                  <a:schemeClr val="dk1"/>
                </a:solidFill>
                <a:latin typeface="Quattrocento Sans"/>
                <a:ea typeface="Quattrocento Sans"/>
                <a:cs typeface="Quattrocento Sans"/>
                <a:sym typeface="Quattrocento Sans"/>
              </a:rPr>
              <a:t>MyObject</a:t>
            </a:r>
            <a:r>
              <a:rPr lang="en-GB" sz="1800">
                <a:solidFill>
                  <a:schemeClr val="dk1"/>
                </a:solidFill>
                <a:latin typeface="Quattrocento Sans"/>
                <a:ea typeface="Quattrocento Sans"/>
                <a:cs typeface="Quattrocento Sans"/>
                <a:sym typeface="Quattrocento Sans"/>
              </a:rPr>
              <a:t>(); //x is declared and initialized with an instance of </a:t>
            </a:r>
            <a:r>
              <a:rPr lang="en-GB" sz="1800" err="1">
                <a:solidFill>
                  <a:schemeClr val="dk1"/>
                </a:solidFill>
                <a:latin typeface="Quattrocento Sans"/>
                <a:ea typeface="Quattrocento Sans"/>
                <a:cs typeface="Quattrocento Sans"/>
                <a:sym typeface="Quattrocento Sans"/>
              </a:rPr>
              <a:t>MyObject</a:t>
            </a:r>
            <a:endParaRPr sz="1800" err="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Assigning</a:t>
            </a:r>
            <a:r>
              <a:rPr lang="en-GB" sz="1800">
                <a:solidFill>
                  <a:srgbClr val="FFFF00"/>
                </a:solidFill>
                <a:latin typeface="Quattrocento Sans"/>
                <a:ea typeface="Quattrocento Sans"/>
                <a:cs typeface="Quattrocento Sans"/>
                <a:sym typeface="Quattrocento Sans"/>
              </a:rPr>
              <a:t> </a:t>
            </a:r>
            <a:r>
              <a:rPr lang="en-GB" sz="1800">
                <a:solidFill>
                  <a:schemeClr val="dk1"/>
                </a:solidFill>
                <a:latin typeface="Quattrocento Sans"/>
                <a:ea typeface="Quattrocento Sans"/>
                <a:cs typeface="Quattrocento Sans"/>
                <a:sym typeface="Quattrocento Sans"/>
              </a:rPr>
              <a:t>- Assigning to a variable means to provide the variable with a value.</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int a = 0; //we are assigning to a; yes, initializing a variable means you assign it a value, so they do overlap!</a:t>
            </a:r>
            <a:br>
              <a:rPr lang="en-GB" sz="1800">
                <a:latin typeface="Quattrocento Sans"/>
                <a:ea typeface="Quattrocento Sans"/>
                <a:cs typeface="Quattrocento Sans"/>
              </a:rPr>
            </a:br>
            <a:r>
              <a:rPr lang="en-GB" sz="1800">
                <a:solidFill>
                  <a:schemeClr val="dk1"/>
                </a:solidFill>
                <a:latin typeface="Quattrocento Sans"/>
                <a:ea typeface="Quattrocento Sans"/>
                <a:cs typeface="Quattrocento Sans"/>
                <a:sym typeface="Quattrocento Sans"/>
              </a:rPr>
              <a:t>	a = 1; //we are assigning to a</a:t>
            </a:r>
            <a:endParaRPr sz="2400" b="1">
              <a:solidFill>
                <a:schemeClr val="dk1"/>
              </a:solidFill>
              <a:latin typeface="Quattrocento Sans"/>
              <a:ea typeface="Quattrocento Sans"/>
              <a:cs typeface="Quattrocento Sans"/>
              <a:sym typeface="Quattrocento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191" name="Google Shape;191;p23"/>
          <p:cNvSpPr txBox="1"/>
          <p:nvPr/>
        </p:nvSpPr>
        <p:spPr>
          <a:xfrm>
            <a:off x="609600" y="1412777"/>
            <a:ext cx="10916973" cy="45550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lang="en-US"/>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r>
              <a:rPr lang="en-GB" sz="2400">
                <a:solidFill>
                  <a:srgbClr val="FFFF00"/>
                </a:solidFill>
                <a:latin typeface="Quattrocento Sans"/>
                <a:ea typeface="Quattrocento Sans"/>
                <a:cs typeface="Quattrocento Sans"/>
                <a:sym typeface="Quattrocento Sans"/>
              </a:rPr>
              <a:t>Data Types, and Variables,  Simple:</a:t>
            </a:r>
            <a:endParaRPr sz="24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“Variables” are simply storage locations for data. You can place data into them and retrieve their contents as part of a C# expression. The interpretation of the data in a variable is controlled through “Types”. </a:t>
            </a:r>
            <a:endParaRPr>
              <a:solidFill>
                <a:schemeClr val="dk1"/>
              </a:solidFill>
            </a:endParaRPr>
          </a:p>
          <a:p>
            <a:r>
              <a:rPr lang="en-GB" sz="2400">
                <a:solidFill>
                  <a:schemeClr val="dk1"/>
                </a:solidFill>
                <a:latin typeface="Quattrocento Sans"/>
                <a:sym typeface="Quattrocento Sans"/>
              </a:rPr>
              <a:t>  </a:t>
            </a:r>
            <a:endParaRPr>
              <a:solidFill>
                <a:schemeClr val="dk1"/>
              </a:solidFill>
            </a:endParaRPr>
          </a:p>
          <a:p>
            <a:r>
              <a:rPr lang="en-GB" sz="2400">
                <a:solidFill>
                  <a:srgbClr val="FFFF00"/>
                </a:solidFill>
                <a:latin typeface="Quattrocento Sans"/>
                <a:ea typeface="Quattrocento Sans"/>
                <a:cs typeface="Quattrocento Sans"/>
                <a:sym typeface="Quattrocento Sans"/>
              </a:rPr>
              <a:t>The C# simple types consist of: </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Boolean Type</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Numeric Type</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String Type</a:t>
            </a:r>
            <a:endParaRPr>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198" name="Google Shape;198;p24"/>
          <p:cNvSpPr txBox="1"/>
          <p:nvPr/>
        </p:nvSpPr>
        <p:spPr>
          <a:xfrm>
            <a:off x="609600" y="1412777"/>
            <a:ext cx="10970761" cy="41857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chemeClr val="dk1"/>
                </a:solidFill>
                <a:latin typeface="Quattrocento Sans"/>
                <a:ea typeface="Quattrocento Sans"/>
                <a:cs typeface="Quattrocento Sans"/>
                <a:sym typeface="Quattrocento Sans"/>
              </a:rPr>
              <a:t>Telemark University College Department of Electrical Engineering, Information Technology and Cybernetics</a:t>
            </a:r>
            <a:endParaRPr>
              <a:solidFill>
                <a:schemeClr val="dk1"/>
              </a:solidFill>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Data Types, Simple:</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Boolean – True, False</a:t>
            </a:r>
            <a:endParaRPr/>
          </a:p>
          <a:p>
            <a:r>
              <a:rPr lang="en-GB" sz="2400">
                <a:solidFill>
                  <a:schemeClr val="dk1"/>
                </a:solidFill>
                <a:latin typeface="Quattrocento Sans"/>
                <a:ea typeface="Quattrocento Sans"/>
                <a:cs typeface="Quattrocento Sans"/>
                <a:sym typeface="Quattrocento Sans"/>
              </a:rPr>
              <a:t>Boolean types are declared using the keyword “bool”. They have two values: “true” or “false”. In other languages, such as C and C++, </a:t>
            </a:r>
            <a:r>
              <a:rPr lang="en-GB" sz="2400" err="1">
                <a:solidFill>
                  <a:schemeClr val="dk1"/>
                </a:solidFill>
                <a:latin typeface="Quattrocento Sans"/>
                <a:ea typeface="Quattrocento Sans"/>
                <a:cs typeface="Quattrocento Sans"/>
                <a:sym typeface="Quattrocento Sans"/>
              </a:rPr>
              <a:t>boolean</a:t>
            </a:r>
            <a:r>
              <a:rPr lang="en-GB" sz="2400">
                <a:solidFill>
                  <a:schemeClr val="dk1"/>
                </a:solidFill>
                <a:latin typeface="Quattrocento Sans"/>
                <a:ea typeface="Quattrocento Sans"/>
                <a:cs typeface="Quattrocento Sans"/>
                <a:sym typeface="Quattrocento Sans"/>
              </a:rPr>
              <a:t> conditions can be satisfied where 0 means false and anything else means true. However, in C# the only values that satisfy a </a:t>
            </a:r>
            <a:r>
              <a:rPr lang="en-GB" sz="2400" err="1">
                <a:solidFill>
                  <a:schemeClr val="dk1"/>
                </a:solidFill>
                <a:latin typeface="Quattrocento Sans"/>
                <a:ea typeface="Quattrocento Sans"/>
                <a:cs typeface="Quattrocento Sans"/>
                <a:sym typeface="Quattrocento Sans"/>
              </a:rPr>
              <a:t>boolean</a:t>
            </a:r>
            <a:r>
              <a:rPr lang="en-GB" sz="2400">
                <a:solidFill>
                  <a:schemeClr val="dk1"/>
                </a:solidFill>
                <a:latin typeface="Quattrocento Sans"/>
                <a:ea typeface="Quattrocento Sans"/>
                <a:cs typeface="Quattrocento Sans"/>
                <a:sym typeface="Quattrocento Sans"/>
              </a:rPr>
              <a:t> condition is true and false, which are official keywords. </a:t>
            </a:r>
            <a:endParaRPr>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205" name="Google Shape;205;p25"/>
          <p:cNvSpPr txBox="1"/>
          <p:nvPr/>
        </p:nvSpPr>
        <p:spPr>
          <a:xfrm>
            <a:off x="609600" y="1412777"/>
            <a:ext cx="10970761" cy="418576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r>
              <a:rPr lang="en-GB" sz="2400">
                <a:solidFill>
                  <a:srgbClr val="FFFF00"/>
                </a:solidFill>
                <a:latin typeface="Quattrocento Sans"/>
                <a:ea typeface="Quattrocento Sans"/>
                <a:cs typeface="Quattrocento Sans"/>
                <a:sym typeface="Quattrocento Sans"/>
              </a:rPr>
              <a:t>Data Types,  Simple:</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Numeric – Integrals, Floating Point, Decimal</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int </a:t>
            </a:r>
            <a:r>
              <a:rPr lang="en-GB" sz="2400" err="1">
                <a:solidFill>
                  <a:schemeClr val="dk1"/>
                </a:solidFill>
                <a:latin typeface="Quattrocento Sans"/>
                <a:ea typeface="Quattrocento Sans"/>
                <a:cs typeface="Quattrocento Sans"/>
                <a:sym typeface="Quattrocento Sans"/>
              </a:rPr>
              <a:t>i</a:t>
            </a:r>
            <a:r>
              <a:rPr lang="en-GB" sz="2400">
                <a:solidFill>
                  <a:schemeClr val="dk1"/>
                </a:solidFill>
                <a:latin typeface="Quattrocento Sans"/>
                <a:ea typeface="Quattrocento Sans"/>
                <a:cs typeface="Quattrocento Sans"/>
                <a:sym typeface="Quattrocento Sans"/>
              </a:rPr>
              <a:t>=35;</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long y=654654;</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float x;</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double y;</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decimal z;</a:t>
            </a:r>
            <a:endParaRPr>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212" name="Google Shape;212;p26"/>
          <p:cNvSpPr txBox="1"/>
          <p:nvPr/>
        </p:nvSpPr>
        <p:spPr>
          <a:xfrm>
            <a:off x="609600" y="1412777"/>
            <a:ext cx="10970761" cy="52937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Data Types, Simple:</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String</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string </a:t>
            </a:r>
            <a:r>
              <a:rPr lang="en-GB" sz="2400" err="1">
                <a:solidFill>
                  <a:schemeClr val="dk1"/>
                </a:solidFill>
                <a:latin typeface="Quattrocento Sans"/>
                <a:ea typeface="Quattrocento Sans"/>
                <a:cs typeface="Quattrocento Sans"/>
                <a:sym typeface="Quattrocento Sans"/>
              </a:rPr>
              <a:t>myString</a:t>
            </a:r>
            <a:r>
              <a:rPr lang="en-GB" sz="2400">
                <a:solidFill>
                  <a:schemeClr val="dk1"/>
                </a:solidFill>
                <a:latin typeface="Quattrocento Sans"/>
                <a:ea typeface="Quattrocento Sans"/>
                <a:cs typeface="Quattrocento Sans"/>
                <a:sym typeface="Quattrocento Sans"/>
              </a:rPr>
              <a:t>=”Hei </a:t>
            </a:r>
            <a:r>
              <a:rPr lang="en-GB" sz="2400" err="1">
                <a:solidFill>
                  <a:schemeClr val="dk1"/>
                </a:solidFill>
                <a:latin typeface="Quattrocento Sans"/>
                <a:ea typeface="Quattrocento Sans"/>
                <a:cs typeface="Quattrocento Sans"/>
                <a:sym typeface="Quattrocento Sans"/>
              </a:rPr>
              <a:t>på</a:t>
            </a:r>
            <a:r>
              <a:rPr lang="en-GB" sz="2400">
                <a:solidFill>
                  <a:schemeClr val="dk1"/>
                </a:solidFill>
                <a:latin typeface="Quattrocento Sans"/>
                <a:ea typeface="Quattrocento Sans"/>
                <a:cs typeface="Quattrocento Sans"/>
                <a:sym typeface="Quattrocento Sans"/>
              </a:rPr>
              <a:t> </a:t>
            </a:r>
            <a:r>
              <a:rPr lang="en-GB" sz="2400" err="1">
                <a:solidFill>
                  <a:schemeClr val="dk1"/>
                </a:solidFill>
                <a:latin typeface="Quattrocento Sans"/>
                <a:ea typeface="Quattrocento Sans"/>
                <a:cs typeface="Quattrocento Sans"/>
                <a:sym typeface="Quattrocento Sans"/>
              </a:rPr>
              <a:t>deg</a:t>
            </a:r>
            <a:r>
              <a:rPr lang="en-GB" sz="2400">
                <a:solidFill>
                  <a:schemeClr val="dk1"/>
                </a:solidFill>
                <a:latin typeface="Quattrocento Sans"/>
                <a:ea typeface="Quattrocento Sans"/>
                <a:cs typeface="Quattrocento Sans"/>
                <a:sym typeface="Quattrocento Sans"/>
              </a:rPr>
              <a:t>”;</a:t>
            </a:r>
            <a:endParaRPr>
              <a:solidFill>
                <a:schemeClr val="dk1"/>
              </a:solidFill>
            </a:endParaRPr>
          </a:p>
          <a:p>
            <a:r>
              <a:rPr lang="en-GB" sz="2400">
                <a:solidFill>
                  <a:schemeClr val="dk1"/>
                </a:solidFill>
                <a:latin typeface="Quattrocento Sans"/>
                <a:ea typeface="Quattrocento Sans"/>
                <a:cs typeface="Quattrocento Sans"/>
                <a:sym typeface="Quattrocento Sans"/>
              </a:rPr>
              <a:t>Some Special characters may be used in strings</a:t>
            </a:r>
            <a:endParaRPr>
              <a:solidFill>
                <a:schemeClr val="dk1"/>
              </a:solidFill>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pic>
        <p:nvPicPr>
          <p:cNvPr id="213" name="Google Shape;213;p26"/>
          <p:cNvPicPr preferRelativeResize="0"/>
          <p:nvPr/>
        </p:nvPicPr>
        <p:blipFill rotWithShape="1">
          <a:blip r:embed="rId3">
            <a:alphaModFix/>
          </a:blip>
          <a:srcRect/>
          <a:stretch/>
        </p:blipFill>
        <p:spPr>
          <a:xfrm>
            <a:off x="4443180" y="2471196"/>
            <a:ext cx="4716711" cy="302433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212" name="Google Shape;212;p26"/>
          <p:cNvSpPr txBox="1"/>
          <p:nvPr/>
        </p:nvSpPr>
        <p:spPr>
          <a:xfrm>
            <a:off x="609600" y="1412777"/>
            <a:ext cx="10970761" cy="566304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Variables:</a:t>
            </a:r>
            <a:endParaRPr/>
          </a:p>
          <a:p>
            <a:pPr marL="0" marR="0" lvl="0" indent="0" algn="l">
              <a:spcBef>
                <a:spcPts val="0"/>
              </a:spcBef>
              <a:spcAft>
                <a:spcPts val="0"/>
              </a:spcAft>
              <a:buNone/>
            </a:pPr>
            <a:endParaRPr lang="en-GB" sz="2400">
              <a:solidFill>
                <a:srgbClr val="FFFF00"/>
              </a:solidFill>
              <a:latin typeface="Quattrocento Sans"/>
              <a:ea typeface="Quattrocento Sans"/>
              <a:cs typeface="Quattrocento Sans"/>
            </a:endParaRPr>
          </a:p>
          <a:p>
            <a:r>
              <a:rPr lang="en-GB" sz="2400">
                <a:solidFill>
                  <a:srgbClr val="FFFF00"/>
                </a:solidFill>
                <a:latin typeface="Quattrocento Sans"/>
              </a:rPr>
              <a:t>Declaring</a:t>
            </a:r>
            <a:endParaRPr lang="en-GB"/>
          </a:p>
          <a:p>
            <a:r>
              <a:rPr lang="en-GB" sz="1800">
                <a:solidFill>
                  <a:schemeClr val="tx1"/>
                </a:solidFill>
                <a:latin typeface="Quattrocento Sans"/>
              </a:rPr>
              <a:t>Declaring a variable means to introduce a new variable to the program. You define its type and its name.</a:t>
            </a:r>
            <a:endParaRPr lang="en-GB" sz="1800">
              <a:solidFill>
                <a:schemeClr val="tx1"/>
              </a:solidFill>
            </a:endParaRPr>
          </a:p>
          <a:p>
            <a:endParaRPr lang="en-GB" sz="2400">
              <a:solidFill>
                <a:srgbClr val="FFFF00"/>
              </a:solidFill>
              <a:latin typeface="Quattrocento Sans"/>
            </a:endParaRPr>
          </a:p>
          <a:p>
            <a:r>
              <a:rPr lang="en-GB" sz="2400">
                <a:solidFill>
                  <a:srgbClr val="FFFF00"/>
                </a:solidFill>
                <a:latin typeface="Quattrocento Sans"/>
              </a:rPr>
              <a:t>Initializing</a:t>
            </a:r>
            <a:endParaRPr lang="en-GB"/>
          </a:p>
          <a:p>
            <a:r>
              <a:rPr lang="en-GB" sz="1800">
                <a:solidFill>
                  <a:schemeClr val="tx1"/>
                </a:solidFill>
                <a:latin typeface="Quattrocento Sans"/>
              </a:rPr>
              <a:t>To initialize a variable means to assign it an initial value. Declaring and Initializing can happen in the same line</a:t>
            </a:r>
            <a:endParaRPr lang="en-GB" sz="1800">
              <a:solidFill>
                <a:schemeClr val="tx1"/>
              </a:solidFill>
            </a:endParaRPr>
          </a:p>
          <a:p>
            <a:pPr marL="0" marR="0" lvl="0" indent="0" algn="l" rtl="0">
              <a:spcBef>
                <a:spcPts val="0"/>
              </a:spcBef>
              <a:spcAft>
                <a:spcPts val="0"/>
              </a:spcAft>
              <a:buNone/>
            </a:pPr>
            <a:endParaRPr lang="en-GB" sz="2400">
              <a:solidFill>
                <a:srgbClr val="FFFF00"/>
              </a:solidFill>
              <a:latin typeface="Quattrocento Sans"/>
              <a:ea typeface="Quattrocento Sans"/>
            </a:endParaRPr>
          </a:p>
          <a:p>
            <a:r>
              <a:rPr lang="en-GB" sz="2400">
                <a:solidFill>
                  <a:srgbClr val="FFFF00"/>
                </a:solidFill>
              </a:rPr>
              <a:t>Assigning</a:t>
            </a:r>
            <a:endParaRPr lang="en-GB"/>
          </a:p>
          <a:p>
            <a:r>
              <a:rPr lang="en-GB" sz="1800">
                <a:solidFill>
                  <a:schemeClr val="tx1"/>
                </a:solidFill>
              </a:rPr>
              <a:t>Assigning to a variable means to provide the variable with a value. This can happen at the start or in runtime</a:t>
            </a:r>
          </a:p>
          <a:p>
            <a:endParaRPr lang="en-GB" sz="2400">
              <a:solidFill>
                <a:srgbClr val="FFFFFF"/>
              </a:solidFill>
              <a:ea typeface="Quattrocento Sans"/>
            </a:endParaRPr>
          </a:p>
          <a:p>
            <a:endParaRPr lang="en-US" sz="2400" b="1">
              <a:solidFill>
                <a:srgbClr val="FFFF00"/>
              </a:solidFill>
              <a:latin typeface="Quattrocento Sans"/>
              <a:ea typeface="Quattrocento Sans"/>
              <a:cs typeface="Quattrocento Sans"/>
            </a:endParaRPr>
          </a:p>
        </p:txBody>
      </p:sp>
    </p:spTree>
    <p:extLst>
      <p:ext uri="{BB962C8B-B14F-4D97-AF65-F5344CB8AC3E}">
        <p14:creationId xmlns:p14="http://schemas.microsoft.com/office/powerpoint/2010/main" val="5310698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235" name="Google Shape;235;p29"/>
          <p:cNvSpPr txBox="1"/>
          <p:nvPr/>
        </p:nvSpPr>
        <p:spPr>
          <a:xfrm>
            <a:off x="609600" y="1412777"/>
            <a:ext cx="10970445" cy="52937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b="1"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b="1"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Classes:</a:t>
            </a:r>
            <a:endParaRPr sz="2400">
              <a:solidFill>
                <a:schemeClr val="dk1"/>
              </a:solidFill>
              <a:latin typeface="Quattrocento Sans"/>
              <a:ea typeface="Quattrocento Sans"/>
              <a:cs typeface="Quattrocento Sans"/>
              <a:sym typeface="Quattrocento Sans"/>
            </a:endParaRPr>
          </a:p>
          <a:p>
            <a:r>
              <a:rPr lang="en-GB" sz="2400">
                <a:solidFill>
                  <a:schemeClr val="dk1"/>
                </a:solidFill>
                <a:latin typeface="Quattrocento Sans"/>
                <a:ea typeface="Verdana"/>
                <a:cs typeface="Quattrocento Sans"/>
                <a:sym typeface="Quattrocento Sans"/>
              </a:rPr>
              <a:t>C# is an object-oriented programming language.</a:t>
            </a:r>
            <a:endParaRPr lang="en-GB" sz="2400" b="1">
              <a:solidFill>
                <a:schemeClr val="dk1"/>
              </a:solidFill>
              <a:latin typeface="Quattrocento Sans"/>
              <a:ea typeface="Verdana"/>
              <a:cs typeface="Quattrocento Sans"/>
              <a:sym typeface="Quattrocento Sans"/>
            </a:endParaRPr>
          </a:p>
          <a:p>
            <a:endParaRPr lang="en-GB" sz="2400">
              <a:solidFill>
                <a:schemeClr val="dk1"/>
              </a:solidFill>
              <a:latin typeface="Quattrocento Sans"/>
              <a:ea typeface="Verdana"/>
              <a:cs typeface="Quattrocento Sans"/>
              <a:sym typeface="Quattrocento Sans"/>
            </a:endParaRPr>
          </a:p>
          <a:p>
            <a:r>
              <a:rPr lang="en-GB" sz="2400">
                <a:solidFill>
                  <a:schemeClr val="dk1"/>
                </a:solidFill>
                <a:latin typeface="Quattrocento Sans"/>
                <a:ea typeface="Verdana"/>
                <a:cs typeface="Quattrocento Sans"/>
                <a:sym typeface="Quattrocento Sans"/>
              </a:rPr>
              <a:t>Everything in C# is associated with classes and objects, along with its attributes and methods. </a:t>
            </a:r>
            <a:endParaRPr lang="en-GB">
              <a:solidFill>
                <a:schemeClr val="dk1"/>
              </a:solidFill>
              <a:ea typeface="Verdana"/>
              <a:sym typeface="Quattrocento Sans"/>
            </a:endParaRPr>
          </a:p>
          <a:p>
            <a:endParaRPr lang="en-GB" sz="2400">
              <a:solidFill>
                <a:schemeClr val="dk1"/>
              </a:solidFill>
              <a:latin typeface="Quattrocento Sans"/>
              <a:ea typeface="Verdana"/>
              <a:cs typeface="Quattrocento Sans"/>
              <a:sym typeface="Quattrocento Sans"/>
            </a:endParaRPr>
          </a:p>
          <a:p>
            <a:r>
              <a:rPr lang="en-GB" sz="2400">
                <a:solidFill>
                  <a:schemeClr val="dk1"/>
                </a:solidFill>
                <a:latin typeface="Quattrocento Sans"/>
                <a:ea typeface="Verdana"/>
                <a:cs typeface="Quattrocento Sans"/>
                <a:sym typeface="Quattrocento Sans"/>
              </a:rPr>
              <a:t>For example: in real life, a car is an object. The car has attributes, such as weight and </a:t>
            </a:r>
            <a:r>
              <a:rPr lang="en-GB" sz="2400" err="1">
                <a:solidFill>
                  <a:schemeClr val="dk1"/>
                </a:solidFill>
                <a:latin typeface="Quattrocento Sans"/>
                <a:ea typeface="Verdana"/>
                <a:cs typeface="Quattrocento Sans"/>
                <a:sym typeface="Quattrocento Sans"/>
              </a:rPr>
              <a:t>color</a:t>
            </a:r>
            <a:r>
              <a:rPr lang="en-GB" sz="2400">
                <a:solidFill>
                  <a:schemeClr val="dk1"/>
                </a:solidFill>
                <a:latin typeface="Quattrocento Sans"/>
                <a:ea typeface="Verdana"/>
                <a:cs typeface="Quattrocento Sans"/>
                <a:sym typeface="Quattrocento Sans"/>
              </a:rPr>
              <a:t>, and methods, such as drive and brake.</a:t>
            </a:r>
            <a:endParaRPr lang="en-GB">
              <a:solidFill>
                <a:schemeClr val="dk1"/>
              </a:solidFill>
            </a:endParaRPr>
          </a:p>
          <a:p>
            <a:endParaRPr lang="en-GB" sz="2400">
              <a:solidFill>
                <a:schemeClr val="dk1"/>
              </a:solidFill>
              <a:latin typeface="Quattrocento Sans"/>
              <a:ea typeface="Verdana"/>
              <a:cs typeface="Quattrocento Sans"/>
              <a:sym typeface="Quattrocento Sans"/>
            </a:endParaRPr>
          </a:p>
          <a:p>
            <a:r>
              <a:rPr lang="en-GB" sz="2400">
                <a:solidFill>
                  <a:schemeClr val="dk1"/>
                </a:solidFill>
                <a:latin typeface="Quattrocento Sans"/>
                <a:ea typeface="Verdana"/>
                <a:cs typeface="Quattrocento Sans"/>
                <a:sym typeface="Quattrocento Sans"/>
              </a:rPr>
              <a:t>A Class is like an object constructor, or a "blueprint" for creating objects.</a:t>
            </a:r>
            <a:endParaRPr lang="en-GB">
              <a:solidFill>
                <a:schemeClr val="dk1"/>
              </a:solidFill>
              <a:sym typeface="Quattrocento Sans"/>
            </a:endParaRPr>
          </a:p>
          <a:p>
            <a:r>
              <a:rPr lang="en-GB" sz="2400">
                <a:solidFill>
                  <a:schemeClr val="dk1"/>
                </a:solidFill>
                <a:latin typeface="Quattrocento Sans"/>
                <a:ea typeface="Quattrocento Sans"/>
                <a:cs typeface="Quattrocento Sans"/>
                <a:sym typeface="Quattrocento Sans"/>
              </a:rPr>
              <a:t>  </a:t>
            </a:r>
            <a:endParaRPr lang="en-GB" sz="2400" b="1">
              <a:solidFill>
                <a:schemeClr val="dk1"/>
              </a:solidFill>
              <a:latin typeface="Quattrocento Sans"/>
              <a:ea typeface="Quattrocento Sans"/>
              <a:cs typeface="Quattrocento Sans"/>
            </a:endParaRPr>
          </a:p>
        </p:txBody>
      </p:sp>
    </p:spTree>
    <p:extLst>
      <p:ext uri="{BB962C8B-B14F-4D97-AF65-F5344CB8AC3E}">
        <p14:creationId xmlns:p14="http://schemas.microsoft.com/office/powerpoint/2010/main" val="13652864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235" name="Google Shape;235;p29"/>
          <p:cNvSpPr txBox="1"/>
          <p:nvPr/>
        </p:nvSpPr>
        <p:spPr>
          <a:xfrm>
            <a:off x="609600" y="1412777"/>
            <a:ext cx="10970445" cy="1415732"/>
          </a:xfrm>
          <a:prstGeom prst="rect">
            <a:avLst/>
          </a:prstGeom>
          <a:noFill/>
          <a:ln>
            <a:noFill/>
          </a:ln>
        </p:spPr>
        <p:txBody>
          <a:bodyPr spcFirstLastPara="1" wrap="square" lIns="91425" tIns="45700" rIns="91425" bIns="45700" anchor="t" anchorCtr="0">
            <a:spAutoFit/>
          </a:bodyPr>
          <a:lstStyle/>
          <a:p>
            <a:r>
              <a:rPr lang="en-GB" sz="3600" b="1">
                <a:solidFill>
                  <a:srgbClr val="FFFF00"/>
                </a:solidFill>
                <a:latin typeface="Quattrocento Sans"/>
                <a:ea typeface="Quattrocento Sans"/>
                <a:cs typeface="Quattrocento Sans"/>
                <a:sym typeface="Quattrocento Sans"/>
              </a:rPr>
              <a:t>Classes and Constructors OUTSIDE Unity </a:t>
            </a:r>
            <a:endParaRPr lang="en-US">
              <a:ea typeface="Quattrocento Sans"/>
              <a:sym typeface="Quattrocento Sans"/>
            </a:endParaRPr>
          </a:p>
          <a:p>
            <a:r>
              <a:rPr lang="en-GB" sz="3600" b="1">
                <a:solidFill>
                  <a:srgbClr val="FFFF00"/>
                </a:solidFill>
                <a:latin typeface="Quattrocento Sans"/>
                <a:ea typeface="Quattrocento Sans"/>
                <a:cs typeface="Quattrocento Sans"/>
                <a:sym typeface="Quattrocento Sans"/>
              </a:rPr>
              <a:t>(C# and OOP Concepts)</a:t>
            </a:r>
            <a:endParaRPr lang="en-US"/>
          </a:p>
          <a:p>
            <a:pPr marL="0" marR="0" lvl="0" indent="0" algn="l" rtl="0">
              <a:spcBef>
                <a:spcPts val="0"/>
              </a:spcBef>
              <a:spcAft>
                <a:spcPts val="0"/>
              </a:spcAft>
              <a:buNone/>
            </a:pPr>
            <a:endParaRPr lang="en-GB" b="1" i="1">
              <a:solidFill>
                <a:schemeClr val="dk1"/>
              </a:solidFill>
              <a:latin typeface="Quattrocento Sans"/>
              <a:ea typeface="Quattrocento Sans"/>
              <a:cs typeface="Quattrocento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235" name="Google Shape;235;p29"/>
          <p:cNvSpPr txBox="1"/>
          <p:nvPr/>
        </p:nvSpPr>
        <p:spPr>
          <a:xfrm>
            <a:off x="609600" y="1412777"/>
            <a:ext cx="10970445" cy="3816429"/>
          </a:xfrm>
          <a:prstGeom prst="rect">
            <a:avLst/>
          </a:prstGeom>
          <a:noFill/>
          <a:ln>
            <a:noFill/>
          </a:ln>
        </p:spPr>
        <p:txBody>
          <a:bodyPr spcFirstLastPara="1" wrap="square" lIns="91425" tIns="45700" rIns="91425" bIns="45700" anchor="t" anchorCtr="0">
            <a:spAutoFit/>
          </a:bodyPr>
          <a:lstStyle/>
          <a:p>
            <a:r>
              <a:rPr lang="en-GB" sz="3600" b="1">
                <a:solidFill>
                  <a:srgbClr val="FFFF00"/>
                </a:solidFill>
                <a:latin typeface="Quattrocento Sans"/>
                <a:ea typeface="Quattrocento Sans"/>
                <a:cs typeface="Quattrocento Sans"/>
                <a:sym typeface="Quattrocento Sans"/>
              </a:rPr>
              <a:t>Constructors Outside Unity (C# and OOP Concepts)</a:t>
            </a:r>
            <a:endParaRPr lang="en-US"/>
          </a:p>
          <a:p>
            <a:pPr marL="0" marR="0" lvl="0" indent="0" algn="l" rtl="0">
              <a:spcBef>
                <a:spcPts val="0"/>
              </a:spcBef>
              <a:spcAft>
                <a:spcPts val="0"/>
              </a:spcAft>
              <a:buNone/>
            </a:pPr>
            <a:r>
              <a:rPr lang="en-GB" sz="1400" b="1"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b="1"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Constructor:</a:t>
            </a:r>
            <a:endParaRPr sz="2400">
              <a:solidFill>
                <a:schemeClr val="dk1"/>
              </a:solidFill>
              <a:latin typeface="Quattrocento Sans"/>
              <a:ea typeface="Quattrocento Sans"/>
              <a:cs typeface="Quattrocento Sans"/>
              <a:sym typeface="Quattrocento Sans"/>
            </a:endParaRPr>
          </a:p>
          <a:p>
            <a:r>
              <a:rPr lang="en-GB" sz="2400">
                <a:solidFill>
                  <a:schemeClr val="dk1"/>
                </a:solidFill>
                <a:latin typeface="Quattrocento Sans"/>
                <a:ea typeface="Quattrocento Sans"/>
                <a:cs typeface="Quattrocento Sans"/>
                <a:sym typeface="Quattrocento Sans"/>
              </a:rPr>
              <a:t>The purpose of constructors: (a special method) is to initialize class members with values when an instance of the class is created. </a:t>
            </a:r>
            <a:endParaRPr>
              <a:solidFill>
                <a:schemeClr val="dk1"/>
              </a:solidFill>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Example: </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We can use a Constructor to create a “default” </a:t>
            </a:r>
            <a:r>
              <a:rPr lang="en-GB" sz="2400" err="1">
                <a:solidFill>
                  <a:schemeClr val="dk1"/>
                </a:solidFill>
                <a:latin typeface="Quattrocento Sans"/>
                <a:ea typeface="Quattrocento Sans"/>
                <a:cs typeface="Quattrocento Sans"/>
                <a:sym typeface="Quattrocento Sans"/>
              </a:rPr>
              <a:t>color</a:t>
            </a:r>
            <a:r>
              <a:rPr lang="en-GB" sz="2400">
                <a:solidFill>
                  <a:schemeClr val="dk1"/>
                </a:solidFill>
                <a:latin typeface="Quattrocento Sans"/>
                <a:ea typeface="Quattrocento Sans"/>
                <a:cs typeface="Quattrocento Sans"/>
                <a:sym typeface="Quattrocento Sans"/>
              </a:rPr>
              <a:t> for our car. </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We define the class...</a:t>
            </a:r>
            <a:endParaRPr sz="2400" b="1">
              <a:solidFill>
                <a:schemeClr val="dk1"/>
              </a:solidFill>
              <a:latin typeface="Quattrocento Sans"/>
              <a:ea typeface="Quattrocento Sans"/>
              <a:cs typeface="Quattrocento Sans"/>
              <a:sym typeface="Quattrocento Sans"/>
            </a:endParaRPr>
          </a:p>
        </p:txBody>
      </p:sp>
    </p:spTree>
    <p:extLst>
      <p:ext uri="{BB962C8B-B14F-4D97-AF65-F5344CB8AC3E}">
        <p14:creationId xmlns:p14="http://schemas.microsoft.com/office/powerpoint/2010/main" val="30574343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220" name="Google Shape;220;p27"/>
          <p:cNvSpPr txBox="1"/>
          <p:nvPr/>
        </p:nvSpPr>
        <p:spPr>
          <a:xfrm>
            <a:off x="609600" y="1358348"/>
            <a:ext cx="10970445" cy="5109051"/>
          </a:xfrm>
          <a:prstGeom prst="rect">
            <a:avLst/>
          </a:prstGeom>
          <a:noFill/>
          <a:ln>
            <a:noFill/>
          </a:ln>
        </p:spPr>
        <p:txBody>
          <a:bodyPr spcFirstLastPara="1" wrap="square" lIns="91425" tIns="45700" rIns="91425" bIns="45700" anchor="t" anchorCtr="0">
            <a:spAutoFit/>
          </a:bodyPr>
          <a:lstStyle/>
          <a:p>
            <a:r>
              <a:rPr lang="en-GB" sz="3600" b="1">
                <a:solidFill>
                  <a:srgbClr val="FFFF00"/>
                </a:solidFill>
                <a:latin typeface="Quattrocento Sans"/>
                <a:ea typeface="Quattrocento Sans"/>
                <a:cs typeface="Quattrocento Sans"/>
                <a:sym typeface="Quattrocento Sans"/>
              </a:rPr>
              <a:t>Constructors Outside Unity (C# and OOP Concepts)</a:t>
            </a:r>
            <a:endParaRPr lang="en-US"/>
          </a:p>
          <a:p>
            <a:pPr marL="0" marR="0" lvl="0" indent="0" algn="l" rtl="0">
              <a:spcBef>
                <a:spcPts val="0"/>
              </a:spcBef>
              <a:spcAft>
                <a:spcPts val="0"/>
              </a:spcAft>
              <a:buNone/>
            </a:pPr>
            <a:r>
              <a:rPr lang="en-GB" sz="1400" b="1"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Classes: First we define…</a:t>
            </a:r>
            <a:endParaRPr sz="24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class Car </a:t>
            </a:r>
            <a:endParaRPr sz="1800">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t>
            </a:r>
            <a:endParaRPr sz="1800">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public string </a:t>
            </a:r>
            <a:r>
              <a:rPr lang="en-GB" sz="1800" err="1">
                <a:solidFill>
                  <a:schemeClr val="dk1"/>
                </a:solidFill>
                <a:latin typeface="Quattrocento Sans"/>
                <a:ea typeface="Quattrocento Sans"/>
                <a:cs typeface="Quattrocento Sans"/>
                <a:sym typeface="Quattrocento Sans"/>
              </a:rPr>
              <a:t>color</a:t>
            </a:r>
            <a:r>
              <a:rPr lang="en-GB" sz="1800">
                <a:solidFill>
                  <a:schemeClr val="dk1"/>
                </a:solidFill>
                <a:latin typeface="Quattrocento Sans"/>
                <a:ea typeface="Quattrocento Sans"/>
                <a:cs typeface="Quattrocento Sans"/>
                <a:sym typeface="Quattrocento Sans"/>
              </a:rPr>
              <a:t>; //Field </a:t>
            </a:r>
            <a:endParaRPr sz="1800">
              <a:solidFill>
                <a:schemeClr val="dk1"/>
              </a:solidFill>
            </a:endParaRPr>
          </a:p>
          <a:p>
            <a:r>
              <a:rPr lang="en-GB" sz="1800">
                <a:solidFill>
                  <a:schemeClr val="dk1"/>
                </a:solidFill>
                <a:latin typeface="Quattrocento Sans"/>
                <a:ea typeface="Quattrocento Sans"/>
                <a:cs typeface="Quattrocento Sans"/>
                <a:sym typeface="Quattrocento Sans"/>
              </a:rPr>
              <a:t>	</a:t>
            </a:r>
            <a:endParaRPr lang="en-GB" sz="1800">
              <a:solidFill>
                <a:schemeClr val="dk1"/>
              </a:solidFill>
              <a:ea typeface="Quattrocento Sans"/>
              <a:sym typeface="Quattrocento Sans"/>
            </a:endParaRPr>
          </a:p>
          <a:p>
            <a:r>
              <a:rPr lang="en-GB" sz="1800">
                <a:solidFill>
                  <a:schemeClr val="dk1"/>
                </a:solidFill>
                <a:latin typeface="Quattrocento Sans"/>
                <a:ea typeface="Quattrocento Sans"/>
                <a:cs typeface="Quattrocento Sans"/>
                <a:sym typeface="Quattrocento Sans"/>
              </a:rPr>
              <a:t>    </a:t>
            </a:r>
            <a:endParaRPr lang="en-GB" sz="1800">
              <a:solidFill>
                <a:schemeClr val="dk1"/>
              </a:solidFill>
              <a:ea typeface="Quattrocento Sans"/>
              <a:sym typeface="Quattrocento Sans"/>
            </a:endParaRPr>
          </a:p>
          <a:p>
            <a:endParaRPr lang="en-GB" sz="1800">
              <a:solidFill>
                <a:schemeClr val="dk1"/>
              </a:solidFill>
              <a:latin typeface="Quattrocento Sans"/>
              <a:ea typeface="Quattrocento Sans"/>
              <a:cs typeface="Quattrocento Sans"/>
              <a:sym typeface="Quattrocento Sans"/>
            </a:endParaRPr>
          </a:p>
          <a:p>
            <a:endParaRPr lang="en-GB" sz="1800">
              <a:solidFill>
                <a:schemeClr val="dk1"/>
              </a:solidFill>
              <a:latin typeface="Quattrocento Sans"/>
              <a:ea typeface="Quattrocento Sans"/>
              <a:cs typeface="Quattrocento Sans"/>
              <a:sym typeface="Quattrocento Sans"/>
            </a:endParaRPr>
          </a:p>
          <a:p>
            <a:endParaRPr lang="en-GB" sz="1800">
              <a:solidFill>
                <a:schemeClr val="dk1"/>
              </a:solidFill>
              <a:latin typeface="Quattrocento Sans"/>
              <a:ea typeface="Quattrocento Sans"/>
              <a:cs typeface="Quattrocento Sans"/>
              <a:sym typeface="Quattrocento Sans"/>
            </a:endParaRPr>
          </a:p>
          <a:p>
            <a:r>
              <a:rPr lang="en-GB" sz="1800">
                <a:solidFill>
                  <a:schemeClr val="dk1"/>
                </a:solidFill>
                <a:latin typeface="Quattrocento Sans"/>
                <a:ea typeface="Quattrocento Sans"/>
                <a:cs typeface="Quattrocento Sans"/>
                <a:sym typeface="Quattrocento Sans"/>
              </a:rPr>
              <a:t>    //Method</a:t>
            </a:r>
            <a:endParaRPr lang="en-GB" sz="1800">
              <a:solidFill>
                <a:schemeClr val="dk1"/>
              </a:solidFill>
              <a:ea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public void </a:t>
            </a:r>
            <a:r>
              <a:rPr lang="en-GB" sz="1800" err="1">
                <a:solidFill>
                  <a:schemeClr val="dk1"/>
                </a:solidFill>
                <a:latin typeface="Quattrocento Sans"/>
                <a:ea typeface="Quattrocento Sans"/>
                <a:cs typeface="Quattrocento Sans"/>
                <a:sym typeface="Quattrocento Sans"/>
              </a:rPr>
              <a:t>ShowCarColor</a:t>
            </a:r>
            <a:r>
              <a:rPr lang="en-GB" sz="1800">
                <a:solidFill>
                  <a:schemeClr val="dk1"/>
                </a:solidFill>
                <a:latin typeface="Quattrocento Sans"/>
                <a:ea typeface="Quattrocento Sans"/>
                <a:cs typeface="Quattrocento Sans"/>
                <a:sym typeface="Quattrocento Sans"/>
              </a:rPr>
              <a:t>() </a:t>
            </a:r>
            <a:endParaRPr sz="1800">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endParaRPr sz="1800">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r>
              <a:rPr lang="en-GB" sz="1800" err="1">
                <a:solidFill>
                  <a:schemeClr val="dk1"/>
                </a:solidFill>
                <a:latin typeface="Quattrocento Sans"/>
                <a:ea typeface="Quattrocento Sans"/>
                <a:cs typeface="Quattrocento Sans"/>
                <a:sym typeface="Quattrocento Sans"/>
              </a:rPr>
              <a:t>MessageBox.Show</a:t>
            </a:r>
            <a:r>
              <a:rPr lang="en-GB" sz="1800">
                <a:solidFill>
                  <a:schemeClr val="dk1"/>
                </a:solidFill>
                <a:latin typeface="Quattrocento Sans"/>
                <a:ea typeface="Quattrocento Sans"/>
                <a:cs typeface="Quattrocento Sans"/>
                <a:sym typeface="Quattrocento Sans"/>
              </a:rPr>
              <a:t>("My Car is: " + </a:t>
            </a:r>
            <a:r>
              <a:rPr lang="en-GB" sz="1800" err="1">
                <a:solidFill>
                  <a:schemeClr val="dk1"/>
                </a:solidFill>
                <a:latin typeface="Quattrocento Sans"/>
                <a:ea typeface="Quattrocento Sans"/>
                <a:cs typeface="Quattrocento Sans"/>
                <a:sym typeface="Quattrocento Sans"/>
              </a:rPr>
              <a:t>color</a:t>
            </a:r>
            <a:r>
              <a:rPr lang="en-GB" sz="1800">
                <a:solidFill>
                  <a:schemeClr val="dk1"/>
                </a:solidFill>
                <a:latin typeface="Quattrocento Sans"/>
                <a:ea typeface="Quattrocento Sans"/>
                <a:cs typeface="Quattrocento Sans"/>
                <a:sym typeface="Quattrocento Sans"/>
              </a:rPr>
              <a:t>); </a:t>
            </a:r>
            <a:endParaRPr sz="1800">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endParaRPr sz="1800">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t>
            </a:r>
            <a:endParaRPr sz="18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242" name="Google Shape;242;p30"/>
          <p:cNvSpPr txBox="1"/>
          <p:nvPr/>
        </p:nvSpPr>
        <p:spPr>
          <a:xfrm>
            <a:off x="609600" y="1358349"/>
            <a:ext cx="10888802" cy="5109091"/>
          </a:xfrm>
          <a:prstGeom prst="rect">
            <a:avLst/>
          </a:prstGeom>
          <a:noFill/>
          <a:ln>
            <a:noFill/>
          </a:ln>
        </p:spPr>
        <p:txBody>
          <a:bodyPr spcFirstLastPara="1" wrap="square" lIns="91425" tIns="45700" rIns="91425" bIns="45700" anchor="t" anchorCtr="0">
            <a:spAutoFit/>
          </a:bodyPr>
          <a:lstStyle/>
          <a:p>
            <a:r>
              <a:rPr lang="en-GB" sz="3600" b="1">
                <a:solidFill>
                  <a:srgbClr val="FFFF00"/>
                </a:solidFill>
                <a:latin typeface="Quattrocento Sans"/>
                <a:ea typeface="Quattrocento Sans"/>
                <a:cs typeface="Quattrocento Sans"/>
                <a:sym typeface="Quattrocento Sans"/>
              </a:rPr>
              <a:t>Constructors Outside Unity (C# and OOP Concepts)</a:t>
            </a:r>
            <a:endParaRPr/>
          </a:p>
          <a:p>
            <a:pPr marL="0" marR="0" lvl="0" indent="0" algn="l" rtl="0">
              <a:spcBef>
                <a:spcPts val="0"/>
              </a:spcBef>
              <a:spcAft>
                <a:spcPts val="0"/>
              </a:spcAft>
              <a:buNone/>
            </a:pPr>
            <a:r>
              <a:rPr lang="en-GB" sz="1400" b="1"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sz="2400" b="1"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Constructor:</a:t>
            </a: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class Car </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t>
            </a:r>
            <a:endParaRPr sz="1800">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public string </a:t>
            </a:r>
            <a:r>
              <a:rPr lang="en-GB" sz="1800" err="1">
                <a:solidFill>
                  <a:schemeClr val="dk1"/>
                </a:solidFill>
                <a:latin typeface="Quattrocento Sans"/>
                <a:ea typeface="Quattrocento Sans"/>
                <a:cs typeface="Quattrocento Sans"/>
                <a:sym typeface="Quattrocento Sans"/>
              </a:rPr>
              <a:t>color</a:t>
            </a:r>
            <a:r>
              <a:rPr lang="en-GB" sz="1800">
                <a:solidFill>
                  <a:schemeClr val="dk1"/>
                </a:solidFill>
                <a:latin typeface="Quattrocento Sans"/>
                <a:ea typeface="Quattrocento Sans"/>
                <a:cs typeface="Quattrocento Sans"/>
                <a:sym typeface="Quattrocento Sans"/>
              </a:rPr>
              <a:t>; //Field </a:t>
            </a:r>
            <a:endParaRPr sz="1800">
              <a:solidFill>
                <a:schemeClr val="dk1"/>
              </a:solidFill>
            </a:endParaRPr>
          </a:p>
          <a:p>
            <a:pPr marL="0" marR="0" lvl="0" indent="0" algn="l" rtl="0">
              <a:spcBef>
                <a:spcPts val="0"/>
              </a:spcBef>
              <a:spcAft>
                <a:spcPts val="0"/>
              </a:spcAft>
              <a:buNone/>
            </a:pPr>
            <a:r>
              <a:rPr lang="en-GB" sz="1800">
                <a:solidFill>
                  <a:srgbClr val="00B0F0"/>
                </a:solidFill>
                <a:latin typeface="Quattrocento Sans"/>
                <a:ea typeface="Quattrocento Sans"/>
                <a:cs typeface="Quattrocento Sans"/>
                <a:sym typeface="Quattrocento Sans"/>
              </a:rPr>
              <a:t>	//Constructor - Used to initialize the Class 	</a:t>
            </a:r>
            <a:endParaRPr sz="1800">
              <a:solidFill>
                <a:srgbClr val="00B0F0"/>
              </a:solidFill>
            </a:endParaRPr>
          </a:p>
          <a:p>
            <a:pPr marL="0" marR="0" lvl="0" indent="0" algn="l" rtl="0">
              <a:spcBef>
                <a:spcPts val="0"/>
              </a:spcBef>
              <a:spcAft>
                <a:spcPts val="0"/>
              </a:spcAft>
              <a:buNone/>
            </a:pPr>
            <a:r>
              <a:rPr lang="en-GB" sz="1800">
                <a:solidFill>
                  <a:srgbClr val="00B0F0"/>
                </a:solidFill>
                <a:latin typeface="Quattrocento Sans"/>
                <a:ea typeface="Quattrocento Sans"/>
                <a:cs typeface="Quattrocento Sans"/>
                <a:sym typeface="Quattrocento Sans"/>
              </a:rPr>
              <a:t>	public Car() </a:t>
            </a:r>
            <a:endParaRPr sz="1800">
              <a:solidFill>
                <a:srgbClr val="00B0F0"/>
              </a:solidFill>
            </a:endParaRPr>
          </a:p>
          <a:p>
            <a:pPr marL="0" marR="0" lvl="0" indent="0" algn="l" rtl="0">
              <a:spcBef>
                <a:spcPts val="0"/>
              </a:spcBef>
              <a:spcAft>
                <a:spcPts val="0"/>
              </a:spcAft>
              <a:buNone/>
            </a:pPr>
            <a:r>
              <a:rPr lang="en-GB" sz="1800">
                <a:solidFill>
                  <a:srgbClr val="00B0F0"/>
                </a:solidFill>
                <a:latin typeface="Quattrocento Sans"/>
                <a:ea typeface="Quattrocento Sans"/>
                <a:cs typeface="Quattrocento Sans"/>
                <a:sym typeface="Quattrocento Sans"/>
              </a:rPr>
              <a:t>	{</a:t>
            </a:r>
            <a:endParaRPr sz="1800">
              <a:solidFill>
                <a:srgbClr val="00B0F0"/>
              </a:solidFill>
            </a:endParaRPr>
          </a:p>
          <a:p>
            <a:r>
              <a:rPr lang="en-GB" sz="1800">
                <a:solidFill>
                  <a:srgbClr val="00B0F0"/>
                </a:solidFill>
                <a:latin typeface="Quattrocento Sans"/>
                <a:ea typeface="Quattrocento Sans"/>
                <a:cs typeface="Quattrocento Sans"/>
                <a:sym typeface="Quattrocento Sans"/>
              </a:rPr>
              <a:t>       </a:t>
            </a:r>
            <a:r>
              <a:rPr lang="en-GB" sz="1800" err="1">
                <a:solidFill>
                  <a:srgbClr val="00B0F0"/>
                </a:solidFill>
                <a:latin typeface="Quattrocento Sans"/>
                <a:ea typeface="Quattrocento Sans"/>
                <a:cs typeface="Quattrocento Sans"/>
                <a:sym typeface="Quattrocento Sans"/>
              </a:rPr>
              <a:t>color</a:t>
            </a:r>
            <a:r>
              <a:rPr lang="en-GB" sz="1800">
                <a:solidFill>
                  <a:srgbClr val="00B0F0"/>
                </a:solidFill>
                <a:latin typeface="Quattrocento Sans"/>
                <a:ea typeface="Quattrocento Sans"/>
                <a:cs typeface="Quattrocento Sans"/>
                <a:sym typeface="Quattrocento Sans"/>
              </a:rPr>
              <a:t>=“green”:</a:t>
            </a:r>
            <a:endParaRPr sz="1800">
              <a:solidFill>
                <a:srgbClr val="00B0F0"/>
              </a:solidFill>
            </a:endParaRPr>
          </a:p>
          <a:p>
            <a:pPr marL="0" marR="0" lvl="0" indent="0" algn="l" rtl="0">
              <a:spcBef>
                <a:spcPts val="0"/>
              </a:spcBef>
              <a:spcAft>
                <a:spcPts val="0"/>
              </a:spcAft>
              <a:buNone/>
            </a:pPr>
            <a:r>
              <a:rPr lang="en-GB" sz="1800">
                <a:solidFill>
                  <a:srgbClr val="00B0F0"/>
                </a:solidFill>
                <a:latin typeface="Quattrocento Sans"/>
                <a:ea typeface="Quattrocento Sans"/>
                <a:cs typeface="Quattrocento Sans"/>
                <a:sym typeface="Quattrocento Sans"/>
              </a:rPr>
              <a:t>	}</a:t>
            </a:r>
            <a:endParaRPr sz="1800">
              <a:solidFill>
                <a:srgbClr val="00B0F0"/>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//Method</a:t>
            </a:r>
            <a:endParaRPr sz="1800">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public void </a:t>
            </a:r>
            <a:r>
              <a:rPr lang="en-GB" sz="1800" err="1">
                <a:solidFill>
                  <a:schemeClr val="dk1"/>
                </a:solidFill>
                <a:latin typeface="Quattrocento Sans"/>
                <a:ea typeface="Quattrocento Sans"/>
                <a:cs typeface="Quattrocento Sans"/>
                <a:sym typeface="Quattrocento Sans"/>
              </a:rPr>
              <a:t>ShowCarColor</a:t>
            </a:r>
            <a:r>
              <a:rPr lang="en-GB" sz="1800">
                <a:solidFill>
                  <a:schemeClr val="dk1"/>
                </a:solidFill>
                <a:latin typeface="Quattrocento Sans"/>
                <a:ea typeface="Quattrocento Sans"/>
                <a:cs typeface="Quattrocento Sans"/>
                <a:sym typeface="Quattrocento Sans"/>
              </a:rPr>
              <a:t>() </a:t>
            </a:r>
            <a:endParaRPr sz="1800">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endParaRPr sz="1800">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r>
              <a:rPr lang="en-GB" sz="1800" err="1">
                <a:solidFill>
                  <a:schemeClr val="dk1"/>
                </a:solidFill>
                <a:latin typeface="Quattrocento Sans"/>
                <a:ea typeface="Quattrocento Sans"/>
                <a:cs typeface="Quattrocento Sans"/>
                <a:sym typeface="Quattrocento Sans"/>
              </a:rPr>
              <a:t>MessageBox.Show</a:t>
            </a:r>
            <a:r>
              <a:rPr lang="en-GB" sz="1800">
                <a:solidFill>
                  <a:schemeClr val="dk1"/>
                </a:solidFill>
                <a:latin typeface="Quattrocento Sans"/>
                <a:ea typeface="Quattrocento Sans"/>
                <a:cs typeface="Quattrocento Sans"/>
                <a:sym typeface="Quattrocento Sans"/>
              </a:rPr>
              <a:t>("My Car is: " + </a:t>
            </a:r>
            <a:r>
              <a:rPr lang="en-GB" sz="1800" err="1">
                <a:solidFill>
                  <a:schemeClr val="dk1"/>
                </a:solidFill>
                <a:latin typeface="Quattrocento Sans"/>
                <a:ea typeface="Quattrocento Sans"/>
                <a:cs typeface="Quattrocento Sans"/>
                <a:sym typeface="Quattrocento Sans"/>
              </a:rPr>
              <a:t>color</a:t>
            </a:r>
            <a:r>
              <a:rPr lang="en-GB" sz="1800">
                <a:solidFill>
                  <a:schemeClr val="dk1"/>
                </a:solidFill>
                <a:latin typeface="Quattrocento Sans"/>
                <a:ea typeface="Quattrocento Sans"/>
                <a:cs typeface="Quattrocento Sans"/>
                <a:sym typeface="Quattrocento Sans"/>
              </a:rPr>
              <a:t>); </a:t>
            </a:r>
            <a:endParaRPr sz="1800">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endParaRPr sz="1800">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t>
            </a:r>
            <a:endParaRPr>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249" name="Google Shape;249;p31"/>
          <p:cNvSpPr txBox="1"/>
          <p:nvPr/>
        </p:nvSpPr>
        <p:spPr>
          <a:xfrm>
            <a:off x="609600" y="1412777"/>
            <a:ext cx="10752731" cy="3724056"/>
          </a:xfrm>
          <a:prstGeom prst="rect">
            <a:avLst/>
          </a:prstGeom>
          <a:noFill/>
          <a:ln>
            <a:noFill/>
          </a:ln>
        </p:spPr>
        <p:txBody>
          <a:bodyPr spcFirstLastPara="1" wrap="square" lIns="91425" tIns="45700" rIns="91425" bIns="45700" anchor="t" anchorCtr="0">
            <a:spAutoFit/>
          </a:bodyPr>
          <a:lstStyle/>
          <a:p>
            <a:r>
              <a:rPr lang="en-GB" sz="3600" b="1">
                <a:solidFill>
                  <a:srgbClr val="FFFF00"/>
                </a:solidFill>
                <a:latin typeface="Quattrocento Sans"/>
                <a:ea typeface="Quattrocento Sans"/>
                <a:cs typeface="Quattrocento Sans"/>
                <a:sym typeface="Quattrocento Sans"/>
              </a:rPr>
              <a:t>Working Outside Unity (C# and OOP Concepts)</a:t>
            </a:r>
            <a:endParaRPr/>
          </a:p>
          <a:p>
            <a:pPr marL="0" marR="0" lvl="0" indent="0" algn="l" rtl="0">
              <a:spcBef>
                <a:spcPts val="0"/>
              </a:spcBef>
              <a:spcAft>
                <a:spcPts val="0"/>
              </a:spcAft>
              <a:buNone/>
            </a:pPr>
            <a:r>
              <a:rPr lang="en-GB" sz="1400" b="1"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sz="2400" b="1"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Constructor:</a:t>
            </a:r>
            <a:endParaRPr sz="2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Then we can use it:</a:t>
            </a:r>
            <a:endParaRPr>
              <a:solidFill>
                <a:schemeClr val="dk1"/>
              </a:solidFill>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Car </a:t>
            </a:r>
            <a:r>
              <a:rPr lang="en-GB" sz="1800" err="1">
                <a:solidFill>
                  <a:schemeClr val="dk1"/>
                </a:solidFill>
                <a:latin typeface="Quattrocento Sans"/>
                <a:ea typeface="Quattrocento Sans"/>
                <a:cs typeface="Quattrocento Sans"/>
                <a:sym typeface="Quattrocento Sans"/>
              </a:rPr>
              <a:t>myCar</a:t>
            </a:r>
            <a:r>
              <a:rPr lang="en-GB" sz="1800">
                <a:solidFill>
                  <a:schemeClr val="dk1"/>
                </a:solidFill>
                <a:latin typeface="Quattrocento Sans"/>
                <a:ea typeface="Quattrocento Sans"/>
                <a:cs typeface="Quattrocento Sans"/>
                <a:sym typeface="Quattrocento Sans"/>
              </a:rPr>
              <a:t> = new Car(); //We create an Instance of the Class </a:t>
            </a:r>
            <a:endParaRPr>
              <a:solidFill>
                <a:schemeClr val="dk1"/>
              </a:solidFill>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err="1">
                <a:solidFill>
                  <a:schemeClr val="dk1"/>
                </a:solidFill>
                <a:latin typeface="Quattrocento Sans"/>
                <a:ea typeface="Quattrocento Sans"/>
                <a:cs typeface="Quattrocento Sans"/>
                <a:sym typeface="Quattrocento Sans"/>
              </a:rPr>
              <a:t>myCar.ShowCarColor</a:t>
            </a:r>
            <a:r>
              <a:rPr lang="en-GB" sz="1800">
                <a:solidFill>
                  <a:schemeClr val="dk1"/>
                </a:solidFill>
                <a:latin typeface="Quattrocento Sans"/>
                <a:ea typeface="Quattrocento Sans"/>
                <a:cs typeface="Quattrocento Sans"/>
                <a:sym typeface="Quattrocento Sans"/>
              </a:rPr>
              <a:t>(); //We call the Method </a:t>
            </a:r>
            <a:endParaRPr>
              <a:solidFill>
                <a:schemeClr val="dk1"/>
              </a:solidFill>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err="1">
                <a:solidFill>
                  <a:schemeClr val="dk1"/>
                </a:solidFill>
                <a:latin typeface="Quattrocento Sans"/>
                <a:ea typeface="Quattrocento Sans"/>
                <a:cs typeface="Quattrocento Sans"/>
                <a:sym typeface="Quattrocento Sans"/>
              </a:rPr>
              <a:t>myCar.color</a:t>
            </a:r>
            <a:r>
              <a:rPr lang="en-GB" sz="1800">
                <a:solidFill>
                  <a:schemeClr val="dk1"/>
                </a:solidFill>
                <a:latin typeface="Quattrocento Sans"/>
                <a:ea typeface="Quattrocento Sans"/>
                <a:cs typeface="Quattrocento Sans"/>
                <a:sym typeface="Quattrocento Sans"/>
              </a:rPr>
              <a:t> = "blue"; //We set a value for the </a:t>
            </a:r>
            <a:r>
              <a:rPr lang="en-GB" sz="1800" err="1">
                <a:solidFill>
                  <a:schemeClr val="dk1"/>
                </a:solidFill>
                <a:latin typeface="Quattrocento Sans"/>
                <a:ea typeface="Quattrocento Sans"/>
                <a:cs typeface="Quattrocento Sans"/>
                <a:sym typeface="Quattrocento Sans"/>
              </a:rPr>
              <a:t>color</a:t>
            </a:r>
            <a:r>
              <a:rPr lang="en-GB" sz="1800">
                <a:solidFill>
                  <a:schemeClr val="dk1"/>
                </a:solidFill>
                <a:latin typeface="Quattrocento Sans"/>
                <a:ea typeface="Quattrocento Sans"/>
                <a:cs typeface="Quattrocento Sans"/>
                <a:sym typeface="Quattrocento Sans"/>
              </a:rPr>
              <a:t> Field </a:t>
            </a:r>
            <a:endParaRPr>
              <a:solidFill>
                <a:schemeClr val="dk1"/>
              </a:solidFill>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err="1">
                <a:solidFill>
                  <a:schemeClr val="dk1"/>
                </a:solidFill>
                <a:latin typeface="Quattrocento Sans"/>
                <a:ea typeface="Quattrocento Sans"/>
                <a:cs typeface="Quattrocento Sans"/>
                <a:sym typeface="Quattrocento Sans"/>
              </a:rPr>
              <a:t>myCar.ShowCarColor</a:t>
            </a:r>
            <a:r>
              <a:rPr lang="en-GB" sz="1800">
                <a:solidFill>
                  <a:schemeClr val="dk1"/>
                </a:solidFill>
                <a:latin typeface="Quattrocento Sans"/>
                <a:ea typeface="Quattrocento Sans"/>
                <a:cs typeface="Quattrocento Sans"/>
                <a:sym typeface="Quattrocento Sans"/>
              </a:rPr>
              <a:t>(); //We call the Method </a:t>
            </a:r>
            <a:endParaRPr>
              <a:solidFill>
                <a:schemeClr val="dk1"/>
              </a:solidFill>
            </a:endParaRPr>
          </a:p>
        </p:txBody>
      </p:sp>
      <p:pic>
        <p:nvPicPr>
          <p:cNvPr id="250" name="Google Shape;250;p31"/>
          <p:cNvPicPr preferRelativeResize="0"/>
          <p:nvPr/>
        </p:nvPicPr>
        <p:blipFill rotWithShape="1">
          <a:blip r:embed="rId3">
            <a:alphaModFix/>
          </a:blip>
          <a:srcRect/>
          <a:stretch/>
        </p:blipFill>
        <p:spPr>
          <a:xfrm>
            <a:off x="7356198" y="4761206"/>
            <a:ext cx="1404098" cy="1404098"/>
          </a:xfrm>
          <a:prstGeom prst="rect">
            <a:avLst/>
          </a:prstGeom>
          <a:noFill/>
          <a:ln>
            <a:noFill/>
          </a:ln>
        </p:spPr>
      </p:pic>
      <p:pic>
        <p:nvPicPr>
          <p:cNvPr id="251" name="Google Shape;251;p31"/>
          <p:cNvPicPr preferRelativeResize="0"/>
          <p:nvPr/>
        </p:nvPicPr>
        <p:blipFill rotWithShape="1">
          <a:blip r:embed="rId4">
            <a:alphaModFix/>
          </a:blip>
          <a:srcRect/>
          <a:stretch/>
        </p:blipFill>
        <p:spPr>
          <a:xfrm>
            <a:off x="9070981" y="4761207"/>
            <a:ext cx="1368152" cy="140323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258" name="Google Shape;258;p32"/>
          <p:cNvSpPr txBox="1"/>
          <p:nvPr/>
        </p:nvSpPr>
        <p:spPr>
          <a:xfrm>
            <a:off x="609600" y="1409764"/>
            <a:ext cx="10117731" cy="5449589"/>
          </a:xfrm>
          <a:prstGeom prst="rect">
            <a:avLst/>
          </a:prstGeom>
          <a:noFill/>
          <a:ln>
            <a:noFill/>
          </a:ln>
        </p:spPr>
        <p:txBody>
          <a:bodyPr spcFirstLastPara="1" wrap="square" lIns="91425" tIns="45700" rIns="91425" bIns="45700" anchor="t" anchorCtr="0">
            <a:spAutoFit/>
          </a:bodyPr>
          <a:lstStyle/>
          <a:p>
            <a:r>
              <a:rPr lang="en-GB" sz="3600" b="1">
                <a:solidFill>
                  <a:srgbClr val="FFFF00"/>
                </a:solidFill>
                <a:latin typeface="Quattrocento Sans"/>
                <a:ea typeface="Quattrocento Sans"/>
                <a:cs typeface="Quattrocento Sans"/>
                <a:sym typeface="Quattrocento Sans"/>
              </a:rPr>
              <a:t>Working Outside Unity (C# and OOP Concepts)</a:t>
            </a:r>
            <a:endParaRPr/>
          </a:p>
          <a:p>
            <a:pPr marL="0" marR="0" lvl="0" indent="0" algn="l" rtl="0">
              <a:spcBef>
                <a:spcPts val="0"/>
              </a:spcBef>
              <a:spcAft>
                <a:spcPts val="0"/>
              </a:spcAft>
              <a:buNone/>
            </a:pPr>
            <a:r>
              <a:rPr lang="en-GB" sz="1400" b="1"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sz="2400" b="1" i="1">
              <a:solidFill>
                <a:srgbClr val="FFFF00"/>
              </a:solidFill>
              <a:latin typeface="Quattrocento Sans"/>
              <a:ea typeface="Quattrocento Sans"/>
              <a:cs typeface="Quattrocento Sans"/>
              <a:sym typeface="Quattrocento Sans"/>
            </a:endParaRPr>
          </a:p>
          <a:p>
            <a:r>
              <a:rPr lang="en-GB" sz="2400" b="1">
                <a:solidFill>
                  <a:srgbClr val="FFFF00"/>
                </a:solidFill>
                <a:latin typeface="Quattrocento Sans"/>
                <a:ea typeface="Quattrocento Sans"/>
                <a:cs typeface="Quattrocento Sans"/>
                <a:sym typeface="Quattrocento Sans"/>
              </a:rPr>
              <a:t>Constructor:</a:t>
            </a:r>
            <a:r>
              <a:rPr lang="en-GB" sz="2400">
                <a:solidFill>
                  <a:schemeClr val="dk1"/>
                </a:solidFill>
                <a:latin typeface="Quattrocento Sans"/>
                <a:ea typeface="Quattrocento Sans"/>
                <a:cs typeface="Quattrocento Sans"/>
                <a:sym typeface="Quattrocento Sans"/>
              </a:rPr>
              <a:t> </a:t>
            </a:r>
            <a:r>
              <a:rPr lang="en-GB" sz="1800">
                <a:solidFill>
                  <a:schemeClr val="dk1"/>
                </a:solidFill>
                <a:latin typeface="Quattrocento Sans"/>
                <a:ea typeface="Quattrocento Sans"/>
                <a:cs typeface="Quattrocento Sans"/>
                <a:sym typeface="Quattrocento Sans"/>
              </a:rPr>
              <a:t>Can Also pass in values via arguments</a:t>
            </a:r>
            <a:endParaRPr err="1">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class Car </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public string </a:t>
            </a:r>
            <a:r>
              <a:rPr lang="en-GB" sz="1800" err="1">
                <a:solidFill>
                  <a:schemeClr val="dk1"/>
                </a:solidFill>
                <a:latin typeface="Quattrocento Sans"/>
                <a:ea typeface="Quattrocento Sans"/>
                <a:cs typeface="Quattrocento Sans"/>
                <a:sym typeface="Quattrocento Sans"/>
              </a:rPr>
              <a:t>color</a:t>
            </a:r>
            <a:r>
              <a:rPr lang="en-GB" sz="1800">
                <a:solidFill>
                  <a:schemeClr val="dk1"/>
                </a:solidFill>
                <a:latin typeface="Quattrocento Sans"/>
                <a:ea typeface="Quattrocento Sans"/>
                <a:cs typeface="Quattrocento Sans"/>
                <a:sym typeface="Quattrocento Sans"/>
              </a:rPr>
              <a:t>; //Field </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//Constructor - Used to initialize the Class 	</a:t>
            </a:r>
            <a:endParaRPr>
              <a:solidFill>
                <a:schemeClr val="dk1"/>
              </a:solidFill>
            </a:endParaRPr>
          </a:p>
          <a:p>
            <a:pPr marL="0" marR="0" lvl="0" indent="0" algn="l" rtl="0">
              <a:spcBef>
                <a:spcPts val="0"/>
              </a:spcBef>
              <a:spcAft>
                <a:spcPts val="0"/>
              </a:spcAft>
              <a:buNone/>
            </a:pPr>
            <a:r>
              <a:rPr lang="en-GB" sz="1800">
                <a:solidFill>
                  <a:srgbClr val="00B0F0"/>
                </a:solidFill>
                <a:latin typeface="Quattrocento Sans"/>
                <a:ea typeface="Quattrocento Sans"/>
                <a:cs typeface="Quattrocento Sans"/>
                <a:sym typeface="Quattrocento Sans"/>
              </a:rPr>
              <a:t>	public Car(string </a:t>
            </a:r>
            <a:r>
              <a:rPr lang="en-GB" sz="1800" err="1">
                <a:solidFill>
                  <a:srgbClr val="00B0F0"/>
                </a:solidFill>
                <a:latin typeface="Quattrocento Sans"/>
                <a:ea typeface="Quattrocento Sans"/>
                <a:cs typeface="Quattrocento Sans"/>
                <a:sym typeface="Quattrocento Sans"/>
              </a:rPr>
              <a:t>initColor</a:t>
            </a:r>
            <a:r>
              <a:rPr lang="en-GB" sz="1800">
                <a:solidFill>
                  <a:srgbClr val="00B0F0"/>
                </a:solidFill>
                <a:latin typeface="Quattrocento Sans"/>
                <a:ea typeface="Quattrocento Sans"/>
                <a:cs typeface="Quattrocento Sans"/>
                <a:sym typeface="Quattrocento Sans"/>
              </a:rPr>
              <a:t>) </a:t>
            </a:r>
            <a:endParaRPr>
              <a:solidFill>
                <a:srgbClr val="00B0F0"/>
              </a:solidFill>
            </a:endParaRPr>
          </a:p>
          <a:p>
            <a:pPr marL="0" marR="0" lvl="0" indent="0" algn="l" rtl="0">
              <a:spcBef>
                <a:spcPts val="0"/>
              </a:spcBef>
              <a:spcAft>
                <a:spcPts val="0"/>
              </a:spcAft>
              <a:buNone/>
            </a:pPr>
            <a:r>
              <a:rPr lang="en-GB" sz="1800">
                <a:solidFill>
                  <a:srgbClr val="00B0F0"/>
                </a:solidFill>
                <a:latin typeface="Quattrocento Sans"/>
                <a:ea typeface="Quattrocento Sans"/>
                <a:cs typeface="Quattrocento Sans"/>
                <a:sym typeface="Quattrocento Sans"/>
              </a:rPr>
              <a:t>	{</a:t>
            </a:r>
            <a:endParaRPr>
              <a:solidFill>
                <a:srgbClr val="00B0F0"/>
              </a:solidFill>
            </a:endParaRPr>
          </a:p>
          <a:p>
            <a:pPr marL="0" marR="0" lvl="0" indent="0" algn="l" rtl="0">
              <a:spcBef>
                <a:spcPts val="0"/>
              </a:spcBef>
              <a:spcAft>
                <a:spcPts val="0"/>
              </a:spcAft>
              <a:buNone/>
            </a:pPr>
            <a:r>
              <a:rPr lang="en-GB" sz="1800">
                <a:solidFill>
                  <a:srgbClr val="00B0F0"/>
                </a:solidFill>
                <a:latin typeface="Quattrocento Sans"/>
                <a:ea typeface="Quattrocento Sans"/>
                <a:cs typeface="Quattrocento Sans"/>
                <a:sym typeface="Quattrocento Sans"/>
              </a:rPr>
              <a:t>		</a:t>
            </a:r>
            <a:r>
              <a:rPr lang="en-GB" sz="1800" err="1">
                <a:solidFill>
                  <a:srgbClr val="00B0F0"/>
                </a:solidFill>
                <a:latin typeface="Quattrocento Sans"/>
                <a:ea typeface="Quattrocento Sans"/>
                <a:cs typeface="Quattrocento Sans"/>
                <a:sym typeface="Quattrocento Sans"/>
              </a:rPr>
              <a:t>color</a:t>
            </a:r>
            <a:r>
              <a:rPr lang="en-GB" sz="1800">
                <a:solidFill>
                  <a:srgbClr val="00B0F0"/>
                </a:solidFill>
                <a:latin typeface="Quattrocento Sans"/>
                <a:ea typeface="Quattrocento Sans"/>
                <a:cs typeface="Quattrocento Sans"/>
                <a:sym typeface="Quattrocento Sans"/>
              </a:rPr>
              <a:t>= </a:t>
            </a:r>
            <a:r>
              <a:rPr lang="en-GB" sz="1800" err="1">
                <a:solidFill>
                  <a:srgbClr val="00B0F0"/>
                </a:solidFill>
                <a:latin typeface="Quattrocento Sans"/>
                <a:ea typeface="Quattrocento Sans"/>
                <a:cs typeface="Quattrocento Sans"/>
                <a:sym typeface="Quattrocento Sans"/>
              </a:rPr>
              <a:t>initColor</a:t>
            </a:r>
            <a:r>
              <a:rPr lang="en-GB" sz="1800">
                <a:solidFill>
                  <a:srgbClr val="00B0F0"/>
                </a:solidFill>
                <a:latin typeface="Quattrocento Sans"/>
                <a:ea typeface="Quattrocento Sans"/>
                <a:cs typeface="Quattrocento Sans"/>
                <a:sym typeface="Quattrocento Sans"/>
              </a:rPr>
              <a:t>;</a:t>
            </a:r>
            <a:endParaRPr>
              <a:solidFill>
                <a:srgbClr val="00B0F0"/>
              </a:solidFill>
            </a:endParaRPr>
          </a:p>
          <a:p>
            <a:pPr marL="0" marR="0" lvl="0" indent="0" algn="l" rtl="0">
              <a:spcBef>
                <a:spcPts val="0"/>
              </a:spcBef>
              <a:spcAft>
                <a:spcPts val="0"/>
              </a:spcAft>
              <a:buNone/>
            </a:pPr>
            <a:r>
              <a:rPr lang="en-GB" sz="1800">
                <a:solidFill>
                  <a:srgbClr val="00B0F0"/>
                </a:solidFill>
                <a:latin typeface="Quattrocento Sans"/>
                <a:ea typeface="Quattrocento Sans"/>
                <a:cs typeface="Quattrocento Sans"/>
                <a:sym typeface="Quattrocento Sans"/>
              </a:rPr>
              <a:t>	}</a:t>
            </a:r>
            <a:endParaRPr>
              <a:solidFill>
                <a:srgbClr val="00B0F0"/>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//Method</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public void </a:t>
            </a:r>
            <a:r>
              <a:rPr lang="en-GB" sz="1800" err="1">
                <a:solidFill>
                  <a:schemeClr val="dk1"/>
                </a:solidFill>
                <a:latin typeface="Quattrocento Sans"/>
                <a:ea typeface="Quattrocento Sans"/>
                <a:cs typeface="Quattrocento Sans"/>
                <a:sym typeface="Quattrocento Sans"/>
              </a:rPr>
              <a:t>ShowCarColor</a:t>
            </a:r>
            <a:r>
              <a:rPr lang="en-GB" sz="1800">
                <a:solidFill>
                  <a:schemeClr val="dk1"/>
                </a:solidFill>
                <a:latin typeface="Quattrocento Sans"/>
                <a:ea typeface="Quattrocento Sans"/>
                <a:cs typeface="Quattrocento Sans"/>
                <a:sym typeface="Quattrocento Sans"/>
              </a:rPr>
              <a:t>() </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r>
              <a:rPr lang="en-GB" sz="1800" err="1">
                <a:solidFill>
                  <a:schemeClr val="dk1"/>
                </a:solidFill>
                <a:latin typeface="Quattrocento Sans"/>
                <a:ea typeface="Quattrocento Sans"/>
                <a:cs typeface="Quattrocento Sans"/>
                <a:sym typeface="Quattrocento Sans"/>
              </a:rPr>
              <a:t>MessageBox.Show</a:t>
            </a:r>
            <a:r>
              <a:rPr lang="en-GB" sz="1800">
                <a:solidFill>
                  <a:schemeClr val="dk1"/>
                </a:solidFill>
                <a:latin typeface="Quattrocento Sans"/>
                <a:ea typeface="Quattrocento Sans"/>
                <a:cs typeface="Quattrocento Sans"/>
                <a:sym typeface="Quattrocento Sans"/>
              </a:rPr>
              <a:t>("My Car is: " + </a:t>
            </a:r>
            <a:r>
              <a:rPr lang="en-GB" sz="1800" err="1">
                <a:solidFill>
                  <a:schemeClr val="dk1"/>
                </a:solidFill>
                <a:latin typeface="Quattrocento Sans"/>
                <a:ea typeface="Quattrocento Sans"/>
                <a:cs typeface="Quattrocento Sans"/>
                <a:sym typeface="Quattrocento Sans"/>
              </a:rPr>
              <a:t>color</a:t>
            </a:r>
            <a:r>
              <a:rPr lang="en-GB" sz="1800">
                <a:solidFill>
                  <a:schemeClr val="dk1"/>
                </a:solidFill>
                <a:latin typeface="Quattrocento Sans"/>
                <a:ea typeface="Quattrocento Sans"/>
                <a:cs typeface="Quattrocento Sans"/>
                <a:sym typeface="Quattrocento Sans"/>
              </a:rPr>
              <a:t>); </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279" name="Google Shape;279;p35"/>
          <p:cNvSpPr txBox="1"/>
          <p:nvPr/>
        </p:nvSpPr>
        <p:spPr>
          <a:xfrm>
            <a:off x="609600" y="1412777"/>
            <a:ext cx="10970445" cy="510905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Quattrocento Sans"/>
                <a:ea typeface="Quattrocento Sans"/>
                <a:cs typeface="Quattrocento Sans"/>
                <a:sym typeface="Quattrocento Sans"/>
              </a:rPr>
              <a:t>Working Outside Unity (C# and OOP Concepts)</a:t>
            </a:r>
            <a:endParaRPr dirty="0"/>
          </a:p>
          <a:p>
            <a:pPr marL="0" marR="0" lvl="0" indent="0" algn="l" rtl="0">
              <a:spcBef>
                <a:spcPts val="0"/>
              </a:spcBef>
              <a:spcAft>
                <a:spcPts val="0"/>
              </a:spcAft>
              <a:buNone/>
            </a:pPr>
            <a:r>
              <a:rPr lang="en-GB" sz="1400" i="1" dirty="0">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dirty="0"/>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dirty="0">
                <a:solidFill>
                  <a:srgbClr val="FFFF00"/>
                </a:solidFill>
                <a:latin typeface="Quattrocento Sans"/>
                <a:ea typeface="Quattrocento Sans"/>
                <a:cs typeface="Quattrocento Sans"/>
                <a:sym typeface="Quattrocento Sans"/>
              </a:rPr>
              <a:t>Constructor:</a:t>
            </a:r>
            <a:endParaRPr sz="2400" dirty="0">
              <a:solidFill>
                <a:schemeClr val="dk1"/>
              </a:solidFill>
              <a:latin typeface="Quattrocento Sans"/>
              <a:ea typeface="Quattrocento Sans"/>
              <a:cs typeface="Quattrocento Sans"/>
              <a:sym typeface="Quattrocento Sans"/>
            </a:endParaRPr>
          </a:p>
          <a:p>
            <a:r>
              <a:rPr lang="en-GB" sz="2400" dirty="0">
                <a:solidFill>
                  <a:schemeClr val="dk1"/>
                </a:solidFill>
                <a:latin typeface="Quattrocento Sans"/>
                <a:ea typeface="Quattrocento Sans"/>
                <a:cs typeface="Quattrocento Sans"/>
                <a:sym typeface="Quattrocento Sans"/>
              </a:rPr>
              <a:t>New feature: Initialize an object without a Constructor: </a:t>
            </a:r>
            <a:endParaRPr lang="en-GB" dirty="0">
              <a:solidFill>
                <a:schemeClr val="dk1"/>
              </a:solidFill>
              <a:ea typeface="Quattrocento Sans"/>
              <a:sym typeface="Quattrocento Sans"/>
            </a:endParaRPr>
          </a:p>
          <a:p>
            <a:endParaRPr lang="en-GB" sz="24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400" dirty="0">
                <a:solidFill>
                  <a:schemeClr val="dk1"/>
                </a:solidFill>
                <a:latin typeface="Quattrocento Sans"/>
                <a:ea typeface="Quattrocento Sans"/>
                <a:cs typeface="Quattrocento Sans"/>
                <a:sym typeface="Quattrocento Sans"/>
              </a:rPr>
              <a:t>In C# 4.0 - can do the following: </a:t>
            </a:r>
            <a:endParaRPr dirty="0">
              <a:solidFill>
                <a:schemeClr val="dk1"/>
              </a:solidFill>
            </a:endParaRPr>
          </a:p>
          <a:p>
            <a:r>
              <a:rPr lang="en-GB" sz="2400" dirty="0">
                <a:solidFill>
                  <a:schemeClr val="dk1"/>
                </a:solidFill>
                <a:latin typeface="Quattrocento Sans"/>
                <a:ea typeface="Quattrocento Sans"/>
                <a:cs typeface="Quattrocento Sans"/>
                <a:sym typeface="Quattrocento Sans"/>
              </a:rPr>
              <a:t>Define the Class (without any constructor): </a:t>
            </a:r>
            <a:endParaRPr dirty="0">
              <a:solidFill>
                <a:schemeClr val="dk1"/>
              </a:solidFill>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dirty="0">
                <a:solidFill>
                  <a:srgbClr val="FFFF00"/>
                </a:solidFill>
                <a:latin typeface="Quattrocento Sans"/>
                <a:ea typeface="Quattrocento Sans"/>
                <a:cs typeface="Quattrocento Sans"/>
                <a:sym typeface="Quattrocento Sans"/>
              </a:rPr>
              <a:t>Then do the following:</a:t>
            </a:r>
            <a:endParaRPr dirty="0"/>
          </a:p>
          <a:p>
            <a:r>
              <a:rPr lang="en-GB" sz="2400" dirty="0">
                <a:solidFill>
                  <a:srgbClr val="FFFF00"/>
                </a:solidFill>
                <a:latin typeface="Quattrocento Sans"/>
                <a:ea typeface="Quattrocento Sans"/>
                <a:cs typeface="Quattrocento Sans"/>
                <a:sym typeface="Quattrocento Sans"/>
              </a:rPr>
              <a:t>Car </a:t>
            </a:r>
            <a:r>
              <a:rPr lang="en-GB" sz="2400" dirty="0" err="1">
                <a:solidFill>
                  <a:srgbClr val="FFFF00"/>
                </a:solidFill>
                <a:latin typeface="Quattrocento Sans"/>
                <a:ea typeface="Quattrocento Sans"/>
                <a:cs typeface="Quattrocento Sans"/>
                <a:sym typeface="Quattrocento Sans"/>
              </a:rPr>
              <a:t>myCar</a:t>
            </a:r>
            <a:r>
              <a:rPr lang="en-GB" sz="2400" dirty="0">
                <a:solidFill>
                  <a:srgbClr val="FFFF00"/>
                </a:solidFill>
                <a:latin typeface="Quattrocento Sans"/>
                <a:ea typeface="Quattrocento Sans"/>
                <a:cs typeface="Quattrocento Sans"/>
                <a:sym typeface="Quattrocento Sans"/>
              </a:rPr>
              <a:t> = new Car {</a:t>
            </a:r>
            <a:r>
              <a:rPr lang="en-GB" sz="2400" dirty="0" err="1">
                <a:solidFill>
                  <a:srgbClr val="FFFF00"/>
                </a:solidFill>
                <a:latin typeface="Quattrocento Sans"/>
                <a:ea typeface="Quattrocento Sans"/>
                <a:cs typeface="Quattrocento Sans"/>
                <a:sym typeface="Quattrocento Sans"/>
              </a:rPr>
              <a:t>color</a:t>
            </a:r>
            <a:r>
              <a:rPr lang="en-GB" sz="2400" dirty="0">
                <a:solidFill>
                  <a:srgbClr val="FFFF00"/>
                </a:solidFill>
                <a:latin typeface="Quattrocento Sans"/>
                <a:ea typeface="Quattrocento Sans"/>
                <a:cs typeface="Quattrocento Sans"/>
                <a:sym typeface="Quattrocento Sans"/>
              </a:rPr>
              <a:t>="white", model="2004"}; </a:t>
            </a:r>
            <a:endParaRPr dirty="0"/>
          </a:p>
          <a:p>
            <a:r>
              <a:rPr lang="en-GB" sz="2400" dirty="0" err="1">
                <a:solidFill>
                  <a:srgbClr val="FFFF00"/>
                </a:solidFill>
                <a:latin typeface="Quattrocento Sans"/>
                <a:ea typeface="Quattrocento Sans"/>
                <a:cs typeface="Quattrocento Sans"/>
                <a:sym typeface="Quattrocento Sans"/>
              </a:rPr>
              <a:t>myCar.ShowCarColor</a:t>
            </a:r>
            <a:r>
              <a:rPr lang="en-GB" sz="2400" dirty="0">
                <a:solidFill>
                  <a:srgbClr val="FFFF00"/>
                </a:solidFill>
                <a:latin typeface="Quattrocento Sans"/>
                <a:ea typeface="Quattrocento Sans"/>
                <a:cs typeface="Quattrocento Sans"/>
                <a:sym typeface="Quattrocento Sans"/>
              </a:rPr>
              <a:t>(); //We call the Method</a:t>
            </a:r>
            <a:endParaRPr lang="en-GB" dirty="0">
              <a:ea typeface="Quattrocento Sans"/>
            </a:endParaRPr>
          </a:p>
          <a:p>
            <a:r>
              <a:rPr lang="en-GB" sz="1800" dirty="0">
                <a:solidFill>
                  <a:srgbClr val="FF0000"/>
                </a:solidFill>
                <a:latin typeface="Quattrocento Sans"/>
              </a:rPr>
              <a:t>//We set a value for the </a:t>
            </a:r>
            <a:r>
              <a:rPr lang="en-GB" sz="1800" dirty="0" err="1">
                <a:solidFill>
                  <a:srgbClr val="FF0000"/>
                </a:solidFill>
                <a:latin typeface="Quattrocento Sans"/>
              </a:rPr>
              <a:t>color</a:t>
            </a:r>
            <a:r>
              <a:rPr lang="en-GB" sz="1800" dirty="0">
                <a:solidFill>
                  <a:srgbClr val="FF0000"/>
                </a:solidFill>
                <a:latin typeface="Quattrocento Sans"/>
              </a:rPr>
              <a:t> Field </a:t>
            </a:r>
            <a:endParaRPr lang="en-US" sz="1800" dirty="0">
              <a:solidFill>
                <a:srgbClr val="FFFFFF"/>
              </a:solidFill>
              <a:latin typeface="Quattrocento Sans"/>
            </a:endParaRPr>
          </a:p>
          <a:p>
            <a:r>
              <a:rPr lang="en-GB" sz="1800" dirty="0">
                <a:solidFill>
                  <a:srgbClr val="FF0000"/>
                </a:solidFill>
                <a:latin typeface="Quattrocento Sans"/>
              </a:rPr>
              <a:t> </a:t>
            </a:r>
            <a:r>
              <a:rPr lang="en-GB" sz="1800" dirty="0" err="1">
                <a:solidFill>
                  <a:srgbClr val="FF0000"/>
                </a:solidFill>
                <a:latin typeface="Quattrocento Sans"/>
              </a:rPr>
              <a:t>myCar.color</a:t>
            </a:r>
            <a:r>
              <a:rPr lang="en-GB" sz="1800" dirty="0">
                <a:solidFill>
                  <a:srgbClr val="FF0000"/>
                </a:solidFill>
                <a:latin typeface="Quattrocento Sans"/>
              </a:rPr>
              <a:t> = "blue"; </a:t>
            </a:r>
            <a:endParaRPr lang="en-GB" sz="1800" dirty="0">
              <a:solidFill>
                <a:srgbClr val="FFFFFF"/>
              </a:solidFill>
              <a:latin typeface="Quattrocento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Shape 270"/>
        <p:cNvGrpSpPr/>
        <p:nvPr/>
      </p:nvGrpSpPr>
      <p:grpSpPr>
        <a:xfrm>
          <a:off x="0" y="0"/>
          <a:ext cx="0" cy="0"/>
          <a:chOff x="0" y="0"/>
          <a:chExt cx="0" cy="0"/>
        </a:xfrm>
      </p:grpSpPr>
      <p:sp>
        <p:nvSpPr>
          <p:cNvPr id="271" name="Google Shape;271;p3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272" name="Google Shape;272;p34"/>
          <p:cNvSpPr txBox="1"/>
          <p:nvPr/>
        </p:nvSpPr>
        <p:spPr>
          <a:xfrm>
            <a:off x="609600" y="1412776"/>
            <a:ext cx="10970445" cy="55399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Working Outside Unity (C# and OOP Concepts)</a:t>
            </a:r>
            <a:endParaRPr/>
          </a:p>
          <a:p>
            <a:pPr marL="0" marR="0" lvl="0" indent="0" algn="l" rtl="0">
              <a:spcBef>
                <a:spcPts val="0"/>
              </a:spcBef>
              <a:spcAft>
                <a:spcPts val="0"/>
              </a:spcAft>
              <a:buNone/>
            </a:pPr>
            <a:r>
              <a:rPr lang="en-GB" sz="1400" b="1"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endParaRPr lang="en-GB" sz="2400" b="1">
              <a:solidFill>
                <a:srgbClr val="FFFF00"/>
              </a:solidFill>
              <a:latin typeface="Quattrocento Sans"/>
              <a:ea typeface="Quattrocento Sans"/>
              <a:cs typeface="Quattrocento Sans"/>
              <a:sym typeface="Quattrocento Sans"/>
            </a:endParaRPr>
          </a:p>
          <a:p>
            <a:pPr marL="0" marR="0" lvl="0" indent="0" algn="l">
              <a:spcBef>
                <a:spcPts val="0"/>
              </a:spcBef>
              <a:spcAft>
                <a:spcPts val="0"/>
              </a:spcAft>
              <a:buNone/>
            </a:pPr>
            <a:r>
              <a:rPr lang="en-GB" sz="2400" b="1">
                <a:solidFill>
                  <a:srgbClr val="FFFF00"/>
                </a:solidFill>
                <a:latin typeface="Quattrocento Sans"/>
                <a:ea typeface="Quattrocento Sans"/>
                <a:cs typeface="Quattrocento Sans"/>
                <a:sym typeface="Quattrocento Sans"/>
              </a:rPr>
              <a:t>Constructor:</a:t>
            </a:r>
            <a:endParaRPr sz="2400">
              <a:solidFill>
                <a:schemeClr val="dk1"/>
              </a:solidFill>
              <a:latin typeface="Quattrocento Sans"/>
              <a:ea typeface="Quattrocento Sans"/>
              <a:cs typeface="Quattrocento Sans"/>
            </a:endParaRPr>
          </a:p>
          <a:p>
            <a:r>
              <a:rPr lang="en-GB" sz="2400">
                <a:solidFill>
                  <a:schemeClr val="dk1"/>
                </a:solidFill>
                <a:latin typeface="Quattrocento Sans"/>
                <a:ea typeface="Quattrocento Sans"/>
                <a:cs typeface="Quattrocento Sans"/>
                <a:sym typeface="Quattrocento Sans"/>
              </a:rPr>
              <a:t>New feature: Initializing an object without a Constructor: </a:t>
            </a:r>
            <a:endParaRPr lang="en-GB">
              <a:solidFill>
                <a:schemeClr val="dk1"/>
              </a:solidFill>
              <a:ea typeface="Quattrocento Sans"/>
              <a:sym typeface="Quattrocento Sans"/>
            </a:endParaRPr>
          </a:p>
          <a:p>
            <a:pPr marL="0" marR="0" lvl="0" indent="0" algn="l" rtl="0">
              <a:spcBef>
                <a:spcPts val="0"/>
              </a:spcBef>
              <a:spcAft>
                <a:spcPts val="0"/>
              </a:spcAft>
              <a:buNone/>
            </a:pPr>
            <a:r>
              <a:rPr lang="en-GB" sz="1600">
                <a:solidFill>
                  <a:schemeClr val="dk1"/>
                </a:solidFill>
                <a:latin typeface="Quattrocento Sans"/>
                <a:ea typeface="Quattrocento Sans"/>
                <a:cs typeface="Quattrocento Sans"/>
                <a:sym typeface="Quattrocento Sans"/>
              </a:rPr>
              <a:t>class Car </a:t>
            </a:r>
            <a:endParaRPr>
              <a:solidFill>
                <a:schemeClr val="dk1"/>
              </a:solidFill>
            </a:endParaRPr>
          </a:p>
          <a:p>
            <a:pPr marL="0" marR="0" lvl="0" indent="0" algn="l" rtl="0">
              <a:spcBef>
                <a:spcPts val="0"/>
              </a:spcBef>
              <a:spcAft>
                <a:spcPts val="0"/>
              </a:spcAft>
              <a:buNone/>
            </a:pPr>
            <a:r>
              <a:rPr lang="en-GB" sz="1600">
                <a:solidFill>
                  <a:schemeClr val="dk1"/>
                </a:solidFill>
                <a:latin typeface="Quattrocento Sans"/>
                <a:ea typeface="Quattrocento Sans"/>
                <a:cs typeface="Quattrocento Sans"/>
                <a:sym typeface="Quattrocento Sans"/>
              </a:rPr>
              <a:t>{</a:t>
            </a:r>
            <a:endParaRPr>
              <a:solidFill>
                <a:schemeClr val="dk1"/>
              </a:solidFill>
            </a:endParaRPr>
          </a:p>
          <a:p>
            <a:r>
              <a:rPr lang="en-GB" sz="1600">
                <a:solidFill>
                  <a:schemeClr val="dk1"/>
                </a:solidFill>
                <a:latin typeface="Quattrocento Sans"/>
                <a:ea typeface="Quattrocento Sans"/>
                <a:cs typeface="Quattrocento Sans"/>
                <a:sym typeface="Quattrocento Sans"/>
              </a:rPr>
              <a:t>	public string </a:t>
            </a:r>
            <a:r>
              <a:rPr lang="en-GB" sz="1600" err="1">
                <a:solidFill>
                  <a:schemeClr val="dk1"/>
                </a:solidFill>
                <a:latin typeface="Quattrocento Sans"/>
                <a:ea typeface="Quattrocento Sans"/>
                <a:cs typeface="Quattrocento Sans"/>
                <a:sym typeface="Quattrocento Sans"/>
              </a:rPr>
              <a:t>color</a:t>
            </a:r>
            <a:r>
              <a:rPr lang="en-GB" sz="1600">
                <a:solidFill>
                  <a:schemeClr val="dk1"/>
                </a:solidFill>
                <a:latin typeface="Quattrocento Sans"/>
                <a:ea typeface="Quattrocento Sans"/>
                <a:cs typeface="Quattrocento Sans"/>
                <a:sym typeface="Quattrocento Sans"/>
              </a:rPr>
              <a:t>; //Field </a:t>
            </a:r>
            <a:endParaRPr>
              <a:solidFill>
                <a:schemeClr val="dk1"/>
              </a:solidFill>
            </a:endParaRPr>
          </a:p>
          <a:p>
            <a:r>
              <a:rPr lang="en-GB" sz="1600">
                <a:solidFill>
                  <a:schemeClr val="dk1"/>
                </a:solidFill>
                <a:latin typeface="Quattrocento Sans"/>
                <a:ea typeface="Quattrocento Sans"/>
                <a:cs typeface="Quattrocento Sans"/>
                <a:sym typeface="Quattrocento Sans"/>
              </a:rPr>
              <a:t>	 public string model; //Field </a:t>
            </a:r>
            <a:endParaRPr>
              <a:solidFill>
                <a:schemeClr val="dk1"/>
              </a:solidFill>
            </a:endParaRPr>
          </a:p>
          <a:p>
            <a:pPr marL="0" marR="0" lvl="0" indent="0" algn="l" rtl="0">
              <a:spcBef>
                <a:spcPts val="0"/>
              </a:spcBef>
              <a:spcAft>
                <a:spcPts val="0"/>
              </a:spcAft>
              <a:buNone/>
            </a:pPr>
            <a:endParaRPr sz="16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600">
                <a:solidFill>
                  <a:schemeClr val="dk1"/>
                </a:solidFill>
                <a:latin typeface="Quattrocento Sans"/>
                <a:ea typeface="Quattrocento Sans"/>
                <a:cs typeface="Quattrocento Sans"/>
                <a:sym typeface="Quattrocento Sans"/>
              </a:rPr>
              <a:t>	//Method</a:t>
            </a:r>
            <a:endParaRPr>
              <a:solidFill>
                <a:schemeClr val="dk1"/>
              </a:solidFill>
            </a:endParaRPr>
          </a:p>
          <a:p>
            <a:r>
              <a:rPr lang="en-GB" sz="1600">
                <a:solidFill>
                  <a:schemeClr val="dk1"/>
                </a:solidFill>
                <a:latin typeface="Quattrocento Sans"/>
                <a:ea typeface="Quattrocento Sans"/>
                <a:cs typeface="Quattrocento Sans"/>
                <a:sym typeface="Quattrocento Sans"/>
              </a:rPr>
              <a:t>	public void </a:t>
            </a:r>
            <a:r>
              <a:rPr lang="en-GB" sz="1600" err="1">
                <a:solidFill>
                  <a:schemeClr val="dk1"/>
                </a:solidFill>
                <a:latin typeface="Quattrocento Sans"/>
                <a:ea typeface="Quattrocento Sans"/>
                <a:cs typeface="Quattrocento Sans"/>
                <a:sym typeface="Quattrocento Sans"/>
              </a:rPr>
              <a:t>ShowCarColor</a:t>
            </a:r>
            <a:r>
              <a:rPr lang="en-GB" sz="1600">
                <a:solidFill>
                  <a:schemeClr val="dk1"/>
                </a:solidFill>
                <a:latin typeface="Quattrocento Sans"/>
                <a:ea typeface="Quattrocento Sans"/>
                <a:cs typeface="Quattrocento Sans"/>
                <a:sym typeface="Quattrocento Sans"/>
              </a:rPr>
              <a:t>() </a:t>
            </a:r>
            <a:endParaRPr>
              <a:solidFill>
                <a:schemeClr val="dk1"/>
              </a:solidFill>
            </a:endParaRPr>
          </a:p>
          <a:p>
            <a:pPr marL="0" marR="0" lvl="0" indent="0" algn="l" rtl="0">
              <a:spcBef>
                <a:spcPts val="0"/>
              </a:spcBef>
              <a:spcAft>
                <a:spcPts val="0"/>
              </a:spcAft>
              <a:buNone/>
            </a:pPr>
            <a:r>
              <a:rPr lang="en-GB" sz="1600">
                <a:solidFill>
                  <a:schemeClr val="dk1"/>
                </a:solidFill>
                <a:latin typeface="Quattrocento Sans"/>
                <a:ea typeface="Quattrocento Sans"/>
                <a:cs typeface="Quattrocento Sans"/>
                <a:sym typeface="Quattrocento Sans"/>
              </a:rPr>
              <a:t>	{</a:t>
            </a:r>
            <a:endParaRPr>
              <a:solidFill>
                <a:schemeClr val="dk1"/>
              </a:solidFill>
            </a:endParaRPr>
          </a:p>
          <a:p>
            <a:r>
              <a:rPr lang="en-GB" sz="1600">
                <a:solidFill>
                  <a:schemeClr val="dk1"/>
                </a:solidFill>
                <a:latin typeface="Quattrocento Sans"/>
                <a:ea typeface="Quattrocento Sans"/>
                <a:cs typeface="Quattrocento Sans"/>
                <a:sym typeface="Quattrocento Sans"/>
              </a:rPr>
              <a:t> 		</a:t>
            </a:r>
            <a:r>
              <a:rPr lang="en-GB" sz="1600" err="1">
                <a:solidFill>
                  <a:schemeClr val="dk1"/>
                </a:solidFill>
                <a:latin typeface="Quattrocento Sans"/>
                <a:ea typeface="Quattrocento Sans"/>
                <a:cs typeface="Quattrocento Sans"/>
                <a:sym typeface="Quattrocento Sans"/>
              </a:rPr>
              <a:t>MessageBox.Show</a:t>
            </a:r>
            <a:r>
              <a:rPr lang="en-GB" sz="1600">
                <a:solidFill>
                  <a:schemeClr val="dk1"/>
                </a:solidFill>
                <a:latin typeface="Quattrocento Sans"/>
                <a:ea typeface="Quattrocento Sans"/>
                <a:cs typeface="Quattrocento Sans"/>
                <a:sym typeface="Quattrocento Sans"/>
              </a:rPr>
              <a:t>("My Car </a:t>
            </a:r>
            <a:r>
              <a:rPr lang="en-GB" sz="1600" err="1">
                <a:solidFill>
                  <a:schemeClr val="dk1"/>
                </a:solidFill>
                <a:latin typeface="Quattrocento Sans"/>
                <a:ea typeface="Quattrocento Sans"/>
                <a:cs typeface="Quattrocento Sans"/>
                <a:sym typeface="Quattrocento Sans"/>
              </a:rPr>
              <a:t>Color</a:t>
            </a:r>
            <a:r>
              <a:rPr lang="en-GB" sz="1600">
                <a:solidFill>
                  <a:schemeClr val="dk1"/>
                </a:solidFill>
                <a:latin typeface="Quattrocento Sans"/>
                <a:ea typeface="Quattrocento Sans"/>
                <a:cs typeface="Quattrocento Sans"/>
                <a:sym typeface="Quattrocento Sans"/>
              </a:rPr>
              <a:t> is: " + </a:t>
            </a:r>
            <a:r>
              <a:rPr lang="en-GB" sz="1600" err="1">
                <a:solidFill>
                  <a:schemeClr val="dk1"/>
                </a:solidFill>
                <a:latin typeface="Quattrocento Sans"/>
                <a:ea typeface="Quattrocento Sans"/>
                <a:cs typeface="Quattrocento Sans"/>
                <a:sym typeface="Quattrocento Sans"/>
              </a:rPr>
              <a:t>color</a:t>
            </a:r>
            <a:r>
              <a:rPr lang="en-GB" sz="1600">
                <a:solidFill>
                  <a:schemeClr val="dk1"/>
                </a:solidFill>
                <a:latin typeface="Quattrocento Sans"/>
                <a:ea typeface="Quattrocento Sans"/>
                <a:cs typeface="Quattrocento Sans"/>
                <a:sym typeface="Quattrocento Sans"/>
              </a:rPr>
              <a:t>);</a:t>
            </a:r>
            <a:endParaRPr>
              <a:solidFill>
                <a:schemeClr val="dk1"/>
              </a:solidFill>
            </a:endParaRPr>
          </a:p>
          <a:p>
            <a:r>
              <a:rPr lang="en-GB" sz="1600">
                <a:solidFill>
                  <a:schemeClr val="dk1"/>
                </a:solidFill>
                <a:latin typeface="Quattrocento Sans"/>
                <a:ea typeface="Quattrocento Sans"/>
                <a:cs typeface="Quattrocento Sans"/>
                <a:sym typeface="Quattrocento Sans"/>
              </a:rPr>
              <a:t>		</a:t>
            </a:r>
            <a:r>
              <a:rPr lang="en-GB" sz="1600" err="1">
                <a:solidFill>
                  <a:schemeClr val="dk1"/>
                </a:solidFill>
                <a:latin typeface="Quattrocento Sans"/>
                <a:ea typeface="Quattrocento Sans"/>
                <a:cs typeface="Quattrocento Sans"/>
                <a:sym typeface="Quattrocento Sans"/>
              </a:rPr>
              <a:t>MessageBox.Show</a:t>
            </a:r>
            <a:r>
              <a:rPr lang="en-GB" sz="1600">
                <a:solidFill>
                  <a:schemeClr val="dk1"/>
                </a:solidFill>
                <a:latin typeface="Quattrocento Sans"/>
                <a:ea typeface="Quattrocento Sans"/>
                <a:cs typeface="Quattrocento Sans"/>
                <a:sym typeface="Quattrocento Sans"/>
              </a:rPr>
              <a:t>("My Car Model is: " + model); </a:t>
            </a:r>
            <a:endParaRPr>
              <a:solidFill>
                <a:schemeClr val="dk1"/>
              </a:solidFill>
            </a:endParaRPr>
          </a:p>
          <a:p>
            <a:endParaRPr/>
          </a:p>
          <a:p>
            <a:pPr marL="0" marR="0" lvl="0" indent="0" algn="l" rtl="0">
              <a:spcBef>
                <a:spcPts val="0"/>
              </a:spcBef>
              <a:spcAft>
                <a:spcPts val="0"/>
              </a:spcAft>
              <a:buNone/>
            </a:pPr>
            <a:r>
              <a:rPr lang="en-GB" sz="1600">
                <a:solidFill>
                  <a:schemeClr val="dk1"/>
                </a:solidFill>
                <a:latin typeface="Quattrocento Sans"/>
                <a:ea typeface="Quattrocento Sans"/>
                <a:cs typeface="Quattrocento Sans"/>
                <a:sym typeface="Quattrocento Sans"/>
              </a:rPr>
              <a:t>	}</a:t>
            </a:r>
            <a:endParaRPr>
              <a:solidFill>
                <a:schemeClr val="dk1"/>
              </a:solidFill>
            </a:endParaRPr>
          </a:p>
          <a:p>
            <a:pPr marL="0" marR="0" lvl="0" indent="0" algn="l" rtl="0">
              <a:spcBef>
                <a:spcPts val="0"/>
              </a:spcBef>
              <a:spcAft>
                <a:spcPts val="0"/>
              </a:spcAft>
              <a:buNone/>
            </a:pPr>
            <a:r>
              <a:rPr lang="en-GB" sz="1600">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235" name="Google Shape;235;p29"/>
          <p:cNvSpPr txBox="1"/>
          <p:nvPr/>
        </p:nvSpPr>
        <p:spPr>
          <a:xfrm>
            <a:off x="609600" y="1412777"/>
            <a:ext cx="10970445" cy="1415732"/>
          </a:xfrm>
          <a:prstGeom prst="rect">
            <a:avLst/>
          </a:prstGeom>
          <a:noFill/>
          <a:ln>
            <a:noFill/>
          </a:ln>
        </p:spPr>
        <p:txBody>
          <a:bodyPr spcFirstLastPara="1" wrap="square" lIns="91425" tIns="45700" rIns="91425" bIns="45700" anchor="t" anchorCtr="0">
            <a:spAutoFit/>
          </a:bodyPr>
          <a:lstStyle/>
          <a:p>
            <a:r>
              <a:rPr lang="en-GB" sz="3600" b="1">
                <a:solidFill>
                  <a:srgbClr val="FFFF00"/>
                </a:solidFill>
                <a:latin typeface="Quattrocento Sans"/>
                <a:ea typeface="Quattrocento Sans"/>
                <a:cs typeface="Quattrocento Sans"/>
                <a:sym typeface="Quattrocento Sans"/>
              </a:rPr>
              <a:t>Classes and Constructors INSIDE Unity </a:t>
            </a:r>
            <a:endParaRPr lang="en-US">
              <a:ea typeface="Quattrocento Sans"/>
              <a:sym typeface="Quattrocento Sans"/>
            </a:endParaRPr>
          </a:p>
          <a:p>
            <a:r>
              <a:rPr lang="en-GB" sz="3600" b="1">
                <a:solidFill>
                  <a:srgbClr val="FFFF00"/>
                </a:solidFill>
                <a:latin typeface="Quattrocento Sans"/>
                <a:ea typeface="Quattrocento Sans"/>
                <a:cs typeface="Quattrocento Sans"/>
                <a:sym typeface="Quattrocento Sans"/>
              </a:rPr>
              <a:t>(C# and OOP Concepts)</a:t>
            </a:r>
            <a:endParaRPr lang="en-US"/>
          </a:p>
          <a:p>
            <a:pPr marL="0" marR="0" lvl="0" indent="0" algn="l" rtl="0">
              <a:spcBef>
                <a:spcPts val="0"/>
              </a:spcBef>
              <a:spcAft>
                <a:spcPts val="0"/>
              </a:spcAft>
              <a:buNone/>
            </a:pPr>
            <a:endParaRPr lang="en-GB" b="1" i="1">
              <a:solidFill>
                <a:schemeClr val="dk1"/>
              </a:solidFill>
              <a:latin typeface="Quattrocento Sans"/>
              <a:ea typeface="Quattrocento Sans"/>
              <a:cs typeface="Quattrocento Sans"/>
            </a:endParaRPr>
          </a:p>
        </p:txBody>
      </p:sp>
    </p:spTree>
    <p:extLst>
      <p:ext uri="{BB962C8B-B14F-4D97-AF65-F5344CB8AC3E}">
        <p14:creationId xmlns:p14="http://schemas.microsoft.com/office/powerpoint/2010/main" val="8119324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Shape 284"/>
        <p:cNvGrpSpPr/>
        <p:nvPr/>
      </p:nvGrpSpPr>
      <p:grpSpPr>
        <a:xfrm>
          <a:off x="0" y="0"/>
          <a:ext cx="0" cy="0"/>
          <a:chOff x="0" y="0"/>
          <a:chExt cx="0" cy="0"/>
        </a:xfrm>
      </p:grpSpPr>
      <p:sp>
        <p:nvSpPr>
          <p:cNvPr id="285" name="Google Shape;285;p36"/>
          <p:cNvSpPr txBox="1"/>
          <p:nvPr/>
        </p:nvSpPr>
        <p:spPr>
          <a:xfrm>
            <a:off x="609600" y="1412776"/>
            <a:ext cx="11471728" cy="566304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Unity (C#) (</a:t>
            </a:r>
            <a:r>
              <a:rPr lang="en-GB" sz="3600" err="1">
                <a:solidFill>
                  <a:srgbClr val="FFFF00"/>
                </a:solidFill>
                <a:latin typeface="Quattrocento Sans"/>
                <a:ea typeface="Quattrocento Sans"/>
                <a:cs typeface="Quattrocento Sans"/>
                <a:sym typeface="Quattrocento Sans"/>
              </a:rPr>
              <a:t>GameObjects</a:t>
            </a:r>
            <a:r>
              <a:rPr lang="en-GB" sz="3600">
                <a:solidFill>
                  <a:srgbClr val="FFFF00"/>
                </a:solidFill>
                <a:latin typeface="Quattrocento Sans"/>
                <a:ea typeface="Quattrocento Sans"/>
                <a:cs typeface="Quattrocento Sans"/>
                <a:sym typeface="Quattrocento Sans"/>
              </a:rPr>
              <a:t>)</a:t>
            </a:r>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400" err="1">
                <a:solidFill>
                  <a:srgbClr val="FFFF00"/>
                </a:solidFill>
                <a:latin typeface="Quattrocento Sans"/>
                <a:ea typeface="Quattrocento Sans"/>
                <a:cs typeface="Quattrocento Sans"/>
                <a:sym typeface="Quattrocento Sans"/>
              </a:rPr>
              <a:t>GameObjects</a:t>
            </a:r>
            <a:r>
              <a:rPr lang="en-GB" sz="2400">
                <a:solidFill>
                  <a:srgbClr val="FFFF00"/>
                </a:solidFill>
                <a:latin typeface="Quattrocento Sans"/>
                <a:ea typeface="Quattrocento Sans"/>
                <a:cs typeface="Quattrocento Sans"/>
                <a:sym typeface="Quattrocento Sans"/>
              </a:rPr>
              <a:t> </a:t>
            </a:r>
            <a:r>
              <a:rPr lang="en-GB" sz="2400" i="1">
                <a:solidFill>
                  <a:schemeClr val="dk1"/>
                </a:solidFill>
                <a:latin typeface="Quattrocento Sans"/>
                <a:ea typeface="Quattrocento Sans"/>
                <a:cs typeface="Quattrocento Sans"/>
                <a:sym typeface="Quattrocento Sans"/>
              </a:rPr>
              <a:t>are the fundamental objects in Unity that represent characters, props, and </a:t>
            </a:r>
            <a:r>
              <a:rPr lang="en-GB" sz="2400" i="1" err="1">
                <a:solidFill>
                  <a:schemeClr val="dk1"/>
                </a:solidFill>
                <a:latin typeface="Quattrocento Sans"/>
                <a:ea typeface="Quattrocento Sans"/>
                <a:cs typeface="Quattrocento Sans"/>
                <a:sym typeface="Quattrocento Sans"/>
              </a:rPr>
              <a:t>scenery.They</a:t>
            </a:r>
            <a:r>
              <a:rPr lang="en-GB" sz="2400" i="1">
                <a:solidFill>
                  <a:schemeClr val="dk1"/>
                </a:solidFill>
                <a:latin typeface="Quattrocento Sans"/>
                <a:ea typeface="Quattrocento Sans"/>
                <a:cs typeface="Quattrocento Sans"/>
                <a:sym typeface="Quattrocento Sans"/>
              </a:rPr>
              <a:t> do not accomplish much in themselves, but they act as containers for Components, which implement the real functionality.</a:t>
            </a:r>
            <a:endParaRPr>
              <a:solidFill>
                <a:schemeClr val="dk1"/>
              </a:solidFill>
            </a:endParaRPr>
          </a:p>
          <a:p>
            <a:pPr marL="0" marR="0" lvl="0" indent="0" algn="l" rtl="0">
              <a:spcBef>
                <a:spcPts val="0"/>
              </a:spcBef>
              <a:spcAft>
                <a:spcPts val="0"/>
              </a:spcAft>
              <a:buNone/>
            </a:pPr>
            <a:endParaRPr sz="2400" i="1">
              <a:solidFill>
                <a:schemeClr val="dk1"/>
              </a:solidFill>
              <a:latin typeface="Quattrocento Sans"/>
              <a:ea typeface="Quattrocento Sans"/>
              <a:cs typeface="Quattrocento Sans"/>
            </a:endParaRPr>
          </a:p>
          <a:p>
            <a:r>
              <a:rPr lang="en-GB" sz="2400" i="1">
                <a:solidFill>
                  <a:srgbClr val="FF0000"/>
                </a:solidFill>
                <a:latin typeface="Quattrocento Sans"/>
                <a:ea typeface="Quattrocento Sans"/>
                <a:cs typeface="Quattrocento Sans"/>
                <a:sym typeface="Quattrocento Sans"/>
              </a:rPr>
              <a:t>In comparison to basic C#, the </a:t>
            </a:r>
            <a:r>
              <a:rPr lang="en-GB" sz="2400" i="1" err="1">
                <a:solidFill>
                  <a:srgbClr val="FF0000"/>
                </a:solidFill>
                <a:latin typeface="Quattrocento Sans"/>
                <a:ea typeface="Quattrocento Sans"/>
                <a:cs typeface="Quattrocento Sans"/>
                <a:sym typeface="Quattrocento Sans"/>
              </a:rPr>
              <a:t>GameObjects</a:t>
            </a:r>
            <a:r>
              <a:rPr lang="en-GB" sz="2400" i="1">
                <a:solidFill>
                  <a:srgbClr val="FF0000"/>
                </a:solidFill>
                <a:latin typeface="Quattrocento Sans"/>
                <a:ea typeface="Quattrocento Sans"/>
                <a:cs typeface="Quattrocento Sans"/>
                <a:sym typeface="Quattrocento Sans"/>
              </a:rPr>
              <a:t> use Awake or Start instead of Constructors to initialize values. </a:t>
            </a:r>
            <a:endParaRPr lang="en-GB" sz="2400" i="1">
              <a:solidFill>
                <a:srgbClr val="FF0000"/>
              </a:solidFill>
              <a:latin typeface="Quattrocento Sans"/>
            </a:endParaRPr>
          </a:p>
          <a:p>
            <a:endParaRPr lang="en-GB" sz="2400" i="1">
              <a:solidFill>
                <a:srgbClr val="FF0000"/>
              </a:solidFill>
              <a:latin typeface="Quattrocento Sans"/>
              <a:ea typeface="Quattrocento Sans"/>
              <a:cs typeface="Quattrocento Sans"/>
            </a:endParaRPr>
          </a:p>
          <a:p>
            <a:r>
              <a:rPr lang="en-GB" sz="2400" i="1">
                <a:solidFill>
                  <a:srgbClr val="FF0000"/>
                </a:solidFill>
                <a:latin typeface="Quattrocento Sans"/>
                <a:ea typeface="Quattrocento Sans"/>
                <a:cs typeface="Quattrocento Sans"/>
              </a:rPr>
              <a:t>Unity invokes the Constructor either by the script being attached to an active game object, or at runtime by the Instantiate command on a prefab or inactive </a:t>
            </a:r>
            <a:r>
              <a:rPr lang="en-GB" sz="2400" i="1" err="1">
                <a:solidFill>
                  <a:srgbClr val="FF0000"/>
                </a:solidFill>
                <a:latin typeface="Quattrocento Sans"/>
                <a:ea typeface="Quattrocento Sans"/>
                <a:cs typeface="Quattrocento Sans"/>
              </a:rPr>
              <a:t>GameObject</a:t>
            </a:r>
            <a:r>
              <a:rPr lang="en-GB" sz="2400" i="1">
                <a:solidFill>
                  <a:srgbClr val="FF0000"/>
                </a:solidFill>
                <a:latin typeface="Quattrocento Sans"/>
                <a:ea typeface="Quattrocento Sans"/>
                <a:cs typeface="Quattrocento Sans"/>
              </a:rPr>
              <a:t>.</a:t>
            </a:r>
            <a:br>
              <a:rPr lang="en-GB" sz="2400" i="1">
                <a:solidFill>
                  <a:srgbClr val="FFFF00"/>
                </a:solidFill>
                <a:latin typeface="Quattrocento Sans"/>
                <a:ea typeface="Quattrocento Sans"/>
                <a:cs typeface="Quattrocento Sans"/>
              </a:rPr>
            </a:br>
            <a:r>
              <a:rPr lang="en-GB" sz="1800" i="1" u="sng">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http://answers.unity3d.com/questions/32413/using-constructors-in-unity-c.html</a:t>
            </a:r>
            <a:endParaRPr sz="1800" i="1">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i="1">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286" name="Google Shape;286;p3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6"/>
          <p:cNvSpPr txBox="1"/>
          <p:nvPr/>
        </p:nvSpPr>
        <p:spPr>
          <a:xfrm>
            <a:off x="609600" y="1412776"/>
            <a:ext cx="11471728" cy="60323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Unity (C#) (</a:t>
            </a:r>
            <a:r>
              <a:rPr lang="en-GB" sz="3600" err="1">
                <a:solidFill>
                  <a:srgbClr val="FFFF00"/>
                </a:solidFill>
                <a:latin typeface="Quattrocento Sans"/>
                <a:ea typeface="Quattrocento Sans"/>
                <a:cs typeface="Quattrocento Sans"/>
                <a:sym typeface="Quattrocento Sans"/>
              </a:rPr>
              <a:t>GameObjects</a:t>
            </a:r>
            <a:r>
              <a:rPr lang="en-GB" sz="3600">
                <a:solidFill>
                  <a:srgbClr val="FFFF00"/>
                </a:solidFill>
                <a:latin typeface="Quattrocento Sans"/>
                <a:ea typeface="Quattrocento Sans"/>
                <a:cs typeface="Quattrocento Sans"/>
                <a:sym typeface="Quattrocento Sans"/>
              </a:rPr>
              <a:t>)</a:t>
            </a:r>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endParaRPr>
          </a:p>
          <a:p>
            <a:r>
              <a:rPr lang="en-GB" sz="2400" err="1">
                <a:solidFill>
                  <a:srgbClr val="FFFF00"/>
                </a:solidFill>
                <a:latin typeface="Quattrocento Sans"/>
                <a:ea typeface="Quattrocento Sans"/>
                <a:cs typeface="Quattrocento Sans"/>
                <a:sym typeface="Quattrocento Sans"/>
              </a:rPr>
              <a:t>GameObjects</a:t>
            </a:r>
            <a:r>
              <a:rPr lang="en-GB" sz="2400">
                <a:solidFill>
                  <a:srgbClr val="FFFF00"/>
                </a:solidFill>
                <a:latin typeface="Quattrocento Sans"/>
                <a:ea typeface="Quattrocento Sans"/>
                <a:cs typeface="Quattrocento Sans"/>
                <a:sym typeface="Quattrocento Sans"/>
              </a:rPr>
              <a:t> </a:t>
            </a:r>
            <a:r>
              <a:rPr lang="en-GB" sz="2400" i="1">
                <a:solidFill>
                  <a:schemeClr val="dk1"/>
                </a:solidFill>
                <a:latin typeface="Quattrocento Sans"/>
                <a:ea typeface="Quattrocento Sans"/>
                <a:cs typeface="Quattrocento Sans"/>
                <a:sym typeface="Quattrocento Sans"/>
              </a:rPr>
              <a:t>are the fundamental objects in Unity that represent characters, props, and </a:t>
            </a:r>
            <a:r>
              <a:rPr lang="en-GB" sz="2400" i="1" err="1">
                <a:solidFill>
                  <a:schemeClr val="dk1"/>
                </a:solidFill>
                <a:latin typeface="Quattrocento Sans"/>
                <a:ea typeface="Quattrocento Sans"/>
                <a:cs typeface="Quattrocento Sans"/>
                <a:sym typeface="Quattrocento Sans"/>
              </a:rPr>
              <a:t>scenery.They</a:t>
            </a:r>
            <a:r>
              <a:rPr lang="en-GB" sz="2400" i="1">
                <a:solidFill>
                  <a:schemeClr val="dk1"/>
                </a:solidFill>
                <a:latin typeface="Quattrocento Sans"/>
                <a:ea typeface="Quattrocento Sans"/>
                <a:cs typeface="Quattrocento Sans"/>
                <a:sym typeface="Quattrocento Sans"/>
              </a:rPr>
              <a:t> do not accomplish much in themselves, but they act as containers for Components (Scripts), which implement the real functionality.</a:t>
            </a:r>
            <a:endParaRPr>
              <a:solidFill>
                <a:schemeClr val="dk1"/>
              </a:solidFill>
            </a:endParaRPr>
          </a:p>
          <a:p>
            <a:pPr marL="0" marR="0" lvl="0" indent="0" algn="l" rtl="0">
              <a:spcBef>
                <a:spcPts val="0"/>
              </a:spcBef>
              <a:spcAft>
                <a:spcPts val="0"/>
              </a:spcAft>
              <a:buNone/>
            </a:pPr>
            <a:endParaRPr sz="2400" i="1">
              <a:solidFill>
                <a:schemeClr val="dk1"/>
              </a:solidFill>
              <a:latin typeface="Quattrocento Sans"/>
              <a:ea typeface="Quattrocento Sans"/>
              <a:cs typeface="Quattrocento Sans"/>
            </a:endParaRPr>
          </a:p>
          <a:p>
            <a:r>
              <a:rPr lang="en-GB" sz="2400" i="1">
                <a:solidFill>
                  <a:srgbClr val="00B0F0"/>
                </a:solidFill>
                <a:latin typeface="Quattrocento Sans"/>
                <a:ea typeface="Quattrocento Sans"/>
                <a:cs typeface="Quattrocento Sans"/>
                <a:sym typeface="Quattrocento Sans"/>
              </a:rPr>
              <a:t>In comparison to basic C#, the </a:t>
            </a:r>
            <a:r>
              <a:rPr lang="en-GB" sz="2400" i="1" err="1">
                <a:solidFill>
                  <a:srgbClr val="00B0F0"/>
                </a:solidFill>
                <a:latin typeface="Quattrocento Sans"/>
                <a:ea typeface="Quattrocento Sans"/>
                <a:cs typeface="Quattrocento Sans"/>
                <a:sym typeface="Quattrocento Sans"/>
              </a:rPr>
              <a:t>GameObjects</a:t>
            </a:r>
            <a:r>
              <a:rPr lang="en-GB" sz="2400" i="1">
                <a:solidFill>
                  <a:srgbClr val="00B0F0"/>
                </a:solidFill>
                <a:latin typeface="Quattrocento Sans"/>
                <a:ea typeface="Quattrocento Sans"/>
                <a:cs typeface="Quattrocento Sans"/>
                <a:sym typeface="Quattrocento Sans"/>
              </a:rPr>
              <a:t> host scripts that are derived from </a:t>
            </a:r>
            <a:r>
              <a:rPr lang="en-GB" sz="2400" i="1" err="1">
                <a:solidFill>
                  <a:srgbClr val="00B0F0"/>
                </a:solidFill>
                <a:latin typeface="Quattrocento Sans"/>
                <a:ea typeface="Quattrocento Sans"/>
                <a:cs typeface="Quattrocento Sans"/>
                <a:sym typeface="Quattrocento Sans"/>
              </a:rPr>
              <a:t>monobehaviour</a:t>
            </a:r>
            <a:r>
              <a:rPr lang="en-GB" sz="2400" i="1">
                <a:solidFill>
                  <a:srgbClr val="00B0F0"/>
                </a:solidFill>
                <a:latin typeface="Quattrocento Sans"/>
                <a:ea typeface="Quattrocento Sans"/>
                <a:cs typeface="Quattrocento Sans"/>
                <a:sym typeface="Quattrocento Sans"/>
              </a:rPr>
              <a:t> classes. These scripts are the Unity classes. the </a:t>
            </a:r>
            <a:r>
              <a:rPr lang="en-GB" sz="2400" i="1" err="1">
                <a:solidFill>
                  <a:srgbClr val="00B0F0"/>
                </a:solidFill>
                <a:latin typeface="Quattrocento Sans"/>
                <a:ea typeface="Quattrocento Sans"/>
                <a:cs typeface="Quattrocento Sans"/>
                <a:sym typeface="Quattrocento Sans"/>
              </a:rPr>
              <a:t>GameObjects</a:t>
            </a:r>
            <a:r>
              <a:rPr lang="en-GB" sz="2400" i="1">
                <a:solidFill>
                  <a:srgbClr val="00B0F0"/>
                </a:solidFill>
                <a:latin typeface="Quattrocento Sans"/>
                <a:ea typeface="Quattrocento Sans"/>
                <a:cs typeface="Quattrocento Sans"/>
                <a:sym typeface="Quattrocento Sans"/>
              </a:rPr>
              <a:t> with scripts (classes) use Awake or Start instead of Constructors to initialize values. </a:t>
            </a:r>
            <a:endParaRPr lang="en-GB" sz="2400" i="1">
              <a:solidFill>
                <a:srgbClr val="00B0F0"/>
              </a:solidFill>
              <a:latin typeface="Quattrocento Sans"/>
            </a:endParaRPr>
          </a:p>
          <a:p>
            <a:endParaRPr lang="en-GB" sz="2400" i="1">
              <a:solidFill>
                <a:srgbClr val="00B0F0"/>
              </a:solidFill>
              <a:latin typeface="Quattrocento Sans"/>
              <a:ea typeface="Quattrocento Sans"/>
              <a:cs typeface="Quattrocento Sans"/>
            </a:endParaRPr>
          </a:p>
          <a:p>
            <a:r>
              <a:rPr lang="en-GB" sz="2400" i="1">
                <a:solidFill>
                  <a:srgbClr val="00B0F0"/>
                </a:solidFill>
                <a:latin typeface="Quattrocento Sans"/>
                <a:ea typeface="Quattrocento Sans"/>
                <a:cs typeface="Quattrocento Sans"/>
              </a:rPr>
              <a:t>Unity invokes the Awake or Start either by the script being attached to an active game object, or at runtime by the Instantiate command on a prefab or inactive </a:t>
            </a:r>
            <a:r>
              <a:rPr lang="en-GB" sz="2400" i="1" err="1">
                <a:solidFill>
                  <a:srgbClr val="00B0F0"/>
                </a:solidFill>
                <a:latin typeface="Quattrocento Sans"/>
                <a:ea typeface="Quattrocento Sans"/>
                <a:cs typeface="Quattrocento Sans"/>
              </a:rPr>
              <a:t>GameObject</a:t>
            </a:r>
            <a:r>
              <a:rPr lang="en-GB" sz="2400" i="1">
                <a:solidFill>
                  <a:srgbClr val="FF0000"/>
                </a:solidFill>
                <a:latin typeface="Quattrocento Sans"/>
                <a:ea typeface="Quattrocento Sans"/>
                <a:cs typeface="Quattrocento Sans"/>
              </a:rPr>
              <a:t>.</a:t>
            </a:r>
            <a:br>
              <a:rPr lang="en-GB" sz="2400" i="1">
                <a:latin typeface="Quattrocento Sans"/>
                <a:ea typeface="Quattrocento Sans"/>
                <a:cs typeface="Quattrocento Sans"/>
              </a:rPr>
            </a:br>
            <a:r>
              <a:rPr lang="en-GB" sz="1800" i="1" u="sng">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http://answers.unity3d.com/questions/32413/using-constructors-in-unity-c.html</a:t>
            </a:r>
            <a:endParaRPr sz="1800" i="1">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i="1">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286" name="Google Shape;286;p3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extLst>
      <p:ext uri="{BB962C8B-B14F-4D97-AF65-F5344CB8AC3E}">
        <p14:creationId xmlns:p14="http://schemas.microsoft.com/office/powerpoint/2010/main" val="39345111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6"/>
          <p:cNvSpPr txBox="1"/>
          <p:nvPr/>
        </p:nvSpPr>
        <p:spPr>
          <a:xfrm>
            <a:off x="609600" y="1412776"/>
            <a:ext cx="11471728" cy="24313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Unity (C#) (</a:t>
            </a:r>
            <a:r>
              <a:rPr lang="en-GB" sz="3600" err="1">
                <a:solidFill>
                  <a:srgbClr val="FFFF00"/>
                </a:solidFill>
                <a:latin typeface="Quattrocento Sans"/>
                <a:ea typeface="Quattrocento Sans"/>
                <a:cs typeface="Quattrocento Sans"/>
                <a:sym typeface="Quattrocento Sans"/>
              </a:rPr>
              <a:t>GameObjects</a:t>
            </a:r>
            <a:r>
              <a:rPr lang="en-GB" sz="3600">
                <a:solidFill>
                  <a:srgbClr val="FFFF00"/>
                </a:solidFill>
                <a:latin typeface="Quattrocento Sans"/>
                <a:ea typeface="Quattrocento Sans"/>
                <a:cs typeface="Quattrocento Sans"/>
                <a:sym typeface="Quattrocento Sans"/>
              </a:rPr>
              <a:t>)</a:t>
            </a:r>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endParaRPr>
          </a:p>
          <a:p>
            <a:r>
              <a:rPr lang="en-GB" sz="2400" err="1">
                <a:solidFill>
                  <a:srgbClr val="FFFF00"/>
                </a:solidFill>
                <a:latin typeface="Quattrocento Sans"/>
                <a:sym typeface="Quattrocento Sans"/>
              </a:rPr>
              <a:t>Monobehaviour</a:t>
            </a:r>
            <a:r>
              <a:rPr lang="en-GB" sz="2400">
                <a:solidFill>
                  <a:srgbClr val="FFFF00"/>
                </a:solidFill>
                <a:latin typeface="Quattrocento Sans"/>
                <a:sym typeface="Quattrocento Sans"/>
              </a:rPr>
              <a:t> and Unity structure:</a:t>
            </a:r>
            <a:endParaRPr lang="en-GB"/>
          </a:p>
          <a:p>
            <a:r>
              <a:rPr lang="en-GB" sz="2400">
                <a:solidFill>
                  <a:srgbClr val="FFFF00"/>
                </a:solidFill>
                <a:hlinkClick r:id="rId3"/>
              </a:rPr>
              <a:t>https://docs.unity3d.com/uploads/Main/monobehaviour_flowchart.svg</a:t>
            </a:r>
            <a:r>
              <a:rPr lang="en-GB" sz="2400">
                <a:solidFill>
                  <a:srgbClr val="FFFF00"/>
                </a:solidFill>
              </a:rPr>
              <a:t> </a:t>
            </a:r>
            <a:endParaRPr lang="en-GB"/>
          </a:p>
          <a:p>
            <a:pPr marL="0" marR="0" lvl="0" indent="0" algn="l" rtl="0">
              <a:spcBef>
                <a:spcPts val="0"/>
              </a:spcBef>
              <a:spcAft>
                <a:spcPts val="0"/>
              </a:spcAft>
              <a:buNone/>
            </a:pPr>
            <a:endParaRPr sz="2400" b="1" i="1">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286" name="Google Shape;286;p3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extLst>
      <p:ext uri="{BB962C8B-B14F-4D97-AF65-F5344CB8AC3E}">
        <p14:creationId xmlns:p14="http://schemas.microsoft.com/office/powerpoint/2010/main" val="34266254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Shape 298"/>
        <p:cNvGrpSpPr/>
        <p:nvPr/>
      </p:nvGrpSpPr>
      <p:grpSpPr>
        <a:xfrm>
          <a:off x="0" y="0"/>
          <a:ext cx="0" cy="0"/>
          <a:chOff x="0" y="0"/>
          <a:chExt cx="0" cy="0"/>
        </a:xfrm>
      </p:grpSpPr>
      <p:sp>
        <p:nvSpPr>
          <p:cNvPr id="299" name="Google Shape;299;p38"/>
          <p:cNvSpPr txBox="1"/>
          <p:nvPr/>
        </p:nvSpPr>
        <p:spPr>
          <a:xfrm>
            <a:off x="609600" y="1412777"/>
            <a:ext cx="11411210" cy="5078273"/>
          </a:xfrm>
          <a:prstGeom prst="rect">
            <a:avLst/>
          </a:prstGeom>
          <a:noFill/>
          <a:ln>
            <a:noFill/>
          </a:ln>
        </p:spPr>
        <p:txBody>
          <a:bodyPr spcFirstLastPara="1" wrap="square" lIns="91425" tIns="45700" rIns="91425" bIns="45700" anchor="t" anchorCtr="0">
            <a:spAutoFit/>
          </a:bodyPr>
          <a:lstStyle/>
          <a:p>
            <a:r>
              <a:rPr lang="en-GB" sz="3600">
                <a:solidFill>
                  <a:srgbClr val="FFFF00"/>
                </a:solidFill>
                <a:latin typeface="Quattrocento Sans"/>
                <a:ea typeface="Quattrocento Sans"/>
                <a:cs typeface="Quattrocento Sans"/>
                <a:sym typeface="Quattrocento Sans"/>
              </a:rPr>
              <a:t>Unity (C#) </a:t>
            </a:r>
            <a:r>
              <a:rPr lang="en-GB" sz="2400" i="1">
                <a:solidFill>
                  <a:srgbClr val="FFFF00"/>
                </a:solidFill>
                <a:latin typeface="Quattrocento Sans"/>
                <a:ea typeface="Quattrocento Sans"/>
                <a:cs typeface="Quattrocento Sans"/>
                <a:sym typeface="Quattrocento Sans"/>
              </a:rPr>
              <a:t>C# Basic Script</a:t>
            </a:r>
            <a:endParaRPr lang="en-US"/>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r>
              <a:rPr lang="en-GB" sz="2400" i="1">
                <a:solidFill>
                  <a:srgbClr val="FFFF00"/>
                </a:solidFill>
                <a:latin typeface="Quattrocento Sans"/>
                <a:ea typeface="Quattrocento Sans"/>
                <a:cs typeface="Quattrocento Sans"/>
                <a:sym typeface="Quattrocento Sans"/>
              </a:rPr>
              <a:t>Constructor  </a:t>
            </a:r>
            <a:r>
              <a:rPr lang="en-GB" sz="2400">
                <a:solidFill>
                  <a:srgbClr val="FF0000"/>
                </a:solidFill>
                <a:latin typeface="Quattrocento Sans"/>
                <a:ea typeface="Quattrocento Sans"/>
                <a:cs typeface="Quattrocento Sans"/>
                <a:sym typeface="Quattrocento Sans"/>
              </a:rPr>
              <a:t>The purpose of constructors is to initialize class members when an instance of the class is created. In Unity this is derived from </a:t>
            </a:r>
            <a:r>
              <a:rPr lang="en-GB" sz="2400" err="1">
                <a:solidFill>
                  <a:srgbClr val="FF0000"/>
                </a:solidFill>
                <a:latin typeface="Quattrocento Sans"/>
                <a:ea typeface="Quattrocento Sans"/>
                <a:cs typeface="Quattrocento Sans"/>
                <a:sym typeface="Quattrocento Sans"/>
              </a:rPr>
              <a:t>MonoBehaviour</a:t>
            </a:r>
            <a:endParaRPr sz="2400" i="1" err="1">
              <a:solidFill>
                <a:srgbClr val="FF0000"/>
              </a:solidFill>
              <a:latin typeface="Quattrocento Sans"/>
              <a:ea typeface="Quattrocento Sans"/>
              <a:cs typeface="Quattrocento Sans"/>
            </a:endParaRPr>
          </a:p>
          <a:p>
            <a:pPr marL="0" marR="0" lvl="0" indent="0" algn="l" rtl="0">
              <a:spcBef>
                <a:spcPts val="0"/>
              </a:spcBef>
              <a:spcAft>
                <a:spcPts val="0"/>
              </a:spcAft>
              <a:buNone/>
            </a:pPr>
            <a:endParaRPr sz="2400" i="1">
              <a:solidFill>
                <a:srgbClr val="FF0000"/>
              </a:solidFill>
              <a:latin typeface="Quattrocento Sans"/>
              <a:ea typeface="Quattrocento Sans"/>
              <a:cs typeface="Quattrocento Sans"/>
            </a:endParaRPr>
          </a:p>
          <a:p>
            <a:r>
              <a:rPr lang="en-GB" sz="2400" i="1">
                <a:solidFill>
                  <a:srgbClr val="FFFF00"/>
                </a:solidFill>
                <a:latin typeface="Quattrocento Sans"/>
                <a:ea typeface="Quattrocento Sans"/>
                <a:cs typeface="Quattrocento Sans"/>
                <a:sym typeface="Quattrocento Sans"/>
              </a:rPr>
              <a:t>Awake  </a:t>
            </a:r>
            <a:r>
              <a:rPr lang="en-GB" sz="2400" i="1">
                <a:solidFill>
                  <a:schemeClr val="dk1"/>
                </a:solidFill>
                <a:latin typeface="Quattrocento Sans"/>
                <a:ea typeface="Quattrocento Sans"/>
                <a:cs typeface="Quattrocento Sans"/>
                <a:sym typeface="Quattrocento Sans"/>
              </a:rPr>
              <a:t>called automatically when a script is run. Called before Start. Used for references between scripts and initialisation.</a:t>
            </a:r>
            <a:endParaRPr>
              <a:solidFill>
                <a:schemeClr val="dk1"/>
              </a:solidFill>
            </a:endParaRPr>
          </a:p>
          <a:p>
            <a:pPr marL="0" marR="0" lvl="0" indent="0" algn="l" rtl="0">
              <a:spcBef>
                <a:spcPts val="0"/>
              </a:spcBef>
              <a:spcAft>
                <a:spcPts val="0"/>
              </a:spcAft>
              <a:buNone/>
            </a:pPr>
            <a:endParaRPr sz="2400" i="1">
              <a:solidFill>
                <a:srgbClr val="FF0000"/>
              </a:solidFill>
              <a:latin typeface="Quattrocento Sans"/>
              <a:ea typeface="Quattrocento Sans"/>
              <a:cs typeface="Quattrocento Sans"/>
            </a:endParaRPr>
          </a:p>
          <a:p>
            <a:r>
              <a:rPr lang="en-GB" sz="2400" i="1">
                <a:solidFill>
                  <a:srgbClr val="FFFF00"/>
                </a:solidFill>
                <a:latin typeface="Quattrocento Sans"/>
                <a:ea typeface="Quattrocento Sans"/>
                <a:cs typeface="Quattrocento Sans"/>
                <a:sym typeface="Quattrocento Sans"/>
              </a:rPr>
              <a:t>Start </a:t>
            </a:r>
            <a:r>
              <a:rPr lang="en-GB" sz="2400" i="1">
                <a:solidFill>
                  <a:srgbClr val="FF0000"/>
                </a:solidFill>
                <a:latin typeface="Quattrocento Sans"/>
                <a:ea typeface="Quattrocento Sans"/>
                <a:cs typeface="Quattrocento Sans"/>
                <a:sym typeface="Quattrocento Sans"/>
              </a:rPr>
              <a:t> </a:t>
            </a:r>
            <a:r>
              <a:rPr lang="en-GB" sz="2400" i="1">
                <a:solidFill>
                  <a:schemeClr val="dk1"/>
                </a:solidFill>
                <a:latin typeface="Quattrocento Sans"/>
                <a:ea typeface="Quattrocento Sans"/>
                <a:cs typeface="Quattrocento Sans"/>
                <a:sym typeface="Quattrocento Sans"/>
              </a:rPr>
              <a:t>called automatically when a script is run. Called after Start but before Update only once script is enabled. (delay initialisation code).</a:t>
            </a:r>
            <a:endParaRPr sz="2400" i="1">
              <a:solidFill>
                <a:schemeClr val="dk1"/>
              </a:solidFill>
              <a:latin typeface="Quattrocento Sans"/>
              <a:ea typeface="Quattrocento Sans"/>
              <a:cs typeface="Quattrocento Sans"/>
            </a:endParaRPr>
          </a:p>
          <a:p>
            <a:pPr marL="0" marR="0" lvl="0" indent="0" algn="l" rtl="0">
              <a:spcBef>
                <a:spcPts val="0"/>
              </a:spcBef>
              <a:spcAft>
                <a:spcPts val="0"/>
              </a:spcAft>
              <a:buNone/>
            </a:pPr>
            <a:endParaRPr sz="2400" i="1">
              <a:solidFill>
                <a:srgbClr val="FF0000"/>
              </a:solidFill>
              <a:latin typeface="Quattrocento Sans"/>
              <a:ea typeface="Quattrocento Sans"/>
              <a:cs typeface="Quattrocento Sans"/>
            </a:endParaRPr>
          </a:p>
          <a:p>
            <a:r>
              <a:rPr lang="en-GB" sz="2400" i="1">
                <a:solidFill>
                  <a:srgbClr val="FFFF00"/>
                </a:solidFill>
                <a:latin typeface="Quattrocento Sans"/>
                <a:ea typeface="Quattrocento Sans"/>
                <a:cs typeface="Quattrocento Sans"/>
                <a:sym typeface="Quattrocento Sans"/>
              </a:rPr>
              <a:t>Update </a:t>
            </a:r>
            <a:r>
              <a:rPr lang="en-GB" sz="2400" i="1">
                <a:solidFill>
                  <a:schemeClr val="dk2"/>
                </a:solidFill>
                <a:latin typeface="Quattrocento Sans"/>
                <a:ea typeface="Quattrocento Sans"/>
                <a:cs typeface="Quattrocento Sans"/>
                <a:sym typeface="Quattrocento Sans"/>
              </a:rPr>
              <a:t>Called once per frame per script. Frame is the PC processor time  for 1 cycle</a:t>
            </a:r>
            <a:endParaRPr sz="2400" i="1">
              <a:solidFill>
                <a:schemeClr val="dk2"/>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300" name="Google Shape;300;p3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8"/>
          <p:cNvSpPr txBox="1"/>
          <p:nvPr/>
        </p:nvSpPr>
        <p:spPr>
          <a:xfrm>
            <a:off x="609600" y="1412777"/>
            <a:ext cx="11411210" cy="5632271"/>
          </a:xfrm>
          <a:prstGeom prst="rect">
            <a:avLst/>
          </a:prstGeom>
          <a:noFill/>
          <a:ln>
            <a:noFill/>
          </a:ln>
        </p:spPr>
        <p:txBody>
          <a:bodyPr spcFirstLastPara="1" wrap="square" lIns="91425" tIns="45700" rIns="91425" bIns="45700" anchor="t" anchorCtr="0">
            <a:spAutoFit/>
          </a:bodyPr>
          <a:lstStyle/>
          <a:p>
            <a:r>
              <a:rPr lang="en-GB" sz="3600">
                <a:solidFill>
                  <a:srgbClr val="FFFF00"/>
                </a:solidFill>
                <a:latin typeface="Quattrocento Sans"/>
                <a:ea typeface="Quattrocento Sans"/>
                <a:cs typeface="Quattrocento Sans"/>
                <a:sym typeface="Quattrocento Sans"/>
              </a:rPr>
              <a:t>Unity (C#) </a:t>
            </a:r>
            <a:r>
              <a:rPr lang="en-GB" sz="2400" i="1">
                <a:solidFill>
                  <a:srgbClr val="FFFF00"/>
                </a:solidFill>
                <a:latin typeface="Quattrocento Sans"/>
                <a:ea typeface="Quattrocento Sans"/>
                <a:cs typeface="Quattrocento Sans"/>
                <a:sym typeface="Quattrocento Sans"/>
              </a:rPr>
              <a:t>C# Basic Script</a:t>
            </a:r>
            <a:endParaRPr lang="en-US"/>
          </a:p>
          <a:p>
            <a:r>
              <a:rPr lang="en-GB" sz="1800" err="1">
                <a:solidFill>
                  <a:srgbClr val="FF0000"/>
                </a:solidFill>
                <a:latin typeface="Quattrocento Sans"/>
                <a:ea typeface="Quattrocento Sans"/>
                <a:cs typeface="Quattrocento Sans"/>
                <a:sym typeface="Quattrocento Sans"/>
              </a:rPr>
              <a:t>Monobehaviour</a:t>
            </a:r>
            <a:r>
              <a:rPr lang="en-GB" sz="1800">
                <a:solidFill>
                  <a:srgbClr val="FF0000"/>
                </a:solidFill>
                <a:latin typeface="Quattrocento Sans"/>
                <a:ea typeface="Quattrocento Sans"/>
                <a:cs typeface="Quattrocento Sans"/>
                <a:sym typeface="Quattrocento Sans"/>
              </a:rPr>
              <a:t> classes are the basis for scripts in Unity - derived</a:t>
            </a:r>
            <a:endParaRPr lang="en-GB" sz="1800" i="1">
              <a:solidFill>
                <a:srgbClr val="FF0000"/>
              </a:solidFill>
              <a:latin typeface="Quattrocento Sans"/>
              <a:ea typeface="Quattrocento Sans"/>
              <a:cs typeface="Quattrocento Sans"/>
            </a:endParaRPr>
          </a:p>
          <a:p>
            <a:endParaRPr lang="en-GB" sz="1800">
              <a:solidFill>
                <a:srgbClr val="FF0000"/>
              </a:solidFill>
              <a:latin typeface="Quattrocento Sans"/>
              <a:ea typeface="Quattrocento Sans"/>
              <a:cs typeface="Quattrocento Sans"/>
            </a:endParaRPr>
          </a:p>
          <a:p>
            <a:pPr marL="342900" indent="-342900">
              <a:buChar char="•"/>
            </a:pPr>
            <a:r>
              <a:rPr lang="en-GB" sz="1800">
                <a:solidFill>
                  <a:srgbClr val="FFFF00"/>
                </a:solidFill>
                <a:latin typeface="Quattrocento Sans"/>
                <a:ea typeface="Quattrocento Sans"/>
                <a:cs typeface="Quattrocento Sans"/>
                <a:sym typeface="Quattrocento Sans"/>
              </a:rPr>
              <a:t>Constructor </a:t>
            </a:r>
            <a:r>
              <a:rPr lang="en-GB" sz="1800" err="1">
                <a:solidFill>
                  <a:srgbClr val="FFFF00"/>
                </a:solidFill>
                <a:latin typeface="Quattrocento Sans"/>
                <a:ea typeface="Quattrocento Sans"/>
                <a:cs typeface="Quattrocento Sans"/>
                <a:sym typeface="Quattrocento Sans"/>
              </a:rPr>
              <a:t>Intitialization</a:t>
            </a:r>
            <a:r>
              <a:rPr lang="en-GB" sz="1800">
                <a:solidFill>
                  <a:srgbClr val="FFFF00"/>
                </a:solidFill>
                <a:latin typeface="Quattrocento Sans"/>
                <a:ea typeface="Quattrocento Sans"/>
                <a:cs typeface="Quattrocento Sans"/>
                <a:sym typeface="Quattrocento Sans"/>
              </a:rPr>
              <a:t> (generally not used in Unity)</a:t>
            </a:r>
            <a:endParaRPr lang="en-GB" sz="1800" i="1">
              <a:solidFill>
                <a:srgbClr val="FF0000"/>
              </a:solidFill>
              <a:latin typeface="Quattrocento Sans"/>
              <a:ea typeface="Quattrocento Sans"/>
              <a:cs typeface="Quattrocento Sans"/>
              <a:sym typeface="Quattrocento Sans"/>
            </a:endParaRPr>
          </a:p>
          <a:p>
            <a:pPr marL="800100" lvl="1" indent="-342900">
              <a:buFont typeface="Courier New"/>
              <a:buChar char="o"/>
            </a:pPr>
            <a:r>
              <a:rPr lang="en-GB" sz="1800">
                <a:solidFill>
                  <a:schemeClr val="bg2"/>
                </a:solidFill>
                <a:latin typeface="Quattrocento Sans"/>
                <a:ea typeface="Quattrocento Sans"/>
                <a:cs typeface="Quattrocento Sans"/>
                <a:sym typeface="Quattrocento Sans"/>
              </a:rPr>
              <a:t>The purpose of constructors is to initialize class members when an instance of the class is created. In Unity this is derived from </a:t>
            </a:r>
            <a:r>
              <a:rPr lang="en-GB" sz="1800" err="1">
                <a:solidFill>
                  <a:schemeClr val="bg2"/>
                </a:solidFill>
                <a:latin typeface="Quattrocento Sans"/>
                <a:ea typeface="Quattrocento Sans"/>
                <a:cs typeface="Quattrocento Sans"/>
                <a:sym typeface="Quattrocento Sans"/>
              </a:rPr>
              <a:t>MonoBehaviour</a:t>
            </a:r>
            <a:r>
              <a:rPr lang="en-GB" sz="1800">
                <a:solidFill>
                  <a:schemeClr val="bg2"/>
                </a:solidFill>
                <a:latin typeface="Quattrocento Sans"/>
                <a:ea typeface="Quattrocento Sans"/>
                <a:cs typeface="Quattrocento Sans"/>
                <a:sym typeface="Quattrocento Sans"/>
              </a:rPr>
              <a:t>. </a:t>
            </a:r>
            <a:r>
              <a:rPr lang="en-GB" sz="1800" i="1">
                <a:solidFill>
                  <a:srgbClr val="00B0F0"/>
                </a:solidFill>
                <a:latin typeface="Quattrocento Sans"/>
                <a:ea typeface="Quattrocento Sans"/>
                <a:cs typeface="Quattrocento Sans"/>
                <a:sym typeface="Quattrocento Sans"/>
              </a:rPr>
              <a:t>You should not use traditional C# constructors for initialization. Instead, Unity uses specific lifecycle methods like Awake(), Start(), Update(), etc.</a:t>
            </a:r>
            <a:endParaRPr sz="1800" i="1">
              <a:solidFill>
                <a:srgbClr val="00B0F0"/>
              </a:solidFill>
              <a:latin typeface="Quattrocento Sans"/>
              <a:ea typeface="Quattrocento Sans"/>
              <a:cs typeface="Quattrocento Sans"/>
            </a:endParaRPr>
          </a:p>
          <a:p>
            <a:pPr marL="342900" indent="-342900">
              <a:buChar char="•"/>
            </a:pPr>
            <a:r>
              <a:rPr lang="en-GB" sz="1800">
                <a:solidFill>
                  <a:srgbClr val="FFFF00"/>
                </a:solidFill>
                <a:latin typeface="Quattrocento Sans"/>
              </a:rPr>
              <a:t>Constructor Instantiation (generally not used in Unity)</a:t>
            </a:r>
          </a:p>
          <a:p>
            <a:pPr marL="800100" lvl="1" indent="-342900">
              <a:buFont typeface="Courier New"/>
              <a:buChar char="o"/>
            </a:pPr>
            <a:r>
              <a:rPr lang="en-GB" sz="1800">
                <a:solidFill>
                  <a:schemeClr val="bg2"/>
                </a:solidFill>
                <a:latin typeface="Quattrocento Sans"/>
              </a:rPr>
              <a:t>Unity manages </a:t>
            </a:r>
            <a:r>
              <a:rPr lang="en-GB" sz="1800" err="1">
                <a:solidFill>
                  <a:schemeClr val="bg2"/>
                </a:solidFill>
                <a:latin typeface="Quattrocento Sans"/>
              </a:rPr>
              <a:t>MonoBehaviour</a:t>
            </a:r>
            <a:r>
              <a:rPr lang="en-GB" sz="1800">
                <a:solidFill>
                  <a:schemeClr val="bg2"/>
                </a:solidFill>
                <a:latin typeface="Quattrocento Sans"/>
              </a:rPr>
              <a:t> object instantiation internally, so the use of "new </a:t>
            </a:r>
            <a:r>
              <a:rPr lang="en-GB" sz="1800" err="1">
                <a:solidFill>
                  <a:schemeClr val="bg2"/>
                </a:solidFill>
                <a:latin typeface="Quattrocento Sans"/>
              </a:rPr>
              <a:t>MyClass</a:t>
            </a:r>
            <a:r>
              <a:rPr lang="en-GB" sz="1800">
                <a:solidFill>
                  <a:schemeClr val="bg2"/>
                </a:solidFill>
                <a:latin typeface="Quattrocento Sans"/>
              </a:rPr>
              <a:t>()" is rare and often inappropriate. </a:t>
            </a:r>
            <a:r>
              <a:rPr lang="en-GB" sz="1800" i="1">
                <a:solidFill>
                  <a:srgbClr val="00B0F0"/>
                </a:solidFill>
                <a:latin typeface="Quattrocento Sans"/>
              </a:rPr>
              <a:t>Unity invokes the Awake or Start either by the script being attached to an active game object, or at runtime by the Instantiate command on a prefab or inactive </a:t>
            </a:r>
            <a:r>
              <a:rPr lang="en-GB" sz="1800" i="1" err="1">
                <a:solidFill>
                  <a:srgbClr val="00B0F0"/>
                </a:solidFill>
                <a:latin typeface="Quattrocento Sans"/>
              </a:rPr>
              <a:t>GameObject</a:t>
            </a:r>
            <a:r>
              <a:rPr lang="en-GB" sz="1800" i="1">
                <a:solidFill>
                  <a:srgbClr val="00B0F0"/>
                </a:solidFill>
                <a:latin typeface="Quattrocento Sans"/>
              </a:rPr>
              <a:t>.</a:t>
            </a:r>
            <a:endParaRPr lang="en-GB" i="1">
              <a:solidFill>
                <a:srgbClr val="00B0F0"/>
              </a:solidFill>
            </a:endParaRPr>
          </a:p>
          <a:p>
            <a:pPr marL="342900" indent="-342900">
              <a:buChar char="•"/>
            </a:pPr>
            <a:r>
              <a:rPr lang="en-GB" sz="1800">
                <a:solidFill>
                  <a:srgbClr val="FF0000"/>
                </a:solidFill>
                <a:ea typeface="Quattrocento Sans"/>
              </a:rPr>
              <a:t>Instead of constructors, use </a:t>
            </a:r>
          </a:p>
          <a:p>
            <a:pPr marL="800100" lvl="1" indent="-342900">
              <a:buFont typeface="Courier New"/>
              <a:buChar char="o"/>
            </a:pPr>
            <a:r>
              <a:rPr lang="en-GB" sz="1800">
                <a:solidFill>
                  <a:srgbClr val="FFFF00"/>
                </a:solidFill>
                <a:ea typeface="Quattrocento Sans"/>
              </a:rPr>
              <a:t>Awake() </a:t>
            </a:r>
            <a:r>
              <a:rPr lang="en-GB" sz="1800">
                <a:solidFill>
                  <a:schemeClr val="tx1"/>
                </a:solidFill>
                <a:ea typeface="Quattrocento Sans"/>
              </a:rPr>
              <a:t>for initialization logic that needs to happen right when the script is loaded. called automatically when a script is run. Called before Start. Used for references between scripts and initialisation.</a:t>
            </a:r>
            <a:endParaRPr lang="en-GB">
              <a:solidFill>
                <a:schemeClr val="tx1"/>
              </a:solidFill>
              <a:ea typeface="Quattrocento Sans"/>
            </a:endParaRPr>
          </a:p>
          <a:p>
            <a:pPr marL="800100" lvl="1" indent="-342900">
              <a:buFont typeface="Courier New"/>
              <a:buChar char="o"/>
            </a:pPr>
            <a:r>
              <a:rPr lang="en-GB" sz="1800">
                <a:solidFill>
                  <a:srgbClr val="FFFF00"/>
                </a:solidFill>
                <a:ea typeface="Quattrocento Sans"/>
              </a:rPr>
              <a:t>Start() </a:t>
            </a:r>
            <a:r>
              <a:rPr lang="en-GB" sz="1800">
                <a:solidFill>
                  <a:schemeClr val="tx1"/>
                </a:solidFill>
                <a:ea typeface="Quattrocento Sans"/>
              </a:rPr>
              <a:t>for logic that should happen once the scene is ready. called automatically when a script is run. Called after Start but before Update only once script is enabled. (delay initialisation code).</a:t>
            </a:r>
            <a:endParaRPr lang="en-GB">
              <a:solidFill>
                <a:schemeClr val="tx1"/>
              </a:solidFill>
            </a:endParaRPr>
          </a:p>
          <a:p>
            <a:pPr marL="800100" lvl="1" indent="-342900">
              <a:buFont typeface="Courier New"/>
              <a:buChar char="o"/>
            </a:pPr>
            <a:r>
              <a:rPr lang="en-GB" sz="1800">
                <a:solidFill>
                  <a:srgbClr val="FFFF00"/>
                </a:solidFill>
                <a:ea typeface="Quattrocento Sans"/>
              </a:rPr>
              <a:t>Update() </a:t>
            </a:r>
            <a:r>
              <a:rPr lang="en-GB" sz="1800">
                <a:solidFill>
                  <a:schemeClr val="tx1"/>
                </a:solidFill>
                <a:ea typeface="Quattrocento Sans"/>
              </a:rPr>
              <a:t>is called once per frame per script. Frame is the PC processor time  for 1 cycle.</a:t>
            </a:r>
            <a:endParaRPr lang="en-GB" sz="1800">
              <a:solidFill>
                <a:schemeClr val="tx1"/>
              </a:solidFill>
            </a:endParaRPr>
          </a:p>
          <a:p>
            <a:pPr marL="457200" lvl="1"/>
            <a:endParaRPr lang="en-GB" sz="1800" i="1">
              <a:solidFill>
                <a:srgbClr val="FF0000"/>
              </a:solidFill>
              <a:latin typeface="Quattrocento Sans"/>
            </a:endParaRPr>
          </a:p>
          <a:p>
            <a:pPr marL="800100" lvl="1" indent="-342900">
              <a:buFont typeface="Courier New"/>
              <a:buChar char="o"/>
            </a:pPr>
            <a:endParaRPr lang="en-GB" sz="1800">
              <a:solidFill>
                <a:srgbClr val="FF0000"/>
              </a:solidFill>
              <a:ea typeface="Quattrocento Sans"/>
            </a:endParaRPr>
          </a:p>
        </p:txBody>
      </p:sp>
      <p:sp>
        <p:nvSpPr>
          <p:cNvPr id="300" name="Google Shape;300;p3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extLst>
      <p:ext uri="{BB962C8B-B14F-4D97-AF65-F5344CB8AC3E}">
        <p14:creationId xmlns:p14="http://schemas.microsoft.com/office/powerpoint/2010/main" val="41700877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7"/>
          <p:cNvSpPr txBox="1"/>
          <p:nvPr/>
        </p:nvSpPr>
        <p:spPr>
          <a:xfrm>
            <a:off x="609600" y="1412776"/>
            <a:ext cx="11444076" cy="60939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Unity (C#)</a:t>
            </a:r>
            <a:endParaRPr lang="en-US"/>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r>
              <a:rPr lang="en-GB" sz="2400" i="1">
                <a:solidFill>
                  <a:srgbClr val="FFFF00"/>
                </a:solidFill>
                <a:latin typeface="Quattrocento Sans"/>
                <a:ea typeface="Quattrocento Sans"/>
                <a:cs typeface="Quattrocento Sans"/>
                <a:sym typeface="Quattrocento Sans"/>
              </a:rPr>
              <a:t>C# Basic Script derived from </a:t>
            </a:r>
            <a:r>
              <a:rPr lang="en-GB" sz="2400" i="1" err="1">
                <a:solidFill>
                  <a:srgbClr val="FFFF00"/>
                </a:solidFill>
                <a:latin typeface="Quattrocento Sans"/>
                <a:ea typeface="Quattrocento Sans"/>
                <a:cs typeface="Quattrocento Sans"/>
                <a:sym typeface="Quattrocento Sans"/>
              </a:rPr>
              <a:t>Monobehaviour</a:t>
            </a:r>
            <a:r>
              <a:rPr lang="en-GB" sz="2400" i="1">
                <a:solidFill>
                  <a:srgbClr val="FFFF00"/>
                </a:solidFill>
                <a:latin typeface="Quattrocento Sans"/>
                <a:ea typeface="Quattrocento Sans"/>
                <a:cs typeface="Quattrocento Sans"/>
                <a:sym typeface="Quattrocento Sans"/>
              </a:rPr>
              <a:t> and attached to an active Game Object</a:t>
            </a:r>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using </a:t>
            </a:r>
            <a:r>
              <a:rPr lang="en-GB" sz="2000" i="0" u="none" strike="noStrike" cap="none" err="1">
                <a:solidFill>
                  <a:schemeClr val="dk1"/>
                </a:solidFill>
                <a:latin typeface="Quattrocento Sans"/>
                <a:ea typeface="Quattrocento Sans"/>
                <a:cs typeface="Quattrocento Sans"/>
                <a:sym typeface="Quattrocento Sans"/>
              </a:rPr>
              <a:t>UnityEngine</a:t>
            </a:r>
            <a:r>
              <a:rPr lang="en-GB" sz="2000" i="0" u="none" strike="noStrike" cap="none">
                <a:solidFill>
                  <a:schemeClr val="dk1"/>
                </a:solidFill>
                <a:latin typeface="Quattrocento Sans"/>
                <a:ea typeface="Quattrocento Sans"/>
                <a:cs typeface="Quattrocento Sans"/>
                <a:sym typeface="Quattrocento Sans"/>
              </a:rPr>
              <a:t>;</a:t>
            </a:r>
            <a:endParaRPr>
              <a:solidFill>
                <a:schemeClr val="dk1"/>
              </a:solidFill>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using </a:t>
            </a:r>
            <a:r>
              <a:rPr lang="en-GB" sz="2000" i="0" u="none" strike="noStrike" cap="none" err="1">
                <a:solidFill>
                  <a:schemeClr val="dk1"/>
                </a:solidFill>
                <a:latin typeface="Quattrocento Sans"/>
                <a:ea typeface="Quattrocento Sans"/>
                <a:cs typeface="Quattrocento Sans"/>
                <a:sym typeface="Quattrocento Sans"/>
              </a:rPr>
              <a:t>System.Collections</a:t>
            </a:r>
            <a:r>
              <a:rPr lang="en-GB" sz="2000" i="0" u="none" strike="noStrike" cap="none">
                <a:solidFill>
                  <a:schemeClr val="dk1"/>
                </a:solidFill>
                <a:latin typeface="Quattrocento Sans"/>
                <a:ea typeface="Quattrocento Sans"/>
                <a:cs typeface="Quattrocento Sans"/>
                <a:sym typeface="Quattrocento Sans"/>
              </a:rPr>
              <a:t>;</a:t>
            </a:r>
            <a:endParaRPr>
              <a:solidFill>
                <a:schemeClr val="dk1"/>
              </a:solidFill>
            </a:endParaRPr>
          </a:p>
          <a:p>
            <a:pPr marL="457200" lvl="1"/>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public class </a:t>
            </a:r>
            <a:r>
              <a:rPr lang="en-GB" sz="2000" i="0" u="none" strike="noStrike" cap="none" err="1">
                <a:solidFill>
                  <a:schemeClr val="dk1"/>
                </a:solidFill>
                <a:latin typeface="Quattrocento Sans"/>
                <a:ea typeface="Quattrocento Sans"/>
                <a:cs typeface="Quattrocento Sans"/>
                <a:sym typeface="Quattrocento Sans"/>
              </a:rPr>
              <a:t>articleRotate</a:t>
            </a:r>
            <a:r>
              <a:rPr lang="en-GB" sz="2000" i="0" u="none" strike="noStrike" cap="none">
                <a:solidFill>
                  <a:schemeClr val="dk1"/>
                </a:solidFill>
                <a:latin typeface="Quattrocento Sans"/>
                <a:ea typeface="Quattrocento Sans"/>
                <a:cs typeface="Quattrocento Sans"/>
                <a:sym typeface="Quattrocento Sans"/>
              </a:rPr>
              <a:t> : </a:t>
            </a:r>
            <a:r>
              <a:rPr lang="en-GB" sz="2000" i="0" u="none" strike="noStrike" cap="none" err="1">
                <a:solidFill>
                  <a:schemeClr val="dk1"/>
                </a:solidFill>
                <a:latin typeface="Quattrocento Sans"/>
                <a:ea typeface="Quattrocento Sans"/>
                <a:cs typeface="Quattrocento Sans"/>
                <a:sym typeface="Quattrocento Sans"/>
              </a:rPr>
              <a:t>MonoBehaviour</a:t>
            </a:r>
            <a:r>
              <a:rPr lang="en-GB" sz="2000" i="0" u="none" strike="noStrike" cap="none">
                <a:solidFill>
                  <a:schemeClr val="dk1"/>
                </a:solidFill>
                <a:latin typeface="Quattrocento Sans"/>
                <a:ea typeface="Quattrocento Sans"/>
                <a:cs typeface="Quattrocento Sans"/>
                <a:sym typeface="Quattrocento Sans"/>
              </a:rPr>
              <a:t> {</a:t>
            </a:r>
            <a:endParaRPr>
              <a:solidFill>
                <a:schemeClr val="dk1"/>
              </a:solidFill>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 Use this for initialization</a:t>
            </a:r>
            <a:endParaRPr>
              <a:solidFill>
                <a:schemeClr val="dk1"/>
              </a:solidFill>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void Start () {</a:t>
            </a:r>
            <a:endParaRPr>
              <a:solidFill>
                <a:schemeClr val="dk1"/>
              </a:solidFill>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a:t>
            </a:r>
            <a:endParaRPr>
              <a:solidFill>
                <a:schemeClr val="dk1"/>
              </a:solidFill>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 Update is called once per frame</a:t>
            </a:r>
            <a:endParaRPr>
              <a:solidFill>
                <a:schemeClr val="dk1"/>
              </a:solidFill>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void Update () {</a:t>
            </a:r>
            <a:endParaRPr>
              <a:solidFill>
                <a:schemeClr val="dk1"/>
              </a:solidFill>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      </a:t>
            </a:r>
            <a:r>
              <a:rPr lang="en-GB" sz="2000" i="0" u="none" strike="noStrike" cap="none" err="1">
                <a:solidFill>
                  <a:schemeClr val="dk1"/>
                </a:solidFill>
                <a:latin typeface="Quattrocento Sans"/>
                <a:ea typeface="Quattrocento Sans"/>
                <a:cs typeface="Quattrocento Sans"/>
                <a:sym typeface="Quattrocento Sans"/>
              </a:rPr>
              <a:t>this.transform.Rotate</a:t>
            </a:r>
            <a:r>
              <a:rPr lang="en-GB" sz="2000" i="0" u="none" strike="noStrike" cap="none">
                <a:solidFill>
                  <a:schemeClr val="dk1"/>
                </a:solidFill>
                <a:latin typeface="Quattrocento Sans"/>
                <a:ea typeface="Quattrocento Sans"/>
                <a:cs typeface="Quattrocento Sans"/>
                <a:sym typeface="Quattrocento Sans"/>
              </a:rPr>
              <a:t> (new Vector3 (0, 1, 0), 1);</a:t>
            </a:r>
            <a:endParaRPr>
              <a:solidFill>
                <a:schemeClr val="dk1"/>
              </a:solidFill>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a:t>
            </a:r>
            <a:endParaRPr>
              <a:solidFill>
                <a:schemeClr val="dk1"/>
              </a:solidFill>
            </a:endParaRPr>
          </a:p>
          <a:p>
            <a:pPr marL="457200" marR="0" lvl="1" indent="0" algn="l" rtl="0">
              <a:spcBef>
                <a:spcPts val="0"/>
              </a:spcBef>
              <a:spcAft>
                <a:spcPts val="0"/>
              </a:spcAft>
              <a:buNone/>
            </a:pPr>
            <a:r>
              <a:rPr lang="en-GB" sz="2000" i="0" u="none" strike="noStrike" cap="none">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rtl="0">
              <a:spcBef>
                <a:spcPts val="0"/>
              </a:spcBef>
              <a:spcAft>
                <a:spcPts val="0"/>
              </a:spcAft>
              <a:buNone/>
            </a:pPr>
            <a:endParaRPr sz="2400" b="1"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
        <p:nvSpPr>
          <p:cNvPr id="293" name="Google Shape;293;p3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249" name="Google Shape;249;p31"/>
          <p:cNvSpPr txBox="1"/>
          <p:nvPr/>
        </p:nvSpPr>
        <p:spPr>
          <a:xfrm>
            <a:off x="609600" y="1412777"/>
            <a:ext cx="11578230" cy="5109051"/>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ea typeface="Quattrocento Sans"/>
                <a:cs typeface="Quattrocento Sans"/>
                <a:sym typeface="Quattrocento Sans"/>
              </a:rPr>
              <a:t>Working Inside Unity (C# and OOP Concepts)</a:t>
            </a:r>
            <a:endParaRPr dirty="0"/>
          </a:p>
          <a:p>
            <a:pPr marL="0" marR="0" lvl="0" indent="0" algn="l" rtl="0">
              <a:spcBef>
                <a:spcPts val="0"/>
              </a:spcBef>
              <a:spcAft>
                <a:spcPts val="0"/>
              </a:spcAft>
              <a:buNone/>
            </a:pPr>
            <a:endParaRPr lang="en-GB" b="1" i="1">
              <a:solidFill>
                <a:srgbClr val="FFFFFF"/>
              </a:solidFill>
              <a:latin typeface="Quattrocento Sans"/>
              <a:ea typeface="Quattrocento Sans"/>
              <a:cs typeface="Quattrocento Sans"/>
            </a:endParaRPr>
          </a:p>
          <a:p>
            <a:r>
              <a:rPr lang="en-GB" sz="2400" b="1" dirty="0">
                <a:solidFill>
                  <a:srgbClr val="FFFF00"/>
                </a:solidFill>
                <a:latin typeface="Quattrocento Sans"/>
                <a:ea typeface="Quattrocento Sans"/>
                <a:cs typeface="Quattrocento Sans"/>
                <a:sym typeface="Quattrocento Sans"/>
              </a:rPr>
              <a:t>No Constructor:</a:t>
            </a:r>
            <a:endParaRPr sz="2400" dirty="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lang="en-GB" sz="1800">
              <a:solidFill>
                <a:schemeClr val="dk1"/>
              </a:solidFill>
              <a:latin typeface="Quattrocento Sans"/>
            </a:endParaRPr>
          </a:p>
          <a:p>
            <a:r>
              <a:rPr lang="en-GB" sz="1800" dirty="0">
                <a:solidFill>
                  <a:srgbClr val="FFFF00"/>
                </a:solidFill>
                <a:latin typeface="Quattrocento Sans"/>
                <a:ea typeface="Quattrocento Sans"/>
                <a:cs typeface="Quattrocento Sans"/>
              </a:rPr>
              <a:t>//We create an Instance of a Class/</a:t>
            </a:r>
            <a:r>
              <a:rPr lang="en-GB" sz="1800" dirty="0" err="1">
                <a:solidFill>
                  <a:srgbClr val="FFFF00"/>
                </a:solidFill>
                <a:latin typeface="Quattrocento Sans"/>
                <a:ea typeface="Quattrocento Sans"/>
                <a:cs typeface="Quattrocento Sans"/>
              </a:rPr>
              <a:t>GameObject</a:t>
            </a:r>
            <a:endParaRPr lang="en-GB" sz="1800" dirty="0">
              <a:solidFill>
                <a:srgbClr val="FFFF00"/>
              </a:solidFill>
              <a:latin typeface="Quattrocento Sans"/>
              <a:ea typeface="Quattrocento Sans"/>
              <a:cs typeface="Quattrocento Sans"/>
            </a:endParaRPr>
          </a:p>
          <a:p>
            <a:r>
              <a:rPr lang="en-GB" sz="1800" dirty="0">
                <a:solidFill>
                  <a:schemeClr val="bg2"/>
                </a:solidFill>
                <a:latin typeface="Quattrocento Sans"/>
                <a:ea typeface="Roboto"/>
                <a:cs typeface="Roboto"/>
              </a:rPr>
              <a:t> public static Object Instantiate(Object original); - </a:t>
            </a:r>
            <a:r>
              <a:rPr lang="en-GB" sz="1800" i="1" dirty="0">
                <a:solidFill>
                  <a:schemeClr val="bg2"/>
                </a:solidFill>
                <a:latin typeface="Quattrocento Sans"/>
                <a:ea typeface="Roboto"/>
                <a:cs typeface="Roboto"/>
              </a:rPr>
              <a:t>Unity code Usually used with a prefab at runtime, below</a:t>
            </a:r>
            <a:endParaRPr lang="en-GB" sz="1800" i="1" dirty="0">
              <a:solidFill>
                <a:schemeClr val="bg2"/>
              </a:solidFill>
              <a:latin typeface="Quattrocento Sans"/>
              <a:ea typeface="Roboto"/>
            </a:endParaRPr>
          </a:p>
          <a:p>
            <a:r>
              <a:rPr lang="en-GB" sz="1800" dirty="0">
                <a:solidFill>
                  <a:srgbClr val="FFFF00"/>
                </a:solidFill>
                <a:latin typeface="Quattrocento Sans"/>
                <a:ea typeface="Roboto"/>
                <a:cs typeface="Roboto"/>
              </a:rPr>
              <a:t>//Instantiate </a:t>
            </a:r>
            <a:r>
              <a:rPr lang="en-GB" sz="1800" dirty="0" err="1">
                <a:solidFill>
                  <a:srgbClr val="FFFF00"/>
                </a:solidFill>
                <a:latin typeface="Quattrocento Sans"/>
                <a:ea typeface="Roboto"/>
                <a:cs typeface="Roboto"/>
              </a:rPr>
              <a:t>GameObject</a:t>
            </a:r>
            <a:r>
              <a:rPr lang="en-GB" sz="1800" dirty="0">
                <a:solidFill>
                  <a:srgbClr val="FFFF00"/>
                </a:solidFill>
                <a:latin typeface="Quattrocento Sans"/>
                <a:ea typeface="Roboto"/>
                <a:cs typeface="Roboto"/>
              </a:rPr>
              <a:t> Prefab at runtime</a:t>
            </a:r>
            <a:endParaRPr lang="en-US" sz="1800" dirty="0">
              <a:solidFill>
                <a:schemeClr val="bg2"/>
              </a:solidFill>
              <a:latin typeface="Quattrocento Sans"/>
              <a:ea typeface="Roboto"/>
              <a:cs typeface="Roboto"/>
            </a:endParaRPr>
          </a:p>
          <a:p>
            <a:r>
              <a:rPr lang="en-GB" sz="1800" dirty="0">
                <a:solidFill>
                  <a:schemeClr val="bg2"/>
                </a:solidFill>
                <a:latin typeface="Quattrocento Sans"/>
                <a:ea typeface="Roboto"/>
                <a:cs typeface="Roboto"/>
              </a:rPr>
              <a:t> Instantiate(</a:t>
            </a:r>
            <a:r>
              <a:rPr lang="en-GB" sz="1800" dirty="0" err="1">
                <a:solidFill>
                  <a:schemeClr val="bg2"/>
                </a:solidFill>
                <a:latin typeface="Quattrocento Sans"/>
                <a:ea typeface="Roboto"/>
                <a:cs typeface="Roboto"/>
              </a:rPr>
              <a:t>myPrefab</a:t>
            </a:r>
            <a:r>
              <a:rPr lang="en-GB" sz="1800" dirty="0">
                <a:solidFill>
                  <a:schemeClr val="bg2"/>
                </a:solidFill>
                <a:latin typeface="Quattrocento Sans"/>
                <a:ea typeface="Roboto"/>
                <a:cs typeface="Roboto"/>
              </a:rPr>
              <a:t>, new Vector3(0, 0, 0), </a:t>
            </a:r>
            <a:r>
              <a:rPr lang="en-GB" sz="1800" dirty="0" err="1">
                <a:solidFill>
                  <a:schemeClr val="bg2"/>
                </a:solidFill>
                <a:latin typeface="Quattrocento Sans"/>
                <a:ea typeface="Roboto"/>
                <a:cs typeface="Roboto"/>
              </a:rPr>
              <a:t>Quaternion.identity</a:t>
            </a:r>
            <a:r>
              <a:rPr lang="en-GB" sz="1800" dirty="0">
                <a:solidFill>
                  <a:schemeClr val="bg2"/>
                </a:solidFill>
                <a:latin typeface="Quattrocento Sans"/>
                <a:ea typeface="Roboto"/>
                <a:cs typeface="Roboto"/>
              </a:rPr>
              <a:t>);</a:t>
            </a:r>
            <a:endParaRPr lang="en-GB" dirty="0">
              <a:solidFill>
                <a:schemeClr val="bg2"/>
              </a:solidFill>
            </a:endParaRPr>
          </a:p>
          <a:p>
            <a:r>
              <a:rPr lang="en-GB" sz="1800" dirty="0">
                <a:solidFill>
                  <a:srgbClr val="FFFF00"/>
                </a:solidFill>
                <a:latin typeface="Quattrocento Sans"/>
                <a:ea typeface="Roboto"/>
                <a:cs typeface="Roboto"/>
                <a:sym typeface="Quattrocento Sans"/>
              </a:rPr>
              <a:t>//We create an Instance of the Class independent of </a:t>
            </a:r>
            <a:r>
              <a:rPr lang="en-GB" sz="1800" dirty="0" err="1">
                <a:solidFill>
                  <a:srgbClr val="FFFF00"/>
                </a:solidFill>
                <a:latin typeface="Quattrocento Sans"/>
                <a:ea typeface="Roboto"/>
                <a:cs typeface="Roboto"/>
                <a:sym typeface="Quattrocento Sans"/>
              </a:rPr>
              <a:t>GameObjects</a:t>
            </a:r>
            <a:endParaRPr lang="en-GB" sz="1800" dirty="0">
              <a:solidFill>
                <a:srgbClr val="FFFF00"/>
              </a:solidFill>
              <a:latin typeface="Quattrocento Sans"/>
              <a:ea typeface="Roboto"/>
            </a:endParaRPr>
          </a:p>
          <a:p>
            <a:r>
              <a:rPr lang="en-GB" sz="1800" dirty="0">
                <a:solidFill>
                  <a:schemeClr val="bg2"/>
                </a:solidFill>
                <a:latin typeface="Quattrocento Sans"/>
                <a:ea typeface="Roboto"/>
                <a:cs typeface="Roboto"/>
                <a:sym typeface="Quattrocento Sans"/>
              </a:rPr>
              <a:t> </a:t>
            </a:r>
            <a:r>
              <a:rPr lang="en-GB" sz="1800" dirty="0" err="1">
                <a:solidFill>
                  <a:schemeClr val="bg2"/>
                </a:solidFill>
                <a:latin typeface="Quattrocento Sans"/>
                <a:ea typeface="Roboto"/>
                <a:cs typeface="Roboto"/>
                <a:sym typeface="Quattrocento Sans"/>
              </a:rPr>
              <a:t>ScriptableObject.</a:t>
            </a:r>
            <a:r>
              <a:rPr lang="en-GB" sz="1800" dirty="0" err="1">
                <a:solidFill>
                  <a:schemeClr val="bg2"/>
                </a:solidFill>
                <a:latin typeface="Quattrocento Sans"/>
                <a:sym typeface="Quattrocento Sans"/>
              </a:rPr>
              <a:t>CreateInstance</a:t>
            </a:r>
            <a:r>
              <a:rPr lang="en-GB" sz="1800" dirty="0">
                <a:solidFill>
                  <a:schemeClr val="bg2"/>
                </a:solidFill>
                <a:latin typeface="Quattrocento Sans"/>
                <a:sym typeface="Quattrocento Sans"/>
              </a:rPr>
              <a:t>(string </a:t>
            </a:r>
            <a:r>
              <a:rPr lang="en-GB" sz="1800" dirty="0" err="1">
                <a:solidFill>
                  <a:schemeClr val="bg2"/>
                </a:solidFill>
                <a:latin typeface="Quattrocento Sans"/>
                <a:sym typeface="Quattrocento Sans"/>
              </a:rPr>
              <a:t>Classname</a:t>
            </a:r>
            <a:r>
              <a:rPr lang="en-GB" sz="1800" dirty="0">
                <a:solidFill>
                  <a:schemeClr val="bg2"/>
                </a:solidFill>
                <a:latin typeface="Quattrocento Sans"/>
                <a:sym typeface="Quattrocento Sans"/>
              </a:rPr>
              <a:t>); - </a:t>
            </a:r>
            <a:r>
              <a:rPr lang="en-GB" sz="1800" i="1" dirty="0">
                <a:solidFill>
                  <a:schemeClr val="bg2"/>
                </a:solidFill>
                <a:latin typeface="Quattrocento Sans"/>
                <a:sym typeface="Quattrocento Sans"/>
              </a:rPr>
              <a:t>Advanced</a:t>
            </a:r>
            <a:endParaRPr lang="en-GB" sz="1800" i="1" dirty="0">
              <a:solidFill>
                <a:schemeClr val="bg2"/>
              </a:solidFill>
              <a:latin typeface="Quattrocento Sans"/>
            </a:endParaRPr>
          </a:p>
          <a:p>
            <a:endParaRPr lang="en-GB" sz="1800">
              <a:solidFill>
                <a:srgbClr val="FFFF00"/>
              </a:solidFill>
              <a:latin typeface="Quattrocento Sans"/>
            </a:endParaRPr>
          </a:p>
          <a:p>
            <a:r>
              <a:rPr lang="en-GB" sz="1800" dirty="0">
                <a:solidFill>
                  <a:srgbClr val="FF0000"/>
                </a:solidFill>
                <a:latin typeface="Quattrocento Sans"/>
              </a:rPr>
              <a:t>//We call the Method </a:t>
            </a:r>
            <a:endParaRPr dirty="0"/>
          </a:p>
          <a:p>
            <a:r>
              <a:rPr lang="en-GB" sz="1800" dirty="0">
                <a:solidFill>
                  <a:srgbClr val="FF0000"/>
                </a:solidFill>
                <a:latin typeface="Quattrocento Sans"/>
                <a:ea typeface="Quattrocento Sans"/>
                <a:cs typeface="Quattrocento Sans"/>
                <a:sym typeface="Quattrocento Sans"/>
              </a:rPr>
              <a:t> </a:t>
            </a:r>
            <a:r>
              <a:rPr lang="en-GB" sz="1800" dirty="0" err="1">
                <a:solidFill>
                  <a:srgbClr val="FF0000"/>
                </a:solidFill>
                <a:latin typeface="Quattrocento Sans"/>
                <a:ea typeface="Quattrocento Sans"/>
                <a:cs typeface="Quattrocento Sans"/>
                <a:sym typeface="Quattrocento Sans"/>
              </a:rPr>
              <a:t>myCar.ShowCarColor</a:t>
            </a:r>
            <a:r>
              <a:rPr lang="en-GB" sz="1800" dirty="0">
                <a:solidFill>
                  <a:srgbClr val="FF0000"/>
                </a:solidFill>
                <a:latin typeface="Quattrocento Sans"/>
                <a:ea typeface="Quattrocento Sans"/>
                <a:cs typeface="Quattrocento Sans"/>
                <a:sym typeface="Quattrocento Sans"/>
              </a:rPr>
              <a:t>(); </a:t>
            </a:r>
            <a:endParaRPr dirty="0">
              <a:solidFill>
                <a:srgbClr val="FF0000"/>
              </a:solidFill>
            </a:endParaRPr>
          </a:p>
          <a:p>
            <a:r>
              <a:rPr lang="en-GB" sz="1800" dirty="0">
                <a:solidFill>
                  <a:srgbClr val="FF0000"/>
                </a:solidFill>
                <a:latin typeface="Quattrocento Sans"/>
                <a:ea typeface="Quattrocento Sans"/>
                <a:cs typeface="Quattrocento Sans"/>
              </a:rPr>
              <a:t>//We set a value for the </a:t>
            </a:r>
            <a:r>
              <a:rPr lang="en-GB" sz="1800" dirty="0" err="1">
                <a:solidFill>
                  <a:srgbClr val="FF0000"/>
                </a:solidFill>
                <a:latin typeface="Quattrocento Sans"/>
                <a:ea typeface="Quattrocento Sans"/>
                <a:cs typeface="Quattrocento Sans"/>
              </a:rPr>
              <a:t>color</a:t>
            </a:r>
            <a:r>
              <a:rPr lang="en-GB" sz="1800" dirty="0">
                <a:solidFill>
                  <a:srgbClr val="FF0000"/>
                </a:solidFill>
                <a:latin typeface="Quattrocento Sans"/>
                <a:ea typeface="Quattrocento Sans"/>
                <a:cs typeface="Quattrocento Sans"/>
              </a:rPr>
              <a:t> Field </a:t>
            </a:r>
            <a:endParaRPr lang="en-US" sz="1800" dirty="0">
              <a:latin typeface="Quattrocento Sans"/>
              <a:ea typeface="Quattrocento Sans"/>
              <a:cs typeface="Quattrocento Sans"/>
            </a:endParaRPr>
          </a:p>
          <a:p>
            <a:r>
              <a:rPr lang="en-GB" sz="1800" dirty="0">
                <a:solidFill>
                  <a:srgbClr val="FF0000"/>
                </a:solidFill>
                <a:latin typeface="Quattrocento Sans"/>
                <a:ea typeface="Quattrocento Sans"/>
                <a:cs typeface="Quattrocento Sans"/>
                <a:sym typeface="Quattrocento Sans"/>
              </a:rPr>
              <a:t> </a:t>
            </a:r>
            <a:r>
              <a:rPr lang="en-GB" sz="1800" dirty="0" err="1">
                <a:solidFill>
                  <a:srgbClr val="FF0000"/>
                </a:solidFill>
                <a:latin typeface="Quattrocento Sans"/>
                <a:ea typeface="Quattrocento Sans"/>
                <a:cs typeface="Quattrocento Sans"/>
                <a:sym typeface="Quattrocento Sans"/>
              </a:rPr>
              <a:t>myCar.color</a:t>
            </a:r>
            <a:r>
              <a:rPr lang="en-GB" sz="1800" dirty="0">
                <a:solidFill>
                  <a:srgbClr val="FF0000"/>
                </a:solidFill>
                <a:latin typeface="Quattrocento Sans"/>
                <a:ea typeface="Quattrocento Sans"/>
                <a:cs typeface="Quattrocento Sans"/>
                <a:sym typeface="Quattrocento Sans"/>
              </a:rPr>
              <a:t> = "blue"; </a:t>
            </a:r>
            <a:endParaRPr lang="en-GB" sz="1800" dirty="0">
              <a:solidFill>
                <a:srgbClr val="FF0000"/>
              </a:solidFill>
              <a:latin typeface="Quattrocento Sans"/>
              <a:ea typeface="Quattrocento Sans"/>
              <a:cs typeface="Quattrocento Sans"/>
            </a:endParaRPr>
          </a:p>
          <a:p>
            <a:r>
              <a:rPr lang="en-GB" sz="1800" dirty="0">
                <a:solidFill>
                  <a:srgbClr val="FF0000"/>
                </a:solidFill>
                <a:latin typeface="Quattrocento Sans"/>
                <a:ea typeface="Quattrocento Sans"/>
                <a:cs typeface="Quattrocento Sans"/>
              </a:rPr>
              <a:t>//We call the Method </a:t>
            </a:r>
            <a:endParaRPr lang="en-GB" sz="1800" dirty="0">
              <a:latin typeface="Quattrocento Sans"/>
              <a:ea typeface="Quattrocento Sans"/>
              <a:cs typeface="Quattrocento Sans"/>
            </a:endParaRPr>
          </a:p>
          <a:p>
            <a:r>
              <a:rPr lang="en-GB" sz="1800" dirty="0">
                <a:solidFill>
                  <a:srgbClr val="FF0000"/>
                </a:solidFill>
                <a:latin typeface="Quattrocento Sans"/>
                <a:ea typeface="Quattrocento Sans"/>
                <a:cs typeface="Quattrocento Sans"/>
                <a:sym typeface="Quattrocento Sans"/>
              </a:rPr>
              <a:t> </a:t>
            </a:r>
            <a:r>
              <a:rPr lang="en-GB" sz="1800" dirty="0" err="1">
                <a:solidFill>
                  <a:srgbClr val="FF0000"/>
                </a:solidFill>
                <a:latin typeface="Quattrocento Sans"/>
                <a:ea typeface="Quattrocento Sans"/>
                <a:cs typeface="Quattrocento Sans"/>
                <a:sym typeface="Quattrocento Sans"/>
              </a:rPr>
              <a:t>myCar.ShowCarColor</a:t>
            </a:r>
            <a:r>
              <a:rPr lang="en-GB" sz="1800" dirty="0">
                <a:solidFill>
                  <a:srgbClr val="FF0000"/>
                </a:solidFill>
                <a:latin typeface="Quattrocento Sans"/>
                <a:ea typeface="Quattrocento Sans"/>
                <a:cs typeface="Quattrocento Sans"/>
                <a:sym typeface="Quattrocento Sans"/>
              </a:rPr>
              <a:t>(); </a:t>
            </a:r>
            <a:endParaRPr dirty="0">
              <a:solidFill>
                <a:srgbClr val="FF0000"/>
              </a:solidFill>
            </a:endParaRPr>
          </a:p>
        </p:txBody>
      </p:sp>
      <p:pic>
        <p:nvPicPr>
          <p:cNvPr id="250" name="Google Shape;250;p31"/>
          <p:cNvPicPr preferRelativeResize="0"/>
          <p:nvPr/>
        </p:nvPicPr>
        <p:blipFill rotWithShape="1">
          <a:blip r:embed="rId3">
            <a:alphaModFix/>
          </a:blip>
          <a:srcRect/>
          <a:stretch/>
        </p:blipFill>
        <p:spPr>
          <a:xfrm>
            <a:off x="7356198" y="4761206"/>
            <a:ext cx="1404098" cy="1404098"/>
          </a:xfrm>
          <a:prstGeom prst="rect">
            <a:avLst/>
          </a:prstGeom>
          <a:noFill/>
          <a:ln>
            <a:noFill/>
          </a:ln>
        </p:spPr>
      </p:pic>
      <p:pic>
        <p:nvPicPr>
          <p:cNvPr id="251" name="Google Shape;251;p31"/>
          <p:cNvPicPr preferRelativeResize="0"/>
          <p:nvPr/>
        </p:nvPicPr>
        <p:blipFill rotWithShape="1">
          <a:blip r:embed="rId4">
            <a:alphaModFix/>
          </a:blip>
          <a:srcRect/>
          <a:stretch/>
        </p:blipFill>
        <p:spPr>
          <a:xfrm>
            <a:off x="9070981" y="4761207"/>
            <a:ext cx="1368152" cy="1403233"/>
          </a:xfrm>
          <a:prstGeom prst="rect">
            <a:avLst/>
          </a:prstGeom>
          <a:noFill/>
          <a:ln>
            <a:noFill/>
          </a:ln>
        </p:spPr>
      </p:pic>
    </p:spTree>
    <p:extLst>
      <p:ext uri="{BB962C8B-B14F-4D97-AF65-F5344CB8AC3E}">
        <p14:creationId xmlns:p14="http://schemas.microsoft.com/office/powerpoint/2010/main" val="22314102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307" name="Google Shape;307;p39"/>
          <p:cNvSpPr txBox="1"/>
          <p:nvPr/>
        </p:nvSpPr>
        <p:spPr>
          <a:xfrm>
            <a:off x="609600" y="1403985"/>
            <a:ext cx="8550291" cy="418576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Control Flow:</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endParaRPr>
          </a:p>
          <a:p>
            <a:r>
              <a:rPr lang="en-GB" sz="2400">
                <a:solidFill>
                  <a:schemeClr val="dk1"/>
                </a:solidFill>
                <a:latin typeface="Quattrocento Sans"/>
                <a:ea typeface="Quattrocento Sans"/>
                <a:cs typeface="Quattrocento Sans"/>
                <a:sym typeface="Quattrocento Sans"/>
              </a:rPr>
              <a:t>To be able to control the flow in your program is important in every programming language. </a:t>
            </a:r>
            <a:endParaRPr lang="en-GB">
              <a:ea typeface="Quattrocento Sans"/>
              <a:sym typeface="Quattrocento Sans"/>
            </a:endParaRPr>
          </a:p>
          <a:p>
            <a:endParaRPr lang="en-GB" sz="24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The two most important techniques are: </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The if Statement</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The switch Statement</a:t>
            </a:r>
            <a:endParaRPr>
              <a:solidFill>
                <a:schemeClr val="dk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314" name="Google Shape;314;p40"/>
          <p:cNvSpPr txBox="1"/>
          <p:nvPr/>
        </p:nvSpPr>
        <p:spPr>
          <a:xfrm>
            <a:off x="609600" y="1403985"/>
            <a:ext cx="10154973" cy="41857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If Statement:</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endParaRPr>
          </a:p>
          <a:p>
            <a:r>
              <a:rPr lang="en-GB" sz="2400">
                <a:solidFill>
                  <a:schemeClr val="dk1"/>
                </a:solidFill>
                <a:latin typeface="Quattrocento Sans"/>
                <a:ea typeface="Quattrocento Sans"/>
                <a:cs typeface="Quattrocento Sans"/>
                <a:sym typeface="Quattrocento Sans"/>
              </a:rPr>
              <a:t>The if statement is probably the most used mechanism to control the flow in your application. </a:t>
            </a:r>
            <a:endParaRPr lang="en-GB">
              <a:ea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An if statement allows you to take different paths of logic, depending on a given condition. When the condition evaluates to a </a:t>
            </a:r>
            <a:r>
              <a:rPr lang="en-GB" sz="2400" err="1">
                <a:solidFill>
                  <a:schemeClr val="dk1"/>
                </a:solidFill>
                <a:latin typeface="Quattrocento Sans"/>
                <a:ea typeface="Quattrocento Sans"/>
                <a:cs typeface="Quattrocento Sans"/>
                <a:sym typeface="Quattrocento Sans"/>
              </a:rPr>
              <a:t>boolean</a:t>
            </a:r>
            <a:r>
              <a:rPr lang="en-GB" sz="2400">
                <a:solidFill>
                  <a:schemeClr val="dk1"/>
                </a:solidFill>
                <a:latin typeface="Quattrocento Sans"/>
                <a:ea typeface="Quattrocento Sans"/>
                <a:cs typeface="Quattrocento Sans"/>
                <a:sym typeface="Quattrocento Sans"/>
              </a:rPr>
              <a:t> true, a block of code for that true condition will execute. You have the option of a single if statement, multiple else if statements, and an optional else statement.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321" name="Google Shape;321;p41"/>
          <p:cNvSpPr txBox="1"/>
          <p:nvPr/>
        </p:nvSpPr>
        <p:spPr>
          <a:xfrm>
            <a:off x="609600" y="1395191"/>
            <a:ext cx="8550291" cy="41857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If Statement:</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400" err="1">
                <a:solidFill>
                  <a:schemeClr val="dk1"/>
                </a:solidFill>
                <a:latin typeface="Quattrocento Sans"/>
                <a:ea typeface="Quattrocento Sans"/>
                <a:cs typeface="Quattrocento Sans"/>
                <a:sym typeface="Quattrocento Sans"/>
              </a:rPr>
              <a:t>myTest</a:t>
            </a:r>
            <a:r>
              <a:rPr lang="en-GB" sz="2400">
                <a:solidFill>
                  <a:schemeClr val="dk1"/>
                </a:solidFill>
                <a:latin typeface="Quattrocento Sans"/>
                <a:ea typeface="Quattrocento Sans"/>
                <a:cs typeface="Quattrocento Sans"/>
                <a:sym typeface="Quattrocento Sans"/>
              </a:rPr>
              <a:t>=false;</a:t>
            </a:r>
            <a:endParaRPr>
              <a:solidFill>
                <a:schemeClr val="dk1"/>
              </a:solidFill>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endParaRPr>
          </a:p>
          <a:p>
            <a:r>
              <a:rPr lang="en-GB" sz="2400">
                <a:solidFill>
                  <a:schemeClr val="dk1"/>
                </a:solidFill>
                <a:latin typeface="Quattrocento Sans"/>
                <a:ea typeface="Quattrocento Sans"/>
                <a:cs typeface="Quattrocento Sans"/>
                <a:sym typeface="Quattrocento Sans"/>
              </a:rPr>
              <a:t>if (</a:t>
            </a:r>
            <a:r>
              <a:rPr lang="en-GB" sz="2400" err="1">
                <a:solidFill>
                  <a:schemeClr val="dk1"/>
                </a:solidFill>
                <a:latin typeface="Quattrocento Sans"/>
                <a:ea typeface="Quattrocento Sans"/>
                <a:cs typeface="Quattrocento Sans"/>
                <a:sym typeface="Quattrocento Sans"/>
              </a:rPr>
              <a:t>myTest</a:t>
            </a:r>
            <a:r>
              <a:rPr lang="en-GB" sz="2400">
                <a:solidFill>
                  <a:schemeClr val="dk1"/>
                </a:solidFill>
                <a:latin typeface="Quattrocento Sans"/>
                <a:ea typeface="Quattrocento Sans"/>
                <a:cs typeface="Quattrocento Sans"/>
                <a:sym typeface="Quattrocento Sans"/>
              </a:rPr>
              <a:t>==false) </a:t>
            </a:r>
            <a:endParaRPr lang="en-GB">
              <a:solidFill>
                <a:schemeClr val="dk1"/>
              </a:solidFill>
              <a:ea typeface="Quattrocento Sans"/>
              <a:sym typeface="Quattrocento Sans"/>
            </a:endParaRPr>
          </a:p>
          <a:p>
            <a:r>
              <a:rPr lang="en-GB" sz="2400">
                <a:solidFill>
                  <a:schemeClr val="dk1"/>
                </a:solidFill>
                <a:latin typeface="Quattrocento Sans"/>
                <a:ea typeface="Quattrocento Sans"/>
                <a:cs typeface="Quattrocento Sans"/>
                <a:sym typeface="Quattrocento Sans"/>
              </a:rPr>
              <a:t>{</a:t>
            </a:r>
            <a:endParaRPr>
              <a:solidFill>
                <a:schemeClr val="dk1"/>
              </a:solidFill>
            </a:endParaRPr>
          </a:p>
          <a:p>
            <a:r>
              <a:rPr lang="en-GB" sz="2400">
                <a:solidFill>
                  <a:schemeClr val="dk1"/>
                </a:solidFill>
                <a:latin typeface="Quattrocento Sans"/>
                <a:ea typeface="Quattrocento Sans"/>
                <a:cs typeface="Quattrocento Sans"/>
                <a:sym typeface="Quattrocento Sans"/>
              </a:rPr>
              <a:t>	</a:t>
            </a:r>
            <a:r>
              <a:rPr lang="en-GB" sz="2400" err="1">
                <a:solidFill>
                  <a:schemeClr val="dk1"/>
                </a:solidFill>
                <a:latin typeface="Quattrocento Sans"/>
                <a:ea typeface="Quattrocento Sans"/>
                <a:cs typeface="Quattrocento Sans"/>
                <a:sym typeface="Quattrocento Sans"/>
              </a:rPr>
              <a:t>MessageBox.Show</a:t>
            </a:r>
            <a:r>
              <a:rPr lang="en-GB" sz="2400">
                <a:solidFill>
                  <a:schemeClr val="dk1"/>
                </a:solidFill>
                <a:latin typeface="Quattrocento Sans"/>
                <a:ea typeface="Quattrocento Sans"/>
                <a:cs typeface="Quattrocento Sans"/>
                <a:sym typeface="Quattrocento Sans"/>
              </a:rPr>
              <a:t>("Hello"); </a:t>
            </a:r>
            <a:endParaRPr lang="en-GB" sz="2400">
              <a:solidFill>
                <a:schemeClr val="dk1"/>
              </a:solidFill>
              <a:latin typeface="Quattrocento Sans"/>
              <a:ea typeface="Quattrocento Sans"/>
              <a:cs typeface="Quattrocento Sans"/>
            </a:endParaRPr>
          </a:p>
          <a:p>
            <a:r>
              <a:rPr lang="en-GB" sz="2400">
                <a:solidFill>
                  <a:schemeClr val="dk1"/>
                </a:solidFill>
                <a:latin typeface="Quattrocento Sans"/>
              </a:rPr>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328" name="Google Shape;328;p42"/>
          <p:cNvSpPr txBox="1"/>
          <p:nvPr/>
        </p:nvSpPr>
        <p:spPr>
          <a:xfrm>
            <a:off x="609600" y="1368816"/>
            <a:ext cx="8550291" cy="52937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sz="2400" i="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If … Else Statement:</a:t>
            </a:r>
            <a:endParaRPr/>
          </a:p>
          <a:p>
            <a:r>
              <a:rPr lang="en-GB" sz="2400">
                <a:solidFill>
                  <a:schemeClr val="dk1"/>
                </a:solidFill>
                <a:latin typeface="Quattrocento Sans"/>
                <a:ea typeface="Quattrocento Sans"/>
                <a:cs typeface="Quattrocento Sans"/>
                <a:sym typeface="Quattrocento Sans"/>
              </a:rPr>
              <a:t>For more complex logic we use the if … else statement. </a:t>
            </a:r>
            <a:endParaRPr lang="en-GB">
              <a:solidFill>
                <a:schemeClr val="dk1"/>
              </a:solidFill>
              <a:ea typeface="Quattrocento Sans"/>
              <a:sym typeface="Quattrocento Sans"/>
            </a:endParaRPr>
          </a:p>
          <a:p>
            <a:endParaRPr lang="en-GB" sz="20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bool </a:t>
            </a:r>
            <a:r>
              <a:rPr lang="en-GB" sz="2000" err="1">
                <a:solidFill>
                  <a:schemeClr val="dk1"/>
                </a:solidFill>
                <a:latin typeface="Quattrocento Sans"/>
                <a:ea typeface="Quattrocento Sans"/>
                <a:cs typeface="Quattrocento Sans"/>
                <a:sym typeface="Quattrocento Sans"/>
              </a:rPr>
              <a:t>myTest</a:t>
            </a:r>
            <a:r>
              <a:rPr lang="en-GB" sz="2000">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rtl="0">
              <a:spcBef>
                <a:spcPts val="0"/>
              </a:spcBef>
              <a:spcAft>
                <a:spcPts val="0"/>
              </a:spcAft>
              <a:buNone/>
            </a:pPr>
            <a:r>
              <a:rPr lang="en-GB" sz="2000" err="1">
                <a:solidFill>
                  <a:schemeClr val="dk1"/>
                </a:solidFill>
                <a:latin typeface="Quattrocento Sans"/>
                <a:ea typeface="Quattrocento Sans"/>
                <a:cs typeface="Quattrocento Sans"/>
                <a:sym typeface="Quattrocento Sans"/>
              </a:rPr>
              <a:t>myTest</a:t>
            </a:r>
            <a:r>
              <a:rPr lang="en-GB" sz="2000">
                <a:solidFill>
                  <a:schemeClr val="dk1"/>
                </a:solidFill>
                <a:latin typeface="Quattrocento Sans"/>
                <a:ea typeface="Quattrocento Sans"/>
                <a:cs typeface="Quattrocento Sans"/>
                <a:sym typeface="Quattrocento Sans"/>
              </a:rPr>
              <a:t>=true;</a:t>
            </a:r>
            <a:endParaRPr>
              <a:solidFill>
                <a:schemeClr val="dk1"/>
              </a:solidFill>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if (</a:t>
            </a:r>
            <a:r>
              <a:rPr lang="en-GB" sz="2000" err="1">
                <a:solidFill>
                  <a:schemeClr val="dk1"/>
                </a:solidFill>
                <a:latin typeface="Quattrocento Sans"/>
                <a:ea typeface="Quattrocento Sans"/>
                <a:cs typeface="Quattrocento Sans"/>
                <a:sym typeface="Quattrocento Sans"/>
              </a:rPr>
              <a:t>myTest</a:t>
            </a:r>
            <a:r>
              <a:rPr lang="en-GB" sz="2000">
                <a:solidFill>
                  <a:schemeClr val="dk1"/>
                </a:solidFill>
                <a:latin typeface="Quattrocento Sans"/>
                <a:ea typeface="Quattrocento Sans"/>
                <a:cs typeface="Quattrocento Sans"/>
                <a:sym typeface="Quattrocento Sans"/>
              </a:rPr>
              <a:t>==false)</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a:t>
            </a:r>
            <a:endParaRPr>
              <a:solidFill>
                <a:schemeClr val="dk1"/>
              </a:solidFill>
            </a:endParaRPr>
          </a:p>
          <a:p>
            <a:r>
              <a:rPr lang="en-GB" sz="2000">
                <a:solidFill>
                  <a:schemeClr val="dk1"/>
                </a:solidFill>
                <a:latin typeface="Quattrocento Sans"/>
                <a:ea typeface="Quattrocento Sans"/>
                <a:cs typeface="Quattrocento Sans"/>
                <a:sym typeface="Quattrocento Sans"/>
              </a:rPr>
              <a:t>	</a:t>
            </a:r>
            <a:r>
              <a:rPr lang="en-GB" sz="2000" err="1">
                <a:solidFill>
                  <a:schemeClr val="dk1"/>
                </a:solidFill>
                <a:latin typeface="Quattrocento Sans"/>
                <a:ea typeface="Quattrocento Sans"/>
                <a:cs typeface="Quattrocento Sans"/>
                <a:sym typeface="Quattrocento Sans"/>
              </a:rPr>
              <a:t>MessageBox.Show</a:t>
            </a:r>
            <a:r>
              <a:rPr lang="en-GB" sz="2000">
                <a:solidFill>
                  <a:schemeClr val="dk1"/>
                </a:solidFill>
                <a:latin typeface="Quattrocento Sans"/>
                <a:ea typeface="Quattrocento Sans"/>
                <a:cs typeface="Quattrocento Sans"/>
                <a:sym typeface="Quattrocento Sans"/>
              </a:rPr>
              <a:t>("Hello1"); </a:t>
            </a:r>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else</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a:t>
            </a:r>
            <a:endParaRPr>
              <a:solidFill>
                <a:schemeClr val="dk1"/>
              </a:solidFill>
            </a:endParaRPr>
          </a:p>
          <a:p>
            <a:r>
              <a:rPr lang="en-GB" sz="2000">
                <a:solidFill>
                  <a:schemeClr val="dk1"/>
                </a:solidFill>
                <a:latin typeface="Quattrocento Sans"/>
                <a:ea typeface="Quattrocento Sans"/>
                <a:cs typeface="Quattrocento Sans"/>
                <a:sym typeface="Quattrocento Sans"/>
              </a:rPr>
              <a:t>	</a:t>
            </a:r>
            <a:r>
              <a:rPr lang="en-GB" sz="2000" err="1">
                <a:solidFill>
                  <a:schemeClr val="dk1"/>
                </a:solidFill>
                <a:latin typeface="Quattrocento Sans"/>
                <a:ea typeface="Quattrocento Sans"/>
                <a:cs typeface="Quattrocento Sans"/>
                <a:sym typeface="Quattrocento Sans"/>
              </a:rPr>
              <a:t>MessageBox.Show</a:t>
            </a:r>
            <a:r>
              <a:rPr lang="en-GB" sz="2000">
                <a:solidFill>
                  <a:schemeClr val="dk1"/>
                </a:solidFill>
                <a:latin typeface="Quattrocento Sans"/>
                <a:ea typeface="Quattrocento Sans"/>
                <a:cs typeface="Quattrocento Sans"/>
                <a:sym typeface="Quattrocento Sans"/>
              </a:rPr>
              <a:t>("Hello2"); </a:t>
            </a:r>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a:t>
            </a:r>
            <a:endParaRPr>
              <a:solidFill>
                <a:schemeClr val="dk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335" name="Google Shape;335;p43"/>
          <p:cNvSpPr txBox="1"/>
          <p:nvPr/>
        </p:nvSpPr>
        <p:spPr>
          <a:xfrm>
            <a:off x="609600" y="1360022"/>
            <a:ext cx="10794537" cy="541686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sz="2400" i="1">
              <a:solidFill>
                <a:srgbClr val="FFFF00"/>
              </a:solidFill>
              <a:latin typeface="Quattrocento Sans"/>
              <a:ea typeface="Quattrocento Sans"/>
              <a:cs typeface="Quattrocento Sans"/>
            </a:endParaRPr>
          </a:p>
          <a:p>
            <a:r>
              <a:rPr lang="en-GB" sz="2400">
                <a:solidFill>
                  <a:srgbClr val="FFFF00"/>
                </a:solidFill>
                <a:latin typeface="Quattrocento Sans"/>
                <a:ea typeface="Quattrocento Sans"/>
                <a:cs typeface="Quattrocento Sans"/>
                <a:sym typeface="Quattrocento Sans"/>
              </a:rPr>
              <a:t>If … Else If  Statement: </a:t>
            </a:r>
            <a:r>
              <a:rPr lang="en-GB" sz="2400">
                <a:solidFill>
                  <a:schemeClr val="dk1"/>
                </a:solidFill>
                <a:latin typeface="Quattrocento Sans"/>
                <a:ea typeface="Quattrocento Sans"/>
                <a:cs typeface="Quattrocento Sans"/>
                <a:sym typeface="Quattrocento Sans"/>
              </a:rPr>
              <a:t>Nested</a:t>
            </a:r>
            <a:endParaRPr>
              <a:solidFill>
                <a:schemeClr val="dk1"/>
              </a:solidFill>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int </a:t>
            </a:r>
            <a:r>
              <a:rPr lang="en-GB" sz="1800" err="1">
                <a:solidFill>
                  <a:schemeClr val="dk1"/>
                </a:solidFill>
                <a:latin typeface="Quattrocento Sans"/>
                <a:ea typeface="Quattrocento Sans"/>
                <a:cs typeface="Quattrocento Sans"/>
                <a:sym typeface="Quattrocento Sans"/>
              </a:rPr>
              <a:t>myTest</a:t>
            </a:r>
            <a:r>
              <a:rPr lang="en-GB" sz="1800">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rtl="0">
              <a:spcBef>
                <a:spcPts val="0"/>
              </a:spcBef>
              <a:spcAft>
                <a:spcPts val="0"/>
              </a:spcAft>
              <a:buNone/>
            </a:pPr>
            <a:r>
              <a:rPr lang="en-GB" sz="1800" err="1">
                <a:solidFill>
                  <a:schemeClr val="dk1"/>
                </a:solidFill>
                <a:latin typeface="Quattrocento Sans"/>
                <a:ea typeface="Quattrocento Sans"/>
                <a:cs typeface="Quattrocento Sans"/>
                <a:sym typeface="Quattrocento Sans"/>
              </a:rPr>
              <a:t>myTest</a:t>
            </a:r>
            <a:r>
              <a:rPr lang="en-GB" sz="1800">
                <a:solidFill>
                  <a:schemeClr val="dk1"/>
                </a:solidFill>
                <a:latin typeface="Quattrocento Sans"/>
                <a:ea typeface="Quattrocento Sans"/>
                <a:cs typeface="Quattrocento Sans"/>
                <a:sym typeface="Quattrocento Sans"/>
              </a:rPr>
              <a:t>=2;</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if (</a:t>
            </a:r>
            <a:r>
              <a:rPr lang="en-GB" sz="1800" err="1">
                <a:solidFill>
                  <a:schemeClr val="dk1"/>
                </a:solidFill>
                <a:latin typeface="Quattrocento Sans"/>
                <a:ea typeface="Quattrocento Sans"/>
                <a:cs typeface="Quattrocento Sans"/>
                <a:sym typeface="Quattrocento Sans"/>
              </a:rPr>
              <a:t>myTest</a:t>
            </a:r>
            <a:r>
              <a:rPr lang="en-GB" sz="1800">
                <a:solidFill>
                  <a:schemeClr val="dk1"/>
                </a:solidFill>
                <a:latin typeface="Quattrocento Sans"/>
                <a:ea typeface="Quattrocento Sans"/>
                <a:cs typeface="Quattrocento Sans"/>
                <a:sym typeface="Quattrocento Sans"/>
              </a:rPr>
              <a:t>==1)</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t>
            </a:r>
            <a:endParaRPr>
              <a:solidFill>
                <a:schemeClr val="dk1"/>
              </a:solidFill>
            </a:endParaRPr>
          </a:p>
          <a:p>
            <a:r>
              <a:rPr lang="en-GB" sz="1800">
                <a:solidFill>
                  <a:schemeClr val="dk1"/>
                </a:solidFill>
                <a:latin typeface="Quattrocento Sans"/>
                <a:ea typeface="Quattrocento Sans"/>
                <a:cs typeface="Quattrocento Sans"/>
                <a:sym typeface="Quattrocento Sans"/>
              </a:rPr>
              <a:t>	</a:t>
            </a:r>
            <a:r>
              <a:rPr lang="en-GB" sz="1800" err="1">
                <a:solidFill>
                  <a:schemeClr val="dk1"/>
                </a:solidFill>
                <a:latin typeface="Quattrocento Sans"/>
                <a:ea typeface="Quattrocento Sans"/>
                <a:cs typeface="Quattrocento Sans"/>
                <a:sym typeface="Quattrocento Sans"/>
              </a:rPr>
              <a:t>MessageBox.Show</a:t>
            </a:r>
            <a:r>
              <a:rPr lang="en-GB" sz="1800">
                <a:solidFill>
                  <a:schemeClr val="dk1"/>
                </a:solidFill>
                <a:latin typeface="Quattrocento Sans"/>
                <a:ea typeface="Quattrocento Sans"/>
                <a:cs typeface="Quattrocento Sans"/>
                <a:sym typeface="Quattrocento Sans"/>
              </a:rPr>
              <a:t>("Hello1"); </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else If (</a:t>
            </a:r>
            <a:r>
              <a:rPr lang="en-GB" sz="1800" err="1">
                <a:solidFill>
                  <a:schemeClr val="dk1"/>
                </a:solidFill>
                <a:latin typeface="Quattrocento Sans"/>
                <a:ea typeface="Quattrocento Sans"/>
                <a:cs typeface="Quattrocento Sans"/>
                <a:sym typeface="Quattrocento Sans"/>
              </a:rPr>
              <a:t>myTest</a:t>
            </a:r>
            <a:r>
              <a:rPr lang="en-GB" sz="1800">
                <a:solidFill>
                  <a:schemeClr val="dk1"/>
                </a:solidFill>
                <a:latin typeface="Quattrocento Sans"/>
                <a:ea typeface="Quattrocento Sans"/>
                <a:cs typeface="Quattrocento Sans"/>
                <a:sym typeface="Quattrocento Sans"/>
              </a:rPr>
              <a:t> ==2)</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t>
            </a:r>
            <a:endParaRPr>
              <a:solidFill>
                <a:schemeClr val="dk1"/>
              </a:solidFill>
            </a:endParaRPr>
          </a:p>
          <a:p>
            <a:r>
              <a:rPr lang="en-GB" sz="1800">
                <a:solidFill>
                  <a:schemeClr val="dk1"/>
                </a:solidFill>
                <a:latin typeface="Quattrocento Sans"/>
                <a:ea typeface="Quattrocento Sans"/>
                <a:cs typeface="Quattrocento Sans"/>
                <a:sym typeface="Quattrocento Sans"/>
              </a:rPr>
              <a:t>	</a:t>
            </a:r>
            <a:r>
              <a:rPr lang="en-GB" sz="1800" err="1">
                <a:solidFill>
                  <a:schemeClr val="dk1"/>
                </a:solidFill>
                <a:latin typeface="Quattrocento Sans"/>
                <a:ea typeface="Quattrocento Sans"/>
                <a:cs typeface="Quattrocento Sans"/>
                <a:sym typeface="Quattrocento Sans"/>
              </a:rPr>
              <a:t>MessageBox.Show</a:t>
            </a:r>
            <a:r>
              <a:rPr lang="en-GB" sz="1800">
                <a:solidFill>
                  <a:schemeClr val="dk1"/>
                </a:solidFill>
                <a:latin typeface="Quattrocento Sans"/>
                <a:ea typeface="Quattrocento Sans"/>
                <a:cs typeface="Quattrocento Sans"/>
                <a:sym typeface="Quattrocento Sans"/>
              </a:rPr>
              <a:t>("Hello2"); </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Else</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t>
            </a:r>
            <a:endParaRPr>
              <a:solidFill>
                <a:schemeClr val="dk1"/>
              </a:solidFill>
            </a:endParaRPr>
          </a:p>
          <a:p>
            <a:r>
              <a:rPr lang="en-GB" sz="1800">
                <a:solidFill>
                  <a:schemeClr val="dk1"/>
                </a:solidFill>
                <a:latin typeface="Quattrocento Sans"/>
                <a:ea typeface="Quattrocento Sans"/>
                <a:cs typeface="Quattrocento Sans"/>
                <a:sym typeface="Quattrocento Sans"/>
              </a:rPr>
              <a:t>	MessageBox.Show("Hello3"); </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t>
            </a:r>
            <a:endParaRPr>
              <a:solidFill>
                <a:schemeClr val="dk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342" name="Google Shape;342;p44"/>
          <p:cNvSpPr txBox="1"/>
          <p:nvPr/>
        </p:nvSpPr>
        <p:spPr>
          <a:xfrm>
            <a:off x="609600" y="1412776"/>
            <a:ext cx="8550291" cy="34470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Switch Statement:</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endParaRPr>
          </a:p>
          <a:p>
            <a:r>
              <a:rPr lang="en-GB" sz="2400">
                <a:solidFill>
                  <a:schemeClr val="dk1"/>
                </a:solidFill>
                <a:latin typeface="Quattrocento Sans"/>
                <a:ea typeface="Quattrocento Sans"/>
                <a:cs typeface="Quattrocento Sans"/>
                <a:sym typeface="Quattrocento Sans"/>
              </a:rPr>
              <a:t>Another form of selection statement is the switch statement, which executes a set of logic depending on the value of a given parameter. The types of the values a switch statement operates on can be </a:t>
            </a:r>
            <a:r>
              <a:rPr lang="en-GB" sz="2400" err="1">
                <a:solidFill>
                  <a:schemeClr val="dk1"/>
                </a:solidFill>
                <a:latin typeface="Quattrocento Sans"/>
                <a:ea typeface="Quattrocento Sans"/>
                <a:cs typeface="Quattrocento Sans"/>
                <a:sym typeface="Quattrocento Sans"/>
              </a:rPr>
              <a:t>booleans</a:t>
            </a:r>
            <a:r>
              <a:rPr lang="en-GB" sz="2400">
                <a:solidFill>
                  <a:schemeClr val="dk1"/>
                </a:solidFill>
                <a:latin typeface="Quattrocento Sans"/>
                <a:ea typeface="Quattrocento Sans"/>
                <a:cs typeface="Quattrocento Sans"/>
                <a:sym typeface="Quattrocento Sans"/>
              </a:rPr>
              <a:t>, </a:t>
            </a:r>
            <a:r>
              <a:rPr lang="en-GB" sz="2400" err="1">
                <a:solidFill>
                  <a:schemeClr val="dk1"/>
                </a:solidFill>
                <a:latin typeface="Quattrocento Sans"/>
                <a:ea typeface="Quattrocento Sans"/>
                <a:cs typeface="Quattrocento Sans"/>
                <a:sym typeface="Quattrocento Sans"/>
              </a:rPr>
              <a:t>enums</a:t>
            </a:r>
            <a:r>
              <a:rPr lang="en-GB" sz="2400">
                <a:solidFill>
                  <a:schemeClr val="dk1"/>
                </a:solidFill>
                <a:latin typeface="Quattrocento Sans"/>
                <a:ea typeface="Quattrocento Sans"/>
                <a:cs typeface="Quattrocento Sans"/>
                <a:sym typeface="Quattrocento Sans"/>
              </a:rPr>
              <a:t>, integral types, and strings. </a:t>
            </a:r>
            <a:endParaRPr>
              <a:solidFill>
                <a:schemeClr val="dk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349" name="Google Shape;349;p45"/>
          <p:cNvSpPr txBox="1"/>
          <p:nvPr/>
        </p:nvSpPr>
        <p:spPr>
          <a:xfrm>
            <a:off x="609600" y="1395191"/>
            <a:ext cx="8550291" cy="52322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Switch Statement:</a:t>
            </a:r>
            <a:endParaRPr sz="24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Switch (</a:t>
            </a:r>
            <a:r>
              <a:rPr lang="en-GB" sz="1800" err="1">
                <a:solidFill>
                  <a:schemeClr val="dk1"/>
                </a:solidFill>
                <a:latin typeface="Quattrocento Sans"/>
                <a:ea typeface="Quattrocento Sans"/>
                <a:cs typeface="Quattrocento Sans"/>
                <a:sym typeface="Quattrocento Sans"/>
              </a:rPr>
              <a:t>myTest</a:t>
            </a:r>
            <a:r>
              <a:rPr lang="en-GB" sz="1800">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case 1:</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r>
              <a:rPr lang="en-GB" sz="1800" err="1">
                <a:solidFill>
                  <a:schemeClr val="dk1"/>
                </a:solidFill>
                <a:latin typeface="Quattrocento Sans"/>
                <a:ea typeface="Quattrocento Sans"/>
                <a:cs typeface="Quattrocento Sans"/>
                <a:sym typeface="Quattrocento Sans"/>
              </a:rPr>
              <a:t>MessageBox.Show</a:t>
            </a:r>
            <a:r>
              <a:rPr lang="en-GB" sz="1800">
                <a:solidFill>
                  <a:schemeClr val="dk1"/>
                </a:solidFill>
                <a:latin typeface="Quattrocento Sans"/>
                <a:ea typeface="Quattrocento Sans"/>
                <a:cs typeface="Quattrocento Sans"/>
                <a:sym typeface="Quattrocento Sans"/>
              </a:rPr>
              <a:t>(“Hello1”);</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Break;</a:t>
            </a:r>
            <a:endParaRPr>
              <a:solidFill>
                <a:schemeClr val="dk1"/>
              </a:solidFill>
            </a:endParaRPr>
          </a:p>
          <a:p>
            <a:pPr marL="0" marR="0" lvl="0" indent="0" algn="l" rtl="0">
              <a:spcBef>
                <a:spcPts val="0"/>
              </a:spcBef>
              <a:spcAft>
                <a:spcPts val="0"/>
              </a:spcAft>
              <a:buNone/>
            </a:pPr>
            <a:endParaRPr sz="10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case 2:</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r>
              <a:rPr lang="en-GB" sz="1800" err="1">
                <a:solidFill>
                  <a:schemeClr val="dk1"/>
                </a:solidFill>
                <a:latin typeface="Quattrocento Sans"/>
                <a:ea typeface="Quattrocento Sans"/>
                <a:cs typeface="Quattrocento Sans"/>
                <a:sym typeface="Quattrocento Sans"/>
              </a:rPr>
              <a:t>MessageBox.Show</a:t>
            </a:r>
            <a:r>
              <a:rPr lang="en-GB" sz="1800">
                <a:solidFill>
                  <a:schemeClr val="dk1"/>
                </a:solidFill>
                <a:latin typeface="Quattrocento Sans"/>
                <a:ea typeface="Quattrocento Sans"/>
                <a:cs typeface="Quattrocento Sans"/>
                <a:sym typeface="Quattrocento Sans"/>
              </a:rPr>
              <a:t>(“Hello1”);</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Break;</a:t>
            </a:r>
            <a:endParaRPr>
              <a:solidFill>
                <a:schemeClr val="dk1"/>
              </a:solidFill>
            </a:endParaRPr>
          </a:p>
          <a:p>
            <a:pPr marL="0" marR="0" lvl="0" indent="0" algn="l" rtl="0">
              <a:spcBef>
                <a:spcPts val="0"/>
              </a:spcBef>
              <a:spcAft>
                <a:spcPts val="0"/>
              </a:spcAft>
              <a:buNone/>
            </a:pPr>
            <a:endParaRPr sz="10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case 3:</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r>
              <a:rPr lang="en-GB" sz="1800" err="1">
                <a:solidFill>
                  <a:schemeClr val="dk1"/>
                </a:solidFill>
                <a:latin typeface="Quattrocento Sans"/>
                <a:ea typeface="Quattrocento Sans"/>
                <a:cs typeface="Quattrocento Sans"/>
                <a:sym typeface="Quattrocento Sans"/>
              </a:rPr>
              <a:t>MessageBox.Show</a:t>
            </a:r>
            <a:r>
              <a:rPr lang="en-GB" sz="1800">
                <a:solidFill>
                  <a:schemeClr val="dk1"/>
                </a:solidFill>
                <a:latin typeface="Quattrocento Sans"/>
                <a:ea typeface="Quattrocento Sans"/>
                <a:cs typeface="Quattrocento Sans"/>
                <a:sym typeface="Quattrocento Sans"/>
              </a:rPr>
              <a:t>(“Hello1”);</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Break;</a:t>
            </a:r>
            <a:endParaRPr>
              <a:solidFill>
                <a:schemeClr val="dk1"/>
              </a:solidFill>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t>
            </a:r>
            <a:endParaRPr>
              <a:solidFill>
                <a:schemeClr val="dk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4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356" name="Google Shape;356;p46"/>
          <p:cNvSpPr txBox="1"/>
          <p:nvPr/>
        </p:nvSpPr>
        <p:spPr>
          <a:xfrm>
            <a:off x="609600" y="1412777"/>
            <a:ext cx="8550291" cy="36933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3200">
                <a:solidFill>
                  <a:srgbClr val="FFFF00"/>
                </a:solidFill>
                <a:latin typeface="Quattrocento Sans"/>
                <a:ea typeface="Quattrocento Sans"/>
                <a:cs typeface="Quattrocento Sans"/>
                <a:sym typeface="Quattrocento Sans"/>
              </a:rPr>
              <a:t>Loops:</a:t>
            </a:r>
            <a:endParaRPr sz="32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3200">
                <a:solidFill>
                  <a:schemeClr val="dk1"/>
                </a:solidFill>
                <a:latin typeface="Quattrocento Sans"/>
                <a:ea typeface="Quattrocento Sans"/>
                <a:cs typeface="Quattrocento Sans"/>
                <a:sym typeface="Quattrocento Sans"/>
              </a:rPr>
              <a:t>•	The while loop</a:t>
            </a:r>
            <a:endParaRPr>
              <a:solidFill>
                <a:schemeClr val="dk1"/>
              </a:solidFill>
            </a:endParaRPr>
          </a:p>
          <a:p>
            <a:pPr marL="0" marR="0" lvl="0" indent="0" algn="l" rtl="0">
              <a:spcBef>
                <a:spcPts val="0"/>
              </a:spcBef>
              <a:spcAft>
                <a:spcPts val="0"/>
              </a:spcAft>
              <a:buNone/>
            </a:pPr>
            <a:r>
              <a:rPr lang="en-GB" sz="3200">
                <a:solidFill>
                  <a:schemeClr val="dk1"/>
                </a:solidFill>
                <a:latin typeface="Quattrocento Sans"/>
                <a:ea typeface="Quattrocento Sans"/>
                <a:cs typeface="Quattrocento Sans"/>
                <a:sym typeface="Quattrocento Sans"/>
              </a:rPr>
              <a:t>•	The do loop</a:t>
            </a:r>
            <a:endParaRPr>
              <a:solidFill>
                <a:schemeClr val="dk1"/>
              </a:solidFill>
            </a:endParaRPr>
          </a:p>
          <a:p>
            <a:pPr marL="0" marR="0" lvl="0" indent="0" algn="l" rtl="0">
              <a:spcBef>
                <a:spcPts val="0"/>
              </a:spcBef>
              <a:spcAft>
                <a:spcPts val="0"/>
              </a:spcAft>
              <a:buNone/>
            </a:pPr>
            <a:r>
              <a:rPr lang="en-GB" sz="3200">
                <a:solidFill>
                  <a:schemeClr val="dk1"/>
                </a:solidFill>
                <a:latin typeface="Quattrocento Sans"/>
                <a:ea typeface="Quattrocento Sans"/>
                <a:cs typeface="Quattrocento Sans"/>
                <a:sym typeface="Quattrocento Sans"/>
              </a:rPr>
              <a:t>•	The for loop</a:t>
            </a:r>
            <a:endParaRPr>
              <a:solidFill>
                <a:schemeClr val="dk1"/>
              </a:solidFill>
            </a:endParaRPr>
          </a:p>
          <a:p>
            <a:pPr marL="0" marR="0" lvl="0" indent="0" algn="l" rtl="0">
              <a:spcBef>
                <a:spcPts val="0"/>
              </a:spcBef>
              <a:spcAft>
                <a:spcPts val="0"/>
              </a:spcAft>
              <a:buNone/>
            </a:pPr>
            <a:r>
              <a:rPr lang="en-GB" sz="3200">
                <a:solidFill>
                  <a:schemeClr val="dk1"/>
                </a:solidFill>
                <a:latin typeface="Quattrocento Sans"/>
                <a:ea typeface="Quattrocento Sans"/>
                <a:cs typeface="Quattrocento Sans"/>
                <a:sym typeface="Quattrocento Sans"/>
              </a:rPr>
              <a:t>•	The foreach loop</a:t>
            </a:r>
            <a:endParaRPr>
              <a:solidFill>
                <a:schemeClr val="dk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4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63" name="Google Shape;363;p47"/>
          <p:cNvSpPr txBox="1"/>
          <p:nvPr/>
        </p:nvSpPr>
        <p:spPr>
          <a:xfrm>
            <a:off x="609600" y="1403983"/>
            <a:ext cx="8550291" cy="34470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r>
              <a:rPr lang="en-GB" sz="2400">
                <a:solidFill>
                  <a:srgbClr val="FFFF00"/>
                </a:solidFill>
                <a:latin typeface="Quattrocento Sans"/>
                <a:ea typeface="Quattrocento Sans"/>
                <a:cs typeface="Quattrocento Sans"/>
                <a:sym typeface="Quattrocento Sans"/>
              </a:rPr>
              <a:t>for  Loop:</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r>
              <a:rPr lang="en-GB" sz="2400">
                <a:solidFill>
                  <a:schemeClr val="dk1"/>
                </a:solidFill>
                <a:latin typeface="Quattrocento Sans"/>
                <a:ea typeface="Quattrocento Sans"/>
                <a:cs typeface="Quattrocento Sans"/>
                <a:sym typeface="Quattrocento Sans"/>
              </a:rPr>
              <a:t>A for loop works like a while loop, except that the syntax of the for loop includes initialization and condition modification. for loops are appropriate when you know exactly how many times you want to perform the statements within the loop.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70" name="Google Shape;370;p48"/>
          <p:cNvSpPr txBox="1"/>
          <p:nvPr/>
        </p:nvSpPr>
        <p:spPr>
          <a:xfrm>
            <a:off x="609600" y="1403985"/>
            <a:ext cx="8550291" cy="455509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r>
              <a:rPr lang="en-GB" sz="2400">
                <a:solidFill>
                  <a:srgbClr val="FFFF00"/>
                </a:solidFill>
                <a:latin typeface="Quattrocento Sans"/>
                <a:ea typeface="Quattrocento Sans"/>
                <a:cs typeface="Quattrocento Sans"/>
                <a:sym typeface="Quattrocento Sans"/>
              </a:rPr>
              <a:t>for  Loop:</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for (int </a:t>
            </a:r>
            <a:r>
              <a:rPr lang="en-GB" sz="2400" err="1">
                <a:solidFill>
                  <a:schemeClr val="dk1"/>
                </a:solidFill>
                <a:latin typeface="Quattrocento Sans"/>
                <a:ea typeface="Quattrocento Sans"/>
                <a:cs typeface="Quattrocento Sans"/>
                <a:sym typeface="Quattrocento Sans"/>
              </a:rPr>
              <a:t>i</a:t>
            </a:r>
            <a:r>
              <a:rPr lang="en-GB" sz="2400">
                <a:solidFill>
                  <a:schemeClr val="dk1"/>
                </a:solidFill>
                <a:latin typeface="Quattrocento Sans"/>
                <a:ea typeface="Quattrocento Sans"/>
                <a:cs typeface="Quattrocento Sans"/>
                <a:sym typeface="Quattrocento Sans"/>
              </a:rPr>
              <a:t> = 0; </a:t>
            </a:r>
            <a:r>
              <a:rPr lang="en-GB" sz="2400" err="1">
                <a:solidFill>
                  <a:schemeClr val="dk1"/>
                </a:solidFill>
                <a:latin typeface="Quattrocento Sans"/>
                <a:ea typeface="Quattrocento Sans"/>
                <a:cs typeface="Quattrocento Sans"/>
                <a:sym typeface="Quattrocento Sans"/>
              </a:rPr>
              <a:t>i</a:t>
            </a:r>
            <a:r>
              <a:rPr lang="en-GB" sz="2400">
                <a:solidFill>
                  <a:schemeClr val="dk1"/>
                </a:solidFill>
                <a:latin typeface="Quattrocento Sans"/>
                <a:ea typeface="Quattrocento Sans"/>
                <a:cs typeface="Quattrocento Sans"/>
                <a:sym typeface="Quattrocento Sans"/>
              </a:rPr>
              <a:t> &lt; 10; </a:t>
            </a:r>
            <a:r>
              <a:rPr lang="en-GB" sz="2400" err="1">
                <a:solidFill>
                  <a:schemeClr val="dk1"/>
                </a:solidFill>
                <a:latin typeface="Quattrocento Sans"/>
                <a:ea typeface="Quattrocento Sans"/>
                <a:cs typeface="Quattrocento Sans"/>
                <a:sym typeface="Quattrocento Sans"/>
              </a:rPr>
              <a:t>i</a:t>
            </a:r>
            <a:r>
              <a:rPr lang="en-GB" sz="2400">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a:t>
            </a:r>
            <a:endParaRPr>
              <a:solidFill>
                <a:schemeClr val="dk1"/>
              </a:solidFill>
            </a:endParaRPr>
          </a:p>
          <a:p>
            <a:r>
              <a:rPr lang="en-GB" sz="2400">
                <a:solidFill>
                  <a:schemeClr val="dk1"/>
                </a:solidFill>
                <a:latin typeface="Quattrocento Sans"/>
                <a:ea typeface="Quattrocento Sans"/>
                <a:cs typeface="Quattrocento Sans"/>
                <a:sym typeface="Quattrocento Sans"/>
              </a:rPr>
              <a:t>	</a:t>
            </a:r>
            <a:r>
              <a:rPr lang="en-GB" sz="2400" err="1">
                <a:solidFill>
                  <a:schemeClr val="dk1"/>
                </a:solidFill>
                <a:latin typeface="Quattrocento Sans"/>
                <a:ea typeface="Quattrocento Sans"/>
                <a:cs typeface="Quattrocento Sans"/>
                <a:sym typeface="Quattrocento Sans"/>
              </a:rPr>
              <a:t>MessageBox.Show</a:t>
            </a:r>
            <a:r>
              <a:rPr lang="en-GB" sz="2400">
                <a:solidFill>
                  <a:schemeClr val="dk1"/>
                </a:solidFill>
                <a:latin typeface="Quattrocento Sans"/>
                <a:ea typeface="Quattrocento Sans"/>
                <a:cs typeface="Quattrocento Sans"/>
                <a:sym typeface="Quattrocento Sans"/>
              </a:rPr>
              <a:t>("Inside Loop: " + </a:t>
            </a:r>
            <a:r>
              <a:rPr lang="en-GB" sz="2400" err="1">
                <a:solidFill>
                  <a:schemeClr val="dk1"/>
                </a:solidFill>
                <a:latin typeface="Quattrocento Sans"/>
                <a:ea typeface="Quattrocento Sans"/>
                <a:cs typeface="Quattrocento Sans"/>
                <a:sym typeface="Quattrocento Sans"/>
              </a:rPr>
              <a:t>myInt.ToString</a:t>
            </a:r>
            <a:r>
              <a:rPr lang="en-GB" sz="2400">
                <a:solidFill>
                  <a:schemeClr val="dk1"/>
                </a:solidFill>
                <a:latin typeface="Quattrocento Sans"/>
                <a:ea typeface="Quattrocento Sans"/>
                <a:cs typeface="Quattrocento Sans"/>
                <a:sym typeface="Quattrocento Sans"/>
              </a:rPr>
              <a:t>()); </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a:t>
            </a:r>
            <a:r>
              <a:rPr lang="en-GB" sz="2400" err="1">
                <a:solidFill>
                  <a:schemeClr val="dk1"/>
                </a:solidFill>
                <a:latin typeface="Quattrocento Sans"/>
                <a:ea typeface="Quattrocento Sans"/>
                <a:cs typeface="Quattrocento Sans"/>
                <a:sym typeface="Quattrocento Sans"/>
              </a:rPr>
              <a:t>myint</a:t>
            </a:r>
            <a:r>
              <a:rPr lang="en-GB" sz="2400">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rtl="0">
              <a:spcBef>
                <a:spcPts val="0"/>
              </a:spcBef>
              <a:spcAft>
                <a:spcPts val="0"/>
              </a:spcAft>
              <a:buNone/>
            </a:pPr>
            <a:r>
              <a:rPr lang="en-GB" sz="2400" err="1">
                <a:solidFill>
                  <a:schemeClr val="dk1"/>
                </a:solidFill>
                <a:latin typeface="Quattrocento Sans"/>
                <a:ea typeface="Quattrocento Sans"/>
                <a:cs typeface="Quattrocento Sans"/>
                <a:sym typeface="Quattrocento Sans"/>
              </a:rPr>
              <a:t>MessageBox.Show</a:t>
            </a:r>
            <a:r>
              <a:rPr lang="en-GB" sz="2400">
                <a:solidFill>
                  <a:schemeClr val="dk1"/>
                </a:solidFill>
                <a:latin typeface="Quattrocento Sans"/>
                <a:ea typeface="Quattrocento Sans"/>
                <a:cs typeface="Quattrocento Sans"/>
                <a:sym typeface="Quattrocento Sans"/>
              </a:rPr>
              <a:t>("Inside Loop: " + </a:t>
            </a:r>
            <a:r>
              <a:rPr lang="en-GB" sz="2400" err="1">
                <a:solidFill>
                  <a:schemeClr val="dk1"/>
                </a:solidFill>
                <a:latin typeface="Quattrocento Sans"/>
                <a:ea typeface="Quattrocento Sans"/>
                <a:cs typeface="Quattrocento Sans"/>
                <a:sym typeface="Quattrocento Sans"/>
              </a:rPr>
              <a:t>myInt.ToString</a:t>
            </a:r>
            <a:r>
              <a:rPr lang="en-GB" sz="2400">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4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77" name="Google Shape;377;p49"/>
          <p:cNvSpPr txBox="1"/>
          <p:nvPr/>
        </p:nvSpPr>
        <p:spPr>
          <a:xfrm>
            <a:off x="609600" y="1412776"/>
            <a:ext cx="8550291" cy="270843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r>
              <a:rPr lang="en-GB" sz="2400">
                <a:solidFill>
                  <a:srgbClr val="FFFF00"/>
                </a:solidFill>
                <a:latin typeface="Quattrocento Sans"/>
                <a:ea typeface="Quattrocento Sans"/>
                <a:cs typeface="Quattrocento Sans"/>
                <a:sym typeface="Quattrocento Sans"/>
              </a:rPr>
              <a:t>foreach  Loop:</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r>
              <a:rPr lang="en-GB" sz="2400">
                <a:solidFill>
                  <a:schemeClr val="dk1"/>
                </a:solidFill>
                <a:latin typeface="Quattrocento Sans"/>
                <a:ea typeface="Quattrocento Sans"/>
                <a:cs typeface="Quattrocento Sans"/>
                <a:sym typeface="Quattrocento Sans"/>
              </a:rPr>
              <a:t>A foreach loop is used to iterate through the items in a list. It operates on arrays or collections.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5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84" name="Google Shape;384;p50"/>
          <p:cNvSpPr txBox="1"/>
          <p:nvPr/>
        </p:nvSpPr>
        <p:spPr>
          <a:xfrm>
            <a:off x="609600" y="1412777"/>
            <a:ext cx="8550291" cy="418576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r>
              <a:rPr lang="en-GB" sz="2400">
                <a:solidFill>
                  <a:srgbClr val="FFFF00"/>
                </a:solidFill>
                <a:latin typeface="Quattrocento Sans"/>
                <a:ea typeface="Quattrocento Sans"/>
                <a:cs typeface="Quattrocento Sans"/>
                <a:sym typeface="Quattrocento Sans"/>
              </a:rPr>
              <a:t>foreach  Loop:</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r>
              <a:rPr lang="en-GB" sz="2400">
                <a:solidFill>
                  <a:schemeClr val="dk1"/>
                </a:solidFill>
                <a:latin typeface="Quattrocento Sans"/>
                <a:ea typeface="Quattrocento Sans"/>
                <a:cs typeface="Quattrocento Sans"/>
                <a:sym typeface="Quattrocento Sans"/>
              </a:rPr>
              <a:t>string[] names = { "Elvis", "Beatles", "Eagles", "Rolling Stones" }; </a:t>
            </a:r>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endParaRPr>
          </a:p>
          <a:p>
            <a:r>
              <a:rPr lang="en-GB" sz="2400">
                <a:solidFill>
                  <a:schemeClr val="dk1"/>
                </a:solidFill>
                <a:latin typeface="Quattrocento Sans"/>
                <a:ea typeface="Quattrocento Sans"/>
                <a:cs typeface="Quattrocento Sans"/>
                <a:sym typeface="Quattrocento Sans"/>
              </a:rPr>
              <a:t>foreach (string person in names) </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a:t>
            </a:r>
            <a:endParaRPr>
              <a:solidFill>
                <a:schemeClr val="dk1"/>
              </a:solidFill>
            </a:endParaRPr>
          </a:p>
          <a:p>
            <a:r>
              <a:rPr lang="en-GB" sz="2400">
                <a:solidFill>
                  <a:schemeClr val="dk1"/>
                </a:solidFill>
                <a:latin typeface="Quattrocento Sans"/>
                <a:ea typeface="Quattrocento Sans"/>
                <a:cs typeface="Quattrocento Sans"/>
                <a:sym typeface="Quattrocento Sans"/>
              </a:rPr>
              <a:t>	</a:t>
            </a:r>
            <a:r>
              <a:rPr lang="en-GB" sz="2400" err="1">
                <a:solidFill>
                  <a:schemeClr val="dk1"/>
                </a:solidFill>
                <a:latin typeface="Quattrocento Sans"/>
                <a:ea typeface="Quattrocento Sans"/>
                <a:cs typeface="Quattrocento Sans"/>
                <a:sym typeface="Quattrocento Sans"/>
              </a:rPr>
              <a:t>MessageBox.Show</a:t>
            </a:r>
            <a:r>
              <a:rPr lang="en-GB" sz="2400">
                <a:solidFill>
                  <a:schemeClr val="dk1"/>
                </a:solidFill>
                <a:latin typeface="Quattrocento Sans"/>
                <a:ea typeface="Quattrocento Sans"/>
                <a:cs typeface="Quattrocento Sans"/>
                <a:sym typeface="Quattrocento Sans"/>
              </a:rPr>
              <a:t>(person); </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a:t>
            </a:r>
            <a:endParaRPr>
              <a:solidFill>
                <a:schemeClr val="dk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5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91" name="Google Shape;391;p51"/>
          <p:cNvSpPr txBox="1"/>
          <p:nvPr/>
        </p:nvSpPr>
        <p:spPr>
          <a:xfrm>
            <a:off x="609600" y="1403985"/>
            <a:ext cx="10972800" cy="16004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We can use the for loop very effectively with Arrays (to come)</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5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98" name="Google Shape;398;p52"/>
          <p:cNvSpPr txBox="1"/>
          <p:nvPr/>
        </p:nvSpPr>
        <p:spPr>
          <a:xfrm>
            <a:off x="609600" y="1421569"/>
            <a:ext cx="10930236" cy="45550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Methods:</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r>
              <a:rPr lang="en-GB" sz="2400">
                <a:solidFill>
                  <a:schemeClr val="dk1"/>
                </a:solidFill>
                <a:latin typeface="Quattrocento Sans"/>
                <a:ea typeface="Quattrocento Sans"/>
                <a:cs typeface="Quattrocento Sans"/>
                <a:sym typeface="Quattrocento Sans"/>
              </a:rPr>
              <a:t>Methods are extremely useful because they allow you to separate your logic into different units. You can pass information to methods, have it perform one or more statements, and retrieve a return value. The capability to pass parameters and return values is optional and depends on what you want the method to do. </a:t>
            </a:r>
            <a:endParaRPr lang="en-GB">
              <a:solidFill>
                <a:schemeClr val="dk1"/>
              </a:solidFill>
              <a:ea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Methods are similar to functions, procedure or subroutine used in other programming languages. The difference is that a method is always a part of a class. </a:t>
            </a:r>
            <a:endParaRPr>
              <a:solidFill>
                <a:schemeClr val="dk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5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405" name="Google Shape;405;p53"/>
          <p:cNvSpPr txBox="1"/>
          <p:nvPr/>
        </p:nvSpPr>
        <p:spPr>
          <a:xfrm>
            <a:off x="609600" y="1412777"/>
            <a:ext cx="10971989" cy="455509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Methods:</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r>
              <a:rPr lang="en-GB" sz="2400">
                <a:solidFill>
                  <a:schemeClr val="dk1"/>
                </a:solidFill>
                <a:latin typeface="Quattrocento Sans"/>
                <a:ea typeface="Quattrocento Sans"/>
                <a:cs typeface="Quattrocento Sans"/>
                <a:sym typeface="Quattrocento Sans"/>
              </a:rPr>
              <a:t>We learn more about methods below. </a:t>
            </a:r>
            <a:endParaRPr lang="en-GB">
              <a:ea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We have 2 kinds of Methods: </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Static Methods</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a:t>
            </a:r>
            <a:r>
              <a:rPr lang="en-GB" sz="2400" err="1">
                <a:solidFill>
                  <a:schemeClr val="dk1"/>
                </a:solidFill>
                <a:latin typeface="Quattrocento Sans"/>
                <a:ea typeface="Quattrocento Sans"/>
                <a:cs typeface="Quattrocento Sans"/>
                <a:sym typeface="Quattrocento Sans"/>
              </a:rPr>
              <a:t>Nonstatic</a:t>
            </a:r>
            <a:r>
              <a:rPr lang="en-GB" sz="2400">
                <a:solidFill>
                  <a:schemeClr val="dk1"/>
                </a:solidFill>
                <a:latin typeface="Quattrocento Sans"/>
                <a:ea typeface="Quattrocento Sans"/>
                <a:cs typeface="Quattrocento Sans"/>
                <a:sym typeface="Quattrocento Sans"/>
              </a:rPr>
              <a:t> Methods (Instance Method)</a:t>
            </a:r>
            <a:endParaRPr>
              <a:solidFill>
                <a:schemeClr val="dk1"/>
              </a:solidFill>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endParaRPr>
          </a:p>
          <a:p>
            <a:r>
              <a:rPr lang="en-GB" sz="2400">
                <a:solidFill>
                  <a:schemeClr val="dk1"/>
                </a:solidFill>
                <a:latin typeface="Quattrocento Sans"/>
                <a:ea typeface="Quattrocento Sans"/>
                <a:cs typeface="Quattrocento Sans"/>
                <a:sym typeface="Quattrocento Sans"/>
              </a:rPr>
              <a:t>Static Methods belongs to the whole class, while </a:t>
            </a:r>
            <a:r>
              <a:rPr lang="en-GB" sz="2400" err="1">
                <a:solidFill>
                  <a:schemeClr val="dk1"/>
                </a:solidFill>
                <a:latin typeface="Quattrocento Sans"/>
                <a:ea typeface="Quattrocento Sans"/>
                <a:cs typeface="Quattrocento Sans"/>
                <a:sym typeface="Quattrocento Sans"/>
              </a:rPr>
              <a:t>nonstatic</a:t>
            </a:r>
            <a:r>
              <a:rPr lang="en-GB" sz="2400">
                <a:solidFill>
                  <a:schemeClr val="dk1"/>
                </a:solidFill>
                <a:latin typeface="Quattrocento Sans"/>
                <a:ea typeface="Quattrocento Sans"/>
                <a:cs typeface="Quattrocento Sans"/>
                <a:sym typeface="Quattrocento Sans"/>
              </a:rPr>
              <a:t> Methods belong to each instance created from the class. </a:t>
            </a:r>
            <a:endParaRPr>
              <a:solidFill>
                <a:schemeClr val="dk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5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412" name="Google Shape;412;p54"/>
          <p:cNvSpPr txBox="1"/>
          <p:nvPr/>
        </p:nvSpPr>
        <p:spPr>
          <a:xfrm>
            <a:off x="609600" y="1412776"/>
            <a:ext cx="8550291" cy="34470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Methods:</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r>
              <a:rPr lang="en-GB" sz="2400">
                <a:solidFill>
                  <a:schemeClr val="dk1"/>
                </a:solidFill>
                <a:latin typeface="Quattrocento Sans"/>
                <a:ea typeface="Quattrocento Sans"/>
                <a:cs typeface="Quattrocento Sans"/>
                <a:sym typeface="Quattrocento Sans"/>
              </a:rPr>
              <a:t>public void </a:t>
            </a:r>
            <a:r>
              <a:rPr lang="en-GB" sz="2400" err="1">
                <a:solidFill>
                  <a:schemeClr val="dk1"/>
                </a:solidFill>
                <a:latin typeface="Quattrocento Sans"/>
                <a:ea typeface="Quattrocento Sans"/>
                <a:cs typeface="Quattrocento Sans"/>
                <a:sym typeface="Quattrocento Sans"/>
              </a:rPr>
              <a:t>ShowCarColor</a:t>
            </a:r>
            <a:r>
              <a:rPr lang="en-GB" sz="2400">
                <a:solidFill>
                  <a:schemeClr val="dk1"/>
                </a:solidFill>
                <a:latin typeface="Quattrocento Sans"/>
                <a:ea typeface="Quattrocento Sans"/>
                <a:cs typeface="Quattrocento Sans"/>
                <a:sym typeface="Quattrocento Sans"/>
              </a:rPr>
              <a:t>(string </a:t>
            </a:r>
            <a:r>
              <a:rPr lang="en-GB" sz="2400" err="1">
                <a:solidFill>
                  <a:schemeClr val="dk1"/>
                </a:solidFill>
                <a:latin typeface="Quattrocento Sans"/>
                <a:ea typeface="Quattrocento Sans"/>
                <a:cs typeface="Quattrocento Sans"/>
                <a:sym typeface="Quattrocento Sans"/>
              </a:rPr>
              <a:t>color</a:t>
            </a:r>
            <a:r>
              <a:rPr lang="en-GB" sz="2400">
                <a:solidFill>
                  <a:schemeClr val="dk1"/>
                </a:solidFill>
                <a:latin typeface="Quattrocento Sans"/>
                <a:ea typeface="Quattrocento Sans"/>
                <a:cs typeface="Quattrocento Sans"/>
                <a:sym typeface="Quattrocento Sans"/>
              </a:rPr>
              <a:t>) </a:t>
            </a:r>
            <a:endParaRPr lang="en-GB">
              <a:solidFill>
                <a:schemeClr val="dk1"/>
              </a:solidFill>
              <a:ea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a:t>
            </a:r>
            <a:endParaRPr>
              <a:solidFill>
                <a:schemeClr val="dk1"/>
              </a:solidFill>
            </a:endParaRPr>
          </a:p>
          <a:p>
            <a:r>
              <a:rPr lang="en-GB" sz="2400">
                <a:solidFill>
                  <a:schemeClr val="dk1"/>
                </a:solidFill>
                <a:latin typeface="Quattrocento Sans"/>
                <a:ea typeface="Quattrocento Sans"/>
                <a:cs typeface="Quattrocento Sans"/>
                <a:sym typeface="Quattrocento Sans"/>
              </a:rPr>
              <a:t>	</a:t>
            </a:r>
            <a:r>
              <a:rPr lang="en-GB" sz="2400" err="1">
                <a:solidFill>
                  <a:schemeClr val="dk1"/>
                </a:solidFill>
                <a:latin typeface="Quattrocento Sans"/>
                <a:ea typeface="Quattrocento Sans"/>
                <a:cs typeface="Quattrocento Sans"/>
                <a:sym typeface="Quattrocento Sans"/>
              </a:rPr>
              <a:t>MessageBox.Show</a:t>
            </a:r>
            <a:r>
              <a:rPr lang="en-GB" sz="2400">
                <a:solidFill>
                  <a:schemeClr val="dk1"/>
                </a:solidFill>
                <a:latin typeface="Quattrocento Sans"/>
                <a:ea typeface="Quattrocento Sans"/>
                <a:cs typeface="Quattrocento Sans"/>
                <a:sym typeface="Quattrocento Sans"/>
              </a:rPr>
              <a:t>("My Car is: " + </a:t>
            </a:r>
            <a:r>
              <a:rPr lang="en-GB" sz="2400" err="1">
                <a:solidFill>
                  <a:schemeClr val="dk1"/>
                </a:solidFill>
                <a:latin typeface="Quattrocento Sans"/>
                <a:ea typeface="Quattrocento Sans"/>
                <a:cs typeface="Quattrocento Sans"/>
                <a:sym typeface="Quattrocento Sans"/>
              </a:rPr>
              <a:t>color</a:t>
            </a:r>
            <a:r>
              <a:rPr lang="en-GB" sz="2400">
                <a:solidFill>
                  <a:schemeClr val="dk1"/>
                </a:solidFill>
                <a:latin typeface="Quattrocento Sans"/>
                <a:ea typeface="Quattrocento Sans"/>
                <a:cs typeface="Quattrocento Sans"/>
                <a:sym typeface="Quattrocento Sans"/>
              </a:rPr>
              <a:t>); </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a:t>
            </a:r>
            <a:endParaRPr>
              <a:solidFill>
                <a:schemeClr val="dk1"/>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5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Quattrocento Sans"/>
              <a:buNone/>
            </a:pPr>
            <a:r>
              <a:rPr lang="en-GB" sz="4000"/>
              <a:t>3D Interactive Media Development</a:t>
            </a:r>
            <a:endParaRPr/>
          </a:p>
        </p:txBody>
      </p:sp>
      <p:sp>
        <p:nvSpPr>
          <p:cNvPr id="419" name="Google Shape;419;p55"/>
          <p:cNvSpPr txBox="1"/>
          <p:nvPr/>
        </p:nvSpPr>
        <p:spPr>
          <a:xfrm>
            <a:off x="609600" y="1395022"/>
            <a:ext cx="10972800" cy="43396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Basic Variable manipulation: Always change in class, not outside, then issue is just access</a:t>
            </a:r>
            <a:r>
              <a:rPr lang="en-GB" sz="2400" i="1">
                <a:solidFill>
                  <a:srgbClr val="FFFF00"/>
                </a:solidFill>
                <a:latin typeface="Quattrocento Sans"/>
                <a:ea typeface="Quattrocento Sans"/>
                <a:cs typeface="Quattrocento Sans"/>
                <a:sym typeface="Quattrocento Sans"/>
              </a:rPr>
              <a:t>. </a:t>
            </a:r>
            <a:r>
              <a:rPr lang="en-GB" sz="2400">
                <a:solidFill>
                  <a:srgbClr val="FFFF00"/>
                </a:solidFill>
                <a:latin typeface="Quattrocento Sans"/>
                <a:ea typeface="Quattrocento Sans"/>
                <a:cs typeface="Quattrocento Sans"/>
                <a:sym typeface="Quattrocento Sans"/>
              </a:rPr>
              <a:t>Basic Variable and Method/Function manipulation:</a:t>
            </a:r>
            <a:endParaRPr sz="240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a:solidFill>
                <a:srgbClr val="FF00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Declare/Initialise/Access local and other </a:t>
            </a:r>
            <a:r>
              <a:rPr lang="en-GB" sz="2400" err="1">
                <a:solidFill>
                  <a:srgbClr val="FFFF00"/>
                </a:solidFill>
                <a:latin typeface="Quattrocento Sans"/>
                <a:ea typeface="Quattrocento Sans"/>
                <a:cs typeface="Quattrocento Sans"/>
                <a:sym typeface="Quattrocento Sans"/>
              </a:rPr>
              <a:t>GameObject</a:t>
            </a:r>
            <a:r>
              <a:rPr lang="en-GB" sz="2400">
                <a:solidFill>
                  <a:srgbClr val="FFFF00"/>
                </a:solidFill>
                <a:latin typeface="Quattrocento Sans"/>
                <a:ea typeface="Quattrocento Sans"/>
                <a:cs typeface="Quattrocento Sans"/>
                <a:sym typeface="Quattrocento Sans"/>
              </a:rPr>
              <a:t> variables and methods</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Public – Allows access by other GO, constructor is public by default</a:t>
            </a:r>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Private – can always use Inheritance, Polymorphism</a:t>
            </a:r>
            <a:endParaRPr/>
          </a:p>
          <a:p>
            <a:pPr marL="0" marR="0" lvl="0" indent="0" algn="l" rtl="0">
              <a:spcBef>
                <a:spcPts val="0"/>
              </a:spcBef>
              <a:spcAft>
                <a:spcPts val="0"/>
              </a:spcAft>
              <a:buNone/>
            </a:pPr>
            <a:endParaRPr sz="2400">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Static – class, not object function, do not need to instantiate class to access</a:t>
            </a:r>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Non Static – must instantiate to access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5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426" name="Google Shape;426;p56"/>
          <p:cNvSpPr txBox="1"/>
          <p:nvPr/>
        </p:nvSpPr>
        <p:spPr>
          <a:xfrm>
            <a:off x="609600" y="1395022"/>
            <a:ext cx="10972800" cy="39703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lang="en-US" sz="2400" i="1">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a:solidFill>
                <a:srgbClr val="FF00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private = local</a:t>
            </a:r>
            <a:br>
              <a:rPr lang="en-GB" sz="2400">
                <a:latin typeface="Quattrocento Sans"/>
                <a:ea typeface="Quattrocento Sans"/>
                <a:cs typeface="Quattrocento Sans"/>
              </a:rPr>
            </a:br>
            <a:r>
              <a:rPr lang="en-GB" sz="2400">
                <a:solidFill>
                  <a:srgbClr val="FFFF00"/>
                </a:solidFill>
                <a:latin typeface="Quattrocento Sans"/>
                <a:ea typeface="Quattrocento Sans"/>
                <a:cs typeface="Quattrocento Sans"/>
                <a:sym typeface="Quattrocento Sans"/>
              </a:rPr>
              <a:t>public = global</a:t>
            </a:r>
            <a:br>
              <a:rPr lang="en-GB" sz="2400">
                <a:latin typeface="Quattrocento Sans"/>
                <a:ea typeface="Quattrocento Sans"/>
                <a:cs typeface="Quattrocento Sans"/>
              </a:rPr>
            </a:br>
            <a:br>
              <a:rPr lang="en-GB" sz="2400">
                <a:latin typeface="Quattrocento Sans"/>
                <a:ea typeface="Quattrocento Sans"/>
                <a:cs typeface="Quattrocento Sans"/>
              </a:rPr>
            </a:br>
            <a:r>
              <a:rPr lang="en-GB" sz="2400">
                <a:solidFill>
                  <a:srgbClr val="FFFF00"/>
                </a:solidFill>
                <a:latin typeface="Quattrocento Sans"/>
                <a:ea typeface="Quattrocento Sans"/>
                <a:cs typeface="Quattrocento Sans"/>
                <a:sym typeface="Quattrocento Sans"/>
              </a:rPr>
              <a:t>static = global (but only 1 exists)</a:t>
            </a:r>
            <a:br>
              <a:rPr lang="en-GB" sz="2400">
                <a:latin typeface="Quattrocento Sans"/>
                <a:ea typeface="Quattrocento Sans"/>
                <a:cs typeface="Quattrocento Sans"/>
              </a:rPr>
            </a:br>
            <a:r>
              <a:rPr lang="en-GB" sz="2400">
                <a:solidFill>
                  <a:srgbClr val="FFFF00"/>
                </a:solidFill>
                <a:latin typeface="Quattrocento Sans"/>
                <a:ea typeface="Quattrocento Sans"/>
                <a:cs typeface="Quattrocento Sans"/>
                <a:sym typeface="Quattrocento Sans"/>
              </a:rPr>
              <a:t>private static = localized global (but only 1 exists)</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5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433" name="Google Shape;433;p57"/>
          <p:cNvSpPr txBox="1"/>
          <p:nvPr/>
        </p:nvSpPr>
        <p:spPr>
          <a:xfrm>
            <a:off x="609600" y="1395022"/>
            <a:ext cx="10972800" cy="553997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Working in Unity (Static Class)</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i="1">
                <a:solidFill>
                  <a:srgbClr val="FFFF00"/>
                </a:solidFill>
                <a:latin typeface="Quattrocento Sans"/>
                <a:ea typeface="Quattrocento Sans"/>
                <a:cs typeface="Quattrocento Sans"/>
                <a:sym typeface="Quattrocento Sans"/>
              </a:rPr>
              <a:t>// Static Class</a:t>
            </a: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public </a:t>
            </a:r>
            <a:r>
              <a:rPr lang="en-GB" sz="1800">
                <a:solidFill>
                  <a:srgbClr val="FFFF00"/>
                </a:solidFill>
                <a:latin typeface="Quattrocento Sans"/>
                <a:ea typeface="Quattrocento Sans"/>
                <a:cs typeface="Quattrocento Sans"/>
                <a:sym typeface="Quattrocento Sans"/>
              </a:rPr>
              <a:t>static </a:t>
            </a:r>
            <a:r>
              <a:rPr lang="en-GB" sz="1800">
                <a:solidFill>
                  <a:schemeClr val="dk1"/>
                </a:solidFill>
                <a:latin typeface="Quattrocento Sans"/>
                <a:ea typeface="Quattrocento Sans"/>
                <a:cs typeface="Quattrocento Sans"/>
                <a:sym typeface="Quattrocento Sans"/>
              </a:rPr>
              <a:t>class MyClass</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r>
              <a:rPr lang="en-GB" sz="1800">
                <a:solidFill>
                  <a:srgbClr val="FFFF00"/>
                </a:solidFill>
                <a:latin typeface="Quattrocento Sans"/>
                <a:ea typeface="Quattrocento Sans"/>
                <a:cs typeface="Quattrocento Sans"/>
                <a:sym typeface="Quattrocento Sans"/>
              </a:rPr>
              <a:t>static </a:t>
            </a:r>
            <a:r>
              <a:rPr lang="en-GB" sz="1800">
                <a:solidFill>
                  <a:schemeClr val="dk1"/>
                </a:solidFill>
                <a:latin typeface="Quattrocento Sans"/>
                <a:ea typeface="Quattrocento Sans"/>
                <a:cs typeface="Quattrocento Sans"/>
                <a:sym typeface="Quattrocento Sans"/>
              </a:rPr>
              <a:t>MyNameMethod(string myName)</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Console.WriteLine(string.</a:t>
            </a:r>
            <a:r>
              <a:rPr lang="en-GB" sz="18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format</a:t>
            </a:r>
            <a:r>
              <a:rPr lang="en-GB" sz="1800">
                <a:solidFill>
                  <a:schemeClr val="dk1"/>
                </a:solidFill>
                <a:latin typeface="Quattrocento Sans"/>
                <a:ea typeface="Quattrocento Sans"/>
                <a:cs typeface="Quattrocento Sans"/>
                <a:sym typeface="Quattrocento Sans"/>
              </a:rPr>
              <a:t>("My Name Is: {0}", myName);</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t>
            </a:r>
            <a:endParaRPr/>
          </a:p>
          <a:p>
            <a:pPr marL="0" marR="0" lvl="0" indent="0" algn="l" rtl="0">
              <a:spcBef>
                <a:spcPts val="0"/>
              </a:spcBef>
              <a:spcAft>
                <a:spcPts val="0"/>
              </a:spcAft>
              <a:buNone/>
            </a:pPr>
            <a:r>
              <a:rPr lang="en-GB" sz="1800" b="1" i="1">
                <a:solidFill>
                  <a:srgbClr val="FFFF00"/>
                </a:solidFill>
                <a:latin typeface="Quattrocento Sans"/>
                <a:ea typeface="Quattrocento Sans"/>
                <a:cs typeface="Quattrocento Sans"/>
                <a:sym typeface="Quattrocento Sans"/>
              </a:rPr>
              <a:t>//Non Static Class/Method</a:t>
            </a: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public class MyClass</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MyNameMethod(string myName)</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Console.WriteLine(string.</a:t>
            </a:r>
            <a:r>
              <a:rPr lang="en-GB" sz="18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format</a:t>
            </a:r>
            <a:r>
              <a:rPr lang="en-GB" sz="1800">
                <a:solidFill>
                  <a:schemeClr val="dk1"/>
                </a:solidFill>
                <a:latin typeface="Quattrocento Sans"/>
                <a:ea typeface="Quattrocento Sans"/>
                <a:cs typeface="Quattrocento Sans"/>
                <a:sym typeface="Quattrocento Sans"/>
              </a:rPr>
              <a:t>("My Name Is: {0}", myName);</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t>
            </a:r>
            <a:endParaRPr/>
          </a:p>
          <a:p>
            <a:pPr marL="0" marR="0" lvl="0" indent="0" algn="l" rtl="0">
              <a:spcBef>
                <a:spcPts val="0"/>
              </a:spcBef>
              <a:spcAft>
                <a:spcPts val="0"/>
              </a:spcAft>
              <a:buNone/>
            </a:pPr>
            <a:r>
              <a:rPr lang="en-GB" sz="1200">
                <a:solidFill>
                  <a:schemeClr val="dk1"/>
                </a:solidFill>
                <a:latin typeface="Quattrocento Sans"/>
                <a:ea typeface="Quattrocento Sans"/>
                <a:cs typeface="Quattrocento Sans"/>
                <a:sym typeface="Quattrocento Sans"/>
              </a:rPr>
              <a:t>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5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440" name="Google Shape;440;p58"/>
          <p:cNvSpPr txBox="1"/>
          <p:nvPr/>
        </p:nvSpPr>
        <p:spPr>
          <a:xfrm>
            <a:off x="609600" y="1395022"/>
            <a:ext cx="10972800" cy="41242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Working in Unity (Static Class)</a:t>
            </a:r>
            <a:endParaRPr sz="36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Now lets say you want to execute the MyNameMethod(function), </a:t>
            </a:r>
            <a:endParaRPr/>
          </a:p>
          <a:p>
            <a:pPr marL="0" marR="0" lvl="0" indent="0" algn="l" rtl="0">
              <a:spcBef>
                <a:spcPts val="0"/>
              </a:spcBef>
              <a:spcAft>
                <a:spcPts val="0"/>
              </a:spcAft>
              <a:buNone/>
            </a:pP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using the static version you would do:</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MyClass.MyNameMethod("Jimmy James");  </a:t>
            </a:r>
            <a:r>
              <a:rPr lang="en-GB" sz="1800" b="1" i="1">
                <a:solidFill>
                  <a:srgbClr val="FFFF00"/>
                </a:solidFill>
                <a:latin typeface="Quattrocento Sans"/>
                <a:ea typeface="Quattrocento Sans"/>
                <a:cs typeface="Quattrocento Sans"/>
                <a:sym typeface="Quattrocento Sans"/>
              </a:rPr>
              <a:t>NO INSTANTIATION</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Non static would be:</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MyClass myClassInstance = new MyClass(); </a:t>
            </a:r>
            <a:r>
              <a:rPr lang="en-GB" sz="1800" b="1" i="1">
                <a:solidFill>
                  <a:srgbClr val="FFFF00"/>
                </a:solidFill>
                <a:latin typeface="Quattrocento Sans"/>
                <a:ea typeface="Quattrocento Sans"/>
                <a:cs typeface="Quattrocento Sans"/>
                <a:sym typeface="Quattrocento Sans"/>
              </a:rPr>
              <a:t>INSTANTIATION</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myClassInstance.MyNameMethod("Jimmy James Don Dawn");</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endParaRPr/>
          </a:p>
          <a:p>
            <a:pPr marL="0" marR="0" lvl="0" indent="0" algn="l" rtl="0">
              <a:spcBef>
                <a:spcPts val="0"/>
              </a:spcBef>
              <a:spcAft>
                <a:spcPts val="0"/>
              </a:spcAft>
              <a:buNone/>
            </a:pPr>
            <a:r>
              <a:rPr lang="en-GB" sz="1000">
                <a:solidFill>
                  <a:schemeClr val="dk1"/>
                </a:solidFill>
                <a:latin typeface="Quattrocento Sans"/>
                <a:ea typeface="Quattrocento Sans"/>
                <a:cs typeface="Quattrocento Sans"/>
                <a:sym typeface="Quattrocento Sans"/>
              </a:rPr>
              <a:t>https://forum.unity3d.com/threads/static-function.52166/</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5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447" name="Google Shape;447;p59"/>
          <p:cNvSpPr txBox="1"/>
          <p:nvPr/>
        </p:nvSpPr>
        <p:spPr>
          <a:xfrm>
            <a:off x="609600" y="1412777"/>
            <a:ext cx="10971989" cy="52937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err="1">
                <a:solidFill>
                  <a:srgbClr val="FFFF00"/>
                </a:solidFill>
                <a:latin typeface="Quattrocento Sans"/>
                <a:ea typeface="Quattrocento Sans"/>
                <a:cs typeface="Quattrocento Sans"/>
                <a:sym typeface="Quattrocento Sans"/>
              </a:rPr>
              <a:t>NonStatic</a:t>
            </a:r>
            <a:r>
              <a:rPr lang="en-GB" sz="2400">
                <a:solidFill>
                  <a:srgbClr val="FFFF00"/>
                </a:solidFill>
                <a:latin typeface="Quattrocento Sans"/>
                <a:ea typeface="Quattrocento Sans"/>
                <a:cs typeface="Quattrocento Sans"/>
                <a:sym typeface="Quattrocento Sans"/>
              </a:rPr>
              <a:t> Methods:</a:t>
            </a:r>
            <a:endParaRPr/>
          </a:p>
          <a:p>
            <a:r>
              <a:rPr lang="en-GB" sz="2000">
                <a:solidFill>
                  <a:schemeClr val="dk1"/>
                </a:solidFill>
                <a:latin typeface="Quattrocento Sans"/>
                <a:ea typeface="Quattrocento Sans"/>
                <a:cs typeface="Quattrocento Sans"/>
                <a:sym typeface="Quattrocento Sans"/>
              </a:rPr>
              <a:t>We define the class: </a:t>
            </a:r>
            <a:endParaRPr lang="en-GB">
              <a:solidFill>
                <a:schemeClr val="dk1"/>
              </a:solidFill>
              <a:ea typeface="Quattrocento Sans"/>
              <a:sym typeface="Quattrocento Sans"/>
            </a:endParaRPr>
          </a:p>
          <a:p>
            <a:endParaRPr lang="en-GB" sz="20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class Car </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a:t>
            </a:r>
            <a:endParaRPr>
              <a:solidFill>
                <a:schemeClr val="dk1"/>
              </a:solidFill>
            </a:endParaRPr>
          </a:p>
          <a:p>
            <a:r>
              <a:rPr lang="en-GB" sz="2000">
                <a:solidFill>
                  <a:schemeClr val="dk1"/>
                </a:solidFill>
                <a:latin typeface="Quattrocento Sans"/>
                <a:ea typeface="Quattrocento Sans"/>
                <a:cs typeface="Quattrocento Sans"/>
                <a:sym typeface="Quattrocento Sans"/>
              </a:rPr>
              <a:t>	//</a:t>
            </a:r>
            <a:r>
              <a:rPr lang="en-GB" sz="2000" err="1">
                <a:solidFill>
                  <a:schemeClr val="dk1"/>
                </a:solidFill>
                <a:latin typeface="Quattrocento Sans"/>
                <a:ea typeface="Quattrocento Sans"/>
                <a:cs typeface="Quattrocento Sans"/>
                <a:sym typeface="Quattrocento Sans"/>
              </a:rPr>
              <a:t>Nonstatic</a:t>
            </a:r>
            <a:r>
              <a:rPr lang="en-GB" sz="2000">
                <a:solidFill>
                  <a:schemeClr val="dk1"/>
                </a:solidFill>
                <a:latin typeface="Quattrocento Sans"/>
                <a:ea typeface="Quattrocento Sans"/>
                <a:cs typeface="Quattrocento Sans"/>
                <a:sym typeface="Quattrocento Sans"/>
              </a:rPr>
              <a:t>/Instance Method </a:t>
            </a:r>
            <a:endParaRPr>
              <a:solidFill>
                <a:schemeClr val="dk1"/>
              </a:solidFill>
            </a:endParaRPr>
          </a:p>
          <a:p>
            <a:r>
              <a:rPr lang="en-GB" sz="2000">
                <a:solidFill>
                  <a:schemeClr val="dk1"/>
                </a:solidFill>
                <a:latin typeface="Quattrocento Sans"/>
                <a:ea typeface="Quattrocento Sans"/>
                <a:cs typeface="Quattrocento Sans"/>
                <a:sym typeface="Quattrocento Sans"/>
              </a:rPr>
              <a:t>	public void </a:t>
            </a:r>
            <a:r>
              <a:rPr lang="en-GB" sz="2000" err="1">
                <a:solidFill>
                  <a:schemeClr val="dk1"/>
                </a:solidFill>
                <a:latin typeface="Quattrocento Sans"/>
                <a:ea typeface="Quattrocento Sans"/>
                <a:cs typeface="Quattrocento Sans"/>
                <a:sym typeface="Quattrocento Sans"/>
              </a:rPr>
              <a:t>SetColor</a:t>
            </a:r>
            <a:r>
              <a:rPr lang="en-GB" sz="2000">
                <a:solidFill>
                  <a:schemeClr val="dk1"/>
                </a:solidFill>
                <a:latin typeface="Quattrocento Sans"/>
                <a:ea typeface="Quattrocento Sans"/>
                <a:cs typeface="Quattrocento Sans"/>
                <a:sym typeface="Quattrocento Sans"/>
              </a:rPr>
              <a:t>(string </a:t>
            </a:r>
            <a:r>
              <a:rPr lang="en-GB" sz="2000" err="1">
                <a:solidFill>
                  <a:schemeClr val="dk1"/>
                </a:solidFill>
                <a:latin typeface="Quattrocento Sans"/>
                <a:ea typeface="Quattrocento Sans"/>
                <a:cs typeface="Quattrocento Sans"/>
                <a:sym typeface="Quattrocento Sans"/>
              </a:rPr>
              <a:t>color</a:t>
            </a:r>
            <a:r>
              <a:rPr lang="en-GB" sz="2000">
                <a:solidFill>
                  <a:schemeClr val="dk1"/>
                </a:solidFill>
                <a:latin typeface="Quattrocento Sans"/>
                <a:ea typeface="Quattrocento Sans"/>
                <a:cs typeface="Quattrocento Sans"/>
                <a:sym typeface="Quattrocento Sans"/>
              </a:rPr>
              <a:t>) </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	{</a:t>
            </a:r>
            <a:endParaRPr>
              <a:solidFill>
                <a:schemeClr val="dk1"/>
              </a:solidFill>
            </a:endParaRPr>
          </a:p>
          <a:p>
            <a:r>
              <a:rPr lang="en-GB" sz="2000">
                <a:solidFill>
                  <a:schemeClr val="dk1"/>
                </a:solidFill>
                <a:latin typeface="Quattrocento Sans"/>
                <a:ea typeface="Quattrocento Sans"/>
                <a:cs typeface="Quattrocento Sans"/>
                <a:sym typeface="Quattrocento Sans"/>
              </a:rPr>
              <a:t>		</a:t>
            </a:r>
            <a:r>
              <a:rPr lang="en-GB" sz="2000" err="1">
                <a:solidFill>
                  <a:schemeClr val="dk1"/>
                </a:solidFill>
                <a:latin typeface="Quattrocento Sans"/>
                <a:ea typeface="Quattrocento Sans"/>
                <a:cs typeface="Quattrocento Sans"/>
                <a:sym typeface="Quattrocento Sans"/>
              </a:rPr>
              <a:t>MessageBox.Show</a:t>
            </a:r>
            <a:r>
              <a:rPr lang="en-GB" sz="2000">
                <a:solidFill>
                  <a:schemeClr val="dk1"/>
                </a:solidFill>
                <a:latin typeface="Quattrocento Sans"/>
                <a:ea typeface="Quattrocento Sans"/>
                <a:cs typeface="Quattrocento Sans"/>
                <a:sym typeface="Quattrocento Sans"/>
              </a:rPr>
              <a:t>("My Car is: " + </a:t>
            </a:r>
            <a:r>
              <a:rPr lang="en-GB" sz="2000" err="1">
                <a:solidFill>
                  <a:schemeClr val="dk1"/>
                </a:solidFill>
                <a:latin typeface="Quattrocento Sans"/>
                <a:ea typeface="Quattrocento Sans"/>
                <a:cs typeface="Quattrocento Sans"/>
                <a:sym typeface="Quattrocento Sans"/>
              </a:rPr>
              <a:t>color</a:t>
            </a:r>
            <a:r>
              <a:rPr lang="en-GB" sz="2000">
                <a:solidFill>
                  <a:schemeClr val="dk1"/>
                </a:solidFill>
                <a:latin typeface="Quattrocento Sans"/>
                <a:ea typeface="Quattrocento Sans"/>
                <a:cs typeface="Quattrocento Sans"/>
                <a:sym typeface="Quattrocento Sans"/>
              </a:rPr>
              <a:t>); </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	}</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Then we use it:</a:t>
            </a:r>
            <a:endParaRPr>
              <a:solidFill>
                <a:schemeClr val="dk1"/>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6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454" name="Google Shape;454;p60"/>
          <p:cNvSpPr txBox="1"/>
          <p:nvPr/>
        </p:nvSpPr>
        <p:spPr>
          <a:xfrm>
            <a:off x="609600" y="1395022"/>
            <a:ext cx="8550291"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err="1">
                <a:solidFill>
                  <a:srgbClr val="FFFF00"/>
                </a:solidFill>
                <a:latin typeface="Quattrocento Sans"/>
                <a:ea typeface="Quattrocento Sans"/>
                <a:cs typeface="Quattrocento Sans"/>
                <a:sym typeface="Quattrocento Sans"/>
              </a:rPr>
              <a:t>NonStatic</a:t>
            </a:r>
            <a:r>
              <a:rPr lang="en-GB" sz="2400">
                <a:solidFill>
                  <a:srgbClr val="FFFF00"/>
                </a:solidFill>
                <a:latin typeface="Quattrocento Sans"/>
                <a:ea typeface="Quattrocento Sans"/>
                <a:cs typeface="Quattrocento Sans"/>
                <a:sym typeface="Quattrocento Sans"/>
              </a:rPr>
              <a:t> Methods:</a:t>
            </a:r>
            <a:endParaRPr sz="20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Then we use it:</a:t>
            </a:r>
            <a:endParaRPr>
              <a:solidFill>
                <a:schemeClr val="dk1"/>
              </a:solidFill>
            </a:endParaRPr>
          </a:p>
          <a:p>
            <a:pPr marL="0" marR="0" lvl="0" indent="0" algn="l" rtl="0">
              <a:spcBef>
                <a:spcPts val="0"/>
              </a:spcBef>
              <a:spcAft>
                <a:spcPts val="0"/>
              </a:spcAft>
              <a:buNone/>
            </a:pPr>
            <a:endParaRPr sz="2000">
              <a:solidFill>
                <a:schemeClr val="dk1"/>
              </a:solidFill>
              <a:latin typeface="Quattrocento Sans"/>
              <a:ea typeface="Quattrocento Sans"/>
              <a:cs typeface="Quattrocento Sans"/>
            </a:endParaRPr>
          </a:p>
          <a:p>
            <a:r>
              <a:rPr lang="en-GB" sz="2000">
                <a:solidFill>
                  <a:schemeClr val="dk1"/>
                </a:solidFill>
                <a:latin typeface="Quattrocento Sans"/>
                <a:ea typeface="Quattrocento Sans"/>
                <a:cs typeface="Quattrocento Sans"/>
                <a:sym typeface="Quattrocento Sans"/>
              </a:rPr>
              <a:t>Car </a:t>
            </a:r>
            <a:r>
              <a:rPr lang="en-GB" sz="2000" err="1">
                <a:solidFill>
                  <a:schemeClr val="dk1"/>
                </a:solidFill>
                <a:latin typeface="Quattrocento Sans"/>
                <a:ea typeface="Quattrocento Sans"/>
                <a:cs typeface="Quattrocento Sans"/>
                <a:sym typeface="Quattrocento Sans"/>
              </a:rPr>
              <a:t>myCar</a:t>
            </a:r>
            <a:r>
              <a:rPr lang="en-GB" sz="2000">
                <a:solidFill>
                  <a:schemeClr val="dk1"/>
                </a:solidFill>
                <a:latin typeface="Quattrocento Sans"/>
                <a:ea typeface="Quattrocento Sans"/>
                <a:cs typeface="Quattrocento Sans"/>
                <a:sym typeface="Quattrocento Sans"/>
              </a:rPr>
              <a:t> = new Car(); //We create an Instance of the Class </a:t>
            </a:r>
            <a:endParaRPr lang="en-GB">
              <a:solidFill>
                <a:schemeClr val="dk1"/>
              </a:solidFill>
              <a:ea typeface="Quattrocento Sans"/>
              <a:sym typeface="Quattrocento Sans"/>
            </a:endParaRPr>
          </a:p>
          <a:p>
            <a:endParaRPr lang="en-GB" sz="20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000" err="1">
                <a:solidFill>
                  <a:schemeClr val="dk1"/>
                </a:solidFill>
                <a:latin typeface="Quattrocento Sans"/>
                <a:ea typeface="Quattrocento Sans"/>
                <a:cs typeface="Quattrocento Sans"/>
                <a:sym typeface="Quattrocento Sans"/>
              </a:rPr>
              <a:t>myCar.SetColor</a:t>
            </a:r>
            <a:r>
              <a:rPr lang="en-GB" sz="2000">
                <a:solidFill>
                  <a:schemeClr val="dk1"/>
                </a:solidFill>
                <a:latin typeface="Quattrocento Sans"/>
                <a:ea typeface="Quattrocento Sans"/>
                <a:cs typeface="Quattrocento Sans"/>
                <a:sym typeface="Quattrocento Sans"/>
              </a:rPr>
              <a:t>("blue"); //We call the Method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6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461" name="Google Shape;461;p61"/>
          <p:cNvSpPr txBox="1"/>
          <p:nvPr/>
        </p:nvSpPr>
        <p:spPr>
          <a:xfrm>
            <a:off x="609600" y="1412776"/>
            <a:ext cx="10898921" cy="492438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Static:</a:t>
            </a:r>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•Static is a keyword.</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•You've seen it in front of Main (C# VS program files).</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•If it's not there the program won't run.</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•So what is static?</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•To better understand what it means let's think about its opposite: dynamic.</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•Dynamic is not a keyword, but dynamic means changing.</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•Therefore static means it does not change.</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•Static means it cannot be more than it is.</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•It cannot be an object, it cannot have multiple instances .</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•Static means it belongs to the class as opposed to the object (the copy of the class we create using the new keyword).</a:t>
            </a:r>
            <a:endParaRPr>
              <a:solidFill>
                <a:schemeClr val="dk1"/>
              </a:solidFill>
            </a:endParaRPr>
          </a:p>
          <a:p>
            <a:pPr marL="0" marR="0" lvl="0" indent="0" algn="l" rtl="0">
              <a:spcBef>
                <a:spcPts val="0"/>
              </a:spcBef>
              <a:spcAft>
                <a:spcPts val="0"/>
              </a:spcAft>
              <a:buNone/>
            </a:pPr>
            <a:r>
              <a:rPr lang="en-GB" sz="2000">
                <a:solidFill>
                  <a:schemeClr val="dk1"/>
                </a:solidFill>
                <a:latin typeface="Quattrocento Sans"/>
                <a:ea typeface="Quattrocento Sans"/>
                <a:cs typeface="Quattrocento Sans"/>
                <a:sym typeface="Quattrocento Sans"/>
              </a:rPr>
              <a:t>•Unless you specifically call for something to be static, it will be instance (or dynamic).</a:t>
            </a:r>
            <a:endParaRPr>
              <a:solidFill>
                <a:schemeClr val="dk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6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468" name="Google Shape;468;p62"/>
          <p:cNvSpPr txBox="1"/>
          <p:nvPr/>
        </p:nvSpPr>
        <p:spPr>
          <a:xfrm>
            <a:off x="609600" y="1403899"/>
            <a:ext cx="10919797" cy="52937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Static Methods:</a:t>
            </a:r>
            <a:endParaRPr/>
          </a:p>
          <a:p>
            <a:r>
              <a:rPr lang="en-GB" sz="2400">
                <a:solidFill>
                  <a:schemeClr val="dk1"/>
                </a:solidFill>
                <a:latin typeface="Quattrocento Sans"/>
                <a:ea typeface="Quattrocento Sans"/>
                <a:cs typeface="Quattrocento Sans"/>
                <a:sym typeface="Quattrocento Sans"/>
              </a:rPr>
              <a:t>We define the class: </a:t>
            </a:r>
            <a:endParaRPr lang="en-GB">
              <a:ea typeface="Quattrocento Sans"/>
              <a:sym typeface="Quattrocento Sans"/>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class Boat </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a:t>
            </a:r>
            <a:endParaRPr>
              <a:solidFill>
                <a:schemeClr val="dk1"/>
              </a:solidFill>
            </a:endParaRPr>
          </a:p>
          <a:p>
            <a:r>
              <a:rPr lang="en-GB" sz="2400">
                <a:solidFill>
                  <a:schemeClr val="dk1"/>
                </a:solidFill>
                <a:latin typeface="Quattrocento Sans"/>
                <a:ea typeface="Quattrocento Sans"/>
                <a:cs typeface="Quattrocento Sans"/>
                <a:sym typeface="Quattrocento Sans"/>
              </a:rPr>
              <a:t>	//Static Method </a:t>
            </a:r>
            <a:endParaRPr>
              <a:solidFill>
                <a:schemeClr val="dk1"/>
              </a:solidFill>
            </a:endParaRPr>
          </a:p>
          <a:p>
            <a:r>
              <a:rPr lang="en-GB" sz="2400">
                <a:solidFill>
                  <a:schemeClr val="dk1"/>
                </a:solidFill>
                <a:latin typeface="Quattrocento Sans"/>
                <a:ea typeface="Quattrocento Sans"/>
                <a:cs typeface="Quattrocento Sans"/>
                <a:sym typeface="Quattrocento Sans"/>
              </a:rPr>
              <a:t>	public static void </a:t>
            </a:r>
            <a:r>
              <a:rPr lang="en-GB" sz="2400" err="1">
                <a:solidFill>
                  <a:schemeClr val="dk1"/>
                </a:solidFill>
                <a:latin typeface="Quattrocento Sans"/>
                <a:ea typeface="Quattrocento Sans"/>
                <a:cs typeface="Quattrocento Sans"/>
                <a:sym typeface="Quattrocento Sans"/>
              </a:rPr>
              <a:t>SetColor</a:t>
            </a:r>
            <a:r>
              <a:rPr lang="en-GB" sz="2400">
                <a:solidFill>
                  <a:schemeClr val="dk1"/>
                </a:solidFill>
                <a:latin typeface="Quattrocento Sans"/>
                <a:ea typeface="Quattrocento Sans"/>
                <a:cs typeface="Quattrocento Sans"/>
                <a:sym typeface="Quattrocento Sans"/>
              </a:rPr>
              <a:t>(string </a:t>
            </a:r>
            <a:r>
              <a:rPr lang="en-GB" sz="2400" err="1">
                <a:solidFill>
                  <a:schemeClr val="dk1"/>
                </a:solidFill>
                <a:latin typeface="Quattrocento Sans"/>
                <a:ea typeface="Quattrocento Sans"/>
                <a:cs typeface="Quattrocento Sans"/>
                <a:sym typeface="Quattrocento Sans"/>
              </a:rPr>
              <a:t>color</a:t>
            </a:r>
            <a:r>
              <a:rPr lang="en-GB" sz="2400">
                <a:solidFill>
                  <a:schemeClr val="dk1"/>
                </a:solidFill>
                <a:latin typeface="Quattrocento Sans"/>
                <a:ea typeface="Quattrocento Sans"/>
                <a:cs typeface="Quattrocento Sans"/>
                <a:sym typeface="Quattrocento Sans"/>
              </a:rPr>
              <a:t>) </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a:t>
            </a:r>
            <a:endParaRPr>
              <a:solidFill>
                <a:schemeClr val="dk1"/>
              </a:solidFill>
            </a:endParaRPr>
          </a:p>
          <a:p>
            <a:r>
              <a:rPr lang="en-GB" sz="2400">
                <a:solidFill>
                  <a:schemeClr val="dk1"/>
                </a:solidFill>
                <a:latin typeface="Quattrocento Sans"/>
                <a:ea typeface="Quattrocento Sans"/>
                <a:cs typeface="Quattrocento Sans"/>
                <a:sym typeface="Quattrocento Sans"/>
              </a:rPr>
              <a:t>	</a:t>
            </a:r>
            <a:r>
              <a:rPr lang="en-GB" sz="2400" err="1">
                <a:solidFill>
                  <a:schemeClr val="dk1"/>
                </a:solidFill>
                <a:latin typeface="Quattrocento Sans"/>
                <a:ea typeface="Quattrocento Sans"/>
                <a:cs typeface="Quattrocento Sans"/>
                <a:sym typeface="Quattrocento Sans"/>
              </a:rPr>
              <a:t>MessageBox.Show</a:t>
            </a:r>
            <a:r>
              <a:rPr lang="en-GB" sz="2400">
                <a:solidFill>
                  <a:schemeClr val="dk1"/>
                </a:solidFill>
                <a:latin typeface="Quattrocento Sans"/>
                <a:ea typeface="Quattrocento Sans"/>
                <a:cs typeface="Quattrocento Sans"/>
                <a:sym typeface="Quattrocento Sans"/>
              </a:rPr>
              <a:t>("My Boat is: " + </a:t>
            </a:r>
            <a:r>
              <a:rPr lang="en-GB" sz="2400" err="1">
                <a:solidFill>
                  <a:schemeClr val="dk1"/>
                </a:solidFill>
                <a:latin typeface="Quattrocento Sans"/>
                <a:ea typeface="Quattrocento Sans"/>
                <a:cs typeface="Quattrocento Sans"/>
                <a:sym typeface="Quattrocento Sans"/>
              </a:rPr>
              <a:t>color</a:t>
            </a:r>
            <a:r>
              <a:rPr lang="en-GB" sz="2400">
                <a:solidFill>
                  <a:schemeClr val="dk1"/>
                </a:solidFill>
                <a:latin typeface="Quattrocento Sans"/>
                <a:ea typeface="Quattrocento Sans"/>
                <a:cs typeface="Quattrocento Sans"/>
                <a:sym typeface="Quattrocento Sans"/>
              </a:rPr>
              <a:t>); </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	}</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a:t>
            </a:r>
            <a:endParaRPr>
              <a:solidFill>
                <a:schemeClr val="dk1"/>
              </a:solidFill>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Then we use it:</a:t>
            </a:r>
            <a:endParaRPr>
              <a:solidFill>
                <a:schemeClr val="dk1"/>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6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475" name="Google Shape;475;p63"/>
          <p:cNvSpPr txBox="1"/>
          <p:nvPr/>
        </p:nvSpPr>
        <p:spPr>
          <a:xfrm>
            <a:off x="609600" y="1412777"/>
            <a:ext cx="8550291" cy="38164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a:p>
          <a:p>
            <a:pPr marL="0" marR="0" lvl="0" indent="0" algn="l" rtl="0">
              <a:spcBef>
                <a:spcPts val="0"/>
              </a:spcBef>
              <a:spcAft>
                <a:spcPts val="0"/>
              </a:spcAft>
              <a:buNone/>
            </a:pPr>
            <a:r>
              <a:rPr lang="en-GB" sz="1400" i="1">
                <a:solidFill>
                  <a:srgbClr val="FFFFFF"/>
                </a:solidFill>
                <a:latin typeface="Quattrocento Sans"/>
                <a:ea typeface="Quattrocento Sans"/>
                <a:cs typeface="Quattrocento Sans"/>
                <a:sym typeface="Quattrocento Sans"/>
              </a:rPr>
              <a:t>Telemark University College Department of Electrical Engineering, Information Technology and Cybernetics</a:t>
            </a:r>
            <a:endParaRPr/>
          </a:p>
          <a:p>
            <a:pPr marL="0" marR="0" lvl="0" indent="0" algn="l" rtl="0">
              <a:spcBef>
                <a:spcPts val="0"/>
              </a:spcBef>
              <a:spcAft>
                <a:spcPts val="0"/>
              </a:spcAft>
              <a:buNone/>
            </a:pPr>
            <a:endParaRPr sz="2400" i="1">
              <a:solidFill>
                <a:srgbClr val="FFFF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Static Methods:</a:t>
            </a:r>
            <a:endParaRPr/>
          </a:p>
          <a:p>
            <a:pPr marL="0" marR="0" lvl="0" indent="0" algn="l" rtl="0">
              <a:spcBef>
                <a:spcPts val="0"/>
              </a:spcBef>
              <a:spcAft>
                <a:spcPts val="0"/>
              </a:spcAft>
              <a:buNone/>
            </a:pPr>
            <a:r>
              <a:rPr lang="en-GB" sz="2400">
                <a:solidFill>
                  <a:schemeClr val="dk1"/>
                </a:solidFill>
                <a:latin typeface="Quattrocento Sans"/>
                <a:ea typeface="Quattrocento Sans"/>
                <a:cs typeface="Quattrocento Sans"/>
                <a:sym typeface="Quattrocento Sans"/>
              </a:rPr>
              <a:t>Then we use it:</a:t>
            </a:r>
            <a:endParaRPr>
              <a:solidFill>
                <a:schemeClr val="dk1"/>
              </a:solidFill>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endParaRPr>
          </a:p>
          <a:p>
            <a:r>
              <a:rPr lang="en-GB" sz="2400" err="1">
                <a:solidFill>
                  <a:schemeClr val="dk1"/>
                </a:solidFill>
                <a:latin typeface="Quattrocento Sans"/>
                <a:ea typeface="Quattrocento Sans"/>
                <a:cs typeface="Quattrocento Sans"/>
                <a:sym typeface="Quattrocento Sans"/>
              </a:rPr>
              <a:t>Boat.SetColor</a:t>
            </a:r>
            <a:r>
              <a:rPr lang="en-GB" sz="2400">
                <a:solidFill>
                  <a:schemeClr val="dk1"/>
                </a:solidFill>
                <a:latin typeface="Quattrocento Sans"/>
                <a:ea typeface="Quattrocento Sans"/>
                <a:cs typeface="Quattrocento Sans"/>
                <a:sym typeface="Quattrocento Sans"/>
              </a:rPr>
              <a:t>("green"); </a:t>
            </a:r>
            <a:endParaRPr>
              <a:solidFill>
                <a:schemeClr val="dk1"/>
              </a:solidFill>
            </a:endParaRPr>
          </a:p>
          <a:p>
            <a:pPr marL="0" marR="0" lvl="0" indent="0" algn="l" rtl="0">
              <a:spcBef>
                <a:spcPts val="0"/>
              </a:spcBef>
              <a:spcAft>
                <a:spcPts val="0"/>
              </a:spcAft>
              <a:buNone/>
            </a:pPr>
            <a:endParaRPr sz="2400">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400" i="1">
                <a:solidFill>
                  <a:srgbClr val="FFFF00"/>
                </a:solidFill>
                <a:latin typeface="Quattrocento Sans"/>
                <a:ea typeface="Quattrocento Sans"/>
                <a:cs typeface="Quattrocento Sans"/>
                <a:sym typeface="Quattrocento Sans"/>
              </a:rPr>
              <a:t>i.e., we don’t need to create an object/instantiating the class before we use the Static Method.</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6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482" name="Google Shape;482;p64"/>
          <p:cNvSpPr txBox="1"/>
          <p:nvPr/>
        </p:nvSpPr>
        <p:spPr>
          <a:xfrm>
            <a:off x="609600" y="1395022"/>
            <a:ext cx="10972800" cy="39703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lang="en-US" sz="2400" i="1">
              <a:solidFill>
                <a:srgbClr val="FFFF00"/>
              </a:solidFill>
              <a:latin typeface="Quattrocento Sans"/>
              <a:ea typeface="Quattrocento Sans"/>
              <a:cs typeface="Quattrocento Sans"/>
            </a:endParaRPr>
          </a:p>
          <a:p>
            <a:pPr marL="0" marR="0" lvl="0" indent="0" algn="l" rtl="0">
              <a:spcBef>
                <a:spcPts val="0"/>
              </a:spcBef>
              <a:spcAft>
                <a:spcPts val="0"/>
              </a:spcAft>
              <a:buNone/>
            </a:pPr>
            <a:endParaRPr sz="2400">
              <a:solidFill>
                <a:srgbClr val="FF0000"/>
              </a:solidFill>
              <a:latin typeface="Quattrocento Sans"/>
              <a:ea typeface="Quattrocento Sans"/>
              <a:cs typeface="Quattrocento Sans"/>
            </a:endParaRPr>
          </a:p>
          <a:p>
            <a:pPr marL="0" marR="0" lvl="0" indent="0" algn="l" rtl="0">
              <a:spcBef>
                <a:spcPts val="0"/>
              </a:spcBef>
              <a:spcAft>
                <a:spcPts val="0"/>
              </a:spcAft>
              <a:buNone/>
            </a:pPr>
            <a:r>
              <a:rPr lang="en-GB" sz="2400">
                <a:solidFill>
                  <a:srgbClr val="FFFF00"/>
                </a:solidFill>
                <a:latin typeface="Quattrocento Sans"/>
                <a:ea typeface="Quattrocento Sans"/>
                <a:cs typeface="Quattrocento Sans"/>
                <a:sym typeface="Quattrocento Sans"/>
              </a:rPr>
              <a:t>private = local</a:t>
            </a:r>
            <a:br>
              <a:rPr lang="en-GB" sz="2400">
                <a:latin typeface="Quattrocento Sans"/>
                <a:ea typeface="Quattrocento Sans"/>
                <a:cs typeface="Quattrocento Sans"/>
              </a:rPr>
            </a:br>
            <a:r>
              <a:rPr lang="en-GB" sz="2400">
                <a:solidFill>
                  <a:srgbClr val="FFFF00"/>
                </a:solidFill>
                <a:latin typeface="Quattrocento Sans"/>
                <a:ea typeface="Quattrocento Sans"/>
                <a:cs typeface="Quattrocento Sans"/>
                <a:sym typeface="Quattrocento Sans"/>
              </a:rPr>
              <a:t>public = global</a:t>
            </a:r>
            <a:br>
              <a:rPr lang="en-GB" sz="2400">
                <a:latin typeface="Quattrocento Sans"/>
                <a:ea typeface="Quattrocento Sans"/>
                <a:cs typeface="Quattrocento Sans"/>
              </a:rPr>
            </a:br>
            <a:br>
              <a:rPr lang="en-GB" sz="2400">
                <a:latin typeface="Quattrocento Sans"/>
                <a:ea typeface="Quattrocento Sans"/>
                <a:cs typeface="Quattrocento Sans"/>
              </a:rPr>
            </a:br>
            <a:r>
              <a:rPr lang="en-GB" sz="2400">
                <a:solidFill>
                  <a:srgbClr val="FFFF00"/>
                </a:solidFill>
                <a:latin typeface="Quattrocento Sans"/>
                <a:ea typeface="Quattrocento Sans"/>
                <a:cs typeface="Quattrocento Sans"/>
                <a:sym typeface="Quattrocento Sans"/>
              </a:rPr>
              <a:t>static = global (but only 1 exists)</a:t>
            </a:r>
            <a:br>
              <a:rPr lang="en-GB" sz="2400">
                <a:latin typeface="Quattrocento Sans"/>
                <a:ea typeface="Quattrocento Sans"/>
                <a:cs typeface="Quattrocento Sans"/>
              </a:rPr>
            </a:br>
            <a:r>
              <a:rPr lang="en-GB" sz="2400">
                <a:solidFill>
                  <a:srgbClr val="FFFF00"/>
                </a:solidFill>
                <a:latin typeface="Quattrocento Sans"/>
                <a:ea typeface="Quattrocento Sans"/>
                <a:cs typeface="Quattrocento Sans"/>
                <a:sym typeface="Quattrocento Sans"/>
              </a:rPr>
              <a:t>private static = localized global (but only 1 exists)</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6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489" name="Google Shape;489;p65"/>
          <p:cNvSpPr txBox="1"/>
          <p:nvPr/>
        </p:nvSpPr>
        <p:spPr>
          <a:xfrm>
            <a:off x="609600" y="1395022"/>
            <a:ext cx="10972800" cy="212365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Quattrocento Sans"/>
                <a:ea typeface="Quattrocento Sans"/>
                <a:cs typeface="Quattrocento Sans"/>
                <a:sym typeface="Quattrocento Sans"/>
              </a:rPr>
              <a:t>Working in Unity (C# and OOP Concepts)</a:t>
            </a:r>
            <a:endParaRPr sz="2400"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p:txBody>
      </p:sp>
    </p:spTree>
  </p:cSld>
  <p:clrMapOvr>
    <a:masterClrMapping/>
  </p:clrMapOvr>
</p:sld>
</file>

<file path=ppt/theme/theme1.xml><?xml version="1.0" encoding="utf-8"?>
<a:theme xmlns:a="http://schemas.openxmlformats.org/drawingml/2006/main" name="1_Office Theme">
  <a:themeElements>
    <a:clrScheme name="Metro">
      <a:dk1>
        <a:srgbClr val="FFFFFF"/>
      </a:dk1>
      <a:lt1>
        <a:srgbClr val="1F497D"/>
      </a:lt1>
      <a:dk2>
        <a:srgbClr val="FFFFFF"/>
      </a:dk2>
      <a:lt2>
        <a:srgbClr val="1F497D"/>
      </a:lt2>
      <a:accent1>
        <a:srgbClr val="E8402E"/>
      </a:accent1>
      <a:accent2>
        <a:srgbClr val="C0504D"/>
      </a:accent2>
      <a:accent3>
        <a:srgbClr val="9BBB59"/>
      </a:accent3>
      <a:accent4>
        <a:srgbClr val="8064A2"/>
      </a:accent4>
      <a:accent5>
        <a:srgbClr val="4BACC6"/>
      </a:accent5>
      <a:accent6>
        <a:srgbClr val="F79646"/>
      </a:accent6>
      <a:hlink>
        <a:srgbClr val="FFFFFF"/>
      </a:hlink>
      <a:folHlink>
        <a:srgbClr val="C6D9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75</Slides>
  <Notes>75</Notes>
  <HiddenSlides>4</HiddenSlides>
  <ScaleCrop>false</ScaleCrop>
  <HeadingPairs>
    <vt:vector size="4" baseType="variant">
      <vt:variant>
        <vt:lpstr>Theme</vt:lpstr>
      </vt:variant>
      <vt:variant>
        <vt:i4>1</vt:i4>
      </vt:variant>
      <vt:variant>
        <vt:lpstr>Slide Titles</vt:lpstr>
      </vt:variant>
      <vt:variant>
        <vt:i4>75</vt:i4>
      </vt:variant>
    </vt:vector>
  </HeadingPairs>
  <TitlesOfParts>
    <vt:vector size="76" baseType="lpstr">
      <vt:lpstr>1_Office Theme</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Interactive Media Development</dc:title>
  <dc:creator>jeff ferguson</dc:creator>
  <cp:revision>13</cp:revision>
  <dcterms:created xsi:type="dcterms:W3CDTF">2016-10-08T10:37:01Z</dcterms:created>
  <dcterms:modified xsi:type="dcterms:W3CDTF">2025-10-07T06:28:45Z</dcterms:modified>
</cp:coreProperties>
</file>