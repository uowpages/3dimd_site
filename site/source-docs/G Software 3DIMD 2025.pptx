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1" roundtripDataSignature="AMtx7mimxbD0zZFGwgC7JDUrAEwswrU7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ec70fc14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eec70fc14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0">
          <p15:clr>
            <a:srgbClr val="FBAE40"/>
          </p15:clr>
        </p15:guide>
        <p15:guide id="2" orient="horz" pos="550">
          <p15:clr>
            <a:srgbClr val="FBAE40"/>
          </p15:clr>
        </p15:guide>
        <p15:guide id="3" pos="461">
          <p15:clr>
            <a:srgbClr val="FBAE40"/>
          </p15:clr>
        </p15:guide>
        <p15:guide id="4" pos="72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desk.com/education/edu-software/overview?sorting=featured&amp;page=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https://www.autodesk.com/education/edu-software/overview?sorting=featured&amp;filters=individual" TargetMode="External"/><Relationship Id="rId7" Type="http://schemas.openxmlformats.org/officeDocument/2006/relationships/image" Target="../media/image4.jpe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hyperlink" Target="https://github.com/" TargetMode="External"/><Relationship Id="rId4" Type="http://schemas.openxmlformats.org/officeDocument/2006/relationships/hyperlink" Target="https://www.mecabricks.com/en/" TargetMode="External"/><Relationship Id="rId9" Type="http://schemas.openxmlformats.org/officeDocument/2006/relationships/hyperlink" Target="https://visualstudio.microsoft.com/downloads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et.simmer.io/" TargetMode="External"/><Relationship Id="rId13" Type="http://schemas.openxmlformats.org/officeDocument/2006/relationships/hyperlink" Target="https://docs.github.com/en/copilot/get-started/plans-for-github-copilot" TargetMode="External"/><Relationship Id="rId3" Type="http://schemas.openxmlformats.org/officeDocument/2006/relationships/hyperlink" Target="https://id.unity.com/en/conversations/501975b1-9ab1-4599-b9f1-72fa4235b61d01bf" TargetMode="External"/><Relationship Id="rId7" Type="http://schemas.openxmlformats.org/officeDocument/2006/relationships/hyperlink" Target="https://learn.unity.com/pathway/unity-essentials" TargetMode="External"/><Relationship Id="rId12" Type="http://schemas.openxmlformats.org/officeDocument/2006/relationships/hyperlink" Target="https://github.com/copilo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nity3d.com/get-unity/download/archive" TargetMode="External"/><Relationship Id="rId11" Type="http://schemas.openxmlformats.org/officeDocument/2006/relationships/hyperlink" Target="https://docs.github.com/en/education/about-github-education/github-education-for-students/apply-to-github-education-as-a-student" TargetMode="External"/><Relationship Id="rId5" Type="http://schemas.openxmlformats.org/officeDocument/2006/relationships/hyperlink" Target="https://store.unity.com/download-nuo" TargetMode="External"/><Relationship Id="rId10" Type="http://schemas.openxmlformats.org/officeDocument/2006/relationships/hyperlink" Target="https://visualstudio.microsoft.com/vs/unity-tools/" TargetMode="External"/><Relationship Id="rId4" Type="http://schemas.openxmlformats.org/officeDocument/2006/relationships/hyperlink" Target="https://unity.com/products/unity-student?currency=EUR" TargetMode="External"/><Relationship Id="rId9" Type="http://schemas.openxmlformats.org/officeDocument/2006/relationships/hyperlink" Target="https://uowdigital.padlet.org/fergusj/AIMDUnityLearn" TargetMode="External"/><Relationship Id="rId14" Type="http://schemas.openxmlformats.org/officeDocument/2006/relationships/hyperlink" Target="https://docs.github.com/en/copilot/get-started/best-practices-for-using-github-copilo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ity3d.com/get-unity/download/archive?_ga=2.215337873.708256744.1599897727-1458467987.150286018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cabricks.com/e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ssetstore.unity.com/" TargetMode="External"/><Relationship Id="rId4" Type="http://schemas.openxmlformats.org/officeDocument/2006/relationships/hyperlink" Target="https://github.com/copil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 rot="5400000">
            <a:off x="-1472881" y="1472877"/>
            <a:ext cx="6858002" cy="3912245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1"/>
          <p:cNvCxnSpPr/>
          <p:nvPr/>
        </p:nvCxnSpPr>
        <p:spPr>
          <a:xfrm>
            <a:off x="1685480" y="6273490"/>
            <a:ext cx="0" cy="2511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7" name="Google Shape;87;p1"/>
          <p:cNvSpPr txBox="1"/>
          <p:nvPr/>
        </p:nvSpPr>
        <p:spPr>
          <a:xfrm>
            <a:off x="1830590" y="6251265"/>
            <a:ext cx="261941" cy="25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r="-1"/>
          <a:stretch/>
        </p:blipFill>
        <p:spPr>
          <a:xfrm>
            <a:off x="3912243" y="0"/>
            <a:ext cx="827975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407989" y="1357170"/>
            <a:ext cx="3121595" cy="231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50" b="1" i="0" u="none" strike="noStrike" cap="none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Softwa</a:t>
            </a:r>
            <a:r>
              <a:rPr lang="en-GB" sz="4050" b="1">
                <a:latin typeface="Calibri"/>
              </a:rPr>
              <a:t>r</a:t>
            </a:r>
            <a:r>
              <a:rPr lang="en-GB" sz="4050" b="1" i="0" u="none" strike="noStrike" cap="none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e Required for this Module</a:t>
            </a:r>
            <a:endParaRPr sz="4050">
              <a:latin typeface="Calibri"/>
            </a:endParaRPr>
          </a:p>
        </p:txBody>
      </p:sp>
      <p:cxnSp>
        <p:nvCxnSpPr>
          <p:cNvPr id="90" name="Google Shape;90;p1"/>
          <p:cNvCxnSpPr/>
          <p:nvPr/>
        </p:nvCxnSpPr>
        <p:spPr>
          <a:xfrm rot="10800000">
            <a:off x="407990" y="3988475"/>
            <a:ext cx="441646" cy="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407988" y="333374"/>
            <a:ext cx="3033802" cy="129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3D Interactive</a:t>
            </a:r>
            <a:r>
              <a:rPr lang="en-GB" sz="2400" b="1" dirty="0">
                <a:latin typeface="Calibri"/>
              </a:rPr>
              <a:t> </a:t>
            </a:r>
            <a:endParaRPr dirty="0">
              <a:latin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Media Development</a:t>
            </a:r>
            <a:endParaRPr dirty="0">
              <a:latin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8053" y="168275"/>
            <a:ext cx="1194320" cy="119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08007" y="4406052"/>
            <a:ext cx="1120576" cy="112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 descr="Mecabricks (@Mecabricks) | Twitt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61357" y="3069131"/>
            <a:ext cx="1140130" cy="114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 descr="Adobe Photoshop Photoshop CC 2014 Logo Computer Icons Portable Network  Graphics, Photoshop logo, PS logo PNG clipart | free cliparts | UIHere"/>
          <p:cNvPicPr preferRelativeResize="0"/>
          <p:nvPr/>
        </p:nvPicPr>
        <p:blipFill rotWithShape="1">
          <a:blip r:embed="rId7">
            <a:alphaModFix/>
          </a:blip>
          <a:srcRect l="15461" t="16771" r="16266" b="17395"/>
          <a:stretch/>
        </p:blipFill>
        <p:spPr>
          <a:xfrm>
            <a:off x="10574818" y="5647228"/>
            <a:ext cx="1124357" cy="108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99662" y="1637818"/>
            <a:ext cx="1063500" cy="1097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eec70fc144_1_0"/>
          <p:cNvSpPr/>
          <p:nvPr/>
        </p:nvSpPr>
        <p:spPr>
          <a:xfrm rot="5400000">
            <a:off x="-1472905" y="1472850"/>
            <a:ext cx="6858000" cy="3912300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eec70fc144_1_0"/>
          <p:cNvSpPr txBox="1"/>
          <p:nvPr/>
        </p:nvSpPr>
        <p:spPr>
          <a:xfrm>
            <a:off x="407988" y="333374"/>
            <a:ext cx="3033900" cy="12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Software:</a:t>
            </a:r>
            <a:endParaRPr lang="en-US">
              <a:latin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Links</a:t>
            </a:r>
            <a:endParaRPr>
              <a:latin typeface="Calibri"/>
            </a:endParaRPr>
          </a:p>
        </p:txBody>
      </p:sp>
      <p:sp>
        <p:nvSpPr>
          <p:cNvPr id="104" name="Google Shape;104;geec70fc144_1_0"/>
          <p:cNvSpPr txBox="1"/>
          <p:nvPr/>
        </p:nvSpPr>
        <p:spPr>
          <a:xfrm>
            <a:off x="407988" y="2102302"/>
            <a:ext cx="3033900" cy="3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All software is Free, but needs various </a:t>
            </a:r>
            <a:r>
              <a:rPr lang="en-GB" sz="1800">
                <a:latin typeface="Calibri"/>
              </a:rPr>
              <a:t>accounts</a:t>
            </a:r>
            <a:r>
              <a:rPr lang="en-GB" sz="18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. You must set up the accounts and download/ install/ test on your laptop or desktop before tutorials start.</a:t>
            </a:r>
            <a:endParaRPr sz="1200"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105" name="Google Shape;105;geec70fc144_1_0"/>
          <p:cNvCxnSpPr/>
          <p:nvPr/>
        </p:nvCxnSpPr>
        <p:spPr>
          <a:xfrm rot="10800000">
            <a:off x="408034" y="1812606"/>
            <a:ext cx="441600" cy="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6" name="Google Shape;106;geec70fc144_1_0"/>
          <p:cNvCxnSpPr/>
          <p:nvPr/>
        </p:nvCxnSpPr>
        <p:spPr>
          <a:xfrm>
            <a:off x="1685480" y="6273490"/>
            <a:ext cx="0" cy="251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geec70fc144_1_0"/>
          <p:cNvSpPr txBox="1"/>
          <p:nvPr/>
        </p:nvSpPr>
        <p:spPr>
          <a:xfrm>
            <a:off x="1830590" y="6251265"/>
            <a:ext cx="2619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eec70fc144_1_0"/>
          <p:cNvSpPr txBox="1"/>
          <p:nvPr/>
        </p:nvSpPr>
        <p:spPr>
          <a:xfrm>
            <a:off x="4436766" y="130111"/>
            <a:ext cx="7463700" cy="6543600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endParaRPr lang="en-GB" sz="1800" b="1" dirty="0">
              <a:latin typeface="Calibri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alibri"/>
              </a:rPr>
              <a:t>All University Software</a:t>
            </a:r>
            <a:r>
              <a:rPr lang="en-GB" sz="1800" b="1" dirty="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:</a:t>
            </a:r>
            <a:endParaRPr lang="en-US" sz="1800" dirty="0">
              <a:latin typeface="Calibri"/>
            </a:endParaRPr>
          </a:p>
          <a:p>
            <a:pPr>
              <a:buClr>
                <a:schemeClr val="dk1"/>
              </a:buClr>
            </a:pPr>
            <a:endParaRPr lang="en-GB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Apps Anywhere (may require a new install from link – new UI):</a:t>
            </a:r>
            <a:br>
              <a:rPr lang="en-GB" sz="1800" b="1" dirty="0">
                <a:latin typeface="Calibri"/>
                <a:ea typeface="Calibri"/>
                <a:cs typeface="Calibri"/>
              </a:rPr>
            </a:br>
            <a:endParaRPr lang="en-GB" sz="1800" dirty="0">
              <a:solidFill>
                <a:schemeClr val="dk1"/>
              </a:solidFill>
              <a:latin typeface="Calibri"/>
              <a:ea typeface="Calibri"/>
            </a:endParaRPr>
          </a:p>
          <a:p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</a:rPr>
              <a:t>Adobe Creative Cloud for Students:</a:t>
            </a:r>
            <a:br>
              <a:rPr lang="en-GB" sz="1800" b="1" dirty="0">
                <a:latin typeface="Calibri"/>
                <a:ea typeface="Calibri"/>
              </a:rPr>
            </a:br>
            <a:endParaRPr lang="en-GB" sz="1800" dirty="0">
              <a:latin typeface="Calibri"/>
              <a:ea typeface="Calibri"/>
            </a:endParaRPr>
          </a:p>
          <a:p>
            <a:r>
              <a:rPr lang="en-GB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Splashtop</a:t>
            </a: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(Log into and Use University PCs and software - Unsupported):</a:t>
            </a:r>
            <a:br>
              <a:rPr lang="en-GB" sz="1800" b="1" dirty="0">
                <a:latin typeface="Calibri"/>
                <a:ea typeface="Calibri"/>
                <a:cs typeface="Calibri"/>
              </a:rPr>
            </a:br>
            <a:endParaRPr sz="1800" dirty="0">
              <a:uFill>
                <a:noFill/>
              </a:uFill>
              <a:latin typeface="Calibri"/>
              <a:ea typeface="Calibri"/>
              <a:cs typeface="Calibri"/>
              <a:sym typeface="Calibri"/>
              <a:hlinkClick r:id="rId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 rot="5400000">
            <a:off x="-1472878" y="1472878"/>
            <a:ext cx="6858002" cy="3912245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07988" y="333374"/>
            <a:ext cx="3033802" cy="129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Software:</a:t>
            </a:r>
            <a:endParaRPr lang="en-US">
              <a:latin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Links</a:t>
            </a:r>
            <a:endParaRPr>
              <a:latin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07988" y="2102302"/>
            <a:ext cx="3033801" cy="398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All software is Free, but needs various accounts, try setting up the accounts and downloading/ installing/ testing on your Laptop or desktop.</a:t>
            </a:r>
            <a:endParaRPr lang="en-US">
              <a:latin typeface="Calibri"/>
            </a:endParaRPr>
          </a:p>
          <a:p>
            <a:pPr marL="0" marR="0" lvl="0" indent="0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Both Macs and PCs are ok to use in this module.</a:t>
            </a:r>
            <a:endParaRPr>
              <a:latin typeface="Calibri"/>
            </a:endParaRPr>
          </a:p>
          <a:p>
            <a:pPr marL="0" marR="0" lvl="0" indent="0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Unity3D and </a:t>
            </a:r>
            <a:r>
              <a:rPr lang="en-GB" sz="1700" err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Mecabricks</a:t>
            </a:r>
            <a:r>
              <a:rPr lang="en-GB" sz="17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are used in the first 6 weeks and throughout.</a:t>
            </a:r>
            <a:r>
              <a:rPr lang="en-GB">
                <a:latin typeface="Calibri"/>
              </a:rPr>
              <a:t> </a:t>
            </a:r>
            <a:r>
              <a:rPr lang="en-GB" sz="17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3DStudio max and Photoshop in the last 6 weeks.</a:t>
            </a:r>
            <a:endParaRPr sz="2380">
              <a:solidFill>
                <a:srgbClr val="000000"/>
              </a:solidFill>
              <a:latin typeface="Calibri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"/>
          <p:cNvCxnSpPr/>
          <p:nvPr/>
        </p:nvCxnSpPr>
        <p:spPr>
          <a:xfrm rot="10800000">
            <a:off x="407988" y="1812606"/>
            <a:ext cx="441646" cy="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" name="Google Shape;118;p2"/>
          <p:cNvCxnSpPr/>
          <p:nvPr/>
        </p:nvCxnSpPr>
        <p:spPr>
          <a:xfrm>
            <a:off x="1685480" y="6273490"/>
            <a:ext cx="0" cy="2511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2"/>
          <p:cNvSpPr txBox="1"/>
          <p:nvPr/>
        </p:nvSpPr>
        <p:spPr>
          <a:xfrm>
            <a:off x="1830590" y="6251265"/>
            <a:ext cx="261941" cy="25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4347157" y="3393681"/>
            <a:ext cx="7463700" cy="746083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Autodesk 3D</a:t>
            </a:r>
            <a:r>
              <a:rPr lang="en-GB" sz="1800" b="1">
                <a:latin typeface="Calibri"/>
              </a:rPr>
              <a:t>S</a:t>
            </a: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Max</a:t>
            </a:r>
            <a:r>
              <a:rPr lang="en-GB" sz="1800" b="1">
                <a:latin typeface="Calibri"/>
              </a:rPr>
              <a:t> </a:t>
            </a: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Studio</a:t>
            </a:r>
            <a:r>
              <a:rPr lang="en-GB" sz="1800" b="1">
                <a:latin typeface="Calibri"/>
              </a:rPr>
              <a:t> (not available on Macs):</a:t>
            </a:r>
            <a:r>
              <a:rPr lang="en-GB" sz="1800" b="1">
                <a:latin typeface="Calibri"/>
                <a:sym typeface="Calibri"/>
              </a:rPr>
              <a:t> </a:t>
            </a:r>
            <a:endParaRPr lang="en-US" sz="1200">
              <a:latin typeface="Calibri"/>
              <a:sym typeface="Calibri"/>
            </a:endParaRPr>
          </a:p>
          <a:p>
            <a:pPr>
              <a:lnSpc>
                <a:spcPct val="90000"/>
              </a:lnSpc>
            </a:pPr>
            <a:r>
              <a:rPr lang="en-GB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https://www.autodesk.com/education/edu-software/overview?sorting=featured&amp;filters=individual</a:t>
            </a:r>
            <a:r>
              <a:rPr lang="en-GB" sz="1200"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US" sz="12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356122" y="4252596"/>
            <a:ext cx="7463700" cy="740930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800" b="1" err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MecaBricks</a:t>
            </a: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:</a:t>
            </a:r>
            <a:r>
              <a:rPr lang="en-GB" sz="1800" b="1">
                <a:latin typeface="Calibri"/>
                <a:sym typeface="Calibri"/>
              </a:rPr>
              <a:t> </a:t>
            </a:r>
            <a:r>
              <a:rPr lang="en-GB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https://www.mecabricks.com/en/</a:t>
            </a: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US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4320225" y="855650"/>
            <a:ext cx="7463700" cy="777707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GB" sz="1800" b="1" dirty="0">
                <a:solidFill>
                  <a:schemeClr val="dk1"/>
                </a:solidFill>
                <a:latin typeface="Calibri"/>
              </a:rPr>
              <a:t>Unity3D 6000.0.55f1 (Student License)</a:t>
            </a:r>
            <a:r>
              <a:rPr lang="en-GB" sz="1800" b="1" dirty="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:</a:t>
            </a:r>
            <a:r>
              <a:rPr lang="en-GB" sz="1800" b="1" dirty="0">
                <a:latin typeface="Calibri"/>
              </a:rPr>
              <a:t> </a:t>
            </a:r>
            <a:endParaRPr lang="en-GB" dirty="0"/>
          </a:p>
        </p:txBody>
      </p:sp>
      <p:sp>
        <p:nvSpPr>
          <p:cNvPr id="124" name="Google Shape;124;p2"/>
          <p:cNvSpPr txBox="1"/>
          <p:nvPr/>
        </p:nvSpPr>
        <p:spPr>
          <a:xfrm>
            <a:off x="4347128" y="5893671"/>
            <a:ext cx="7463700" cy="841624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Adobe CC and Adobe Photoshop:</a:t>
            </a:r>
            <a:endParaRPr lang="en-US" sz="1800" dirty="0">
              <a:latin typeface="Calibri"/>
            </a:endParaRPr>
          </a:p>
        </p:txBody>
      </p:sp>
      <p:pic>
        <p:nvPicPr>
          <p:cNvPr id="125" name="Google Shape;12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78811" y="932747"/>
            <a:ext cx="629544" cy="629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46275" y="3495198"/>
            <a:ext cx="545463" cy="54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 descr="Mecabricks (@Mecabricks) | Twitt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74790" y="4353369"/>
            <a:ext cx="554427" cy="545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 descr="Adobe Photoshop Photoshop CC 2014 Logo Computer Icons Portable Network  Graphics, Photoshop logo, PS logo PNG clipart | free cliparts | UIHere"/>
          <p:cNvPicPr preferRelativeResize="0"/>
          <p:nvPr/>
        </p:nvPicPr>
        <p:blipFill rotWithShape="1">
          <a:blip r:embed="rId8">
            <a:alphaModFix/>
          </a:blip>
          <a:srcRect l="15461" t="16771" r="16266" b="17395"/>
          <a:stretch/>
        </p:blipFill>
        <p:spPr>
          <a:xfrm>
            <a:off x="11147204" y="6061965"/>
            <a:ext cx="514757" cy="501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 txBox="1"/>
          <p:nvPr/>
        </p:nvSpPr>
        <p:spPr>
          <a:xfrm>
            <a:off x="4320213" y="1786181"/>
            <a:ext cx="7463700" cy="696107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GB" sz="1800" b="1">
                <a:latin typeface="Calibri"/>
              </a:rPr>
              <a:t>Visual Studio 2022 Community</a:t>
            </a: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:</a:t>
            </a:r>
            <a:r>
              <a:rPr lang="en-GB" sz="1800" b="1">
                <a:latin typeface="Calibri"/>
                <a:sym typeface="Calibri"/>
              </a:rPr>
              <a:t> </a:t>
            </a:r>
            <a:r>
              <a:rPr lang="en-GB">
                <a:sym typeface="Calibri"/>
                <a:hlinkClick r:id="rId9"/>
              </a:rPr>
              <a:t>https://visualstudio.microsoft.com/downloads/</a:t>
            </a:r>
            <a:r>
              <a:rPr lang="en-GB">
                <a:sym typeface="Calibri"/>
              </a:rPr>
              <a:t> </a:t>
            </a:r>
            <a:endParaRPr lang="en-GB"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29;p2">
            <a:extLst>
              <a:ext uri="{FF2B5EF4-FFF2-40B4-BE49-F238E27FC236}">
                <a16:creationId xmlns:a16="http://schemas.microsoft.com/office/drawing/2014/main" id="{4E4FD2F0-C845-777D-0FC4-D349383FA720}"/>
              </a:ext>
            </a:extLst>
          </p:cNvPr>
          <p:cNvSpPr txBox="1"/>
          <p:nvPr/>
        </p:nvSpPr>
        <p:spPr>
          <a:xfrm>
            <a:off x="4338142" y="2593004"/>
            <a:ext cx="7463700" cy="696107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GB" sz="1800" b="1" err="1">
                <a:latin typeface="Calibri"/>
              </a:rPr>
              <a:t>Github</a:t>
            </a:r>
            <a:r>
              <a:rPr lang="en-GB" sz="1800" b="1">
                <a:latin typeface="Calibri"/>
              </a:rPr>
              <a:t> </a:t>
            </a: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:</a:t>
            </a:r>
            <a:r>
              <a:rPr lang="en-GB" sz="1800" b="1">
                <a:latin typeface="Calibri"/>
                <a:sym typeface="Calibri"/>
              </a:rPr>
              <a:t> </a:t>
            </a:r>
            <a:r>
              <a:rPr lang="en-GB">
                <a:sym typeface="Calibri"/>
                <a:hlinkClick r:id="rId10"/>
              </a:rPr>
              <a:t>https://github.com/</a:t>
            </a:r>
            <a:r>
              <a:rPr lang="en-GB">
                <a:sym typeface="Calibri"/>
              </a:rPr>
              <a:t> </a:t>
            </a:r>
            <a:endParaRPr lang="en-GB">
              <a:ea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>
              <a:solidFill>
                <a:schemeClr val="dk1"/>
              </a:solidFill>
              <a:ea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0D009-2C13-E1D0-7BC5-77EBADE0C1D3}"/>
              </a:ext>
            </a:extLst>
          </p:cNvPr>
          <p:cNvSpPr txBox="1"/>
          <p:nvPr/>
        </p:nvSpPr>
        <p:spPr>
          <a:xfrm>
            <a:off x="4285129" y="251012"/>
            <a:ext cx="4437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latin typeface="Calibri"/>
              </a:rPr>
              <a:t>Required:</a:t>
            </a:r>
          </a:p>
        </p:txBody>
      </p:sp>
      <p:pic>
        <p:nvPicPr>
          <p:cNvPr id="4" name="Picture 3" descr="A logo of a cat&#10;&#10;Description automatically generated">
            <a:extLst>
              <a:ext uri="{FF2B5EF4-FFF2-40B4-BE49-F238E27FC236}">
                <a16:creationId xmlns:a16="http://schemas.microsoft.com/office/drawing/2014/main" id="{12E18E71-4463-D2B0-3281-996C2B20FA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17635" y="2628900"/>
            <a:ext cx="606799" cy="578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09CC64-9A1A-5EDB-554D-B881DDD75A01}"/>
              </a:ext>
            </a:extLst>
          </p:cNvPr>
          <p:cNvSpPr txBox="1"/>
          <p:nvPr/>
        </p:nvSpPr>
        <p:spPr>
          <a:xfrm>
            <a:off x="4356846" y="5235388"/>
            <a:ext cx="4437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latin typeface="Calibri"/>
              </a:rPr>
              <a:t>Useful:</a:t>
            </a:r>
          </a:p>
        </p:txBody>
      </p:sp>
      <p:pic>
        <p:nvPicPr>
          <p:cNvPr id="7" name="Graphic 6" descr="Visual Studio 2022 icon">
            <a:extLst>
              <a:ext uri="{FF2B5EF4-FFF2-40B4-BE49-F238E27FC236}">
                <a16:creationId xmlns:a16="http://schemas.microsoft.com/office/drawing/2014/main" id="{99D6295E-2E5F-A931-99DE-7152089C9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2336" y="1784122"/>
            <a:ext cx="713468" cy="7043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 rot="5400000">
            <a:off x="-1472878" y="1472878"/>
            <a:ext cx="6858002" cy="3912245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07988" y="333374"/>
            <a:ext cx="3033802" cy="129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Software:</a:t>
            </a:r>
            <a:endParaRPr lang="en-US">
              <a:latin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First Actions:</a:t>
            </a:r>
            <a:endParaRPr>
              <a:latin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Unity</a:t>
            </a:r>
            <a:endParaRPr>
              <a:latin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08000" y="1873700"/>
            <a:ext cx="3033900" cy="42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GB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Allow at least 30 minutes to download, install unity and the project to be ready to work, depending on your broadband connection.</a:t>
            </a:r>
            <a:r>
              <a:rPr lang="en-GB">
                <a:latin typeface="Calibri"/>
              </a:rPr>
              <a:t> </a:t>
            </a:r>
            <a:endParaRPr lang="en-US"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</a:endParaRPr>
          </a:p>
          <a:p>
            <a:r>
              <a:rPr lang="en-GB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If you are having trouble with your connection, please contact me or the service desk asap.</a:t>
            </a:r>
            <a:r>
              <a:rPr lang="en-GB">
                <a:latin typeface="Calibri"/>
              </a:rPr>
              <a:t> </a:t>
            </a:r>
            <a:endParaRPr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</a:endParaRPr>
          </a:p>
          <a:p>
            <a:r>
              <a:rPr lang="en-GB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The tutorial should take 30-45 Minutes.</a:t>
            </a:r>
            <a:r>
              <a:rPr lang="en-GB">
                <a:latin typeface="Calibri"/>
              </a:rPr>
              <a:t> </a:t>
            </a:r>
            <a:endParaRPr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</a:endParaRPr>
          </a:p>
          <a:p>
            <a:r>
              <a:rPr lang="en-GB">
                <a:solidFill>
                  <a:schemeClr val="dk1"/>
                </a:solidFill>
                <a:latin typeface="Calibri"/>
              </a:rPr>
              <a:t>If you have already installed Visual Studio Code…. Install the Unity </a:t>
            </a:r>
            <a:r>
              <a:rPr lang="en-GB" err="1">
                <a:solidFill>
                  <a:schemeClr val="dk1"/>
                </a:solidFill>
                <a:latin typeface="Calibri"/>
              </a:rPr>
              <a:t>VSCode</a:t>
            </a:r>
            <a:r>
              <a:rPr lang="en-GB">
                <a:solidFill>
                  <a:schemeClr val="dk1"/>
                </a:solidFill>
                <a:latin typeface="Calibri"/>
              </a:rPr>
              <a:t> Extension, and check the version of the Visual Studio Editor you have</a:t>
            </a:r>
          </a:p>
        </p:txBody>
      </p:sp>
      <p:cxnSp>
        <p:nvCxnSpPr>
          <p:cNvPr id="138" name="Google Shape;138;p3"/>
          <p:cNvCxnSpPr/>
          <p:nvPr/>
        </p:nvCxnSpPr>
        <p:spPr>
          <a:xfrm rot="10800000">
            <a:off x="407988" y="1812606"/>
            <a:ext cx="441646" cy="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" name="Google Shape;139;p3"/>
          <p:cNvCxnSpPr/>
          <p:nvPr/>
        </p:nvCxnSpPr>
        <p:spPr>
          <a:xfrm>
            <a:off x="1685480" y="6273490"/>
            <a:ext cx="0" cy="2511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3"/>
          <p:cNvSpPr txBox="1"/>
          <p:nvPr/>
        </p:nvSpPr>
        <p:spPr>
          <a:xfrm>
            <a:off x="1830590" y="6251265"/>
            <a:ext cx="261941" cy="25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4320225" y="42139"/>
            <a:ext cx="7463700" cy="3572236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GB" b="1" dirty="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1. Unity3D </a:t>
            </a:r>
            <a:r>
              <a:rPr lang="en-GB" b="1" dirty="0">
                <a:latin typeface="Calibri"/>
              </a:rPr>
              <a:t>Install</a:t>
            </a:r>
            <a:r>
              <a:rPr lang="en-GB" b="1" dirty="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:</a:t>
            </a:r>
            <a:endParaRPr lang="en-GB" dirty="0">
              <a:solidFill>
                <a:schemeClr val="dk1"/>
              </a:solidFill>
              <a:latin typeface="Calibri"/>
            </a:endParaRPr>
          </a:p>
          <a:p>
            <a:pPr marL="342900" indent="-342900">
              <a:lnSpc>
                <a:spcPct val="110000"/>
              </a:lnSpc>
              <a:buAutoNum type="alphaLcPeriod"/>
            </a:pPr>
            <a:r>
              <a:rPr lang="en-GB" dirty="0">
                <a:solidFill>
                  <a:schemeClr val="dk1"/>
                </a:solidFill>
                <a:latin typeface="Calibri"/>
              </a:rPr>
              <a:t>Setup a Unity ID and a Student Account:</a:t>
            </a:r>
          </a:p>
          <a:p>
            <a:pPr marL="342900" indent="-342900">
              <a:lnSpc>
                <a:spcPct val="110000"/>
              </a:lnSpc>
              <a:buAutoNum type="alphaLcPeriod"/>
            </a:pPr>
            <a:r>
              <a:rPr lang="en-GB" dirty="0">
                <a:solidFill>
                  <a:srgbClr val="0070C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https://id.unity.com/en/conversations/501975b1-9ab1-4599-b9f1-72fa4235b61d01bf</a:t>
            </a:r>
            <a:r>
              <a:rPr lang="en-GB" dirty="0">
                <a:solidFill>
                  <a:srgbClr val="0070C0"/>
                </a:solidFill>
                <a:latin typeface="Calibri"/>
              </a:rPr>
              <a:t> </a:t>
            </a:r>
            <a:endParaRPr lang="en-GB" dirty="0">
              <a:latin typeface="Calibri"/>
            </a:endParaRPr>
          </a:p>
          <a:p>
            <a:pPr marL="342900" indent="-342900">
              <a:lnSpc>
                <a:spcPct val="110000"/>
              </a:lnSpc>
              <a:buAutoNum type="alphaLcPeriod"/>
            </a:pPr>
            <a:r>
              <a:rPr lang="en-GB" dirty="0">
                <a:solidFill>
                  <a:srgbClr val="0070C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https://unity.com/products/unity-student?currency=EUR</a:t>
            </a:r>
            <a:r>
              <a:rPr lang="en-GB" dirty="0">
                <a:solidFill>
                  <a:srgbClr val="0070C0"/>
                </a:solidFill>
                <a:latin typeface="Calibri"/>
              </a:rPr>
              <a:t> </a:t>
            </a:r>
            <a:endParaRPr lang="en-GB" dirty="0">
              <a:solidFill>
                <a:schemeClr val="dk1"/>
              </a:solidFill>
              <a:latin typeface="Calibri"/>
            </a:endParaRPr>
          </a:p>
          <a:p>
            <a:pPr marL="342900" indent="-342900">
              <a:lnSpc>
                <a:spcPct val="110000"/>
              </a:lnSpc>
              <a:buAutoNum type="alphaLcPeriod"/>
            </a:pPr>
            <a:r>
              <a:rPr lang="en-GB" dirty="0">
                <a:solidFill>
                  <a:schemeClr val="dk1"/>
                </a:solidFill>
                <a:latin typeface="Calibri"/>
              </a:rPr>
              <a:t>Download </a:t>
            </a:r>
            <a:r>
              <a:rPr lang="en-GB" b="1" dirty="0" err="1">
                <a:solidFill>
                  <a:schemeClr val="dk1"/>
                </a:solidFill>
                <a:latin typeface="Calibri"/>
              </a:rPr>
              <a:t>UnityHub</a:t>
            </a:r>
            <a:r>
              <a:rPr lang="en-GB" dirty="0">
                <a:solidFill>
                  <a:schemeClr val="dk1"/>
                </a:solidFill>
                <a:latin typeface="Calibri"/>
              </a:rPr>
              <a:t>  by clicking Unity Hub button at </a:t>
            </a:r>
            <a:r>
              <a:rPr lang="en-GB" dirty="0">
                <a:solidFill>
                  <a:schemeClr val="dk1"/>
                </a:solidFill>
                <a:latin typeface="Calibri"/>
                <a:sym typeface="Calibri"/>
              </a:rPr>
              <a:t> </a:t>
            </a:r>
            <a:r>
              <a:rPr lang="en-GB" u="sng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https://store.unity.com/download-nuo</a:t>
            </a:r>
            <a:endParaRPr lang="en-GB" dirty="0">
              <a:solidFill>
                <a:srgbClr val="0070C0"/>
              </a:solidFill>
              <a:latin typeface="Calibri"/>
              <a:ea typeface="Calibri"/>
            </a:endParaRPr>
          </a:p>
          <a:p>
            <a:pPr marL="342900" indent="-342900">
              <a:lnSpc>
                <a:spcPct val="110000"/>
              </a:lnSpc>
              <a:buAutoNum type="alphaLcPeriod"/>
            </a:pPr>
            <a:r>
              <a:rPr lang="en-GB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Download </a:t>
            </a:r>
            <a:r>
              <a:rPr lang="en-GB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Unity</a:t>
            </a:r>
            <a:r>
              <a:rPr lang="en-GB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 </a:t>
            </a:r>
            <a:r>
              <a:rPr lang="en-GB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version 6000.0.55f1 at: </a:t>
            </a:r>
            <a:r>
              <a:rPr lang="en-GB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https://unity3d.com/get-unity/download/archive</a:t>
            </a: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GB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indent="-342900">
              <a:lnSpc>
                <a:spcPct val="110000"/>
              </a:lnSpc>
              <a:buAutoNum type="alphaLcPeriod"/>
            </a:pPr>
            <a:r>
              <a:rPr lang="en-GB" b="1" dirty="0">
                <a:solidFill>
                  <a:schemeClr val="tx1"/>
                </a:solidFill>
                <a:latin typeface="Calibri"/>
              </a:rPr>
              <a:t>Extra:</a:t>
            </a:r>
            <a:r>
              <a:rPr lang="en-GB" dirty="0">
                <a:solidFill>
                  <a:schemeClr val="tx1"/>
                </a:solidFill>
                <a:latin typeface="Calibri"/>
              </a:rPr>
              <a:t> Start some Unity3D Basics Tutorials:</a:t>
            </a:r>
            <a:endParaRPr lang="en-GB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800100" indent="-342900">
              <a:lnSpc>
                <a:spcPct val="110000"/>
              </a:lnSpc>
              <a:buSzPts val="1100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/>
              </a:rPr>
              <a:t>Open "Welcome to Unity Essentials" from the Unity Learn Tab in Unity Hub - or - </a:t>
            </a:r>
            <a:endParaRPr lang="en-GB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800100" indent="-342900">
              <a:lnSpc>
                <a:spcPct val="110000"/>
              </a:lnSpc>
              <a:buSzPts val="1100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/>
              </a:rPr>
              <a:t>Link directly here: </a:t>
            </a:r>
            <a:r>
              <a:rPr lang="en-GB" dirty="0">
                <a:solidFill>
                  <a:srgbClr val="0070C0"/>
                </a:solidFill>
                <a:latin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https://learn.unity.com/pathway/unity-essentials</a:t>
            </a:r>
            <a:r>
              <a:rPr lang="en-GB" dirty="0">
                <a:solidFill>
                  <a:srgbClr val="0070C0"/>
                </a:solidFill>
                <a:latin typeface="Calibri"/>
              </a:rPr>
              <a:t> </a:t>
            </a:r>
          </a:p>
          <a:p>
            <a:pPr marL="800100" indent="-342900">
              <a:lnSpc>
                <a:spcPct val="110000"/>
              </a:lnSpc>
              <a:buSzPts val="1100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/>
              </a:rPr>
              <a:t>Work the tutorial within the project (Click on buttons on right hand Tab)</a:t>
            </a:r>
          </a:p>
          <a:p>
            <a:pPr marL="800100" indent="-342900">
              <a:lnSpc>
                <a:spcPct val="110000"/>
              </a:lnSpc>
              <a:buSzPts val="1100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/>
              </a:rPr>
              <a:t>Save Project: The Tutorial is loaded in Temp files - save the project to keep working by closing the project, and selecting “Keep” in the prompt.</a:t>
            </a:r>
          </a:p>
          <a:p>
            <a:pPr marL="800100" indent="-342900">
              <a:lnSpc>
                <a:spcPct val="110000"/>
              </a:lnSpc>
              <a:buSzPts val="1100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/>
              </a:rPr>
              <a:t>Build and share the tutorial game on Unity Play or: </a:t>
            </a:r>
            <a:r>
              <a:rPr lang="en-GB" u="sng" dirty="0">
                <a:solidFill>
                  <a:srgbClr val="0070C0"/>
                </a:solidFill>
                <a:latin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https://get.simmer.io/</a:t>
            </a:r>
            <a:r>
              <a:rPr lang="en-GB" dirty="0">
                <a:solidFill>
                  <a:srgbClr val="0070C0"/>
                </a:solidFill>
                <a:latin typeface="Calibri"/>
              </a:rPr>
              <a:t> </a:t>
            </a:r>
          </a:p>
          <a:p>
            <a:pPr marL="800100" indent="-342900">
              <a:lnSpc>
                <a:spcPct val="110000"/>
              </a:lnSpc>
              <a:buSzPts val="1100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/>
              </a:rPr>
              <a:t>Share link to Padlet: </a:t>
            </a:r>
            <a:r>
              <a:rPr lang="en-GB" u="sng" dirty="0">
                <a:solidFill>
                  <a:srgbClr val="0070C0"/>
                </a:solidFill>
                <a:latin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https://uowdigital.padlet.org/fergusj/AIMDUnityLearn</a:t>
            </a:r>
            <a:r>
              <a:rPr lang="en-GB" dirty="0">
                <a:solidFill>
                  <a:srgbClr val="0070C0"/>
                </a:solidFill>
                <a:latin typeface="Calibri"/>
              </a:rPr>
              <a:t> </a:t>
            </a:r>
          </a:p>
        </p:txBody>
      </p:sp>
      <p:sp>
        <p:nvSpPr>
          <p:cNvPr id="143" name="Google Shape;143;p3"/>
          <p:cNvSpPr txBox="1"/>
          <p:nvPr/>
        </p:nvSpPr>
        <p:spPr>
          <a:xfrm>
            <a:off x="4320225" y="3719144"/>
            <a:ext cx="7463700" cy="1384937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GB" b="1">
                <a:latin typeface="Calibri"/>
              </a:rPr>
              <a:t>5. Visual Studio (Install Visual Studio and update Visual Studio Editor package for Unity by following the below links):</a:t>
            </a:r>
            <a:endParaRPr lang="en-US">
              <a:latin typeface="Calibri"/>
            </a:endParaRPr>
          </a:p>
          <a:p>
            <a:pPr marL="342900" indent="-342900">
              <a:lnSpc>
                <a:spcPct val="110000"/>
              </a:lnSpc>
              <a:buAutoNum type="alphaLcPeriod"/>
            </a:pPr>
            <a:r>
              <a:rPr lang="en-GB">
                <a:hlinkClick r:id="rId10"/>
              </a:rPr>
              <a:t>https://visualstudio.microsoft.com/vs/unity-tools/</a:t>
            </a:r>
            <a:r>
              <a:rPr lang="en-GB"/>
              <a:t> </a:t>
            </a:r>
          </a:p>
          <a:p>
            <a:pPr marL="342900" indent="-342900">
              <a:lnSpc>
                <a:spcPct val="110000"/>
              </a:lnSpc>
              <a:buAutoNum type="alphaLcPeriod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</a:rPr>
              <a:t>Make sure "Visual Studio Editor" in Unity package manager is updated to version 20.0.22</a:t>
            </a:r>
          </a:p>
          <a:p>
            <a:pPr marL="342900" indent="-342900">
              <a:lnSpc>
                <a:spcPct val="110000"/>
              </a:lnSpc>
              <a:buAutoNum type="alphaLcPeriod"/>
            </a:pPr>
            <a:endParaRPr lang="en-GB">
              <a:solidFill>
                <a:srgbClr val="FF0000"/>
              </a:solidFill>
              <a:latin typeface="Calibri"/>
              <a:ea typeface="Calibri"/>
            </a:endParaRPr>
          </a:p>
          <a:p>
            <a:pPr>
              <a:lnSpc>
                <a:spcPct val="110000"/>
              </a:lnSpc>
            </a:pPr>
            <a:endParaRPr lang="en-GB" sz="1600">
              <a:ea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2400" b="1">
              <a:solidFill>
                <a:schemeClr val="dk1"/>
              </a:solidFill>
              <a:ea typeface="Calibri"/>
            </a:endParaRPr>
          </a:p>
        </p:txBody>
      </p:sp>
      <p:sp>
        <p:nvSpPr>
          <p:cNvPr id="2" name="Google Shape;146;p3">
            <a:extLst>
              <a:ext uri="{FF2B5EF4-FFF2-40B4-BE49-F238E27FC236}">
                <a16:creationId xmlns:a16="http://schemas.microsoft.com/office/drawing/2014/main" id="{9C5B58C4-69F8-794C-3B0A-9870648D270A}"/>
              </a:ext>
            </a:extLst>
          </p:cNvPr>
          <p:cNvSpPr txBox="1"/>
          <p:nvPr/>
        </p:nvSpPr>
        <p:spPr>
          <a:xfrm>
            <a:off x="4320224" y="5260569"/>
            <a:ext cx="7463700" cy="1458864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Autofit/>
          </a:bodyPr>
          <a:lstStyle/>
          <a:p>
            <a:pPr>
              <a:lnSpc>
                <a:spcPct val="110000"/>
              </a:lnSpc>
              <a:buSzPts val="1600"/>
            </a:pPr>
            <a:r>
              <a:rPr lang="en-GB" b="1">
                <a:solidFill>
                  <a:schemeClr val="tx1"/>
                </a:solidFill>
                <a:latin typeface="Calibri"/>
              </a:rPr>
              <a:t>6.GitHub(and Copilot) within Visual Studio (For Group Project Versioning, Week 2 onwards):</a:t>
            </a:r>
            <a:endParaRPr lang="en-US" b="0" i="0" u="none" strike="noStrike" cap="none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lnSpc>
                <a:spcPct val="110000"/>
              </a:lnSpc>
              <a:buSzPts val="1600"/>
            </a:pPr>
            <a:r>
              <a:rPr lang="en-GB" sz="1000"/>
              <a:t>Signup: </a:t>
            </a:r>
          </a:p>
          <a:p>
            <a:pPr>
              <a:lnSpc>
                <a:spcPct val="110000"/>
              </a:lnSpc>
              <a:buSzPts val="1600"/>
            </a:pPr>
            <a:r>
              <a:rPr lang="en-GB" sz="1000">
                <a:latin typeface="Calibri"/>
                <a:hlinkClick r:id="rId11"/>
              </a:rPr>
              <a:t>https://docs.github.com/en/education/about-github-education/github-education-for-students/apply-to-github-education-as-a-student</a:t>
            </a:r>
            <a:endParaRPr lang="en-GB" sz="1000">
              <a:latin typeface="Calibri"/>
            </a:endParaRPr>
          </a:p>
          <a:p>
            <a:pPr>
              <a:buSzPts val="1600"/>
            </a:pPr>
            <a:r>
              <a:rPr lang="en-GB" sz="1000"/>
              <a:t>Copilot </a:t>
            </a:r>
            <a:r>
              <a:rPr lang="en-GB" sz="1000">
                <a:ea typeface="Calibri"/>
              </a:rPr>
              <a:t>Signup: </a:t>
            </a:r>
          </a:p>
          <a:p>
            <a:pPr>
              <a:buSzPts val="1600"/>
            </a:pPr>
            <a:r>
              <a:rPr lang="en-US" sz="1000">
                <a:latin typeface="Calibri"/>
                <a:ea typeface="Calibri"/>
                <a:cs typeface="Calibri"/>
                <a:hlinkClick r:id="rId12"/>
              </a:rPr>
              <a:t>https://github.com/copilot</a:t>
            </a:r>
            <a:endParaRPr lang="en-GB" sz="1000">
              <a:latin typeface="Calibri"/>
            </a:endParaRPr>
          </a:p>
          <a:p>
            <a:pPr>
              <a:buSzPts val="1600"/>
            </a:pPr>
            <a:r>
              <a:rPr lang="en-US" sz="1000">
                <a:latin typeface="Calibri"/>
                <a:ea typeface="Calibri"/>
                <a:cs typeface="Calibri"/>
                <a:hlinkClick r:id="rId13"/>
              </a:rPr>
              <a:t>https://docs.github.com/en/copilot/get-started/plans-for-github-copilot</a:t>
            </a:r>
            <a:endParaRPr lang="en-GB" sz="1000">
              <a:latin typeface="Calibri"/>
            </a:endParaRPr>
          </a:p>
          <a:p>
            <a:pPr>
              <a:buSzPts val="1600"/>
            </a:pPr>
            <a:r>
              <a:rPr lang="en-US" sz="1000">
                <a:latin typeface="Calibri"/>
                <a:ea typeface="Calibri"/>
                <a:cs typeface="Calibri"/>
                <a:hlinkClick r:id="rId14"/>
              </a:rPr>
              <a:t>https://docs.github.com/en/copilot/get-started/best-practices-for-using-github-copilot</a:t>
            </a:r>
            <a:endParaRPr lang="en-GB" sz="1000">
              <a:latin typeface="Calibri"/>
            </a:endParaRPr>
          </a:p>
          <a:p>
            <a:pPr>
              <a:lnSpc>
                <a:spcPct val="110000"/>
              </a:lnSpc>
              <a:buSzPts val="1600"/>
            </a:pPr>
            <a:endParaRPr lang="en-GB"/>
          </a:p>
          <a:p>
            <a:pPr>
              <a:lnSpc>
                <a:spcPct val="110000"/>
              </a:lnSpc>
              <a:buSzPts val="1600"/>
            </a:pP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 rot="5400000">
            <a:off x="-1472878" y="1472878"/>
            <a:ext cx="6858002" cy="3912245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407988" y="333374"/>
            <a:ext cx="3033802" cy="129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VERSIONS: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Unity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407988" y="2102302"/>
            <a:ext cx="3033801" cy="371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IMPORTANT</a:t>
            </a:r>
            <a:endParaRPr sz="2000" b="1">
              <a:highlight>
                <a:srgbClr val="00FF00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</a:t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 rot="10800000">
            <a:off x="407988" y="1812606"/>
            <a:ext cx="441646" cy="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5" name="Google Shape;155;p4"/>
          <p:cNvCxnSpPr/>
          <p:nvPr/>
        </p:nvCxnSpPr>
        <p:spPr>
          <a:xfrm>
            <a:off x="1685480" y="6273490"/>
            <a:ext cx="0" cy="2511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4"/>
          <p:cNvSpPr txBox="1"/>
          <p:nvPr/>
        </p:nvSpPr>
        <p:spPr>
          <a:xfrm>
            <a:off x="1830590" y="6251265"/>
            <a:ext cx="261941" cy="25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4320234" y="412693"/>
            <a:ext cx="7463776" cy="6111932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Versions:</a:t>
            </a:r>
            <a:endParaRPr lang="en-US">
              <a:latin typeface="Calibri"/>
            </a:endParaRPr>
          </a:p>
          <a:p>
            <a:pPr marL="457200" indent="-355600">
              <a:lnSpc>
                <a:spcPct val="110000"/>
              </a:lnSpc>
              <a:buSzPts val="2000"/>
              <a:buFont typeface="Arial"/>
              <a:buChar char="-"/>
            </a:pPr>
            <a:r>
              <a:rPr lang="en-GB" sz="2000">
                <a:latin typeface="Calibri"/>
              </a:rPr>
              <a:t>Downloaded </a:t>
            </a:r>
            <a:r>
              <a:rPr lang="en-GB" sz="20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Tutorials </a:t>
            </a:r>
            <a:r>
              <a:rPr lang="en-GB" sz="2000">
                <a:latin typeface="Calibri"/>
              </a:rPr>
              <a:t>may be in earlier versions</a:t>
            </a:r>
            <a:endParaRPr lang="en-GB" sz="2000">
              <a:highlight>
                <a:srgbClr val="00FF00"/>
              </a:highlight>
              <a:latin typeface="Calibri"/>
            </a:endParaRPr>
          </a:p>
          <a:p>
            <a:pPr marL="457200" marR="0" lvl="0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latin typeface="Calibri"/>
              </a:rPr>
              <a:t>Unity Hub should be </a:t>
            </a:r>
            <a:r>
              <a:rPr lang="en-GB" sz="2000">
                <a:highlight>
                  <a:srgbClr val="00FF00"/>
                </a:highlight>
                <a:latin typeface="Calibri"/>
              </a:rPr>
              <a:t>Latest Version</a:t>
            </a:r>
            <a:endParaRPr sz="2000">
              <a:solidFill>
                <a:srgbClr val="000000"/>
              </a:solidFill>
              <a:highlight>
                <a:srgbClr val="00FF00"/>
              </a:highlight>
              <a:latin typeface="Calibri"/>
              <a:ea typeface="Arial"/>
              <a:cs typeface="Arial"/>
            </a:endParaRPr>
          </a:p>
          <a:p>
            <a:pPr marL="457200" marR="0" lvl="0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WE WILL USE </a:t>
            </a:r>
            <a:r>
              <a:rPr lang="en-GB" sz="2000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Arial"/>
                <a:cs typeface="Arial"/>
                <a:sym typeface="Arial"/>
              </a:rPr>
              <a:t>UNITY3D </a:t>
            </a:r>
            <a:r>
              <a:rPr lang="en-GB" sz="2000">
                <a:highlight>
                  <a:srgbClr val="00FF00"/>
                </a:highlight>
                <a:latin typeface="Calibri"/>
              </a:rPr>
              <a:t>6000.0.55f1</a:t>
            </a:r>
            <a:r>
              <a:rPr lang="en-GB" sz="20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FOR ALL TUTORIALS AND COURSEWORK</a:t>
            </a:r>
            <a:endParaRPr sz="200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457200" indent="-355600">
              <a:lnSpc>
                <a:spcPct val="110000"/>
              </a:lnSpc>
              <a:buSzPts val="2000"/>
              <a:buChar char="-"/>
            </a:pPr>
            <a:r>
              <a:rPr lang="en-GB" sz="2000">
                <a:latin typeface="Calibri"/>
              </a:rPr>
              <a:t>Install from Hub or here: </a:t>
            </a:r>
            <a:endParaRPr lang="en-GB">
              <a:solidFill>
                <a:schemeClr val="hlink"/>
              </a:solidFill>
              <a:latin typeface="Calibri"/>
            </a:endParaRPr>
          </a:p>
          <a:p>
            <a:pPr marL="101600"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100" u="sng">
                <a:solidFill>
                  <a:schemeClr val="hlink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https://unity3d.com/get-unity/download/archive?_ga=2.215337873.708256744.1599897727-1458467987.1502860184</a:t>
            </a:r>
            <a:endParaRPr sz="1100">
              <a:solidFill>
                <a:schemeClr val="hlink"/>
              </a:solidFill>
              <a:latin typeface="Calibri"/>
            </a:endParaRPr>
          </a:p>
          <a:p>
            <a:pPr marL="457200" indent="-355600">
              <a:lnSpc>
                <a:spcPct val="110000"/>
              </a:lnSpc>
              <a:buSzPts val="2000"/>
              <a:buFont typeface="Arial"/>
              <a:buChar char="-"/>
            </a:pPr>
            <a:r>
              <a:rPr lang="en-GB" sz="20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You can keep multiple versions in your Hub, but be careful which you are using, as Unity is not backwards compatible. </a:t>
            </a:r>
            <a:endParaRPr lang="en-GB" sz="2000">
              <a:latin typeface="Calibri"/>
            </a:endParaRPr>
          </a:p>
          <a:p>
            <a:pPr marL="457200" marR="0" lvl="0" indent="-355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-GB" sz="20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Once your project is in </a:t>
            </a:r>
            <a:r>
              <a:rPr lang="en-GB" sz="2000"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6000.0.55f1</a:t>
            </a:r>
            <a:r>
              <a:rPr lang="en-GB" sz="2000">
                <a:ea typeface="Calibri"/>
              </a:rPr>
              <a:t>,</a:t>
            </a:r>
            <a:r>
              <a:rPr lang="en-GB" sz="20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you cannot go back.</a:t>
            </a:r>
            <a:endParaRPr sz="2000">
              <a:latin typeface="Calibri"/>
            </a:endParaRPr>
          </a:p>
          <a:p>
            <a:pPr>
              <a:lnSpc>
                <a:spcPct val="110000"/>
              </a:lnSpc>
            </a:pPr>
            <a:endParaRPr lang="en-GB" sz="1800" i="1">
              <a:highlight>
                <a:srgbClr val="00FF00"/>
              </a:highlight>
              <a:latin typeface="Calibri"/>
            </a:endParaRPr>
          </a:p>
          <a:p>
            <a:pPr>
              <a:lnSpc>
                <a:spcPct val="110000"/>
              </a:lnSpc>
            </a:pPr>
            <a:r>
              <a:rPr lang="en-GB" sz="1800" i="1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Arial"/>
                <a:cs typeface="Arial"/>
                <a:sym typeface="Arial"/>
              </a:rPr>
              <a:t>We will only support you in</a:t>
            </a:r>
            <a:r>
              <a:rPr lang="en-GB" sz="1800" i="1">
                <a:highlight>
                  <a:srgbClr val="00FF00"/>
                </a:highlight>
                <a:latin typeface="Calibri"/>
              </a:rPr>
              <a:t> </a:t>
            </a:r>
            <a:r>
              <a:rPr lang="en-GB" sz="2000"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6000.0.55f1</a:t>
            </a:r>
            <a:r>
              <a:rPr lang="en-GB" sz="1800" i="1">
                <a:highlight>
                  <a:srgbClr val="00FF00"/>
                </a:highlight>
                <a:latin typeface="Calibri"/>
              </a:rPr>
              <a:t> </a:t>
            </a:r>
            <a:r>
              <a:rPr lang="en-GB" sz="1800" i="1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Arial"/>
                <a:cs typeface="Arial"/>
                <a:sym typeface="Arial"/>
              </a:rPr>
              <a:t>for Coursework.</a:t>
            </a:r>
            <a:endParaRPr sz="1800" i="1">
              <a:highlight>
                <a:srgbClr val="00FF00"/>
              </a:highlight>
              <a:latin typeface="Calibri"/>
            </a:endParaRPr>
          </a:p>
          <a:p>
            <a:pPr>
              <a:lnSpc>
                <a:spcPct val="110000"/>
              </a:lnSpc>
            </a:pPr>
            <a:endParaRPr lang="en-GB" sz="1800" i="1">
              <a:highlight>
                <a:srgbClr val="00FF00"/>
              </a:highlight>
              <a:latin typeface="Calibri"/>
            </a:endParaRPr>
          </a:p>
          <a:p>
            <a:pPr>
              <a:lnSpc>
                <a:spcPct val="110000"/>
              </a:lnSpc>
            </a:pPr>
            <a:r>
              <a:rPr lang="en-GB" sz="1800" i="1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Arial"/>
                <a:cs typeface="Arial"/>
                <a:sym typeface="Arial"/>
              </a:rPr>
              <a:t>We will only support Unity3D </a:t>
            </a:r>
            <a:r>
              <a:rPr lang="en-GB" sz="20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6000.0.55f1</a:t>
            </a:r>
            <a:r>
              <a:rPr lang="en-GB" sz="1800" i="1">
                <a:solidFill>
                  <a:schemeClr val="dk1"/>
                </a:solidFill>
                <a:highlight>
                  <a:srgbClr val="00FF00"/>
                </a:highlight>
                <a:latin typeface="Calibri"/>
              </a:rPr>
              <a:t> </a:t>
            </a:r>
            <a:r>
              <a:rPr lang="en-GB" sz="1800" i="1">
                <a:highlight>
                  <a:srgbClr val="00FF00"/>
                </a:highlight>
                <a:latin typeface="Calibri"/>
              </a:rPr>
              <a:t> </a:t>
            </a:r>
            <a:r>
              <a:rPr lang="en-GB" sz="1800" i="1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Arial"/>
                <a:cs typeface="Arial"/>
                <a:sym typeface="Arial"/>
              </a:rPr>
              <a:t>for VR/AR work via the XR Lab.</a:t>
            </a:r>
            <a:r>
              <a:rPr lang="en-GB" sz="1800" i="1">
                <a:latin typeface="Calibri"/>
              </a:rPr>
              <a:t> </a:t>
            </a:r>
          </a:p>
          <a:p>
            <a:pPr>
              <a:lnSpc>
                <a:spcPct val="110000"/>
              </a:lnSpc>
            </a:pPr>
            <a:endParaRPr lang="en-GB" sz="1800" i="1">
              <a:highlight>
                <a:srgbClr val="00FF00"/>
              </a:highlight>
              <a:latin typeface="Calibri"/>
            </a:endParaRPr>
          </a:p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Arial"/>
                <a:cs typeface="Arial"/>
                <a:sym typeface="Arial"/>
              </a:rPr>
              <a:t>This is for your own benefit and support, please understand we cannot support a wide range of versions.</a:t>
            </a:r>
            <a:endParaRPr sz="1800" i="1"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 rot="5400000">
            <a:off x="-1472878" y="1472878"/>
            <a:ext cx="6858002" cy="3912245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407988" y="333374"/>
            <a:ext cx="3033802" cy="129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Software:</a:t>
            </a:r>
            <a:endParaRPr lang="en-US">
              <a:latin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Further Steps</a:t>
            </a:r>
            <a:endParaRPr>
              <a:latin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07988" y="2102302"/>
            <a:ext cx="3306171" cy="398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If you are an expert, try working ahead on the following.</a:t>
            </a:r>
            <a:endParaRPr lang="en-US"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err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Mecabricks</a:t>
            </a: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for 3D Models</a:t>
            </a:r>
            <a:endParaRPr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Adobe CC Photoshop</a:t>
            </a:r>
            <a:endParaRPr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Unity </a:t>
            </a:r>
            <a:r>
              <a:rPr lang="en-GB" sz="2000" b="1">
                <a:latin typeface="Calibri"/>
              </a:rPr>
              <a:t>Starter</a:t>
            </a: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Assets</a:t>
            </a:r>
            <a:endParaRPr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Unity Collaborate</a:t>
            </a:r>
            <a:endParaRPr>
              <a:latin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 rot="10800000">
            <a:off x="407988" y="1812606"/>
            <a:ext cx="441646" cy="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7" name="Google Shape;167;p5"/>
          <p:cNvCxnSpPr/>
          <p:nvPr/>
        </p:nvCxnSpPr>
        <p:spPr>
          <a:xfrm>
            <a:off x="1685480" y="6273490"/>
            <a:ext cx="0" cy="2511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" name="Google Shape;168;p5"/>
          <p:cNvSpPr txBox="1"/>
          <p:nvPr/>
        </p:nvSpPr>
        <p:spPr>
          <a:xfrm>
            <a:off x="1830590" y="6251265"/>
            <a:ext cx="261941" cy="25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4320234" y="333374"/>
            <a:ext cx="7463776" cy="1450215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 err="1">
                <a:solidFill>
                  <a:schemeClr val="dk1"/>
                </a:solidFill>
                <a:latin typeface="Calibri"/>
              </a:rPr>
              <a:t>MecaBricks</a:t>
            </a:r>
            <a:r>
              <a:rPr lang="en-GB" sz="1800" b="1">
                <a:solidFill>
                  <a:schemeClr val="dk1"/>
                </a:solidFill>
                <a:latin typeface="Calibri"/>
              </a:rPr>
              <a:t>:</a:t>
            </a:r>
            <a:endParaRPr lang="en-US" sz="1800" b="1">
              <a:solidFill>
                <a:schemeClr val="dk1"/>
              </a:solidFill>
              <a:latin typeface="Calibri"/>
            </a:endParaRPr>
          </a:p>
          <a:p>
            <a:pPr>
              <a:lnSpc>
                <a:spcPct val="110000"/>
              </a:lnSpc>
              <a:buClr>
                <a:schemeClr val="dk1"/>
              </a:buClr>
              <a:buSzPts val="1100"/>
            </a:pPr>
            <a:r>
              <a:rPr lang="en-GB" sz="1800">
                <a:solidFill>
                  <a:schemeClr val="dk1"/>
                </a:solidFill>
                <a:latin typeface="Calibri"/>
              </a:rPr>
              <a:t>1.Login and try building a model. </a:t>
            </a:r>
            <a:endParaRPr sz="1800">
              <a:solidFill>
                <a:schemeClr val="dk1"/>
              </a:solidFill>
              <a:latin typeface="Calibri"/>
            </a:endParaRPr>
          </a:p>
          <a:p>
            <a:pPr marL="0" lvl="0" indent="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https://www.mecabricks.com/en/</a:t>
            </a:r>
            <a:endParaRPr sz="1800" u="sng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</a:rPr>
              <a:t>2. Try exporting to Dae/</a:t>
            </a:r>
            <a:r>
              <a:rPr lang="en-GB" sz="1800" err="1">
                <a:solidFill>
                  <a:schemeClr val="dk1"/>
                </a:solidFill>
                <a:latin typeface="Calibri"/>
              </a:rPr>
              <a:t>Fbx</a:t>
            </a:r>
            <a:r>
              <a:rPr lang="en-GB" sz="1800">
                <a:solidFill>
                  <a:schemeClr val="dk1"/>
                </a:solidFill>
                <a:latin typeface="Calibri"/>
              </a:rPr>
              <a:t> and Importing to Unity 3D</a:t>
            </a:r>
            <a:endParaRPr sz="1800">
              <a:solidFill>
                <a:schemeClr val="dk1"/>
              </a:solidFill>
              <a:latin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  <p:sp>
        <p:nvSpPr>
          <p:cNvPr id="171" name="Google Shape;171;p5"/>
          <p:cNvSpPr txBox="1"/>
          <p:nvPr/>
        </p:nvSpPr>
        <p:spPr>
          <a:xfrm>
            <a:off x="4320234" y="5011330"/>
            <a:ext cx="7463776" cy="1674814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b="1" err="1">
                <a:latin typeface="Calibri"/>
              </a:rPr>
              <a:t>Github</a:t>
            </a: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</a:t>
            </a:r>
            <a:r>
              <a:rPr lang="en-GB" sz="1800" b="1">
                <a:latin typeface="Calibri"/>
              </a:rPr>
              <a:t>/ Visual Studio / VS Code</a:t>
            </a:r>
            <a:endParaRPr lang="en-US" sz="1800">
              <a:latin typeface="Calibri"/>
            </a:endParaRPr>
          </a:p>
          <a:p>
            <a:pPr>
              <a:lnSpc>
                <a:spcPct val="90000"/>
              </a:lnSpc>
            </a:pPr>
            <a:endParaRPr lang="en-GB" sz="1800" b="1">
              <a:latin typeface="Calibri"/>
            </a:endParaRPr>
          </a:p>
          <a:p>
            <a:pPr>
              <a:lnSpc>
                <a:spcPct val="90000"/>
              </a:lnSpc>
            </a:pP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(for </a:t>
            </a:r>
            <a:r>
              <a:rPr lang="en-GB" sz="1800" b="1">
                <a:latin typeface="Calibri"/>
              </a:rPr>
              <a:t>version saving and working</a:t>
            </a: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on group project):</a:t>
            </a:r>
            <a:endParaRPr lang="en-US" sz="1800">
              <a:latin typeface="Calibri"/>
            </a:endParaRPr>
          </a:p>
          <a:p>
            <a:pPr>
              <a:lnSpc>
                <a:spcPct val="90000"/>
              </a:lnSpc>
            </a:pPr>
            <a:endParaRPr lang="en-GB" sz="1800" b="1">
              <a:latin typeface="Calibri"/>
            </a:endParaRPr>
          </a:p>
          <a:p>
            <a:pPr>
              <a:lnSpc>
                <a:spcPct val="90000"/>
              </a:lnSpc>
            </a:pPr>
            <a:r>
              <a:rPr lang="en-GB" sz="1800" b="1" err="1">
                <a:latin typeface="Calibri"/>
              </a:rPr>
              <a:t>Github</a:t>
            </a:r>
            <a:r>
              <a:rPr lang="en-GB" sz="1800" b="1">
                <a:latin typeface="Calibri"/>
              </a:rPr>
              <a:t> </a:t>
            </a:r>
            <a:r>
              <a:rPr lang="en-GB" sz="1800" b="1" err="1">
                <a:latin typeface="Calibri"/>
              </a:rPr>
              <a:t>Copliot</a:t>
            </a:r>
            <a:r>
              <a:rPr lang="en-GB" sz="1800" b="1">
                <a:latin typeface="Calibri"/>
              </a:rPr>
              <a:t>: </a:t>
            </a:r>
            <a:r>
              <a:rPr lang="en-GB" sz="1800">
                <a:hlinkClick r:id="rId4"/>
              </a:rPr>
              <a:t>https://github.com/copilot</a:t>
            </a:r>
            <a:endParaRPr lang="en-GB" sz="1800" b="1">
              <a:latin typeface="Calibri"/>
            </a:endParaRPr>
          </a:p>
          <a:p>
            <a:pPr marL="457200">
              <a:lnSpc>
                <a:spcPct val="90000"/>
              </a:lnSpc>
            </a:pPr>
            <a:endParaRPr lang="en-GB" sz="1800">
              <a:solidFill>
                <a:srgbClr val="FF0000"/>
              </a:solidFill>
              <a:latin typeface="Calibri"/>
            </a:endParaRPr>
          </a:p>
          <a:p>
            <a:pPr marL="457200">
              <a:lnSpc>
                <a:spcPct val="90000"/>
              </a:lnSpc>
            </a:pPr>
            <a:endParaRPr lang="en-GB" sz="1800" b="1">
              <a:latin typeface="Calibri"/>
              <a:ea typeface="Calibri"/>
              <a:cs typeface="Calibri"/>
            </a:endParaRPr>
          </a:p>
          <a:p>
            <a:pPr marL="45720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b="1"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320234" y="1937766"/>
            <a:ext cx="7463776" cy="1450215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rmAutofit/>
          </a:bodyPr>
          <a:lstStyle/>
          <a:p>
            <a:pPr>
              <a:lnSpc>
                <a:spcPct val="110000"/>
              </a:lnSpc>
              <a:buClr>
                <a:schemeClr val="dk1"/>
              </a:buClr>
              <a:buSzPts val="1100"/>
            </a:pPr>
            <a:r>
              <a:rPr lang="en-GB" sz="1800" b="1" dirty="0">
                <a:solidFill>
                  <a:schemeClr val="dk1"/>
                </a:solidFill>
                <a:latin typeface="Calibri"/>
              </a:rPr>
              <a:t>Adobe CC Photoshop (Optional):</a:t>
            </a:r>
            <a:endParaRPr lang="en-US" sz="1800" b="1" dirty="0">
              <a:solidFill>
                <a:schemeClr val="dk1"/>
              </a:solidFill>
              <a:latin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</a:rPr>
              <a:t>1.Install Adobe CC: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</a:rPr>
              <a:t>2</a:t>
            </a:r>
            <a:r>
              <a:rPr lang="en-GB" sz="1800" dirty="0">
                <a:solidFill>
                  <a:schemeClr val="dk1"/>
                </a:solidFill>
                <a:latin typeface="Calibri"/>
              </a:rPr>
              <a:t>. Install Adobe Photoshop from Adobe CC</a:t>
            </a:r>
            <a:endParaRPr sz="1800" dirty="0">
              <a:solidFill>
                <a:schemeClr val="dk1"/>
              </a:solidFill>
              <a:latin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173" name="Google Shape;173;p5"/>
          <p:cNvSpPr txBox="1"/>
          <p:nvPr/>
        </p:nvSpPr>
        <p:spPr>
          <a:xfrm>
            <a:off x="4320234" y="3572593"/>
            <a:ext cx="7463776" cy="1065867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spcFirstLastPara="1" wrap="square" lIns="144000" tIns="144000" rIns="144000" bIns="1440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Unity </a:t>
            </a:r>
            <a:r>
              <a:rPr lang="en-GB" sz="1800" b="1">
                <a:latin typeface="Calibri"/>
              </a:rPr>
              <a:t>Starter</a:t>
            </a:r>
            <a:r>
              <a:rPr lang="en-GB" sz="1800" b="1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 Assets (Various useful prefabs):</a:t>
            </a:r>
            <a:endParaRPr lang="en-US" sz="1800">
              <a:latin typeface="Calibri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Calibri"/>
                <a:ea typeface="Arial"/>
                <a:cs typeface="Arial"/>
                <a:sym typeface="Arial"/>
              </a:rPr>
              <a:t>Unity Asset Store Window in the program or…</a:t>
            </a:r>
            <a:endParaRPr sz="1800">
              <a:latin typeface="Calibri"/>
            </a:endParaRPr>
          </a:p>
          <a:p>
            <a:pPr marL="457200" indent="457200">
              <a:lnSpc>
                <a:spcPct val="90000"/>
              </a:lnSpc>
            </a:pPr>
            <a:r>
              <a:rPr lang="en-GB" sz="1800">
                <a:solidFill>
                  <a:srgbClr val="1155CC"/>
                </a:solidFill>
                <a:latin typeface="Calibri"/>
                <a:ea typeface="Calibri"/>
                <a:sym typeface="Calibri"/>
                <a:hlinkClick r:id="rId5"/>
              </a:rPr>
              <a:t>https://assetstore.unity.com/</a:t>
            </a:r>
            <a:r>
              <a:rPr lang="en-GB" sz="1800">
                <a:solidFill>
                  <a:srgbClr val="1155CC"/>
                </a:solidFill>
                <a:latin typeface="Calibri"/>
                <a:ea typeface="Calibri"/>
                <a:sym typeface="Calibri"/>
              </a:rPr>
              <a:t> </a:t>
            </a:r>
            <a:endParaRPr>
              <a:latin typeface="Calibri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Office PowerPoint</Application>
  <PresentationFormat>Widescreen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Jeffrey Ferguson</dc:creator>
  <cp:lastModifiedBy>Jeffrey Ferguson</cp:lastModifiedBy>
  <cp:revision>5</cp:revision>
  <dcterms:created xsi:type="dcterms:W3CDTF">2020-09-01T06:22:07Z</dcterms:created>
  <dcterms:modified xsi:type="dcterms:W3CDTF">2026-08-10T11:46:26Z</dcterms:modified>
</cp:coreProperties>
</file>